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53800" y="600000"/>
            <a:ext cx="3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0AEC0"/>
                </a:solidFill>
                <a:latin typeface="Segoe UI"/>
                <a:ea typeface="微软雅黑"/>
              </a:rPr>
              <a:t>AI-UWM  ·  城市水代谢与算力承载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08760"/>
            <a:ext cx="1051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0AEC0"/>
                </a:solidFill>
                <a:latin typeface="Segoe UI"/>
                <a:ea typeface="微软雅黑"/>
              </a:rPr>
              <a:t>阶段进展汇报  /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08760"/>
            <a:ext cx="10515600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  <a:ea typeface="微软雅黑"/>
              </a:rPr>
              <a:t>用再生水给 AI 降温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5400" b="1">
                <a:solidFill>
                  <a:srgbClr val="2B6CB0"/>
                </a:solidFill>
                <a:latin typeface="Segoe UI"/>
                <a:ea typeface="微软雅黑"/>
              </a:rPr>
              <a:t>掺多了，反而更费水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138760"/>
            <a:ext cx="1500000" cy="36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4478760"/>
            <a:ext cx="63398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BD5E0"/>
                </a:solidFill>
                <a:latin typeface="Segoe UI"/>
                <a:ea typeface="微软雅黑"/>
              </a:rPr>
              <a:t>一个可以算出来的临界替代率，以及它什么时候才真的会把一座城市卡住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3800" y="5558000"/>
            <a:ext cx="42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微软雅黑"/>
              </a:rPr>
              <a:t>邵敬哲  ·  24S129122</a:t>
            </a:r>
          </a:p>
          <a:p>
            <a:pPr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A0AEC0"/>
                </a:solidFill>
                <a:latin typeface="Segoe UI"/>
                <a:ea typeface="微软雅黑"/>
              </a:rPr>
              <a:t>指导教师：白舜文    |    环境学院 · 资源与环境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先说结论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这半年我算出来一个数，和它成立的条件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890000"/>
            <a:ext cx="333186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1">
                <a:solidFill>
                  <a:srgbClr val="2B6CB0"/>
                </a:solidFill>
                <a:latin typeface="Segoe UI"/>
                <a:ea typeface="微软雅黑"/>
              </a:rPr>
              <a:t>0.5532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30000"/>
            <a:ext cx="33318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临界替代率
超过它，继续掺再生水会抬高总补水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0066" y="1890000"/>
            <a:ext cx="333186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1">
                <a:solidFill>
                  <a:srgbClr val="2C7A7B"/>
                </a:solidFill>
                <a:latin typeface="Segoe UI"/>
                <a:ea typeface="微软雅黑"/>
              </a:rPr>
              <a:t>精确为零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0066" y="2530000"/>
            <a:ext cx="33318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阈值以下的响应
不是“很小”，是数值零（1e-12 量级）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1932" y="1890000"/>
            <a:ext cx="333186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1">
                <a:solidFill>
                  <a:srgbClr val="C05621"/>
                </a:solidFill>
                <a:latin typeface="Segoe UI"/>
                <a:ea typeface="微软雅黑"/>
              </a:rPr>
              <a:t>2 个条件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1932" y="2530000"/>
            <a:ext cx="33318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水质惩罚 + 瓶颈在水量侧
缺一个，容量一点都不动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31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310000"/>
            <a:ext cx="10515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一句话：</a:t>
            </a: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再生水掺到 55% 左右是免费的安全区；过了这条线，水会变咸、浓缩倍数被压下来、要补更多的水。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但这笔账只有落在“本来就卡在水上”的城市，才会真的变成容量损失。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全部结果来自两个合成参数端点的日尺度模型；不对应任何真实城市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“用中水冷却 = 省水”，这个等式有个洞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洞在两个字上：不是“水够不够”，而是“这个水咸不咸”。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2570000"/>
            <a:ext cx="5107800" cy="225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200" y="2570000"/>
            <a:ext cx="5107800" cy="46000"/>
          </a:xfrm>
          <a:prstGeom prst="rect">
            <a:avLst/>
          </a:prstGeom>
          <a:solidFill>
            <a:srgbClr val="718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8200" y="2870000"/>
            <a:ext cx="45878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A202C"/>
                </a:solidFill>
                <a:latin typeface="Segoe UI"/>
                <a:ea typeface="微软雅黑"/>
              </a:rPr>
              <a:t>常见的算法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200" y="3350000"/>
            <a:ext cx="45878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再生水 1 : 1 替代自来水 → 掺得越多 → 省的自来水越多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718096"/>
                </a:solidFill>
                <a:latin typeface="Segoe UI"/>
                <a:ea typeface="微软雅黑"/>
              </a:rPr>
              <a:t>结论：替代率越高越好，应该往 100% 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6000" y="2570000"/>
            <a:ext cx="5107800" cy="225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6000" y="2570000"/>
            <a:ext cx="5107800" cy="46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6000" y="2870000"/>
            <a:ext cx="45878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A202C"/>
                </a:solidFill>
                <a:latin typeface="Segoe UI"/>
                <a:ea typeface="微软雅黑"/>
              </a:rPr>
              <a:t>漏掉的一环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6000" y="3350000"/>
            <a:ext cx="45878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再生水比自来水咸 → 混合后更咸 → 冷却塔能浓缩的倍数被压低 → 散同样的热，要补更多的水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C05621"/>
                </a:solidFill>
                <a:latin typeface="Segoe UI"/>
                <a:ea typeface="微软雅黑"/>
              </a:rPr>
              <a:t>所以掺多了，总补水反而上升。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120000"/>
            <a:ext cx="10515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18096"/>
                </a:solidFill>
                <a:latin typeface="Segoe UI"/>
                <a:ea typeface="微软雅黑"/>
              </a:rPr>
              <a:t>那么问题就很具体了：</a:t>
            </a: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掺到多少，这个反噬才开始？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机制链条：混合补水含盐量 → 允许浓缩倍数 → 单位散热补水需求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天花板是死的，但你的余量是活的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冷却塔像一口锅：水蒸发走了，盐留下来，越熬越咸。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30000"/>
            <a:ext cx="5608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46C1"/>
                </a:solidFill>
                <a:latin typeface="Segoe UI"/>
                <a:ea typeface="微软雅黑"/>
              </a:rPr>
              <a:t>① 盐不蒸发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20000"/>
            <a:ext cx="560832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Segoe UI"/>
                <a:ea typeface="微软雅黑"/>
              </a:rPr>
              <a:t>补水带入的盐 = 排污带走的盐：M·C_mix = B·C_loop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90000"/>
            <a:ext cx="5608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46C1"/>
                </a:solidFill>
                <a:latin typeface="Segoe UI"/>
                <a:ea typeface="微软雅黑"/>
              </a:rPr>
              <a:t>② 定义浓缩倍数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80000"/>
            <a:ext cx="560832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Segoe UI"/>
                <a:ea typeface="微软雅黑"/>
              </a:rPr>
              <a:t>CoC = M / B，即“水被循环了几遍”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50000"/>
            <a:ext cx="5608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46C1"/>
                </a:solidFill>
                <a:latin typeface="Segoe UI"/>
                <a:ea typeface="微软雅黑"/>
              </a:rPr>
              <a:t>③ 撞上天花板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340000"/>
            <a:ext cx="560832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Segoe UI"/>
                <a:ea typeface="微软雅黑"/>
              </a:rPr>
              <a:t>循环水不能太咸：C_loop ≤ L  ⟹  CoC ≤ L / C_mix(r)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810000"/>
            <a:ext cx="5608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46C1"/>
                </a:solidFill>
                <a:latin typeface="Segoe UI"/>
                <a:ea typeface="微软雅黑"/>
              </a:rPr>
              <a:t>④ 混合浓度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100000"/>
            <a:ext cx="560832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Segoe UI"/>
                <a:ea typeface="微软雅黑"/>
              </a:rPr>
              <a:t>C_mix(r) = r·C_r + (1−r)·C_p，r 是再生水比例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66520" y="2530000"/>
            <a:ext cx="4487280" cy="2830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66520" y="2530000"/>
            <a:ext cx="4487280" cy="4600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6520" y="2810000"/>
            <a:ext cx="3887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0AEC0"/>
                </a:solidFill>
                <a:latin typeface="Segoe UI"/>
                <a:ea typeface="微软雅黑"/>
              </a:rPr>
              <a:t>令水质上限 = 设计值，解出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6520" y="3150000"/>
            <a:ext cx="388728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  <a:ea typeface="微软雅黑"/>
              </a:rPr>
              <a:t>r* = (L / CoC_d − C_p)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  <a:ea typeface="微软雅黑"/>
              </a:rPr>
              <a:t>       / (C_r − C_p)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6520" y="3950000"/>
            <a:ext cx="388728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0AEC0"/>
                </a:solidFill>
                <a:latin typeface="Segoe UI"/>
                <a:ea typeface="微软雅黑"/>
              </a:rPr>
              <a:t>代入：L=2200、CoC_d=5、C_p=180、C_r=650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6520" y="4660000"/>
            <a:ext cx="388728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2B6CB0"/>
                </a:solidFill>
                <a:latin typeface="Segoe UI"/>
                <a:ea typeface="微软雅黑"/>
              </a:rPr>
              <a:t>r* = 0.5532</a:t>
            </a:r>
            <a:r>
              <a:rPr sz="1500" b="0">
                <a:solidFill>
                  <a:srgbClr val="A0AEC0"/>
                </a:solidFill>
                <a:latin typeface="Segoe UI"/>
                <a:ea typeface="微软雅黑"/>
              </a:rPr>
              <a:t>   ≈ 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6520" y="5130000"/>
            <a:ext cx="3887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0"/>
                </a:solidFill>
                <a:latin typeface="Segoe UI"/>
                <a:ea typeface="微软雅黑"/>
              </a:rPr>
              <a:t>氯化物给出 68.4%，取较紧的仍是 TDS 的 55.3%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600000"/>
            <a:ext cx="10515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B46C1"/>
                </a:solidFill>
                <a:latin typeface="Segoe UI"/>
                <a:ea typeface="微软雅黑"/>
              </a:rPr>
              <a:t>关键直觉：</a:t>
            </a:r>
            <a:r>
              <a:rPr sz="1300" b="0">
                <a:solidFill>
                  <a:srgbClr val="4A5568"/>
                </a:solidFill>
                <a:latin typeface="Segoe UI"/>
                <a:ea typeface="微软雅黑"/>
              </a:rPr>
              <a:t>补水最多能到 440 mg/L。自来水 180，还有 260 的空间可以掺；如果某地自来水本身就 420，只剩 20 的空间——掺 8% 就到顶了。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推导：稳态盐平衡 + 结垢腐蚀限值；L、CoC_d、C_p、C_r 四个参数均无实测锚点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证据一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阈值以下，反噬是“精确的零”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不是“很小”，是数值零——小数点后十几位都没动。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2550000"/>
            <a:ext cx="5107800" cy="150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8200" y="2780000"/>
            <a:ext cx="45478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7A7B"/>
                </a:solidFill>
                <a:latin typeface="Segoe UI"/>
                <a:ea typeface="微软雅黑"/>
              </a:rPr>
              <a:t>r ≤ r* 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200" y="3090000"/>
            <a:ext cx="45478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800" b="1">
                <a:solidFill>
                  <a:srgbClr val="2C7A7B"/>
                </a:solidFill>
                <a:latin typeface="Segoe UI"/>
                <a:ea typeface="微软雅黑"/>
              </a:rPr>
              <a:t>7.3e−12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200" y="3630000"/>
            <a:ext cx="45478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8096"/>
                </a:solidFill>
                <a:latin typeface="Segoe UI"/>
                <a:ea typeface="微软雅黑"/>
              </a:rPr>
              <a:t>承载容量与总取水的响应量（数值零）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6000" y="2550000"/>
            <a:ext cx="5107800" cy="150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6000" y="2780000"/>
            <a:ext cx="45478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5621"/>
                </a:solidFill>
                <a:latin typeface="Segoe UI"/>
                <a:ea typeface="微软雅黑"/>
              </a:rPr>
              <a:t>r &gt; r* 后（200–1600 MW）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6000" y="3090000"/>
            <a:ext cx="45478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C05621"/>
                </a:solidFill>
                <a:latin typeface="Segoe UI"/>
                <a:ea typeface="微软雅黑"/>
              </a:rPr>
              <a:t>+6.47% ~ 6.48%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6000" y="3630000"/>
            <a:ext cx="45478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8096"/>
                </a:solidFill>
                <a:latin typeface="Segoe UI"/>
                <a:ea typeface="微软雅黑"/>
              </a:rPr>
              <a:t>总取水增幅，与数据中心容量完全无关（极差 0.012 个百分点）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4410000"/>
            <a:ext cx="52000" cy="9000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200" y="4410000"/>
            <a:ext cx="10215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A202C"/>
                </a:solidFill>
                <a:latin typeface="Segoe UI"/>
                <a:ea typeface="微软雅黑"/>
              </a:rPr>
              <a:t>为什么这条最硬：因为它能被证伪。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渐变型机制永远只能给出“很小”；而“这里应该恰好不动”是一个明确的预言——任何人测到一个非零，这个结论就错了。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打个比方：汤的咸淡只跟放多少盐有关，跟煮一锅还是十锅真的没关系。而这个“没关系”，是可以拿尺子量的。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50/25/10 MW 三种网格下该零效应均复现；主结果走 legacy 体积路径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证据二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惩罚发生了，但城市可能根本不疼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同样的水质惩罚，一个城市掉了 100 MW，另一个几乎没动。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2540000"/>
            <a:ext cx="5087800" cy="175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200" y="2540000"/>
            <a:ext cx="5087800" cy="46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8200" y="2820000"/>
            <a:ext cx="45478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B6CB0"/>
                </a:solidFill>
                <a:latin typeface="Segoe UI"/>
                <a:ea typeface="微软雅黑"/>
              </a:rPr>
              <a:t>D-HA  缺水—高冷负荷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00" y="3240000"/>
            <a:ext cx="4547800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替代率 0.5 → 0.9：容量掉约 100 MW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而电网约束全程纹丝不动（Δ = 0.0000）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2B6CB0"/>
                </a:solidFill>
                <a:latin typeface="Segoe UI"/>
                <a:ea typeface="微软雅黑"/>
              </a:rPr>
              <a:t>→ 瓶颈在水量侧，惩罚落到了容量上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6000" y="2540000"/>
            <a:ext cx="5087800" cy="175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6000" y="2540000"/>
            <a:ext cx="5087800" cy="46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6000" y="2820000"/>
            <a:ext cx="45478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05621"/>
                </a:solidFill>
                <a:latin typeface="Segoe UI"/>
                <a:ea typeface="微软雅黑"/>
              </a:rPr>
              <a:t>D-CO  气候凉爽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6000" y="3240000"/>
            <a:ext cx="4547800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水质惩罚同样发生了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Segoe UI"/>
                <a:ea typeface="微软雅黑"/>
              </a:rPr>
              <a:t>水一样变咸、补水一样往上走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C05621"/>
                </a:solidFill>
                <a:latin typeface="Segoe UI"/>
                <a:ea typeface="微软雅黑"/>
              </a:rPr>
              <a:t>→ 但容量几乎没变：它本来就卡在电上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4590000"/>
            <a:ext cx="10515600" cy="100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8200" y="4770000"/>
            <a:ext cx="99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02C"/>
                </a:solidFill>
                <a:latin typeface="Segoe UI"/>
                <a:ea typeface="微软雅黑"/>
              </a:rPr>
              <a:t>打个比方：</a:t>
            </a:r>
            <a:r>
              <a:rPr sz="1400" b="0">
                <a:solidFill>
                  <a:srgbClr val="4A5568"/>
                </a:solidFill>
                <a:latin typeface="Segoe UI"/>
                <a:ea typeface="微软雅黑"/>
              </a:rPr>
              <a:t>一个人被门卡住了过不去，你给他背上加 20 斤的包。包确实重了，但他进不进得去，跟背包没关系，跟门有关系。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740000"/>
            <a:ext cx="1051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718096"/>
                </a:solidFill>
                <a:latin typeface="Segoe UI"/>
                <a:ea typeface="微软雅黑"/>
              </a:rPr>
              <a:t>所以机制要两个条件同时成立：</a:t>
            </a:r>
            <a:r>
              <a:rPr sz="1450" b="1">
                <a:solidFill>
                  <a:srgbClr val="C05621"/>
                </a:solidFill>
                <a:latin typeface="Segoe UI"/>
                <a:ea typeface="微软雅黑"/>
              </a:rPr>
              <a:t>水质惩罚（推的力气）  +  瓶颈在水量侧（门没被别的东西卡死）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另有气候条件：夏季 +4 ℃ 下凉爽端点降幅由 50 MW 增至 100 MW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结果 · 约束结构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两个端点，两种死法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骨架完全相同，只有气候和设施参数不同——差异只能来自余量结构。</a:t>
            </a:r>
          </a:p>
        </p:txBody>
      </p:sp>
      <p:pic>
        <p:nvPicPr>
          <p:cNvPr id="8" name="Picture 7" descr="Fig2_bottleneck_migra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72" y="2450000"/>
            <a:ext cx="6995856" cy="3127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708000"/>
            <a:ext cx="10515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8096"/>
                </a:solidFill>
                <a:latin typeface="Segoe UI"/>
                <a:ea typeface="微软雅黑"/>
              </a:rPr>
              <a:t>口径：</a:t>
            </a: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1200 / 1500 MW 是首次失效容量；对应的最大安全容量（前一个 50 MW 网格点）是 1150 / 1450 MW，两个数不能混着说。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718096"/>
                </a:solidFill>
                <a:latin typeface="Segoe UI"/>
                <a:ea typeface="微软雅黑"/>
              </a:rPr>
              <a:t>另外：</a:t>
            </a: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污水厂利用率在两端点都“从未失效”——但这不是安全，只是扫描没到达（上限翻倍到 4000 MW 后多数约束都会失效）。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图 2｜日尺度、联合约束集、50–2000 MW 扫描；确定性单次扫描，无抽样误差估计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结果 · 干预反事实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三个“看起来一样”的杠杆，量级差一个数量级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对症的干预有增益，非对症的增益恰好为零——而且两端互斥。</a:t>
            </a:r>
          </a:p>
        </p:txBody>
      </p:sp>
      <p:pic>
        <p:nvPicPr>
          <p:cNvPr id="8" name="Picture 7" descr="Fig4_intervention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65" y="2450000"/>
            <a:ext cx="5846390" cy="275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85720" y="2450000"/>
            <a:ext cx="3568080" cy="88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85720" y="2450000"/>
            <a:ext cx="46000" cy="880000"/>
          </a:xfrm>
          <a:prstGeom prst="rect">
            <a:avLst/>
          </a:prstGeom>
          <a:solidFill>
            <a:srgbClr val="718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5720" y="2570000"/>
            <a:ext cx="3228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02C"/>
                </a:solidFill>
                <a:latin typeface="Segoe UI"/>
                <a:ea typeface="微软雅黑"/>
              </a:rPr>
              <a:t>扩处理能力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5720" y="2870000"/>
            <a:ext cx="3228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18096"/>
                </a:solidFill>
                <a:latin typeface="Segoe UI"/>
                <a:ea typeface="微软雅黑"/>
              </a:rPr>
              <a:t>把桶做大　</a:t>
            </a:r>
            <a:r>
              <a:rPr sz="1150" b="1">
                <a:solidFill>
                  <a:srgbClr val="718096"/>
                </a:solidFill>
                <a:latin typeface="Segoe UI"/>
                <a:ea typeface="微软雅黑"/>
              </a:rPr>
              <a:t>无效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5720" y="3070000"/>
            <a:ext cx="3228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8096"/>
                </a:solidFill>
                <a:latin typeface="Segoe UI"/>
                <a:ea typeface="微软雅黑"/>
              </a:rPr>
              <a:t>0 MW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85720" y="3350000"/>
            <a:ext cx="3568080" cy="88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85720" y="3350000"/>
            <a:ext cx="46000" cy="8800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5720" y="3470000"/>
            <a:ext cx="3228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02C"/>
                </a:solidFill>
                <a:latin typeface="Segoe UI"/>
                <a:ea typeface="微软雅黑"/>
              </a:rPr>
              <a:t>提再生水产量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5720" y="3770000"/>
            <a:ext cx="3228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18096"/>
                </a:solidFill>
                <a:latin typeface="Segoe UI"/>
                <a:ea typeface="微软雅黑"/>
              </a:rPr>
              <a:t>多接一根水管　</a:t>
            </a:r>
            <a:r>
              <a:rPr sz="1150" b="1">
                <a:solidFill>
                  <a:srgbClr val="2C7A7B"/>
                </a:solidFill>
                <a:latin typeface="Segoe UI"/>
                <a:ea typeface="微软雅黑"/>
              </a:rPr>
              <a:t>有效，还能挪瓶颈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5720" y="3970000"/>
            <a:ext cx="3228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7A7B"/>
                </a:solidFill>
                <a:latin typeface="Segoe UI"/>
                <a:ea typeface="微软雅黑"/>
              </a:rPr>
              <a:t>+350~400 MW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85720" y="4250000"/>
            <a:ext cx="3568080" cy="88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85720" y="4250000"/>
            <a:ext cx="46000" cy="880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5720" y="4370000"/>
            <a:ext cx="3228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02C"/>
                </a:solidFill>
                <a:latin typeface="Segoe UI"/>
                <a:ea typeface="微软雅黑"/>
              </a:rPr>
              <a:t>提替代率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5720" y="4670000"/>
            <a:ext cx="322808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18096"/>
                </a:solidFill>
                <a:latin typeface="Segoe UI"/>
                <a:ea typeface="微软雅黑"/>
              </a:rPr>
              <a:t>往汤里多放盐　</a:t>
            </a:r>
            <a:r>
              <a:rPr sz="1150" b="1">
                <a:solidFill>
                  <a:srgbClr val="C05621"/>
                </a:solidFill>
                <a:latin typeface="Segoe UI"/>
                <a:ea typeface="微软雅黑"/>
              </a:rPr>
              <a:t>过阈值后有害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5720" y="4870000"/>
            <a:ext cx="32280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5621"/>
                </a:solidFill>
                <a:latin typeface="Segoe UI"/>
                <a:ea typeface="微软雅黑"/>
              </a:rPr>
              <a:t>−50~−100 MW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" y="5390000"/>
            <a:ext cx="52000" cy="720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200" y="5390000"/>
            <a:ext cx="102156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02C"/>
                </a:solidFill>
                <a:latin typeface="Segoe UI"/>
                <a:ea typeface="微软雅黑"/>
              </a:rPr>
              <a:t>还有一条挺打脸的：</a:t>
            </a:r>
            <a:r>
              <a:rPr sz="1400" b="1">
                <a:solidFill>
                  <a:srgbClr val="C05621"/>
                </a:solidFill>
                <a:latin typeface="Segoe UI"/>
                <a:ea typeface="微软雅黑"/>
              </a:rPr>
              <a:t>多产水并不能抵消多掺咸水的惩罚。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  <a:ea typeface="微软雅黑"/>
              </a:rPr>
              <a:t>缺水城市产量拉到最高时，惩罚反而从 −50 变成 −100。产水抬的是供水侧，惩罚打在需求侧的化学上——就像多打几口井，并不改变汤越来越咸这件事。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图 4｜9 项干预 × 2 域，均已统一在 50 MW 网格重跑，基线 1150 / 1450 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我在担心什么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02C"/>
                </a:solidFill>
                <a:latin typeface="Segoe UI"/>
                <a:ea typeface="微软雅黑"/>
              </a:rPr>
              <a:t>这几条不说清楚，上面那些数字就不该被当真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77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02C"/>
                </a:solidFill>
                <a:latin typeface="Segoe UI"/>
                <a:ea typeface="微软雅黑"/>
              </a:rPr>
              <a:t>我主动讲，因为它们决定这些结果现在能用到什么程度。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2520000"/>
            <a:ext cx="3358533" cy="196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200" y="2520000"/>
            <a:ext cx="3358533" cy="46000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200" y="2800000"/>
            <a:ext cx="2878533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全是合成数据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200" y="3140000"/>
            <a:ext cx="2878533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B2C2C"/>
                </a:solidFill>
                <a:latin typeface="Segoe UI"/>
                <a:ea typeface="微软雅黑"/>
              </a:rPr>
              <a:t>没碰过真城市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200" y="3460000"/>
            <a:ext cx="2878533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  <a:ea typeface="微软雅黑"/>
              </a:rPr>
              <a:t>所有容量结果来自两个合成的参数端点。这些 MW 数字不能当成“某城市能承载多少”来读。驱动是合成的，`hydrology_validation = NONE`。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733" y="2520000"/>
            <a:ext cx="3358533" cy="196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733" y="2520000"/>
            <a:ext cx="3358533" cy="46000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6733" y="2800000"/>
            <a:ext cx="2878533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一个参数能翻盘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6733" y="3140000"/>
            <a:ext cx="2878533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B2C2C"/>
                </a:solidFill>
                <a:latin typeface="Segoe UI"/>
                <a:ea typeface="微软雅黑"/>
              </a:rPr>
              <a:t>自来水含盐量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6733" y="3460000"/>
            <a:ext cx="2878533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  <a:ea typeface="微软雅黑"/>
              </a:rPr>
              <a:t>我取 180 mg/L，但加州一万多个地下水实测里它只在第 14 百分位，中位是 420。改成 420，安全线从 55% 掉到 8.7%——结论整个翻过来。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5266" y="2520000"/>
            <a:ext cx="3358533" cy="196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5266" y="2520000"/>
            <a:ext cx="3358533" cy="46000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5266" y="2800000"/>
            <a:ext cx="2878533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02C"/>
                </a:solidFill>
                <a:latin typeface="Segoe UI"/>
                <a:ea typeface="微软雅黑"/>
              </a:rPr>
              <a:t>效应比噪声还小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266" y="3140000"/>
            <a:ext cx="2878533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B2C2C"/>
                </a:solidFill>
                <a:latin typeface="Segoe UI"/>
                <a:ea typeface="微软雅黑"/>
              </a:rPr>
              <a:t>100 MW &lt; ±150 MW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266" y="3460000"/>
            <a:ext cx="2878533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  <a:ea typeface="微软雅黑"/>
              </a:rPr>
              <a:t>1024 次抽样下抽样带宽约 ±150 MW，比我主张的 100 MW 还大。所以这个数只能读成两个情景的差值，不是可分辨的统计信号。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4720000"/>
            <a:ext cx="10515600" cy="7800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8200" y="4860000"/>
            <a:ext cx="9955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8096"/>
                </a:solidFill>
                <a:latin typeface="Segoe UI"/>
                <a:ea typeface="微软雅黑"/>
              </a:rPr>
              <a:t>另外，</a:t>
            </a:r>
            <a:r>
              <a:rPr sz="1200" b="1">
                <a:solidFill>
                  <a:srgbClr val="1A202C"/>
                </a:solidFill>
                <a:latin typeface="Segoe UI"/>
                <a:ea typeface="微软雅黑"/>
              </a:rPr>
              <a:t>最近自查修了几个错：</a:t>
            </a: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“两类情形已复现”→“除情形 IV 外均已复现”；509→603 mg/L；图 4 干预混用 50/100 MW 网格已统一。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9B2C2C"/>
                </a:solidFill>
                <a:latin typeface="Segoe UI"/>
                <a:ea typeface="微软雅黑"/>
              </a:rPr>
              <a:t>最险的一个：</a:t>
            </a:r>
            <a:r>
              <a:rPr sz="1200" b="0">
                <a:solidFill>
                  <a:srgbClr val="4A5568"/>
                </a:solidFill>
                <a:latin typeface="Segoe UI"/>
                <a:ea typeface="微软雅黑"/>
              </a:rPr>
              <a:t>我一度把动态路径“效应消失”归因于物理机制，还准备写进论文——查出来是实现 bug（水质覆盖整体替换而非合并）。修完效应减半，不是消失。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96"/>
                </a:solidFill>
                <a:latin typeface="Segoe UI"/>
                <a:ea typeface="微软雅黑"/>
              </a:rPr>
              <a:t>判据本身不受这些影响：r* 是四个水质参数的代数性质，与模型走哪条路径无关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8096"/>
                </a:solidFill>
                <a:latin typeface="Segoe UI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000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600000"/>
            <a:ext cx="10515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6CB0"/>
                </a:solidFill>
                <a:latin typeface="Segoe UI"/>
                <a:ea typeface="微软雅黑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00000"/>
            <a:ext cx="10515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  <a:ea typeface="微软雅黑"/>
              </a:rPr>
              <a:t>想把力气花在“更可信”上，而不是“更大”上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0000"/>
            <a:ext cx="10515600" cy="11000"/>
          </a:xfrm>
          <a:prstGeom prst="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89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6CB0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8200" y="1890000"/>
            <a:ext cx="6145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微软雅黑"/>
              </a:rPr>
              <a:t>统一口径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8200" y="2210000"/>
            <a:ext cx="614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0AEC0"/>
                </a:solidFill>
                <a:latin typeface="Segoe UI"/>
                <a:ea typeface="微软雅黑"/>
              </a:rPr>
              <a:t>容量定义、扫描网格、混合水质数值、干预基线收成一本可追溯的账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84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6CB0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8200" y="2840000"/>
            <a:ext cx="6145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微软雅黑"/>
              </a:rPr>
              <a:t>再验水质链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8200" y="3160000"/>
            <a:ext cx="614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0AEC0"/>
                </a:solidFill>
                <a:latin typeface="Segoe UI"/>
                <a:ea typeface="微软雅黑"/>
              </a:rPr>
              <a:t>重点：目标替代率 vs 实际交付比例——现在按目标算，高替代率段惩罚被高估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9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6CB0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8200" y="3790000"/>
            <a:ext cx="6145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微软雅黑"/>
              </a:rPr>
              <a:t>分界线敏感性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8200" y="4110000"/>
            <a:ext cx="614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0AEC0"/>
                </a:solidFill>
                <a:latin typeface="Segoe UI"/>
                <a:ea typeface="微软雅黑"/>
              </a:rPr>
              <a:t>水侧 / 电力侧那条界什么时候移动。比多跑几百个容量点有价值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4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6CB0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8200" y="4740000"/>
            <a:ext cx="6145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微软雅黑"/>
              </a:rPr>
              <a:t>找真实数据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8200" y="5060000"/>
            <a:ext cx="614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0AEC0"/>
                </a:solidFill>
                <a:latin typeface="Segoe UI"/>
                <a:ea typeface="微软雅黑"/>
              </a:rPr>
              <a:t>找得到就做外部锚定；找不到就老实说是合成情景研究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3800" y="1890000"/>
            <a:ext cx="361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0AEC0"/>
                </a:solidFill>
                <a:latin typeface="Segoe UI"/>
                <a:ea typeface="微软雅黑"/>
              </a:rPr>
              <a:t>想请老师帮我定两件事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3800" y="2320000"/>
            <a:ext cx="3610000" cy="1420000"/>
          </a:xfrm>
          <a:prstGeom prst="rect">
            <a:avLst/>
          </a:prstGeom>
          <a:noFill/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3800" y="2490000"/>
            <a:ext cx="313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6CB0"/>
                </a:solidFill>
                <a:latin typeface="Segoe UI"/>
                <a:ea typeface="微软雅黑"/>
              </a:rPr>
              <a:t>Q1　</a:t>
            </a:r>
            <a:r>
              <a:rPr sz="1400" b="1">
                <a:solidFill>
                  <a:srgbClr val="FFFFFF"/>
                </a:solidFill>
                <a:latin typeface="Segoe UI"/>
                <a:ea typeface="微软雅黑"/>
              </a:rPr>
              <a:t>下一步的力气往哪使？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3800" y="2860000"/>
            <a:ext cx="313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0AEC0"/>
                </a:solidFill>
                <a:latin typeface="Segoe UI"/>
                <a:ea typeface="微软雅黑"/>
              </a:rPr>
              <a:t>先把这个机制的判别做扎实，还是先找一个真实城市做案例？
我倾向先做机制——真城市设施级率定数据不好拿，勉强做容易变成参数的演示。但这也可能是我在偷懒。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3800" y="3840000"/>
            <a:ext cx="3610000" cy="1420000"/>
          </a:xfrm>
          <a:prstGeom prst="rect">
            <a:avLst/>
          </a:prstGeom>
          <a:noFill/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3800" y="4010000"/>
            <a:ext cx="313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6CB0"/>
                </a:solidFill>
                <a:latin typeface="Segoe UI"/>
                <a:ea typeface="微软雅黑"/>
              </a:rPr>
              <a:t>Q2　</a:t>
            </a:r>
            <a:r>
              <a:rPr sz="1400" b="1">
                <a:solidFill>
                  <a:srgbClr val="FFFFFF"/>
                </a:solidFill>
                <a:latin typeface="Segoe UI"/>
                <a:ea typeface="微软雅黑"/>
              </a:rPr>
              <a:t>论文要不要收窄？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3800" y="4380000"/>
            <a:ext cx="313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0AEC0"/>
                </a:solidFill>
                <a:latin typeface="Segoe UI"/>
                <a:ea typeface="微软雅黑"/>
              </a:rPr>
              <a:t>收窄到“水质兼容性怎么影响城市约束”一条主线，还是保留水代谢框架、时间尺度、工程干预这些更宽的内容？
我倾向收窄，但收窄了工作量看起来会薄一些。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5708000"/>
            <a:ext cx="10515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EC0"/>
                </a:solidFill>
                <a:latin typeface="Segoe UI"/>
                <a:ea typeface="微软雅黑"/>
              </a:rPr>
              <a:t>另外：开题承诺的“等效普通工业冷却对照”还没做，想听听是否仍需补。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6278000"/>
            <a:ext cx="9615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0AEC0"/>
                </a:solidFill>
                <a:latin typeface="Segoe UI"/>
                <a:ea typeface="微软雅黑"/>
              </a:rPr>
              <a:t>邵敬哲 · 2026.10.20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3800" y="6278000"/>
            <a:ext cx="7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0AEC0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