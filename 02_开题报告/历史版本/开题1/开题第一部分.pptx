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75" r:id="rId6"/>
    <p:sldId id="273" r:id="rId7"/>
    <p:sldId id="274" r:id="rId8"/>
    <p:sldId id="277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OpenAI, ChatGPT usage and adoption patterns at work: https://openai.com/business/guides-and-resources/chatgpt-usage-and-adoption-patterns-at-work/</a:t>
            </a:r>
          </a:p>
          <a:p>
            <a:r>
              <a:t>OpenAI, New economic analysis: https://openai.com/global-affairs/new-economic-analysis/</a:t>
            </a:r>
          </a:p>
          <a:p>
            <a:r>
              <a:t>Visual asset generated with OpenAI image generation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Stanford HAI, The 2026 AI Index Report: https://hai.stanford.edu/ai-index/2026-ai-index-report</a:t>
            </a:r>
          </a:p>
          <a:p>
            <a:r>
              <a:t>Stanford HAI, Technical Performance 2026: https://hai.stanford.edu/ai-index/2026-ai-index-report/technical-performance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IEA, Energy and AI — Executive summary: https://www.iea.org/reports/energy-and-ai/executive-summary</a:t>
            </a:r>
          </a:p>
          <a:p>
            <a:r>
              <a:t>Visual asset generated with OpenAI image generation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IEA, Energy and AI — Executive summary: https://www.iea.org/reports/energy-and-ai/executive-summary</a:t>
            </a:r>
          </a:p>
          <a:p>
            <a:r>
              <a:t>Visual asset generated with OpenAI image generation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圆角矩形 20"/>
          <p:cNvSpPr/>
          <p:nvPr/>
        </p:nvSpPr>
        <p:spPr>
          <a:xfrm>
            <a:off x="1198880" y="1289050"/>
            <a:ext cx="9247505" cy="127444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35280" y="3238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AI进入全球日常生活</a:t>
            </a:r>
            <a:endParaRPr sz="3150" b="1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51630" y="330835"/>
            <a:ext cx="749236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生成式AI已从少数人的尝鲜工具，变成每天被数十亿次调用的数字基础设施。</a:t>
            </a:r>
            <a:endParaRPr sz="1350" b="0">
              <a:solidFill>
                <a:srgbClr val="516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95300" y="6477000"/>
            <a:ext cx="11201400" cy="0"/>
          </a:xfrm>
          <a:prstGeom prst="line">
            <a:avLst/>
          </a:prstGeom>
          <a:noFill/>
          <a:ln w="9525">
            <a:solidFill>
              <a:srgbClr val="C9DCE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95300" y="6572250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F84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F84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来源：OpenAI（2025–2026）｜数据为公开口径，采用保守可核查值</a:t>
            </a:r>
            <a:endParaRPr sz="825" b="0">
              <a:solidFill>
                <a:srgbClr val="6F84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315700" y="65436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0787B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0787B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975" b="1">
              <a:solidFill>
                <a:srgbClr val="0787B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198880" y="2919730"/>
            <a:ext cx="9247505" cy="139827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644650" y="1665605"/>
            <a:ext cx="37433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全国日均</a:t>
            </a:r>
            <a:r>
              <a:rPr lang="en-US" altLang="zh-CN" sz="28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28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调用量</a:t>
            </a:r>
            <a:endParaRPr lang="zh-CN" altLang="en-US" sz="280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16405" y="3322320"/>
            <a:ext cx="39147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ChatGPT 周活跃用户</a:t>
            </a:r>
            <a:endParaRPr lang="zh-CN" altLang="en-US"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2980" y="5445125"/>
            <a:ext cx="324548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GenAI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全球人口采用率估计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44110" y="5516880"/>
            <a:ext cx="23736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GenAI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采用率约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817870" y="3011805"/>
            <a:ext cx="15303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&lt;1</a:t>
            </a:r>
            <a:r>
              <a:rPr lang="zh-CN" altLang="en-US" sz="4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endParaRPr lang="zh-CN" altLang="en-US" sz="4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21650" y="3011805"/>
            <a:ext cx="15303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4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endParaRPr lang="zh-CN" altLang="en-US" sz="4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817870" y="3724910"/>
            <a:ext cx="14605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年末</a:t>
            </a:r>
            <a:endParaRPr lang="zh-CN" altLang="en-US" sz="200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1490" y="3790315"/>
            <a:ext cx="15405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altLang="en-US" sz="200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62930" y="1378585"/>
            <a:ext cx="22821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1000</a:t>
            </a:r>
            <a:r>
              <a:rPr lang="zh-CN" altLang="en-US" sz="3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endParaRPr lang="zh-CN" altLang="en-US" sz="3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07045" y="1378585"/>
            <a:ext cx="22758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140</a:t>
            </a:r>
            <a:r>
              <a:rPr lang="zh-CN" altLang="en-US" sz="3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万亿</a:t>
            </a:r>
            <a:endParaRPr lang="zh-CN" altLang="en-US" sz="3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79465" y="2026285"/>
            <a:ext cx="15646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2024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年初</a:t>
            </a:r>
            <a:endParaRPr lang="zh-CN" altLang="en-US" sz="200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327390" y="2098040"/>
            <a:ext cx="1635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altLang="en-US" sz="200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847215" y="4728845"/>
            <a:ext cx="15303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0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53%</a:t>
            </a:r>
            <a:endParaRPr lang="en-US" sz="40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04155" y="4761865"/>
            <a:ext cx="15303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79</a:t>
            </a:r>
            <a:r>
              <a:rPr lang="en-US" sz="40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endParaRPr lang="en-US" sz="40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96225" y="5516880"/>
            <a:ext cx="288099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346440" y="4797425"/>
            <a:ext cx="18929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&gt;2.9</a:t>
            </a:r>
            <a:r>
              <a:rPr lang="zh-CN" altLang="en-US" sz="36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endParaRPr lang="zh-CN" altLang="en-US" sz="36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29790" y="1125220"/>
            <a:ext cx="2381250" cy="951230"/>
          </a:xfrm>
          <a:prstGeom prst="roundRect">
            <a:avLst>
              <a:gd name="adj" fmla="val 13559"/>
            </a:avLst>
          </a:prstGeom>
          <a:solidFill>
            <a:srgbClr val="DDEFFC"/>
          </a:solidFill>
          <a:ln w="9525">
            <a:solidFill>
              <a:srgbClr val="0787B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301240" y="127762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787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787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会说</a:t>
            </a:r>
            <a:endParaRPr sz="2000" b="1">
              <a:solidFill>
                <a:srgbClr val="0787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01240" y="169164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 · 总结 · 翻译 · 问答</a:t>
            </a:r>
            <a:endParaRPr sz="1200" b="1">
              <a:solidFill>
                <a:srgbClr val="516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796790" y="1125220"/>
            <a:ext cx="2381250" cy="951230"/>
          </a:xfrm>
          <a:prstGeom prst="roundRect">
            <a:avLst>
              <a:gd name="adj" fmla="val 13559"/>
            </a:avLst>
          </a:prstGeom>
          <a:solidFill>
            <a:srgbClr val="DDEFFC"/>
          </a:solidFill>
          <a:ln w="9525">
            <a:solidFill>
              <a:srgbClr val="2864C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968240" y="127762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286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86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会想</a:t>
            </a:r>
            <a:endParaRPr sz="2000" b="1">
              <a:solidFill>
                <a:srgbClr val="286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68240" y="169164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复杂推理 · 多步规划 · 多模态</a:t>
            </a:r>
            <a:endParaRPr sz="1200" b="1">
              <a:solidFill>
                <a:srgbClr val="516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463790" y="1125220"/>
            <a:ext cx="2559685" cy="951230"/>
          </a:xfrm>
          <a:prstGeom prst="roundRect">
            <a:avLst>
              <a:gd name="adj" fmla="val 13559"/>
            </a:avLst>
          </a:prstGeom>
          <a:solidFill>
            <a:srgbClr val="FFF0E2"/>
          </a:solidFill>
          <a:ln w="9525">
            <a:solidFill>
              <a:srgbClr val="E37B2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35240" y="127762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E37B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E37B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会做</a:t>
            </a:r>
            <a:endParaRPr sz="2000" b="1">
              <a:solidFill>
                <a:srgbClr val="E37B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35240" y="169164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16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查网页 · 读文件 · 写代码 · 跑测试</a:t>
            </a:r>
            <a:endParaRPr sz="1200" b="1">
              <a:solidFill>
                <a:srgbClr val="516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511040" y="1601470"/>
            <a:ext cx="266700" cy="190500"/>
          </a:xfrm>
          <a:prstGeom prst="rightArrow">
            <a:avLst/>
          </a:prstGeom>
          <a:solidFill>
            <a:srgbClr val="0787B7"/>
          </a:solidFill>
          <a:ln w="0">
            <a:noFill/>
            <a:prstDash val="solid"/>
          </a:ln>
        </p:spPr>
      </p:sp>
      <p:sp>
        <p:nvSpPr>
          <p:cNvPr id="15" name="右箭头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178040" y="1601470"/>
            <a:ext cx="266700" cy="190500"/>
          </a:xfrm>
          <a:prstGeom prst="rightArrow">
            <a:avLst/>
          </a:prstGeom>
          <a:solidFill>
            <a:srgbClr val="2864C7"/>
          </a:solidFill>
          <a:ln w="0">
            <a:noFill/>
            <a:prstDash val="solid"/>
          </a:ln>
        </p:spPr>
      </p:sp>
      <p:cxnSp>
        <p:nvCxnSpPr>
          <p:cNvPr id="2" name="直接连接符 1"/>
          <p:cNvCxnSpPr/>
          <p:nvPr/>
        </p:nvCxnSpPr>
        <p:spPr>
          <a:xfrm>
            <a:off x="5951855" y="2454910"/>
            <a:ext cx="0" cy="411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椭圆 2"/>
          <p:cNvSpPr>
            <a:spLocks noGrp="1"/>
          </p:cNvSpPr>
          <p:nvPr/>
        </p:nvSpPr>
        <p:spPr>
          <a:xfrm>
            <a:off x="1891665" y="5785485"/>
            <a:ext cx="112395" cy="118110"/>
          </a:xfrm>
          <a:prstGeom prst="ellipse">
            <a:avLst/>
          </a:prstGeom>
          <a:solidFill>
            <a:srgbClr val="0787B7"/>
          </a:solidFill>
          <a:ln w="0">
            <a:noFill/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1415415" y="5445125"/>
            <a:ext cx="1238885" cy="687070"/>
          </a:xfrm>
          <a:prstGeom prst="roundRect">
            <a:avLst>
              <a:gd name="adj" fmla="val 27586"/>
            </a:avLst>
          </a:prstGeom>
          <a:solidFill>
            <a:srgbClr val="DDEFFC"/>
          </a:solidFill>
          <a:ln w="9525">
            <a:solidFill>
              <a:srgbClr val="0787B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510665" y="5582285"/>
            <a:ext cx="101346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个人学习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897380" y="3511550"/>
            <a:ext cx="112395" cy="118110"/>
          </a:xfrm>
          <a:prstGeom prst="ellipse">
            <a:avLst/>
          </a:prstGeom>
          <a:solidFill>
            <a:srgbClr val="2864C7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421130" y="3242945"/>
            <a:ext cx="1238885" cy="687070"/>
          </a:xfrm>
          <a:prstGeom prst="roundRect">
            <a:avLst>
              <a:gd name="adj" fmla="val 27586"/>
            </a:avLst>
          </a:prstGeom>
          <a:solidFill>
            <a:srgbClr val="DDEFFC"/>
          </a:solidFill>
          <a:ln w="9525">
            <a:solidFill>
              <a:srgbClr val="2864C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516380" y="3308350"/>
            <a:ext cx="101346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办公写作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1891665" y="4684395"/>
            <a:ext cx="112395" cy="118110"/>
          </a:xfrm>
          <a:prstGeom prst="ellipse">
            <a:avLst/>
          </a:prstGeom>
          <a:solidFill>
            <a:srgbClr val="159D86"/>
          </a:solidFill>
          <a:ln w="0">
            <a:noFill/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1415415" y="4344035"/>
            <a:ext cx="1238885" cy="687070"/>
          </a:xfrm>
          <a:prstGeom prst="roundRect">
            <a:avLst>
              <a:gd name="adj" fmla="val 27586"/>
            </a:avLst>
          </a:prstGeom>
          <a:solidFill>
            <a:srgbClr val="E2F5F0"/>
          </a:solidFill>
          <a:ln w="9525">
            <a:solidFill>
              <a:srgbClr val="159D8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510665" y="4481195"/>
            <a:ext cx="101346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软件开发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3907790" y="3511550"/>
            <a:ext cx="122555" cy="118110"/>
          </a:xfrm>
          <a:prstGeom prst="ellipse">
            <a:avLst/>
          </a:prstGeom>
          <a:solidFill>
            <a:srgbClr val="E37B29"/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3431540" y="3242945"/>
            <a:ext cx="1356360" cy="687070"/>
          </a:xfrm>
          <a:prstGeom prst="roundRect">
            <a:avLst>
              <a:gd name="adj" fmla="val 27586"/>
            </a:avLst>
          </a:prstGeom>
          <a:solidFill>
            <a:srgbClr val="FFF0E2"/>
          </a:solidFill>
          <a:ln w="9525">
            <a:solidFill>
              <a:srgbClr val="E37B29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26790" y="3308350"/>
            <a:ext cx="110998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内容生产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3907790" y="5785485"/>
            <a:ext cx="122555" cy="118110"/>
          </a:xfrm>
          <a:prstGeom prst="ellipse">
            <a:avLst/>
          </a:prstGeom>
          <a:solidFill>
            <a:srgbClr val="DB4A3D"/>
          </a:solidFill>
          <a:ln w="0">
            <a:noFill/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3431540" y="5445125"/>
            <a:ext cx="1356360" cy="687070"/>
          </a:xfrm>
          <a:prstGeom prst="roundRect">
            <a:avLst>
              <a:gd name="adj" fmla="val 27586"/>
            </a:avLst>
          </a:prstGeom>
          <a:solidFill>
            <a:srgbClr val="FCE8E5"/>
          </a:solidFill>
          <a:ln w="9525">
            <a:solidFill>
              <a:srgbClr val="DB4A3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526790" y="5582285"/>
            <a:ext cx="110998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企业流程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3907790" y="4684395"/>
            <a:ext cx="122555" cy="118110"/>
          </a:xfrm>
          <a:prstGeom prst="ellipse">
            <a:avLst/>
          </a:prstGeom>
          <a:solidFill>
            <a:srgbClr val="2864C7"/>
          </a:solidFill>
          <a:ln w="0">
            <a:noFill/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3431540" y="4344035"/>
            <a:ext cx="1356360" cy="687070"/>
          </a:xfrm>
          <a:prstGeom prst="roundRect">
            <a:avLst>
              <a:gd name="adj" fmla="val 27586"/>
            </a:avLst>
          </a:prstGeom>
          <a:solidFill>
            <a:srgbClr val="DDEFFC"/>
          </a:solidFill>
          <a:ln w="9525">
            <a:solidFill>
              <a:srgbClr val="2864C7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526790" y="4481195"/>
            <a:ext cx="1109980" cy="473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科研与工业</a:t>
            </a:r>
            <a:endParaRPr sz="2000" b="0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67755" y="2493010"/>
            <a:ext cx="560006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测试中，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5.6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模型得到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分，超过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PaperBench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科研水平测试中，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得分达到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抽象推理与泛化能力测试中，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GPT-5.5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的得分超越人类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的平均水平，而早期模型在该测试中得分不到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单个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agent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，相当于单个熟练工程师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2-17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周的工作量。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1855" y="250475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认知、创作和软件的劳动自动化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5280" y="3238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变得越来越聪明</a:t>
            </a:r>
            <a:endParaRPr sz="3150" b="1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2880360"/>
          </a:xfrm>
          <a:prstGeom prst="rect">
            <a:avLst/>
          </a:prstGeom>
          <a:solidFill>
            <a:srgbClr val="EEF6FC"/>
          </a:solidFill>
          <a:ln w="12700">
            <a:solidFill>
              <a:srgbClr val="EEF6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288036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80360"/>
            <a:ext cx="6095848" cy="3977640"/>
          </a:xfrm>
          <a:prstGeom prst="rect">
            <a:avLst/>
          </a:prstGeom>
          <a:solidFill>
            <a:srgbClr val="123B68"/>
          </a:solidFill>
          <a:ln w="12700">
            <a:solidFill>
              <a:srgbClr val="123B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2880360"/>
            <a:ext cx="6095848" cy="3977640"/>
          </a:xfrm>
          <a:prstGeom prst="rect">
            <a:avLst/>
          </a:prstGeom>
          <a:solidFill>
            <a:srgbClr val="1F6A9A"/>
          </a:solidFill>
          <a:ln w="12700">
            <a:solidFill>
              <a:srgbClr val="1F6A9A">
                <a:alpha val="0"/>
              </a:srgbClr>
            </a:solidFill>
            <a:prstDash val="solid"/>
          </a:ln>
        </p:spPr>
      </p:sp>
      <p:pic>
        <p:nvPicPr>
          <p:cNvPr id="6" name="Image 0" descr="城市高架上的拥堵车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347472"/>
            <a:ext cx="2724912" cy="1819656"/>
          </a:xfrm>
          <a:prstGeom prst="rect">
            <a:avLst/>
          </a:prstGeom>
        </p:spPr>
      </p:pic>
      <p:pic>
        <p:nvPicPr>
          <p:cNvPr id="7" name="Image 1" descr="塑料从有价值的应用过渡到填埋场与海洋塑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47472"/>
            <a:ext cx="2706624" cy="1572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36392" y="347472"/>
            <a:ext cx="2724912" cy="18196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0" y="347472"/>
            <a:ext cx="2706624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338328"/>
            <a:ext cx="50292" cy="640080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" y="29260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汽车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585216" y="71323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4765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重新定义了“距离”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585216" y="1143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60" dirty="0">
                <a:solidFill>
                  <a:srgbClr val="5F7D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汽车工业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585216" y="1362456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让人和商品</a:t>
            </a:r>
            <a:endParaRPr lang="en-US" sz="1620" dirty="0"/>
          </a:p>
          <a:p>
            <a:pPr marL="0" indent="0">
              <a:buNone/>
            </a:pPr>
            <a:r>
              <a:rPr lang="en-US" sz="162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以前所未有的速度流动</a:t>
            </a:r>
            <a:endParaRPr lang="en-US" sz="1620" dirty="0"/>
          </a:p>
        </p:txBody>
      </p:sp>
      <p:sp>
        <p:nvSpPr>
          <p:cNvPr id="15" name="Text 11"/>
          <p:cNvSpPr/>
          <p:nvPr/>
        </p:nvSpPr>
        <p:spPr>
          <a:xfrm>
            <a:off x="429768" y="2441448"/>
            <a:ext cx="5440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kern="0" spc="15" dirty="0">
                <a:solidFill>
                  <a:srgbClr val="5E7D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个人出行  |  物流体系  |  城市扩张  |  全球贸易  |  现代工业</a:t>
            </a:r>
            <a:endParaRPr lang="en-US" sz="1200" kern="0" spc="15" dirty="0">
              <a:solidFill>
                <a:srgbClr val="5E7D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510528" y="338328"/>
            <a:ext cx="50292" cy="640080"/>
          </a:xfrm>
          <a:prstGeom prst="rect">
            <a:avLst/>
          </a:prstGeom>
          <a:solidFill>
            <a:srgbClr val="5A9BCE"/>
          </a:solidFill>
          <a:ln w="12700">
            <a:solidFill>
              <a:srgbClr val="5A9BCE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84264" y="29260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塑料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684264" y="713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4765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重新定义了“材料”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6684264" y="1143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60" dirty="0">
                <a:solidFill>
                  <a:srgbClr val="6683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塑料工业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6684264" y="1362456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让材料变得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廉价、轻便、卫生而无处不在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528816" y="2441448"/>
            <a:ext cx="53492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kern="0" spc="15" dirty="0">
                <a:solidFill>
                  <a:srgbClr val="6784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食品保存  |  医疗卫生  |  工业制造  |  物流包装  |  消费电子</a:t>
            </a:r>
            <a:endParaRPr lang="en-US" sz="1200" kern="0" spc="15" dirty="0">
              <a:solidFill>
                <a:srgbClr val="6784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93192" y="2880360"/>
            <a:ext cx="5303520" cy="0"/>
          </a:xfrm>
          <a:prstGeom prst="line">
            <a:avLst/>
          </a:prstGeom>
          <a:noFill/>
          <a:ln w="10160">
            <a:solidFill>
              <a:srgbClr val="B8D2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2880360"/>
            <a:ext cx="5303520" cy="0"/>
          </a:xfrm>
          <a:prstGeom prst="line">
            <a:avLst/>
          </a:prstGeom>
          <a:noFill/>
          <a:ln w="10160">
            <a:solidFill>
              <a:srgbClr val="C9DD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84875" y="0"/>
            <a:ext cx="21946" cy="6858000"/>
          </a:xfrm>
          <a:prstGeom prst="rect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3154680"/>
            <a:ext cx="52578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代价是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57200" y="3593592"/>
            <a:ext cx="528523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50" b="1" kern="0" spc="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&gt;6 Gt CO₂/ 年</a:t>
            </a:r>
            <a:endParaRPr lang="en-US" sz="3150" dirty="0"/>
          </a:p>
        </p:txBody>
      </p:sp>
      <p:sp>
        <p:nvSpPr>
          <p:cNvPr id="27" name="Text 23"/>
          <p:cNvSpPr/>
          <p:nvPr/>
        </p:nvSpPr>
        <p:spPr>
          <a:xfrm>
            <a:off x="457200" y="4370832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2024年全球道路交通CO₂排放超过60亿吨。</a:t>
            </a:r>
            <a:endParaRPr lang="en-US" sz="1600" b="1" dirty="0">
              <a:solidFill>
                <a:srgbClr val="F6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57200" y="4709160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其中超过60%来自乘用车和厢式车。</a:t>
            </a:r>
            <a:endParaRPr lang="en-US" sz="1400" dirty="0">
              <a:solidFill>
                <a:srgbClr val="F6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57200" y="519379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5E4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IEA：道路运输排放到2024年仍处于超过6 Gt CO₂的量级。</a:t>
            </a:r>
            <a:endParaRPr lang="en-US" sz="1080" dirty="0">
              <a:solidFill>
                <a:srgbClr val="C5E4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57200" y="5468112"/>
            <a:ext cx="5257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kern="0" spc="20" dirty="0">
                <a:solidFill>
                  <a:srgbClr val="C5E4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交通部门油气使用量（2024）</a:t>
            </a:r>
            <a:endParaRPr lang="en-US" sz="1200" b="1" kern="0" spc="20" dirty="0">
              <a:solidFill>
                <a:srgbClr val="C5E4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457200" y="5669280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112.2 EJ 石油  +  5.3 EJ 天然气  =  117.5 EJ</a:t>
            </a:r>
            <a:endParaRPr lang="en-US" sz="1600" b="1" kern="0" spc="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457200" y="5989320"/>
            <a:ext cx="52578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C5E4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IEA（WEO 2025；最新历史数据为2024年，含道路、航空、航运等交通方式）</a:t>
            </a:r>
            <a:endParaRPr lang="en-US" sz="970" dirty="0">
              <a:solidFill>
                <a:srgbClr val="C5E4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457200" y="6291072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便利被放大了，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5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能源需求和碳排放也被同时放大。</a:t>
            </a:r>
            <a:endParaRPr lang="en-US" sz="1400" b="1" dirty="0">
              <a:solidFill>
                <a:srgbClr val="F5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547104" y="3584448"/>
            <a:ext cx="51663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kern="0" spc="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Mt → 430.9 Mt</a:t>
            </a:r>
            <a:r>
              <a:rPr lang="en-US" sz="2700" b="1" kern="0" spc="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/ 年</a:t>
            </a:r>
            <a:endParaRPr lang="en-US" sz="2700" dirty="0"/>
          </a:p>
        </p:txBody>
      </p:sp>
      <p:sp>
        <p:nvSpPr>
          <p:cNvPr id="36" name="Text 32"/>
          <p:cNvSpPr/>
          <p:nvPr/>
        </p:nvSpPr>
        <p:spPr>
          <a:xfrm>
            <a:off x="6547104" y="4178808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1950—2024年，全球塑料年产量约增加215倍。</a:t>
            </a:r>
            <a:endParaRPr lang="en-US" sz="1400" b="1" dirty="0">
              <a:solidFill>
                <a:srgbClr val="F6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6547104" y="4553712"/>
            <a:ext cx="516636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kern="0" spc="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41.2 Mt  / 年</a:t>
            </a:r>
            <a:endParaRPr lang="en-US" sz="3200" b="1" kern="0" spc="1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547104" y="5102352"/>
            <a:ext cx="519379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2024年全球机械与化学回收的消费后塑料产量约41.2 Mt，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约占全球塑料产量9.5%。</a:t>
            </a:r>
            <a:endParaRPr lang="en-US" sz="1400" dirty="0">
              <a:solidFill>
                <a:srgbClr val="F6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547104" y="565099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5E4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Plastics Europe Fast Facts 2025：2024年为初步估算。</a:t>
            </a:r>
            <a:endParaRPr lang="en-US" sz="1020" dirty="0">
              <a:solidFill>
                <a:srgbClr val="C5E4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6547104" y="6236208"/>
            <a:ext cx="5193792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材料越廉价、越便利、应用越广，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5F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废弃物问题反而越容易被规模效应放大。</a:t>
            </a:r>
            <a:endParaRPr lang="en-US" sz="1400" b="1" dirty="0">
              <a:solidFill>
                <a:srgbClr val="F5F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29768" y="9144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120" dirty="0">
                <a:solidFill>
                  <a:srgbClr val="5F7D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840" dirty="0"/>
          </a:p>
        </p:txBody>
      </p:sp>
      <p:sp>
        <p:nvSpPr>
          <p:cNvPr id="42" name="Text 38"/>
          <p:cNvSpPr/>
          <p:nvPr/>
        </p:nvSpPr>
        <p:spPr>
          <a:xfrm>
            <a:off x="6528816" y="9144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120" dirty="0">
                <a:solidFill>
                  <a:srgbClr val="6683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840" dirty="0"/>
          </a:p>
        </p:txBody>
      </p:sp>
      <p:sp>
        <p:nvSpPr>
          <p:cNvPr id="43" name="文本框 42"/>
          <p:cNvSpPr txBox="1"/>
          <p:nvPr/>
        </p:nvSpPr>
        <p:spPr>
          <a:xfrm>
            <a:off x="1487170" y="1772920"/>
            <a:ext cx="10082530" cy="11068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AI</a:t>
            </a:r>
            <a:r>
              <a:rPr lang="zh-CN" altLang="en-US" sz="66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ea typeface="宋体" panose="02010600030101010101" pitchFamily="2" charset="-122"/>
              </a:rPr>
              <a:t>发展的环境代价是什么？</a:t>
            </a:r>
            <a:endParaRPr lang="zh-CN" altLang="en-US" sz="6600">
              <a:ln w="6600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tl" rotWithShape="0">
                  <a:schemeClr val="accent2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6499860" y="3141345"/>
            <a:ext cx="52578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代价是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83615" y="1628775"/>
            <a:ext cx="10043160" cy="400939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年全球数据中心用电约 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415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TWh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，约占全球电力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年约 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485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TWh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年预计约 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950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TWh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。约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年全球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数据中心总功率容量约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29.6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GW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，其中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芯片本身约 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11.8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GW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，其余来自服务器、电源、网络、冷却等基础设施。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系统碳足迹：约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32.6–79.7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Mt CO₂/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水足迹：约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312.5–764.6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billion L/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3125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–7646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35280" y="3238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带来了新的资源与环境问题</a:t>
            </a:r>
            <a:endParaRPr lang="zh-CN" sz="3150" b="1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圆角矩形 4"/>
          <p:cNvSpPr>
            <a:spLocks noGrp="1"/>
          </p:cNvSpPr>
          <p:nvPr/>
        </p:nvSpPr>
        <p:spPr>
          <a:xfrm>
            <a:off x="685800" y="5143500"/>
            <a:ext cx="1428750" cy="647700"/>
          </a:xfrm>
          <a:prstGeom prst="roundRect">
            <a:avLst>
              <a:gd name="adj" fmla="val 17647"/>
            </a:avLst>
          </a:prstGeom>
          <a:solidFill>
            <a:srgbClr val="2864C7">
              <a:alpha val="18000"/>
            </a:srgbClr>
          </a:solidFill>
          <a:ln w="9525">
            <a:solidFill>
              <a:srgbClr val="2864C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5295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86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64C7"/>
                </a:solidFill>
                <a:cs typeface="微软雅黑" panose="020B0503020204020204" charset="-122"/>
              </a:rPr>
              <a:t>文本</a:t>
            </a:r>
            <a:endParaRPr sz="1500" b="1">
              <a:solidFill>
                <a:srgbClr val="2864C7"/>
              </a:solidFill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209800" y="4553585"/>
            <a:ext cx="1428750" cy="1237615"/>
          </a:xfrm>
          <a:prstGeom prst="roundRect">
            <a:avLst>
              <a:gd name="adj" fmla="val 10619"/>
            </a:avLst>
          </a:prstGeom>
          <a:solidFill>
            <a:srgbClr val="2864C7">
              <a:alpha val="18000"/>
            </a:srgbClr>
          </a:solidFill>
          <a:ln w="9525">
            <a:solidFill>
              <a:srgbClr val="2864C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305050" y="465328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86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64C7"/>
                </a:solidFill>
                <a:cs typeface="微软雅黑" panose="020B0503020204020204" charset="-122"/>
              </a:rPr>
              <a:t>聊天</a:t>
            </a:r>
            <a:endParaRPr sz="1500" b="1">
              <a:solidFill>
                <a:srgbClr val="2864C7"/>
              </a:solidFill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733800" y="4238625"/>
            <a:ext cx="1428750" cy="1552575"/>
          </a:xfrm>
          <a:prstGeom prst="roundRect">
            <a:avLst>
              <a:gd name="adj" fmla="val 8000"/>
            </a:avLst>
          </a:prstGeom>
          <a:solidFill>
            <a:srgbClr val="159D86">
              <a:alpha val="18000"/>
            </a:srgbClr>
          </a:solidFill>
          <a:ln w="9525">
            <a:solidFill>
              <a:srgbClr val="159D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29050" y="439102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59D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9D86"/>
                </a:solidFill>
                <a:cs typeface="微软雅黑" panose="020B0503020204020204" charset="-122"/>
              </a:rPr>
              <a:t>长推理</a:t>
            </a:r>
            <a:endParaRPr sz="1500" b="1">
              <a:solidFill>
                <a:srgbClr val="159D86"/>
              </a:solidFill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57800" y="3619500"/>
            <a:ext cx="1428750" cy="2171700"/>
          </a:xfrm>
          <a:prstGeom prst="roundRect">
            <a:avLst>
              <a:gd name="adj" fmla="val 8000"/>
            </a:avLst>
          </a:prstGeom>
          <a:solidFill>
            <a:srgbClr val="159D86">
              <a:alpha val="18000"/>
            </a:srgbClr>
          </a:solidFill>
          <a:ln w="9525">
            <a:solidFill>
              <a:srgbClr val="159D8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53050" y="37719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59D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9D86"/>
                </a:solidFill>
                <a:cs typeface="微软雅黑" panose="020B0503020204020204" charset="-122"/>
              </a:rPr>
              <a:t>图片</a:t>
            </a:r>
            <a:endParaRPr sz="1500" b="1">
              <a:solidFill>
                <a:srgbClr val="159D86"/>
              </a:solidFill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781800" y="3208020"/>
            <a:ext cx="1428750" cy="2583180"/>
          </a:xfrm>
          <a:prstGeom prst="roundRect">
            <a:avLst>
              <a:gd name="adj" fmla="val 8000"/>
            </a:avLst>
          </a:prstGeom>
          <a:solidFill>
            <a:srgbClr val="E37B29">
              <a:alpha val="18000"/>
            </a:srgbClr>
          </a:solidFill>
          <a:ln w="9525">
            <a:solidFill>
              <a:srgbClr val="E37B2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87845" y="33528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E37B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37B29"/>
                </a:solidFill>
                <a:cs typeface="微软雅黑" panose="020B0503020204020204" charset="-122"/>
              </a:rPr>
              <a:t>视频</a:t>
            </a:r>
            <a:endParaRPr sz="1500" b="1">
              <a:solidFill>
                <a:srgbClr val="E37B29"/>
              </a:solidFill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305800" y="2663190"/>
            <a:ext cx="1428750" cy="3128010"/>
          </a:xfrm>
          <a:prstGeom prst="roundRect">
            <a:avLst>
              <a:gd name="adj" fmla="val 8000"/>
            </a:avLst>
          </a:prstGeom>
          <a:solidFill>
            <a:srgbClr val="DB4A3D">
              <a:alpha val="18000"/>
            </a:srgbClr>
          </a:solidFill>
          <a:ln w="9525">
            <a:solidFill>
              <a:srgbClr val="DB4A3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08670" y="270891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B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DB4A3D"/>
                </a:solidFill>
                <a:cs typeface="微软雅黑" panose="020B0503020204020204" charset="-122"/>
              </a:rPr>
              <a:t>训练</a:t>
            </a:r>
            <a:endParaRPr lang="zh-CN" sz="1500" b="1">
              <a:solidFill>
                <a:srgbClr val="DB4A3D"/>
              </a:solidFill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25310" y="3644900"/>
            <a:ext cx="1284605" cy="232219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Sora 2 Pro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720p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秒视频，耗水约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1.5L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07260" y="4869180"/>
            <a:ext cx="151320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持续聊天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分钟约消耗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毫升水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861550" y="1085850"/>
            <a:ext cx="1428750" cy="4705350"/>
          </a:xfrm>
          <a:prstGeom prst="roundRect">
            <a:avLst>
              <a:gd name="adj" fmla="val 8000"/>
            </a:avLst>
          </a:prstGeom>
          <a:solidFill>
            <a:srgbClr val="DB4A3D">
              <a:alpha val="18000"/>
            </a:srgbClr>
          </a:solidFill>
          <a:ln w="9525">
            <a:solidFill>
              <a:srgbClr val="DB4A3D"/>
            </a:solidFill>
            <a:prstDash val="solid"/>
          </a:ln>
        </p:spPr>
      </p:sp>
      <p:sp>
        <p:nvSpPr>
          <p:cNvPr id="15" name="文本框 14"/>
          <p:cNvSpPr txBox="1"/>
          <p:nvPr/>
        </p:nvSpPr>
        <p:spPr>
          <a:xfrm>
            <a:off x="8399780" y="2958465"/>
            <a:ext cx="1246505" cy="21951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GPT-3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为例，其训练一次耗电约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1287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兆瓦时，可供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辆特斯拉跑到报废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31765" y="4077335"/>
            <a:ext cx="139636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图像生成平均约消耗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2.9 kWh / 1000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张，耗水约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10L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33800" y="4652010"/>
            <a:ext cx="147764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倍算力消耗，约一百到几百毫升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902825" y="1721485"/>
            <a:ext cx="141287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一座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先进水效率的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MW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 大型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算力中心，每年现场冷却等环节消耗约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亿升水，近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个奥运泳池。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56800" y="126873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B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DB4A3D"/>
                </a:solidFill>
                <a:cs typeface="微软雅黑" panose="020B0503020204020204" charset="-122"/>
              </a:rPr>
              <a:t>算力中心</a:t>
            </a:r>
            <a:endParaRPr lang="zh-CN" sz="1500" b="1">
              <a:solidFill>
                <a:srgbClr val="DB4A3D"/>
              </a:solidFill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902190" y="4243705"/>
            <a:ext cx="1413510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/>
            <a:r>
              <a:rPr lang="en-US" altLang="zh-CN" sz="1400" b="0" i="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b="0" i="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月，乌兰察布建成全球最大的</a:t>
            </a:r>
            <a:r>
              <a:rPr lang="en-US" altLang="zh-CN" sz="1400" b="0" i="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 b="0" i="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算力中心，规划容量超</a:t>
            </a:r>
            <a:r>
              <a:rPr lang="en-US" altLang="zh-CN" sz="1400" b="0" i="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2GW</a:t>
            </a:r>
            <a:endParaRPr lang="en-US" altLang="zh-CN" sz="1400" b="0" i="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35280" y="3238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0B1A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大模型行为的资源消耗</a:t>
            </a:r>
            <a:endParaRPr lang="zh-CN" sz="3150" b="1">
              <a:solidFill>
                <a:srgbClr val="0B1A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130" y="-26670"/>
            <a:ext cx="12232005" cy="68846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2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3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4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5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6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7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8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9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10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ags/tag11.xml><?xml version="1.0" encoding="utf-8"?>
<p:tagLst xmlns:p="http://schemas.openxmlformats.org/presentationml/2006/main">
  <p:tag name="KSO_WM_DIAGRAM_VIRTUALLY_FRAME" val="{&quot;height&quot;:99.8,&quot;left&quot;:167.7,&quot;top&quot;:88.6,&quot;width&quot;:627.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WPS 演示</Application>
  <PresentationFormat>Converted Presentation</PresentationFormat>
  <Paragraphs>178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</vt:lpstr>
      <vt:lpstr>微软雅黑</vt:lpstr>
      <vt:lpstr>Wingdings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邵敬哲</cp:lastModifiedBy>
  <cp:revision>5</cp:revision>
  <dcterms:created xsi:type="dcterms:W3CDTF">2026-08-17T09:27:00Z</dcterms:created>
  <dcterms:modified xsi:type="dcterms:W3CDTF">2026-08-23T12:11:35Z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119300E744834CAC968641365724E339_13</vt:lpwstr>
  </property>
  <property fmtid="{D5CDD505-2E9C-101B-9397-08002B2CF9AE}" pid="3" name="KSOProductBuildVer">
    <vt:lpwstr>2052-12.1.0.23542</vt:lpwstr>
  </property>
</Properties>
</file>