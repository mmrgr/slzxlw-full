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84" r:id="rId3"/>
    <p:sldId id="285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8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51180" y="260667"/>
            <a:ext cx="5080000" cy="264731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1. </a:t>
            </a:r>
            <a:r>
              <a:rPr lang="zh-CN" altLang="en-US" sz="2200" b="1"/>
              <a:t>城市水代谢系统构建</a:t>
            </a:r>
            <a:endParaRPr lang="zh-CN" altLang="en-US" sz="2200" b="1"/>
          </a:p>
          <a:p>
            <a:r>
              <a:rPr lang="zh-CN" altLang="en-US" sz="1600"/>
              <a:t>首先确定研究城市及系统边界，梳理城市从取水、供水、用水、耗水、排水、污水处理到再生水利用和最终排放的全过程，将地表水、地下水、外调水、自来水、工业用水、居民用水、污水厂、再生水厂等作为主要节点，建立城市水代谢网络。基于水量守恒构建动态模型，并利用城市真实统计数据进行校准和验证，使模型能够较好复现现实城市水系统的基准状态。最终得到城市基准水代谢结构、水量平衡关系以及各类关键系统指标。</a:t>
            </a:r>
            <a:endParaRPr lang="zh-CN" altLang="en-US" sz="160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19430" y="3500755"/>
            <a:ext cx="5080000" cy="28930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2. AI</a:t>
            </a:r>
            <a:r>
              <a:rPr lang="zh-CN" altLang="en-US" sz="2200" b="1"/>
              <a:t>算力中心水代谢模块构建</a:t>
            </a:r>
            <a:endParaRPr lang="zh-CN" altLang="en-US" sz="2200" b="1"/>
          </a:p>
          <a:p>
            <a:r>
              <a:rPr lang="zh-CN" altLang="en-US" sz="1600"/>
              <a:t>在城市水代谢模型中新增</a:t>
            </a:r>
            <a:r>
              <a:rPr lang="en-US" altLang="zh-CN" sz="1600"/>
              <a:t>AI</a:t>
            </a:r>
            <a:r>
              <a:rPr lang="zh-CN" altLang="en-US" sz="1600"/>
              <a:t>算力中心节点，将算力规模转化为冷却需求和水资源需求。模块重点描述</a:t>
            </a:r>
            <a:r>
              <a:rPr lang="en-US" altLang="zh-CN" sz="1600"/>
              <a:t>AI</a:t>
            </a:r>
            <a:r>
              <a:rPr lang="zh-CN" altLang="en-US" sz="1600"/>
              <a:t>算力规模、</a:t>
            </a:r>
            <a:r>
              <a:rPr lang="en-US" altLang="zh-CN" sz="1600"/>
              <a:t>IT</a:t>
            </a:r>
            <a:r>
              <a:rPr lang="zh-CN" altLang="en-US" sz="1600"/>
              <a:t>负荷、冷却技术、</a:t>
            </a:r>
            <a:r>
              <a:rPr lang="en-US" altLang="zh-CN" sz="1600"/>
              <a:t>WUE</a:t>
            </a:r>
            <a:r>
              <a:rPr lang="zh-CN" altLang="en-US" sz="1600"/>
              <a:t>、水源结构以及取水、消耗和回流之间的关系，明确区分</a:t>
            </a:r>
            <a:r>
              <a:rPr lang="en-US" altLang="zh-CN" sz="1600"/>
              <a:t>Withdrawal</a:t>
            </a:r>
            <a:r>
              <a:rPr lang="zh-CN" altLang="en-US" sz="1600"/>
              <a:t>、</a:t>
            </a:r>
            <a:r>
              <a:rPr lang="en-US" altLang="zh-CN" sz="1600"/>
              <a:t>Consumption</a:t>
            </a:r>
            <a:r>
              <a:rPr lang="zh-CN" altLang="en-US" sz="1600"/>
              <a:t>和</a:t>
            </a:r>
            <a:r>
              <a:rPr lang="en-US" altLang="zh-CN" sz="1600"/>
              <a:t>Return Flow</a:t>
            </a:r>
            <a:r>
              <a:rPr lang="zh-CN" altLang="en-US" sz="1600"/>
              <a:t>。算力中心使用的水可以来自自来水、再生水或其他水源，其中一部分通过蒸发离开城市水循环，一部分作为排污水进入污水处理系统并可能再次被利用，从而实现</a:t>
            </a:r>
            <a:r>
              <a:rPr lang="en-US" altLang="zh-CN" sz="1600"/>
              <a:t>AI</a:t>
            </a:r>
            <a:r>
              <a:rPr lang="zh-CN" altLang="en-US" sz="1600"/>
              <a:t>算力中心与城市水代谢全过程的耦合。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35280" y="260350"/>
            <a:ext cx="5080000" cy="28930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3. </a:t>
            </a:r>
            <a:r>
              <a:rPr lang="zh-CN" altLang="en-US" sz="2200" b="1"/>
              <a:t>多维发展情景设计</a:t>
            </a:r>
            <a:endParaRPr lang="zh-CN" altLang="en-US" sz="2200" b="1"/>
          </a:p>
          <a:p>
            <a:r>
              <a:rPr lang="zh-CN" altLang="en-US" sz="1600"/>
              <a:t>围绕未来</a:t>
            </a:r>
            <a:r>
              <a:rPr lang="en-US" altLang="zh-CN" sz="1600"/>
              <a:t>AI</a:t>
            </a:r>
            <a:r>
              <a:rPr lang="zh-CN" altLang="en-US" sz="1600"/>
              <a:t>算力中心发展的主要不确定因素设置情景矩阵。第一维度为算力规模，可设置低、中、高及超高发展情景，例如</a:t>
            </a:r>
            <a:r>
              <a:rPr lang="en-US" altLang="zh-CN" sz="1600"/>
              <a:t>100 MW</a:t>
            </a:r>
            <a:r>
              <a:rPr lang="zh-CN" altLang="en-US" sz="1600"/>
              <a:t>、</a:t>
            </a:r>
            <a:r>
              <a:rPr lang="en-US" altLang="zh-CN" sz="1600"/>
              <a:t>500 MW</a:t>
            </a:r>
            <a:r>
              <a:rPr lang="zh-CN" altLang="en-US" sz="1600"/>
              <a:t>、</a:t>
            </a:r>
            <a:r>
              <a:rPr lang="en-US" altLang="zh-CN" sz="1600"/>
              <a:t>1 GW</a:t>
            </a:r>
            <a:r>
              <a:rPr lang="zh-CN" altLang="en-US" sz="1600"/>
              <a:t>和</a:t>
            </a:r>
            <a:r>
              <a:rPr lang="en-US" altLang="zh-CN" sz="1600"/>
              <a:t>2 GW</a:t>
            </a:r>
            <a:r>
              <a:rPr lang="zh-CN" altLang="en-US" sz="1600"/>
              <a:t>；第二维度为冷却技术，包括传统蒸发冷却、高效蒸发冷却、混合冷却和低水耗液冷等；第三维度为水源结构，设置不同的自来水和再生水使用比例；第四维度为城市水资源条件，包括正常年份、高温年份、枯水年份和极端干旱年份。通过“算力规模</a:t>
            </a:r>
            <a:r>
              <a:rPr lang="en-US" altLang="zh-CN" sz="1600"/>
              <a:t>×</a:t>
            </a:r>
            <a:r>
              <a:rPr lang="zh-CN" altLang="en-US" sz="1600"/>
              <a:t>冷却技术</a:t>
            </a:r>
            <a:r>
              <a:rPr lang="en-US" altLang="zh-CN" sz="1600"/>
              <a:t>×</a:t>
            </a:r>
            <a:r>
              <a:rPr lang="zh-CN" altLang="en-US" sz="1600"/>
              <a:t>水源结构</a:t>
            </a:r>
            <a:r>
              <a:rPr lang="en-US" altLang="zh-CN" sz="1600"/>
              <a:t>×</a:t>
            </a:r>
            <a:r>
              <a:rPr lang="zh-CN" altLang="en-US" sz="1600"/>
              <a:t>水资源条件”的组合形成系统性的模拟情景。</a:t>
            </a:r>
            <a:endParaRPr lang="zh-CN" altLang="en-US" sz="160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62890" y="3716972"/>
            <a:ext cx="5080000" cy="264731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4. AI</a:t>
            </a:r>
            <a:r>
              <a:rPr lang="zh-CN" altLang="en-US" sz="2200" b="1"/>
              <a:t>算力中心对城市水代谢的影响模拟</a:t>
            </a:r>
            <a:endParaRPr lang="zh-CN" altLang="en-US" sz="2200" b="1"/>
          </a:p>
          <a:p>
            <a:r>
              <a:rPr lang="zh-CN" altLang="en-US" sz="1600"/>
              <a:t>将各类</a:t>
            </a:r>
            <a:r>
              <a:rPr lang="en-US" altLang="zh-CN" sz="1600"/>
              <a:t>AI</a:t>
            </a:r>
            <a:r>
              <a:rPr lang="zh-CN" altLang="en-US" sz="1600"/>
              <a:t>发展情景与无新增</a:t>
            </a:r>
            <a:r>
              <a:rPr lang="en-US" altLang="zh-CN" sz="1600"/>
              <a:t>AI</a:t>
            </a:r>
            <a:r>
              <a:rPr lang="zh-CN" altLang="en-US" sz="1600"/>
              <a:t>算力中心的基准情景进行比较，分析三类影响。第一类是增量效应，包括新增取水量、耗水量、污水产生量、再生水需求及设施负荷；第二类是结构效应，分析工业用水比例、淡水与再生水比例、城市水循环率以及不同水流路径是否发生改变；第三类是系统压力效应，重点分析供水设施、污水处理设施、再生水系统的负荷变化，以及枯水期可能出现的供需缺口和系统安全裕度下降。</a:t>
            </a:r>
            <a:endParaRPr lang="zh-CN" alt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51180" y="260033"/>
            <a:ext cx="5080000" cy="240093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5. </a:t>
            </a:r>
            <a:r>
              <a:rPr lang="zh-CN" altLang="en-US" sz="2200" b="1"/>
              <a:t>城市水资源承载边界识别</a:t>
            </a:r>
            <a:endParaRPr lang="zh-CN" altLang="en-US" sz="2200" b="1"/>
          </a:p>
          <a:p>
            <a:r>
              <a:rPr lang="zh-CN" altLang="en-US" sz="1600"/>
              <a:t>进一步让</a:t>
            </a:r>
            <a:r>
              <a:rPr lang="en-US" altLang="zh-CN" sz="1600"/>
              <a:t>AI</a:t>
            </a:r>
            <a:r>
              <a:rPr lang="zh-CN" altLang="en-US" sz="1600"/>
              <a:t>算力规模连续增加，而不是只比较几个离散情景，建立“</a:t>
            </a:r>
            <a:r>
              <a:rPr lang="en-US" altLang="zh-CN" sz="1600"/>
              <a:t>AI</a:t>
            </a:r>
            <a:r>
              <a:rPr lang="zh-CN" altLang="en-US" sz="1600"/>
              <a:t>算力规模</a:t>
            </a:r>
            <a:r>
              <a:rPr lang="en-US" altLang="zh-CN" sz="1600"/>
              <a:t>—</a:t>
            </a:r>
            <a:r>
              <a:rPr lang="zh-CN" altLang="en-US" sz="1600"/>
              <a:t>城市水资源压力”响应曲线。通过观察供水能力利用率、再生水供需关系、水资源缺口等指标随算力规模的变化，识别城市水系统从安全状态进入压力状态乃至高风险状态的临界点。最终回答在不同冷却技术、水源配置和水文条件下，一个城市可以安全承载多大规模的</a:t>
            </a:r>
            <a:r>
              <a:rPr lang="en-US" altLang="zh-CN" sz="1600"/>
              <a:t>AI</a:t>
            </a:r>
            <a:r>
              <a:rPr lang="zh-CN" altLang="en-US" sz="1600"/>
              <a:t>算力中心。</a:t>
            </a:r>
            <a:endParaRPr lang="zh-CN" altLang="en-US" sz="160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78790" y="3212783"/>
            <a:ext cx="5080000" cy="215455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6. </a:t>
            </a:r>
            <a:r>
              <a:rPr lang="zh-CN" altLang="en-US" sz="2200" b="1"/>
              <a:t>技术与规划策略优化</a:t>
            </a:r>
            <a:endParaRPr lang="zh-CN" altLang="en-US" sz="2200" b="1"/>
          </a:p>
          <a:p>
            <a:r>
              <a:rPr lang="zh-CN" altLang="en-US" sz="1600"/>
              <a:t>在识别影响机制和承载边界之后，进一步比较不同缓解方案，包括降低</a:t>
            </a:r>
            <a:r>
              <a:rPr lang="en-US" altLang="zh-CN" sz="1600"/>
              <a:t>WUE</a:t>
            </a:r>
            <a:r>
              <a:rPr lang="zh-CN" altLang="en-US" sz="1600"/>
              <a:t>、采用低耗水冷却、提高再生水比例、扩建再生水设施、优化算力中心布局以及控制发展规模等。最终形成“</a:t>
            </a:r>
            <a:r>
              <a:rPr lang="en-US" altLang="zh-CN" sz="1600"/>
              <a:t>AI</a:t>
            </a:r>
            <a:r>
              <a:rPr lang="zh-CN" altLang="en-US" sz="1600"/>
              <a:t>算力规模</a:t>
            </a:r>
            <a:r>
              <a:rPr lang="en-US" altLang="zh-CN" sz="1600"/>
              <a:t>—</a:t>
            </a:r>
            <a:r>
              <a:rPr lang="zh-CN" altLang="en-US" sz="1600"/>
              <a:t>冷却技术</a:t>
            </a:r>
            <a:r>
              <a:rPr lang="en-US" altLang="zh-CN" sz="1600"/>
              <a:t>—</a:t>
            </a:r>
            <a:r>
              <a:rPr lang="zh-CN" altLang="en-US" sz="1600"/>
              <a:t>水源结构</a:t>
            </a:r>
            <a:r>
              <a:rPr lang="en-US" altLang="zh-CN" sz="1600"/>
              <a:t>—</a:t>
            </a:r>
            <a:r>
              <a:rPr lang="zh-CN" altLang="en-US" sz="1600"/>
              <a:t>城市承载能力”之间的决策关系，提出在保障</a:t>
            </a:r>
            <a:r>
              <a:rPr lang="en-US" altLang="zh-CN" sz="1600"/>
              <a:t>AI</a:t>
            </a:r>
            <a:r>
              <a:rPr lang="zh-CN" altLang="en-US" sz="1600"/>
              <a:t>产业发展的同时降低城市水资源压力的技术和规划路径。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765" y="6985"/>
            <a:ext cx="12173585" cy="6851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82.9250122070313,&quot;left&quot;:40.9,&quot;top&quot;:20.524993896484375,&quot;width&quot;:639.1}"/>
</p:tagLst>
</file>

<file path=ppt/tags/tag2.xml><?xml version="1.0" encoding="utf-8"?>
<p:tagLst xmlns:p="http://schemas.openxmlformats.org/presentationml/2006/main">
  <p:tag name="KSO_WM_DIAGRAM_VIRTUALLY_FRAME" val="{&quot;height&quot;:482.9250122070313,&quot;left&quot;:40.9,&quot;top&quot;:20.524993896484375,&quot;width&quot;:639.1}"/>
</p:tagLst>
</file>

<file path=ppt/tags/tag3.xml><?xml version="1.0" encoding="utf-8"?>
<p:tagLst xmlns:p="http://schemas.openxmlformats.org/presentationml/2006/main">
  <p:tag name="KSO_WM_DIAGRAM_VIRTUALLY_FRAME" val="{&quot;height&quot;:480.62498779296874,&quot;left&quot;:20.7,&quot;top&quot;:20.500006103515624,&quot;width&quot;:659.3}"/>
</p:tagLst>
</file>

<file path=ppt/tags/tag4.xml><?xml version="1.0" encoding="utf-8"?>
<p:tagLst xmlns:p="http://schemas.openxmlformats.org/presentationml/2006/main">
  <p:tag name="KSO_WM_DIAGRAM_VIRTUALLY_FRAME" val="{&quot;height&quot;:480.62498779296874,&quot;left&quot;:20.7,&quot;top&quot;:20.500006103515624,&quot;width&quot;:659.3}"/>
</p:tagLst>
</file>

<file path=ppt/tags/tag5.xml><?xml version="1.0" encoding="utf-8"?>
<p:tagLst xmlns:p="http://schemas.openxmlformats.org/presentationml/2006/main">
  <p:tag name="KSO_WM_DIAGRAM_VIRTUALLY_FRAME" val="{&quot;height&quot;:402.1499969482422,&quot;left&quot;:37.7,&quot;top&quot;:20.475006103515625,&quot;width&quot;:642.3}"/>
</p:tagLst>
</file>

<file path=ppt/tags/tag6.xml><?xml version="1.0" encoding="utf-8"?>
<p:tagLst xmlns:p="http://schemas.openxmlformats.org/presentationml/2006/main">
  <p:tag name="KSO_WM_DIAGRAM_VIRTUALLY_FRAME" val="{&quot;height&quot;:402.1499969482422,&quot;left&quot;:37.7,&quot;top&quot;:20.475006103515625,&quot;width&quot;:642.3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Converted Presentation</PresentationFormat>
  <Paragraphs>18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邵敬哲</cp:lastModifiedBy>
  <cp:revision>5</cp:revision>
  <dcterms:created xsi:type="dcterms:W3CDTF">2026-08-17T09:27:00Z</dcterms:created>
  <dcterms:modified xsi:type="dcterms:W3CDTF">2026-08-20T12:23:16Z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119300E744834CAC968641365724E339_13</vt:lpwstr>
  </property>
  <property fmtid="{D5CDD505-2E9C-101B-9397-08002B2CF9AE}" pid="3" name="KSOProductBuildVer">
    <vt:lpwstr>2052-12.1.0.23542</vt:lpwstr>
  </property>
</Properties>
</file>