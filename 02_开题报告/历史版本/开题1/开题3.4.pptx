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375"/>
    <a:srgbClr val="0053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6" autoAdjust="0"/>
    <p:restoredTop sz="94660"/>
  </p:normalViewPr>
  <p:slideViewPr>
    <p:cSldViewPr snapToGrid="0">
      <p:cViewPr varScale="1">
        <p:scale>
          <a:sx n="114" d="100"/>
          <a:sy n="114" d="100"/>
        </p:scale>
        <p:origin x="195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各位老师好，我是哈尔滨工业大学环境学院2024级硕士研究生邵敬哲，指导教师是白舜文老师。今天向各位汇报我的硕士学位论文开题工作，题目是《AI算力基础设施驱动下城市人工水系统代谢响应与条件化承载边界的系统模拟研究》。</a:t>
            </a:r>
            <a:endParaRPr lang="zh-CN" sz="1100" dirty="0"/>
          </a:p>
          <a:p>
            <a:endParaRPr sz="1100"/>
          </a:p>
          <a:p>
            <a:r>
              <a:rPr lang="zh-CN" sz="1100" dirty="0"/>
              <a:t>请允许我用三句话概括研究的核心问题：第一，随着AI算力规模快速扩张，数据中心已经从一般数字基础设施，转变为具有持续性城市物理负荷的节点；第二，AI冷却带来的取水、耗水和排水，并不是孤立的设施问题，它会改变整个城市人工水系统的水流结构和峰值服务压力；第三，传统以年度总量评价承载力的方式，在AI连续负荷与气候敏感冷却的叠加下会高估城市的可承载能力。本研究正是围绕这三点展开。</a:t>
            </a:r>
            <a:endParaRPr lang="zh-CN" sz="1100" dirty="0"/>
          </a:p>
          <a:p>
            <a:endParaRPr sz="1100"/>
          </a:p>
          <a:p>
            <a:r>
              <a:rPr lang="zh-CN" sz="1100" dirty="0"/>
              <a:t>接下来，我按汇报框架的五个部分向各位汇报：研究背景与问题提出、国内外研究现状与研究缺口、科学问题假设与研究内容、研究方案、最后是研究基础、进度与预期成果。恳请各位老师批评指正。</a:t>
            </a:r>
            <a:endParaRPr lang="zh-CN" sz="11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这是本次汇报的总体框架。我把开题报告按五个部分来展开，每个部分在PPT中标注了对应的页码区间，方便各位老师提问时定位。</a:t>
            </a:r>
            <a:endParaRPr lang="zh-CN" sz="1100" dirty="0"/>
          </a:p>
          <a:p>
            <a:endParaRPr sz="1100"/>
          </a:p>
          <a:p>
            <a:r>
              <a:rPr lang="zh-CN" sz="1100" dirty="0"/>
              <a:t>第一部分是研究背景与问题提出，对应P04到P07页，重点回答AI算力为什么成为城市水系统的新增压力、为什么同样年用水量可能对应完全不同的系统压力，以及研究对象应该如何界定。</a:t>
            </a:r>
            <a:endParaRPr lang="zh-CN" sz="1100" dirty="0"/>
          </a:p>
          <a:p>
            <a:endParaRPr sz="1100"/>
          </a:p>
          <a:p>
            <a:r>
              <a:rPr lang="zh-CN" sz="1100" dirty="0"/>
              <a:t>第二部分是国内外研究现状与研究缺口，对应P08到P11页，重点梳理算力侧、城市水系统侧和承载力方法侧三条研究脉络，指出目前尚未闭合的知识链。</a:t>
            </a:r>
            <a:endParaRPr lang="zh-CN" sz="1100" dirty="0"/>
          </a:p>
          <a:p>
            <a:endParaRPr sz="1100"/>
          </a:p>
          <a:p>
            <a:r>
              <a:rPr lang="zh-CN" sz="1100" dirty="0"/>
              <a:t>第三部分是科学问题、假设与研究内容，对应P12到P15页，提出三个递进的科学问题、三个可被模拟实验检验的假设，以及四项研究内容。</a:t>
            </a:r>
            <a:endParaRPr lang="zh-CN" sz="1100" dirty="0"/>
          </a:p>
          <a:p>
            <a:endParaRPr sz="1100"/>
          </a:p>
          <a:p>
            <a:r>
              <a:rPr lang="zh-CN" sz="1100" dirty="0"/>
              <a:t>第四部分是研究方案：模型、实验与验证，对应P16到P20页，重点介绍我们构建的AI-UWM模型、四组控制实验、CAWCC条件化承载容量的求解思路，以及输出指标与可信度处理。</a:t>
            </a:r>
            <a:endParaRPr lang="zh-CN" sz="1100" dirty="0"/>
          </a:p>
          <a:p>
            <a:endParaRPr sz="1100"/>
          </a:p>
          <a:p>
            <a:r>
              <a:rPr lang="zh-CN" sz="1100" dirty="0"/>
              <a:t>第五部分是研究基础、进度与预期成果，对应P21到P24页，包括研究基础、五个阶段的进度安排，以及预期成果、创新点和风险应对。</a:t>
            </a:r>
            <a:endParaRPr lang="zh-CN" sz="11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这一页是Part One的封面页，标题是"研究背景与问题提出"。我从三个角度给出研究切入。</a:t>
            </a:r>
            <a:endParaRPr lang="zh-CN" sz="1100" dirty="0"/>
          </a:p>
          <a:p>
            <a:endParaRPr sz="1100"/>
          </a:p>
          <a:p>
            <a:r>
              <a:rPr lang="zh-CN" sz="1100" dirty="0"/>
              <a:t>一是现象：AI算力正在把IT容量需求转化为持续性的资源负荷，冷却系统从配套设施变成决定能耗与水耗的关键环节。</a:t>
            </a:r>
            <a:endParaRPr lang="zh-CN" sz="1100" dirty="0"/>
          </a:p>
          <a:p>
            <a:endParaRPr sz="1100"/>
          </a:p>
          <a:p>
            <a:r>
              <a:rPr lang="zh-CN" sz="1100" dirty="0"/>
              <a:t>二是供需失衡：水需求被多种因素收紧——极端高温、湿球温度上升、再生水供给能力受处理工艺约束、城市新增供水设施需要建设周期；而供给端是碎片化的，年总量掩盖了月度甚至小时尺度的峰值压力。</a:t>
            </a:r>
            <a:endParaRPr lang="zh-CN" sz="1100" dirty="0"/>
          </a:p>
          <a:p>
            <a:endParaRPr sz="1100"/>
          </a:p>
          <a:p>
            <a:r>
              <a:rPr lang="zh-CN" sz="1100" dirty="0"/>
              <a:t>三是切入点：我把研究对象界定为"城市人工水系统的全过程网络"，而不是孤立的"数据中心用水"。研究目标是回答：AI节点接入后，整个城市水系统如何响应，以及承载边界由什么条件决定。</a:t>
            </a:r>
            <a:endParaRPr lang="zh-CN" sz="1100" dirty="0"/>
          </a:p>
          <a:p>
            <a:endParaRPr sz="1100"/>
          </a:p>
          <a:p>
            <a:r>
              <a:rPr lang="zh-CN" sz="1100" dirty="0"/>
              <a:t>下面我用四张幻灯片来分别说明这三点。</a:t>
            </a:r>
            <a:endParaRPr lang="zh-CN" sz="11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这一页给出支撑"现象"判断的宏观数据。我整理了四组关键指标：</a:t>
            </a:r>
            <a:endParaRPr lang="zh-CN" sz="1100" dirty="0"/>
          </a:p>
          <a:p>
            <a:endParaRPr sz="1100"/>
          </a:p>
          <a:p>
            <a:r>
              <a:rPr lang="zh-CN" sz="1100" dirty="0"/>
              <a:t>第一组是Token调用量——2024年初到2026年3月，全国日均Token调用量从1000亿增长到140万亿，增长接近1400倍；第二组是ChatGPT周活跃用户，从不足1亿到接近10亿；第三组是GenAI全球人口采用率估计，约为53%；第四组是企业GenAI采用率，约为79%。这四组数据共同说明AI算力需求已经完成从技术突破到大规模商业部署的拐点。</a:t>
            </a:r>
            <a:endParaRPr lang="zh-CN" sz="1100" dirty="0"/>
          </a:p>
          <a:p>
            <a:endParaRPr sz="1100"/>
          </a:p>
          <a:p>
            <a:r>
              <a:rPr lang="zh-CN" sz="1100" dirty="0"/>
              <a:t>右侧柱图给出不同任务类型的资源消耗对比：从文本问答、聊天、长推理、图片生成、视频生成到模型训练，电力与水耗呈阶梯式上升。其中视频生成和模型训练是高耗能环节，例如GPT-3训练一次耗电约1287兆瓦时，可供3000辆特斯拉跑到报废。</a:t>
            </a:r>
            <a:endParaRPr lang="zh-CN" sz="1100" dirty="0"/>
          </a:p>
          <a:p>
            <a:endParaRPr sz="1100"/>
          </a:p>
          <a:p>
            <a:r>
              <a:rPr lang="zh-CN" sz="1100" dirty="0"/>
              <a:t>最下方强调：一座先进水效率的100兆瓦级大型AI算力中心，每年现场冷却消耗约2亿升水，相当于近100个奥运泳池；2025年8月乌兰察布建成全球最大的AI算力中心，规划容量超过2GW。这说明AI基础设施的资源消耗是绝对量级的上升，不是边际意义上的小变化。</a:t>
            </a:r>
            <a:endParaRPr lang="zh-CN" sz="1100" dirty="0"/>
          </a:p>
          <a:p>
            <a:endParaRPr sz="1100"/>
          </a:p>
          <a:p>
            <a:r>
              <a:rPr lang="zh-CN" sz="1100" dirty="0"/>
              <a:t>右侧三个要点总结：使用场景越复杂，电力与用水消耗越高；训练与视频生成是高耗能环节；大型算力中心持续带来冷却与基础设施压力。这三点共同支持"AI基础设施资源消耗大幅上升"的判断。</a:t>
            </a:r>
            <a:endParaRPr lang="zh-CN" sz="11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这一页解释AI算力如何把计算需求转化为持续性城市物理负荷。</a:t>
            </a:r>
            <a:endParaRPr lang="zh-CN" sz="1100" dirty="0"/>
          </a:p>
          <a:p>
            <a:endParaRPr sz="1100"/>
          </a:p>
          <a:p>
            <a:r>
              <a:rPr lang="zh-CN" sz="1100" dirty="0"/>
              <a:t>顶部给出AI计算活动的完整链条：服务需求、IT容量、实际负载、IT功率、PUE折算、供电、冷却、补水与排水。这是一个从需求侧到设施侧再到水务侧的完整传导链。</a:t>
            </a:r>
            <a:endParaRPr lang="zh-CN" sz="1100" dirty="0"/>
          </a:p>
          <a:p>
            <a:endParaRPr sz="1100"/>
          </a:p>
          <a:p>
            <a:r>
              <a:rPr lang="zh-CN" sz="1100" dirty="0"/>
              <a:t>下面从三个角度分别说明AI算力的影响：</a:t>
            </a:r>
            <a:endParaRPr lang="zh-CN" sz="1100" dirty="0"/>
          </a:p>
          <a:p>
            <a:endParaRPr sz="1100"/>
          </a:p>
          <a:p>
            <a:r>
              <a:rPr lang="zh-CN" sz="1100" dirty="0"/>
              <a:t>第一，需求侧——负荷形态改变。大模型训练与推理把算力峰值提升数倍；智能体倾向高频上线，呈现"小颗粒、高频次"的负荷模式；功率与热流密度上升，冷却系统成为决定能耗与水耗的关键环节。</a:t>
            </a:r>
            <a:endParaRPr lang="zh-CN" sz="1100" dirty="0"/>
          </a:p>
          <a:p>
            <a:endParaRPr sz="1100"/>
          </a:p>
          <a:p>
            <a:r>
              <a:rPr lang="zh-CN" sz="1100" dirty="0"/>
              <a:t>第二，供给侧——水需求收紧。AI冷却使温升、温差、浓缩倍数与水共同约束。国际能源署IEA与劳伦斯伯克利国家实验室LBNL的核算都支持从电力→热排放→冷却这一路径切入，去定量AI对水的影响。</a:t>
            </a:r>
            <a:endParaRPr lang="zh-CN" sz="1100" dirty="0"/>
          </a:p>
          <a:p>
            <a:endParaRPr sz="1100"/>
          </a:p>
          <a:p>
            <a:r>
              <a:rPr lang="zh-CN" sz="1100" dirty="0"/>
              <a:t>第三，规划侧——需要新的节点认定。传统规划把数据中心视作"单进单出"的工业用户，水需求常被弱化为年值汇总。但是AI负荷是高速连续的，温度梯度会叠加冷却蒸发损失，城市与再生水源的统筹变得更加关键。</a:t>
            </a:r>
            <a:endParaRPr lang="zh-CN" sz="1100" dirty="0"/>
          </a:p>
          <a:p>
            <a:endParaRPr sz="1100"/>
          </a:p>
          <a:p>
            <a:r>
              <a:rPr lang="zh-CN" sz="1100" dirty="0"/>
              <a:t>底部结论：AI数据中心是"在地负荷、冷却与水资源耦合的持续性城市水系统节点"，必须从算力源头重估城市物理负荷。这也是为什么我们要把研究边界从设施扩展到城市水系统全过程网络。</a:t>
            </a:r>
            <a:endParaRPr lang="zh-CN" sz="11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这一页用一组对照实验说明"相同年用水量可能对应完全不同的城市系统压力"。</a:t>
            </a:r>
            <a:endParaRPr lang="zh-CN" sz="1100" dirty="0"/>
          </a:p>
          <a:p>
            <a:endParaRPr sz="1100"/>
          </a:p>
          <a:p>
            <a:r>
              <a:rPr lang="zh-CN" sz="1100" dirty="0"/>
              <a:t>左边的情景A是本地淡水为主、夏季高温时段湿式冷却集中取水：年补水量与情景B相同，但取水集中在峰值日内、且早于灰水分流，造成局部压力外高与水温升高的叠加。右侧两条曲线分别给出水消耗结构约束和排水结构约束。情景A的夏季尖峰在7月，对应湿冷供水与受纳水体纳污压力峰值同步出现。</a:t>
            </a:r>
            <a:endParaRPr lang="zh-CN" sz="1100" dirty="0"/>
          </a:p>
          <a:p>
            <a:endParaRPr sz="1100"/>
          </a:p>
          <a:p>
            <a:r>
              <a:rPr lang="zh-CN" sz="1100" dirty="0"/>
              <a:t>右边的情景B是再生水为主、排水调节与干湿混合排热削峰：年补水量与情景A相同，但以再生水为主、并通过干式储调，把峰值压力转移到再生水处理强度与水价机制上。情景B的补水平坦，处理负荷均匀分摊，受纳水体年内冲刷压力下降。</a:t>
            </a:r>
            <a:endParaRPr lang="zh-CN" sz="1100" dirty="0"/>
          </a:p>
          <a:p>
            <a:endParaRPr sz="1100"/>
          </a:p>
          <a:p>
            <a:r>
              <a:rPr lang="zh-CN" sz="1100" dirty="0"/>
              <a:t>这里的关键信息是：年总量相同的两个情景，由于水源结构、负荷时序、冷却方式不同，对城市系统的压力完全不同。情景A把压力集中在水源侧，情景B把压力转移到再生水处理侧——主导瓶颈完全不同。</a:t>
            </a:r>
            <a:endParaRPr lang="zh-CN" sz="1100" dirty="0"/>
          </a:p>
          <a:p>
            <a:endParaRPr sz="1100"/>
          </a:p>
          <a:p>
            <a:r>
              <a:rPr lang="zh-CN" sz="1100" dirty="0"/>
              <a:t>底部结论强调：我们的研究路径是从同处出发，识别峰值、时序的不同；多步消耗、多步回流。总量相同，时序与路径的差异同样需要被看见。这也是后面要回答"什么是条件化承载边界"的关键铺垫。</a:t>
            </a:r>
            <a:endParaRPr lang="zh-CN" sz="11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这一页界定研究对象与系统边界。</a:t>
            </a:r>
            <a:endParaRPr lang="zh-CN" sz="1100" dirty="0"/>
          </a:p>
          <a:p>
            <a:endParaRPr sz="1100"/>
          </a:p>
          <a:p>
            <a:r>
              <a:rPr lang="zh-CN" sz="1100" dirty="0"/>
              <a:t>左栏给出研究对象与系统边界。研究对象不是"数据中心用了多少水"，而是"AI节点接入后的整个城市水系统如何响应"。核心系统边界是四个环节：供水、用户/AI、污水、再生回用与排放。外延系统包括给水管网、再生水厂、用户、AI数据中心、污水厂、再生水与可用水源。约束因素是气候、供水余量、潜在水回用量等外部输入。暂不进入核心边界的是下游、雨水与沟渠管网，仅在平衡讨论时纳入，作为边际水量层部分模型处理。</a:t>
            </a:r>
            <a:endParaRPr lang="zh-CN" sz="1100" dirty="0"/>
          </a:p>
          <a:p>
            <a:endParaRPr sz="1100"/>
          </a:p>
          <a:p>
            <a:r>
              <a:rPr lang="zh-CN" sz="1100" dirty="0"/>
              <a:t>右栏给出研究目的与意义。研究目的是回答"城市人工水系统对AI节点接入的代谢响应与条件化承载边界"。研究意义有三条：第一，把算力节点认定为城市物理负荷，让算力—水账目真正打通；第二，为规划与运行提供承载边界判定；第三，补充面向AI节点链的水系统计量学。切入贡献是构建CAWCC条件化AI水承载容量指标、建立AI节点接入后的城市水代谢模型、提出条件化承载边界与主导瓶颈。</a:t>
            </a:r>
            <a:endParaRPr lang="zh-CN" sz="1100" dirty="0"/>
          </a:p>
          <a:p>
            <a:endParaRPr sz="1100"/>
          </a:p>
          <a:p>
            <a:r>
              <a:rPr lang="zh-CN" sz="1100" dirty="0"/>
              <a:t>底部总结：研究对象等于"AI节点接入后的城市水代谢响应"，核心输出是CAWCC指标与主导瓶颈。这一定义同时回答了研究边界、研究目标和最终交付物。</a:t>
            </a:r>
            <a:endParaRPr lang="zh-CN" sz="11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这是Part Two的封面页，主题是"国内外研究现状与研究缺口"。</a:t>
            </a:r>
            <a:endParaRPr lang="zh-CN" sz="1100" dirty="0"/>
          </a:p>
          <a:p>
            <a:endParaRPr sz="1100"/>
          </a:p>
          <a:p>
            <a:r>
              <a:rPr lang="zh-CN" sz="1100" dirty="0"/>
              <a:t>我把现有文献按三条脉络梳理：第一条是算力侧的能耗与水足迹研究，已相对完整；第二条是分片研究之间缺乏统一的城市水系统框架；第三条是AI节点接入后的城市水代谢建模与边界识别，是本研究的核心切入点。</a:t>
            </a:r>
            <a:endParaRPr lang="zh-CN" sz="1100" dirty="0"/>
          </a:p>
          <a:p>
            <a:endParaRPr sz="1100"/>
          </a:p>
          <a:p>
            <a:r>
              <a:rPr lang="zh-CN" sz="1100" dirty="0"/>
              <a:t>右侧用三个并列卡片给出这三条研究脉络的具体含义：第一张是"算力侧的能耗与水足迹研究已较为完整"——这一脉络建立了从IT容量到水耗的核算方法；第二张是"分片研究之间缺乏统一的城市水系统框架"——这是横向的现状；第三张是"AI节点接入后的城市水代谢建模与边界识别"——这是我们要补的缺口。</a:t>
            </a:r>
            <a:endParaRPr lang="zh-CN" sz="1100" dirty="0"/>
          </a:p>
          <a:p>
            <a:endParaRPr sz="1100"/>
          </a:p>
          <a:p>
            <a:r>
              <a:rPr lang="zh-CN" sz="1100" dirty="0"/>
              <a:t>接下来四张幻灯片，我会分别用四张文献卡片介绍这三条研究脉络下的代表性工作，再给出一张综述图说明知识链尚未闭合的位置。</a:t>
            </a:r>
            <a:endParaRPr lang="zh-CN" sz="11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第一张文献卡片引用Xiao等2025年发表于Nature Sustainability的研究。该研究指出，随着AI服务器规模增长，其生命周期水足迹呈快速上升趋势。</a:t>
            </a:r>
            <a:endParaRPr lang="zh-CN" sz="1100" dirty="0"/>
          </a:p>
          <a:p>
            <a:endParaRPr sz="1100"/>
          </a:p>
          <a:p>
            <a:r>
              <a:rPr lang="zh-CN" sz="1100" dirty="0"/>
              <a:t>左侧图表显示不同情景下AI服务器生命周期的水足迹随时间演变，右侧文字给出研究的核心结论：随着大规模人工智能模型快速发展，AI服务器部署规模持续扩大，其运行过程产生的水资源环境影响逐渐受到关注。研究表明，AI服务器水足迹不仅随计算规模增长而增加，同时受到能源结构、服务器效率及部署区域条件影响，不同发展情景下未来水资源压力存在明显差异。</a:t>
            </a:r>
            <a:endParaRPr lang="zh-CN" sz="1100" dirty="0"/>
          </a:p>
          <a:p>
            <a:endParaRPr sz="1100"/>
          </a:p>
          <a:p>
            <a:r>
              <a:rPr lang="zh-CN" sz="1100" dirty="0"/>
              <a:t>这张卡片的关键信息是：算力侧研究已经能给出明确的水足迹趋势，但多止于设施或区域足迹层面，没有把这一趋势嵌入城市水循环的承载力分析中。我们的研究正是要在这一基础上，把算力侧的水足迹结果接入城市水系统全过程网络。</a:t>
            </a:r>
            <a:endParaRPr lang="zh-CN" sz="11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第二张文献卡片引用Jiang等2025年发表于Applied Energy的研究，主题是"中国数据中心水足迹存在明显空间差异"。</a:t>
            </a:r>
            <a:endParaRPr lang="zh-CN" sz="1100" dirty="0"/>
          </a:p>
          <a:p>
            <a:endParaRPr sz="1100"/>
          </a:p>
          <a:p>
            <a:r>
              <a:rPr lang="zh-CN" sz="1100" dirty="0"/>
              <a:t>图中给出中国不同省份数据中心水足迹的空间分布，可以直观看到算力布局与区域水资源条件的潜在错配——一些算力集聚区域同时面临较高的水资源压力。文字说明：针对中国数据中心发展趋势，已有研究开展设施尺度水足迹核算，发现不同地区由于能源结构、冷却方式和水资源条件差异，数据中心水环境影响存在明显空间分化。部分算力集聚区域同时面临较高水资源压力，体现出算力布局与区域水资源禀赋之间的潜在矛盾。</a:t>
            </a:r>
            <a:endParaRPr lang="zh-CN" sz="1100" dirty="0"/>
          </a:p>
          <a:p>
            <a:endParaRPr sz="1100"/>
          </a:p>
          <a:p>
            <a:r>
              <a:rPr lang="zh-CN" sz="1100" dirty="0"/>
              <a:t>这张卡片的关键信息是：空间错配问题已经得到初步识别，但这种错配如何转化为城市水系统的承载压力——也就是水源、给水、污水、再生水四个环节中哪一个最先被突破——还没有被系统回答。这是我们后面要解决的第二个科学问题。</a:t>
            </a:r>
            <a:endParaRPr lang="zh-CN" sz="1100"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第三张文献卡片引用Alissa等2025年发表于Nature的研究，主题是"冷却技术与气候条件共同决定数据中心动态水耗"。</a:t>
            </a:r>
            <a:endParaRPr lang="zh-CN" sz="1100" dirty="0"/>
          </a:p>
          <a:p>
            <a:endParaRPr sz="1100"/>
          </a:p>
          <a:p>
            <a:r>
              <a:rPr lang="zh-CN" sz="1100" dirty="0"/>
              <a:t>文字说明：数据中心水耗并非固定的单位算力耗水量，而受到冷却架构、环境温度和运行条件共同影响。研究比较不同冷却方案发现，湿式冷却等方式具有明显季节波动特征，高温时期水耗显著增加，而冷却技术优化能够改变水、能、碳之间的耦合关系。</a:t>
            </a:r>
            <a:endParaRPr lang="zh-CN" sz="1100" dirty="0"/>
          </a:p>
          <a:p>
            <a:endParaRPr sz="1100"/>
          </a:p>
          <a:p>
            <a:r>
              <a:rPr lang="zh-CN" sz="1100" dirty="0"/>
              <a:t>这张卡片的关键信息是：冷却技术是水耗的关键调节变量，湿式/干式/干湿混合的选择会改变单位算力的取水量、蒸发损失和排水水质。但这张文献没有进一步回答：当AI算力规模增长，冷却技术的选择如何与城市水源结构和气候条件共同决定承载边界。这是我们第三个科学问题要回答的内容。</a:t>
            </a:r>
            <a:endParaRPr lang="zh-CN" sz="11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第四张文献卡片引用Karimi等2025年发表于Applied Thermal Engineering的研究，主题是"年均水足迹评价难以识别时间尺度上的峰值压力"。</a:t>
            </a:r>
            <a:endParaRPr lang="zh-CN" sz="1100" dirty="0"/>
          </a:p>
          <a:p>
            <a:endParaRPr sz="1100"/>
          </a:p>
          <a:p>
            <a:r>
              <a:rPr lang="zh-CN" sz="1100" dirty="0"/>
              <a:t>文字说明：同样的年累计水耗可能对应不同的月尺度压力过程。已有研究逐渐从年度水足迹核算转向月尺度甚至小时尺度动态模拟，发现数据中心冷却水需求具有明显季节变化规律。高温时期冷却需求快速增加，可能形成短时间尺度资源压力，而年度平均指标容易掩盖峰值负荷及基础设施约束。</a:t>
            </a:r>
            <a:endParaRPr lang="zh-CN" sz="1100" dirty="0"/>
          </a:p>
          <a:p>
            <a:endParaRPr sz="1100"/>
          </a:p>
          <a:p>
            <a:r>
              <a:rPr lang="zh-CN" sz="1100" dirty="0"/>
              <a:t>这张卡片的关键信息是：年均评价有低估风险，月尺度甚至小时尺度才是识别峰值压力的关键。这一观点直接支持我们把CAWCC条件化承载容量定义为"在给定条件下不同时间尺度都成立"的边界，而不是单一年度总量阈值。</a:t>
            </a:r>
            <a:endParaRPr lang="zh-CN" sz="11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这一页是"现有研究已解决什么、尚未解决什么"的知识链对比。</a:t>
            </a:r>
            <a:endParaRPr lang="zh-CN" sz="1100" dirty="0"/>
          </a:p>
          <a:p>
            <a:endParaRPr sz="1100"/>
          </a:p>
          <a:p>
            <a:r>
              <a:rPr lang="zh-CN" sz="1100" dirty="0"/>
              <a:t>左栏给出四条知识链及其已解决部分：第一，数据中心水足迹与WUE——已解决算力侧能耗与水足迹的量化方法；第二，城市代谢与水—能关系——已建立城市尺度水—能耦合代谢模型；第三，AI耗水与冷却特性——已掌握冷却方式、气候与节水冷却的效应；第四，城市水系统优化配置——已形成城市水系统优化模型与算法；第五，AI方法应用——已把AI用于城市水系统的预测、优化与调度。</a:t>
            </a:r>
            <a:endParaRPr lang="zh-CN" sz="1100" dirty="0"/>
          </a:p>
          <a:p>
            <a:endParaRPr sz="1100"/>
          </a:p>
          <a:p>
            <a:r>
              <a:rPr lang="zh-CN" sz="1100" dirty="0"/>
              <a:t>右栏给出对应的未解决部分：第一，数据中心水足迹研究的对象落在设施边界内，未进入城市系统；第二，城市代谢与水—能关系研究未刻画AI算力节点这一新增负荷类型；第三，AI耗水与冷却研究多聚焦设施改造与运行优化，未回答城市承载；第四，城市水系统优化配置的约束以传统用水为主，未纳入算力相关约束；第五，AI方法应用成熟，但多未与AI算力侧形成闭环。</a:t>
            </a:r>
            <a:endParaRPr lang="zh-CN" sz="1100" dirty="0"/>
          </a:p>
          <a:p>
            <a:endParaRPr sz="1100"/>
          </a:p>
          <a:p>
            <a:r>
              <a:rPr lang="zh-CN" sz="1100" dirty="0"/>
              <a:t>底部结论：现有研究已分别解决"算力耗水"与"城市代谢"，但未把二者放在同一系统内回答承载边界。这正是本研究的切入点。</a:t>
            </a:r>
            <a:endParaRPr lang="zh-CN" sz="11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这一页给出本研究的三个科学缺口，并把它们与三个科学问题对应起来。</a:t>
            </a:r>
            <a:endParaRPr lang="zh-CN" sz="1100" dirty="0"/>
          </a:p>
          <a:p>
            <a:endParaRPr sz="1100"/>
          </a:p>
          <a:p>
            <a:r>
              <a:rPr lang="zh-CN" sz="1100" dirty="0"/>
              <a:t>缺口一是响应机制不清——AI节点接入后，城市水系统的取水—处理—输配—使用—排放—回用链条如何响应，尚缺少系统性刻画。这一缺口对应科学问题一：响应机制。</a:t>
            </a:r>
            <a:endParaRPr lang="zh-CN" sz="1100" dirty="0"/>
          </a:p>
          <a:p>
            <a:endParaRPr sz="1100"/>
          </a:p>
          <a:p>
            <a:r>
              <a:rPr lang="zh-CN" sz="1100" dirty="0"/>
              <a:t>缺口二是承载边界不条件化——现有承载多以总量或单要素阈值表达，未体现"取决于水源结构、气象与技术组合"的条件性。这一缺口对应科学问题二：条件化边界。</a:t>
            </a:r>
            <a:endParaRPr lang="zh-CN" sz="1100" dirty="0"/>
          </a:p>
          <a:p>
            <a:endParaRPr sz="1100"/>
          </a:p>
          <a:p>
            <a:r>
              <a:rPr lang="zh-CN" sz="1100" dirty="0"/>
              <a:t>缺口三是瓶颈识别不动态——瓶颈随季节、气温、来水与运行策略迁移，缺少可比较、可排序的主导瓶颈识别方法。这一缺口对应科学问题三：瓶颈识别。</a:t>
            </a:r>
            <a:endParaRPr lang="zh-CN" sz="1100" dirty="0"/>
          </a:p>
          <a:p>
            <a:endParaRPr sz="1100"/>
          </a:p>
          <a:p>
            <a:r>
              <a:rPr lang="zh-CN" sz="1100" dirty="0"/>
              <a:t>底部再次强调由此形成的统一研究空白，并指出三个缺口分别对应三个科学问题："如何响应→边界如何条件化→瓶颈如何识别与排序"。这条递进的逻辑也是后面第四部分研究方案设计的依据。</a:t>
            </a:r>
            <a:endParaRPr lang="zh-CN" sz="11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这是Part Three的封面页，主题是"科学问题、假设与研究内容"。我把它拆成三张幻灯片展开。</a:t>
            </a:r>
            <a:endParaRPr lang="zh-CN" sz="1100" dirty="0"/>
          </a:p>
          <a:p>
            <a:endParaRPr sz="1100"/>
          </a:p>
          <a:p>
            <a:r>
              <a:rPr lang="zh-CN" sz="1100" dirty="0"/>
              <a:t>第一个卡片介绍三个科学问题；第二个卡片介绍三个对应的可检验假设；第三个卡片介绍四项研究内容。</a:t>
            </a:r>
            <a:endParaRPr lang="zh-CN" sz="1100" dirty="0"/>
          </a:p>
          <a:p>
            <a:endParaRPr sz="1100"/>
          </a:p>
          <a:p>
            <a:r>
              <a:rPr lang="zh-CN" sz="1100" dirty="0"/>
              <a:t>接下来我会按这个顺序说明。</a:t>
            </a:r>
            <a:endParaRPr lang="zh-CN" sz="1100"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这一页介绍本研究的核心概念——CAWCC条件化AI水承载容量。</a:t>
            </a:r>
            <a:endParaRPr lang="zh-CN" sz="1100" dirty="0"/>
          </a:p>
          <a:p>
            <a:endParaRPr sz="1100"/>
          </a:p>
          <a:p>
            <a:r>
              <a:rPr lang="zh-CN" sz="1100" dirty="0"/>
              <a:t>CAWCC是Conditional AI Water Carrying Capacity的缩写，定义为：在给定水源结构、气象条件、技术水平与运行策略下，城市人工水系统可承载的AI算力相关用水规模。</a:t>
            </a:r>
            <a:endParaRPr lang="zh-CN" sz="1100" dirty="0"/>
          </a:p>
          <a:p>
            <a:endParaRPr sz="1100"/>
          </a:p>
          <a:p>
            <a:r>
              <a:rPr lang="zh-CN" sz="1100" dirty="0"/>
              <a:t>条件维度有四个：第一是水——水源结构，包括再生水与淡水的占比；第二是气——气象条件，包括气温、湿度、季节；第三是技——技术水平，包括冷却方式、PUE、浓缩倍数；第四是运——运行策略，包括调度、蓄水、回用率。这四个维度共同决定了CAWCC的具体取值。CAWCC不是单一总量阈值，而是一组随条件变化的容量维度；输出同时给出主导瓶颈。</a:t>
            </a:r>
            <a:endParaRPr lang="zh-CN" sz="1100" dirty="0"/>
          </a:p>
          <a:p>
            <a:endParaRPr sz="1100"/>
          </a:p>
          <a:p>
            <a:r>
              <a:rPr lang="zh-CN" sz="1100" dirty="0"/>
              <a:t>下方表格对比CAWCC与既有水足迹/WUE指标的区别。评价对象方面，WUE评价设施自身用水效率，CAWCC评价城市系统可承载规模；表达方式方面，WUE是单值或强度指标，CAWCC是随条件变化的容量；决策用途方面，WUE用于设施节水改造，CAWCC用于规划承载与干预排序。</a:t>
            </a:r>
            <a:endParaRPr lang="zh-CN" sz="1100" dirty="0"/>
          </a:p>
          <a:p>
            <a:endParaRPr sz="1100"/>
          </a:p>
          <a:p>
            <a:r>
              <a:rPr lang="zh-CN" sz="1100" dirty="0"/>
              <a:t>最底部强调：CAWCC同时输出"可承载规模"与"主导瓶颈"，使容量结论具备可解释性与可干预性。这一组合输出是CAWCC相对于WUE的核心增量。</a:t>
            </a:r>
            <a:endParaRPr lang="zh-CN" sz="1100"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这一页给出三个科学问题与对应的研究假设。</a:t>
            </a:r>
            <a:endParaRPr lang="zh-CN" sz="1100" dirty="0"/>
          </a:p>
          <a:p>
            <a:endParaRPr sz="1100"/>
          </a:p>
          <a:p>
            <a:r>
              <a:rPr lang="zh-CN" sz="1100" dirty="0"/>
              <a:t>科学问题一是响应机制：AI节点接入后，城市人工水系统的代谢通量如何响应？对应假设H1——响应可由"算力—热—冷却—补水/排水"链条驱动的水代谢模型刻画，且存在显著季节与结构差异。</a:t>
            </a:r>
            <a:endParaRPr lang="zh-CN" sz="1100" dirty="0"/>
          </a:p>
          <a:p>
            <a:endParaRPr sz="1100"/>
          </a:p>
          <a:p>
            <a:r>
              <a:rPr lang="zh-CN" sz="1100" dirty="0"/>
              <a:t>科学问题二是条件化边界：承载边界如何随水源、气象、技术与运行策略变化？对应假设H2——存在条件化的承载边界CAWCC，并表现为随条件组合变化的容量曲面而非单值阈值。</a:t>
            </a:r>
            <a:endParaRPr lang="zh-CN" sz="1100" dirty="0"/>
          </a:p>
          <a:p>
            <a:endParaRPr sz="1100"/>
          </a:p>
          <a:p>
            <a:r>
              <a:rPr lang="zh-CN" sz="1100" dirty="0"/>
              <a:t>科学问题是三瓶颈识别：如何识别并排序不同条件下的主导瓶颈？对应假设H3——主导瓶颈随季节与条件迁移，可通过容量扫描与敏感性分析给出可比较的排序结果。</a:t>
            </a:r>
            <a:endParaRPr lang="zh-CN" sz="1100" dirty="0"/>
          </a:p>
          <a:p>
            <a:endParaRPr sz="1100"/>
          </a:p>
          <a:p>
            <a:r>
              <a:rPr lang="zh-CN" sz="1100" dirty="0"/>
              <a:t>三个假设之间是递进的：H1回答响应机制，H2把响应转化为边界，H3把边界操作化为干预排序。</a:t>
            </a:r>
            <a:endParaRPr lang="zh-CN" sz="11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这一页给出四项研究内容。</a:t>
            </a:r>
            <a:endParaRPr lang="zh-CN" sz="1100" dirty="0"/>
          </a:p>
          <a:p>
            <a:endParaRPr sz="1100"/>
          </a:p>
          <a:p>
            <a:r>
              <a:rPr lang="zh-CN" sz="1100" dirty="0"/>
              <a:t>第一项是AI算力节点的水代谢表征——构建"算力→热→冷却→补水/排水"链条，形成可嵌入城市水系统的节点模块。拟回答"节点水代谢通量如何生成"，预期形成AI节点水代谢模块。</a:t>
            </a:r>
            <a:endParaRPr lang="zh-CN" sz="1100" dirty="0"/>
          </a:p>
          <a:p>
            <a:endParaRPr sz="1100"/>
          </a:p>
          <a:p>
            <a:r>
              <a:rPr lang="zh-CN" sz="1100" dirty="0"/>
              <a:t>第二项是城市人工水系统耦合模型——建立取水—处理—输配—使用—排放—回用的全过程网络模型并嵌入节点模块。拟回答"系统如何响应节点接入"，预期形成耦合水代谢模型。</a:t>
            </a:r>
            <a:endParaRPr lang="zh-CN" sz="1100" dirty="0"/>
          </a:p>
          <a:p>
            <a:endParaRPr sz="1100"/>
          </a:p>
          <a:p>
            <a:r>
              <a:rPr lang="zh-CN" sz="1100" dirty="0"/>
              <a:t>第三项是条件化承载边界求解——定义并求解CAWCC，扫描水源、气象、技术与运行策略组合下的容量曲面。拟回答"边界如何条件化"，预期形成CAWCC容量曲面。</a:t>
            </a:r>
            <a:endParaRPr lang="zh-CN" sz="1100" dirty="0"/>
          </a:p>
          <a:p>
            <a:endParaRPr sz="1100"/>
          </a:p>
          <a:p>
            <a:r>
              <a:rPr lang="zh-CN" sz="1100" dirty="0"/>
              <a:t>第四项是主导瓶颈识别与干预评估——通过敏感性分析识别主导瓶颈，比较不同干预措施对承载能力的提升效果。拟回答"瓶颈是什么、如何干预"，预期形成瓶颈排序与干预建议。</a:t>
            </a:r>
            <a:endParaRPr lang="zh-CN" sz="1100" dirty="0"/>
          </a:p>
          <a:p>
            <a:endParaRPr sz="1100"/>
          </a:p>
          <a:p>
            <a:r>
              <a:rPr lang="zh-CN" sz="1100" dirty="0"/>
              <a:t>四项内容从概念到模型、从实验到边界求解，依次承担平台构建、现象识别、边界解释与干预分析的功能，共同服务于前述三个科学问题。</a:t>
            </a:r>
            <a:endParaRPr lang="zh-CN" sz="11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这是Part Four的封面页，主题是"研究方案：模型、实验与验证"。</a:t>
            </a:r>
            <a:endParaRPr lang="zh-CN" sz="1100" dirty="0"/>
          </a:p>
          <a:p>
            <a:endParaRPr sz="1100"/>
          </a:p>
          <a:p>
            <a:r>
              <a:rPr lang="zh-CN" sz="1100" dirty="0"/>
              <a:t>我把研究方案拆成两张幻灯片：下一页是技术路线的四阶段总览；再下一页是研究方案总体框架的细节图；之后介绍四组控制实验、CAWCC求解方法和输出指标。</a:t>
            </a:r>
            <a:endParaRPr lang="zh-CN" sz="1100" dirty="0"/>
          </a:p>
          <a:p>
            <a:endParaRPr sz="1100"/>
          </a:p>
          <a:p>
            <a:r>
              <a:rPr lang="zh-CN" sz="1100" dirty="0"/>
              <a:t>研究方案的支撑原则是"公开数据+机理模型+情景模拟"。模型构建以节点模块嵌入城市水系统网络模型为核心；实验与验证包括控制实验、敏感性分析与可信度检验。</a:t>
            </a:r>
            <a:endParaRPr lang="zh-CN" sz="1100"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这一页给出技术路线的四个阶段。</a:t>
            </a:r>
            <a:endParaRPr lang="zh-CN" sz="1100" dirty="0"/>
          </a:p>
          <a:p>
            <a:endParaRPr sz="1100"/>
          </a:p>
          <a:p>
            <a:r>
              <a:rPr lang="zh-CN" sz="1100" dirty="0"/>
              <a:t>阶段一是数据与参数梳理——收集算力侧与城市水系统侧公开数据，梳理模型参数与边界条件，建立数据基础，时间是2026年9月至2026年11月。</a:t>
            </a:r>
            <a:endParaRPr lang="zh-CN" sz="1100" dirty="0"/>
          </a:p>
          <a:p>
            <a:endParaRPr sz="1100"/>
          </a:p>
          <a:p>
            <a:r>
              <a:rPr lang="zh-CN" sz="1100" dirty="0"/>
              <a:t>阶段二是模型构建与耦合——构建AI节点水代谢模块与城市人工水系统网络模型，完成耦合与校核，时间是2026年11月至2027年1月。</a:t>
            </a:r>
            <a:endParaRPr lang="zh-CN" sz="1100" dirty="0"/>
          </a:p>
          <a:p>
            <a:endParaRPr sz="1100"/>
          </a:p>
          <a:p>
            <a:r>
              <a:rPr lang="zh-CN" sz="1100" dirty="0"/>
              <a:t>阶段三是情景实验与求解——设计控制实验与情景组合，求解CAWCC容量曲面并进行敏感性分析，时间是2027年1月至2027年5月。</a:t>
            </a:r>
            <a:endParaRPr lang="zh-CN" sz="1100" dirty="0"/>
          </a:p>
          <a:p>
            <a:endParaRPr sz="1100"/>
          </a:p>
          <a:p>
            <a:r>
              <a:rPr lang="zh-CN" sz="1100" dirty="0"/>
              <a:t>阶段四是瓶颈识别与验证——识别主导瓶颈、评估干预措施，完成结果验证与不确定性讨论，时间是2027年5月至2027年9月。</a:t>
            </a:r>
            <a:endParaRPr lang="zh-CN" sz="1100" dirty="0"/>
          </a:p>
          <a:p>
            <a:endParaRPr sz="1100"/>
          </a:p>
          <a:p>
            <a:r>
              <a:rPr lang="zh-CN" sz="1100" dirty="0"/>
              <a:t>底部输入输出：输入是算力侧数据、城市水系统数据、气象与水源条件、技术与运行参数；输出是水代谢响应、CAWCC容量曲面、主导瓶颈排序、干预效果评估。</a:t>
            </a:r>
            <a:endParaRPr lang="zh-CN" sz="1100" dirty="0"/>
          </a:p>
          <a:p>
            <a:endParaRPr sz="1100"/>
          </a:p>
          <a:p>
            <a:r>
              <a:rPr lang="zh-CN" sz="1100" dirty="0"/>
              <a:t>可行性支撑有三条：数据可得——公开统计与文献参数可支撑建模；方法成熟——水系统模型与敏感性分析方法成熟；计算可控——情景组合规模可控，可在本机完成。</a:t>
            </a:r>
            <a:endParaRPr lang="zh-CN" sz="11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这一页是研究方案总体框架的细节图。</a:t>
            </a:r>
            <a:endParaRPr lang="zh-CN" sz="1100" dirty="0"/>
          </a:p>
          <a:p>
            <a:endParaRPr sz="1100"/>
          </a:p>
          <a:p>
            <a:r>
              <a:rPr lang="zh-CN" sz="1100" dirty="0"/>
              <a:t>总体框架按"数据构建与场景设定—多过程耦合模型构建—情景模拟与敏感性分析—边界求解与方案评估"四层推进。</a:t>
            </a:r>
            <a:endParaRPr lang="zh-CN" sz="1100" dirty="0"/>
          </a:p>
          <a:p>
            <a:endParaRPr sz="1100"/>
          </a:p>
          <a:p>
            <a:r>
              <a:rPr lang="zh-CN" sz="1100" dirty="0"/>
              <a:t>数据层包括四类数据：算力与数据中心数据、城市水系统数据、气象与环境数据、规划与运行数据。</a:t>
            </a:r>
            <a:endParaRPr lang="zh-CN" sz="1100" dirty="0"/>
          </a:p>
          <a:p>
            <a:endParaRPr sz="1100"/>
          </a:p>
          <a:p>
            <a:r>
              <a:rPr lang="zh-CN" sz="1100" dirty="0"/>
              <a:t>模型层包括四个模块：算力负荷模块（IT负载、功率、热负荷、PUE、冷却水）、冷却与用水模块（冷却方式、温升温差、蒸发损失、排水水质）、城市水系统模块（供水、再生水、污水、管网、用水结构）、约束与调度模块（水源约束、设施能力、运行策略、时序调度）。模块接口是"通量形式接入系统网络，随场景替换参数后耦合求解"。</a:t>
            </a:r>
            <a:endParaRPr lang="zh-CN" sz="1100" dirty="0"/>
          </a:p>
          <a:p>
            <a:endParaRPr sz="1100"/>
          </a:p>
          <a:p>
            <a:r>
              <a:rPr lang="zh-CN" sz="1100" dirty="0"/>
              <a:t>情景模拟层设计四类情景：水源结构情景（再生水比例、外调水等）、气候与季节情景（平年、极枯年）、技术情景（冷却方式、PUE、浓缩倍数）、运行策略情景（调度、耗水、回用率）。</a:t>
            </a:r>
            <a:endParaRPr lang="zh-CN" sz="1100" dirty="0"/>
          </a:p>
          <a:p>
            <a:endParaRPr sz="1100"/>
          </a:p>
          <a:p>
            <a:r>
              <a:rPr lang="zh-CN" sz="1100" dirty="0"/>
              <a:t>边界求解层得到CAWCC容量曲面和主导瓶颈排序，并进行干预评估与方案建议。</a:t>
            </a:r>
            <a:endParaRPr lang="zh-CN" sz="1100" dirty="0"/>
          </a:p>
          <a:p>
            <a:endParaRPr sz="1100"/>
          </a:p>
          <a:p>
            <a:r>
              <a:rPr lang="zh-CN" sz="1100" dirty="0"/>
              <a:t>底部强调：这一框架形成"数据驱动→模型耦合→情景模拟→边界求解→方案评估"的完整技术路线。</a:t>
            </a:r>
            <a:endParaRPr lang="zh-CN" sz="11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这一页是节点模块与系统网络耦合的全页图。</a:t>
            </a:r>
            <a:endParaRPr lang="zh-CN" sz="1100" dirty="0"/>
          </a:p>
          <a:p>
            <a:endParaRPr sz="1100"/>
          </a:p>
          <a:p>
            <a:r>
              <a:rPr lang="zh-CN" sz="1100" dirty="0"/>
              <a:t>左侧是AI节点水代谢模块，自上而下是：服务需求→IT容量→负载率→IT功率→PUE折算→冷却负荷→补水/排水，每个环节都有对应的参数说明（如用户/业务/模型类型、服务器规模/算力配置、训练/推理/时序特征、设备能耗/热负荷、总能耗与散热量、冷却方式/冷却水需求、取水量/排水量/水质）。</a:t>
            </a:r>
            <a:endParaRPr lang="zh-CN" sz="1100" dirty="0"/>
          </a:p>
          <a:p>
            <a:endParaRPr sz="1100"/>
          </a:p>
          <a:p>
            <a:r>
              <a:rPr lang="zh-CN" sz="1100" dirty="0"/>
              <a:t>右侧是城市人工水系统全过程的闭环：取水→处理→使用→排放→再生回用，取水含地表水/地下水/外调水，处理含给水厂/再生水厂，使用含居民/工业/AI节点，排放含污水收集与处理，再生回用含再生水回用与补给。补充水源（外调/天然水）作为外部输入。</a:t>
            </a:r>
            <a:endParaRPr lang="zh-CN" sz="1100" dirty="0"/>
          </a:p>
          <a:p>
            <a:endParaRPr sz="1100"/>
          </a:p>
          <a:p>
            <a:r>
              <a:rPr lang="zh-CN" sz="1100" dirty="0"/>
              <a:t>中间是耦合接口：通量输入、边界约束、迭代求解，外加情景模拟（不同技术/气候/水源组合）和边界识别（承载能力与关键瓶颈）。</a:t>
            </a:r>
            <a:endParaRPr lang="zh-CN" sz="1100" dirty="0"/>
          </a:p>
          <a:p>
            <a:endParaRPr sz="1100"/>
          </a:p>
          <a:p>
            <a:r>
              <a:rPr lang="zh-CN" sz="1100" dirty="0"/>
              <a:t>底部强调：耦合关键是"节点模块提供通量边界，网络模型提供路径与约束，二者迭代求解直至收敛"。这张图也是整个研究方案最核心的方法论图。</a:t>
            </a:r>
            <a:endParaRPr lang="zh-CN" sz="11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这一页给出实验设计的四组控制实验。</a:t>
            </a:r>
            <a:endParaRPr lang="zh-CN" sz="1100" dirty="0"/>
          </a:p>
          <a:p>
            <a:endParaRPr sz="1100"/>
          </a:p>
          <a:p>
            <a:r>
              <a:rPr lang="zh-CN" sz="1100" dirty="0"/>
              <a:t>实验E1是算力规模梯度实验——改变AI节点算力规模，观察水代谢通量与承载状态的响应梯度。检验假设H1：响应是否显著且呈梯度。</a:t>
            </a:r>
            <a:endParaRPr lang="zh-CN" sz="1100" dirty="0"/>
          </a:p>
          <a:p>
            <a:endParaRPr sz="1100"/>
          </a:p>
          <a:p>
            <a:r>
              <a:rPr lang="zh-CN" sz="1100" dirty="0"/>
              <a:t>实验E2是水源结构对照实验——对比淡水为主与再生水为主的供水结构，观察承载边界差异。检验假设H2：边界是否随水源条件化。</a:t>
            </a:r>
            <a:endParaRPr lang="zh-CN" sz="1100" dirty="0"/>
          </a:p>
          <a:p>
            <a:endParaRPr sz="1100"/>
          </a:p>
          <a:p>
            <a:r>
              <a:rPr lang="zh-CN" sz="1100" dirty="0"/>
              <a:t>实验E3是气象与季节情景实验——改变气温、湿度与季节分布，观察冷却负荷与取水的时序变化。检验假设H1和H2：季节敏感性。</a:t>
            </a:r>
            <a:endParaRPr lang="zh-CN" sz="1100" dirty="0"/>
          </a:p>
          <a:p>
            <a:endParaRPr sz="1100"/>
          </a:p>
          <a:p>
            <a:r>
              <a:rPr lang="zh-CN" sz="1100" dirty="0"/>
              <a:t>实验E4是技术与策略组合实验——组合冷却方式、PUE、浓缩倍数与调度策略，评估干预提升效果。检验假设H3：瓶颈迁移与干预效果。</a:t>
            </a:r>
            <a:endParaRPr lang="zh-CN" sz="1100" dirty="0"/>
          </a:p>
          <a:p>
            <a:endParaRPr sz="1100"/>
          </a:p>
          <a:p>
            <a:r>
              <a:rPr lang="zh-CN" sz="1100" dirty="0"/>
              <a:t>底部强调变量控制原则：每组实验仅改变目标变量，其余条件保持基线不变；结果以相对基线的差值与排序呈现，保证可比性。</a:t>
            </a:r>
            <a:endParaRPr lang="zh-CN" sz="11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这一页给出CAWCC求解思路——容量扫描与干预区间。</a:t>
            </a:r>
            <a:endParaRPr lang="zh-CN" sz="1100" dirty="0"/>
          </a:p>
          <a:p>
            <a:endParaRPr sz="1100"/>
          </a:p>
          <a:p>
            <a:r>
              <a:rPr lang="zh-CN" sz="1100" dirty="0"/>
              <a:t>顶部是三类运行区间：安全区、过渡区、紧张区、受限区。CAWCC定义为安全区与过渡区的分界位置，且随条件组合移动。</a:t>
            </a:r>
            <a:endParaRPr lang="zh-CN" sz="1100" dirty="0"/>
          </a:p>
          <a:p>
            <a:endParaRPr sz="1100"/>
          </a:p>
          <a:p>
            <a:r>
              <a:rPr lang="zh-CN" sz="1100" dirty="0"/>
              <a:t>左侧是条件组合扫描：纵轴是再生水占比（低/中/高），横轴是冷却方式（湿冷/干湿混合/干冷），颜色区分气温情景（凉爽/常态/高温）。容量扫描就是遍历这些组合：固定条件组合→逐步提升算力规模→识别首个越限约束→该约束即为主导瓶颈，对应规模即CAWCC。</a:t>
            </a:r>
            <a:endParaRPr lang="zh-CN" sz="1100" dirty="0"/>
          </a:p>
          <a:p>
            <a:endParaRPr sz="1100"/>
          </a:p>
          <a:p>
            <a:r>
              <a:rPr lang="zh-CN" sz="1100" dirty="0"/>
              <a:t>右侧是三类干预区间：供给侧（再生水替代、多水源调度、蓄水调节）、技术侧（冷却方式改进、PUE优化、浓缩倍数提升）、运行侧（负荷时序调度、回用率提升、排水协同）。</a:t>
            </a:r>
            <a:endParaRPr lang="zh-CN" sz="1100" dirty="0"/>
          </a:p>
          <a:p>
            <a:endParaRPr sz="1100"/>
          </a:p>
          <a:p>
            <a:r>
              <a:rPr lang="zh-CN" sz="1100" dirty="0"/>
              <a:t>底部强调：组合遍历得到随条件变化的CAWCC容量曲面；干预效果以CAWCC提升幅度与瓶颈变化评估。</a:t>
            </a:r>
            <a:endParaRPr lang="zh-CN" sz="1100"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这一页是输出指标与结果可信度。</a:t>
            </a:r>
            <a:endParaRPr lang="zh-CN" sz="1100" dirty="0"/>
          </a:p>
          <a:p>
            <a:endParaRPr sz="1100"/>
          </a:p>
          <a:p>
            <a:r>
              <a:rPr lang="zh-CN" sz="1100" dirty="0"/>
              <a:t>核心输出指标有五个：CAWCC条件化AI水承载容量作为主指标；水代谢通量（取水、排水、回用与消耗的逐时通量）；主导瓶颈（各条件下的首要约束及其排序）；瓶颈迁移路径（随季节与条件变化的瓶颈迁移）；干预提升幅度（不同措施对CAWCC的提升效果）。</a:t>
            </a:r>
            <a:endParaRPr lang="zh-CN" sz="1100" dirty="0"/>
          </a:p>
          <a:p>
            <a:endParaRPr sz="1100"/>
          </a:p>
          <a:p>
            <a:r>
              <a:rPr lang="zh-CN" sz="1100" dirty="0"/>
              <a:t>可信度与不确定性处理分五点：第一，参数来源校验——关键参数以多来源交叉比对，标注取值范围而非单点值；第二，敏感性分析——对关键参数做敏感性分析，识别对结论影响最大的因素；第三，情景边界清晰——明确说明假设与适用边界，避免超出数据支撑外推；第四，结果稳健性讨论——主指标结论同时给出容量与瓶颈，避免只有阈值无解释；第五，结论以相对变化与排序为主，降低绝对值不确定性影响。</a:t>
            </a:r>
            <a:endParaRPr lang="zh-CN" sz="11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这是Part Five的封面页，主题是"研究基础、进度与预期成果"。</a:t>
            </a:r>
            <a:endParaRPr lang="zh-CN" sz="1100" dirty="0"/>
          </a:p>
          <a:p>
            <a:endParaRPr sz="1100"/>
          </a:p>
          <a:p>
            <a:r>
              <a:rPr lang="zh-CN" sz="1100" dirty="0"/>
              <a:t>研究基础包括已有数据、方法与前期工作积累。进度安排给出五个阶段的时间节点与里程碑。预期成果包括论文、指标方法与政策建议。</a:t>
            </a:r>
            <a:endParaRPr lang="zh-CN" sz="1100" dirty="0"/>
          </a:p>
          <a:p>
            <a:endParaRPr sz="1100"/>
          </a:p>
          <a:p>
            <a:r>
              <a:rPr lang="zh-CN" sz="1100" dirty="0"/>
              <a:t>接下来我用两张幻灯片分别说明研究基础与进度、预期成果与风险应对。</a:t>
            </a:r>
            <a:endParaRPr lang="zh-CN" sz="1100"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这一页给出研究基础与进度安排。</a:t>
            </a:r>
            <a:endParaRPr lang="zh-CN" sz="1100" dirty="0"/>
          </a:p>
          <a:p>
            <a:endParaRPr sz="1100"/>
          </a:p>
          <a:p>
            <a:r>
              <a:rPr lang="zh-CN" sz="1100" dirty="0"/>
              <a:t>研究基础分四类：文献与数据积累——已系统梳理算力水足迹、城市水代谢与优化配置相关文献与公开数据；方法储备——掌握水系统建模、情景模拟与敏感性分析的基本方法；前期工作——已完成问题界定、概念框架与部分参数的初步整理；条件保障——依托课题组已有数据与计算环境，可支撑模型构建与实验。</a:t>
            </a:r>
            <a:endParaRPr lang="zh-CN" sz="1100" dirty="0"/>
          </a:p>
          <a:p>
            <a:endParaRPr sz="1100"/>
          </a:p>
          <a:p>
            <a:r>
              <a:rPr lang="zh-CN" sz="1100" dirty="0"/>
              <a:t>进度安排分五个阶段。第一阶段是2026年9月至2026年11月，文献调研与数据整理，完成数据收集、参数梳理与模型框架确定。第二阶段是2026年11月至2027年1月，模型构建与耦合，完成节点模块与系统网络模型的构建与校核。第三阶段是2027年1月至2027年5月，情景实验与求解，完成四组控制实验与CAWCC容量曲面求解。第四阶段是2027年5月至2027年9月，瓶颈识别与验证，完成主导瓶颈识别、干预评估与结果验证。第五阶段是2027年9月至2028年4月，论文撰写与答辩，完成学位论文撰写、修改与答辩准备。</a:t>
            </a:r>
            <a:endParaRPr lang="zh-CN" sz="1100"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这一页给出预期成果、创新点与风险应对。</a:t>
            </a:r>
            <a:endParaRPr lang="zh-CN" sz="1100" dirty="0"/>
          </a:p>
          <a:p>
            <a:endParaRPr sz="1100"/>
          </a:p>
          <a:p>
            <a:r>
              <a:rPr lang="zh-CN" sz="1100" dirty="0"/>
              <a:t>预期成果分三类：学位论文——完成硕士学位论文1篇；模型与指标——城市水代谢耦合模型与CAWCC指标方法；学术论文——争取发表学术论文1-2篇；决策支撑——形成承载判定与干预优先级的建议。</a:t>
            </a:r>
            <a:endParaRPr lang="zh-CN" sz="1100" dirty="0"/>
          </a:p>
          <a:p>
            <a:endParaRPr sz="1100"/>
          </a:p>
          <a:p>
            <a:r>
              <a:rPr lang="zh-CN" sz="1100" dirty="0"/>
              <a:t>创新点分三类。创新一：视角创新——把AI算力节点作为城市水系统的新增负荷类型纳入统一框架。创新二：方法创新——提出条件化承载指标CAWCC，以容量曲面替代单值阈值。创新三：应用创新——输出主导瓶颈排序与干预优先级，直接服务规划与运行决策。</a:t>
            </a:r>
            <a:endParaRPr lang="zh-CN" sz="1100" dirty="0"/>
          </a:p>
          <a:p>
            <a:endParaRPr sz="1100"/>
          </a:p>
          <a:p>
            <a:r>
              <a:rPr lang="zh-CN" sz="1100" dirty="0"/>
              <a:t>风险与应对有三类。风险一：数据可得性不足——以公开数据与文献参数替代，并做敏感性分析说明影响。风险二：模型复杂度偏高——采用模块化建模，先主链后细节，逐步增加复杂度。风险三：结论不确定性——以相对变化与排序为主，明确适用边界与假设条件。</a:t>
            </a:r>
            <a:endParaRPr lang="zh-CN" sz="1100"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zh-CN" sz="1100" dirty="0"/>
              <a:t>最后一张是结束页，标题"汇报完毕，恳请各位老师批评指正"，并附上姓名、导师、研究题目与院系信息。</a:t>
            </a:r>
            <a:endParaRPr lang="zh-CN" sz="1100" dirty="0"/>
          </a:p>
          <a:p>
            <a:endParaRPr sz="1100"/>
          </a:p>
          <a:p>
            <a:r>
              <a:rPr lang="zh-CN" sz="1100" dirty="0"/>
              <a:t>以上就是我的开题汇报，主要回答了三个核心问题：第一，AI算力扩张为什么是城市水系统的新增结构性压力；第二，为什么要用CAWCC这一条件化承载容量指标替代传统的年均评价；第三，如何通过控制实验和敏感性分析给出可比较的主导瓶颈排序与干预建议。</a:t>
            </a:r>
            <a:endParaRPr lang="zh-CN" sz="1100" dirty="0"/>
          </a:p>
          <a:p>
            <a:endParaRPr sz="1100"/>
          </a:p>
          <a:p>
            <a:r>
              <a:rPr lang="zh-CN" sz="1100" dirty="0"/>
              <a:t>请各位老师针对研究问题的科学性、技术路线的可行性、CAWCC指标的可计算性，以及研究边界的合理性提出宝贵意见。汇报完毕，谢谢各位老师。</a:t>
            </a:r>
            <a:endParaRPr lang="zh-CN" sz="11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7" name=""/>
        <p:cNvGrpSpPr/>
        <p:nvPr/>
      </p:nvGrpSpPr>
      <p:grpSpPr>
        <a:xfrm>
          <a:off x="0" y="0"/>
          <a:ext cx="0" cy="0"/>
          <a:chOff x="0" y="0"/>
          <a:chExt cx="0" cy="0"/>
        </a:xfrm>
      </p:grpSpPr>
      <p:sp>
        <p:nvSpPr>
          <p:cNvPr id="8" name="标题 1"/>
          <p:cNvSpPr>
            <a:spLocks noGrp="1"/>
          </p:cNvSpPr>
          <p:nvPr>
            <p:ph type="title"/>
          </p:nvPr>
        </p:nvSpPr>
        <p:spPr/>
        <p:txBody>
          <a:bodyPr/>
          <a:lstStyle/>
          <a:p>
            <a:r>
              <a:rPr lang="zh-CN" altLang="en-US"/>
              <a:t>单击此处编辑母版标题样式</a:t>
            </a:r>
            <a:endParaRPr lang="zh-CN" altLang="en-US"/>
          </a:p>
        </p:txBody>
      </p:sp>
      <p:sp>
        <p:nvSpPr>
          <p:cNvPr id="9"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 name="日期占位符 3"/>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11" name="页脚占位符 4"/>
          <p:cNvSpPr>
            <a:spLocks noGrp="1"/>
          </p:cNvSpPr>
          <p:nvPr>
            <p:ph type="ftr" sz="quarter" idx="11"/>
          </p:nvPr>
        </p:nvSpPr>
        <p:spPr/>
        <p:txBody>
          <a:bodyPr/>
          <a:lstStyle/>
          <a:p>
            <a:endParaRPr lang="zh-CN" altLang="en-US"/>
          </a:p>
        </p:txBody>
      </p:sp>
      <p:sp>
        <p:nvSpPr>
          <p:cNvPr id="12" name="灯片编号占位符 5"/>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节标题">
    <p:spTree>
      <p:nvGrpSpPr>
        <p:cNvPr id="19" name=""/>
        <p:cNvGrpSpPr/>
        <p:nvPr/>
      </p:nvGrpSpPr>
      <p:grpSpPr>
        <a:xfrm>
          <a:off x="0" y="0"/>
          <a:ext cx="0" cy="0"/>
          <a:chOff x="0" y="0"/>
          <a:chExt cx="0" cy="0"/>
        </a:xfrm>
      </p:grpSpPr>
      <p:sp>
        <p:nvSpPr>
          <p:cNvPr id="20"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21"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22" name="日期占位符 3"/>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23" name="页脚占位符 4"/>
          <p:cNvSpPr>
            <a:spLocks noGrp="1"/>
          </p:cNvSpPr>
          <p:nvPr>
            <p:ph type="ftr" sz="quarter" idx="11"/>
          </p:nvPr>
        </p:nvSpPr>
        <p:spPr/>
        <p:txBody>
          <a:bodyPr/>
          <a:lstStyle/>
          <a:p>
            <a:endParaRPr lang="zh-CN" altLang="en-US"/>
          </a:p>
        </p:txBody>
      </p:sp>
      <p:sp>
        <p:nvSpPr>
          <p:cNvPr id="24" name="灯片编号占位符 5"/>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两栏内容">
    <p:spTree>
      <p:nvGrpSpPr>
        <p:cNvPr id="25" name=""/>
        <p:cNvGrpSpPr/>
        <p:nvPr/>
      </p:nvGrpSpPr>
      <p:grpSpPr>
        <a:xfrm>
          <a:off x="0" y="0"/>
          <a:ext cx="0" cy="0"/>
          <a:chOff x="0" y="0"/>
          <a:chExt cx="0" cy="0"/>
        </a:xfrm>
      </p:grpSpPr>
      <p:sp>
        <p:nvSpPr>
          <p:cNvPr id="26" name="标题 1"/>
          <p:cNvSpPr>
            <a:spLocks noGrp="1"/>
          </p:cNvSpPr>
          <p:nvPr>
            <p:ph type="title"/>
          </p:nvPr>
        </p:nvSpPr>
        <p:spPr/>
        <p:txBody>
          <a:bodyPr/>
          <a:lstStyle/>
          <a:p>
            <a:r>
              <a:rPr lang="zh-CN" altLang="en-US"/>
              <a:t>单击此处编辑母版标题样式</a:t>
            </a:r>
            <a:endParaRPr lang="zh-CN" altLang="en-US"/>
          </a:p>
        </p:txBody>
      </p:sp>
      <p:sp>
        <p:nvSpPr>
          <p:cNvPr id="27"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8"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9" name="日期占位符 4"/>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30" name="页脚占位符 5"/>
          <p:cNvSpPr>
            <a:spLocks noGrp="1"/>
          </p:cNvSpPr>
          <p:nvPr>
            <p:ph type="ftr" sz="quarter" idx="11"/>
          </p:nvPr>
        </p:nvSpPr>
        <p:spPr/>
        <p:txBody>
          <a:bodyPr/>
          <a:lstStyle/>
          <a:p>
            <a:endParaRPr lang="zh-CN" altLang="en-US"/>
          </a:p>
        </p:txBody>
      </p:sp>
      <p:sp>
        <p:nvSpPr>
          <p:cNvPr id="31" name="灯片编号占位符 6"/>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比较">
    <p:spTree>
      <p:nvGrpSpPr>
        <p:cNvPr id="32" name=""/>
        <p:cNvGrpSpPr/>
        <p:nvPr/>
      </p:nvGrpSpPr>
      <p:grpSpPr>
        <a:xfrm>
          <a:off x="0" y="0"/>
          <a:ext cx="0" cy="0"/>
          <a:chOff x="0" y="0"/>
          <a:chExt cx="0" cy="0"/>
        </a:xfrm>
      </p:grpSpPr>
      <p:sp>
        <p:nvSpPr>
          <p:cNvPr id="33"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4"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35"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6"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37"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8" name="日期占位符 6"/>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39" name="页脚占位符 7"/>
          <p:cNvSpPr>
            <a:spLocks noGrp="1"/>
          </p:cNvSpPr>
          <p:nvPr>
            <p:ph type="ftr" sz="quarter" idx="11"/>
          </p:nvPr>
        </p:nvSpPr>
        <p:spPr/>
        <p:txBody>
          <a:bodyPr/>
          <a:lstStyle/>
          <a:p>
            <a:endParaRPr lang="zh-CN" altLang="en-US"/>
          </a:p>
        </p:txBody>
      </p:sp>
      <p:sp>
        <p:nvSpPr>
          <p:cNvPr id="40" name="灯片编号占位符 8"/>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41" name=""/>
        <p:cNvGrpSpPr/>
        <p:nvPr/>
      </p:nvGrpSpPr>
      <p:grpSpPr>
        <a:xfrm>
          <a:off x="0" y="0"/>
          <a:ext cx="0" cy="0"/>
          <a:chOff x="0" y="0"/>
          <a:chExt cx="0" cy="0"/>
        </a:xfrm>
      </p:grpSpPr>
      <p:sp>
        <p:nvSpPr>
          <p:cNvPr id="42" name="标题 1"/>
          <p:cNvSpPr>
            <a:spLocks noGrp="1"/>
          </p:cNvSpPr>
          <p:nvPr>
            <p:ph type="title"/>
          </p:nvPr>
        </p:nvSpPr>
        <p:spPr/>
        <p:txBody>
          <a:bodyPr/>
          <a:lstStyle/>
          <a:p>
            <a:r>
              <a:rPr lang="zh-CN" altLang="en-US"/>
              <a:t>单击此处编辑母版标题样式</a:t>
            </a:r>
            <a:endParaRPr lang="zh-CN" altLang="en-US"/>
          </a:p>
        </p:txBody>
      </p:sp>
      <p:sp>
        <p:nvSpPr>
          <p:cNvPr id="43" name="日期占位符 2"/>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44" name="页脚占位符 3"/>
          <p:cNvSpPr>
            <a:spLocks noGrp="1"/>
          </p:cNvSpPr>
          <p:nvPr>
            <p:ph type="ftr" sz="quarter" idx="11"/>
          </p:nvPr>
        </p:nvSpPr>
        <p:spPr/>
        <p:txBody>
          <a:bodyPr/>
          <a:lstStyle/>
          <a:p>
            <a:endParaRPr lang="zh-CN" altLang="en-US"/>
          </a:p>
        </p:txBody>
      </p:sp>
      <p:sp>
        <p:nvSpPr>
          <p:cNvPr id="45" name="灯片编号占位符 4"/>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46" name=""/>
        <p:cNvGrpSpPr/>
        <p:nvPr/>
      </p:nvGrpSpPr>
      <p:grpSpPr>
        <a:xfrm>
          <a:off x="0" y="0"/>
          <a:ext cx="0" cy="0"/>
          <a:chOff x="0" y="0"/>
          <a:chExt cx="0" cy="0"/>
        </a:xfrm>
      </p:grpSpPr>
      <p:sp>
        <p:nvSpPr>
          <p:cNvPr id="47" name="日期占位符 1"/>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48" name="页脚占位符 2"/>
          <p:cNvSpPr>
            <a:spLocks noGrp="1"/>
          </p:cNvSpPr>
          <p:nvPr>
            <p:ph type="ftr" sz="quarter" idx="11"/>
          </p:nvPr>
        </p:nvSpPr>
        <p:spPr/>
        <p:txBody>
          <a:bodyPr/>
          <a:lstStyle/>
          <a:p>
            <a:endParaRPr lang="zh-CN" altLang="en-US"/>
          </a:p>
        </p:txBody>
      </p:sp>
      <p:sp>
        <p:nvSpPr>
          <p:cNvPr id="49" name="灯片编号占位符 3"/>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内容与标题">
    <p:spTree>
      <p:nvGrpSpPr>
        <p:cNvPr id="50" name=""/>
        <p:cNvGrpSpPr/>
        <p:nvPr/>
      </p:nvGrpSpPr>
      <p:grpSpPr>
        <a:xfrm>
          <a:off x="0" y="0"/>
          <a:ext cx="0" cy="0"/>
          <a:chOff x="0" y="0"/>
          <a:chExt cx="0" cy="0"/>
        </a:xfrm>
      </p:grpSpPr>
      <p:sp>
        <p:nvSpPr>
          <p:cNvPr id="51"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52"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3"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4" name="日期占位符 4"/>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55" name="页脚占位符 5"/>
          <p:cNvSpPr>
            <a:spLocks noGrp="1"/>
          </p:cNvSpPr>
          <p:nvPr>
            <p:ph type="ftr" sz="quarter" idx="11"/>
          </p:nvPr>
        </p:nvSpPr>
        <p:spPr/>
        <p:txBody>
          <a:bodyPr/>
          <a:lstStyle/>
          <a:p>
            <a:endParaRPr lang="zh-CN" altLang="en-US"/>
          </a:p>
        </p:txBody>
      </p:sp>
      <p:sp>
        <p:nvSpPr>
          <p:cNvPr id="56" name="灯片编号占位符 6"/>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57" name=""/>
        <p:cNvGrpSpPr/>
        <p:nvPr/>
      </p:nvGrpSpPr>
      <p:grpSpPr>
        <a:xfrm>
          <a:off x="0" y="0"/>
          <a:ext cx="0" cy="0"/>
          <a:chOff x="0" y="0"/>
          <a:chExt cx="0" cy="0"/>
        </a:xfrm>
      </p:grpSpPr>
      <p:sp>
        <p:nvSpPr>
          <p:cNvPr id="58"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59"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60"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61" name="日期占位符 4"/>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62" name="页脚占位符 5"/>
          <p:cNvSpPr>
            <a:spLocks noGrp="1"/>
          </p:cNvSpPr>
          <p:nvPr>
            <p:ph type="ftr" sz="quarter" idx="11"/>
          </p:nvPr>
        </p:nvSpPr>
        <p:spPr/>
        <p:txBody>
          <a:bodyPr/>
          <a:lstStyle/>
          <a:p>
            <a:endParaRPr lang="zh-CN" altLang="en-US"/>
          </a:p>
        </p:txBody>
      </p:sp>
      <p:sp>
        <p:nvSpPr>
          <p:cNvPr id="63" name="灯片编号占位符 6"/>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标题和竖排文字">
    <p:spTree>
      <p:nvGrpSpPr>
        <p:cNvPr id="64" name=""/>
        <p:cNvGrpSpPr/>
        <p:nvPr/>
      </p:nvGrpSpPr>
      <p:grpSpPr>
        <a:xfrm>
          <a:off x="0" y="0"/>
          <a:ext cx="0" cy="0"/>
          <a:chOff x="0" y="0"/>
          <a:chExt cx="0" cy="0"/>
        </a:xfrm>
      </p:grpSpPr>
      <p:sp>
        <p:nvSpPr>
          <p:cNvPr id="65" name="标题 1"/>
          <p:cNvSpPr>
            <a:spLocks noGrp="1"/>
          </p:cNvSpPr>
          <p:nvPr>
            <p:ph type="title"/>
          </p:nvPr>
        </p:nvSpPr>
        <p:spPr/>
        <p:txBody>
          <a:bodyPr/>
          <a:lstStyle/>
          <a:p>
            <a:r>
              <a:rPr lang="zh-CN" altLang="en-US"/>
              <a:t>单击此处编辑母版标题样式</a:t>
            </a:r>
            <a:endParaRPr lang="zh-CN" altLang="en-US"/>
          </a:p>
        </p:txBody>
      </p:sp>
      <p:sp>
        <p:nvSpPr>
          <p:cNvPr id="66"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7" name="日期占位符 3"/>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68" name="页脚占位符 4"/>
          <p:cNvSpPr>
            <a:spLocks noGrp="1"/>
          </p:cNvSpPr>
          <p:nvPr>
            <p:ph type="ftr" sz="quarter" idx="11"/>
          </p:nvPr>
        </p:nvSpPr>
        <p:spPr/>
        <p:txBody>
          <a:bodyPr/>
          <a:lstStyle/>
          <a:p>
            <a:endParaRPr lang="zh-CN" altLang="en-US"/>
          </a:p>
        </p:txBody>
      </p:sp>
      <p:sp>
        <p:nvSpPr>
          <p:cNvPr id="69" name="灯片编号占位符 5"/>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竖排标题与文本">
    <p:spTree>
      <p:nvGrpSpPr>
        <p:cNvPr id="13" name=""/>
        <p:cNvGrpSpPr/>
        <p:nvPr/>
      </p:nvGrpSpPr>
      <p:grpSpPr>
        <a:xfrm>
          <a:off x="0" y="0"/>
          <a:ext cx="0" cy="0"/>
          <a:chOff x="0" y="0"/>
          <a:chExt cx="0" cy="0"/>
        </a:xfrm>
      </p:grpSpPr>
      <p:sp>
        <p:nvSpPr>
          <p:cNvPr id="14"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15"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6" name="日期占位符 3"/>
          <p:cNvSpPr>
            <a:spLocks noGrp="1"/>
          </p:cNvSpPr>
          <p:nvPr>
            <p:ph type="dt" sz="half" idx="10"/>
          </p:nvPr>
        </p:nvSpPr>
        <p:spPr/>
        <p:txBody>
          <a:bodyPr/>
          <a:lstStyle/>
          <a:p>
            <a:fld id="{0818D650-3A15-443A-B878-38CFEB8982A3}" type="datetimeFigureOut">
              <a:rPr lang="zh-CN" altLang="en-US" smtClean="0"/>
            </a:fld>
            <a:endParaRPr lang="zh-CN" altLang="en-US"/>
          </a:p>
        </p:txBody>
      </p:sp>
      <p:sp>
        <p:nvSpPr>
          <p:cNvPr id="17" name="页脚占位符 4"/>
          <p:cNvSpPr>
            <a:spLocks noGrp="1"/>
          </p:cNvSpPr>
          <p:nvPr>
            <p:ph type="ftr" sz="quarter" idx="11"/>
          </p:nvPr>
        </p:nvSpPr>
        <p:spPr/>
        <p:txBody>
          <a:bodyPr/>
          <a:lstStyle/>
          <a:p>
            <a:endParaRPr lang="zh-CN" altLang="en-US"/>
          </a:p>
        </p:txBody>
      </p:sp>
      <p:sp>
        <p:nvSpPr>
          <p:cNvPr id="18" name="灯片编号占位符 5"/>
          <p:cNvSpPr>
            <a:spLocks noGrp="1"/>
          </p:cNvSpPr>
          <p:nvPr>
            <p:ph type="sldNum" sz="quarter" idx="12"/>
          </p:nvPr>
        </p:nvSpPr>
        <p:spPr/>
        <p:txBody>
          <a:bodyPr/>
          <a:lstStyle/>
          <a:p>
            <a:fld id="{CCEF223B-53FA-448A-B05D-AD632DCD3405}"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18D650-3A15-443A-B878-38CFEB8982A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EF223B-53FA-448A-B05D-AD632DCD340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7" Type="http://schemas.openxmlformats.org/officeDocument/2006/relationships/notesSlide" Target="../notesSlides/notesSlide14.xml"/><Relationship Id="rId16" Type="http://schemas.openxmlformats.org/officeDocument/2006/relationships/slideLayout" Target="../slideLayouts/slideLayout2.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6" Type="http://schemas.openxmlformats.org/officeDocument/2006/relationships/notesSlide" Target="../notesSlides/notesSlide23.xml"/><Relationship Id="rId25" Type="http://schemas.openxmlformats.org/officeDocument/2006/relationships/slideLayout" Target="../slideLayouts/slideLayout2.xml"/><Relationship Id="rId24" Type="http://schemas.openxmlformats.org/officeDocument/2006/relationships/tags" Target="../tags/tag39.xml"/><Relationship Id="rId23" Type="http://schemas.openxmlformats.org/officeDocument/2006/relationships/tags" Target="../tags/tag38.xml"/><Relationship Id="rId22" Type="http://schemas.openxmlformats.org/officeDocument/2006/relationships/tags" Target="../tags/tag37.xml"/><Relationship Id="rId21" Type="http://schemas.openxmlformats.org/officeDocument/2006/relationships/tags" Target="../tags/tag36.xml"/><Relationship Id="rId20" Type="http://schemas.openxmlformats.org/officeDocument/2006/relationships/tags" Target="../tags/tag35.xml"/><Relationship Id="rId2" Type="http://schemas.openxmlformats.org/officeDocument/2006/relationships/tags" Target="../tags/tag17.xml"/><Relationship Id="rId19" Type="http://schemas.openxmlformats.org/officeDocument/2006/relationships/tags" Target="../tags/tag34.xml"/><Relationship Id="rId18" Type="http://schemas.openxmlformats.org/officeDocument/2006/relationships/tags" Target="../tags/tag33.xml"/><Relationship Id="rId17" Type="http://schemas.openxmlformats.org/officeDocument/2006/relationships/tags" Target="../tags/tag32.xml"/><Relationship Id="rId16" Type="http://schemas.openxmlformats.org/officeDocument/2006/relationships/tags" Target="../tags/tag31.xml"/><Relationship Id="rId15" Type="http://schemas.openxmlformats.org/officeDocument/2006/relationships/tags" Target="../tags/tag30.xml"/><Relationship Id="rId14" Type="http://schemas.openxmlformats.org/officeDocument/2006/relationships/tags" Target="../tags/tag29.xml"/><Relationship Id="rId13" Type="http://schemas.openxmlformats.org/officeDocument/2006/relationships/tags" Target="../tags/tag28.xml"/><Relationship Id="rId12" Type="http://schemas.openxmlformats.org/officeDocument/2006/relationships/tags" Target="../tags/tag27.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tags" Target="../tags/tag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2"/>
          <p:cNvPicPr>
            <a:picLocks noChangeAspect="1"/>
          </p:cNvPicPr>
          <p:nvPr/>
        </p:nvPicPr>
        <p:blipFill>
          <a:blip r:embed="rId1"/>
          <a:stretch>
            <a:fillRect/>
          </a:stretch>
        </p:blipFill>
        <p:spPr>
          <a:xfrm>
            <a:off x="2879282" y="3602075"/>
            <a:ext cx="6287881" cy="2749276"/>
          </a:xfrm>
          <a:prstGeom prst="rect">
            <a:avLst/>
          </a:prstGeom>
        </p:spPr>
      </p:pic>
      <p:sp>
        <p:nvSpPr>
          <p:cNvPr id="3" name="矩形 3"/>
          <p:cNvSpPr/>
          <p:nvPr/>
        </p:nvSpPr>
        <p:spPr>
          <a:xfrm>
            <a:off x="3" y="6296878"/>
            <a:ext cx="12191999" cy="561122"/>
          </a:xfrm>
          <a:prstGeom prst="rect">
            <a:avLst/>
          </a:prstGeom>
          <a:solidFill>
            <a:srgbClr val="005375"/>
          </a:solidFill>
          <a:ln>
            <a:solidFill>
              <a:srgbClr val="0053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4"/>
          <p:cNvSpPr/>
          <p:nvPr/>
        </p:nvSpPr>
        <p:spPr>
          <a:xfrm>
            <a:off x="0" y="1348740"/>
            <a:ext cx="12192000" cy="2173605"/>
          </a:xfrm>
          <a:prstGeom prst="rect">
            <a:avLst/>
          </a:prstGeom>
          <a:solidFill>
            <a:srgbClr val="005375"/>
          </a:solidFill>
          <a:ln>
            <a:solidFill>
              <a:srgbClr val="0053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dirty="0">
              <a:latin typeface="微软雅黑" panose="020B0503020204020204" pitchFamily="34" charset="-122"/>
              <a:ea typeface="微软雅黑" panose="020B0503020204020204" pitchFamily="34" charset="-122"/>
            </a:endParaRPr>
          </a:p>
        </p:txBody>
      </p:sp>
      <p:cxnSp>
        <p:nvCxnSpPr>
          <p:cNvPr id="5" name="直接连接符 5"/>
          <p:cNvCxnSpPr/>
          <p:nvPr/>
        </p:nvCxnSpPr>
        <p:spPr>
          <a:xfrm flipH="1">
            <a:off x="6" y="672215"/>
            <a:ext cx="11174288" cy="0"/>
          </a:xfrm>
          <a:prstGeom prst="line">
            <a:avLst/>
          </a:prstGeom>
          <a:ln w="25400">
            <a:solidFill>
              <a:srgbClr val="005375"/>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ctrTitle"/>
          </p:nvPr>
        </p:nvSpPr>
        <p:spPr>
          <a:xfrm>
            <a:off x="495300" y="960120"/>
            <a:ext cx="11201400" cy="1783080"/>
          </a:xfrm>
        </p:spPr>
        <p:txBody>
          <a:bodyPr/>
          <a:lstStyle/>
          <a:p>
            <a:r>
              <a:rPr lang="zh-CN" altLang="en-US" sz="3000" b="1" i="0">
                <a:solidFill>
                  <a:srgbClr val="FFFFFF"/>
                </a:solidFill>
                <a:latin typeface="微软雅黑" panose="020B0503020204020204" pitchFamily="34" charset="-122"/>
                <a:ea typeface="微软雅黑" panose="020B0503020204020204" pitchFamily="34" charset="-122"/>
              </a:rPr>
              <a:t>AI 算力基础设施驱动下</a:t>
            </a:r>
            <a:endParaRPr lang="zh-CN" altLang="en-US" sz="3000" b="1" i="0">
              <a:solidFill>
                <a:srgbClr val="FFFFFF"/>
              </a:solidFill>
              <a:latin typeface="微软雅黑" panose="020B0503020204020204" pitchFamily="34" charset="-122"/>
              <a:ea typeface="微软雅黑" panose="020B0503020204020204" pitchFamily="34" charset="-122"/>
            </a:endParaRPr>
          </a:p>
          <a:p>
            <a:pPr>
              <a:lnSpc>
                <a:spcPct val="105000"/>
              </a:lnSpc>
            </a:pPr>
            <a:r>
              <a:rPr lang="zh-CN" altLang="en-US" sz="3000" b="1" i="0">
                <a:solidFill>
                  <a:srgbClr val="FFFFFF"/>
                </a:solidFill>
                <a:latin typeface="微软雅黑" panose="020B0503020204020204" pitchFamily="34" charset="-122"/>
                <a:ea typeface="微软雅黑" panose="020B0503020204020204" pitchFamily="34" charset="-122"/>
              </a:rPr>
              <a:t>城市人工水系统代谢响应与条件化承载边界的系统模拟研究</a:t>
            </a:r>
            <a:endParaRPr lang="zh-CN" altLang="en-US" sz="3000" b="1" i="0">
              <a:solidFill>
                <a:srgbClr val="FFFFFF"/>
              </a:solidFill>
              <a:latin typeface="微软雅黑" panose="020B0503020204020204" pitchFamily="34" charset="-122"/>
              <a:ea typeface="微软雅黑" panose="020B0503020204020204" pitchFamily="34" charset="-122"/>
            </a:endParaRPr>
          </a:p>
        </p:txBody>
      </p:sp>
      <p:sp>
        <p:nvSpPr>
          <p:cNvPr id="7" name="副标题 2"/>
          <p:cNvSpPr>
            <a:spLocks noGrp="1"/>
          </p:cNvSpPr>
          <p:nvPr>
            <p:ph type="subTitle" idx="1"/>
          </p:nvPr>
        </p:nvSpPr>
        <p:spPr>
          <a:xfrm>
            <a:off x="482600" y="3944938"/>
            <a:ext cx="11214100" cy="680402"/>
          </a:xfrm>
        </p:spPr>
        <p:txBody>
          <a:bodyPr>
            <a:normAutofit/>
          </a:bodyPr>
          <a:lstStyle/>
          <a:p>
            <a:r>
              <a:rPr lang="zh-CN" altLang="en-US" sz="2000" b="1" i="0">
                <a:solidFill>
                  <a:srgbClr val="005376"/>
                </a:solidFill>
                <a:latin typeface="微软雅黑" panose="020B0503020204020204" pitchFamily="34" charset="-122"/>
                <a:ea typeface="微软雅黑" panose="020B0503020204020204" pitchFamily="34" charset="-122"/>
              </a:rPr>
              <a:t>姓名：邵敬哲      导师：白舜文</a:t>
            </a:r>
            <a:endParaRPr lang="zh-CN" altLang="en-US" sz="2000" b="1" i="0">
              <a:solidFill>
                <a:srgbClr val="005376"/>
              </a:solidFill>
              <a:latin typeface="微软雅黑" panose="020B0503020204020204" pitchFamily="34" charset="-122"/>
              <a:ea typeface="微软雅黑" panose="020B0503020204020204" pitchFamily="34" charset="-122"/>
            </a:endParaRPr>
          </a:p>
        </p:txBody>
      </p:sp>
      <p:sp>
        <p:nvSpPr>
          <p:cNvPr id="8" name="副标题 2"/>
          <p:cNvSpPr txBox="1"/>
          <p:nvPr/>
        </p:nvSpPr>
        <p:spPr>
          <a:xfrm>
            <a:off x="495300" y="4633496"/>
            <a:ext cx="11214100" cy="680402"/>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1600" b="0" i="0">
                <a:solidFill>
                  <a:srgbClr val="005376"/>
                </a:solidFill>
                <a:latin typeface="微软雅黑" panose="020B0503020204020204" pitchFamily="34" charset="-122"/>
                <a:ea typeface="微软雅黑" panose="020B0503020204020204" pitchFamily="34" charset="-122"/>
              </a:rPr>
              <a:t>哈尔滨工业大学 · 环境学院  </a:t>
            </a:r>
            <a:endParaRPr lang="zh-CN" altLang="en-US" sz="1600" b="0" i="0">
              <a:solidFill>
                <a:srgbClr val="005376"/>
              </a:solidFill>
              <a:latin typeface="微软雅黑" panose="020B0503020204020204" pitchFamily="34" charset="-122"/>
              <a:ea typeface="微软雅黑" panose="020B0503020204020204" pitchFamily="34" charset="-122"/>
            </a:endParaRPr>
          </a:p>
          <a:p>
            <a:r>
              <a:rPr lang="zh-CN" altLang="en-US" sz="1600" b="0" i="0">
                <a:solidFill>
                  <a:srgbClr val="005376"/>
                </a:solidFill>
                <a:latin typeface="微软雅黑" panose="020B0503020204020204" pitchFamily="34" charset="-122"/>
                <a:ea typeface="微软雅黑" panose="020B0503020204020204" pitchFamily="34" charset="-122"/>
              </a:rPr>
              <a:t>2026.09</a:t>
            </a:r>
            <a:endParaRPr lang="zh-CN" altLang="en-US" sz="1600" b="0" i="0">
              <a:solidFill>
                <a:srgbClr val="005376"/>
              </a:solidFill>
              <a:latin typeface="微软雅黑" panose="020B0503020204020204" pitchFamily="34" charset="-122"/>
              <a:ea typeface="微软雅黑" panose="020B0503020204020204" pitchFamily="34" charset="-122"/>
            </a:endParaRPr>
          </a:p>
        </p:txBody>
      </p:sp>
      <p:sp>
        <p:nvSpPr>
          <p:cNvPr id="9" name="文本框 9"/>
          <p:cNvSpPr txBox="1"/>
          <p:nvPr/>
        </p:nvSpPr>
        <p:spPr>
          <a:xfrm>
            <a:off x="0" y="254934"/>
            <a:ext cx="4119880" cy="398780"/>
          </a:xfrm>
          <a:prstGeom prst="rect">
            <a:avLst/>
          </a:prstGeom>
          <a:noFill/>
        </p:spPr>
        <p:txBody>
          <a:bodyPr wrap="none" rtlCol="0">
            <a:spAutoFit/>
          </a:bodyPr>
          <a:lstStyle/>
          <a:p>
            <a:r>
              <a:rPr lang="zh-CN" altLang="en-US" sz="1600" b="1" i="0">
                <a:solidFill>
                  <a:srgbClr val="000000"/>
                </a:solidFill>
                <a:latin typeface="微软雅黑" panose="020B0503020204020204" pitchFamily="34" charset="-122"/>
                <a:ea typeface="微软雅黑" panose="020B0503020204020204" pitchFamily="34" charset="-122"/>
              </a:rPr>
              <a:t>硕士学位开题报告</a:t>
            </a:r>
            <a:endParaRPr lang="zh-CN" altLang="en-US" sz="1600" b="1" i="0">
              <a:solidFill>
                <a:srgbClr val="000000"/>
              </a:solidFill>
              <a:latin typeface="微软雅黑" panose="020B0503020204020204" pitchFamily="34" charset="-122"/>
              <a:ea typeface="微软雅黑" panose="020B0503020204020204" pitchFamily="34" charset="-122"/>
            </a:endParaRPr>
          </a:p>
        </p:txBody>
      </p:sp>
      <p:pic>
        <p:nvPicPr>
          <p:cNvPr id="10" name="图片 13"/>
          <p:cNvPicPr>
            <a:picLocks noChangeAspect="1"/>
          </p:cNvPicPr>
          <p:nvPr/>
        </p:nvPicPr>
        <p:blipFill>
          <a:blip r:embed="rId2" cstate="print"/>
          <a:stretch>
            <a:fillRect/>
          </a:stretch>
        </p:blipFill>
        <p:spPr>
          <a:xfrm>
            <a:off x="11148710" y="228600"/>
            <a:ext cx="1061070" cy="463936"/>
          </a:xfrm>
          <a:prstGeom prst="rect">
            <a:avLst/>
          </a:prstGeom>
        </p:spPr>
      </p:pic>
      <p:pic>
        <p:nvPicPr>
          <p:cNvPr id="11" name="图片 1"/>
          <p:cNvPicPr>
            <a:picLocks noChangeAspect="1"/>
          </p:cNvPicPr>
          <p:nvPr/>
        </p:nvPicPr>
        <p:blipFill>
          <a:blip r:embed="rId3" cstate="print"/>
          <a:stretch>
            <a:fillRect/>
          </a:stretch>
        </p:blipFill>
        <p:spPr>
          <a:xfrm>
            <a:off x="240314" y="6415212"/>
            <a:ext cx="1655733" cy="324128"/>
          </a:xfrm>
          <a:prstGeom prst="rect">
            <a:avLst/>
          </a:prstGeom>
        </p:spPr>
      </p:pic>
      <p:sp>
        <p:nvSpPr>
          <p:cNvPr id="12" name="TextBox 14"/>
          <p:cNvSpPr txBox="1"/>
          <p:nvPr/>
        </p:nvSpPr>
        <p:spPr>
          <a:xfrm>
            <a:off x="507746" y="2682748"/>
            <a:ext cx="11201400" cy="641985"/>
          </a:xfrm>
          <a:prstGeom prst="rect">
            <a:avLst/>
          </a:prstGeom>
          <a:noFill/>
        </p:spPr>
        <p:txBody>
          <a:bodyPr wrap="square" lIns="27432" tIns="13716" rIns="27432" bIns="13716" anchor="t">
            <a:spAutoFit/>
          </a:bodyPr>
          <a:lstStyle/>
          <a:p>
            <a:pPr algn="ctr">
              <a:lnSpc>
                <a:spcPct val="125000"/>
              </a:lnSpc>
            </a:pPr>
            <a:r>
              <a:rPr lang="zh-CN" altLang="en-US" sz="1600" b="0" i="0">
                <a:solidFill>
                  <a:srgbClr val="D8E6EC"/>
                </a:solidFill>
                <a:latin typeface="Arial" panose="020B0604020202020204"/>
                <a:ea typeface="Arial" panose="020B0604020202020204"/>
              </a:rPr>
              <a:t>Metabolic Response and Conditional Carrying Boundary of Urban Artificial Water Systems</a:t>
            </a:r>
            <a:r>
              <a:rPr lang="en-US" altLang="zh-CN" sz="1600" b="0" i="0">
                <a:solidFill>
                  <a:srgbClr val="D8E6EC"/>
                </a:solidFill>
                <a:latin typeface="Arial" panose="020B0604020202020204"/>
                <a:ea typeface="Arial" panose="020B0604020202020204"/>
              </a:rPr>
              <a:t> </a:t>
            </a:r>
            <a:r>
              <a:rPr lang="zh-CN" altLang="en-US" sz="1600" b="0" i="0">
                <a:solidFill>
                  <a:srgbClr val="D8E6EC"/>
                </a:solidFill>
                <a:latin typeface="Arial" panose="020B0604020202020204"/>
                <a:ea typeface="Arial" panose="020B0604020202020204"/>
              </a:rPr>
              <a:t>Driven by AI Computing Infrastructure</a:t>
            </a:r>
            <a:endParaRPr lang="zh-CN" altLang="en-US" sz="1600" b="0" i="0">
              <a:solidFill>
                <a:srgbClr val="D8E6EC"/>
              </a:solidFill>
              <a:latin typeface="Arial" panose="020B0604020202020204"/>
              <a:ea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70" name=""/>
        <p:cNvGrpSpPr/>
        <p:nvPr/>
      </p:nvGrpSpPr>
      <p:grpSpPr>
        <a:xfrm>
          <a:off x="0" y="0"/>
          <a:ext cx="0" cy="0"/>
          <a:chOff x="0" y="0"/>
          <a:chExt cx="0" cy="0"/>
        </a:xfrm>
      </p:grpSpPr>
      <p:sp>
        <p:nvSpPr>
          <p:cNvPr id="271"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汇报框架</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272"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273"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02 / 24</a:t>
            </a:r>
            <a:endParaRPr lang="zh-CN" altLang="en-US" sz="1000" b="1" i="0">
              <a:solidFill>
                <a:srgbClr val="FFFFFF"/>
              </a:solidFill>
              <a:latin typeface="Arial" panose="020B0604020202020204"/>
              <a:ea typeface="Arial" panose="020B0604020202020204"/>
            </a:endParaRPr>
          </a:p>
        </p:txBody>
      </p:sp>
      <p:sp>
        <p:nvSpPr>
          <p:cNvPr id="274" name="cogwheels_376015"/>
          <p:cNvSpPr/>
          <p:nvPr/>
        </p:nvSpPr>
        <p:spPr>
          <a:xfrm>
            <a:off x="968833" y="1415499"/>
            <a:ext cx="4224055" cy="4280147"/>
          </a:xfrm>
          <a:custGeom>
            <a:avLst/>
            <a:gdLst>
              <a:gd name="T0" fmla="*/ 3621 w 6468"/>
              <a:gd name="T1" fmla="*/ 3299 h 6564"/>
              <a:gd name="T2" fmla="*/ 4214 w 6468"/>
              <a:gd name="T3" fmla="*/ 4727 h 6564"/>
              <a:gd name="T4" fmla="*/ 6337 w 6468"/>
              <a:gd name="T5" fmla="*/ 4571 h 6564"/>
              <a:gd name="T6" fmla="*/ 5974 w 6468"/>
              <a:gd name="T7" fmla="*/ 3603 h 6564"/>
              <a:gd name="T8" fmla="*/ 6429 w 6468"/>
              <a:gd name="T9" fmla="*/ 3225 h 6564"/>
              <a:gd name="T10" fmla="*/ 6022 w 6468"/>
              <a:gd name="T11" fmla="*/ 2697 h 6564"/>
              <a:gd name="T12" fmla="*/ 5080 w 6468"/>
              <a:gd name="T13" fmla="*/ 2269 h 6564"/>
              <a:gd name="T14" fmla="*/ 5136 w 6468"/>
              <a:gd name="T15" fmla="*/ 1681 h 6564"/>
              <a:gd name="T16" fmla="*/ 4477 w 6468"/>
              <a:gd name="T17" fmla="*/ 1593 h 6564"/>
              <a:gd name="T18" fmla="*/ 3837 w 6468"/>
              <a:gd name="T19" fmla="*/ 1917 h 6564"/>
              <a:gd name="T20" fmla="*/ 3357 w 6468"/>
              <a:gd name="T21" fmla="*/ 2412 h 6564"/>
              <a:gd name="T22" fmla="*/ 3445 w 6468"/>
              <a:gd name="T23" fmla="*/ 2889 h 6564"/>
              <a:gd name="T24" fmla="*/ 5048 w 6468"/>
              <a:gd name="T25" fmla="*/ 3547 h 6564"/>
              <a:gd name="T26" fmla="*/ 2792 w 6468"/>
              <a:gd name="T27" fmla="*/ 4483 h 6564"/>
              <a:gd name="T28" fmla="*/ 2397 w 6468"/>
              <a:gd name="T29" fmla="*/ 3364 h 6564"/>
              <a:gd name="T30" fmla="*/ 1830 w 6468"/>
              <a:gd name="T31" fmla="*/ 3843 h 6564"/>
              <a:gd name="T32" fmla="*/ 1502 w 6468"/>
              <a:gd name="T33" fmla="*/ 4577 h 6564"/>
              <a:gd name="T34" fmla="*/ 1589 w 6468"/>
              <a:gd name="T35" fmla="*/ 5239 h 6564"/>
              <a:gd name="T36" fmla="*/ 2178 w 6468"/>
              <a:gd name="T37" fmla="*/ 5181 h 6564"/>
              <a:gd name="T38" fmla="*/ 2609 w 6468"/>
              <a:gd name="T39" fmla="*/ 6123 h 6564"/>
              <a:gd name="T40" fmla="*/ 3138 w 6468"/>
              <a:gd name="T41" fmla="*/ 6528 h 6564"/>
              <a:gd name="T42" fmla="*/ 3513 w 6468"/>
              <a:gd name="T43" fmla="*/ 6072 h 6564"/>
              <a:gd name="T44" fmla="*/ 4484 w 6468"/>
              <a:gd name="T45" fmla="*/ 6433 h 6564"/>
              <a:gd name="T46" fmla="*/ 5145 w 6468"/>
              <a:gd name="T47" fmla="*/ 6347 h 6564"/>
              <a:gd name="T48" fmla="*/ 5088 w 6468"/>
              <a:gd name="T49" fmla="*/ 5759 h 6564"/>
              <a:gd name="T50" fmla="*/ 6029 w 6468"/>
              <a:gd name="T51" fmla="*/ 5328 h 6564"/>
              <a:gd name="T52" fmla="*/ 6434 w 6468"/>
              <a:gd name="T53" fmla="*/ 4799 h 6564"/>
              <a:gd name="T54" fmla="*/ 370 w 6468"/>
              <a:gd name="T55" fmla="*/ 1975 h 6564"/>
              <a:gd name="T56" fmla="*/ 0 w 6468"/>
              <a:gd name="T57" fmla="*/ 1827 h 6564"/>
              <a:gd name="T58" fmla="*/ 148 w 6468"/>
              <a:gd name="T59" fmla="*/ 1436 h 6564"/>
              <a:gd name="T60" fmla="*/ 580 w 6468"/>
              <a:gd name="T61" fmla="*/ 947 h 6564"/>
              <a:gd name="T62" fmla="*/ 424 w 6468"/>
              <a:gd name="T63" fmla="*/ 583 h 6564"/>
              <a:gd name="T64" fmla="*/ 802 w 6468"/>
              <a:gd name="T65" fmla="*/ 412 h 6564"/>
              <a:gd name="T66" fmla="*/ 1454 w 6468"/>
              <a:gd name="T67" fmla="*/ 371 h 6564"/>
              <a:gd name="T68" fmla="*/ 1602 w 6468"/>
              <a:gd name="T69" fmla="*/ 0 h 6564"/>
              <a:gd name="T70" fmla="*/ 1993 w 6468"/>
              <a:gd name="T71" fmla="*/ 148 h 6564"/>
              <a:gd name="T72" fmla="*/ 2482 w 6468"/>
              <a:gd name="T73" fmla="*/ 580 h 6564"/>
              <a:gd name="T74" fmla="*/ 2848 w 6468"/>
              <a:gd name="T75" fmla="*/ 423 h 6564"/>
              <a:gd name="T76" fmla="*/ 3018 w 6468"/>
              <a:gd name="T77" fmla="*/ 801 h 6564"/>
              <a:gd name="T78" fmla="*/ 3060 w 6468"/>
              <a:gd name="T79" fmla="*/ 1453 h 6564"/>
              <a:gd name="T80" fmla="*/ 3430 w 6468"/>
              <a:gd name="T81" fmla="*/ 1601 h 6564"/>
              <a:gd name="T82" fmla="*/ 3282 w 6468"/>
              <a:gd name="T83" fmla="*/ 1992 h 6564"/>
              <a:gd name="T84" fmla="*/ 2850 w 6468"/>
              <a:gd name="T85" fmla="*/ 2481 h 6564"/>
              <a:gd name="T86" fmla="*/ 3008 w 6468"/>
              <a:gd name="T87" fmla="*/ 2847 h 6564"/>
              <a:gd name="T88" fmla="*/ 2629 w 6468"/>
              <a:gd name="T89" fmla="*/ 3017 h 6564"/>
              <a:gd name="T90" fmla="*/ 1977 w 6468"/>
              <a:gd name="T91" fmla="*/ 3059 h 6564"/>
              <a:gd name="T92" fmla="*/ 1829 w 6468"/>
              <a:gd name="T93" fmla="*/ 3429 h 6564"/>
              <a:gd name="T94" fmla="*/ 1438 w 6468"/>
              <a:gd name="T95" fmla="*/ 3281 h 6564"/>
              <a:gd name="T96" fmla="*/ 949 w 6468"/>
              <a:gd name="T97" fmla="*/ 2849 h 6564"/>
              <a:gd name="T98" fmla="*/ 584 w 6468"/>
              <a:gd name="T99" fmla="*/ 3007 h 6564"/>
              <a:gd name="T100" fmla="*/ 413 w 6468"/>
              <a:gd name="T101" fmla="*/ 2628 h 6564"/>
              <a:gd name="T102" fmla="*/ 370 w 6468"/>
              <a:gd name="T103" fmla="*/ 1975 h 6564"/>
              <a:gd name="T104" fmla="*/ 2173 w 6468"/>
              <a:gd name="T105" fmla="*/ 2177 h 6564"/>
              <a:gd name="T106" fmla="*/ 1257 w 6468"/>
              <a:gd name="T107" fmla="*/ 1251 h 6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468" h="6564">
                <a:moveTo>
                  <a:pt x="3204" y="4309"/>
                </a:moveTo>
                <a:cubicBezTo>
                  <a:pt x="3040" y="3916"/>
                  <a:pt x="3228" y="3463"/>
                  <a:pt x="3621" y="3299"/>
                </a:cubicBezTo>
                <a:cubicBezTo>
                  <a:pt x="4014" y="3135"/>
                  <a:pt x="4468" y="3323"/>
                  <a:pt x="4632" y="3716"/>
                </a:cubicBezTo>
                <a:cubicBezTo>
                  <a:pt x="4796" y="4109"/>
                  <a:pt x="4608" y="4563"/>
                  <a:pt x="4214" y="4727"/>
                </a:cubicBezTo>
                <a:cubicBezTo>
                  <a:pt x="3821" y="4891"/>
                  <a:pt x="3368" y="4703"/>
                  <a:pt x="3204" y="4309"/>
                </a:cubicBezTo>
                <a:close/>
                <a:moveTo>
                  <a:pt x="6337" y="4571"/>
                </a:moveTo>
                <a:lnTo>
                  <a:pt x="5974" y="4421"/>
                </a:lnTo>
                <a:cubicBezTo>
                  <a:pt x="6028" y="4156"/>
                  <a:pt x="6029" y="3877"/>
                  <a:pt x="5974" y="3603"/>
                </a:cubicBezTo>
                <a:lnTo>
                  <a:pt x="6336" y="3452"/>
                </a:lnTo>
                <a:cubicBezTo>
                  <a:pt x="6424" y="3416"/>
                  <a:pt x="6466" y="3315"/>
                  <a:pt x="6429" y="3225"/>
                </a:cubicBezTo>
                <a:lnTo>
                  <a:pt x="6249" y="2791"/>
                </a:lnTo>
                <a:cubicBezTo>
                  <a:pt x="6213" y="2703"/>
                  <a:pt x="6112" y="2660"/>
                  <a:pt x="6022" y="2697"/>
                </a:cubicBezTo>
                <a:lnTo>
                  <a:pt x="5660" y="2848"/>
                </a:lnTo>
                <a:cubicBezTo>
                  <a:pt x="5504" y="2615"/>
                  <a:pt x="5305" y="2419"/>
                  <a:pt x="5080" y="2269"/>
                </a:cubicBezTo>
                <a:lnTo>
                  <a:pt x="5229" y="1907"/>
                </a:lnTo>
                <a:cubicBezTo>
                  <a:pt x="5265" y="1819"/>
                  <a:pt x="5224" y="1717"/>
                  <a:pt x="5136" y="1681"/>
                </a:cubicBezTo>
                <a:lnTo>
                  <a:pt x="4702" y="1500"/>
                </a:lnTo>
                <a:cubicBezTo>
                  <a:pt x="4614" y="1464"/>
                  <a:pt x="4513" y="1505"/>
                  <a:pt x="4477" y="1593"/>
                </a:cubicBezTo>
                <a:lnTo>
                  <a:pt x="4328" y="1956"/>
                </a:lnTo>
                <a:cubicBezTo>
                  <a:pt x="4168" y="1924"/>
                  <a:pt x="4002" y="1911"/>
                  <a:pt x="3837" y="1917"/>
                </a:cubicBezTo>
                <a:cubicBezTo>
                  <a:pt x="3804" y="2165"/>
                  <a:pt x="3609" y="2361"/>
                  <a:pt x="3364" y="2397"/>
                </a:cubicBezTo>
                <a:cubicBezTo>
                  <a:pt x="3361" y="2403"/>
                  <a:pt x="3360" y="2407"/>
                  <a:pt x="3357" y="2412"/>
                </a:cubicBezTo>
                <a:cubicBezTo>
                  <a:pt x="3426" y="2507"/>
                  <a:pt x="3465" y="2621"/>
                  <a:pt x="3465" y="2743"/>
                </a:cubicBezTo>
                <a:cubicBezTo>
                  <a:pt x="3465" y="2793"/>
                  <a:pt x="3458" y="2841"/>
                  <a:pt x="3445" y="2889"/>
                </a:cubicBezTo>
                <a:cubicBezTo>
                  <a:pt x="3448" y="2888"/>
                  <a:pt x="3449" y="2887"/>
                  <a:pt x="3452" y="2887"/>
                </a:cubicBezTo>
                <a:cubicBezTo>
                  <a:pt x="4073" y="2628"/>
                  <a:pt x="4789" y="2924"/>
                  <a:pt x="5048" y="3547"/>
                </a:cubicBezTo>
                <a:cubicBezTo>
                  <a:pt x="5306" y="4168"/>
                  <a:pt x="5010" y="4884"/>
                  <a:pt x="4388" y="5143"/>
                </a:cubicBezTo>
                <a:cubicBezTo>
                  <a:pt x="3766" y="5401"/>
                  <a:pt x="3050" y="5105"/>
                  <a:pt x="2792" y="4483"/>
                </a:cubicBezTo>
                <a:cubicBezTo>
                  <a:pt x="2650" y="4140"/>
                  <a:pt x="2676" y="3771"/>
                  <a:pt x="2832" y="3464"/>
                </a:cubicBezTo>
                <a:cubicBezTo>
                  <a:pt x="2682" y="3491"/>
                  <a:pt x="2524" y="3459"/>
                  <a:pt x="2397" y="3364"/>
                </a:cubicBezTo>
                <a:cubicBezTo>
                  <a:pt x="2392" y="3367"/>
                  <a:pt x="2388" y="3368"/>
                  <a:pt x="2382" y="3369"/>
                </a:cubicBezTo>
                <a:cubicBezTo>
                  <a:pt x="2341" y="3637"/>
                  <a:pt x="2109" y="3843"/>
                  <a:pt x="1830" y="3843"/>
                </a:cubicBezTo>
                <a:cubicBezTo>
                  <a:pt x="1814" y="4035"/>
                  <a:pt x="1824" y="4231"/>
                  <a:pt x="1864" y="4427"/>
                </a:cubicBezTo>
                <a:lnTo>
                  <a:pt x="1502" y="4577"/>
                </a:lnTo>
                <a:cubicBezTo>
                  <a:pt x="1414" y="4613"/>
                  <a:pt x="1372" y="4715"/>
                  <a:pt x="1409" y="4804"/>
                </a:cubicBezTo>
                <a:lnTo>
                  <a:pt x="1589" y="5239"/>
                </a:lnTo>
                <a:cubicBezTo>
                  <a:pt x="1625" y="5327"/>
                  <a:pt x="1726" y="5369"/>
                  <a:pt x="1816" y="5332"/>
                </a:cubicBezTo>
                <a:lnTo>
                  <a:pt x="2178" y="5181"/>
                </a:lnTo>
                <a:cubicBezTo>
                  <a:pt x="2334" y="5415"/>
                  <a:pt x="2533" y="5611"/>
                  <a:pt x="2758" y="5760"/>
                </a:cubicBezTo>
                <a:lnTo>
                  <a:pt x="2609" y="6123"/>
                </a:lnTo>
                <a:cubicBezTo>
                  <a:pt x="2573" y="6211"/>
                  <a:pt x="2614" y="6312"/>
                  <a:pt x="2702" y="6348"/>
                </a:cubicBezTo>
                <a:lnTo>
                  <a:pt x="3138" y="6528"/>
                </a:lnTo>
                <a:cubicBezTo>
                  <a:pt x="3226" y="6564"/>
                  <a:pt x="3328" y="6523"/>
                  <a:pt x="3364" y="6435"/>
                </a:cubicBezTo>
                <a:lnTo>
                  <a:pt x="3513" y="6072"/>
                </a:lnTo>
                <a:cubicBezTo>
                  <a:pt x="3778" y="6125"/>
                  <a:pt x="4057" y="6127"/>
                  <a:pt x="4333" y="6072"/>
                </a:cubicBezTo>
                <a:lnTo>
                  <a:pt x="4484" y="6433"/>
                </a:lnTo>
                <a:cubicBezTo>
                  <a:pt x="4520" y="6521"/>
                  <a:pt x="4621" y="6564"/>
                  <a:pt x="4710" y="6527"/>
                </a:cubicBezTo>
                <a:lnTo>
                  <a:pt x="5145" y="6347"/>
                </a:lnTo>
                <a:cubicBezTo>
                  <a:pt x="5233" y="6311"/>
                  <a:pt x="5276" y="6209"/>
                  <a:pt x="5238" y="6120"/>
                </a:cubicBezTo>
                <a:lnTo>
                  <a:pt x="5088" y="5759"/>
                </a:lnTo>
                <a:cubicBezTo>
                  <a:pt x="5321" y="5603"/>
                  <a:pt x="5517" y="5404"/>
                  <a:pt x="5666" y="5179"/>
                </a:cubicBezTo>
                <a:lnTo>
                  <a:pt x="6029" y="5328"/>
                </a:lnTo>
                <a:cubicBezTo>
                  <a:pt x="6117" y="5364"/>
                  <a:pt x="6218" y="5323"/>
                  <a:pt x="6254" y="5235"/>
                </a:cubicBezTo>
                <a:lnTo>
                  <a:pt x="6434" y="4799"/>
                </a:lnTo>
                <a:cubicBezTo>
                  <a:pt x="6468" y="4708"/>
                  <a:pt x="6425" y="4608"/>
                  <a:pt x="6337" y="4571"/>
                </a:cubicBezTo>
                <a:close/>
                <a:moveTo>
                  <a:pt x="370" y="1975"/>
                </a:moveTo>
                <a:lnTo>
                  <a:pt x="145" y="1973"/>
                </a:lnTo>
                <a:cubicBezTo>
                  <a:pt x="65" y="1973"/>
                  <a:pt x="0" y="1908"/>
                  <a:pt x="0" y="1827"/>
                </a:cubicBezTo>
                <a:lnTo>
                  <a:pt x="1" y="1581"/>
                </a:lnTo>
                <a:cubicBezTo>
                  <a:pt x="1" y="1501"/>
                  <a:pt x="66" y="1436"/>
                  <a:pt x="148" y="1436"/>
                </a:cubicBezTo>
                <a:lnTo>
                  <a:pt x="373" y="1437"/>
                </a:lnTo>
                <a:cubicBezTo>
                  <a:pt x="408" y="1264"/>
                  <a:pt x="477" y="1097"/>
                  <a:pt x="580" y="947"/>
                </a:cubicBezTo>
                <a:lnTo>
                  <a:pt x="422" y="788"/>
                </a:lnTo>
                <a:cubicBezTo>
                  <a:pt x="366" y="731"/>
                  <a:pt x="366" y="639"/>
                  <a:pt x="424" y="583"/>
                </a:cubicBezTo>
                <a:lnTo>
                  <a:pt x="597" y="411"/>
                </a:lnTo>
                <a:cubicBezTo>
                  <a:pt x="654" y="355"/>
                  <a:pt x="746" y="355"/>
                  <a:pt x="802" y="412"/>
                </a:cubicBezTo>
                <a:lnTo>
                  <a:pt x="961" y="572"/>
                </a:lnTo>
                <a:cubicBezTo>
                  <a:pt x="1113" y="471"/>
                  <a:pt x="1281" y="404"/>
                  <a:pt x="1454" y="371"/>
                </a:cubicBezTo>
                <a:lnTo>
                  <a:pt x="1456" y="145"/>
                </a:lnTo>
                <a:cubicBezTo>
                  <a:pt x="1456" y="65"/>
                  <a:pt x="1521" y="0"/>
                  <a:pt x="1602" y="0"/>
                </a:cubicBezTo>
                <a:lnTo>
                  <a:pt x="1848" y="1"/>
                </a:lnTo>
                <a:cubicBezTo>
                  <a:pt x="1928" y="1"/>
                  <a:pt x="1993" y="67"/>
                  <a:pt x="1993" y="148"/>
                </a:cubicBezTo>
                <a:lnTo>
                  <a:pt x="1992" y="373"/>
                </a:lnTo>
                <a:cubicBezTo>
                  <a:pt x="2165" y="408"/>
                  <a:pt x="2332" y="477"/>
                  <a:pt x="2482" y="580"/>
                </a:cubicBezTo>
                <a:lnTo>
                  <a:pt x="2642" y="421"/>
                </a:lnTo>
                <a:cubicBezTo>
                  <a:pt x="2700" y="365"/>
                  <a:pt x="2792" y="365"/>
                  <a:pt x="2848" y="423"/>
                </a:cubicBezTo>
                <a:lnTo>
                  <a:pt x="3020" y="596"/>
                </a:lnTo>
                <a:cubicBezTo>
                  <a:pt x="3076" y="653"/>
                  <a:pt x="3076" y="745"/>
                  <a:pt x="3018" y="801"/>
                </a:cubicBezTo>
                <a:lnTo>
                  <a:pt x="2858" y="960"/>
                </a:lnTo>
                <a:cubicBezTo>
                  <a:pt x="2960" y="1112"/>
                  <a:pt x="3026" y="1280"/>
                  <a:pt x="3060" y="1453"/>
                </a:cubicBezTo>
                <a:lnTo>
                  <a:pt x="3285" y="1455"/>
                </a:lnTo>
                <a:cubicBezTo>
                  <a:pt x="3365" y="1455"/>
                  <a:pt x="3430" y="1520"/>
                  <a:pt x="3430" y="1601"/>
                </a:cubicBezTo>
                <a:lnTo>
                  <a:pt x="3429" y="1847"/>
                </a:lnTo>
                <a:cubicBezTo>
                  <a:pt x="3429" y="1927"/>
                  <a:pt x="3364" y="1992"/>
                  <a:pt x="3282" y="1992"/>
                </a:cubicBezTo>
                <a:lnTo>
                  <a:pt x="3057" y="1991"/>
                </a:lnTo>
                <a:cubicBezTo>
                  <a:pt x="3022" y="2164"/>
                  <a:pt x="2953" y="2331"/>
                  <a:pt x="2850" y="2481"/>
                </a:cubicBezTo>
                <a:lnTo>
                  <a:pt x="3009" y="2641"/>
                </a:lnTo>
                <a:cubicBezTo>
                  <a:pt x="3065" y="2699"/>
                  <a:pt x="3065" y="2791"/>
                  <a:pt x="3008" y="2847"/>
                </a:cubicBezTo>
                <a:lnTo>
                  <a:pt x="2834" y="3019"/>
                </a:lnTo>
                <a:cubicBezTo>
                  <a:pt x="2777" y="3075"/>
                  <a:pt x="2685" y="3075"/>
                  <a:pt x="2629" y="3017"/>
                </a:cubicBezTo>
                <a:lnTo>
                  <a:pt x="2470" y="2857"/>
                </a:lnTo>
                <a:cubicBezTo>
                  <a:pt x="2318" y="2959"/>
                  <a:pt x="2150" y="3025"/>
                  <a:pt x="1977" y="3059"/>
                </a:cubicBezTo>
                <a:lnTo>
                  <a:pt x="1976" y="3284"/>
                </a:lnTo>
                <a:cubicBezTo>
                  <a:pt x="1976" y="3364"/>
                  <a:pt x="1910" y="3429"/>
                  <a:pt x="1829" y="3429"/>
                </a:cubicBezTo>
                <a:lnTo>
                  <a:pt x="1584" y="3428"/>
                </a:lnTo>
                <a:cubicBezTo>
                  <a:pt x="1504" y="3428"/>
                  <a:pt x="1438" y="3363"/>
                  <a:pt x="1438" y="3281"/>
                </a:cubicBezTo>
                <a:lnTo>
                  <a:pt x="1440" y="3056"/>
                </a:lnTo>
                <a:cubicBezTo>
                  <a:pt x="1266" y="3021"/>
                  <a:pt x="1100" y="2952"/>
                  <a:pt x="949" y="2849"/>
                </a:cubicBezTo>
                <a:lnTo>
                  <a:pt x="789" y="3008"/>
                </a:lnTo>
                <a:cubicBezTo>
                  <a:pt x="732" y="3064"/>
                  <a:pt x="640" y="3064"/>
                  <a:pt x="584" y="3007"/>
                </a:cubicBezTo>
                <a:lnTo>
                  <a:pt x="412" y="2833"/>
                </a:lnTo>
                <a:cubicBezTo>
                  <a:pt x="356" y="2776"/>
                  <a:pt x="356" y="2684"/>
                  <a:pt x="413" y="2628"/>
                </a:cubicBezTo>
                <a:lnTo>
                  <a:pt x="573" y="2469"/>
                </a:lnTo>
                <a:cubicBezTo>
                  <a:pt x="470" y="2316"/>
                  <a:pt x="404" y="2148"/>
                  <a:pt x="370" y="1975"/>
                </a:cubicBezTo>
                <a:close/>
                <a:moveTo>
                  <a:pt x="1252" y="2172"/>
                </a:moveTo>
                <a:cubicBezTo>
                  <a:pt x="1505" y="2428"/>
                  <a:pt x="1917" y="2431"/>
                  <a:pt x="2173" y="2177"/>
                </a:cubicBezTo>
                <a:cubicBezTo>
                  <a:pt x="2429" y="1924"/>
                  <a:pt x="2432" y="1512"/>
                  <a:pt x="2178" y="1256"/>
                </a:cubicBezTo>
                <a:cubicBezTo>
                  <a:pt x="1925" y="1000"/>
                  <a:pt x="1513" y="997"/>
                  <a:pt x="1257" y="1251"/>
                </a:cubicBezTo>
                <a:cubicBezTo>
                  <a:pt x="1000" y="1504"/>
                  <a:pt x="998" y="1916"/>
                  <a:pt x="1252" y="217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75" name="Rectangle 7"/>
          <p:cNvSpPr/>
          <p:nvPr/>
        </p:nvSpPr>
        <p:spPr>
          <a:xfrm>
            <a:off x="6355080" y="1188720"/>
            <a:ext cx="658368" cy="56692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800" b="0" i="0">
                <a:solidFill>
                  <a:srgbClr val="FFFFFF"/>
                </a:solidFill>
                <a:latin typeface="Arial Black" panose="020B0A04020102020204"/>
                <a:ea typeface="Arial Black" panose="020B0A04020102020204"/>
              </a:rPr>
              <a:t>01</a:t>
            </a:r>
            <a:endParaRPr lang="zh-CN" altLang="en-US" sz="1800" b="0" i="0">
              <a:solidFill>
                <a:srgbClr val="FFFFFF"/>
              </a:solidFill>
              <a:latin typeface="Arial Black" panose="020B0A04020102020204"/>
              <a:ea typeface="Arial Black" panose="020B0A04020102020204"/>
            </a:endParaRPr>
          </a:p>
        </p:txBody>
      </p:sp>
      <p:sp>
        <p:nvSpPr>
          <p:cNvPr id="276" name="TextBox 8"/>
          <p:cNvSpPr txBox="1"/>
          <p:nvPr/>
        </p:nvSpPr>
        <p:spPr>
          <a:xfrm>
            <a:off x="7178040" y="1170432"/>
            <a:ext cx="3794760" cy="603504"/>
          </a:xfrm>
          <a:prstGeom prst="rect">
            <a:avLst/>
          </a:prstGeom>
          <a:noFill/>
        </p:spPr>
        <p:txBody>
          <a:bodyPr wrap="square" lIns="27432" tIns="13716" rIns="27432" bIns="13716" anchor="ctr">
            <a:spAutoFit/>
          </a:bodyPr>
          <a:lstStyle/>
          <a:p>
            <a:pPr algn="l">
              <a:lnSpc>
                <a:spcPct val="108000"/>
              </a:lnSpc>
            </a:pPr>
            <a:r>
              <a:rPr lang="zh-CN" altLang="en-US" sz="1900" b="1" i="0">
                <a:solidFill>
                  <a:srgbClr val="000000"/>
                </a:solidFill>
                <a:latin typeface="微软雅黑" panose="020B0503020204020204" pitchFamily="34" charset="-122"/>
                <a:ea typeface="微软雅黑" panose="020B0503020204020204" pitchFamily="34" charset="-122"/>
              </a:rPr>
              <a:t>研究背景与问题提出</a:t>
            </a:r>
            <a:endParaRPr lang="zh-CN" altLang="en-US" sz="1900" b="1" i="0">
              <a:solidFill>
                <a:srgbClr val="000000"/>
              </a:solidFill>
              <a:latin typeface="微软雅黑" panose="020B0503020204020204" pitchFamily="34" charset="-122"/>
              <a:ea typeface="微软雅黑" panose="020B0503020204020204" pitchFamily="34" charset="-122"/>
            </a:endParaRPr>
          </a:p>
        </p:txBody>
      </p:sp>
      <p:sp>
        <p:nvSpPr>
          <p:cNvPr id="277" name="TextBox 9"/>
          <p:cNvSpPr txBox="1"/>
          <p:nvPr/>
        </p:nvSpPr>
        <p:spPr>
          <a:xfrm>
            <a:off x="10561320" y="1170432"/>
            <a:ext cx="1143000" cy="603504"/>
          </a:xfrm>
          <a:prstGeom prst="rect">
            <a:avLst/>
          </a:prstGeom>
          <a:noFill/>
        </p:spPr>
        <p:txBody>
          <a:bodyPr wrap="square" lIns="27432" tIns="13716" rIns="27432" bIns="13716" anchor="ctr">
            <a:spAutoFit/>
          </a:bodyPr>
          <a:lstStyle/>
          <a:p>
            <a:pPr algn="r">
              <a:lnSpc>
                <a:spcPct val="108000"/>
              </a:lnSpc>
            </a:pPr>
            <a:r>
              <a:rPr lang="zh-CN" altLang="en-US" sz="1200" b="0" i="0">
                <a:solidFill>
                  <a:srgbClr val="8CA3AF"/>
                </a:solidFill>
                <a:latin typeface="Arial" panose="020B0604020202020204"/>
                <a:ea typeface="Arial" panose="020B0604020202020204"/>
              </a:rPr>
              <a:t>P04 - P07</a:t>
            </a:r>
            <a:endParaRPr lang="zh-CN" altLang="en-US" sz="1200" b="0" i="0">
              <a:solidFill>
                <a:srgbClr val="8CA3AF"/>
              </a:solidFill>
              <a:latin typeface="Arial" panose="020B0604020202020204"/>
              <a:ea typeface="Arial" panose="020B0604020202020204"/>
            </a:endParaRPr>
          </a:p>
        </p:txBody>
      </p:sp>
      <p:cxnSp>
        <p:nvCxnSpPr>
          <p:cNvPr id="278" name="Connector 10"/>
          <p:cNvCxnSpPr/>
          <p:nvPr/>
        </p:nvCxnSpPr>
        <p:spPr>
          <a:xfrm>
            <a:off x="6245352" y="1901952"/>
            <a:ext cx="5458968" cy="0"/>
          </a:xfrm>
          <a:prstGeom prst="line">
            <a:avLst/>
          </a:prstGeom>
          <a:ln w="1778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279" name="Rectangle 11"/>
          <p:cNvSpPr/>
          <p:nvPr/>
        </p:nvSpPr>
        <p:spPr>
          <a:xfrm>
            <a:off x="6355080" y="2157984"/>
            <a:ext cx="658368" cy="56692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800" b="0" i="0">
                <a:solidFill>
                  <a:srgbClr val="FFFFFF"/>
                </a:solidFill>
                <a:latin typeface="Arial Black" panose="020B0A04020102020204"/>
                <a:ea typeface="Arial Black" panose="020B0A04020102020204"/>
              </a:rPr>
              <a:t>02</a:t>
            </a:r>
            <a:endParaRPr lang="zh-CN" altLang="en-US" sz="1800" b="0" i="0">
              <a:solidFill>
                <a:srgbClr val="FFFFFF"/>
              </a:solidFill>
              <a:latin typeface="Arial Black" panose="020B0A04020102020204"/>
              <a:ea typeface="Arial Black" panose="020B0A04020102020204"/>
            </a:endParaRPr>
          </a:p>
        </p:txBody>
      </p:sp>
      <p:sp>
        <p:nvSpPr>
          <p:cNvPr id="280" name="TextBox 12"/>
          <p:cNvSpPr txBox="1"/>
          <p:nvPr/>
        </p:nvSpPr>
        <p:spPr>
          <a:xfrm>
            <a:off x="7178040" y="2139696"/>
            <a:ext cx="3794760" cy="603504"/>
          </a:xfrm>
          <a:prstGeom prst="rect">
            <a:avLst/>
          </a:prstGeom>
          <a:noFill/>
        </p:spPr>
        <p:txBody>
          <a:bodyPr wrap="square" lIns="27432" tIns="13716" rIns="27432" bIns="13716" anchor="ctr">
            <a:spAutoFit/>
          </a:bodyPr>
          <a:lstStyle/>
          <a:p>
            <a:pPr algn="l">
              <a:lnSpc>
                <a:spcPct val="108000"/>
              </a:lnSpc>
            </a:pPr>
            <a:r>
              <a:rPr lang="zh-CN" altLang="en-US" sz="1900" b="1" i="0">
                <a:solidFill>
                  <a:srgbClr val="000000"/>
                </a:solidFill>
                <a:latin typeface="微软雅黑" panose="020B0503020204020204" pitchFamily="34" charset="-122"/>
                <a:ea typeface="微软雅黑" panose="020B0503020204020204" pitchFamily="34" charset="-122"/>
              </a:rPr>
              <a:t>国内外研究现状与研究缺口</a:t>
            </a:r>
            <a:endParaRPr lang="zh-CN" altLang="en-US" sz="1900" b="1" i="0">
              <a:solidFill>
                <a:srgbClr val="000000"/>
              </a:solidFill>
              <a:latin typeface="微软雅黑" panose="020B0503020204020204" pitchFamily="34" charset="-122"/>
              <a:ea typeface="微软雅黑" panose="020B0503020204020204" pitchFamily="34" charset="-122"/>
            </a:endParaRPr>
          </a:p>
        </p:txBody>
      </p:sp>
      <p:sp>
        <p:nvSpPr>
          <p:cNvPr id="281" name="TextBox 13"/>
          <p:cNvSpPr txBox="1"/>
          <p:nvPr/>
        </p:nvSpPr>
        <p:spPr>
          <a:xfrm>
            <a:off x="10561320" y="2139696"/>
            <a:ext cx="1143000" cy="603504"/>
          </a:xfrm>
          <a:prstGeom prst="rect">
            <a:avLst/>
          </a:prstGeom>
          <a:noFill/>
        </p:spPr>
        <p:txBody>
          <a:bodyPr wrap="square" lIns="27432" tIns="13716" rIns="27432" bIns="13716" anchor="ctr">
            <a:spAutoFit/>
          </a:bodyPr>
          <a:lstStyle/>
          <a:p>
            <a:pPr algn="r">
              <a:lnSpc>
                <a:spcPct val="108000"/>
              </a:lnSpc>
            </a:pPr>
            <a:r>
              <a:rPr lang="zh-CN" altLang="en-US" sz="1200" b="0" i="0">
                <a:solidFill>
                  <a:srgbClr val="8CA3AF"/>
                </a:solidFill>
                <a:latin typeface="Arial" panose="020B0604020202020204"/>
                <a:ea typeface="Arial" panose="020B0604020202020204"/>
              </a:rPr>
              <a:t>P08 - P11</a:t>
            </a:r>
            <a:endParaRPr lang="zh-CN" altLang="en-US" sz="1200" b="0" i="0">
              <a:solidFill>
                <a:srgbClr val="8CA3AF"/>
              </a:solidFill>
              <a:latin typeface="Arial" panose="020B0604020202020204"/>
              <a:ea typeface="Arial" panose="020B0604020202020204"/>
            </a:endParaRPr>
          </a:p>
        </p:txBody>
      </p:sp>
      <p:cxnSp>
        <p:nvCxnSpPr>
          <p:cNvPr id="282" name="Connector 14"/>
          <p:cNvCxnSpPr/>
          <p:nvPr/>
        </p:nvCxnSpPr>
        <p:spPr>
          <a:xfrm>
            <a:off x="6245352" y="2871216"/>
            <a:ext cx="5458968" cy="0"/>
          </a:xfrm>
          <a:prstGeom prst="line">
            <a:avLst/>
          </a:prstGeom>
          <a:ln w="1778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283" name="Rectangle 15"/>
          <p:cNvSpPr/>
          <p:nvPr/>
        </p:nvSpPr>
        <p:spPr>
          <a:xfrm>
            <a:off x="6355080" y="3127248"/>
            <a:ext cx="658368" cy="56692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800" b="0" i="0">
                <a:solidFill>
                  <a:srgbClr val="FFFFFF"/>
                </a:solidFill>
                <a:latin typeface="Arial Black" panose="020B0A04020102020204"/>
                <a:ea typeface="Arial Black" panose="020B0A04020102020204"/>
              </a:rPr>
              <a:t>03</a:t>
            </a:r>
            <a:endParaRPr lang="zh-CN" altLang="en-US" sz="1800" b="0" i="0">
              <a:solidFill>
                <a:srgbClr val="FFFFFF"/>
              </a:solidFill>
              <a:latin typeface="Arial Black" panose="020B0A04020102020204"/>
              <a:ea typeface="Arial Black" panose="020B0A04020102020204"/>
            </a:endParaRPr>
          </a:p>
        </p:txBody>
      </p:sp>
      <p:sp>
        <p:nvSpPr>
          <p:cNvPr id="284" name="TextBox 16"/>
          <p:cNvSpPr txBox="1"/>
          <p:nvPr/>
        </p:nvSpPr>
        <p:spPr>
          <a:xfrm>
            <a:off x="7178040" y="3108960"/>
            <a:ext cx="3794760" cy="603504"/>
          </a:xfrm>
          <a:prstGeom prst="rect">
            <a:avLst/>
          </a:prstGeom>
          <a:noFill/>
        </p:spPr>
        <p:txBody>
          <a:bodyPr wrap="square" lIns="27432" tIns="13716" rIns="27432" bIns="13716" anchor="ctr">
            <a:spAutoFit/>
          </a:bodyPr>
          <a:lstStyle/>
          <a:p>
            <a:pPr algn="l">
              <a:lnSpc>
                <a:spcPct val="108000"/>
              </a:lnSpc>
            </a:pPr>
            <a:r>
              <a:rPr lang="zh-CN" altLang="en-US" sz="1900" b="1" i="0">
                <a:solidFill>
                  <a:srgbClr val="000000"/>
                </a:solidFill>
                <a:latin typeface="微软雅黑" panose="020B0503020204020204" pitchFamily="34" charset="-122"/>
                <a:ea typeface="微软雅黑" panose="020B0503020204020204" pitchFamily="34" charset="-122"/>
              </a:rPr>
              <a:t>科学问题、假设与研究内容</a:t>
            </a:r>
            <a:endParaRPr lang="zh-CN" altLang="en-US" sz="1900" b="1" i="0">
              <a:solidFill>
                <a:srgbClr val="000000"/>
              </a:solidFill>
              <a:latin typeface="微软雅黑" panose="020B0503020204020204" pitchFamily="34" charset="-122"/>
              <a:ea typeface="微软雅黑" panose="020B0503020204020204" pitchFamily="34" charset="-122"/>
            </a:endParaRPr>
          </a:p>
        </p:txBody>
      </p:sp>
      <p:sp>
        <p:nvSpPr>
          <p:cNvPr id="285" name="TextBox 17"/>
          <p:cNvSpPr txBox="1"/>
          <p:nvPr/>
        </p:nvSpPr>
        <p:spPr>
          <a:xfrm>
            <a:off x="10561320" y="3108960"/>
            <a:ext cx="1143000" cy="603504"/>
          </a:xfrm>
          <a:prstGeom prst="rect">
            <a:avLst/>
          </a:prstGeom>
          <a:noFill/>
        </p:spPr>
        <p:txBody>
          <a:bodyPr wrap="square" lIns="27432" tIns="13716" rIns="27432" bIns="13716" anchor="ctr">
            <a:spAutoFit/>
          </a:bodyPr>
          <a:lstStyle/>
          <a:p>
            <a:pPr algn="r">
              <a:lnSpc>
                <a:spcPct val="108000"/>
              </a:lnSpc>
            </a:pPr>
            <a:r>
              <a:rPr lang="zh-CN" altLang="en-US" sz="1200" b="0" i="0">
                <a:solidFill>
                  <a:srgbClr val="8CA3AF"/>
                </a:solidFill>
                <a:latin typeface="Arial" panose="020B0604020202020204"/>
                <a:ea typeface="Arial" panose="020B0604020202020204"/>
              </a:rPr>
              <a:t>P12 - P15</a:t>
            </a:r>
            <a:endParaRPr lang="zh-CN" altLang="en-US" sz="1200" b="0" i="0">
              <a:solidFill>
                <a:srgbClr val="8CA3AF"/>
              </a:solidFill>
              <a:latin typeface="Arial" panose="020B0604020202020204"/>
              <a:ea typeface="Arial" panose="020B0604020202020204"/>
            </a:endParaRPr>
          </a:p>
        </p:txBody>
      </p:sp>
      <p:cxnSp>
        <p:nvCxnSpPr>
          <p:cNvPr id="286" name="Connector 18"/>
          <p:cNvCxnSpPr/>
          <p:nvPr/>
        </p:nvCxnSpPr>
        <p:spPr>
          <a:xfrm>
            <a:off x="6245352" y="3840480"/>
            <a:ext cx="5458968" cy="0"/>
          </a:xfrm>
          <a:prstGeom prst="line">
            <a:avLst/>
          </a:prstGeom>
          <a:ln w="1778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287" name="Rectangle 19"/>
          <p:cNvSpPr/>
          <p:nvPr/>
        </p:nvSpPr>
        <p:spPr>
          <a:xfrm>
            <a:off x="6355080" y="4096512"/>
            <a:ext cx="658368" cy="56692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800" b="0" i="0">
                <a:solidFill>
                  <a:srgbClr val="FFFFFF"/>
                </a:solidFill>
                <a:latin typeface="Arial Black" panose="020B0A04020102020204"/>
                <a:ea typeface="Arial Black" panose="020B0A04020102020204"/>
              </a:rPr>
              <a:t>04</a:t>
            </a:r>
            <a:endParaRPr lang="zh-CN" altLang="en-US" sz="1800" b="0" i="0">
              <a:solidFill>
                <a:srgbClr val="FFFFFF"/>
              </a:solidFill>
              <a:latin typeface="Arial Black" panose="020B0A04020102020204"/>
              <a:ea typeface="Arial Black" panose="020B0A04020102020204"/>
            </a:endParaRPr>
          </a:p>
        </p:txBody>
      </p:sp>
      <p:sp>
        <p:nvSpPr>
          <p:cNvPr id="288" name="TextBox 20"/>
          <p:cNvSpPr txBox="1"/>
          <p:nvPr/>
        </p:nvSpPr>
        <p:spPr>
          <a:xfrm>
            <a:off x="7178040" y="4078224"/>
            <a:ext cx="3794760" cy="603504"/>
          </a:xfrm>
          <a:prstGeom prst="rect">
            <a:avLst/>
          </a:prstGeom>
          <a:noFill/>
        </p:spPr>
        <p:txBody>
          <a:bodyPr wrap="square" lIns="27432" tIns="13716" rIns="27432" bIns="13716" anchor="ctr">
            <a:spAutoFit/>
          </a:bodyPr>
          <a:lstStyle/>
          <a:p>
            <a:pPr algn="l">
              <a:lnSpc>
                <a:spcPct val="108000"/>
              </a:lnSpc>
            </a:pPr>
            <a:r>
              <a:rPr lang="zh-CN" altLang="en-US" sz="1900" b="1" i="0">
                <a:solidFill>
                  <a:srgbClr val="000000"/>
                </a:solidFill>
                <a:latin typeface="微软雅黑" panose="020B0503020204020204" pitchFamily="34" charset="-122"/>
                <a:ea typeface="微软雅黑" panose="020B0503020204020204" pitchFamily="34" charset="-122"/>
              </a:rPr>
              <a:t>研究方案：模型、实验与验证</a:t>
            </a:r>
            <a:endParaRPr lang="zh-CN" altLang="en-US" sz="1900" b="1" i="0">
              <a:solidFill>
                <a:srgbClr val="000000"/>
              </a:solidFill>
              <a:latin typeface="微软雅黑" panose="020B0503020204020204" pitchFamily="34" charset="-122"/>
              <a:ea typeface="微软雅黑" panose="020B0503020204020204" pitchFamily="34" charset="-122"/>
            </a:endParaRPr>
          </a:p>
        </p:txBody>
      </p:sp>
      <p:sp>
        <p:nvSpPr>
          <p:cNvPr id="289" name="TextBox 21"/>
          <p:cNvSpPr txBox="1"/>
          <p:nvPr/>
        </p:nvSpPr>
        <p:spPr>
          <a:xfrm>
            <a:off x="10561320" y="4078224"/>
            <a:ext cx="1143000" cy="603504"/>
          </a:xfrm>
          <a:prstGeom prst="rect">
            <a:avLst/>
          </a:prstGeom>
          <a:noFill/>
        </p:spPr>
        <p:txBody>
          <a:bodyPr wrap="square" lIns="27432" tIns="13716" rIns="27432" bIns="13716" anchor="ctr">
            <a:spAutoFit/>
          </a:bodyPr>
          <a:lstStyle/>
          <a:p>
            <a:pPr algn="r">
              <a:lnSpc>
                <a:spcPct val="108000"/>
              </a:lnSpc>
            </a:pPr>
            <a:r>
              <a:rPr lang="zh-CN" altLang="en-US" sz="1200" b="0" i="0">
                <a:solidFill>
                  <a:srgbClr val="8CA3AF"/>
                </a:solidFill>
                <a:latin typeface="Arial" panose="020B0604020202020204"/>
                <a:ea typeface="Arial" panose="020B0604020202020204"/>
              </a:rPr>
              <a:t>P16 - P20</a:t>
            </a:r>
            <a:endParaRPr lang="zh-CN" altLang="en-US" sz="1200" b="0" i="0">
              <a:solidFill>
                <a:srgbClr val="8CA3AF"/>
              </a:solidFill>
              <a:latin typeface="Arial" panose="020B0604020202020204"/>
              <a:ea typeface="Arial" panose="020B0604020202020204"/>
            </a:endParaRPr>
          </a:p>
        </p:txBody>
      </p:sp>
      <p:cxnSp>
        <p:nvCxnSpPr>
          <p:cNvPr id="290" name="Connector 22"/>
          <p:cNvCxnSpPr/>
          <p:nvPr/>
        </p:nvCxnSpPr>
        <p:spPr>
          <a:xfrm>
            <a:off x="6245352" y="4809744"/>
            <a:ext cx="5458968" cy="0"/>
          </a:xfrm>
          <a:prstGeom prst="line">
            <a:avLst/>
          </a:prstGeom>
          <a:ln w="1778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291" name="Rectangle 23"/>
          <p:cNvSpPr/>
          <p:nvPr/>
        </p:nvSpPr>
        <p:spPr>
          <a:xfrm>
            <a:off x="6355080" y="5065776"/>
            <a:ext cx="658368" cy="56692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800" b="0" i="0">
                <a:solidFill>
                  <a:srgbClr val="FFFFFF"/>
                </a:solidFill>
                <a:latin typeface="Arial Black" panose="020B0A04020102020204"/>
                <a:ea typeface="Arial Black" panose="020B0A04020102020204"/>
              </a:rPr>
              <a:t>05</a:t>
            </a:r>
            <a:endParaRPr lang="zh-CN" altLang="en-US" sz="1800" b="0" i="0">
              <a:solidFill>
                <a:srgbClr val="FFFFFF"/>
              </a:solidFill>
              <a:latin typeface="Arial Black" panose="020B0A04020102020204"/>
              <a:ea typeface="Arial Black" panose="020B0A04020102020204"/>
            </a:endParaRPr>
          </a:p>
        </p:txBody>
      </p:sp>
      <p:sp>
        <p:nvSpPr>
          <p:cNvPr id="292" name="TextBox 24"/>
          <p:cNvSpPr txBox="1"/>
          <p:nvPr/>
        </p:nvSpPr>
        <p:spPr>
          <a:xfrm>
            <a:off x="7178040" y="5047488"/>
            <a:ext cx="3794760" cy="603504"/>
          </a:xfrm>
          <a:prstGeom prst="rect">
            <a:avLst/>
          </a:prstGeom>
          <a:noFill/>
        </p:spPr>
        <p:txBody>
          <a:bodyPr wrap="square" lIns="27432" tIns="13716" rIns="27432" bIns="13716" anchor="ctr">
            <a:spAutoFit/>
          </a:bodyPr>
          <a:lstStyle/>
          <a:p>
            <a:pPr algn="l">
              <a:lnSpc>
                <a:spcPct val="108000"/>
              </a:lnSpc>
            </a:pPr>
            <a:r>
              <a:rPr lang="zh-CN" altLang="en-US" sz="1900" b="1" i="0">
                <a:solidFill>
                  <a:srgbClr val="000000"/>
                </a:solidFill>
                <a:latin typeface="微软雅黑" panose="020B0503020204020204" pitchFamily="34" charset="-122"/>
                <a:ea typeface="微软雅黑" panose="020B0503020204020204" pitchFamily="34" charset="-122"/>
              </a:rPr>
              <a:t>研究基础、进度与预期成果</a:t>
            </a:r>
            <a:endParaRPr lang="zh-CN" altLang="en-US" sz="1900" b="1" i="0">
              <a:solidFill>
                <a:srgbClr val="000000"/>
              </a:solidFill>
              <a:latin typeface="微软雅黑" panose="020B0503020204020204" pitchFamily="34" charset="-122"/>
              <a:ea typeface="微软雅黑" panose="020B0503020204020204" pitchFamily="34" charset="-122"/>
            </a:endParaRPr>
          </a:p>
        </p:txBody>
      </p:sp>
      <p:sp>
        <p:nvSpPr>
          <p:cNvPr id="293" name="TextBox 25"/>
          <p:cNvSpPr txBox="1"/>
          <p:nvPr/>
        </p:nvSpPr>
        <p:spPr>
          <a:xfrm>
            <a:off x="10561320" y="5047488"/>
            <a:ext cx="1143000" cy="603504"/>
          </a:xfrm>
          <a:prstGeom prst="rect">
            <a:avLst/>
          </a:prstGeom>
          <a:noFill/>
        </p:spPr>
        <p:txBody>
          <a:bodyPr wrap="square" lIns="27432" tIns="13716" rIns="27432" bIns="13716" anchor="ctr">
            <a:spAutoFit/>
          </a:bodyPr>
          <a:lstStyle/>
          <a:p>
            <a:pPr algn="r">
              <a:lnSpc>
                <a:spcPct val="108000"/>
              </a:lnSpc>
            </a:pPr>
            <a:r>
              <a:rPr lang="zh-CN" altLang="en-US" sz="1200" b="0" i="0">
                <a:solidFill>
                  <a:srgbClr val="8CA3AF"/>
                </a:solidFill>
                <a:latin typeface="Arial" panose="020B0604020202020204"/>
                <a:ea typeface="Arial" panose="020B0604020202020204"/>
              </a:rPr>
              <a:t>P21 - P24</a:t>
            </a:r>
            <a:endParaRPr lang="zh-CN" altLang="en-US" sz="1200" b="0" i="0">
              <a:solidFill>
                <a:srgbClr val="8CA3AF"/>
              </a:solidFill>
              <a:latin typeface="Arial" panose="020B0604020202020204"/>
              <a:ea typeface="Arial" panose="020B0604020202020204"/>
            </a:endParaRPr>
          </a:p>
        </p:txBody>
      </p:sp>
      <p:cxnSp>
        <p:nvCxnSpPr>
          <p:cNvPr id="294" name="Connector 26"/>
          <p:cNvCxnSpPr/>
          <p:nvPr/>
        </p:nvCxnSpPr>
        <p:spPr>
          <a:xfrm>
            <a:off x="6245352" y="5779008"/>
            <a:ext cx="5458968" cy="0"/>
          </a:xfrm>
          <a:prstGeom prst="line">
            <a:avLst/>
          </a:prstGeom>
          <a:ln w="17780">
            <a:solidFill>
              <a:srgbClr val="005375"/>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701" name=""/>
        <p:cNvGrpSpPr/>
        <p:nvPr/>
      </p:nvGrpSpPr>
      <p:grpSpPr>
        <a:xfrm>
          <a:off x="0" y="0"/>
          <a:ext cx="0" cy="0"/>
          <a:chOff x="0" y="0"/>
          <a:chExt cx="0" cy="0"/>
        </a:xfrm>
      </p:grpSpPr>
      <p:sp>
        <p:nvSpPr>
          <p:cNvPr id="702"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703"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03 / 24</a:t>
            </a:r>
            <a:endParaRPr lang="zh-CN" altLang="en-US" sz="1000" b="1" i="0">
              <a:solidFill>
                <a:srgbClr val="FFFFFF"/>
              </a:solidFill>
              <a:latin typeface="Arial" panose="020B0604020202020204"/>
              <a:ea typeface="Arial" panose="020B0604020202020204"/>
            </a:endParaRPr>
          </a:p>
        </p:txBody>
      </p:sp>
      <p:sp>
        <p:nvSpPr>
          <p:cNvPr id="704" name="TextBox 4"/>
          <p:cNvSpPr txBox="1"/>
          <p:nvPr/>
        </p:nvSpPr>
        <p:spPr>
          <a:xfrm>
            <a:off x="731520" y="868680"/>
            <a:ext cx="4206240" cy="1600200"/>
          </a:xfrm>
          <a:prstGeom prst="rect">
            <a:avLst/>
          </a:prstGeom>
          <a:noFill/>
        </p:spPr>
        <p:txBody>
          <a:bodyPr wrap="square" lIns="27432" tIns="13716" rIns="27432" bIns="13716" anchor="t">
            <a:spAutoFit/>
          </a:bodyPr>
          <a:lstStyle/>
          <a:p>
            <a:pPr algn="l">
              <a:lnSpc>
                <a:spcPct val="108000"/>
              </a:lnSpc>
            </a:pPr>
            <a:r>
              <a:rPr lang="zh-CN" altLang="en-US" sz="9600" b="0" i="0">
                <a:solidFill>
                  <a:srgbClr val="005375"/>
                </a:solidFill>
                <a:latin typeface="Arial Black" panose="020B0A04020102020204"/>
                <a:ea typeface="Arial Black" panose="020B0A04020102020204"/>
              </a:rPr>
              <a:t>01</a:t>
            </a:r>
            <a:endParaRPr lang="zh-CN" altLang="en-US" sz="9600" b="0" i="0">
              <a:solidFill>
                <a:srgbClr val="005375"/>
              </a:solidFill>
              <a:latin typeface="Arial Black" panose="020B0A04020102020204"/>
              <a:ea typeface="Arial Black" panose="020B0A04020102020204"/>
            </a:endParaRPr>
          </a:p>
        </p:txBody>
      </p:sp>
      <p:sp>
        <p:nvSpPr>
          <p:cNvPr id="705" name="TextBox 5"/>
          <p:cNvSpPr txBox="1"/>
          <p:nvPr/>
        </p:nvSpPr>
        <p:spPr>
          <a:xfrm>
            <a:off x="896112" y="2487168"/>
            <a:ext cx="3200400" cy="310896"/>
          </a:xfrm>
          <a:prstGeom prst="rect">
            <a:avLst/>
          </a:prstGeom>
          <a:noFill/>
        </p:spPr>
        <p:txBody>
          <a:bodyPr wrap="square" lIns="27432" tIns="13716" rIns="27432" bIns="13716" anchor="t">
            <a:spAutoFit/>
          </a:bodyPr>
          <a:lstStyle/>
          <a:p>
            <a:pPr algn="l">
              <a:lnSpc>
                <a:spcPct val="108000"/>
              </a:lnSpc>
            </a:pPr>
            <a:r>
              <a:rPr lang="zh-CN" altLang="en-US" sz="1300" b="0" i="0" spc="300">
                <a:solidFill>
                  <a:srgbClr val="8CA3AF"/>
                </a:solidFill>
                <a:latin typeface="Arial" panose="020B0604020202020204"/>
                <a:ea typeface="Arial" panose="020B0604020202020204"/>
              </a:rPr>
              <a:t>PART ONE</a:t>
            </a:r>
            <a:endParaRPr lang="zh-CN" altLang="en-US" sz="1300" b="0" i="0" spc="300">
              <a:solidFill>
                <a:srgbClr val="8CA3AF"/>
              </a:solidFill>
              <a:latin typeface="Arial" panose="020B0604020202020204"/>
              <a:ea typeface="Arial" panose="020B0604020202020204"/>
            </a:endParaRPr>
          </a:p>
        </p:txBody>
      </p:sp>
      <p:sp>
        <p:nvSpPr>
          <p:cNvPr id="706" name="TextBox 6"/>
          <p:cNvSpPr txBox="1"/>
          <p:nvPr/>
        </p:nvSpPr>
        <p:spPr>
          <a:xfrm>
            <a:off x="786384" y="2834640"/>
            <a:ext cx="4709160" cy="1371600"/>
          </a:xfrm>
          <a:prstGeom prst="rect">
            <a:avLst/>
          </a:prstGeom>
          <a:noFill/>
        </p:spPr>
        <p:txBody>
          <a:bodyPr wrap="square" lIns="27432" tIns="13716" rIns="27432" bIns="13716" anchor="t">
            <a:spAutoFit/>
          </a:bodyPr>
          <a:lstStyle/>
          <a:p>
            <a:pPr algn="l">
              <a:lnSpc>
                <a:spcPct val="112000"/>
              </a:lnSpc>
            </a:pPr>
            <a:r>
              <a:rPr lang="zh-CN" altLang="en-US" sz="2800" b="1" i="0">
                <a:solidFill>
                  <a:srgbClr val="005375"/>
                </a:solidFill>
                <a:latin typeface="微软雅黑" panose="020B0503020204020204" pitchFamily="34" charset="-122"/>
                <a:ea typeface="微软雅黑" panose="020B0503020204020204" pitchFamily="34" charset="-122"/>
              </a:rPr>
              <a:t>研究背景与问题提出</a:t>
            </a:r>
            <a:endParaRPr lang="zh-CN" altLang="en-US" sz="2800" b="1" i="0">
              <a:solidFill>
                <a:srgbClr val="005375"/>
              </a:solidFill>
              <a:latin typeface="微软雅黑" panose="020B0503020204020204" pitchFamily="34" charset="-122"/>
              <a:ea typeface="微软雅黑" panose="020B0503020204020204" pitchFamily="34" charset="-122"/>
            </a:endParaRPr>
          </a:p>
        </p:txBody>
      </p:sp>
      <p:sp>
        <p:nvSpPr>
          <p:cNvPr id="707" name="TextBox 7"/>
          <p:cNvSpPr txBox="1"/>
          <p:nvPr/>
        </p:nvSpPr>
        <p:spPr>
          <a:xfrm>
            <a:off x="822960" y="4224528"/>
            <a:ext cx="4389120" cy="594360"/>
          </a:xfrm>
          <a:prstGeom prst="rect">
            <a:avLst/>
          </a:prstGeom>
          <a:noFill/>
        </p:spPr>
        <p:txBody>
          <a:bodyPr wrap="square" lIns="27432" tIns="13716" rIns="27432" bIns="13716" anchor="t">
            <a:spAutoFit/>
          </a:bodyPr>
          <a:lstStyle/>
          <a:p>
            <a:pPr algn="l">
              <a:lnSpc>
                <a:spcPct val="130000"/>
              </a:lnSpc>
            </a:pPr>
            <a:r>
              <a:rPr lang="zh-CN" altLang="en-US" sz="1200" b="0" i="0" spc="150">
                <a:solidFill>
                  <a:srgbClr val="8CA3AF"/>
                </a:solidFill>
                <a:latin typeface="Arial" panose="020B0604020202020204"/>
                <a:ea typeface="Arial" panose="020B0604020202020204"/>
              </a:rPr>
              <a:t>RESEARCH BACKGROUND AND PROBLEM STATEMENT</a:t>
            </a:r>
            <a:endParaRPr lang="zh-CN" altLang="en-US" sz="1200" b="0" i="0" spc="150">
              <a:solidFill>
                <a:srgbClr val="8CA3AF"/>
              </a:solidFill>
              <a:latin typeface="Arial" panose="020B0604020202020204"/>
              <a:ea typeface="Arial" panose="020B0604020202020204"/>
            </a:endParaRPr>
          </a:p>
        </p:txBody>
      </p:sp>
      <p:sp>
        <p:nvSpPr>
          <p:cNvPr id="708" name="Rounded Rectangle 8"/>
          <p:cNvSpPr/>
          <p:nvPr/>
        </p:nvSpPr>
        <p:spPr>
          <a:xfrm>
            <a:off x="5532120" y="1307592"/>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09" name="Rectangle 9"/>
          <p:cNvSpPr/>
          <p:nvPr/>
        </p:nvSpPr>
        <p:spPr>
          <a:xfrm>
            <a:off x="5760720" y="1563624"/>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现象</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710" name="Right Triangle 10"/>
          <p:cNvSpPr/>
          <p:nvPr/>
        </p:nvSpPr>
        <p:spPr>
          <a:xfrm>
            <a:off x="7178040" y="1563624"/>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11" name="TextBox 11"/>
          <p:cNvSpPr txBox="1"/>
          <p:nvPr/>
        </p:nvSpPr>
        <p:spPr>
          <a:xfrm>
            <a:off x="7360920" y="1603883"/>
            <a:ext cx="4114799" cy="57785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AI 算力正把 IT 容量需求转化为持续性资源负荷</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712" name="Rounded Rectangle 12"/>
          <p:cNvSpPr/>
          <p:nvPr/>
        </p:nvSpPr>
        <p:spPr>
          <a:xfrm>
            <a:off x="5532120" y="2752344"/>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13" name="Rectangle 13"/>
          <p:cNvSpPr/>
          <p:nvPr/>
        </p:nvSpPr>
        <p:spPr>
          <a:xfrm>
            <a:off x="5760720" y="3008376"/>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供需失衡</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714" name="Right Triangle 14"/>
          <p:cNvSpPr/>
          <p:nvPr/>
        </p:nvSpPr>
        <p:spPr>
          <a:xfrm>
            <a:off x="7178040" y="3008376"/>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15" name="TextBox 15"/>
          <p:cNvSpPr txBox="1"/>
          <p:nvPr/>
        </p:nvSpPr>
        <p:spPr>
          <a:xfrm>
            <a:off x="7360920" y="3186430"/>
            <a:ext cx="411479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水需求多样因素收紧 vs 供给端碎片化</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716" name="Rounded Rectangle 16"/>
          <p:cNvSpPr/>
          <p:nvPr/>
        </p:nvSpPr>
        <p:spPr>
          <a:xfrm>
            <a:off x="5532120" y="4197096"/>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17" name="Rectangle 17"/>
          <p:cNvSpPr/>
          <p:nvPr/>
        </p:nvSpPr>
        <p:spPr>
          <a:xfrm>
            <a:off x="5760720" y="4453128"/>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切入点</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718" name="Right Triangle 18"/>
          <p:cNvSpPr/>
          <p:nvPr/>
        </p:nvSpPr>
        <p:spPr>
          <a:xfrm>
            <a:off x="7178040" y="4453128"/>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719" name="TextBox 19"/>
          <p:cNvSpPr txBox="1"/>
          <p:nvPr/>
        </p:nvSpPr>
        <p:spPr>
          <a:xfrm>
            <a:off x="7360920" y="4631182"/>
            <a:ext cx="411479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把城市人工水系统作为全过程网络看待</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32" name=""/>
        <p:cNvGrpSpPr/>
        <p:nvPr/>
      </p:nvGrpSpPr>
      <p:grpSpPr>
        <a:xfrm>
          <a:off x="0" y="0"/>
          <a:ext cx="0" cy="0"/>
          <a:chOff x="0" y="0"/>
          <a:chExt cx="0" cy="0"/>
        </a:xfrm>
      </p:grpSpPr>
      <p:sp>
        <p:nvSpPr>
          <p:cNvPr id="733" name="Rounded Rectangle 40"/>
          <p:cNvSpPr/>
          <p:nvPr/>
        </p:nvSpPr>
        <p:spPr>
          <a:xfrm>
            <a:off x="7383780" y="2686050"/>
            <a:ext cx="1083310" cy="3355975"/>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34"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大模型行为的资源消耗</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735"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736" name="Rounded Rectangle 3"/>
          <p:cNvSpPr/>
          <p:nvPr/>
        </p:nvSpPr>
        <p:spPr>
          <a:xfrm>
            <a:off x="776097" y="896112"/>
            <a:ext cx="2560320" cy="914400"/>
          </a:xfrm>
          <a:prstGeom prst="roundRect">
            <a:avLst>
              <a:gd name="adj" fmla="val 2800"/>
            </a:avLst>
          </a:prstGeom>
          <a:solidFill>
            <a:srgbClr val="FFFFFF"/>
          </a:solidFill>
          <a:ln w="1270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37" name="TextBox 4"/>
          <p:cNvSpPr txBox="1"/>
          <p:nvPr/>
        </p:nvSpPr>
        <p:spPr>
          <a:xfrm>
            <a:off x="849249" y="932688"/>
            <a:ext cx="2414015" cy="274320"/>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全国日均Token调用量</a:t>
            </a:r>
            <a:endParaRPr lang="zh-CN" altLang="en-US" sz="1150" b="1" i="0">
              <a:solidFill>
                <a:srgbClr val="005375"/>
              </a:solidFill>
              <a:latin typeface="微软雅黑" panose="020B0503020204020204" pitchFamily="34" charset="-122"/>
              <a:ea typeface="微软雅黑" panose="020B0503020204020204" pitchFamily="34" charset="-122"/>
            </a:endParaRPr>
          </a:p>
        </p:txBody>
      </p:sp>
      <p:sp>
        <p:nvSpPr>
          <p:cNvPr id="738" name="TextBox 5"/>
          <p:cNvSpPr txBox="1"/>
          <p:nvPr/>
        </p:nvSpPr>
        <p:spPr>
          <a:xfrm>
            <a:off x="849249" y="1188720"/>
            <a:ext cx="2414015" cy="329184"/>
          </a:xfrm>
          <a:prstGeom prst="rect">
            <a:avLst/>
          </a:prstGeom>
          <a:noFill/>
        </p:spPr>
        <p:txBody>
          <a:bodyPr wrap="square" lIns="27432" tIns="13716" rIns="27432" bIns="13716" anchor="t">
            <a:spAutoFit/>
          </a:bodyPr>
          <a:lstStyle/>
          <a:p>
            <a:pPr algn="l">
              <a:lnSpc>
                <a:spcPct val="108000"/>
              </a:lnSpc>
            </a:pPr>
            <a:r>
              <a:rPr lang="zh-CN" altLang="en-US" sz="1500" b="1" i="0">
                <a:solidFill>
                  <a:srgbClr val="005375"/>
                </a:solidFill>
                <a:latin typeface="微软雅黑" panose="020B0503020204020204" pitchFamily="34" charset="-122"/>
                <a:ea typeface="微软雅黑" panose="020B0503020204020204" pitchFamily="34" charset="-122"/>
              </a:rPr>
              <a:t>1000亿</a:t>
            </a:r>
            <a:r>
              <a:rPr lang="zh-CN" altLang="en-US" sz="1500" b="1" i="0">
                <a:solidFill>
                  <a:srgbClr val="005375"/>
                </a:solidFill>
                <a:latin typeface="微软雅黑" panose="020B0503020204020204" pitchFamily="34" charset="-122"/>
                <a:ea typeface="微软雅黑" panose="020B0503020204020204" pitchFamily="34" charset="-122"/>
              </a:rPr>
              <a:t>  </a:t>
            </a:r>
            <a:r>
              <a:rPr lang="zh-CN" altLang="en-US" sz="1500" b="1" i="0">
                <a:solidFill>
                  <a:srgbClr val="8CA3AF"/>
                </a:solidFill>
                <a:latin typeface="微软雅黑" panose="020B0503020204020204" pitchFamily="34" charset="-122"/>
                <a:ea typeface="微软雅黑" panose="020B0503020204020204" pitchFamily="34" charset="-122"/>
              </a:rPr>
              <a:t>→ </a:t>
            </a:r>
            <a:r>
              <a:rPr lang="zh-CN" altLang="en-US" sz="1500" b="1" i="0">
                <a:solidFill>
                  <a:srgbClr val="005375"/>
                </a:solidFill>
                <a:latin typeface="微软雅黑" panose="020B0503020204020204" pitchFamily="34" charset="-122"/>
                <a:ea typeface="微软雅黑" panose="020B0503020204020204" pitchFamily="34" charset="-122"/>
              </a:rPr>
              <a:t>140万亿</a:t>
            </a:r>
            <a:endParaRPr lang="zh-CN" altLang="en-US" sz="1500" b="1" i="0">
              <a:solidFill>
                <a:srgbClr val="005375"/>
              </a:solidFill>
              <a:latin typeface="微软雅黑" panose="020B0503020204020204" pitchFamily="34" charset="-122"/>
              <a:ea typeface="微软雅黑" panose="020B0503020204020204" pitchFamily="34" charset="-122"/>
            </a:endParaRPr>
          </a:p>
        </p:txBody>
      </p:sp>
      <p:sp>
        <p:nvSpPr>
          <p:cNvPr id="739" name="TextBox 6"/>
          <p:cNvSpPr txBox="1"/>
          <p:nvPr/>
        </p:nvSpPr>
        <p:spPr>
          <a:xfrm>
            <a:off x="849249" y="1517904"/>
            <a:ext cx="2414015" cy="237744"/>
          </a:xfrm>
          <a:prstGeom prst="rect">
            <a:avLst/>
          </a:prstGeom>
          <a:noFill/>
        </p:spPr>
        <p:txBody>
          <a:bodyPr wrap="square" lIns="27432" tIns="13716" rIns="27432" bIns="13716" anchor="t">
            <a:spAutoFit/>
          </a:bodyPr>
          <a:lstStyle/>
          <a:p>
            <a:pPr algn="l">
              <a:lnSpc>
                <a:spcPct val="108000"/>
              </a:lnSpc>
            </a:pPr>
            <a:r>
              <a:rPr lang="zh-CN" altLang="en-US" sz="1150" b="0" i="0">
                <a:solidFill>
                  <a:srgbClr val="5A6B76"/>
                </a:solidFill>
                <a:latin typeface="微软雅黑" panose="020B0503020204020204" pitchFamily="34" charset="-122"/>
                <a:ea typeface="微软雅黑" panose="020B0503020204020204" pitchFamily="34" charset="-122"/>
              </a:rPr>
              <a:t>2024年初   →   2026年3月</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740" name="Rounded Rectangle 7"/>
          <p:cNvSpPr/>
          <p:nvPr/>
        </p:nvSpPr>
        <p:spPr>
          <a:xfrm>
            <a:off x="3437001" y="896112"/>
            <a:ext cx="2560320" cy="914400"/>
          </a:xfrm>
          <a:prstGeom prst="roundRect">
            <a:avLst>
              <a:gd name="adj" fmla="val 2800"/>
            </a:avLst>
          </a:prstGeom>
          <a:solidFill>
            <a:srgbClr val="FFFFFF"/>
          </a:solidFill>
          <a:ln w="1270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41" name="TextBox 8"/>
          <p:cNvSpPr txBox="1"/>
          <p:nvPr/>
        </p:nvSpPr>
        <p:spPr>
          <a:xfrm>
            <a:off x="3510153" y="932688"/>
            <a:ext cx="2414015" cy="274320"/>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ChatGPT 周活跃用户</a:t>
            </a:r>
            <a:endParaRPr lang="zh-CN" altLang="en-US" sz="1150" b="1" i="0">
              <a:solidFill>
                <a:srgbClr val="005375"/>
              </a:solidFill>
              <a:latin typeface="微软雅黑" panose="020B0503020204020204" pitchFamily="34" charset="-122"/>
              <a:ea typeface="微软雅黑" panose="020B0503020204020204" pitchFamily="34" charset="-122"/>
            </a:endParaRPr>
          </a:p>
        </p:txBody>
      </p:sp>
      <p:sp>
        <p:nvSpPr>
          <p:cNvPr id="742" name="TextBox 9"/>
          <p:cNvSpPr txBox="1"/>
          <p:nvPr/>
        </p:nvSpPr>
        <p:spPr>
          <a:xfrm>
            <a:off x="3510153" y="1188720"/>
            <a:ext cx="2414015" cy="329184"/>
          </a:xfrm>
          <a:prstGeom prst="rect">
            <a:avLst/>
          </a:prstGeom>
          <a:noFill/>
        </p:spPr>
        <p:txBody>
          <a:bodyPr wrap="square" lIns="27432" tIns="13716" rIns="27432" bIns="13716" anchor="t">
            <a:spAutoFit/>
          </a:bodyPr>
          <a:lstStyle/>
          <a:p>
            <a:pPr algn="l">
              <a:lnSpc>
                <a:spcPct val="108000"/>
              </a:lnSpc>
            </a:pPr>
            <a:r>
              <a:rPr lang="zh-CN" altLang="en-US" sz="1500" b="1" i="0">
                <a:solidFill>
                  <a:srgbClr val="005375"/>
                </a:solidFill>
                <a:latin typeface="微软雅黑" panose="020B0503020204020204" pitchFamily="34" charset="-122"/>
                <a:ea typeface="微软雅黑" panose="020B0503020204020204" pitchFamily="34" charset="-122"/>
              </a:rPr>
              <a:t>&lt;1亿</a:t>
            </a:r>
            <a:r>
              <a:rPr lang="zh-CN" altLang="en-US" sz="1500" b="1" i="0">
                <a:solidFill>
                  <a:srgbClr val="005375"/>
                </a:solidFill>
                <a:latin typeface="微软雅黑" panose="020B0503020204020204" pitchFamily="34" charset="-122"/>
                <a:ea typeface="微软雅黑" panose="020B0503020204020204" pitchFamily="34" charset="-122"/>
              </a:rPr>
              <a:t>  </a:t>
            </a:r>
            <a:r>
              <a:rPr lang="zh-CN" altLang="en-US" sz="1500" b="1" i="0">
                <a:solidFill>
                  <a:srgbClr val="8CA3AF"/>
                </a:solidFill>
                <a:latin typeface="微软雅黑" panose="020B0503020204020204" pitchFamily="34" charset="-122"/>
                <a:ea typeface="微软雅黑" panose="020B0503020204020204" pitchFamily="34" charset="-122"/>
              </a:rPr>
              <a:t>→ </a:t>
            </a:r>
            <a:r>
              <a:rPr lang="zh-CN" altLang="en-US" sz="1500" b="1" i="0">
                <a:solidFill>
                  <a:srgbClr val="005375"/>
                </a:solidFill>
                <a:latin typeface="微软雅黑" panose="020B0503020204020204" pitchFamily="34" charset="-122"/>
                <a:ea typeface="微软雅黑" panose="020B0503020204020204" pitchFamily="34" charset="-122"/>
              </a:rPr>
              <a:t>10亿</a:t>
            </a:r>
            <a:endParaRPr lang="zh-CN" altLang="en-US" sz="1500" b="1" i="0">
              <a:solidFill>
                <a:srgbClr val="005375"/>
              </a:solidFill>
              <a:latin typeface="微软雅黑" panose="020B0503020204020204" pitchFamily="34" charset="-122"/>
              <a:ea typeface="微软雅黑" panose="020B0503020204020204" pitchFamily="34" charset="-122"/>
            </a:endParaRPr>
          </a:p>
        </p:txBody>
      </p:sp>
      <p:sp>
        <p:nvSpPr>
          <p:cNvPr id="743" name="TextBox 10"/>
          <p:cNvSpPr txBox="1"/>
          <p:nvPr/>
        </p:nvSpPr>
        <p:spPr>
          <a:xfrm>
            <a:off x="3510153" y="1517904"/>
            <a:ext cx="2414015" cy="237744"/>
          </a:xfrm>
          <a:prstGeom prst="rect">
            <a:avLst/>
          </a:prstGeom>
          <a:noFill/>
        </p:spPr>
        <p:txBody>
          <a:bodyPr wrap="square" lIns="27432" tIns="13716" rIns="27432" bIns="13716" anchor="t">
            <a:spAutoFit/>
          </a:bodyPr>
          <a:lstStyle/>
          <a:p>
            <a:pPr algn="l">
              <a:lnSpc>
                <a:spcPct val="108000"/>
              </a:lnSpc>
            </a:pPr>
            <a:r>
              <a:rPr lang="zh-CN" altLang="en-US" sz="1150" b="0" i="0">
                <a:solidFill>
                  <a:srgbClr val="5A6B76"/>
                </a:solidFill>
                <a:latin typeface="微软雅黑" panose="020B0503020204020204" pitchFamily="34" charset="-122"/>
                <a:ea typeface="微软雅黑" panose="020B0503020204020204" pitchFamily="34" charset="-122"/>
              </a:rPr>
              <a:t>2023年末   →   2026年6月</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744" name="Rounded Rectangle 11"/>
          <p:cNvSpPr/>
          <p:nvPr/>
        </p:nvSpPr>
        <p:spPr>
          <a:xfrm>
            <a:off x="6097905" y="896112"/>
            <a:ext cx="1243584" cy="914400"/>
          </a:xfrm>
          <a:prstGeom prst="roundRect">
            <a:avLst>
              <a:gd name="adj" fmla="val 2800"/>
            </a:avLst>
          </a:prstGeom>
          <a:solidFill>
            <a:srgbClr val="FFFFFF"/>
          </a:solidFill>
          <a:ln w="1270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45" name="TextBox 12"/>
          <p:cNvSpPr txBox="1"/>
          <p:nvPr/>
        </p:nvSpPr>
        <p:spPr>
          <a:xfrm>
            <a:off x="6152768" y="969264"/>
            <a:ext cx="1133856" cy="411480"/>
          </a:xfrm>
          <a:prstGeom prst="rect">
            <a:avLst/>
          </a:prstGeom>
          <a:noFill/>
        </p:spPr>
        <p:txBody>
          <a:bodyPr wrap="square" lIns="27432" tIns="13716" rIns="27432" bIns="13716" anchor="t">
            <a:spAutoFit/>
          </a:bodyPr>
          <a:lstStyle/>
          <a:p>
            <a:pPr algn="ctr">
              <a:lnSpc>
                <a:spcPct val="108000"/>
              </a:lnSpc>
            </a:pPr>
            <a:r>
              <a:rPr lang="zh-CN" altLang="en-US" sz="2000" b="1" i="0">
                <a:solidFill>
                  <a:srgbClr val="005375"/>
                </a:solidFill>
                <a:latin typeface="Arial" panose="020B0604020202020204"/>
                <a:ea typeface="Arial" panose="020B0604020202020204"/>
              </a:rPr>
              <a:t>53%</a:t>
            </a:r>
            <a:endParaRPr lang="zh-CN" altLang="en-US" sz="2000" b="1" i="0">
              <a:solidFill>
                <a:srgbClr val="005375"/>
              </a:solidFill>
              <a:latin typeface="Arial" panose="020B0604020202020204"/>
              <a:ea typeface="Arial" panose="020B0604020202020204"/>
            </a:endParaRPr>
          </a:p>
        </p:txBody>
      </p:sp>
      <p:sp>
        <p:nvSpPr>
          <p:cNvPr id="746" name="TextBox 13"/>
          <p:cNvSpPr txBox="1"/>
          <p:nvPr/>
        </p:nvSpPr>
        <p:spPr>
          <a:xfrm>
            <a:off x="6143624" y="1389888"/>
            <a:ext cx="1152144" cy="402336"/>
          </a:xfrm>
          <a:prstGeom prst="rect">
            <a:avLst/>
          </a:prstGeom>
          <a:noFill/>
        </p:spPr>
        <p:txBody>
          <a:bodyPr wrap="square" lIns="27432" tIns="13716" rIns="27432" bIns="13716" anchor="t">
            <a:spAutoFit/>
          </a:bodyPr>
          <a:lstStyle/>
          <a:p>
            <a:pPr algn="ctr">
              <a:lnSpc>
                <a:spcPct val="105000"/>
              </a:lnSpc>
            </a:pPr>
            <a:r>
              <a:rPr lang="zh-CN" altLang="en-US" sz="1150" b="0" i="0">
                <a:solidFill>
                  <a:srgbClr val="5A6B76"/>
                </a:solidFill>
                <a:latin typeface="微软雅黑" panose="020B0503020204020204" pitchFamily="34" charset="-122"/>
                <a:ea typeface="微软雅黑" panose="020B0503020204020204" pitchFamily="34" charset="-122"/>
              </a:rPr>
              <a:t>GenAI全球人口采用率估计</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747" name="Rounded Rectangle 14"/>
          <p:cNvSpPr/>
          <p:nvPr/>
        </p:nvSpPr>
        <p:spPr>
          <a:xfrm>
            <a:off x="7423785" y="896112"/>
            <a:ext cx="1243584" cy="914400"/>
          </a:xfrm>
          <a:prstGeom prst="roundRect">
            <a:avLst>
              <a:gd name="adj" fmla="val 2800"/>
            </a:avLst>
          </a:prstGeom>
          <a:solidFill>
            <a:srgbClr val="FFFFFF"/>
          </a:solidFill>
          <a:ln w="1270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48" name="TextBox 15"/>
          <p:cNvSpPr txBox="1"/>
          <p:nvPr/>
        </p:nvSpPr>
        <p:spPr>
          <a:xfrm>
            <a:off x="7478648" y="969264"/>
            <a:ext cx="1133856" cy="411480"/>
          </a:xfrm>
          <a:prstGeom prst="rect">
            <a:avLst/>
          </a:prstGeom>
          <a:noFill/>
        </p:spPr>
        <p:txBody>
          <a:bodyPr wrap="square" lIns="27432" tIns="13716" rIns="27432" bIns="13716" anchor="t">
            <a:spAutoFit/>
          </a:bodyPr>
          <a:lstStyle/>
          <a:p>
            <a:pPr algn="ctr">
              <a:lnSpc>
                <a:spcPct val="108000"/>
              </a:lnSpc>
            </a:pPr>
            <a:r>
              <a:rPr lang="zh-CN" altLang="en-US" sz="2000" b="1" i="0">
                <a:solidFill>
                  <a:srgbClr val="005375"/>
                </a:solidFill>
                <a:latin typeface="Arial" panose="020B0604020202020204"/>
                <a:ea typeface="Arial" panose="020B0604020202020204"/>
              </a:rPr>
              <a:t>79%</a:t>
            </a:r>
            <a:endParaRPr lang="zh-CN" altLang="en-US" sz="2000" b="1" i="0">
              <a:solidFill>
                <a:srgbClr val="005375"/>
              </a:solidFill>
              <a:latin typeface="Arial" panose="020B0604020202020204"/>
              <a:ea typeface="Arial" panose="020B0604020202020204"/>
            </a:endParaRPr>
          </a:p>
        </p:txBody>
      </p:sp>
      <p:sp>
        <p:nvSpPr>
          <p:cNvPr id="749" name="TextBox 16"/>
          <p:cNvSpPr txBox="1"/>
          <p:nvPr/>
        </p:nvSpPr>
        <p:spPr>
          <a:xfrm>
            <a:off x="7469505" y="1389888"/>
            <a:ext cx="1152144" cy="402336"/>
          </a:xfrm>
          <a:prstGeom prst="rect">
            <a:avLst/>
          </a:prstGeom>
          <a:noFill/>
        </p:spPr>
        <p:txBody>
          <a:bodyPr wrap="square" lIns="27432" tIns="13716" rIns="27432" bIns="13716" anchor="t">
            <a:spAutoFit/>
          </a:bodyPr>
          <a:lstStyle/>
          <a:p>
            <a:pPr algn="ctr">
              <a:lnSpc>
                <a:spcPct val="105000"/>
              </a:lnSpc>
            </a:pPr>
            <a:r>
              <a:rPr lang="zh-CN" altLang="en-US" sz="1150" b="0" i="0">
                <a:solidFill>
                  <a:srgbClr val="5A6B76"/>
                </a:solidFill>
                <a:latin typeface="微软雅黑" panose="020B0503020204020204" pitchFamily="34" charset="-122"/>
                <a:ea typeface="微软雅黑" panose="020B0503020204020204" pitchFamily="34" charset="-122"/>
              </a:rPr>
              <a:t>企业GenAI采用率约</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750" name="Rounded Rectangle 17"/>
          <p:cNvSpPr/>
          <p:nvPr/>
        </p:nvSpPr>
        <p:spPr>
          <a:xfrm>
            <a:off x="690245" y="4973320"/>
            <a:ext cx="1083310" cy="1068705"/>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51" name="TextBox 18"/>
          <p:cNvSpPr txBox="1"/>
          <p:nvPr/>
        </p:nvSpPr>
        <p:spPr>
          <a:xfrm>
            <a:off x="717550" y="4966970"/>
            <a:ext cx="1028700" cy="198120"/>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文本</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52" name="TextBox 19"/>
          <p:cNvSpPr txBox="1"/>
          <p:nvPr/>
        </p:nvSpPr>
        <p:spPr>
          <a:xfrm>
            <a:off x="735965" y="5253355"/>
            <a:ext cx="991870" cy="676910"/>
          </a:xfrm>
          <a:prstGeom prst="rect">
            <a:avLst/>
          </a:prstGeom>
          <a:noFill/>
        </p:spPr>
        <p:txBody>
          <a:bodyPr wrap="square" lIns="27432" tIns="13716" rIns="27432" bIns="13716" anchor="t">
            <a:noAutofit/>
          </a:bodyPr>
          <a:lstStyle/>
          <a:p>
            <a:pPr algn="l">
              <a:lnSpc>
                <a:spcPct val="112000"/>
              </a:lnSpc>
            </a:pPr>
            <a:r>
              <a:rPr lang="zh-CN" altLang="en-US" sz="1150" b="0" i="0">
                <a:solidFill>
                  <a:srgbClr val="1F2A33"/>
                </a:solidFill>
                <a:latin typeface="微软雅黑" panose="020B0503020204020204" pitchFamily="34" charset="-122"/>
                <a:ea typeface="微软雅黑" panose="020B0503020204020204" pitchFamily="34" charset="-122"/>
              </a:rPr>
              <a:t>简单的文本问答资源消耗相对较低</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753" name="Rounded Rectangle 20"/>
          <p:cNvSpPr/>
          <p:nvPr/>
        </p:nvSpPr>
        <p:spPr>
          <a:xfrm>
            <a:off x="1799590" y="4656455"/>
            <a:ext cx="1083310" cy="1385570"/>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54" name="TextBox 21"/>
          <p:cNvSpPr txBox="1"/>
          <p:nvPr/>
        </p:nvSpPr>
        <p:spPr>
          <a:xfrm>
            <a:off x="1826895" y="4670425"/>
            <a:ext cx="1028700" cy="198120"/>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聊天</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55" name="TextBox 22"/>
          <p:cNvSpPr txBox="1"/>
          <p:nvPr/>
        </p:nvSpPr>
        <p:spPr>
          <a:xfrm>
            <a:off x="1845310" y="4987290"/>
            <a:ext cx="991870" cy="1108075"/>
          </a:xfrm>
          <a:prstGeom prst="rect">
            <a:avLst/>
          </a:prstGeom>
          <a:noFill/>
        </p:spPr>
        <p:txBody>
          <a:bodyPr wrap="square" lIns="27432" tIns="13716" rIns="27432" bIns="13716" anchor="t">
            <a:noAutofit/>
          </a:bodyPr>
          <a:lstStyle/>
          <a:p>
            <a:pPr algn="l">
              <a:lnSpc>
                <a:spcPct val="112000"/>
              </a:lnSpc>
            </a:pPr>
            <a:r>
              <a:rPr lang="zh-CN" altLang="en-US" sz="1150" b="0" i="0">
                <a:solidFill>
                  <a:srgbClr val="1F2A33"/>
                </a:solidFill>
                <a:latin typeface="微软雅黑" panose="020B0503020204020204" pitchFamily="34" charset="-122"/>
                <a:ea typeface="微软雅黑" panose="020B0503020204020204" pitchFamily="34" charset="-122"/>
              </a:rPr>
              <a:t>与AI持续聊天5分钟约消耗500毫升水</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756" name="Rounded Rectangle 25"/>
          <p:cNvSpPr/>
          <p:nvPr/>
        </p:nvSpPr>
        <p:spPr>
          <a:xfrm>
            <a:off x="2908935" y="4340225"/>
            <a:ext cx="1083310" cy="1701800"/>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57" name="TextBox 26"/>
          <p:cNvSpPr txBox="1"/>
          <p:nvPr/>
        </p:nvSpPr>
        <p:spPr>
          <a:xfrm>
            <a:off x="2936240" y="4340225"/>
            <a:ext cx="1028700" cy="198120"/>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长推理</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58" name="TextBox 27"/>
          <p:cNvSpPr txBox="1"/>
          <p:nvPr/>
        </p:nvSpPr>
        <p:spPr>
          <a:xfrm>
            <a:off x="2954655" y="4670425"/>
            <a:ext cx="991870" cy="1424940"/>
          </a:xfrm>
          <a:prstGeom prst="rect">
            <a:avLst/>
          </a:prstGeom>
          <a:noFill/>
        </p:spPr>
        <p:txBody>
          <a:bodyPr wrap="square" lIns="27432" tIns="13716" rIns="27432" bIns="13716" anchor="t">
            <a:noAutofit/>
          </a:bodyPr>
          <a:lstStyle/>
          <a:p>
            <a:pPr algn="l">
              <a:lnSpc>
                <a:spcPct val="112000"/>
              </a:lnSpc>
            </a:pPr>
            <a:r>
              <a:rPr lang="zh-CN" altLang="en-US" sz="1150" b="0" i="0">
                <a:solidFill>
                  <a:srgbClr val="1F2A33"/>
                </a:solidFill>
                <a:latin typeface="微软雅黑" panose="020B0503020204020204" pitchFamily="34" charset="-122"/>
                <a:ea typeface="微软雅黑" panose="020B0503020204020204" pitchFamily="34" charset="-122"/>
              </a:rPr>
              <a:t>约 15倍算力消耗，约一百到几百毫升/次</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759" name="Rounded Rectangle 30"/>
          <p:cNvSpPr/>
          <p:nvPr/>
        </p:nvSpPr>
        <p:spPr>
          <a:xfrm>
            <a:off x="4017645" y="4022725"/>
            <a:ext cx="1083310" cy="2018665"/>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60" name="TextBox 31"/>
          <p:cNvSpPr txBox="1"/>
          <p:nvPr/>
        </p:nvSpPr>
        <p:spPr>
          <a:xfrm>
            <a:off x="4026535" y="4037330"/>
            <a:ext cx="1028700" cy="198120"/>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图片</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61" name="TextBox 32"/>
          <p:cNvSpPr txBox="1"/>
          <p:nvPr/>
        </p:nvSpPr>
        <p:spPr>
          <a:xfrm>
            <a:off x="4063365" y="4354195"/>
            <a:ext cx="991870" cy="1741805"/>
          </a:xfrm>
          <a:prstGeom prst="rect">
            <a:avLst/>
          </a:prstGeom>
          <a:noFill/>
        </p:spPr>
        <p:txBody>
          <a:bodyPr wrap="square" lIns="27432" tIns="13716" rIns="27432" bIns="13716" anchor="t">
            <a:noAutofit/>
          </a:bodyPr>
          <a:lstStyle/>
          <a:p>
            <a:pPr algn="l">
              <a:lnSpc>
                <a:spcPct val="112000"/>
              </a:lnSpc>
            </a:pPr>
            <a:r>
              <a:rPr lang="zh-CN" altLang="en-US" sz="1150" b="0" i="0">
                <a:solidFill>
                  <a:srgbClr val="1F2A33"/>
                </a:solidFill>
                <a:latin typeface="微软雅黑" panose="020B0503020204020204" pitchFamily="34" charset="-122"/>
                <a:ea typeface="微软雅黑" panose="020B0503020204020204" pitchFamily="34" charset="-122"/>
              </a:rPr>
              <a:t>图像生成平均约消耗2.9 kWh / 1000张，耗水约10L</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762" name="Rounded Rectangle 35"/>
          <p:cNvSpPr/>
          <p:nvPr/>
        </p:nvSpPr>
        <p:spPr>
          <a:xfrm>
            <a:off x="5126990" y="3706495"/>
            <a:ext cx="1083310" cy="2335530"/>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63" name="TextBox 36"/>
          <p:cNvSpPr txBox="1"/>
          <p:nvPr/>
        </p:nvSpPr>
        <p:spPr>
          <a:xfrm>
            <a:off x="5135880" y="3706495"/>
            <a:ext cx="1028700" cy="198120"/>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视频</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64" name="TextBox 37"/>
          <p:cNvSpPr txBox="1"/>
          <p:nvPr/>
        </p:nvSpPr>
        <p:spPr>
          <a:xfrm>
            <a:off x="5172710" y="4037330"/>
            <a:ext cx="991870" cy="2058670"/>
          </a:xfrm>
          <a:prstGeom prst="rect">
            <a:avLst/>
          </a:prstGeom>
          <a:noFill/>
        </p:spPr>
        <p:txBody>
          <a:bodyPr wrap="square" lIns="27432" tIns="13716" rIns="27432" bIns="13716" anchor="t">
            <a:noAutofit/>
          </a:bodyPr>
          <a:lstStyle/>
          <a:p>
            <a:pPr algn="l">
              <a:lnSpc>
                <a:spcPct val="112000"/>
              </a:lnSpc>
            </a:pPr>
            <a:r>
              <a:rPr lang="zh-CN" altLang="en-US" sz="1150" b="0" i="0">
                <a:solidFill>
                  <a:srgbClr val="1F2A33"/>
                </a:solidFill>
                <a:latin typeface="微软雅黑" panose="020B0503020204020204" pitchFamily="34" charset="-122"/>
                <a:ea typeface="微软雅黑" panose="020B0503020204020204" pitchFamily="34" charset="-122"/>
              </a:rPr>
              <a:t>Sora 生成720p、30帧、5秒视频，耗水约1.5L</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765" name="Rounded Rectangle 40"/>
          <p:cNvSpPr/>
          <p:nvPr/>
        </p:nvSpPr>
        <p:spPr>
          <a:xfrm>
            <a:off x="6236335" y="3390265"/>
            <a:ext cx="1083310" cy="2651760"/>
          </a:xfrm>
          <a:prstGeom prst="roundRect">
            <a:avLst>
              <a:gd name="adj" fmla="val 10000"/>
            </a:avLst>
          </a:prstGeom>
          <a:solidFill>
            <a:srgbClr val="EFF5F8"/>
          </a:solidFill>
          <a:ln w="9525">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66" name="TextBox 41"/>
          <p:cNvSpPr txBox="1"/>
          <p:nvPr/>
        </p:nvSpPr>
        <p:spPr>
          <a:xfrm>
            <a:off x="6245225" y="3390265"/>
            <a:ext cx="1028700" cy="198120"/>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训练</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67" name="TextBox 42"/>
          <p:cNvSpPr txBox="1"/>
          <p:nvPr/>
        </p:nvSpPr>
        <p:spPr>
          <a:xfrm>
            <a:off x="6282055" y="3720465"/>
            <a:ext cx="991870" cy="2374900"/>
          </a:xfrm>
          <a:prstGeom prst="rect">
            <a:avLst/>
          </a:prstGeom>
          <a:noFill/>
        </p:spPr>
        <p:txBody>
          <a:bodyPr wrap="square" lIns="27432" tIns="13716" rIns="27432" bIns="13716" anchor="t">
            <a:noAutofit/>
          </a:bodyPr>
          <a:lstStyle/>
          <a:p>
            <a:pPr algn="l">
              <a:lnSpc>
                <a:spcPct val="112000"/>
              </a:lnSpc>
            </a:pPr>
            <a:r>
              <a:rPr lang="zh-CN" altLang="en-US" sz="1150" b="0" i="0">
                <a:solidFill>
                  <a:srgbClr val="1F2A33"/>
                </a:solidFill>
                <a:latin typeface="微软雅黑" panose="020B0503020204020204" pitchFamily="34" charset="-122"/>
                <a:ea typeface="微软雅黑" panose="020B0503020204020204" pitchFamily="34" charset="-122"/>
              </a:rPr>
              <a:t>GPT-3训练一次耗电约1287兆瓦时，可供3000辆特斯拉跑到报废</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768" name="TextBox 46"/>
          <p:cNvSpPr txBox="1"/>
          <p:nvPr/>
        </p:nvSpPr>
        <p:spPr>
          <a:xfrm>
            <a:off x="7351395" y="2686050"/>
            <a:ext cx="1115695" cy="163195"/>
          </a:xfrm>
          <a:prstGeom prst="rect">
            <a:avLst/>
          </a:prstGeom>
          <a:noFill/>
        </p:spPr>
        <p:txBody>
          <a:bodyPr wrap="square" lIns="27432" tIns="13716" rIns="27432" bIns="13716" anchor="t">
            <a:no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算力中心</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769" name="TextBox 47"/>
          <p:cNvSpPr txBox="1"/>
          <p:nvPr/>
        </p:nvSpPr>
        <p:spPr>
          <a:xfrm>
            <a:off x="7397115" y="2977515"/>
            <a:ext cx="1007745" cy="1962785"/>
          </a:xfrm>
          <a:prstGeom prst="rect">
            <a:avLst/>
          </a:prstGeom>
          <a:noFill/>
        </p:spPr>
        <p:txBody>
          <a:bodyPr wrap="square" lIns="27432" tIns="13716" rIns="27432" bIns="13716" anchor="t">
            <a:noAutofit/>
          </a:bodyPr>
          <a:lstStyle/>
          <a:p>
            <a:pPr algn="l">
              <a:lnSpc>
                <a:spcPct val="115000"/>
              </a:lnSpc>
            </a:pPr>
            <a:r>
              <a:rPr lang="zh-CN" altLang="en-US" sz="1150" b="0" i="0">
                <a:solidFill>
                  <a:schemeClr val="tx1"/>
                </a:solidFill>
                <a:latin typeface="微软雅黑" panose="020B0503020204020204" pitchFamily="34" charset="-122"/>
                <a:ea typeface="微软雅黑" panose="020B0503020204020204" pitchFamily="34" charset="-122"/>
              </a:rPr>
              <a:t>一座先进水效率的 100 MW级 大型AI算力中心，每年现场冷却等环节消耗约2亿升水，近100个奥运泳池。</a:t>
            </a:r>
            <a:endParaRPr lang="zh-CN" altLang="en-US" sz="1150" b="0" i="0">
              <a:solidFill>
                <a:schemeClr val="tx1"/>
              </a:solidFill>
              <a:latin typeface="微软雅黑" panose="020B0503020204020204" pitchFamily="34" charset="-122"/>
              <a:ea typeface="微软雅黑" panose="020B0503020204020204" pitchFamily="34" charset="-122"/>
            </a:endParaRPr>
          </a:p>
          <a:p>
            <a:pPr algn="l">
              <a:lnSpc>
                <a:spcPct val="115000"/>
              </a:lnSpc>
              <a:spcBef>
                <a:spcPts val="400"/>
              </a:spcBef>
            </a:pPr>
            <a:r>
              <a:rPr lang="zh-CN" altLang="en-US" sz="1150" b="0" i="0">
                <a:solidFill>
                  <a:schemeClr val="tx1"/>
                </a:solidFill>
                <a:latin typeface="微软雅黑" panose="020B0503020204020204" pitchFamily="34" charset="-122"/>
                <a:ea typeface="微软雅黑" panose="020B0503020204020204" pitchFamily="34" charset="-122"/>
              </a:rPr>
              <a:t>8月，乌兰察布建成全球最大的AI算力中心，规划容量超2GW</a:t>
            </a:r>
            <a:endParaRPr lang="zh-CN" altLang="en-US" sz="1150" b="0" i="0">
              <a:solidFill>
                <a:schemeClr val="tx1"/>
              </a:solidFill>
              <a:latin typeface="微软雅黑" panose="020B0503020204020204" pitchFamily="34" charset="-122"/>
              <a:ea typeface="微软雅黑" panose="020B0503020204020204" pitchFamily="34" charset="-122"/>
            </a:endParaRPr>
          </a:p>
        </p:txBody>
      </p:sp>
      <p:sp>
        <p:nvSpPr>
          <p:cNvPr id="770" name="Down Arrow 50"/>
          <p:cNvSpPr/>
          <p:nvPr/>
        </p:nvSpPr>
        <p:spPr>
          <a:xfrm rot="14700000">
            <a:off x="4192905" y="2068195"/>
            <a:ext cx="330200" cy="2983230"/>
          </a:xfrm>
          <a:prstGeom prst="down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71" name="TextBox 51"/>
          <p:cNvSpPr txBox="1"/>
          <p:nvPr/>
        </p:nvSpPr>
        <p:spPr>
          <a:xfrm>
            <a:off x="1038225" y="2416175"/>
            <a:ext cx="4236720" cy="1103630"/>
          </a:xfrm>
          <a:prstGeom prst="rect">
            <a:avLst/>
          </a:prstGeom>
          <a:noFill/>
        </p:spPr>
        <p:txBody>
          <a:bodyPr wrap="square" lIns="27432" tIns="13716" rIns="27432" bIns="13716" anchor="t">
            <a:noAutofit/>
          </a:bodyPr>
          <a:lstStyle/>
          <a:p>
            <a:pPr algn="l">
              <a:lnSpc>
                <a:spcPct val="100000"/>
              </a:lnSpc>
            </a:pPr>
            <a:r>
              <a:rPr lang="en-US" altLang="zh-CN" sz="3600" b="1" i="0">
                <a:solidFill>
                  <a:srgbClr val="005375"/>
                </a:solidFill>
                <a:latin typeface="微软雅黑" panose="020B0503020204020204" pitchFamily="34" charset="-122"/>
                <a:ea typeface="微软雅黑" panose="020B0503020204020204" pitchFamily="34" charset="-122"/>
              </a:rPr>
              <a:t>AI</a:t>
            </a:r>
            <a:r>
              <a:rPr lang="zh-CN" altLang="en-US" sz="3600" b="1" i="0">
                <a:solidFill>
                  <a:srgbClr val="005375"/>
                </a:solidFill>
                <a:latin typeface="微软雅黑" panose="020B0503020204020204" pitchFamily="34" charset="-122"/>
                <a:ea typeface="微软雅黑" panose="020B0503020204020204" pitchFamily="34" charset="-122"/>
              </a:rPr>
              <a:t>基础设施资源消耗大幅上升！</a:t>
            </a:r>
            <a:endParaRPr lang="zh-CN" altLang="en-US" sz="3600" b="1" i="0">
              <a:solidFill>
                <a:srgbClr val="005375"/>
              </a:solidFill>
              <a:latin typeface="微软雅黑" panose="020B0503020204020204" pitchFamily="34" charset="-122"/>
              <a:ea typeface="微软雅黑" panose="020B0503020204020204" pitchFamily="34" charset="-122"/>
            </a:endParaRPr>
          </a:p>
        </p:txBody>
      </p:sp>
      <p:sp>
        <p:nvSpPr>
          <p:cNvPr id="772" name="Rounded Rectangle 52"/>
          <p:cNvSpPr/>
          <p:nvPr/>
        </p:nvSpPr>
        <p:spPr>
          <a:xfrm>
            <a:off x="9082278" y="896112"/>
            <a:ext cx="2267712" cy="5340096"/>
          </a:xfrm>
          <a:prstGeom prst="roundRect">
            <a:avLst>
              <a:gd name="adj" fmla="val 2800"/>
            </a:avLst>
          </a:prstGeom>
          <a:solidFill>
            <a:srgbClr val="FFFFFF"/>
          </a:solidFill>
          <a:ln w="1524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773" name="TextBox 53"/>
          <p:cNvSpPr txBox="1"/>
          <p:nvPr/>
        </p:nvSpPr>
        <p:spPr>
          <a:xfrm>
            <a:off x="9192006" y="1005840"/>
            <a:ext cx="2048256" cy="365760"/>
          </a:xfrm>
          <a:prstGeom prst="rect">
            <a:avLst/>
          </a:prstGeom>
          <a:noFill/>
        </p:spPr>
        <p:txBody>
          <a:bodyPr wrap="square" lIns="27432" tIns="13716" rIns="27432" bIns="13716" anchor="t">
            <a:spAutoFit/>
          </a:bodyPr>
          <a:lstStyle/>
          <a:p>
            <a:pPr algn="l">
              <a:lnSpc>
                <a:spcPct val="108000"/>
              </a:lnSpc>
            </a:pPr>
            <a:r>
              <a:rPr lang="zh-CN" altLang="en-US" sz="1500" b="1" i="0">
                <a:solidFill>
                  <a:srgbClr val="005375"/>
                </a:solidFill>
                <a:latin typeface="微软雅黑" panose="020B0503020204020204" pitchFamily="34" charset="-122"/>
                <a:ea typeface="微软雅黑" panose="020B0503020204020204" pitchFamily="34" charset="-122"/>
              </a:rPr>
              <a:t>环境影响</a:t>
            </a:r>
            <a:endParaRPr lang="zh-CN" altLang="en-US" sz="1500" b="1" i="0">
              <a:solidFill>
                <a:srgbClr val="005375"/>
              </a:solidFill>
              <a:latin typeface="微软雅黑" panose="020B0503020204020204" pitchFamily="34" charset="-122"/>
              <a:ea typeface="微软雅黑" panose="020B0503020204020204" pitchFamily="34" charset="-122"/>
            </a:endParaRPr>
          </a:p>
        </p:txBody>
      </p:sp>
      <p:sp>
        <p:nvSpPr>
          <p:cNvPr id="774" name="Rectangle 54"/>
          <p:cNvSpPr/>
          <p:nvPr/>
        </p:nvSpPr>
        <p:spPr>
          <a:xfrm>
            <a:off x="9192260" y="1463040"/>
            <a:ext cx="309880" cy="328295"/>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1</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775" name="TextBox 55"/>
          <p:cNvSpPr txBox="1"/>
          <p:nvPr/>
        </p:nvSpPr>
        <p:spPr>
          <a:xfrm>
            <a:off x="9502902" y="1444752"/>
            <a:ext cx="1783080" cy="566928"/>
          </a:xfrm>
          <a:prstGeom prst="rect">
            <a:avLst/>
          </a:prstGeom>
          <a:noFill/>
        </p:spPr>
        <p:txBody>
          <a:bodyPr wrap="square" lIns="27432" tIns="13716" rIns="27432" bIns="13716" anchor="t">
            <a:spAutoFit/>
          </a:bodyPr>
          <a:lstStyle/>
          <a:p>
            <a:pPr algn="l">
              <a:lnSpc>
                <a:spcPct val="108000"/>
              </a:lnSpc>
            </a:pPr>
            <a:r>
              <a:rPr lang="zh-CN" altLang="en-US" sz="1150" b="1" i="0">
                <a:solidFill>
                  <a:srgbClr val="1F2A33"/>
                </a:solidFill>
                <a:latin typeface="微软雅黑" panose="020B0503020204020204" pitchFamily="34" charset="-122"/>
                <a:ea typeface="微软雅黑" panose="020B0503020204020204" pitchFamily="34" charset="-122"/>
              </a:rPr>
              <a:t>使用场景越复杂，电力与用水消耗越高</a:t>
            </a:r>
            <a:endParaRPr lang="zh-CN" altLang="en-US" sz="1150" b="1" i="0">
              <a:solidFill>
                <a:srgbClr val="1F2A33"/>
              </a:solidFill>
              <a:latin typeface="微软雅黑" panose="020B0503020204020204" pitchFamily="34" charset="-122"/>
              <a:ea typeface="微软雅黑" panose="020B0503020204020204" pitchFamily="34" charset="-122"/>
            </a:endParaRPr>
          </a:p>
        </p:txBody>
      </p:sp>
      <p:sp>
        <p:nvSpPr>
          <p:cNvPr id="776" name="TextBox 56"/>
          <p:cNvSpPr txBox="1"/>
          <p:nvPr/>
        </p:nvSpPr>
        <p:spPr>
          <a:xfrm>
            <a:off x="9192006" y="2011680"/>
            <a:ext cx="2084831" cy="868680"/>
          </a:xfrm>
          <a:prstGeom prst="rect">
            <a:avLst/>
          </a:prstGeom>
          <a:noFill/>
        </p:spPr>
        <p:txBody>
          <a:bodyPr wrap="square" lIns="27432" tIns="13716" rIns="27432" bIns="13716" anchor="t">
            <a:spAutoFit/>
          </a:bodyPr>
          <a:lstStyle/>
          <a:p>
            <a:pPr algn="l">
              <a:lnSpc>
                <a:spcPct val="115000"/>
              </a:lnSpc>
            </a:pPr>
            <a:r>
              <a:rPr lang="zh-CN" altLang="en-US" sz="1150" b="0" i="0">
                <a:solidFill>
                  <a:srgbClr val="5A6B76"/>
                </a:solidFill>
                <a:latin typeface="微软雅黑" panose="020B0503020204020204" pitchFamily="34" charset="-122"/>
                <a:ea typeface="微软雅黑" panose="020B0503020204020204" pitchFamily="34" charset="-122"/>
              </a:rPr>
              <a:t>从简单问答到多模态生成再到大规模训练，资源消耗呈指数级上升。</a:t>
            </a:r>
            <a:endParaRPr lang="zh-CN" altLang="en-US" sz="1150" b="0" i="0">
              <a:solidFill>
                <a:srgbClr val="5A6B76"/>
              </a:solidFill>
              <a:latin typeface="微软雅黑" panose="020B0503020204020204" pitchFamily="34" charset="-122"/>
              <a:ea typeface="微软雅黑" panose="020B0503020204020204" pitchFamily="34" charset="-122"/>
            </a:endParaRPr>
          </a:p>
        </p:txBody>
      </p:sp>
      <p:cxnSp>
        <p:nvCxnSpPr>
          <p:cNvPr id="777" name="Connector 57"/>
          <p:cNvCxnSpPr/>
          <p:nvPr/>
        </p:nvCxnSpPr>
        <p:spPr>
          <a:xfrm>
            <a:off x="9192006" y="2889503"/>
            <a:ext cx="2048256"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778" name="Rectangle 58"/>
          <p:cNvSpPr/>
          <p:nvPr/>
        </p:nvSpPr>
        <p:spPr>
          <a:xfrm>
            <a:off x="9192260" y="3035935"/>
            <a:ext cx="309880" cy="328295"/>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2</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779" name="TextBox 59"/>
          <p:cNvSpPr txBox="1"/>
          <p:nvPr/>
        </p:nvSpPr>
        <p:spPr>
          <a:xfrm>
            <a:off x="9502902" y="3017520"/>
            <a:ext cx="1783080" cy="566928"/>
          </a:xfrm>
          <a:prstGeom prst="rect">
            <a:avLst/>
          </a:prstGeom>
          <a:noFill/>
        </p:spPr>
        <p:txBody>
          <a:bodyPr wrap="square" lIns="27432" tIns="13716" rIns="27432" bIns="13716" anchor="t">
            <a:spAutoFit/>
          </a:bodyPr>
          <a:lstStyle/>
          <a:p>
            <a:pPr algn="l">
              <a:lnSpc>
                <a:spcPct val="108000"/>
              </a:lnSpc>
            </a:pPr>
            <a:r>
              <a:rPr lang="zh-CN" altLang="en-US" sz="1150" b="1" i="0">
                <a:solidFill>
                  <a:srgbClr val="1F2A33"/>
                </a:solidFill>
                <a:latin typeface="微软雅黑" panose="020B0503020204020204" pitchFamily="34" charset="-122"/>
                <a:ea typeface="微软雅黑" panose="020B0503020204020204" pitchFamily="34" charset="-122"/>
              </a:rPr>
              <a:t>训练与视频生成是高能耗环节</a:t>
            </a:r>
            <a:endParaRPr lang="zh-CN" altLang="en-US" sz="1150" b="1" i="0">
              <a:solidFill>
                <a:srgbClr val="1F2A33"/>
              </a:solidFill>
              <a:latin typeface="微软雅黑" panose="020B0503020204020204" pitchFamily="34" charset="-122"/>
              <a:ea typeface="微软雅黑" panose="020B0503020204020204" pitchFamily="34" charset="-122"/>
            </a:endParaRPr>
          </a:p>
        </p:txBody>
      </p:sp>
      <p:sp>
        <p:nvSpPr>
          <p:cNvPr id="780" name="TextBox 60"/>
          <p:cNvSpPr txBox="1"/>
          <p:nvPr/>
        </p:nvSpPr>
        <p:spPr>
          <a:xfrm>
            <a:off x="9192006" y="3584448"/>
            <a:ext cx="2084831" cy="868680"/>
          </a:xfrm>
          <a:prstGeom prst="rect">
            <a:avLst/>
          </a:prstGeom>
          <a:noFill/>
        </p:spPr>
        <p:txBody>
          <a:bodyPr wrap="square" lIns="27432" tIns="13716" rIns="27432" bIns="13716" anchor="t">
            <a:spAutoFit/>
          </a:bodyPr>
          <a:lstStyle/>
          <a:p>
            <a:pPr algn="l">
              <a:lnSpc>
                <a:spcPct val="115000"/>
              </a:lnSpc>
            </a:pPr>
            <a:r>
              <a:rPr lang="zh-CN" altLang="en-US" sz="1150" b="0" i="0">
                <a:solidFill>
                  <a:srgbClr val="5A6B76"/>
                </a:solidFill>
                <a:latin typeface="微软雅黑" panose="020B0503020204020204" pitchFamily="34" charset="-122"/>
                <a:ea typeface="微软雅黑" panose="020B0503020204020204" pitchFamily="34" charset="-122"/>
              </a:rPr>
              <a:t>大规模模型训练和高质量视频生成对电力与水资源的需求显著高于日常应用。</a:t>
            </a:r>
            <a:endParaRPr lang="zh-CN" altLang="en-US" sz="1150" b="0" i="0">
              <a:solidFill>
                <a:srgbClr val="5A6B76"/>
              </a:solidFill>
              <a:latin typeface="微软雅黑" panose="020B0503020204020204" pitchFamily="34" charset="-122"/>
              <a:ea typeface="微软雅黑" panose="020B0503020204020204" pitchFamily="34" charset="-122"/>
            </a:endParaRPr>
          </a:p>
        </p:txBody>
      </p:sp>
      <p:cxnSp>
        <p:nvCxnSpPr>
          <p:cNvPr id="781" name="Connector 61"/>
          <p:cNvCxnSpPr/>
          <p:nvPr/>
        </p:nvCxnSpPr>
        <p:spPr>
          <a:xfrm>
            <a:off x="9192006" y="4462272"/>
            <a:ext cx="2048256"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782" name="Rectangle 62"/>
          <p:cNvSpPr/>
          <p:nvPr/>
        </p:nvSpPr>
        <p:spPr>
          <a:xfrm>
            <a:off x="9192260" y="4608830"/>
            <a:ext cx="309880" cy="328295"/>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3</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783" name="TextBox 63"/>
          <p:cNvSpPr txBox="1"/>
          <p:nvPr/>
        </p:nvSpPr>
        <p:spPr>
          <a:xfrm>
            <a:off x="9502902" y="4590288"/>
            <a:ext cx="1783080" cy="566928"/>
          </a:xfrm>
          <a:prstGeom prst="rect">
            <a:avLst/>
          </a:prstGeom>
          <a:noFill/>
        </p:spPr>
        <p:txBody>
          <a:bodyPr wrap="square" lIns="27432" tIns="13716" rIns="27432" bIns="13716" anchor="t">
            <a:spAutoFit/>
          </a:bodyPr>
          <a:lstStyle/>
          <a:p>
            <a:pPr algn="l">
              <a:lnSpc>
                <a:spcPct val="108000"/>
              </a:lnSpc>
            </a:pPr>
            <a:r>
              <a:rPr lang="zh-CN" altLang="en-US" sz="1150" b="1" i="0">
                <a:solidFill>
                  <a:srgbClr val="1F2A33"/>
                </a:solidFill>
                <a:latin typeface="微软雅黑" panose="020B0503020204020204" pitchFamily="34" charset="-122"/>
                <a:ea typeface="微软雅黑" panose="020B0503020204020204" pitchFamily="34" charset="-122"/>
              </a:rPr>
              <a:t>大型算力中心持续带来冷却与基础设施压力</a:t>
            </a:r>
            <a:endParaRPr lang="zh-CN" altLang="en-US" sz="1150" b="1" i="0">
              <a:solidFill>
                <a:srgbClr val="1F2A33"/>
              </a:solidFill>
              <a:latin typeface="微软雅黑" panose="020B0503020204020204" pitchFamily="34" charset="-122"/>
              <a:ea typeface="微软雅黑" panose="020B0503020204020204" pitchFamily="34" charset="-122"/>
            </a:endParaRPr>
          </a:p>
        </p:txBody>
      </p:sp>
      <p:sp>
        <p:nvSpPr>
          <p:cNvPr id="784" name="TextBox 64"/>
          <p:cNvSpPr txBox="1"/>
          <p:nvPr/>
        </p:nvSpPr>
        <p:spPr>
          <a:xfrm>
            <a:off x="9192006" y="5157216"/>
            <a:ext cx="2084831" cy="868680"/>
          </a:xfrm>
          <a:prstGeom prst="rect">
            <a:avLst/>
          </a:prstGeom>
          <a:noFill/>
        </p:spPr>
        <p:txBody>
          <a:bodyPr wrap="square" lIns="27432" tIns="13716" rIns="27432" bIns="13716" anchor="t">
            <a:spAutoFit/>
          </a:bodyPr>
          <a:lstStyle/>
          <a:p>
            <a:pPr algn="l">
              <a:lnSpc>
                <a:spcPct val="115000"/>
              </a:lnSpc>
            </a:pPr>
            <a:r>
              <a:rPr lang="zh-CN" altLang="en-US" sz="1150" b="0" i="0">
                <a:solidFill>
                  <a:srgbClr val="5A6B76"/>
                </a:solidFill>
                <a:latin typeface="微软雅黑" panose="020B0503020204020204" pitchFamily="34" charset="-122"/>
                <a:ea typeface="微软雅黑" panose="020B0503020204020204" pitchFamily="34" charset="-122"/>
              </a:rPr>
              <a:t>超大规模算力中心需要持续的冷却用水和电力供应，对当地资源与环境带来长期影响。</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85" name=""/>
        <p:cNvGrpSpPr/>
        <p:nvPr/>
      </p:nvGrpSpPr>
      <p:grpSpPr>
        <a:xfrm>
          <a:off x="0" y="0"/>
          <a:ext cx="0" cy="0"/>
          <a:chOff x="0" y="0"/>
          <a:chExt cx="0" cy="0"/>
        </a:xfrm>
      </p:grpSpPr>
      <p:sp>
        <p:nvSpPr>
          <p:cNvPr id="786"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AI 算力扩张正在把计算需求转化为持续性城市物理负荷</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787"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788"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04 / 24</a:t>
            </a:r>
            <a:endParaRPr lang="zh-CN" altLang="en-US" sz="1000" b="1" i="0">
              <a:solidFill>
                <a:srgbClr val="FFFFFF"/>
              </a:solidFill>
              <a:latin typeface="Arial" panose="020B0604020202020204"/>
              <a:ea typeface="Arial" panose="020B0604020202020204"/>
            </a:endParaRPr>
          </a:p>
        </p:txBody>
      </p:sp>
      <p:sp>
        <p:nvSpPr>
          <p:cNvPr id="789" name="TextBox 5"/>
          <p:cNvSpPr txBox="1"/>
          <p:nvPr/>
        </p:nvSpPr>
        <p:spPr>
          <a:xfrm>
            <a:off x="502920" y="1024128"/>
            <a:ext cx="3657600" cy="425450"/>
          </a:xfrm>
          <a:prstGeom prst="rect">
            <a:avLst/>
          </a:prstGeom>
          <a:noFill/>
        </p:spPr>
        <p:txBody>
          <a:bodyPr wrap="square" lIns="27432" tIns="13716" rIns="27432" bIns="13716" anchor="t">
            <a:spAutoFit/>
          </a:bodyPr>
          <a:lstStyle/>
          <a:p>
            <a:pPr algn="l">
              <a:lnSpc>
                <a:spcPct val="108000"/>
              </a:lnSpc>
            </a:pPr>
            <a:r>
              <a:rPr lang="zh-CN" altLang="en-US" sz="2400" b="1" i="0">
                <a:solidFill>
                  <a:srgbClr val="005375"/>
                </a:solidFill>
                <a:latin typeface="微软雅黑" panose="020B0503020204020204" pitchFamily="34" charset="-122"/>
                <a:ea typeface="微软雅黑" panose="020B0503020204020204" pitchFamily="34" charset="-122"/>
              </a:rPr>
              <a:t>AI 计算活动：</a:t>
            </a:r>
            <a:endParaRPr lang="zh-CN" altLang="en-US" sz="2400" b="1" i="0">
              <a:solidFill>
                <a:srgbClr val="005375"/>
              </a:solidFill>
              <a:latin typeface="微软雅黑" panose="020B0503020204020204" pitchFamily="34" charset="-122"/>
              <a:ea typeface="微软雅黑" panose="020B0503020204020204" pitchFamily="34" charset="-122"/>
            </a:endParaRPr>
          </a:p>
        </p:txBody>
      </p:sp>
      <p:sp>
        <p:nvSpPr>
          <p:cNvPr id="790" name="Rounded Rectangle 7"/>
          <p:cNvSpPr/>
          <p:nvPr/>
        </p:nvSpPr>
        <p:spPr>
          <a:xfrm>
            <a:off x="484632" y="1700784"/>
            <a:ext cx="1207008" cy="420624"/>
          </a:xfrm>
          <a:prstGeom prst="roundRect">
            <a:avLst>
              <a:gd name="adj" fmla="val 50000"/>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服务需求</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791" name="Right Arrow 8"/>
          <p:cNvSpPr/>
          <p:nvPr/>
        </p:nvSpPr>
        <p:spPr>
          <a:xfrm>
            <a:off x="1714500" y="186080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792" name="Rounded Rectangle 9"/>
          <p:cNvSpPr/>
          <p:nvPr/>
        </p:nvSpPr>
        <p:spPr>
          <a:xfrm>
            <a:off x="1856232" y="1700784"/>
            <a:ext cx="1207008" cy="420624"/>
          </a:xfrm>
          <a:prstGeom prst="roundRect">
            <a:avLst>
              <a:gd name="adj" fmla="val 50000"/>
            </a:avLst>
          </a:prstGeom>
          <a:solidFill>
            <a:srgbClr val="0B668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IT容量</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793" name="Right Arrow 10"/>
          <p:cNvSpPr/>
          <p:nvPr/>
        </p:nvSpPr>
        <p:spPr>
          <a:xfrm>
            <a:off x="3086100" y="186080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794" name="Rounded Rectangle 11"/>
          <p:cNvSpPr/>
          <p:nvPr/>
        </p:nvSpPr>
        <p:spPr>
          <a:xfrm>
            <a:off x="3227832" y="1700784"/>
            <a:ext cx="1207008" cy="420624"/>
          </a:xfrm>
          <a:prstGeom prst="roundRect">
            <a:avLst>
              <a:gd name="adj" fmla="val 50000"/>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实际负载</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795" name="Right Arrow 12"/>
          <p:cNvSpPr/>
          <p:nvPr/>
        </p:nvSpPr>
        <p:spPr>
          <a:xfrm>
            <a:off x="4457700" y="186080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796" name="Rounded Rectangle 13"/>
          <p:cNvSpPr/>
          <p:nvPr/>
        </p:nvSpPr>
        <p:spPr>
          <a:xfrm>
            <a:off x="4599432" y="1700784"/>
            <a:ext cx="1207008" cy="420624"/>
          </a:xfrm>
          <a:prstGeom prst="roundRect">
            <a:avLst>
              <a:gd name="adj" fmla="val 50000"/>
            </a:avLst>
          </a:prstGeom>
          <a:solidFill>
            <a:srgbClr val="0B668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IT功率</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797" name="Right Arrow 14"/>
          <p:cNvSpPr/>
          <p:nvPr/>
        </p:nvSpPr>
        <p:spPr>
          <a:xfrm>
            <a:off x="5829300" y="186080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798" name="Rounded Rectangle 15"/>
          <p:cNvSpPr/>
          <p:nvPr/>
        </p:nvSpPr>
        <p:spPr>
          <a:xfrm>
            <a:off x="5971032" y="1700784"/>
            <a:ext cx="1207008" cy="420624"/>
          </a:xfrm>
          <a:prstGeom prst="roundRect">
            <a:avLst>
              <a:gd name="adj" fmla="val 50000"/>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PUE 折算</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799" name="Right Arrow 16"/>
          <p:cNvSpPr/>
          <p:nvPr/>
        </p:nvSpPr>
        <p:spPr>
          <a:xfrm>
            <a:off x="7200900" y="186080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800" name="Rounded Rectangle 17"/>
          <p:cNvSpPr/>
          <p:nvPr/>
        </p:nvSpPr>
        <p:spPr>
          <a:xfrm>
            <a:off x="7342632" y="1700784"/>
            <a:ext cx="1207008" cy="420624"/>
          </a:xfrm>
          <a:prstGeom prst="roundRect">
            <a:avLst>
              <a:gd name="adj" fmla="val 50000"/>
            </a:avLst>
          </a:prstGeom>
          <a:solidFill>
            <a:srgbClr val="0B668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供电</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801" name="Right Arrow 18"/>
          <p:cNvSpPr/>
          <p:nvPr/>
        </p:nvSpPr>
        <p:spPr>
          <a:xfrm>
            <a:off x="8572500" y="186080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802" name="Rounded Rectangle 19"/>
          <p:cNvSpPr/>
          <p:nvPr/>
        </p:nvSpPr>
        <p:spPr>
          <a:xfrm>
            <a:off x="8714232" y="1700784"/>
            <a:ext cx="1207008" cy="420624"/>
          </a:xfrm>
          <a:prstGeom prst="roundRect">
            <a:avLst>
              <a:gd name="adj" fmla="val 50000"/>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冷却</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803" name="Right Arrow 20"/>
          <p:cNvSpPr/>
          <p:nvPr/>
        </p:nvSpPr>
        <p:spPr>
          <a:xfrm>
            <a:off x="9944100" y="1860804"/>
            <a:ext cx="118872" cy="100584"/>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804" name="Rounded Rectangle 21"/>
          <p:cNvSpPr/>
          <p:nvPr/>
        </p:nvSpPr>
        <p:spPr>
          <a:xfrm>
            <a:off x="10085832" y="1700784"/>
            <a:ext cx="1207008" cy="420624"/>
          </a:xfrm>
          <a:prstGeom prst="roundRect">
            <a:avLst>
              <a:gd name="adj" fmla="val 50000"/>
            </a:avLst>
          </a:prstGeom>
          <a:solidFill>
            <a:srgbClr val="0B668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补水与排水</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805" name="Rounded Rectangle 22"/>
          <p:cNvSpPr/>
          <p:nvPr/>
        </p:nvSpPr>
        <p:spPr>
          <a:xfrm>
            <a:off x="484632" y="2395728"/>
            <a:ext cx="3639312" cy="2788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06" name="Rectangle 23"/>
          <p:cNvSpPr/>
          <p:nvPr/>
        </p:nvSpPr>
        <p:spPr>
          <a:xfrm>
            <a:off x="649224" y="2560320"/>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800" b="0" i="0">
                <a:solidFill>
                  <a:srgbClr val="FFFFFF"/>
                </a:solidFill>
                <a:latin typeface="Arial Black" panose="020B0A04020102020204"/>
                <a:ea typeface="Arial Black" panose="020B0A04020102020204"/>
              </a:rPr>
              <a:t>01</a:t>
            </a:r>
            <a:endParaRPr lang="zh-CN" altLang="en-US" sz="1800" b="0" i="0">
              <a:solidFill>
                <a:srgbClr val="FFFFFF"/>
              </a:solidFill>
              <a:latin typeface="Arial Black" panose="020B0A04020102020204"/>
              <a:ea typeface="Arial Black" panose="020B0A04020102020204"/>
            </a:endParaRPr>
          </a:p>
        </p:txBody>
      </p:sp>
      <p:sp>
        <p:nvSpPr>
          <p:cNvPr id="807" name="TextBox 24"/>
          <p:cNvSpPr txBox="1"/>
          <p:nvPr/>
        </p:nvSpPr>
        <p:spPr>
          <a:xfrm>
            <a:off x="1261872" y="2578608"/>
            <a:ext cx="2743200" cy="457200"/>
          </a:xfrm>
          <a:prstGeom prst="rect">
            <a:avLst/>
          </a:prstGeom>
          <a:noFill/>
        </p:spPr>
        <p:txBody>
          <a:bodyPr wrap="square" lIns="27432" tIns="13716" rIns="27432" bIns="13716" anchor="ctr">
            <a:spAutoFit/>
          </a:bodyPr>
          <a:lstStyle/>
          <a:p>
            <a:pPr algn="l">
              <a:lnSpc>
                <a:spcPct val="108000"/>
              </a:lnSpc>
            </a:pPr>
            <a:r>
              <a:rPr lang="zh-CN" altLang="en-US" sz="1350" b="1" i="0">
                <a:solidFill>
                  <a:srgbClr val="1F2A33"/>
                </a:solidFill>
                <a:latin typeface="微软雅黑" panose="020B0503020204020204" pitchFamily="34" charset="-122"/>
                <a:ea typeface="微软雅黑" panose="020B0503020204020204" pitchFamily="34" charset="-122"/>
              </a:rPr>
              <a:t>需求侧：负荷形态改变</a:t>
            </a:r>
            <a:endParaRPr lang="zh-CN" altLang="en-US" sz="1350" b="1" i="0">
              <a:solidFill>
                <a:srgbClr val="1F2A33"/>
              </a:solidFill>
              <a:latin typeface="微软雅黑" panose="020B0503020204020204" pitchFamily="34" charset="-122"/>
              <a:ea typeface="微软雅黑" panose="020B0503020204020204" pitchFamily="34" charset="-122"/>
            </a:endParaRPr>
          </a:p>
        </p:txBody>
      </p:sp>
      <p:sp>
        <p:nvSpPr>
          <p:cNvPr id="808" name="TextBox 25"/>
          <p:cNvSpPr txBox="1"/>
          <p:nvPr/>
        </p:nvSpPr>
        <p:spPr>
          <a:xfrm>
            <a:off x="685800" y="3218688"/>
            <a:ext cx="3246120" cy="1828800"/>
          </a:xfrm>
          <a:prstGeom prst="rect">
            <a:avLst/>
          </a:prstGeom>
          <a:noFill/>
        </p:spPr>
        <p:txBody>
          <a:bodyPr wrap="square" lIns="27432" tIns="13716" rIns="27432" bIns="13716" anchor="t">
            <a:spAutoFit/>
          </a:bodyPr>
          <a:lstStyle/>
          <a:p>
            <a:pPr algn="l">
              <a:lnSpc>
                <a:spcPct val="130000"/>
              </a:lnSpc>
            </a:pPr>
            <a:r>
              <a:rPr lang="zh-CN" altLang="en-US" sz="1200" b="0" i="0">
                <a:solidFill>
                  <a:srgbClr val="1F2A33"/>
                </a:solidFill>
                <a:latin typeface="微软雅黑" panose="020B0503020204020204" pitchFamily="34" charset="-122"/>
                <a:ea typeface="微软雅黑" panose="020B0503020204020204" pitchFamily="34" charset="-122"/>
              </a:rPr>
              <a:t>大模型训练与推理提升数倍；智能体倾向高频上线。功率与热流密度上升，冷却系统成为决定能耗与水耗的关键环节。</a:t>
            </a:r>
            <a:endParaRPr lang="zh-CN" altLang="en-US" sz="1200" b="0" i="0">
              <a:solidFill>
                <a:srgbClr val="1F2A33"/>
              </a:solidFill>
              <a:latin typeface="微软雅黑" panose="020B0503020204020204" pitchFamily="34" charset="-122"/>
              <a:ea typeface="微软雅黑" panose="020B0503020204020204" pitchFamily="34" charset="-122"/>
            </a:endParaRPr>
          </a:p>
        </p:txBody>
      </p:sp>
      <p:sp>
        <p:nvSpPr>
          <p:cNvPr id="809" name="Rounded Rectangle 26"/>
          <p:cNvSpPr/>
          <p:nvPr/>
        </p:nvSpPr>
        <p:spPr>
          <a:xfrm>
            <a:off x="4274820" y="2395728"/>
            <a:ext cx="3639312" cy="2788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10" name="Rectangle 27"/>
          <p:cNvSpPr/>
          <p:nvPr/>
        </p:nvSpPr>
        <p:spPr>
          <a:xfrm>
            <a:off x="4439412" y="2560320"/>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800" b="0" i="0">
                <a:solidFill>
                  <a:srgbClr val="FFFFFF"/>
                </a:solidFill>
                <a:latin typeface="Arial Black" panose="020B0A04020102020204"/>
                <a:ea typeface="Arial Black" panose="020B0A04020102020204"/>
              </a:rPr>
              <a:t>02</a:t>
            </a:r>
            <a:endParaRPr lang="zh-CN" altLang="en-US" sz="1800" b="0" i="0">
              <a:solidFill>
                <a:srgbClr val="FFFFFF"/>
              </a:solidFill>
              <a:latin typeface="Arial Black" panose="020B0A04020102020204"/>
              <a:ea typeface="Arial Black" panose="020B0A04020102020204"/>
            </a:endParaRPr>
          </a:p>
        </p:txBody>
      </p:sp>
      <p:sp>
        <p:nvSpPr>
          <p:cNvPr id="811" name="TextBox 28"/>
          <p:cNvSpPr txBox="1"/>
          <p:nvPr/>
        </p:nvSpPr>
        <p:spPr>
          <a:xfrm>
            <a:off x="5052059" y="2578608"/>
            <a:ext cx="2743200" cy="457200"/>
          </a:xfrm>
          <a:prstGeom prst="rect">
            <a:avLst/>
          </a:prstGeom>
          <a:noFill/>
        </p:spPr>
        <p:txBody>
          <a:bodyPr wrap="square" lIns="27432" tIns="13716" rIns="27432" bIns="13716" anchor="ctr">
            <a:spAutoFit/>
          </a:bodyPr>
          <a:lstStyle/>
          <a:p>
            <a:pPr algn="l">
              <a:lnSpc>
                <a:spcPct val="108000"/>
              </a:lnSpc>
            </a:pPr>
            <a:r>
              <a:rPr lang="zh-CN" altLang="en-US" sz="1350" b="1" i="0">
                <a:solidFill>
                  <a:srgbClr val="1F2A33"/>
                </a:solidFill>
                <a:latin typeface="微软雅黑" panose="020B0503020204020204" pitchFamily="34" charset="-122"/>
                <a:ea typeface="微软雅黑" panose="020B0503020204020204" pitchFamily="34" charset="-122"/>
              </a:rPr>
              <a:t>供给侧：水需求收紧</a:t>
            </a:r>
            <a:endParaRPr lang="zh-CN" altLang="en-US" sz="1350" b="1" i="0">
              <a:solidFill>
                <a:srgbClr val="1F2A33"/>
              </a:solidFill>
              <a:latin typeface="微软雅黑" panose="020B0503020204020204" pitchFamily="34" charset="-122"/>
              <a:ea typeface="微软雅黑" panose="020B0503020204020204" pitchFamily="34" charset="-122"/>
            </a:endParaRPr>
          </a:p>
        </p:txBody>
      </p:sp>
      <p:sp>
        <p:nvSpPr>
          <p:cNvPr id="812" name="TextBox 29"/>
          <p:cNvSpPr txBox="1"/>
          <p:nvPr/>
        </p:nvSpPr>
        <p:spPr>
          <a:xfrm>
            <a:off x="4475988" y="3218688"/>
            <a:ext cx="3246120" cy="1828800"/>
          </a:xfrm>
          <a:prstGeom prst="rect">
            <a:avLst/>
          </a:prstGeom>
          <a:noFill/>
        </p:spPr>
        <p:txBody>
          <a:bodyPr wrap="square" lIns="27432" tIns="13716" rIns="27432" bIns="13716" anchor="t">
            <a:spAutoFit/>
          </a:bodyPr>
          <a:lstStyle/>
          <a:p>
            <a:pPr algn="l">
              <a:lnSpc>
                <a:spcPct val="130000"/>
              </a:lnSpc>
            </a:pPr>
            <a:r>
              <a:rPr lang="zh-CN" altLang="en-US" sz="1200" b="0" i="0">
                <a:solidFill>
                  <a:srgbClr val="1F2A33"/>
                </a:solidFill>
                <a:latin typeface="微软雅黑" panose="020B0503020204020204" pitchFamily="34" charset="-122"/>
                <a:ea typeface="微软雅黑" panose="020B0503020204020204" pitchFamily="34" charset="-122"/>
              </a:rPr>
              <a:t>AI冷却使温升、温差、浓缩倍数与水共同约束。IEA 与 LBNL 核算支持从电力 → 热排放 → 冷却切入。</a:t>
            </a:r>
            <a:endParaRPr lang="zh-CN" altLang="en-US" sz="1200" b="0" i="0">
              <a:solidFill>
                <a:srgbClr val="1F2A33"/>
              </a:solidFill>
              <a:latin typeface="微软雅黑" panose="020B0503020204020204" pitchFamily="34" charset="-122"/>
              <a:ea typeface="微软雅黑" panose="020B0503020204020204" pitchFamily="34" charset="-122"/>
            </a:endParaRPr>
          </a:p>
        </p:txBody>
      </p:sp>
      <p:sp>
        <p:nvSpPr>
          <p:cNvPr id="813" name="Rounded Rectangle 30"/>
          <p:cNvSpPr/>
          <p:nvPr/>
        </p:nvSpPr>
        <p:spPr>
          <a:xfrm>
            <a:off x="8065008" y="2395728"/>
            <a:ext cx="3639312" cy="2788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14" name="Rectangle 31"/>
          <p:cNvSpPr/>
          <p:nvPr/>
        </p:nvSpPr>
        <p:spPr>
          <a:xfrm>
            <a:off x="8229600" y="2560320"/>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800" b="0" i="0">
                <a:solidFill>
                  <a:srgbClr val="FFFFFF"/>
                </a:solidFill>
                <a:latin typeface="Arial Black" panose="020B0A04020102020204"/>
                <a:ea typeface="Arial Black" panose="020B0A04020102020204"/>
              </a:rPr>
              <a:t>03</a:t>
            </a:r>
            <a:endParaRPr lang="zh-CN" altLang="en-US" sz="1800" b="0" i="0">
              <a:solidFill>
                <a:srgbClr val="FFFFFF"/>
              </a:solidFill>
              <a:latin typeface="Arial Black" panose="020B0A04020102020204"/>
              <a:ea typeface="Arial Black" panose="020B0A04020102020204"/>
            </a:endParaRPr>
          </a:p>
        </p:txBody>
      </p:sp>
      <p:sp>
        <p:nvSpPr>
          <p:cNvPr id="815" name="TextBox 32"/>
          <p:cNvSpPr txBox="1"/>
          <p:nvPr/>
        </p:nvSpPr>
        <p:spPr>
          <a:xfrm>
            <a:off x="8842248" y="2578608"/>
            <a:ext cx="2743200" cy="457200"/>
          </a:xfrm>
          <a:prstGeom prst="rect">
            <a:avLst/>
          </a:prstGeom>
          <a:noFill/>
        </p:spPr>
        <p:txBody>
          <a:bodyPr wrap="square" lIns="27432" tIns="13716" rIns="27432" bIns="13716" anchor="ctr">
            <a:spAutoFit/>
          </a:bodyPr>
          <a:lstStyle/>
          <a:p>
            <a:pPr algn="l">
              <a:lnSpc>
                <a:spcPct val="108000"/>
              </a:lnSpc>
            </a:pPr>
            <a:r>
              <a:rPr lang="zh-CN" altLang="en-US" sz="1350" b="1" i="0">
                <a:solidFill>
                  <a:srgbClr val="1F2A33"/>
                </a:solidFill>
                <a:latin typeface="微软雅黑" panose="020B0503020204020204" pitchFamily="34" charset="-122"/>
                <a:ea typeface="微软雅黑" panose="020B0503020204020204" pitchFamily="34" charset="-122"/>
              </a:rPr>
              <a:t>规划侧：需要新的节点认定</a:t>
            </a:r>
            <a:endParaRPr lang="zh-CN" altLang="en-US" sz="1350" b="1" i="0">
              <a:solidFill>
                <a:srgbClr val="1F2A33"/>
              </a:solidFill>
              <a:latin typeface="微软雅黑" panose="020B0503020204020204" pitchFamily="34" charset="-122"/>
              <a:ea typeface="微软雅黑" panose="020B0503020204020204" pitchFamily="34" charset="-122"/>
            </a:endParaRPr>
          </a:p>
        </p:txBody>
      </p:sp>
      <p:sp>
        <p:nvSpPr>
          <p:cNvPr id="816" name="TextBox 33"/>
          <p:cNvSpPr txBox="1"/>
          <p:nvPr/>
        </p:nvSpPr>
        <p:spPr>
          <a:xfrm>
            <a:off x="8266176" y="3218688"/>
            <a:ext cx="3246120" cy="1828800"/>
          </a:xfrm>
          <a:prstGeom prst="rect">
            <a:avLst/>
          </a:prstGeom>
          <a:noFill/>
        </p:spPr>
        <p:txBody>
          <a:bodyPr wrap="square" lIns="27432" tIns="13716" rIns="27432" bIns="13716" anchor="t">
            <a:spAutoFit/>
          </a:bodyPr>
          <a:lstStyle/>
          <a:p>
            <a:pPr algn="l">
              <a:lnSpc>
                <a:spcPct val="130000"/>
              </a:lnSpc>
            </a:pPr>
            <a:r>
              <a:rPr lang="zh-CN" altLang="en-US" sz="1200" b="0" i="0">
                <a:solidFill>
                  <a:srgbClr val="1F2A33"/>
                </a:solidFill>
                <a:latin typeface="微软雅黑" panose="020B0503020204020204" pitchFamily="34" charset="-122"/>
                <a:ea typeface="微软雅黑" panose="020B0503020204020204" pitchFamily="34" charset="-122"/>
              </a:rPr>
              <a:t>传统规划将数据中心视为单进单出用户，水需求常被弱化为年值汇总。AI 负荷高速连续，温度梯度叠加冷却增冷蒸发，城市与再生水源统筹更加关键。</a:t>
            </a:r>
            <a:endParaRPr lang="zh-CN" altLang="en-US" sz="1200" b="0" i="0">
              <a:solidFill>
                <a:srgbClr val="1F2A33"/>
              </a:solidFill>
              <a:latin typeface="微软雅黑" panose="020B0503020204020204" pitchFamily="34" charset="-122"/>
              <a:ea typeface="微软雅黑" panose="020B0503020204020204" pitchFamily="34" charset="-122"/>
            </a:endParaRPr>
          </a:p>
        </p:txBody>
      </p:sp>
      <p:sp>
        <p:nvSpPr>
          <p:cNvPr id="817" name="Rectangle 34"/>
          <p:cNvSpPr/>
          <p:nvPr/>
        </p:nvSpPr>
        <p:spPr>
          <a:xfrm>
            <a:off x="484632" y="5486400"/>
            <a:ext cx="11219688" cy="65836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300" b="1" i="0">
                <a:solidFill>
                  <a:srgbClr val="FFFFFF"/>
                </a:solidFill>
                <a:latin typeface="微软雅黑" panose="020B0503020204020204" pitchFamily="34" charset="-122"/>
                <a:ea typeface="微软雅黑" panose="020B0503020204020204" pitchFamily="34" charset="-122"/>
              </a:rPr>
              <a:t>结论：AI 数据中心具有在地负荷、冷却与水资源耦合的持续性城市水系统节点——需从算力源头重估城市物理负荷。</a:t>
            </a:r>
            <a:endParaRPr lang="zh-CN" altLang="en-US" sz="1300" b="1" i="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818" name=""/>
        <p:cNvGrpSpPr/>
        <p:nvPr/>
      </p:nvGrpSpPr>
      <p:grpSpPr>
        <a:xfrm>
          <a:off x="0" y="0"/>
          <a:ext cx="0" cy="0"/>
          <a:chOff x="0" y="0"/>
          <a:chExt cx="0" cy="0"/>
        </a:xfrm>
      </p:grpSpPr>
      <p:sp>
        <p:nvSpPr>
          <p:cNvPr id="819"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相同年用水量可能对应完全不同的城市系统压力</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820"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821"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05 / 24</a:t>
            </a:r>
            <a:endParaRPr lang="zh-CN" altLang="en-US" sz="1000" b="1" i="0">
              <a:solidFill>
                <a:srgbClr val="FFFFFF"/>
              </a:solidFill>
              <a:latin typeface="Arial" panose="020B0604020202020204"/>
              <a:ea typeface="Arial" panose="020B0604020202020204"/>
            </a:endParaRPr>
          </a:p>
        </p:txBody>
      </p:sp>
      <p:sp>
        <p:nvSpPr>
          <p:cNvPr id="822" name="Rounded Rectangle 5"/>
          <p:cNvSpPr/>
          <p:nvPr/>
        </p:nvSpPr>
        <p:spPr>
          <a:xfrm>
            <a:off x="484632" y="1115568"/>
            <a:ext cx="5504688" cy="45262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23" name="Rectangle 6"/>
          <p:cNvSpPr/>
          <p:nvPr/>
        </p:nvSpPr>
        <p:spPr>
          <a:xfrm>
            <a:off x="502920" y="1133856"/>
            <a:ext cx="5468112"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情景 A：本地淡水为主，夏季高温时段湿式冷却集中取水</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824" name="Rounded Rectangle 7"/>
          <p:cNvSpPr/>
          <p:nvPr/>
        </p:nvSpPr>
        <p:spPr>
          <a:xfrm>
            <a:off x="621792" y="1737360"/>
            <a:ext cx="5230368" cy="713232"/>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lnSpc>
                <a:spcPct val="120000"/>
              </a:lnSpc>
            </a:pPr>
            <a:r>
              <a:rPr lang="zh-CN" altLang="en-US" sz="1150" b="0" i="0">
                <a:solidFill>
                  <a:srgbClr val="1F2A33"/>
                </a:solidFill>
                <a:latin typeface="微软雅黑" panose="020B0503020204020204" pitchFamily="34" charset="-122"/>
                <a:ea typeface="微软雅黑" panose="020B0503020204020204" pitchFamily="34" charset="-122"/>
              </a:rPr>
              <a:t>夏季补水量与情景 B 相同，但取水量集中在峰值日内且早于灰水分流，造成局部压力外高与水温升高叠加。</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825" name="Rounded Rectangle 8"/>
          <p:cNvSpPr/>
          <p:nvPr/>
        </p:nvSpPr>
        <p:spPr>
          <a:xfrm>
            <a:off x="621792" y="2542032"/>
            <a:ext cx="2542032" cy="365760"/>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26" name="TextBox 9"/>
          <p:cNvSpPr txBox="1"/>
          <p:nvPr/>
        </p:nvSpPr>
        <p:spPr>
          <a:xfrm>
            <a:off x="621792" y="2542032"/>
            <a:ext cx="2542032" cy="365760"/>
          </a:xfrm>
          <a:prstGeom prst="rect">
            <a:avLst/>
          </a:prstGeom>
          <a:noFill/>
        </p:spPr>
        <p:txBody>
          <a:bodyPr wrap="square" lIns="27432" tIns="13716" rIns="27432" bIns="13716" anchor="ctr">
            <a:sp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水消耗结构约束</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827" name="Rounded Rectangle 10"/>
          <p:cNvSpPr/>
          <p:nvPr/>
        </p:nvSpPr>
        <p:spPr>
          <a:xfrm>
            <a:off x="3310128" y="2542032"/>
            <a:ext cx="2542032" cy="365760"/>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28" name="TextBox 11"/>
          <p:cNvSpPr txBox="1"/>
          <p:nvPr/>
        </p:nvSpPr>
        <p:spPr>
          <a:xfrm>
            <a:off x="3310128" y="2542032"/>
            <a:ext cx="2542032" cy="365760"/>
          </a:xfrm>
          <a:prstGeom prst="rect">
            <a:avLst/>
          </a:prstGeom>
          <a:noFill/>
        </p:spPr>
        <p:txBody>
          <a:bodyPr wrap="square" lIns="27432" tIns="13716" rIns="27432" bIns="13716" anchor="ctr">
            <a:sp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排水结构约束</a:t>
            </a:r>
            <a:endParaRPr lang="zh-CN" altLang="en-US" sz="1200" b="1" i="0">
              <a:solidFill>
                <a:srgbClr val="005375"/>
              </a:solidFill>
              <a:latin typeface="微软雅黑" panose="020B0503020204020204" pitchFamily="34" charset="-122"/>
              <a:ea typeface="微软雅黑" panose="020B0503020204020204" pitchFamily="34" charset="-122"/>
            </a:endParaRPr>
          </a:p>
        </p:txBody>
      </p:sp>
      <p:pic>
        <p:nvPicPr>
          <p:cNvPr id="829" name="Picture 12" descr="chartA.png"/>
          <p:cNvPicPr>
            <a:picLocks noChangeAspect="1"/>
          </p:cNvPicPr>
          <p:nvPr/>
        </p:nvPicPr>
        <p:blipFill>
          <a:blip r:embed="rId1"/>
          <a:stretch>
            <a:fillRect/>
          </a:stretch>
        </p:blipFill>
        <p:spPr>
          <a:xfrm>
            <a:off x="868680" y="2999232"/>
            <a:ext cx="4736592" cy="1645920"/>
          </a:xfrm>
          <a:prstGeom prst="rect">
            <a:avLst/>
          </a:prstGeom>
        </p:spPr>
      </p:pic>
      <p:sp>
        <p:nvSpPr>
          <p:cNvPr id="830" name="Rounded Rectangle 13"/>
          <p:cNvSpPr/>
          <p:nvPr/>
        </p:nvSpPr>
        <p:spPr>
          <a:xfrm>
            <a:off x="621792" y="4773168"/>
            <a:ext cx="5230368" cy="713232"/>
          </a:xfrm>
          <a:prstGeom prst="roundRect">
            <a:avLst>
              <a:gd name="adj" fmla="val 10000"/>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lnSpc>
                <a:spcPct val="120000"/>
              </a:lnSpc>
            </a:pPr>
            <a:r>
              <a:rPr lang="zh-CN" altLang="en-US" sz="1150" b="0" i="0">
                <a:solidFill>
                  <a:srgbClr val="1F2A33"/>
                </a:solidFill>
                <a:latin typeface="微软雅黑" panose="020B0503020204020204" pitchFamily="34" charset="-122"/>
                <a:ea typeface="微软雅黑" panose="020B0503020204020204" pitchFamily="34" charset="-122"/>
              </a:rPr>
              <a:t>夏季尖峰在 7 月，对应湿冷供水与受纳水体纳污压力峰值同步出现。</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831" name="Rounded Rectangle 14"/>
          <p:cNvSpPr/>
          <p:nvPr/>
        </p:nvSpPr>
        <p:spPr>
          <a:xfrm>
            <a:off x="6199632" y="1115568"/>
            <a:ext cx="5504688" cy="45262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32" name="Rectangle 15"/>
          <p:cNvSpPr/>
          <p:nvPr/>
        </p:nvSpPr>
        <p:spPr>
          <a:xfrm>
            <a:off x="6217920" y="1133856"/>
            <a:ext cx="5468112"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情景 B：再生水为主，排水调节与干湿混合排热制峰</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833" name="Rounded Rectangle 16"/>
          <p:cNvSpPr/>
          <p:nvPr/>
        </p:nvSpPr>
        <p:spPr>
          <a:xfrm>
            <a:off x="6336792" y="1737360"/>
            <a:ext cx="5230368" cy="713232"/>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lnSpc>
                <a:spcPct val="120000"/>
              </a:lnSpc>
            </a:pPr>
            <a:r>
              <a:rPr lang="zh-CN" altLang="en-US" sz="1150" b="0" i="0">
                <a:solidFill>
                  <a:srgbClr val="1F2A33"/>
                </a:solidFill>
                <a:latin typeface="微软雅黑" panose="020B0503020204020204" pitchFamily="34" charset="-122"/>
                <a:ea typeface="微软雅黑" panose="020B0503020204020204" pitchFamily="34" charset="-122"/>
              </a:rPr>
              <a:t>年补水量与情景 A 相同，但以再生水为主并配合蓄冷/蓄水储调，压转移到再生水处理强度与水价机制。</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834" name="Rounded Rectangle 17"/>
          <p:cNvSpPr/>
          <p:nvPr/>
        </p:nvSpPr>
        <p:spPr>
          <a:xfrm>
            <a:off x="6336792" y="2542032"/>
            <a:ext cx="2542032" cy="365760"/>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35" name="TextBox 18"/>
          <p:cNvSpPr txBox="1"/>
          <p:nvPr/>
        </p:nvSpPr>
        <p:spPr>
          <a:xfrm>
            <a:off x="6336792" y="2542032"/>
            <a:ext cx="2542032" cy="365760"/>
          </a:xfrm>
          <a:prstGeom prst="rect">
            <a:avLst/>
          </a:prstGeom>
          <a:noFill/>
        </p:spPr>
        <p:txBody>
          <a:bodyPr wrap="square" lIns="27432" tIns="13716" rIns="27432" bIns="13716" anchor="ctr">
            <a:sp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再生水处理约束</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836" name="Rounded Rectangle 19"/>
          <p:cNvSpPr/>
          <p:nvPr/>
        </p:nvSpPr>
        <p:spPr>
          <a:xfrm>
            <a:off x="9025128" y="2542032"/>
            <a:ext cx="2542032" cy="365760"/>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37" name="TextBox 20"/>
          <p:cNvSpPr txBox="1"/>
          <p:nvPr/>
        </p:nvSpPr>
        <p:spPr>
          <a:xfrm>
            <a:off x="9025128" y="2542032"/>
            <a:ext cx="2542032" cy="365760"/>
          </a:xfrm>
          <a:prstGeom prst="rect">
            <a:avLst/>
          </a:prstGeom>
          <a:noFill/>
        </p:spPr>
        <p:txBody>
          <a:bodyPr wrap="square" lIns="27432" tIns="13716" rIns="27432" bIns="13716" anchor="ctr">
            <a:spAutoFit/>
          </a:bodyPr>
          <a:lstStyle/>
          <a:p>
            <a:pPr algn="ctr">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储蓄能力约束</a:t>
            </a:r>
            <a:endParaRPr lang="zh-CN" altLang="en-US" sz="1200" b="1" i="0">
              <a:solidFill>
                <a:srgbClr val="005375"/>
              </a:solidFill>
              <a:latin typeface="微软雅黑" panose="020B0503020204020204" pitchFamily="34" charset="-122"/>
              <a:ea typeface="微软雅黑" panose="020B0503020204020204" pitchFamily="34" charset="-122"/>
            </a:endParaRPr>
          </a:p>
        </p:txBody>
      </p:sp>
      <p:pic>
        <p:nvPicPr>
          <p:cNvPr id="838" name="Picture 21" descr="chartB.png"/>
          <p:cNvPicPr>
            <a:picLocks noChangeAspect="1"/>
          </p:cNvPicPr>
          <p:nvPr/>
        </p:nvPicPr>
        <p:blipFill>
          <a:blip r:embed="rId2"/>
          <a:stretch>
            <a:fillRect/>
          </a:stretch>
        </p:blipFill>
        <p:spPr>
          <a:xfrm>
            <a:off x="6583680" y="2999232"/>
            <a:ext cx="4736592" cy="1645920"/>
          </a:xfrm>
          <a:prstGeom prst="rect">
            <a:avLst/>
          </a:prstGeom>
        </p:spPr>
      </p:pic>
      <p:sp>
        <p:nvSpPr>
          <p:cNvPr id="839" name="Rounded Rectangle 22"/>
          <p:cNvSpPr/>
          <p:nvPr/>
        </p:nvSpPr>
        <p:spPr>
          <a:xfrm>
            <a:off x="6336792" y="4773168"/>
            <a:ext cx="5230368" cy="713232"/>
          </a:xfrm>
          <a:prstGeom prst="roundRect">
            <a:avLst>
              <a:gd name="adj" fmla="val 10000"/>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lnSpc>
                <a:spcPct val="120000"/>
              </a:lnSpc>
            </a:pPr>
            <a:r>
              <a:rPr lang="zh-CN" altLang="en-US" sz="1150" b="0" i="0">
                <a:solidFill>
                  <a:srgbClr val="1F2A33"/>
                </a:solidFill>
                <a:latin typeface="微软雅黑" panose="020B0503020204020204" pitchFamily="34" charset="-122"/>
                <a:ea typeface="微软雅黑" panose="020B0503020204020204" pitchFamily="34" charset="-122"/>
              </a:rPr>
              <a:t>补水平坦 → 处理负荷均匀分摊 → 受纳水体年内冲刷压力下降。</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840" name="Rectangle 23"/>
          <p:cNvSpPr/>
          <p:nvPr/>
        </p:nvSpPr>
        <p:spPr>
          <a:xfrm>
            <a:off x="484632" y="5806440"/>
            <a:ext cx="11219688" cy="50292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250" b="1" i="0">
                <a:solidFill>
                  <a:srgbClr val="FFFFFF"/>
                </a:solidFill>
                <a:latin typeface="微软雅黑" panose="020B0503020204020204" pitchFamily="34" charset="-122"/>
                <a:ea typeface="微软雅黑" panose="020B0503020204020204" pitchFamily="34" charset="-122"/>
              </a:rPr>
              <a:t>结论：本研究问题完整路径：从同处出发，峰值、时序不同；多步消耗、多步回流。</a:t>
            </a:r>
            <a:r>
              <a:rPr lang="zh-CN" altLang="en-US" sz="1250" b="1">
                <a:solidFill>
                  <a:srgbClr val="FFFFFF"/>
                </a:solidFill>
                <a:latin typeface="微软雅黑" panose="020B0503020204020204" pitchFamily="34" charset="-122"/>
                <a:ea typeface="微软雅黑" panose="020B0503020204020204" pitchFamily="34" charset="-122"/>
                <a:sym typeface="+mn-ea"/>
              </a:rPr>
              <a:t>总量相同，时序与路径差异同样需要看见</a:t>
            </a:r>
            <a:endParaRPr lang="zh-CN" altLang="en-US" sz="1250" b="1" i="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41" name=""/>
        <p:cNvGrpSpPr/>
        <p:nvPr/>
      </p:nvGrpSpPr>
      <p:grpSpPr>
        <a:xfrm>
          <a:off x="0" y="0"/>
          <a:ext cx="0" cy="0"/>
          <a:chOff x="0" y="0"/>
          <a:chExt cx="0" cy="0"/>
        </a:xfrm>
      </p:grpSpPr>
      <p:sp>
        <p:nvSpPr>
          <p:cNvPr id="842"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研究对象落在城市人工水系统的全过程网络上</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843"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844"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06 / 24</a:t>
            </a:r>
            <a:endParaRPr lang="zh-CN" altLang="en-US" sz="1000" b="1" i="0">
              <a:solidFill>
                <a:srgbClr val="FFFFFF"/>
              </a:solidFill>
              <a:latin typeface="Arial" panose="020B0604020202020204"/>
              <a:ea typeface="Arial" panose="020B0604020202020204"/>
            </a:endParaRPr>
          </a:p>
        </p:txBody>
      </p:sp>
      <p:sp>
        <p:nvSpPr>
          <p:cNvPr id="845" name="Rounded Rectangle 4"/>
          <p:cNvSpPr/>
          <p:nvPr/>
        </p:nvSpPr>
        <p:spPr>
          <a:xfrm>
            <a:off x="484632" y="914400"/>
            <a:ext cx="6035040" cy="495604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46" name="Rectangle 5"/>
          <p:cNvSpPr/>
          <p:nvPr/>
        </p:nvSpPr>
        <p:spPr>
          <a:xfrm>
            <a:off x="502920" y="932688"/>
            <a:ext cx="5998464"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研究对象与系统边界</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847" name="Rounded Rectangle 6"/>
          <p:cNvSpPr/>
          <p:nvPr/>
        </p:nvSpPr>
        <p:spPr>
          <a:xfrm>
            <a:off x="640080" y="1481328"/>
            <a:ext cx="1417320" cy="603504"/>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600" b="1" i="0">
                <a:solidFill>
                  <a:srgbClr val="005375"/>
                </a:solidFill>
                <a:latin typeface="微软雅黑" panose="020B0503020204020204" pitchFamily="34" charset="-122"/>
                <a:ea typeface="微软雅黑" panose="020B0503020204020204" pitchFamily="34" charset="-122"/>
              </a:rPr>
              <a:t>研究对象</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848" name="TextBox 7"/>
          <p:cNvSpPr txBox="1"/>
          <p:nvPr/>
        </p:nvSpPr>
        <p:spPr>
          <a:xfrm>
            <a:off x="2103120" y="1516063"/>
            <a:ext cx="4297680" cy="534035"/>
          </a:xfrm>
          <a:prstGeom prst="rect">
            <a:avLst/>
          </a:prstGeom>
          <a:noFill/>
        </p:spPr>
        <p:txBody>
          <a:bodyPr wrap="square" lIns="27432" tIns="13716" rIns="27432" bIns="13716" anchor="ctr">
            <a:spAutoFit/>
          </a:bodyPr>
          <a:lstStyle/>
          <a:p>
            <a:pPr algn="l">
              <a:lnSpc>
                <a:spcPct val="118000"/>
              </a:lnSpc>
            </a:pPr>
            <a:r>
              <a:rPr lang="zh-CN" altLang="en-US" sz="1400" b="0" i="0">
                <a:solidFill>
                  <a:srgbClr val="1F2A33"/>
                </a:solidFill>
                <a:latin typeface="微软雅黑" panose="020B0503020204020204" pitchFamily="34" charset="-122"/>
                <a:ea typeface="微软雅黑" panose="020B0503020204020204" pitchFamily="34" charset="-122"/>
              </a:rPr>
              <a:t>研究对象不是「数据中心用了多少水」，而是 AI 节点接入后的整个城市水系统如何响应。</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49" name="Rounded Rectangle 8"/>
          <p:cNvSpPr/>
          <p:nvPr/>
        </p:nvSpPr>
        <p:spPr>
          <a:xfrm>
            <a:off x="640080" y="2320290"/>
            <a:ext cx="1417320" cy="758952"/>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600" b="1" i="0">
                <a:solidFill>
                  <a:srgbClr val="005375"/>
                </a:solidFill>
                <a:latin typeface="微软雅黑" panose="020B0503020204020204" pitchFamily="34" charset="-122"/>
                <a:ea typeface="微软雅黑" panose="020B0503020204020204" pitchFamily="34" charset="-122"/>
              </a:rPr>
              <a:t>核心系统边界</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850" name="Rounded Rectangle 9"/>
          <p:cNvSpPr/>
          <p:nvPr/>
        </p:nvSpPr>
        <p:spPr>
          <a:xfrm>
            <a:off x="2103120" y="2375154"/>
            <a:ext cx="822960" cy="566928"/>
          </a:xfrm>
          <a:prstGeom prst="roundRect">
            <a:avLst>
              <a:gd name="adj" fmla="val 10000"/>
            </a:avLst>
          </a:prstGeom>
          <a:solidFill>
            <a:srgbClr val="FFFFFF"/>
          </a:solidFill>
          <a:ln w="12700">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00000"/>
              </a:lnSpc>
            </a:pPr>
            <a:r>
              <a:rPr lang="zh-CN" altLang="en-US" sz="1400" b="1" i="0">
                <a:ln>
                  <a:noFill/>
                </a:ln>
                <a:solidFill>
                  <a:srgbClr val="005375"/>
                </a:solidFill>
                <a:latin typeface="微软雅黑" panose="020B0503020204020204" pitchFamily="34" charset="-122"/>
                <a:ea typeface="微软雅黑" panose="020B0503020204020204" pitchFamily="34" charset="-122"/>
              </a:rPr>
              <a:t>供水</a:t>
            </a:r>
            <a:endParaRPr lang="zh-CN" altLang="en-US" sz="1400" b="1" i="0">
              <a:ln>
                <a:noFill/>
              </a:ln>
              <a:solidFill>
                <a:srgbClr val="005375"/>
              </a:solidFill>
              <a:latin typeface="微软雅黑" panose="020B0503020204020204" pitchFamily="34" charset="-122"/>
              <a:ea typeface="微软雅黑" panose="020B0503020204020204" pitchFamily="34" charset="-122"/>
            </a:endParaRPr>
          </a:p>
        </p:txBody>
      </p:sp>
      <p:sp>
        <p:nvSpPr>
          <p:cNvPr id="851" name="Right Arrow 10"/>
          <p:cNvSpPr/>
          <p:nvPr/>
        </p:nvSpPr>
        <p:spPr>
          <a:xfrm>
            <a:off x="2953511" y="2603754"/>
            <a:ext cx="109728" cy="109728"/>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852" name="Rounded Rectangle 11"/>
          <p:cNvSpPr/>
          <p:nvPr/>
        </p:nvSpPr>
        <p:spPr>
          <a:xfrm>
            <a:off x="3090672" y="2375154"/>
            <a:ext cx="822960" cy="566928"/>
          </a:xfrm>
          <a:prstGeom prst="roundRect">
            <a:avLst>
              <a:gd name="adj" fmla="val 10000"/>
            </a:avLst>
          </a:prstGeom>
          <a:solidFill>
            <a:srgbClr val="FFFFFF"/>
          </a:solidFill>
          <a:ln w="12700">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00000"/>
              </a:lnSpc>
            </a:pPr>
            <a:r>
              <a:rPr lang="zh-CN" altLang="en-US" sz="1400" b="1" i="0">
                <a:ln>
                  <a:noFill/>
                </a:ln>
                <a:solidFill>
                  <a:srgbClr val="005375"/>
                </a:solidFill>
                <a:latin typeface="微软雅黑" panose="020B0503020204020204" pitchFamily="34" charset="-122"/>
                <a:ea typeface="微软雅黑" panose="020B0503020204020204" pitchFamily="34" charset="-122"/>
              </a:rPr>
              <a:t>用户 / AI</a:t>
            </a:r>
            <a:endParaRPr lang="zh-CN" altLang="en-US" sz="1400" b="1" i="0">
              <a:ln>
                <a:noFill/>
              </a:ln>
              <a:solidFill>
                <a:srgbClr val="005375"/>
              </a:solidFill>
              <a:latin typeface="微软雅黑" panose="020B0503020204020204" pitchFamily="34" charset="-122"/>
              <a:ea typeface="微软雅黑" panose="020B0503020204020204" pitchFamily="34" charset="-122"/>
            </a:endParaRPr>
          </a:p>
        </p:txBody>
      </p:sp>
      <p:sp>
        <p:nvSpPr>
          <p:cNvPr id="853" name="Right Arrow 12"/>
          <p:cNvSpPr/>
          <p:nvPr/>
        </p:nvSpPr>
        <p:spPr>
          <a:xfrm>
            <a:off x="3941064" y="2603754"/>
            <a:ext cx="109728" cy="109728"/>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854" name="Rounded Rectangle 13"/>
          <p:cNvSpPr/>
          <p:nvPr/>
        </p:nvSpPr>
        <p:spPr>
          <a:xfrm>
            <a:off x="4078224" y="2375154"/>
            <a:ext cx="822960" cy="566928"/>
          </a:xfrm>
          <a:prstGeom prst="roundRect">
            <a:avLst>
              <a:gd name="adj" fmla="val 10000"/>
            </a:avLst>
          </a:prstGeom>
          <a:solidFill>
            <a:srgbClr val="FFFFFF"/>
          </a:solidFill>
          <a:ln w="12700">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00000"/>
              </a:lnSpc>
            </a:pPr>
            <a:r>
              <a:rPr lang="zh-CN" altLang="en-US" sz="1400" b="1" i="0">
                <a:ln>
                  <a:noFill/>
                </a:ln>
                <a:solidFill>
                  <a:srgbClr val="005375"/>
                </a:solidFill>
                <a:latin typeface="微软雅黑" panose="020B0503020204020204" pitchFamily="34" charset="-122"/>
                <a:ea typeface="微软雅黑" panose="020B0503020204020204" pitchFamily="34" charset="-122"/>
              </a:rPr>
              <a:t>污水</a:t>
            </a:r>
            <a:endParaRPr lang="zh-CN" altLang="en-US" sz="1400" b="1" i="0">
              <a:ln>
                <a:noFill/>
              </a:ln>
              <a:solidFill>
                <a:srgbClr val="005375"/>
              </a:solidFill>
              <a:latin typeface="微软雅黑" panose="020B0503020204020204" pitchFamily="34" charset="-122"/>
              <a:ea typeface="微软雅黑" panose="020B0503020204020204" pitchFamily="34" charset="-122"/>
            </a:endParaRPr>
          </a:p>
        </p:txBody>
      </p:sp>
      <p:sp>
        <p:nvSpPr>
          <p:cNvPr id="855" name="Right Arrow 14"/>
          <p:cNvSpPr/>
          <p:nvPr/>
        </p:nvSpPr>
        <p:spPr>
          <a:xfrm>
            <a:off x="4928616" y="2603754"/>
            <a:ext cx="109728" cy="109728"/>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856" name="Rounded Rectangle 15"/>
          <p:cNvSpPr/>
          <p:nvPr/>
        </p:nvSpPr>
        <p:spPr>
          <a:xfrm>
            <a:off x="5065776" y="2375154"/>
            <a:ext cx="1408176" cy="566928"/>
          </a:xfrm>
          <a:prstGeom prst="roundRect">
            <a:avLst>
              <a:gd name="adj" fmla="val 10000"/>
            </a:avLst>
          </a:prstGeom>
          <a:solidFill>
            <a:srgbClr val="FFFFFF"/>
          </a:solidFill>
          <a:ln w="12700">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lnSpc>
                <a:spcPct val="100000"/>
              </a:lnSpc>
            </a:pPr>
            <a:r>
              <a:rPr lang="zh-CN" altLang="en-US" sz="1400" b="1" i="0">
                <a:ln>
                  <a:noFill/>
                </a:ln>
                <a:solidFill>
                  <a:srgbClr val="005375"/>
                </a:solidFill>
                <a:latin typeface="微软雅黑" panose="020B0503020204020204" pitchFamily="34" charset="-122"/>
                <a:ea typeface="微软雅黑" panose="020B0503020204020204" pitchFamily="34" charset="-122"/>
              </a:rPr>
              <a:t>再生回用 / 排放</a:t>
            </a:r>
            <a:endParaRPr lang="zh-CN" altLang="en-US" sz="1400" b="1" i="0">
              <a:ln>
                <a:noFill/>
              </a:ln>
              <a:solidFill>
                <a:srgbClr val="005375"/>
              </a:solidFill>
              <a:latin typeface="微软雅黑" panose="020B0503020204020204" pitchFamily="34" charset="-122"/>
              <a:ea typeface="微软雅黑" panose="020B0503020204020204" pitchFamily="34" charset="-122"/>
            </a:endParaRPr>
          </a:p>
        </p:txBody>
      </p:sp>
      <p:sp>
        <p:nvSpPr>
          <p:cNvPr id="857" name="Rounded Rectangle 16"/>
          <p:cNvSpPr/>
          <p:nvPr/>
        </p:nvSpPr>
        <p:spPr>
          <a:xfrm>
            <a:off x="640080" y="3308985"/>
            <a:ext cx="1417320" cy="438912"/>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600" b="1" i="0">
                <a:solidFill>
                  <a:srgbClr val="005375"/>
                </a:solidFill>
                <a:latin typeface="微软雅黑" panose="020B0503020204020204" pitchFamily="34" charset="-122"/>
                <a:ea typeface="微软雅黑" panose="020B0503020204020204" pitchFamily="34" charset="-122"/>
              </a:rPr>
              <a:t>外延系统</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858" name="TextBox 17"/>
          <p:cNvSpPr txBox="1"/>
          <p:nvPr/>
        </p:nvSpPr>
        <p:spPr>
          <a:xfrm>
            <a:off x="2103120" y="3261424"/>
            <a:ext cx="4297680" cy="534035"/>
          </a:xfrm>
          <a:prstGeom prst="rect">
            <a:avLst/>
          </a:prstGeom>
          <a:noFill/>
        </p:spPr>
        <p:txBody>
          <a:bodyPr wrap="square" lIns="27432" tIns="13716" rIns="27432" bIns="13716" anchor="ctr">
            <a:spAutoFit/>
          </a:bodyPr>
          <a:lstStyle/>
          <a:p>
            <a:pPr algn="l">
              <a:lnSpc>
                <a:spcPct val="118000"/>
              </a:lnSpc>
            </a:pPr>
            <a:r>
              <a:rPr lang="zh-CN" altLang="en-US" sz="1400" b="0" i="0">
                <a:solidFill>
                  <a:srgbClr val="1F2A33"/>
                </a:solidFill>
                <a:latin typeface="微软雅黑" panose="020B0503020204020204" pitchFamily="34" charset="-122"/>
                <a:ea typeface="微软雅黑" panose="020B0503020204020204" pitchFamily="34" charset="-122"/>
              </a:rPr>
              <a:t>给水管网、再生水厂、用户、AI 数据中心、污水厂、再生水与污水等。</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59" name="Rounded Rectangle 18"/>
          <p:cNvSpPr/>
          <p:nvPr/>
        </p:nvSpPr>
        <p:spPr>
          <a:xfrm>
            <a:off x="640080" y="3977640"/>
            <a:ext cx="1417320" cy="438912"/>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600" b="1" i="0">
                <a:solidFill>
                  <a:srgbClr val="005375"/>
                </a:solidFill>
                <a:latin typeface="微软雅黑" panose="020B0503020204020204" pitchFamily="34" charset="-122"/>
                <a:ea typeface="微软雅黑" panose="020B0503020204020204" pitchFamily="34" charset="-122"/>
              </a:rPr>
              <a:t>约束因素</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860" name="TextBox 19"/>
          <p:cNvSpPr txBox="1"/>
          <p:nvPr/>
        </p:nvSpPr>
        <p:spPr>
          <a:xfrm>
            <a:off x="2103120" y="4057079"/>
            <a:ext cx="4297680" cy="280035"/>
          </a:xfrm>
          <a:prstGeom prst="rect">
            <a:avLst/>
          </a:prstGeom>
          <a:noFill/>
        </p:spPr>
        <p:txBody>
          <a:bodyPr wrap="square" lIns="27432" tIns="13716" rIns="27432" bIns="13716" anchor="ctr">
            <a:spAutoFit/>
          </a:bodyPr>
          <a:lstStyle/>
          <a:p>
            <a:pPr algn="l">
              <a:lnSpc>
                <a:spcPct val="118000"/>
              </a:lnSpc>
            </a:pPr>
            <a:r>
              <a:rPr lang="zh-CN" altLang="en-US" sz="1400" b="0" i="0">
                <a:solidFill>
                  <a:srgbClr val="1F2A33"/>
                </a:solidFill>
                <a:latin typeface="微软雅黑" panose="020B0503020204020204" pitchFamily="34" charset="-122"/>
                <a:ea typeface="微软雅黑" panose="020B0503020204020204" pitchFamily="34" charset="-122"/>
              </a:rPr>
              <a:t>特殊气候、供水余量、潜在水回用量等额输入。</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61" name="Rounded Rectangle 20"/>
          <p:cNvSpPr/>
          <p:nvPr/>
        </p:nvSpPr>
        <p:spPr>
          <a:xfrm>
            <a:off x="640080" y="4646295"/>
            <a:ext cx="1417320" cy="603504"/>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600" b="1" i="0">
                <a:solidFill>
                  <a:srgbClr val="005375"/>
                </a:solidFill>
                <a:latin typeface="微软雅黑" panose="020B0503020204020204" pitchFamily="34" charset="-122"/>
                <a:ea typeface="微软雅黑" panose="020B0503020204020204" pitchFamily="34" charset="-122"/>
              </a:rPr>
              <a:t>暂不进入核心边界</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862" name="TextBox 21"/>
          <p:cNvSpPr txBox="1"/>
          <p:nvPr/>
        </p:nvSpPr>
        <p:spPr>
          <a:xfrm>
            <a:off x="2103120" y="4681030"/>
            <a:ext cx="4297680" cy="534035"/>
          </a:xfrm>
          <a:prstGeom prst="rect">
            <a:avLst/>
          </a:prstGeom>
          <a:noFill/>
        </p:spPr>
        <p:txBody>
          <a:bodyPr wrap="square" lIns="27432" tIns="13716" rIns="27432" bIns="13716" anchor="ctr">
            <a:spAutoFit/>
          </a:bodyPr>
          <a:lstStyle/>
          <a:p>
            <a:pPr algn="l">
              <a:lnSpc>
                <a:spcPct val="118000"/>
              </a:lnSpc>
            </a:pPr>
            <a:r>
              <a:rPr lang="zh-CN" altLang="en-US" sz="1400" b="0" i="0">
                <a:solidFill>
                  <a:srgbClr val="1F2A33"/>
                </a:solidFill>
                <a:latin typeface="微软雅黑" panose="020B0503020204020204" pitchFamily="34" charset="-122"/>
                <a:ea typeface="微软雅黑" panose="020B0503020204020204" pitchFamily="34" charset="-122"/>
              </a:rPr>
              <a:t>下游、雨水与沟渠管网仅在「被平衡讨论」，本轮次作为边际水及层部分模型。</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63" name="Rounded Rectangle 22"/>
          <p:cNvSpPr/>
          <p:nvPr/>
        </p:nvSpPr>
        <p:spPr>
          <a:xfrm>
            <a:off x="6675120" y="914400"/>
            <a:ext cx="5029200" cy="495604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864" name="Rectangle 23"/>
          <p:cNvSpPr/>
          <p:nvPr/>
        </p:nvSpPr>
        <p:spPr>
          <a:xfrm>
            <a:off x="6693408" y="932688"/>
            <a:ext cx="4992624"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研究目的与意义</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865" name="TextBox 24"/>
          <p:cNvSpPr txBox="1"/>
          <p:nvPr/>
        </p:nvSpPr>
        <p:spPr>
          <a:xfrm>
            <a:off x="6903720" y="1517904"/>
            <a:ext cx="46177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005375"/>
                </a:solidFill>
                <a:latin typeface="微软雅黑" panose="020B0503020204020204" pitchFamily="34" charset="-122"/>
                <a:ea typeface="微软雅黑" panose="020B0503020204020204" pitchFamily="34" charset="-122"/>
              </a:rPr>
              <a:t>研究目的</a:t>
            </a:r>
            <a:endParaRPr lang="zh-CN" altLang="en-US" b="1" i="0">
              <a:solidFill>
                <a:srgbClr val="005375"/>
              </a:solidFill>
              <a:latin typeface="微软雅黑" panose="020B0503020204020204" pitchFamily="34" charset="-122"/>
              <a:ea typeface="微软雅黑" panose="020B0503020204020204" pitchFamily="34" charset="-122"/>
            </a:endParaRPr>
          </a:p>
        </p:txBody>
      </p:sp>
      <p:sp>
        <p:nvSpPr>
          <p:cNvPr id="866" name="TextBox 25"/>
          <p:cNvSpPr txBox="1"/>
          <p:nvPr/>
        </p:nvSpPr>
        <p:spPr>
          <a:xfrm>
            <a:off x="6903720" y="1828800"/>
            <a:ext cx="461772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回答城市人工水系统对 AI 节点接入的代谢响应与条件化承载边界。</a:t>
            </a:r>
            <a:endParaRPr lang="zh-CN" altLang="en-US" sz="1400" b="0" i="0">
              <a:solidFill>
                <a:srgbClr val="1F2A33"/>
              </a:solidFill>
              <a:latin typeface="微软雅黑" panose="020B0503020204020204" pitchFamily="34" charset="-122"/>
              <a:ea typeface="微软雅黑" panose="020B0503020204020204" pitchFamily="34" charset="-122"/>
            </a:endParaRPr>
          </a:p>
        </p:txBody>
      </p:sp>
      <p:cxnSp>
        <p:nvCxnSpPr>
          <p:cNvPr id="867" name="Connector 26"/>
          <p:cNvCxnSpPr/>
          <p:nvPr/>
        </p:nvCxnSpPr>
        <p:spPr>
          <a:xfrm>
            <a:off x="6903720" y="2432303"/>
            <a:ext cx="4572000"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868" name="TextBox 27"/>
          <p:cNvSpPr txBox="1"/>
          <p:nvPr/>
        </p:nvSpPr>
        <p:spPr>
          <a:xfrm>
            <a:off x="6903720" y="2487168"/>
            <a:ext cx="46177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005375"/>
                </a:solidFill>
                <a:latin typeface="微软雅黑" panose="020B0503020204020204" pitchFamily="34" charset="-122"/>
                <a:ea typeface="微软雅黑" panose="020B0503020204020204" pitchFamily="34" charset="-122"/>
              </a:rPr>
              <a:t>研究意义</a:t>
            </a:r>
            <a:endParaRPr lang="zh-CN" altLang="en-US" b="1" i="0">
              <a:solidFill>
                <a:srgbClr val="005375"/>
              </a:solidFill>
              <a:latin typeface="微软雅黑" panose="020B0503020204020204" pitchFamily="34" charset="-122"/>
              <a:ea typeface="微软雅黑" panose="020B0503020204020204" pitchFamily="34" charset="-122"/>
            </a:endParaRPr>
          </a:p>
        </p:txBody>
      </p:sp>
      <p:sp>
        <p:nvSpPr>
          <p:cNvPr id="869" name="TextBox 28"/>
          <p:cNvSpPr txBox="1"/>
          <p:nvPr/>
        </p:nvSpPr>
        <p:spPr>
          <a:xfrm>
            <a:off x="6903720" y="2798063"/>
            <a:ext cx="4617720" cy="1075690"/>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1) 算力节点视作城市物理负荷： 让 算力—水 账目真正打通；</a:t>
            </a:r>
            <a:endParaRPr lang="zh-CN" altLang="en-US" sz="1400" b="0" i="0">
              <a:solidFill>
                <a:srgbClr val="1F2A33"/>
              </a:solidFill>
              <a:latin typeface="微软雅黑" panose="020B0503020204020204" pitchFamily="34" charset="-122"/>
              <a:ea typeface="微软雅黑" panose="020B0503020204020204" pitchFamily="34" charset="-122"/>
            </a:endParaRPr>
          </a:p>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2) 为规划与运行提供承载边界判定；</a:t>
            </a:r>
            <a:endParaRPr lang="zh-CN" altLang="en-US" sz="1400" b="0" i="0">
              <a:solidFill>
                <a:srgbClr val="1F2A33"/>
              </a:solidFill>
              <a:latin typeface="微软雅黑" panose="020B0503020204020204" pitchFamily="34" charset="-122"/>
              <a:ea typeface="微软雅黑" panose="020B0503020204020204" pitchFamily="34" charset="-122"/>
            </a:endParaRPr>
          </a:p>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3) 补充面向 AI 节点链的水系统计量学。</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70" name="TextBox 29"/>
          <p:cNvSpPr txBox="1"/>
          <p:nvPr/>
        </p:nvSpPr>
        <p:spPr>
          <a:xfrm>
            <a:off x="6903720" y="3957065"/>
            <a:ext cx="46177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005375"/>
                </a:solidFill>
                <a:latin typeface="微软雅黑" panose="020B0503020204020204" pitchFamily="34" charset="-122"/>
                <a:ea typeface="微软雅黑" panose="020B0503020204020204" pitchFamily="34" charset="-122"/>
              </a:rPr>
              <a:t>切入贡献</a:t>
            </a:r>
            <a:endParaRPr lang="zh-CN" altLang="en-US" b="1" i="0">
              <a:solidFill>
                <a:srgbClr val="005375"/>
              </a:solidFill>
              <a:latin typeface="微软雅黑" panose="020B0503020204020204" pitchFamily="34" charset="-122"/>
              <a:ea typeface="微软雅黑" panose="020B0503020204020204" pitchFamily="34" charset="-122"/>
            </a:endParaRPr>
          </a:p>
        </p:txBody>
      </p:sp>
      <p:sp>
        <p:nvSpPr>
          <p:cNvPr id="871" name="TextBox 30"/>
          <p:cNvSpPr txBox="1"/>
          <p:nvPr/>
        </p:nvSpPr>
        <p:spPr>
          <a:xfrm>
            <a:off x="6903720" y="4267961"/>
            <a:ext cx="4617720" cy="813435"/>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构建 CAWCC 指标；建立 AI 节点接入后的城市水代谢模型；</a:t>
            </a:r>
            <a:endParaRPr lang="zh-CN" altLang="en-US" sz="1400" b="0" i="0">
              <a:solidFill>
                <a:srgbClr val="1F2A33"/>
              </a:solidFill>
              <a:latin typeface="微软雅黑" panose="020B0503020204020204" pitchFamily="34" charset="-122"/>
              <a:ea typeface="微软雅黑" panose="020B0503020204020204" pitchFamily="34" charset="-122"/>
            </a:endParaRPr>
          </a:p>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提出条件化承载边界与主导瓶颈。</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872" name="Rectangle 31"/>
          <p:cNvSpPr/>
          <p:nvPr/>
        </p:nvSpPr>
        <p:spPr>
          <a:xfrm>
            <a:off x="484632" y="6016752"/>
            <a:ext cx="11219688" cy="50292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250" b="1" i="0">
                <a:solidFill>
                  <a:srgbClr val="FFFFFF"/>
                </a:solidFill>
                <a:latin typeface="微软雅黑" panose="020B0503020204020204" pitchFamily="34" charset="-122"/>
                <a:ea typeface="微软雅黑" panose="020B0503020204020204" pitchFamily="34" charset="-122"/>
              </a:rPr>
              <a:t>研究对象 = AI 节点接入后的城市水代谢响应      核心输出 = CAWCC + 主导瓶颈</a:t>
            </a:r>
            <a:endParaRPr lang="zh-CN" altLang="en-US" sz="1250" b="1" i="0">
              <a:solidFill>
                <a:srgbClr val="FFFFFF"/>
              </a:solidFill>
              <a:latin typeface="微软雅黑" panose="020B0503020204020204" pitchFamily="34" charset="-122"/>
              <a:ea typeface="微软雅黑" panose="020B0503020204020204" pitchFamily="34" charset="-122"/>
            </a:endParaRPr>
          </a:p>
        </p:txBody>
      </p:sp>
      <p:cxnSp>
        <p:nvCxnSpPr>
          <p:cNvPr id="873" name="Connector 26"/>
          <p:cNvCxnSpPr/>
          <p:nvPr/>
        </p:nvCxnSpPr>
        <p:spPr>
          <a:xfrm>
            <a:off x="6903720" y="3942333"/>
            <a:ext cx="4572000"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874" name=""/>
        <p:cNvGrpSpPr/>
        <p:nvPr/>
      </p:nvGrpSpPr>
      <p:grpSpPr>
        <a:xfrm>
          <a:off x="0" y="0"/>
          <a:ext cx="0" cy="0"/>
          <a:chOff x="0" y="0"/>
          <a:chExt cx="0" cy="0"/>
        </a:xfrm>
      </p:grpSpPr>
      <p:sp>
        <p:nvSpPr>
          <p:cNvPr id="875"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876"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07 / 24</a:t>
            </a:r>
            <a:endParaRPr lang="zh-CN" altLang="en-US" sz="1000" b="1" i="0">
              <a:solidFill>
                <a:srgbClr val="FFFFFF"/>
              </a:solidFill>
              <a:latin typeface="Arial" panose="020B0604020202020204"/>
              <a:ea typeface="Arial" panose="020B0604020202020204"/>
            </a:endParaRPr>
          </a:p>
        </p:txBody>
      </p:sp>
      <p:sp>
        <p:nvSpPr>
          <p:cNvPr id="877" name="TextBox 4"/>
          <p:cNvSpPr txBox="1"/>
          <p:nvPr/>
        </p:nvSpPr>
        <p:spPr>
          <a:xfrm>
            <a:off x="731520" y="868680"/>
            <a:ext cx="4206240" cy="1600200"/>
          </a:xfrm>
          <a:prstGeom prst="rect">
            <a:avLst/>
          </a:prstGeom>
          <a:noFill/>
        </p:spPr>
        <p:txBody>
          <a:bodyPr wrap="square" lIns="27432" tIns="13716" rIns="27432" bIns="13716" anchor="t">
            <a:spAutoFit/>
          </a:bodyPr>
          <a:lstStyle/>
          <a:p>
            <a:pPr algn="l">
              <a:lnSpc>
                <a:spcPct val="108000"/>
              </a:lnSpc>
            </a:pPr>
            <a:r>
              <a:rPr lang="zh-CN" altLang="en-US" sz="9600" b="0" i="0">
                <a:solidFill>
                  <a:srgbClr val="005375"/>
                </a:solidFill>
                <a:latin typeface="Arial Black" panose="020B0A04020102020204"/>
                <a:ea typeface="Arial Black" panose="020B0A04020102020204"/>
              </a:rPr>
              <a:t>02</a:t>
            </a:r>
            <a:endParaRPr lang="zh-CN" altLang="en-US" sz="9600" b="0" i="0">
              <a:solidFill>
                <a:srgbClr val="005375"/>
              </a:solidFill>
              <a:latin typeface="Arial Black" panose="020B0A04020102020204"/>
              <a:ea typeface="Arial Black" panose="020B0A04020102020204"/>
            </a:endParaRPr>
          </a:p>
        </p:txBody>
      </p:sp>
      <p:sp>
        <p:nvSpPr>
          <p:cNvPr id="878" name="TextBox 5"/>
          <p:cNvSpPr txBox="1"/>
          <p:nvPr/>
        </p:nvSpPr>
        <p:spPr>
          <a:xfrm>
            <a:off x="896112" y="2487168"/>
            <a:ext cx="3200400" cy="310896"/>
          </a:xfrm>
          <a:prstGeom prst="rect">
            <a:avLst/>
          </a:prstGeom>
          <a:noFill/>
        </p:spPr>
        <p:txBody>
          <a:bodyPr wrap="square" lIns="27432" tIns="13716" rIns="27432" bIns="13716" anchor="t">
            <a:spAutoFit/>
          </a:bodyPr>
          <a:lstStyle/>
          <a:p>
            <a:pPr algn="l">
              <a:lnSpc>
                <a:spcPct val="108000"/>
              </a:lnSpc>
            </a:pPr>
            <a:r>
              <a:rPr lang="zh-CN" altLang="en-US" sz="1300" b="0" i="0" spc="300">
                <a:solidFill>
                  <a:srgbClr val="8CA3AF"/>
                </a:solidFill>
                <a:latin typeface="Arial" panose="020B0604020202020204"/>
                <a:ea typeface="Arial" panose="020B0604020202020204"/>
              </a:rPr>
              <a:t>PART TWO</a:t>
            </a:r>
            <a:endParaRPr lang="zh-CN" altLang="en-US" sz="1300" b="0" i="0" spc="300">
              <a:solidFill>
                <a:srgbClr val="8CA3AF"/>
              </a:solidFill>
              <a:latin typeface="Arial" panose="020B0604020202020204"/>
              <a:ea typeface="Arial" panose="020B0604020202020204"/>
            </a:endParaRPr>
          </a:p>
        </p:txBody>
      </p:sp>
      <p:sp>
        <p:nvSpPr>
          <p:cNvPr id="879" name="TextBox 6"/>
          <p:cNvSpPr txBox="1"/>
          <p:nvPr/>
        </p:nvSpPr>
        <p:spPr>
          <a:xfrm>
            <a:off x="786384" y="2834640"/>
            <a:ext cx="4709160" cy="1371600"/>
          </a:xfrm>
          <a:prstGeom prst="rect">
            <a:avLst/>
          </a:prstGeom>
          <a:noFill/>
        </p:spPr>
        <p:txBody>
          <a:bodyPr wrap="square" lIns="27432" tIns="13716" rIns="27432" bIns="13716" anchor="t">
            <a:spAutoFit/>
          </a:bodyPr>
          <a:lstStyle/>
          <a:p>
            <a:pPr algn="l">
              <a:lnSpc>
                <a:spcPct val="112000"/>
              </a:lnSpc>
            </a:pPr>
            <a:r>
              <a:rPr lang="zh-CN" altLang="en-US" sz="2800" b="1" i="0">
                <a:solidFill>
                  <a:srgbClr val="005375"/>
                </a:solidFill>
                <a:latin typeface="微软雅黑" panose="020B0503020204020204" pitchFamily="34" charset="-122"/>
                <a:ea typeface="微软雅黑" panose="020B0503020204020204" pitchFamily="34" charset="-122"/>
              </a:rPr>
              <a:t>国内外研究现状与研究缺口</a:t>
            </a:r>
            <a:endParaRPr lang="zh-CN" altLang="en-US" sz="2800" b="1" i="0">
              <a:solidFill>
                <a:srgbClr val="005375"/>
              </a:solidFill>
              <a:latin typeface="微软雅黑" panose="020B0503020204020204" pitchFamily="34" charset="-122"/>
              <a:ea typeface="微软雅黑" panose="020B0503020204020204" pitchFamily="34" charset="-122"/>
            </a:endParaRPr>
          </a:p>
        </p:txBody>
      </p:sp>
      <p:sp>
        <p:nvSpPr>
          <p:cNvPr id="880" name="TextBox 7"/>
          <p:cNvSpPr txBox="1"/>
          <p:nvPr/>
        </p:nvSpPr>
        <p:spPr>
          <a:xfrm>
            <a:off x="822960" y="4224528"/>
            <a:ext cx="4389120" cy="594360"/>
          </a:xfrm>
          <a:prstGeom prst="rect">
            <a:avLst/>
          </a:prstGeom>
          <a:noFill/>
        </p:spPr>
        <p:txBody>
          <a:bodyPr wrap="square" lIns="27432" tIns="13716" rIns="27432" bIns="13716" anchor="t">
            <a:spAutoFit/>
          </a:bodyPr>
          <a:lstStyle/>
          <a:p>
            <a:pPr algn="l">
              <a:lnSpc>
                <a:spcPct val="130000"/>
              </a:lnSpc>
            </a:pPr>
            <a:r>
              <a:rPr lang="zh-CN" altLang="en-US" sz="1200" b="0" i="0" spc="150">
                <a:solidFill>
                  <a:srgbClr val="8CA3AF"/>
                </a:solidFill>
                <a:latin typeface="Arial" panose="020B0604020202020204"/>
                <a:ea typeface="Arial" panose="020B0604020202020204"/>
              </a:rPr>
              <a:t>RESEARCH STATUS AND RESEARCH GAPS</a:t>
            </a:r>
            <a:endParaRPr lang="zh-CN" altLang="en-US" sz="1200" b="0" i="0" spc="150">
              <a:solidFill>
                <a:srgbClr val="8CA3AF"/>
              </a:solidFill>
              <a:latin typeface="Arial" panose="020B0604020202020204"/>
              <a:ea typeface="Arial" panose="020B0604020202020204"/>
            </a:endParaRPr>
          </a:p>
        </p:txBody>
      </p:sp>
      <p:sp>
        <p:nvSpPr>
          <p:cNvPr id="881" name="Rounded Rectangle 8"/>
          <p:cNvSpPr/>
          <p:nvPr/>
        </p:nvSpPr>
        <p:spPr>
          <a:xfrm>
            <a:off x="5532120" y="1307592"/>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82" name="Rectangle 9"/>
          <p:cNvSpPr/>
          <p:nvPr/>
        </p:nvSpPr>
        <p:spPr>
          <a:xfrm>
            <a:off x="5760720" y="1618488"/>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rPr>
              <a:t>1</a:t>
            </a:r>
            <a:endPar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883" name="TextBox 10"/>
          <p:cNvSpPr txBox="1"/>
          <p:nvPr/>
        </p:nvSpPr>
        <p:spPr>
          <a:xfrm>
            <a:off x="6537960" y="1741678"/>
            <a:ext cx="493775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算力侧的能耗与水足迹研究已较为完整</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884" name="Rounded Rectangle 11"/>
          <p:cNvSpPr/>
          <p:nvPr/>
        </p:nvSpPr>
        <p:spPr>
          <a:xfrm>
            <a:off x="5532120" y="2752344"/>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85" name="Rectangle 12"/>
          <p:cNvSpPr/>
          <p:nvPr/>
        </p:nvSpPr>
        <p:spPr>
          <a:xfrm>
            <a:off x="5760720" y="3063240"/>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rPr>
              <a:t>2</a:t>
            </a:r>
            <a:endPar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886" name="TextBox 13"/>
          <p:cNvSpPr txBox="1"/>
          <p:nvPr/>
        </p:nvSpPr>
        <p:spPr>
          <a:xfrm>
            <a:off x="6537960" y="3186430"/>
            <a:ext cx="493775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分片研究之间缺乏统一的城市水系统框架</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887" name="Rounded Rectangle 14"/>
          <p:cNvSpPr/>
          <p:nvPr/>
        </p:nvSpPr>
        <p:spPr>
          <a:xfrm>
            <a:off x="5532120" y="4197096"/>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888" name="Rectangle 15"/>
          <p:cNvSpPr/>
          <p:nvPr/>
        </p:nvSpPr>
        <p:spPr>
          <a:xfrm>
            <a:off x="5760720" y="4507992"/>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rPr>
              <a:t>3</a:t>
            </a:r>
            <a:endPar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889" name="TextBox 16"/>
          <p:cNvSpPr txBox="1"/>
          <p:nvPr/>
        </p:nvSpPr>
        <p:spPr>
          <a:xfrm>
            <a:off x="6537960" y="4631182"/>
            <a:ext cx="493775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AI 节点接入后的城市水代谢建模与边界识别</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890" name=""/>
        <p:cNvGrpSpPr/>
        <p:nvPr/>
      </p:nvGrpSpPr>
      <p:grpSpPr>
        <a:xfrm>
          <a:off x="0" y="0"/>
          <a:ext cx="0" cy="0"/>
          <a:chOff x="0" y="0"/>
          <a:chExt cx="0" cy="0"/>
        </a:xfrm>
      </p:grpSpPr>
      <p:pic>
        <p:nvPicPr>
          <p:cNvPr id="891" name="图片 5"/>
          <p:cNvPicPr>
            <a:picLocks noChangeAspect="1"/>
          </p:cNvPicPr>
          <p:nvPr/>
        </p:nvPicPr>
        <p:blipFill>
          <a:blip r:embed="rId1"/>
          <a:stretch>
            <a:fillRect/>
          </a:stretch>
        </p:blipFill>
        <p:spPr>
          <a:xfrm>
            <a:off x="866775" y="1285240"/>
            <a:ext cx="4130040" cy="3847465"/>
          </a:xfrm>
          <a:prstGeom prst="rect">
            <a:avLst/>
          </a:prstGeom>
          <a:ln w="19050">
            <a:noFill/>
          </a:ln>
        </p:spPr>
      </p:pic>
      <p:sp>
        <p:nvSpPr>
          <p:cNvPr id="892" name="文本框 6"/>
          <p:cNvSpPr txBox="1"/>
          <p:nvPr/>
        </p:nvSpPr>
        <p:spPr>
          <a:xfrm>
            <a:off x="1426845" y="5355590"/>
            <a:ext cx="3522345" cy="275590"/>
          </a:xfrm>
          <a:prstGeom prst="rect">
            <a:avLst/>
          </a:prstGeom>
        </p:spPr>
        <p:txBody>
          <a:bodyPr wrap="square">
            <a:spAutoFit/>
          </a:bodyPr>
          <a:p>
            <a:pPr algn="ctr"/>
            <a:r>
              <a:rPr lang="en-US" altLang="zh-CN" sz="1200" b="1">
                <a:latin typeface="微软雅黑" panose="020B0503020204020204" pitchFamily="34" charset="-122"/>
                <a:ea typeface="微软雅黑" panose="020B0503020204020204" pitchFamily="34" charset="-122"/>
              </a:rPr>
              <a:t>Xiao et al. Nature Sustainability 2025</a:t>
            </a:r>
            <a:endParaRPr lang="en-US" altLang="zh-CN" sz="1200" b="1">
              <a:latin typeface="微软雅黑" panose="020B0503020204020204" pitchFamily="34" charset="-122"/>
              <a:ea typeface="微软雅黑" panose="020B0503020204020204" pitchFamily="34" charset="-122"/>
            </a:endParaRPr>
          </a:p>
        </p:txBody>
      </p:sp>
      <p:sp>
        <p:nvSpPr>
          <p:cNvPr id="893" name="文本框 8"/>
          <p:cNvSpPr txBox="1"/>
          <p:nvPr/>
        </p:nvSpPr>
        <p:spPr>
          <a:xfrm>
            <a:off x="5875020" y="1285875"/>
            <a:ext cx="5123815" cy="1427480"/>
          </a:xfrm>
          <a:prstGeom prst="rect">
            <a:avLst/>
          </a:prstGeom>
          <a:solidFill>
            <a:srgbClr val="005375"/>
          </a:solidFill>
        </p:spPr>
        <p:txBody>
          <a:bodyPr wrap="square">
            <a:noAutofit/>
          </a:bodyPr>
          <a:p>
            <a:pPr algn="ctr"/>
            <a:r>
              <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随着</a:t>
            </a:r>
            <a:r>
              <a:rPr lang="en-US" altLang="zh-CN"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AI</a:t>
            </a:r>
            <a:r>
              <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服务器规模增长，其生命周期水足迹呈快速上升趋势</a:t>
            </a:r>
            <a:endPar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94" name="文本框 9"/>
          <p:cNvSpPr txBox="1"/>
          <p:nvPr/>
        </p:nvSpPr>
        <p:spPr>
          <a:xfrm>
            <a:off x="5875020" y="1998980"/>
            <a:ext cx="5111115" cy="3631565"/>
          </a:xfrm>
          <a:prstGeom prst="rect">
            <a:avLst/>
          </a:prstGeom>
          <a:solidFill>
            <a:schemeClr val="bg2"/>
          </a:solidFill>
        </p:spPr>
        <p:txBody>
          <a:bodyPr>
            <a:noAutofit/>
          </a:bodyPr>
          <a:p>
            <a:pPr indent="457200" algn="l">
              <a:lnSpc>
                <a:spcPct val="200000"/>
              </a:lnSpc>
              <a:buNone/>
            </a:pPr>
            <a:r>
              <a:rPr lang="zh-CN" altLang="en-US">
                <a:latin typeface="微软雅黑" panose="020B0503020204020204" pitchFamily="34" charset="-122"/>
                <a:ea typeface="微软雅黑" panose="020B0503020204020204" pitchFamily="34" charset="-122"/>
                <a:cs typeface="微软雅黑" panose="020B0503020204020204" pitchFamily="34" charset="-122"/>
              </a:rPr>
              <a:t>随着大规模人工智能模型快速发展，</a:t>
            </a:r>
            <a:r>
              <a:rPr lang="en-US" altLang="zh-CN">
                <a:latin typeface="微软雅黑" panose="020B0503020204020204" pitchFamily="34" charset="-122"/>
                <a:ea typeface="微软雅黑" panose="020B0503020204020204" pitchFamily="34" charset="-122"/>
                <a:cs typeface="微软雅黑" panose="020B0503020204020204" pitchFamily="34" charset="-122"/>
              </a:rPr>
              <a:t>AI</a:t>
            </a:r>
            <a:r>
              <a:rPr lang="zh-CN" altLang="en-US">
                <a:latin typeface="微软雅黑" panose="020B0503020204020204" pitchFamily="34" charset="-122"/>
                <a:ea typeface="微软雅黑" panose="020B0503020204020204" pitchFamily="34" charset="-122"/>
                <a:cs typeface="微软雅黑" panose="020B0503020204020204" pitchFamily="34" charset="-122"/>
              </a:rPr>
              <a:t>服务器部署规模持续扩大，其运行过程产生的水资源环境影响逐渐受到关注。研究表明，</a:t>
            </a:r>
            <a:r>
              <a:rPr lang="en-US" altLang="zh-CN">
                <a:latin typeface="微软雅黑" panose="020B0503020204020204" pitchFamily="34" charset="-122"/>
                <a:ea typeface="微软雅黑" panose="020B0503020204020204" pitchFamily="34" charset="-122"/>
                <a:cs typeface="微软雅黑" panose="020B0503020204020204" pitchFamily="34" charset="-122"/>
              </a:rPr>
              <a:t>AI</a:t>
            </a:r>
            <a:r>
              <a:rPr lang="zh-CN" altLang="en-US">
                <a:latin typeface="微软雅黑" panose="020B0503020204020204" pitchFamily="34" charset="-122"/>
                <a:ea typeface="微软雅黑" panose="020B0503020204020204" pitchFamily="34" charset="-122"/>
                <a:cs typeface="微软雅黑" panose="020B0503020204020204" pitchFamily="34" charset="-122"/>
              </a:rPr>
              <a:t>服务器水足迹不仅随计算规模增长而增加，同时受到能源结构、服务器效率及部署区域条件影响，不同发展情景下未来水资源压力存在明显差异。</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895" name="直接连接符 11"/>
          <p:cNvCxnSpPr/>
          <p:nvPr/>
        </p:nvCxnSpPr>
        <p:spPr>
          <a:xfrm>
            <a:off x="5381625" y="1021080"/>
            <a:ext cx="0" cy="4970145"/>
          </a:xfrm>
          <a:prstGeom prst="line">
            <a:avLst/>
          </a:prstGeom>
          <a:ln w="34925" cmpd="sng">
            <a:solidFill>
              <a:schemeClr val="accent1">
                <a:shade val="50000"/>
              </a:schemeClr>
            </a:solidFill>
            <a:prstDash val="solid"/>
          </a:ln>
        </p:spPr>
        <p:style>
          <a:lnRef idx="2">
            <a:schemeClr val="accent1"/>
          </a:lnRef>
          <a:fillRef idx="0">
            <a:srgbClr val="FFFFFF"/>
          </a:fillRef>
          <a:effectRef idx="0">
            <a:srgbClr val="FFFFFF"/>
          </a:effectRef>
          <a:fontRef idx="minor">
            <a:schemeClr val="tx1"/>
          </a:fontRef>
        </p:style>
      </p:cxnSp>
      <p:sp>
        <p:nvSpPr>
          <p:cNvPr id="896" name="圆角矩形 12"/>
          <p:cNvSpPr/>
          <p:nvPr/>
        </p:nvSpPr>
        <p:spPr>
          <a:xfrm>
            <a:off x="588010" y="969645"/>
            <a:ext cx="11192510" cy="5184775"/>
          </a:xfrm>
          <a:prstGeom prst="roundRect">
            <a:avLst/>
          </a:prstGeom>
          <a:noFill/>
          <a:ln w="38100"/>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97" name="矩形 13"/>
          <p:cNvSpPr/>
          <p:nvPr/>
        </p:nvSpPr>
        <p:spPr>
          <a:xfrm>
            <a:off x="1140460" y="1501775"/>
            <a:ext cx="3940175" cy="3630930"/>
          </a:xfrm>
          <a:prstGeom prst="rect">
            <a:avLst/>
          </a:prstGeom>
          <a:noFill/>
          <a:ln w="15875" cmpd="sng">
            <a:solidFill>
              <a:schemeClr val="tx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98" name="圆角矩形 14"/>
          <p:cNvSpPr/>
          <p:nvPr/>
        </p:nvSpPr>
        <p:spPr>
          <a:xfrm>
            <a:off x="799465" y="1285240"/>
            <a:ext cx="282575" cy="40767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99" name="Title 1"/>
          <p:cNvSpPr>
            <a:spLocks noGrp="1"/>
          </p:cNvSpPr>
          <p:nvPr>
            <p:ph type="title"/>
          </p:nvPr>
        </p:nvSpPr>
        <p:spPr>
          <a:xfrm>
            <a:off x="503555" y="118745"/>
            <a:ext cx="11191240" cy="621665"/>
          </a:xfrm>
        </p:spPr>
        <p:txBody>
          <a:bodyPr wrap="square" lIns="0" tIns="18288" rIns="0" bIns="18288" anchor="ctr">
            <a:normAutofit/>
          </a:bodyPr>
          <a:lstStyle/>
          <a:p>
            <a:pPr algn="l"/>
            <a:r>
              <a:rPr lang="en-US" altLang="zh-CN" sz="2800" b="1" i="0">
                <a:solidFill>
                  <a:srgbClr val="000000"/>
                </a:solidFill>
                <a:latin typeface="微软雅黑" panose="020B0503020204020204" pitchFamily="34" charset="-122"/>
                <a:ea typeface="微软雅黑" panose="020B0503020204020204" pitchFamily="34" charset="-122"/>
              </a:rPr>
              <a:t>AI</a:t>
            </a:r>
            <a:r>
              <a:rPr lang="zh-CN" altLang="en-US" sz="2800" b="1" i="0">
                <a:solidFill>
                  <a:srgbClr val="000000"/>
                </a:solidFill>
                <a:latin typeface="微软雅黑" panose="020B0503020204020204" pitchFamily="34" charset="-122"/>
                <a:ea typeface="微软雅黑" panose="020B0503020204020204" pitchFamily="34" charset="-122"/>
              </a:rPr>
              <a:t>算力扩张带来持续增长的水资源环境压力</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3" name=""/>
        <p:cNvGrpSpPr/>
        <p:nvPr/>
      </p:nvGrpSpPr>
      <p:grpSpPr>
        <a:xfrm>
          <a:off x="0" y="0"/>
          <a:ext cx="0" cy="0"/>
          <a:chOff x="0" y="0"/>
          <a:chExt cx="0" cy="0"/>
        </a:xfrm>
      </p:grpSpPr>
      <p:sp>
        <p:nvSpPr>
          <p:cNvPr id="14" name="文本框 8"/>
          <p:cNvSpPr txBox="1"/>
          <p:nvPr/>
        </p:nvSpPr>
        <p:spPr>
          <a:xfrm>
            <a:off x="1826895" y="1174750"/>
            <a:ext cx="8398510" cy="518160"/>
          </a:xfrm>
          <a:prstGeom prst="rect">
            <a:avLst/>
          </a:prstGeom>
          <a:solidFill>
            <a:srgbClr val="005375"/>
          </a:solidFill>
        </p:spPr>
        <p:txBody>
          <a:bodyPr wrap="square">
            <a:noAutofit/>
          </a:bodyPr>
          <a:p>
            <a:pPr algn="ctr"/>
            <a:r>
              <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算力布局与区域水资源条件存在潜在错配。</a:t>
            </a:r>
            <a:endPar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文本框 9"/>
          <p:cNvSpPr txBox="1"/>
          <p:nvPr/>
        </p:nvSpPr>
        <p:spPr>
          <a:xfrm>
            <a:off x="1826895" y="1692910"/>
            <a:ext cx="8398510" cy="1439545"/>
          </a:xfrm>
          <a:prstGeom prst="rect">
            <a:avLst/>
          </a:prstGeom>
          <a:solidFill>
            <a:schemeClr val="bg2"/>
          </a:solidFill>
        </p:spPr>
        <p:txBody>
          <a:bodyPr>
            <a:noAutofit/>
          </a:bodyPr>
          <a:p>
            <a:pPr indent="457200" algn="l">
              <a:lnSpc>
                <a:spcPct val="150000"/>
              </a:lnSpc>
              <a:buNone/>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针对中国数据中心发展趋势，已有研究开展设施尺度水足迹核算，发现不同地区由于能源结构、冷却方式和水资源条件差异，数据中心水环境影响存在明显空间分化。部分算力集聚区域同时面临较高水资源压力，体现出算力布局与区域水资源禀赋之间的潜在矛盾。 </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lnSpc>
                <a:spcPct val="200000"/>
              </a:lnSpc>
              <a:buFont typeface="Wingdings" panose="05000000000000000000" charset="0"/>
              <a:buChar char="l"/>
            </a:pP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圆角矩形 12"/>
          <p:cNvSpPr/>
          <p:nvPr/>
        </p:nvSpPr>
        <p:spPr>
          <a:xfrm>
            <a:off x="588010" y="1080770"/>
            <a:ext cx="11192510" cy="5073650"/>
          </a:xfrm>
          <a:prstGeom prst="roundRect">
            <a:avLst/>
          </a:prstGeom>
          <a:noFill/>
          <a:ln w="38100"/>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Title 1"/>
          <p:cNvSpPr>
            <a:spLocks noGrp="1"/>
          </p:cNvSpPr>
          <p:nvPr>
            <p:ph type="title"/>
          </p:nvPr>
        </p:nvSpPr>
        <p:spPr>
          <a:xfrm>
            <a:off x="503555" y="118745"/>
            <a:ext cx="11191240" cy="621665"/>
          </a:xfrm>
        </p:spPr>
        <p:txBody>
          <a:bodyPr wrap="square" lIns="0" tIns="18288" rIns="0" bIns="18288" anchor="ctr">
            <a:normAutofit/>
          </a:bodyPr>
          <a:lstStyle/>
          <a:p>
            <a:pPr algn="l"/>
            <a:r>
              <a:rPr lang="zh-CN" altLang="en-US" sz="2800" b="1" i="0">
                <a:solidFill>
                  <a:srgbClr val="000000"/>
                </a:solidFill>
                <a:latin typeface="微软雅黑" panose="020B0503020204020204" pitchFamily="34" charset="-122"/>
                <a:ea typeface="微软雅黑" panose="020B0503020204020204" pitchFamily="34" charset="-122"/>
              </a:rPr>
              <a:t>中国数据中心水足迹存在明显空间差异</a:t>
            </a:r>
            <a:endParaRPr lang="zh-CN" altLang="en-US" sz="2800" b="1" i="0">
              <a:solidFill>
                <a:srgbClr val="000000"/>
              </a:solidFill>
              <a:latin typeface="微软雅黑" panose="020B0503020204020204" pitchFamily="34" charset="-122"/>
              <a:ea typeface="微软雅黑" panose="020B0503020204020204" pitchFamily="34" charset="-122"/>
            </a:endParaRPr>
          </a:p>
        </p:txBody>
      </p:sp>
      <p:pic>
        <p:nvPicPr>
          <p:cNvPr id="18" name="图片 3"/>
          <p:cNvPicPr>
            <a:picLocks noChangeAspect="1"/>
          </p:cNvPicPr>
          <p:nvPr/>
        </p:nvPicPr>
        <p:blipFill>
          <a:blip r:embed="rId1"/>
          <a:stretch>
            <a:fillRect/>
          </a:stretch>
        </p:blipFill>
        <p:spPr>
          <a:xfrm>
            <a:off x="2279015" y="3167380"/>
            <a:ext cx="7433945" cy="2924175"/>
          </a:xfrm>
          <a:prstGeom prst="rect">
            <a:avLst/>
          </a:prstGeom>
        </p:spPr>
      </p:pic>
      <p:sp>
        <p:nvSpPr>
          <p:cNvPr id="19" name="文本框 1"/>
          <p:cNvSpPr txBox="1"/>
          <p:nvPr/>
        </p:nvSpPr>
        <p:spPr>
          <a:xfrm>
            <a:off x="4418965" y="5847080"/>
            <a:ext cx="3154045" cy="244475"/>
          </a:xfrm>
          <a:prstGeom prst="rect">
            <a:avLst/>
          </a:prstGeom>
        </p:spPr>
        <p:txBody>
          <a:bodyPr>
            <a:noAutofit/>
          </a:bodyPr>
          <a:p>
            <a:r>
              <a:rPr lang="en-US" altLang="zh-CN" sz="1400" b="1">
                <a:latin typeface="微软雅黑" panose="020B0503020204020204" pitchFamily="34" charset="-122"/>
                <a:ea typeface="微软雅黑" panose="020B0503020204020204" pitchFamily="34" charset="-122"/>
              </a:rPr>
              <a:t>Jiang et al. Applied Energy 2025</a:t>
            </a:r>
            <a:endParaRPr lang="en-US" altLang="zh-CN" sz="1400" b="1">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0" name=""/>
        <p:cNvGrpSpPr/>
        <p:nvPr/>
      </p:nvGrpSpPr>
      <p:grpSpPr>
        <a:xfrm>
          <a:off x="0" y="0"/>
          <a:ext cx="0" cy="0"/>
          <a:chOff x="0" y="0"/>
          <a:chExt cx="0" cy="0"/>
        </a:xfrm>
      </p:grpSpPr>
      <p:sp>
        <p:nvSpPr>
          <p:cNvPr id="21" name="文本框 8"/>
          <p:cNvSpPr txBox="1"/>
          <p:nvPr/>
        </p:nvSpPr>
        <p:spPr>
          <a:xfrm>
            <a:off x="1826895" y="1174750"/>
            <a:ext cx="8398510" cy="518160"/>
          </a:xfrm>
          <a:prstGeom prst="rect">
            <a:avLst/>
          </a:prstGeom>
          <a:solidFill>
            <a:srgbClr val="005375"/>
          </a:solidFill>
        </p:spPr>
        <p:txBody>
          <a:bodyPr wrap="square">
            <a:noAutofit/>
          </a:bodyPr>
          <a:p>
            <a:pPr algn="ctr"/>
            <a:r>
              <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数据中心水耗并非固定系数，而受到冷却架构和气象条件影响</a:t>
            </a:r>
            <a:endPar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ctr"/>
            <a:endPar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文本框 9"/>
          <p:cNvSpPr txBox="1"/>
          <p:nvPr/>
        </p:nvSpPr>
        <p:spPr>
          <a:xfrm>
            <a:off x="1826895" y="1692910"/>
            <a:ext cx="8398510" cy="1439545"/>
          </a:xfrm>
          <a:prstGeom prst="rect">
            <a:avLst/>
          </a:prstGeom>
          <a:solidFill>
            <a:schemeClr val="bg2"/>
          </a:solidFill>
        </p:spPr>
        <p:txBody>
          <a:bodyPr>
            <a:noAutofit/>
          </a:bodyPr>
          <a:p>
            <a:pPr indent="457200" algn="l">
              <a:lnSpc>
                <a:spcPct val="150000"/>
              </a:lnSpc>
              <a:buNone/>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数据中心水资源消耗并非固定的单位算力耗水量，而受到冷却架构、环境温度和运行条件共同影响。研究比较不同冷却方案发现，湿式冷却等方式具有明显季节波动特征，高温时期水耗显著增加，而冷却技术优化能够改变水、能、碳之间的耦合关系。</a:t>
            </a:r>
            <a:r>
              <a:rPr lang="zh-CN" altLang="en-US">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lnSpc>
                <a:spcPct val="200000"/>
              </a:lnSpc>
              <a:buFont typeface="Wingdings" panose="05000000000000000000" charset="0"/>
              <a:buChar char="l"/>
            </a:pP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3" name="圆角矩形 12"/>
          <p:cNvSpPr/>
          <p:nvPr/>
        </p:nvSpPr>
        <p:spPr>
          <a:xfrm>
            <a:off x="588010" y="1080770"/>
            <a:ext cx="11192510" cy="5179060"/>
          </a:xfrm>
          <a:prstGeom prst="roundRect">
            <a:avLst/>
          </a:prstGeom>
          <a:noFill/>
          <a:ln w="38100"/>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Title 1"/>
          <p:cNvSpPr>
            <a:spLocks noGrp="1"/>
          </p:cNvSpPr>
          <p:nvPr>
            <p:ph type="title"/>
          </p:nvPr>
        </p:nvSpPr>
        <p:spPr>
          <a:xfrm>
            <a:off x="503555" y="118745"/>
            <a:ext cx="11191240" cy="621665"/>
          </a:xfrm>
        </p:spPr>
        <p:txBody>
          <a:bodyPr wrap="square" lIns="0" tIns="18288" rIns="0" bIns="18288" anchor="ctr">
            <a:normAutofit/>
          </a:bodyPr>
          <a:lstStyle/>
          <a:p>
            <a:pPr algn="l"/>
            <a:r>
              <a:rPr lang="zh-CN" altLang="en-US" sz="2800" b="1" i="0">
                <a:solidFill>
                  <a:srgbClr val="000000"/>
                </a:solidFill>
                <a:latin typeface="微软雅黑" panose="020B0503020204020204" pitchFamily="34" charset="-122"/>
                <a:ea typeface="微软雅黑" panose="020B0503020204020204" pitchFamily="34" charset="-122"/>
              </a:rPr>
              <a:t>冷却技术与气候条件共同决定数据中心动态水耗</a:t>
            </a:r>
            <a:endParaRPr lang="zh-CN" altLang="en-US" sz="2800" b="1" i="0">
              <a:solidFill>
                <a:srgbClr val="000000"/>
              </a:solidFill>
              <a:latin typeface="微软雅黑" panose="020B0503020204020204" pitchFamily="34" charset="-122"/>
              <a:ea typeface="微软雅黑" panose="020B0503020204020204" pitchFamily="34" charset="-122"/>
            </a:endParaRPr>
          </a:p>
        </p:txBody>
      </p:sp>
      <p:pic>
        <p:nvPicPr>
          <p:cNvPr id="25" name="图片 1"/>
          <p:cNvPicPr>
            <a:picLocks noChangeAspect="1"/>
          </p:cNvPicPr>
          <p:nvPr/>
        </p:nvPicPr>
        <p:blipFill>
          <a:blip r:embed="rId1"/>
          <a:stretch>
            <a:fillRect/>
          </a:stretch>
        </p:blipFill>
        <p:spPr>
          <a:xfrm>
            <a:off x="1826260" y="3211195"/>
            <a:ext cx="8399145" cy="2741295"/>
          </a:xfrm>
          <a:prstGeom prst="rect">
            <a:avLst/>
          </a:prstGeom>
        </p:spPr>
      </p:pic>
      <p:sp>
        <p:nvSpPr>
          <p:cNvPr id="26" name="文本框 4"/>
          <p:cNvSpPr txBox="1"/>
          <p:nvPr/>
        </p:nvSpPr>
        <p:spPr>
          <a:xfrm>
            <a:off x="4822190" y="5922010"/>
            <a:ext cx="2546985" cy="424815"/>
          </a:xfrm>
          <a:prstGeom prst="rect">
            <a:avLst/>
          </a:prstGeom>
        </p:spPr>
        <p:txBody>
          <a:bodyPr>
            <a:noAutofit/>
          </a:bodyPr>
          <a:p>
            <a:r>
              <a:rPr lang="en-US" altLang="zh-CN" sz="1400" b="1">
                <a:latin typeface="微软雅黑" panose="020B0503020204020204" pitchFamily="34" charset="-122"/>
                <a:ea typeface="微软雅黑" panose="020B0503020204020204" pitchFamily="34" charset="-122"/>
              </a:rPr>
              <a:t>Alissa et al. Nature 2025</a:t>
            </a:r>
            <a:endParaRPr lang="en-US" altLang="zh-CN" sz="1400" b="1">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28" name="文本框 8"/>
          <p:cNvSpPr txBox="1"/>
          <p:nvPr/>
        </p:nvSpPr>
        <p:spPr>
          <a:xfrm>
            <a:off x="1826895" y="1174750"/>
            <a:ext cx="8398510" cy="518160"/>
          </a:xfrm>
          <a:prstGeom prst="rect">
            <a:avLst/>
          </a:prstGeom>
          <a:solidFill>
            <a:srgbClr val="005375"/>
          </a:solidFill>
        </p:spPr>
        <p:txBody>
          <a:bodyPr wrap="square">
            <a:noAutofit/>
          </a:bodyPr>
          <a:p>
            <a:pPr algn="ctr"/>
            <a:r>
              <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同样的年累计水耗可能对应不同的月尺度压力过程</a:t>
            </a:r>
            <a:endPar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ctr"/>
            <a:endParaRPr lang="zh-CN" altLang="en-US" b="1">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9" name="文本框 9"/>
          <p:cNvSpPr txBox="1"/>
          <p:nvPr/>
        </p:nvSpPr>
        <p:spPr>
          <a:xfrm>
            <a:off x="1826895" y="1692910"/>
            <a:ext cx="8398510" cy="1439545"/>
          </a:xfrm>
          <a:prstGeom prst="rect">
            <a:avLst/>
          </a:prstGeom>
          <a:solidFill>
            <a:schemeClr val="bg2"/>
          </a:solidFill>
        </p:spPr>
        <p:txBody>
          <a:bodyPr>
            <a:noAutofit/>
          </a:bodyPr>
          <a:p>
            <a:pPr indent="457200" algn="l">
              <a:lnSpc>
                <a:spcPct val="150000"/>
              </a:lnSpc>
              <a:buNone/>
            </a:pP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已有研究逐渐从年度水足迹核算转向月尺度甚至小时尺度动态模拟，发现数据中心冷却水需求具有明显季节变化规律。高温时期冷却需求快速增加，可能形成短时间尺度资源压力，而年度平均指标容易掩盖峰值负荷及基础设施约束。</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圆角矩形 12"/>
          <p:cNvSpPr/>
          <p:nvPr/>
        </p:nvSpPr>
        <p:spPr>
          <a:xfrm>
            <a:off x="588010" y="1080770"/>
            <a:ext cx="11192510" cy="5179060"/>
          </a:xfrm>
          <a:prstGeom prst="roundRect">
            <a:avLst/>
          </a:prstGeom>
          <a:noFill/>
          <a:ln w="38100"/>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1" name="Title 1"/>
          <p:cNvSpPr>
            <a:spLocks noGrp="1"/>
          </p:cNvSpPr>
          <p:nvPr>
            <p:ph type="title"/>
          </p:nvPr>
        </p:nvSpPr>
        <p:spPr>
          <a:xfrm>
            <a:off x="503555" y="118745"/>
            <a:ext cx="11191240" cy="621665"/>
          </a:xfrm>
        </p:spPr>
        <p:txBody>
          <a:bodyPr wrap="square" lIns="0" tIns="18288" rIns="0" bIns="18288" anchor="ctr">
            <a:normAutofit/>
          </a:bodyPr>
          <a:lstStyle/>
          <a:p>
            <a:pPr algn="l"/>
            <a:r>
              <a:rPr lang="zh-CN" altLang="en-US" sz="2800" b="1" i="0">
                <a:solidFill>
                  <a:srgbClr val="000000"/>
                </a:solidFill>
                <a:latin typeface="微软雅黑" panose="020B0503020204020204" pitchFamily="34" charset="-122"/>
                <a:ea typeface="微软雅黑" panose="020B0503020204020204" pitchFamily="34" charset="-122"/>
              </a:rPr>
              <a:t>年均水足迹评价难以识别时间尺度上的峰值压力</a:t>
            </a:r>
            <a:endParaRPr lang="zh-CN" altLang="en-US" sz="2800" b="1" i="0">
              <a:solidFill>
                <a:srgbClr val="000000"/>
              </a:solidFill>
              <a:latin typeface="微软雅黑" panose="020B0503020204020204" pitchFamily="34" charset="-122"/>
              <a:ea typeface="微软雅黑" panose="020B0503020204020204" pitchFamily="34" charset="-122"/>
            </a:endParaRPr>
          </a:p>
        </p:txBody>
      </p:sp>
      <p:pic>
        <p:nvPicPr>
          <p:cNvPr id="32" name="图片 3"/>
          <p:cNvPicPr>
            <a:picLocks noChangeAspect="1"/>
          </p:cNvPicPr>
          <p:nvPr/>
        </p:nvPicPr>
        <p:blipFill>
          <a:blip r:embed="rId1"/>
          <a:stretch>
            <a:fillRect/>
          </a:stretch>
        </p:blipFill>
        <p:spPr>
          <a:xfrm>
            <a:off x="2465070" y="3076575"/>
            <a:ext cx="6954520" cy="3004820"/>
          </a:xfrm>
          <a:prstGeom prst="rect">
            <a:avLst/>
          </a:prstGeom>
        </p:spPr>
      </p:pic>
      <p:sp>
        <p:nvSpPr>
          <p:cNvPr id="33" name="圆角矩形 14"/>
          <p:cNvSpPr/>
          <p:nvPr/>
        </p:nvSpPr>
        <p:spPr>
          <a:xfrm>
            <a:off x="2439670" y="3097530"/>
            <a:ext cx="201295" cy="311785"/>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4" name="圆角矩形 2"/>
          <p:cNvSpPr/>
          <p:nvPr/>
        </p:nvSpPr>
        <p:spPr>
          <a:xfrm>
            <a:off x="5911215" y="3076575"/>
            <a:ext cx="201295" cy="311785"/>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文本框 5"/>
          <p:cNvSpPr txBox="1"/>
          <p:nvPr/>
        </p:nvSpPr>
        <p:spPr>
          <a:xfrm>
            <a:off x="3824605" y="5973763"/>
            <a:ext cx="5080000" cy="306705"/>
          </a:xfrm>
          <a:prstGeom prst="rect">
            <a:avLst/>
          </a:prstGeom>
        </p:spPr>
        <p:txBody>
          <a:bodyPr>
            <a:spAutoFit/>
          </a:bodyPr>
          <a:p>
            <a:r>
              <a:rPr lang="en-US" altLang="zh-CN" sz="1400" b="1">
                <a:latin typeface="微软雅黑" panose="020B0503020204020204" pitchFamily="34" charset="-122"/>
                <a:ea typeface="微软雅黑" panose="020B0503020204020204" pitchFamily="34" charset="-122"/>
              </a:rPr>
              <a:t>Karimi et al. Applied Thermal Engineering 2025</a:t>
            </a:r>
            <a:endParaRPr lang="en-US" altLang="zh-CN" sz="1400" b="1">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37"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现有研究已解决什么？尚未解决什么？</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38"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39"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08 / 24</a:t>
            </a:r>
            <a:endParaRPr lang="zh-CN" altLang="en-US" sz="1000" b="1" i="0">
              <a:solidFill>
                <a:srgbClr val="FFFFFF"/>
              </a:solidFill>
              <a:latin typeface="Arial" panose="020B0604020202020204"/>
              <a:ea typeface="Arial" panose="020B0604020202020204"/>
            </a:endParaRPr>
          </a:p>
        </p:txBody>
      </p:sp>
      <p:sp>
        <p:nvSpPr>
          <p:cNvPr id="40" name="Rectangle 4"/>
          <p:cNvSpPr/>
          <p:nvPr/>
        </p:nvSpPr>
        <p:spPr>
          <a:xfrm>
            <a:off x="484632" y="914400"/>
            <a:ext cx="11219688"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41" name="TextBox 5"/>
          <p:cNvSpPr txBox="1"/>
          <p:nvPr/>
        </p:nvSpPr>
        <p:spPr>
          <a:xfrm>
            <a:off x="621792" y="995490"/>
            <a:ext cx="3154680" cy="258445"/>
          </a:xfrm>
          <a:prstGeom prst="rect">
            <a:avLst/>
          </a:prstGeom>
          <a:noFill/>
        </p:spPr>
        <p:txBody>
          <a:bodyPr wrap="square" lIns="27432" tIns="13716" rIns="27432" bIns="13716" anchor="ctr">
            <a:spAutoFit/>
          </a:bodyPr>
          <a:lstStyle/>
          <a:p>
            <a:pPr algn="l">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知识链</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42" name="TextBox 6"/>
          <p:cNvSpPr txBox="1"/>
          <p:nvPr/>
        </p:nvSpPr>
        <p:spPr>
          <a:xfrm>
            <a:off x="4142232" y="995490"/>
            <a:ext cx="3749039" cy="258445"/>
          </a:xfrm>
          <a:prstGeom prst="rect">
            <a:avLst/>
          </a:prstGeom>
          <a:noFill/>
        </p:spPr>
        <p:txBody>
          <a:bodyPr wrap="square" lIns="27432" tIns="13716" rIns="27432" bIns="13716" anchor="ctr">
            <a:spAutoFit/>
          </a:bodyPr>
          <a:lstStyle/>
          <a:p>
            <a:pPr algn="l">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已解决：现有研究提供了什么</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43" name="TextBox 7"/>
          <p:cNvSpPr txBox="1"/>
          <p:nvPr/>
        </p:nvSpPr>
        <p:spPr>
          <a:xfrm>
            <a:off x="7982712" y="914400"/>
            <a:ext cx="4315968" cy="420624"/>
          </a:xfrm>
          <a:prstGeom prst="rect">
            <a:avLst/>
          </a:prstGeom>
          <a:noFill/>
        </p:spPr>
        <p:txBody>
          <a:bodyPr wrap="square" lIns="27432" tIns="13716" rIns="27432" bIns="13716" anchor="ctr">
            <a:spAutoFit/>
          </a:bodyPr>
          <a:lstStyle/>
          <a:p>
            <a:pPr algn="l">
              <a:lnSpc>
                <a:spcPct val="108000"/>
              </a:lnSpc>
            </a:pPr>
            <a:r>
              <a:rPr lang="zh-CN" altLang="en-US" sz="1300" b="1" i="0">
                <a:solidFill>
                  <a:srgbClr val="FFFFFF"/>
                </a:solidFill>
                <a:latin typeface="微软雅黑" panose="020B0503020204020204" pitchFamily="34" charset="-122"/>
                <a:ea typeface="微软雅黑" panose="020B0503020204020204" pitchFamily="34" charset="-122"/>
              </a:rPr>
              <a:t>未解决：为什么仍然不够</a:t>
            </a:r>
            <a:endParaRPr lang="zh-CN" altLang="en-US" sz="1300" b="1" i="0">
              <a:solidFill>
                <a:srgbClr val="FFFFFF"/>
              </a:solidFill>
              <a:latin typeface="微软雅黑" panose="020B0503020204020204" pitchFamily="34" charset="-122"/>
              <a:ea typeface="微软雅黑" panose="020B0503020204020204" pitchFamily="34" charset="-122"/>
            </a:endParaRPr>
          </a:p>
        </p:txBody>
      </p:sp>
      <p:sp>
        <p:nvSpPr>
          <p:cNvPr id="44" name="Rectangle 8"/>
          <p:cNvSpPr/>
          <p:nvPr/>
        </p:nvSpPr>
        <p:spPr>
          <a:xfrm>
            <a:off x="484632" y="1444752"/>
            <a:ext cx="11219688"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45" name="Rectangle 9"/>
          <p:cNvSpPr/>
          <p:nvPr/>
        </p:nvSpPr>
        <p:spPr>
          <a:xfrm>
            <a:off x="484632" y="1444752"/>
            <a:ext cx="11219688" cy="676656"/>
          </a:xfrm>
          <a:prstGeom prst="rect">
            <a:avLst/>
          </a:prstGeom>
          <a:solidFill>
            <a:srgbClr val="F5F9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46" name="Rectangle 10"/>
          <p:cNvSpPr/>
          <p:nvPr/>
        </p:nvSpPr>
        <p:spPr>
          <a:xfrm>
            <a:off x="484632" y="1444752"/>
            <a:ext cx="54864" cy="676656"/>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47" name="TextBox 11"/>
          <p:cNvSpPr txBox="1"/>
          <p:nvPr/>
        </p:nvSpPr>
        <p:spPr>
          <a:xfrm>
            <a:off x="685800" y="1651635"/>
            <a:ext cx="2971800" cy="262890"/>
          </a:xfrm>
          <a:prstGeom prst="rect">
            <a:avLst/>
          </a:prstGeom>
          <a:noFill/>
        </p:spPr>
        <p:txBody>
          <a:bodyPr wrap="square" lIns="27432" tIns="13716" rIns="27432" bIns="13716" anchor="ctr">
            <a:spAutoFit/>
          </a:bodyPr>
          <a:lstStyle/>
          <a:p>
            <a:pPr algn="l">
              <a:lnSpc>
                <a:spcPct val="110000"/>
              </a:lnSpc>
            </a:pPr>
            <a:r>
              <a:rPr lang="zh-CN" altLang="en-US" sz="1400" b="1" i="0">
                <a:solidFill>
                  <a:srgbClr val="005375"/>
                </a:solidFill>
                <a:latin typeface="微软雅黑" panose="020B0503020204020204" pitchFamily="34" charset="-122"/>
                <a:ea typeface="微软雅黑" panose="020B0503020204020204" pitchFamily="34" charset="-122"/>
              </a:rPr>
              <a:t>数据中心水足迹与 WUE</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48" name="TextBox 12"/>
          <p:cNvSpPr txBox="1"/>
          <p:nvPr/>
        </p:nvSpPr>
        <p:spPr>
          <a:xfrm>
            <a:off x="4142232" y="1646238"/>
            <a:ext cx="3657599" cy="273685"/>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算力侧能耗与水足迹的量化方法</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49" name="TextBox 13"/>
          <p:cNvSpPr txBox="1"/>
          <p:nvPr/>
        </p:nvSpPr>
        <p:spPr>
          <a:xfrm>
            <a:off x="7982712" y="1646238"/>
            <a:ext cx="4178807" cy="273685"/>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研究对象落在设施边界内，未进入城市系统</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50" name="Rectangle 14"/>
          <p:cNvSpPr/>
          <p:nvPr/>
        </p:nvSpPr>
        <p:spPr>
          <a:xfrm>
            <a:off x="484632" y="2212848"/>
            <a:ext cx="11219688"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1" name="Rectangle 15"/>
          <p:cNvSpPr/>
          <p:nvPr/>
        </p:nvSpPr>
        <p:spPr>
          <a:xfrm>
            <a:off x="484632" y="2212848"/>
            <a:ext cx="11219688" cy="676656"/>
          </a:xfrm>
          <a:prstGeom prst="rect">
            <a:avLst/>
          </a:prstGeom>
          <a:solidFill>
            <a:srgbClr val="F5F9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2" name="Rectangle 16"/>
          <p:cNvSpPr/>
          <p:nvPr/>
        </p:nvSpPr>
        <p:spPr>
          <a:xfrm>
            <a:off x="484632" y="2212848"/>
            <a:ext cx="54864" cy="676656"/>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3" name="TextBox 17"/>
          <p:cNvSpPr txBox="1"/>
          <p:nvPr/>
        </p:nvSpPr>
        <p:spPr>
          <a:xfrm>
            <a:off x="685800" y="2419731"/>
            <a:ext cx="2971800" cy="262890"/>
          </a:xfrm>
          <a:prstGeom prst="rect">
            <a:avLst/>
          </a:prstGeom>
          <a:noFill/>
        </p:spPr>
        <p:txBody>
          <a:bodyPr wrap="square" lIns="27432" tIns="13716" rIns="27432" bIns="13716" anchor="ctr">
            <a:spAutoFit/>
          </a:bodyPr>
          <a:lstStyle/>
          <a:p>
            <a:pPr algn="l">
              <a:lnSpc>
                <a:spcPct val="110000"/>
              </a:lnSpc>
            </a:pPr>
            <a:r>
              <a:rPr lang="zh-CN" altLang="en-US" sz="1400" b="1" i="0">
                <a:solidFill>
                  <a:srgbClr val="005375"/>
                </a:solidFill>
                <a:latin typeface="微软雅黑" panose="020B0503020204020204" pitchFamily="34" charset="-122"/>
                <a:ea typeface="微软雅黑" panose="020B0503020204020204" pitchFamily="34" charset="-122"/>
              </a:rPr>
              <a:t>城市代谢与水—能关系</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54" name="TextBox 18"/>
          <p:cNvSpPr txBox="1"/>
          <p:nvPr/>
        </p:nvSpPr>
        <p:spPr>
          <a:xfrm>
            <a:off x="4142232" y="2414333"/>
            <a:ext cx="3657599" cy="273685"/>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城市尺度水—能耦合代谢模型</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55" name="TextBox 19"/>
          <p:cNvSpPr txBox="1"/>
          <p:nvPr/>
        </p:nvSpPr>
        <p:spPr>
          <a:xfrm>
            <a:off x="7982712" y="2414333"/>
            <a:ext cx="4178807" cy="273685"/>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未刻画 AI 算力节点这一新增负荷类型</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56" name="Rectangle 20"/>
          <p:cNvSpPr/>
          <p:nvPr/>
        </p:nvSpPr>
        <p:spPr>
          <a:xfrm>
            <a:off x="484632" y="2980944"/>
            <a:ext cx="11219688"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7" name="Rectangle 21"/>
          <p:cNvSpPr/>
          <p:nvPr/>
        </p:nvSpPr>
        <p:spPr>
          <a:xfrm>
            <a:off x="484632" y="2980944"/>
            <a:ext cx="11219688" cy="676656"/>
          </a:xfrm>
          <a:prstGeom prst="rect">
            <a:avLst/>
          </a:prstGeom>
          <a:solidFill>
            <a:srgbClr val="F5F9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8" name="Rectangle 22"/>
          <p:cNvSpPr/>
          <p:nvPr/>
        </p:nvSpPr>
        <p:spPr>
          <a:xfrm>
            <a:off x="484632" y="2980944"/>
            <a:ext cx="54864" cy="676656"/>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9" name="TextBox 23"/>
          <p:cNvSpPr txBox="1"/>
          <p:nvPr/>
        </p:nvSpPr>
        <p:spPr>
          <a:xfrm>
            <a:off x="685800" y="3187827"/>
            <a:ext cx="2971800" cy="262890"/>
          </a:xfrm>
          <a:prstGeom prst="rect">
            <a:avLst/>
          </a:prstGeom>
          <a:noFill/>
        </p:spPr>
        <p:txBody>
          <a:bodyPr wrap="square" lIns="27432" tIns="13716" rIns="27432" bIns="13716" anchor="ctr">
            <a:spAutoFit/>
          </a:bodyPr>
          <a:lstStyle/>
          <a:p>
            <a:pPr algn="l">
              <a:lnSpc>
                <a:spcPct val="110000"/>
              </a:lnSpc>
            </a:pPr>
            <a:r>
              <a:rPr lang="zh-CN" altLang="en-US" sz="1400" b="1" i="0">
                <a:solidFill>
                  <a:srgbClr val="005375"/>
                </a:solidFill>
                <a:latin typeface="微软雅黑" panose="020B0503020204020204" pitchFamily="34" charset="-122"/>
                <a:ea typeface="微软雅黑" panose="020B0503020204020204" pitchFamily="34" charset="-122"/>
              </a:rPr>
              <a:t>AI 耗水与冷却特性</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60" name="TextBox 24"/>
          <p:cNvSpPr txBox="1"/>
          <p:nvPr/>
        </p:nvSpPr>
        <p:spPr>
          <a:xfrm>
            <a:off x="4142232" y="3182430"/>
            <a:ext cx="3657599" cy="273685"/>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冷却方式、气候与节水冷却的效应</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1" name="TextBox 25"/>
          <p:cNvSpPr txBox="1"/>
          <p:nvPr/>
        </p:nvSpPr>
        <p:spPr>
          <a:xfrm>
            <a:off x="7982712" y="3182430"/>
            <a:ext cx="4178807" cy="273685"/>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多聚焦设施改造与运行优化，未回答城市承载</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2" name="Rectangle 26"/>
          <p:cNvSpPr/>
          <p:nvPr/>
        </p:nvSpPr>
        <p:spPr>
          <a:xfrm>
            <a:off x="484632" y="3749039"/>
            <a:ext cx="11219688"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63" name="Rectangle 27"/>
          <p:cNvSpPr/>
          <p:nvPr/>
        </p:nvSpPr>
        <p:spPr>
          <a:xfrm>
            <a:off x="484632" y="3749039"/>
            <a:ext cx="11219688" cy="676656"/>
          </a:xfrm>
          <a:prstGeom prst="rect">
            <a:avLst/>
          </a:prstGeom>
          <a:solidFill>
            <a:srgbClr val="F5F9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64" name="Rectangle 28"/>
          <p:cNvSpPr/>
          <p:nvPr/>
        </p:nvSpPr>
        <p:spPr>
          <a:xfrm>
            <a:off x="484632" y="3749039"/>
            <a:ext cx="54864" cy="676656"/>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65" name="TextBox 29"/>
          <p:cNvSpPr txBox="1"/>
          <p:nvPr/>
        </p:nvSpPr>
        <p:spPr>
          <a:xfrm>
            <a:off x="685800" y="3955922"/>
            <a:ext cx="2971800" cy="262890"/>
          </a:xfrm>
          <a:prstGeom prst="rect">
            <a:avLst/>
          </a:prstGeom>
          <a:noFill/>
        </p:spPr>
        <p:txBody>
          <a:bodyPr wrap="square" lIns="27432" tIns="13716" rIns="27432" bIns="13716" anchor="ctr">
            <a:spAutoFit/>
          </a:bodyPr>
          <a:lstStyle/>
          <a:p>
            <a:pPr algn="l">
              <a:lnSpc>
                <a:spcPct val="110000"/>
              </a:lnSpc>
            </a:pPr>
            <a:r>
              <a:rPr lang="zh-CN" altLang="en-US" sz="1400" b="1" i="0">
                <a:solidFill>
                  <a:srgbClr val="005375"/>
                </a:solidFill>
                <a:latin typeface="微软雅黑" panose="020B0503020204020204" pitchFamily="34" charset="-122"/>
                <a:ea typeface="微软雅黑" panose="020B0503020204020204" pitchFamily="34" charset="-122"/>
              </a:rPr>
              <a:t>城市水系统优化配置</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66" name="TextBox 30"/>
          <p:cNvSpPr txBox="1"/>
          <p:nvPr/>
        </p:nvSpPr>
        <p:spPr>
          <a:xfrm>
            <a:off x="4142232" y="3950525"/>
            <a:ext cx="3657599" cy="273685"/>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城市水系统优化模型与算法</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7" name="TextBox 31"/>
          <p:cNvSpPr txBox="1"/>
          <p:nvPr/>
        </p:nvSpPr>
        <p:spPr>
          <a:xfrm>
            <a:off x="7982712" y="3950525"/>
            <a:ext cx="4178807" cy="273685"/>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约束以传统用水为主，未纳入算力相关约束</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8" name="Rectangle 32"/>
          <p:cNvSpPr/>
          <p:nvPr/>
        </p:nvSpPr>
        <p:spPr>
          <a:xfrm>
            <a:off x="484632" y="4517136"/>
            <a:ext cx="11219688" cy="6766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69" name="Rectangle 33"/>
          <p:cNvSpPr/>
          <p:nvPr/>
        </p:nvSpPr>
        <p:spPr>
          <a:xfrm>
            <a:off x="484632" y="4517136"/>
            <a:ext cx="11219688" cy="676656"/>
          </a:xfrm>
          <a:prstGeom prst="rect">
            <a:avLst/>
          </a:prstGeom>
          <a:solidFill>
            <a:srgbClr val="F5F9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70" name="Rectangle 34"/>
          <p:cNvSpPr/>
          <p:nvPr/>
        </p:nvSpPr>
        <p:spPr>
          <a:xfrm>
            <a:off x="484632" y="4517136"/>
            <a:ext cx="54864" cy="676656"/>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71" name="TextBox 35"/>
          <p:cNvSpPr txBox="1"/>
          <p:nvPr/>
        </p:nvSpPr>
        <p:spPr>
          <a:xfrm>
            <a:off x="685800" y="4724019"/>
            <a:ext cx="2971800" cy="262890"/>
          </a:xfrm>
          <a:prstGeom prst="rect">
            <a:avLst/>
          </a:prstGeom>
          <a:noFill/>
        </p:spPr>
        <p:txBody>
          <a:bodyPr wrap="square" lIns="27432" tIns="13716" rIns="27432" bIns="13716" anchor="ctr">
            <a:spAutoFit/>
          </a:bodyPr>
          <a:lstStyle/>
          <a:p>
            <a:pPr algn="l">
              <a:lnSpc>
                <a:spcPct val="110000"/>
              </a:lnSpc>
            </a:pPr>
            <a:r>
              <a:rPr lang="zh-CN" altLang="en-US" sz="1400" b="1" i="0">
                <a:solidFill>
                  <a:srgbClr val="005375"/>
                </a:solidFill>
                <a:latin typeface="微软雅黑" panose="020B0503020204020204" pitchFamily="34" charset="-122"/>
                <a:ea typeface="微软雅黑" panose="020B0503020204020204" pitchFamily="34" charset="-122"/>
              </a:rPr>
              <a:t>AI 方法应用</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72" name="TextBox 36"/>
          <p:cNvSpPr txBox="1"/>
          <p:nvPr/>
        </p:nvSpPr>
        <p:spPr>
          <a:xfrm>
            <a:off x="4142232" y="4718622"/>
            <a:ext cx="3657599" cy="273685"/>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AI 用于城市水系统的预测、优化与调度</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73" name="TextBox 37"/>
          <p:cNvSpPr txBox="1"/>
          <p:nvPr/>
        </p:nvSpPr>
        <p:spPr>
          <a:xfrm>
            <a:off x="7982712" y="4718622"/>
            <a:ext cx="4178807" cy="273685"/>
          </a:xfrm>
          <a:prstGeom prst="rect">
            <a:avLst/>
          </a:prstGeom>
          <a:noFill/>
        </p:spPr>
        <p:txBody>
          <a:bodyPr wrap="square" lIns="27432" tIns="13716" rIns="27432" bIns="13716" anchor="ctr">
            <a:spAutoFit/>
          </a:bodyPr>
          <a:lstStyle/>
          <a:p>
            <a:pPr algn="l">
              <a:lnSpc>
                <a:spcPct val="115000"/>
              </a:lnSpc>
            </a:pPr>
            <a:r>
              <a:rPr lang="zh-CN" altLang="en-US" sz="1400" b="0" i="0">
                <a:solidFill>
                  <a:srgbClr val="1F2A33"/>
                </a:solidFill>
                <a:latin typeface="微软雅黑" panose="020B0503020204020204" pitchFamily="34" charset="-122"/>
                <a:ea typeface="微软雅黑" panose="020B0503020204020204" pitchFamily="34" charset="-122"/>
              </a:rPr>
              <a:t>方法成熟，但多未与 AI 算力侧形成闭环</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74" name="Rectangle 38"/>
          <p:cNvSpPr/>
          <p:nvPr/>
        </p:nvSpPr>
        <p:spPr>
          <a:xfrm>
            <a:off x="484632" y="5532120"/>
            <a:ext cx="11219688" cy="56692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400" b="1" i="0">
                <a:solidFill>
                  <a:srgbClr val="FFFFFF"/>
                </a:solidFill>
                <a:latin typeface="微软雅黑" panose="020B0503020204020204" pitchFamily="34" charset="-122"/>
                <a:ea typeface="微软雅黑" panose="020B0503020204020204" pitchFamily="34" charset="-122"/>
              </a:rPr>
              <a:t>结论：现有研究已分别解决「算力耗水」与「城市代谢」，但未把二者放在同一系统内回答承载边界。</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99" name=""/>
        <p:cNvGrpSpPr/>
        <p:nvPr/>
      </p:nvGrpSpPr>
      <p:grpSpPr>
        <a:xfrm>
          <a:off x="0" y="0"/>
          <a:ext cx="0" cy="0"/>
          <a:chOff x="0" y="0"/>
          <a:chExt cx="0" cy="0"/>
        </a:xfrm>
      </p:grpSpPr>
      <p:sp>
        <p:nvSpPr>
          <p:cNvPr id="100"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本研究针对的三个科学缺口</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101"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102"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10 / 24</a:t>
            </a:r>
            <a:endParaRPr lang="zh-CN" altLang="en-US" sz="1000" b="1" i="0">
              <a:solidFill>
                <a:srgbClr val="FFFFFF"/>
              </a:solidFill>
              <a:latin typeface="Arial" panose="020B0604020202020204"/>
              <a:ea typeface="Arial" panose="020B0604020202020204"/>
            </a:endParaRPr>
          </a:p>
        </p:txBody>
      </p:sp>
      <p:sp>
        <p:nvSpPr>
          <p:cNvPr id="103" name="Rounded Rectangle 4"/>
          <p:cNvSpPr/>
          <p:nvPr>
            <p:custDataLst>
              <p:tags r:id="rId1"/>
            </p:custDataLst>
          </p:nvPr>
        </p:nvSpPr>
        <p:spPr>
          <a:xfrm>
            <a:off x="484632" y="1034415"/>
            <a:ext cx="3639312" cy="30175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04" name="Rectangle 5"/>
          <p:cNvSpPr/>
          <p:nvPr>
            <p:custDataLst>
              <p:tags r:id="rId2"/>
            </p:custDataLst>
          </p:nvPr>
        </p:nvSpPr>
        <p:spPr>
          <a:xfrm>
            <a:off x="502920" y="1052703"/>
            <a:ext cx="3602736" cy="4572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缺口一</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105" name="TextBox 6"/>
          <p:cNvSpPr txBox="1"/>
          <p:nvPr>
            <p:custDataLst>
              <p:tags r:id="rId3"/>
            </p:custDataLst>
          </p:nvPr>
        </p:nvSpPr>
        <p:spPr>
          <a:xfrm>
            <a:off x="621792" y="1592199"/>
            <a:ext cx="822960" cy="822960"/>
          </a:xfrm>
          <a:prstGeom prst="rect">
            <a:avLst/>
          </a:prstGeom>
          <a:noFill/>
        </p:spPr>
        <p:txBody>
          <a:bodyPr wrap="square" lIns="27432" tIns="13716" rIns="27432" bIns="13716" anchor="t">
            <a:spAutoFit/>
          </a:bodyPr>
          <a:lstStyle/>
          <a:p>
            <a:pPr algn="l">
              <a:lnSpc>
                <a:spcPct val="108000"/>
              </a:lnSpc>
            </a:pPr>
            <a:r>
              <a:rPr lang="zh-CN" altLang="en-US" sz="4400" b="1" i="0">
                <a:solidFill>
                  <a:srgbClr val="C9DCE6"/>
                </a:solidFill>
                <a:latin typeface="Arial" panose="020B0604020202020204"/>
                <a:ea typeface="Arial" panose="020B0604020202020204"/>
              </a:rPr>
              <a:t>1</a:t>
            </a:r>
            <a:endParaRPr lang="zh-CN" altLang="en-US" sz="4400" b="1" i="0">
              <a:solidFill>
                <a:srgbClr val="C9DCE6"/>
              </a:solidFill>
              <a:latin typeface="Arial" panose="020B0604020202020204"/>
              <a:ea typeface="Arial" panose="020B0604020202020204"/>
            </a:endParaRPr>
          </a:p>
        </p:txBody>
      </p:sp>
      <p:sp>
        <p:nvSpPr>
          <p:cNvPr id="106" name="TextBox 7"/>
          <p:cNvSpPr txBox="1"/>
          <p:nvPr>
            <p:custDataLst>
              <p:tags r:id="rId4"/>
            </p:custDataLst>
          </p:nvPr>
        </p:nvSpPr>
        <p:spPr>
          <a:xfrm>
            <a:off x="1353312" y="1825625"/>
            <a:ext cx="2651760" cy="292100"/>
          </a:xfrm>
          <a:prstGeom prst="rect">
            <a:avLst/>
          </a:prstGeom>
          <a:noFill/>
        </p:spPr>
        <p:txBody>
          <a:bodyPr wrap="square" lIns="27432" tIns="13716" rIns="27432" bIns="13716" anchor="ctr">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响应机制不清</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107" name="TextBox 8"/>
          <p:cNvSpPr txBox="1"/>
          <p:nvPr>
            <p:custDataLst>
              <p:tags r:id="rId5"/>
            </p:custDataLst>
          </p:nvPr>
        </p:nvSpPr>
        <p:spPr>
          <a:xfrm>
            <a:off x="713232" y="2406015"/>
            <a:ext cx="3200400" cy="995680"/>
          </a:xfrm>
          <a:prstGeom prst="rect">
            <a:avLst/>
          </a:prstGeom>
          <a:noFill/>
        </p:spPr>
        <p:txBody>
          <a:bodyPr wrap="square" lIns="27432" tIns="13716" rIns="27432" bIns="13716" anchor="t">
            <a:spAutoFit/>
          </a:bodyPr>
          <a:lstStyle/>
          <a:p>
            <a:pPr algn="l">
              <a:lnSpc>
                <a:spcPct val="150000"/>
              </a:lnSpc>
            </a:pPr>
            <a:r>
              <a:rPr lang="zh-CN" altLang="en-US" sz="1400" b="0" i="0">
                <a:solidFill>
                  <a:srgbClr val="1F2A33"/>
                </a:solidFill>
                <a:latin typeface="微软雅黑" panose="020B0503020204020204" pitchFamily="34" charset="-122"/>
                <a:ea typeface="微软雅黑" panose="020B0503020204020204" pitchFamily="34" charset="-122"/>
              </a:rPr>
              <a:t>AI 节点接入后，城市水系统的取水—处理—输配—使用—排放—回用链条如何响应，尚缺少系统性刻画。</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108" name="Rounded Rectangle 9"/>
          <p:cNvSpPr/>
          <p:nvPr>
            <p:custDataLst>
              <p:tags r:id="rId6"/>
            </p:custDataLst>
          </p:nvPr>
        </p:nvSpPr>
        <p:spPr>
          <a:xfrm>
            <a:off x="4274820" y="1034415"/>
            <a:ext cx="3639312" cy="30175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09" name="Rectangle 10"/>
          <p:cNvSpPr/>
          <p:nvPr>
            <p:custDataLst>
              <p:tags r:id="rId7"/>
            </p:custDataLst>
          </p:nvPr>
        </p:nvSpPr>
        <p:spPr>
          <a:xfrm>
            <a:off x="4293107" y="1052703"/>
            <a:ext cx="3602736" cy="4572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缺口二</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110" name="TextBox 11"/>
          <p:cNvSpPr txBox="1"/>
          <p:nvPr>
            <p:custDataLst>
              <p:tags r:id="rId8"/>
            </p:custDataLst>
          </p:nvPr>
        </p:nvSpPr>
        <p:spPr>
          <a:xfrm>
            <a:off x="4411980" y="1592199"/>
            <a:ext cx="822960" cy="822960"/>
          </a:xfrm>
          <a:prstGeom prst="rect">
            <a:avLst/>
          </a:prstGeom>
          <a:noFill/>
        </p:spPr>
        <p:txBody>
          <a:bodyPr wrap="square" lIns="27432" tIns="13716" rIns="27432" bIns="13716" anchor="t">
            <a:spAutoFit/>
          </a:bodyPr>
          <a:lstStyle/>
          <a:p>
            <a:pPr algn="l">
              <a:lnSpc>
                <a:spcPct val="108000"/>
              </a:lnSpc>
            </a:pPr>
            <a:r>
              <a:rPr lang="zh-CN" altLang="en-US" sz="4400" b="1" i="0">
                <a:solidFill>
                  <a:srgbClr val="C9DCE6"/>
                </a:solidFill>
                <a:latin typeface="Arial" panose="020B0604020202020204"/>
                <a:ea typeface="Arial" panose="020B0604020202020204"/>
              </a:rPr>
              <a:t>2</a:t>
            </a:r>
            <a:endParaRPr lang="zh-CN" altLang="en-US" sz="4400" b="1" i="0">
              <a:solidFill>
                <a:srgbClr val="C9DCE6"/>
              </a:solidFill>
              <a:latin typeface="Arial" panose="020B0604020202020204"/>
              <a:ea typeface="Arial" panose="020B0604020202020204"/>
            </a:endParaRPr>
          </a:p>
        </p:txBody>
      </p:sp>
      <p:sp>
        <p:nvSpPr>
          <p:cNvPr id="111" name="TextBox 12"/>
          <p:cNvSpPr txBox="1"/>
          <p:nvPr>
            <p:custDataLst>
              <p:tags r:id="rId9"/>
            </p:custDataLst>
          </p:nvPr>
        </p:nvSpPr>
        <p:spPr>
          <a:xfrm>
            <a:off x="5143500" y="1825625"/>
            <a:ext cx="2651760" cy="292100"/>
          </a:xfrm>
          <a:prstGeom prst="rect">
            <a:avLst/>
          </a:prstGeom>
          <a:noFill/>
        </p:spPr>
        <p:txBody>
          <a:bodyPr wrap="square" lIns="27432" tIns="13716" rIns="27432" bIns="13716" anchor="ctr">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承载边界不条件化</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112" name="TextBox 13"/>
          <p:cNvSpPr txBox="1"/>
          <p:nvPr>
            <p:custDataLst>
              <p:tags r:id="rId10"/>
            </p:custDataLst>
          </p:nvPr>
        </p:nvSpPr>
        <p:spPr>
          <a:xfrm>
            <a:off x="4503420" y="2406015"/>
            <a:ext cx="3200400" cy="1318895"/>
          </a:xfrm>
          <a:prstGeom prst="rect">
            <a:avLst/>
          </a:prstGeom>
          <a:noFill/>
        </p:spPr>
        <p:txBody>
          <a:bodyPr wrap="square" lIns="27432" tIns="13716" rIns="27432" bIns="13716" anchor="t">
            <a:spAutoFit/>
          </a:bodyPr>
          <a:lstStyle/>
          <a:p>
            <a:pPr algn="l">
              <a:lnSpc>
                <a:spcPct val="150000"/>
              </a:lnSpc>
            </a:pPr>
            <a:r>
              <a:rPr lang="zh-CN" altLang="en-US" sz="1400" b="0" i="0">
                <a:solidFill>
                  <a:srgbClr val="1F2A33"/>
                </a:solidFill>
                <a:latin typeface="微软雅黑" panose="020B0503020204020204" pitchFamily="34" charset="-122"/>
                <a:ea typeface="微软雅黑" panose="020B0503020204020204" pitchFamily="34" charset="-122"/>
              </a:rPr>
              <a:t>现有承载多以总量或单要素阈值表达，未体现「取决于水源结构、气象与技术组合」的条件性，年均总量掩盖瞬态峰值风险</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113" name="Rounded Rectangle 14"/>
          <p:cNvSpPr/>
          <p:nvPr>
            <p:custDataLst>
              <p:tags r:id="rId11"/>
            </p:custDataLst>
          </p:nvPr>
        </p:nvSpPr>
        <p:spPr>
          <a:xfrm>
            <a:off x="8065008" y="1034415"/>
            <a:ext cx="3639312" cy="30175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14" name="Rectangle 15"/>
          <p:cNvSpPr/>
          <p:nvPr>
            <p:custDataLst>
              <p:tags r:id="rId12"/>
            </p:custDataLst>
          </p:nvPr>
        </p:nvSpPr>
        <p:spPr>
          <a:xfrm>
            <a:off x="8083296" y="1052703"/>
            <a:ext cx="3602736" cy="4572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缺口三</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115" name="TextBox 16"/>
          <p:cNvSpPr txBox="1"/>
          <p:nvPr>
            <p:custDataLst>
              <p:tags r:id="rId13"/>
            </p:custDataLst>
          </p:nvPr>
        </p:nvSpPr>
        <p:spPr>
          <a:xfrm>
            <a:off x="8202168" y="1592199"/>
            <a:ext cx="822960" cy="822960"/>
          </a:xfrm>
          <a:prstGeom prst="rect">
            <a:avLst/>
          </a:prstGeom>
          <a:noFill/>
        </p:spPr>
        <p:txBody>
          <a:bodyPr wrap="square" lIns="27432" tIns="13716" rIns="27432" bIns="13716" anchor="t">
            <a:spAutoFit/>
          </a:bodyPr>
          <a:lstStyle/>
          <a:p>
            <a:pPr algn="l">
              <a:lnSpc>
                <a:spcPct val="108000"/>
              </a:lnSpc>
            </a:pPr>
            <a:r>
              <a:rPr lang="zh-CN" altLang="en-US" sz="4400" b="1" i="0">
                <a:solidFill>
                  <a:srgbClr val="C9DCE6"/>
                </a:solidFill>
                <a:latin typeface="Arial" panose="020B0604020202020204"/>
                <a:ea typeface="Arial" panose="020B0604020202020204"/>
              </a:rPr>
              <a:t>3</a:t>
            </a:r>
            <a:endParaRPr lang="zh-CN" altLang="en-US" sz="4400" b="1" i="0">
              <a:solidFill>
                <a:srgbClr val="C9DCE6"/>
              </a:solidFill>
              <a:latin typeface="Arial" panose="020B0604020202020204"/>
              <a:ea typeface="Arial" panose="020B0604020202020204"/>
            </a:endParaRPr>
          </a:p>
        </p:txBody>
      </p:sp>
      <p:sp>
        <p:nvSpPr>
          <p:cNvPr id="116" name="TextBox 17"/>
          <p:cNvSpPr txBox="1"/>
          <p:nvPr>
            <p:custDataLst>
              <p:tags r:id="rId14"/>
            </p:custDataLst>
          </p:nvPr>
        </p:nvSpPr>
        <p:spPr>
          <a:xfrm>
            <a:off x="8933688" y="1825625"/>
            <a:ext cx="2651760" cy="292100"/>
          </a:xfrm>
          <a:prstGeom prst="rect">
            <a:avLst/>
          </a:prstGeom>
          <a:noFill/>
        </p:spPr>
        <p:txBody>
          <a:bodyPr wrap="square" lIns="27432" tIns="13716" rIns="27432" bIns="13716" anchor="ctr">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瓶颈识别不动态</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117" name="TextBox 18"/>
          <p:cNvSpPr txBox="1"/>
          <p:nvPr>
            <p:custDataLst>
              <p:tags r:id="rId15"/>
            </p:custDataLst>
          </p:nvPr>
        </p:nvSpPr>
        <p:spPr>
          <a:xfrm>
            <a:off x="8293608" y="2406015"/>
            <a:ext cx="3200400" cy="995680"/>
          </a:xfrm>
          <a:prstGeom prst="rect">
            <a:avLst/>
          </a:prstGeom>
          <a:noFill/>
        </p:spPr>
        <p:txBody>
          <a:bodyPr wrap="square" lIns="27432" tIns="13716" rIns="27432" bIns="13716" anchor="t">
            <a:spAutoFit/>
          </a:bodyPr>
          <a:lstStyle/>
          <a:p>
            <a:pPr algn="l">
              <a:lnSpc>
                <a:spcPct val="150000"/>
              </a:lnSpc>
            </a:pPr>
            <a:r>
              <a:rPr lang="zh-CN" altLang="en-US" sz="1400" b="0" i="0">
                <a:solidFill>
                  <a:srgbClr val="1F2A33"/>
                </a:solidFill>
                <a:latin typeface="微软雅黑" panose="020B0503020204020204" pitchFamily="34" charset="-122"/>
                <a:ea typeface="微软雅黑" panose="020B0503020204020204" pitchFamily="34" charset="-122"/>
              </a:rPr>
              <a:t>瓶颈随季节、气温、来水与运行策略迁移，缺少可比较、可排序的主导瓶颈识别方法。</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118" name="Rounded Rectangle 19"/>
          <p:cNvSpPr/>
          <p:nvPr/>
        </p:nvSpPr>
        <p:spPr>
          <a:xfrm>
            <a:off x="484632" y="4298823"/>
            <a:ext cx="11219688" cy="914400"/>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19" name="Rectangle 20"/>
          <p:cNvSpPr/>
          <p:nvPr/>
        </p:nvSpPr>
        <p:spPr>
          <a:xfrm>
            <a:off x="640080" y="4408551"/>
            <a:ext cx="1600200" cy="69494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400" b="1" i="0">
                <a:solidFill>
                  <a:srgbClr val="FFFFFF"/>
                </a:solidFill>
                <a:latin typeface="微软雅黑" panose="020B0503020204020204" pitchFamily="34" charset="-122"/>
                <a:ea typeface="微软雅黑" panose="020B0503020204020204" pitchFamily="34" charset="-122"/>
              </a:rPr>
              <a:t>由此形成的</a:t>
            </a:r>
            <a:endParaRPr lang="zh-CN" altLang="en-US" sz="1400" b="1" i="0">
              <a:solidFill>
                <a:srgbClr val="FFFFFF"/>
              </a:solidFill>
              <a:latin typeface="微软雅黑" panose="020B0503020204020204" pitchFamily="34" charset="-122"/>
              <a:ea typeface="微软雅黑" panose="020B0503020204020204" pitchFamily="34" charset="-122"/>
            </a:endParaRPr>
          </a:p>
          <a:p>
            <a:pPr algn="ctr">
              <a:lnSpc>
                <a:spcPct val="105000"/>
              </a:lnSpc>
            </a:pPr>
            <a:r>
              <a:rPr lang="zh-CN" altLang="en-US" sz="1400" b="1" i="0">
                <a:solidFill>
                  <a:srgbClr val="FFFFFF"/>
                </a:solidFill>
                <a:latin typeface="微软雅黑" panose="020B0503020204020204" pitchFamily="34" charset="-122"/>
                <a:ea typeface="微软雅黑" panose="020B0503020204020204" pitchFamily="34" charset="-122"/>
              </a:rPr>
              <a:t>研究空白</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120" name="TextBox 21"/>
          <p:cNvSpPr txBox="1"/>
          <p:nvPr/>
        </p:nvSpPr>
        <p:spPr>
          <a:xfrm>
            <a:off x="2468880" y="4473448"/>
            <a:ext cx="9052560" cy="565150"/>
          </a:xfrm>
          <a:prstGeom prst="rect">
            <a:avLst/>
          </a:prstGeom>
          <a:noFill/>
        </p:spPr>
        <p:txBody>
          <a:bodyPr wrap="square" lIns="27432" tIns="13716" rIns="27432" bIns="13716" anchor="ctr">
            <a:spAutoFit/>
          </a:bodyPr>
          <a:lstStyle/>
          <a:p>
            <a:pPr algn="l">
              <a:lnSpc>
                <a:spcPct val="125000"/>
              </a:lnSpc>
            </a:pPr>
            <a:r>
              <a:rPr lang="zh-CN" altLang="en-US" sz="1400" b="0" i="0">
                <a:solidFill>
                  <a:srgbClr val="1F2A33"/>
                </a:solidFill>
                <a:latin typeface="微软雅黑" panose="020B0503020204020204" pitchFamily="34" charset="-122"/>
                <a:ea typeface="微软雅黑" panose="020B0503020204020204" pitchFamily="34" charset="-122"/>
              </a:rPr>
              <a:t>缺少一个能把「算力节点接入」转化为「城市水系统响应」，并进一步给出条件化承载边界与主导瓶颈识别的统一建模框架。</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121" name="Rounded Rectangle 22"/>
          <p:cNvSpPr/>
          <p:nvPr/>
        </p:nvSpPr>
        <p:spPr>
          <a:xfrm>
            <a:off x="484505" y="5396230"/>
            <a:ext cx="11219815" cy="396240"/>
          </a:xfrm>
          <a:prstGeom prst="roundRect">
            <a:avLst>
              <a:gd name="adj" fmla="val 2800"/>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22" name="TextBox 23"/>
          <p:cNvSpPr txBox="1"/>
          <p:nvPr/>
        </p:nvSpPr>
        <p:spPr>
          <a:xfrm>
            <a:off x="484632" y="5469255"/>
            <a:ext cx="11219688" cy="402336"/>
          </a:xfrm>
          <a:prstGeom prst="rect">
            <a:avLst/>
          </a:prstGeom>
          <a:noFill/>
        </p:spPr>
        <p:txBody>
          <a:bodyPr wrap="square" lIns="27432" tIns="13716" rIns="27432" bIns="13716" anchor="t">
            <a:spAutoFit/>
          </a:bodyPr>
          <a:lstStyle/>
          <a:p>
            <a:pPr algn="ctr">
              <a:lnSpc>
                <a:spcPct val="108000"/>
              </a:lnSpc>
            </a:pPr>
            <a:r>
              <a:rPr lang="zh-CN" altLang="en-US" sz="1250" b="1" i="0">
                <a:solidFill>
                  <a:srgbClr val="005375"/>
                </a:solidFill>
                <a:latin typeface="微软雅黑" panose="020B0503020204020204" pitchFamily="34" charset="-122"/>
                <a:ea typeface="微软雅黑" panose="020B0503020204020204" pitchFamily="34" charset="-122"/>
              </a:rPr>
              <a:t>三个缺口分别对应本研究的三个科学问题：如何响应 → 边界如何条件化 → 瓶颈如何识别与排序。</a:t>
            </a:r>
            <a:endParaRPr lang="zh-CN" altLang="en-US" sz="1250" b="1" i="0">
              <a:solidFill>
                <a:srgbClr val="005375"/>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23" name=""/>
        <p:cNvGrpSpPr/>
        <p:nvPr/>
      </p:nvGrpSpPr>
      <p:grpSpPr>
        <a:xfrm>
          <a:off x="0" y="0"/>
          <a:ext cx="0" cy="0"/>
          <a:chOff x="0" y="0"/>
          <a:chExt cx="0" cy="0"/>
        </a:xfrm>
      </p:grpSpPr>
      <p:sp>
        <p:nvSpPr>
          <p:cNvPr id="124"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125"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11 / 24</a:t>
            </a:r>
            <a:endParaRPr lang="zh-CN" altLang="en-US" sz="1000" b="1" i="0">
              <a:solidFill>
                <a:srgbClr val="FFFFFF"/>
              </a:solidFill>
              <a:latin typeface="Arial" panose="020B0604020202020204"/>
              <a:ea typeface="Arial" panose="020B0604020202020204"/>
            </a:endParaRPr>
          </a:p>
        </p:txBody>
      </p:sp>
      <p:sp>
        <p:nvSpPr>
          <p:cNvPr id="126" name="TextBox 4"/>
          <p:cNvSpPr txBox="1"/>
          <p:nvPr/>
        </p:nvSpPr>
        <p:spPr>
          <a:xfrm>
            <a:off x="731520" y="868680"/>
            <a:ext cx="4206240" cy="1600200"/>
          </a:xfrm>
          <a:prstGeom prst="rect">
            <a:avLst/>
          </a:prstGeom>
          <a:noFill/>
        </p:spPr>
        <p:txBody>
          <a:bodyPr wrap="square" lIns="27432" tIns="13716" rIns="27432" bIns="13716" anchor="t">
            <a:spAutoFit/>
          </a:bodyPr>
          <a:lstStyle/>
          <a:p>
            <a:pPr algn="l">
              <a:lnSpc>
                <a:spcPct val="108000"/>
              </a:lnSpc>
            </a:pPr>
            <a:r>
              <a:rPr lang="zh-CN" altLang="en-US" sz="9600" b="0" i="0">
                <a:solidFill>
                  <a:srgbClr val="005375"/>
                </a:solidFill>
                <a:latin typeface="Arial Black" panose="020B0A04020102020204"/>
                <a:ea typeface="Arial Black" panose="020B0A04020102020204"/>
              </a:rPr>
              <a:t>03</a:t>
            </a:r>
            <a:endParaRPr lang="zh-CN" altLang="en-US" sz="9600" b="0" i="0">
              <a:solidFill>
                <a:srgbClr val="005375"/>
              </a:solidFill>
              <a:latin typeface="Arial Black" panose="020B0A04020102020204"/>
              <a:ea typeface="Arial Black" panose="020B0A04020102020204"/>
            </a:endParaRPr>
          </a:p>
        </p:txBody>
      </p:sp>
      <p:sp>
        <p:nvSpPr>
          <p:cNvPr id="127" name="TextBox 5"/>
          <p:cNvSpPr txBox="1"/>
          <p:nvPr/>
        </p:nvSpPr>
        <p:spPr>
          <a:xfrm>
            <a:off x="896112" y="2487168"/>
            <a:ext cx="3200400" cy="310896"/>
          </a:xfrm>
          <a:prstGeom prst="rect">
            <a:avLst/>
          </a:prstGeom>
          <a:noFill/>
        </p:spPr>
        <p:txBody>
          <a:bodyPr wrap="square" lIns="27432" tIns="13716" rIns="27432" bIns="13716" anchor="t">
            <a:spAutoFit/>
          </a:bodyPr>
          <a:lstStyle/>
          <a:p>
            <a:pPr algn="l">
              <a:lnSpc>
                <a:spcPct val="108000"/>
              </a:lnSpc>
            </a:pPr>
            <a:r>
              <a:rPr lang="zh-CN" altLang="en-US" sz="1300" b="0" i="0" spc="300">
                <a:solidFill>
                  <a:srgbClr val="8CA3AF"/>
                </a:solidFill>
                <a:latin typeface="Arial" panose="020B0604020202020204"/>
                <a:ea typeface="Arial" panose="020B0604020202020204"/>
              </a:rPr>
              <a:t>PART THREE</a:t>
            </a:r>
            <a:endParaRPr lang="zh-CN" altLang="en-US" sz="1300" b="0" i="0" spc="300">
              <a:solidFill>
                <a:srgbClr val="8CA3AF"/>
              </a:solidFill>
              <a:latin typeface="Arial" panose="020B0604020202020204"/>
              <a:ea typeface="Arial" panose="020B0604020202020204"/>
            </a:endParaRPr>
          </a:p>
        </p:txBody>
      </p:sp>
      <p:sp>
        <p:nvSpPr>
          <p:cNvPr id="128" name="TextBox 6"/>
          <p:cNvSpPr txBox="1"/>
          <p:nvPr/>
        </p:nvSpPr>
        <p:spPr>
          <a:xfrm>
            <a:off x="786130" y="2834640"/>
            <a:ext cx="4455795" cy="1129030"/>
          </a:xfrm>
          <a:prstGeom prst="rect">
            <a:avLst/>
          </a:prstGeom>
          <a:noFill/>
        </p:spPr>
        <p:txBody>
          <a:bodyPr wrap="square" lIns="27432" tIns="13716" rIns="27432" bIns="13716" anchor="t">
            <a:spAutoFit/>
          </a:bodyPr>
          <a:lstStyle/>
          <a:p>
            <a:pPr algn="l">
              <a:lnSpc>
                <a:spcPct val="112000"/>
              </a:lnSpc>
            </a:pPr>
            <a:r>
              <a:rPr lang="zh-CN" altLang="en-US" sz="3200" b="1" i="0">
                <a:solidFill>
                  <a:srgbClr val="005375"/>
                </a:solidFill>
                <a:latin typeface="微软雅黑" panose="020B0503020204020204" pitchFamily="34" charset="-122"/>
                <a:ea typeface="微软雅黑" panose="020B0503020204020204" pitchFamily="34" charset="-122"/>
              </a:rPr>
              <a:t>科学问题、假设与</a:t>
            </a:r>
            <a:endParaRPr lang="zh-CN" altLang="en-US" sz="3200" b="1" i="0">
              <a:solidFill>
                <a:srgbClr val="005375"/>
              </a:solidFill>
              <a:latin typeface="微软雅黑" panose="020B0503020204020204" pitchFamily="34" charset="-122"/>
              <a:ea typeface="微软雅黑" panose="020B0503020204020204" pitchFamily="34" charset="-122"/>
            </a:endParaRPr>
          </a:p>
          <a:p>
            <a:pPr algn="l">
              <a:lnSpc>
                <a:spcPct val="112000"/>
              </a:lnSpc>
            </a:pPr>
            <a:r>
              <a:rPr lang="zh-CN" altLang="en-US" sz="3200" b="1" i="0">
                <a:solidFill>
                  <a:srgbClr val="005375"/>
                </a:solidFill>
                <a:latin typeface="微软雅黑" panose="020B0503020204020204" pitchFamily="34" charset="-122"/>
                <a:ea typeface="微软雅黑" panose="020B0503020204020204" pitchFamily="34" charset="-122"/>
              </a:rPr>
              <a:t>研究内容</a:t>
            </a:r>
            <a:endParaRPr lang="zh-CN" altLang="en-US" sz="3200" b="1" i="0">
              <a:solidFill>
                <a:srgbClr val="005375"/>
              </a:solidFill>
              <a:latin typeface="微软雅黑" panose="020B0503020204020204" pitchFamily="34" charset="-122"/>
              <a:ea typeface="微软雅黑" panose="020B0503020204020204" pitchFamily="34" charset="-122"/>
            </a:endParaRPr>
          </a:p>
        </p:txBody>
      </p:sp>
      <p:sp>
        <p:nvSpPr>
          <p:cNvPr id="129" name="Rounded Rectangle 9"/>
          <p:cNvSpPr/>
          <p:nvPr/>
        </p:nvSpPr>
        <p:spPr>
          <a:xfrm>
            <a:off x="5532120" y="1307592"/>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30" name="TextBox 11"/>
          <p:cNvSpPr txBox="1"/>
          <p:nvPr/>
        </p:nvSpPr>
        <p:spPr>
          <a:xfrm>
            <a:off x="6537960" y="1741678"/>
            <a:ext cx="493775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响应机制／条件化边界／瓶颈识别三个科学问题</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131" name="Rounded Rectangle 12"/>
          <p:cNvSpPr/>
          <p:nvPr/>
        </p:nvSpPr>
        <p:spPr>
          <a:xfrm>
            <a:off x="5532120" y="2752344"/>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32" name="TextBox 14"/>
          <p:cNvSpPr txBox="1"/>
          <p:nvPr/>
        </p:nvSpPr>
        <p:spPr>
          <a:xfrm>
            <a:off x="6537960" y="3186430"/>
            <a:ext cx="493775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可检验、可被模拟实验支持或推翻的三个研究假设</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133" name="Rounded Rectangle 15"/>
          <p:cNvSpPr/>
          <p:nvPr/>
        </p:nvSpPr>
        <p:spPr>
          <a:xfrm>
            <a:off x="5532120" y="4197096"/>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34" name="TextBox 17"/>
          <p:cNvSpPr txBox="1"/>
          <p:nvPr/>
        </p:nvSpPr>
        <p:spPr>
          <a:xfrm>
            <a:off x="6537960" y="4631182"/>
            <a:ext cx="493775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从概念到模型、从实验到边界求解四项研究内容</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135" name="Rectangle 9"/>
          <p:cNvSpPr/>
          <p:nvPr/>
        </p:nvSpPr>
        <p:spPr>
          <a:xfrm>
            <a:off x="5760720" y="1618488"/>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rPr>
              <a:t>1</a:t>
            </a:r>
            <a:endPar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136" name="Rectangle 12"/>
          <p:cNvSpPr/>
          <p:nvPr/>
        </p:nvSpPr>
        <p:spPr>
          <a:xfrm>
            <a:off x="5760720" y="3063240"/>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rPr>
              <a:t>2</a:t>
            </a:r>
            <a:endPar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endParaRPr>
          </a:p>
        </p:txBody>
      </p:sp>
      <p:sp>
        <p:nvSpPr>
          <p:cNvPr id="137" name="Rectangle 15"/>
          <p:cNvSpPr/>
          <p:nvPr/>
        </p:nvSpPr>
        <p:spPr>
          <a:xfrm>
            <a:off x="5760720" y="4507992"/>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rPr>
              <a:t>3</a:t>
            </a:r>
            <a:endParaRPr lang="zh-CN" altLang="en-US" sz="2800" b="1" i="0">
              <a:solidFill>
                <a:srgbClr val="FFFFFF"/>
              </a:solidFill>
              <a:latin typeface="微软雅黑" panose="020B0503020204020204" pitchFamily="34" charset="-122"/>
              <a:ea typeface="微软雅黑" panose="020B0503020204020204" pitchFamily="34" charset="-122"/>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38" name=""/>
        <p:cNvGrpSpPr/>
        <p:nvPr/>
      </p:nvGrpSpPr>
      <p:grpSpPr>
        <a:xfrm>
          <a:off x="0" y="0"/>
          <a:ext cx="0" cy="0"/>
          <a:chOff x="0" y="0"/>
          <a:chExt cx="0" cy="0"/>
        </a:xfrm>
      </p:grpSpPr>
      <p:sp>
        <p:nvSpPr>
          <p:cNvPr id="139"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核心概念：CAWCC 条件化 AI 水承载容量</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140"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141"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12 / 24</a:t>
            </a:r>
            <a:endParaRPr lang="zh-CN" altLang="en-US" sz="1000" b="1" i="0">
              <a:solidFill>
                <a:srgbClr val="FFFFFF"/>
              </a:solidFill>
              <a:latin typeface="Arial" panose="020B0604020202020204"/>
              <a:ea typeface="Arial" panose="020B0604020202020204"/>
            </a:endParaRPr>
          </a:p>
        </p:txBody>
      </p:sp>
      <p:sp>
        <p:nvSpPr>
          <p:cNvPr id="142" name="Rounded Rectangle 4"/>
          <p:cNvSpPr/>
          <p:nvPr/>
        </p:nvSpPr>
        <p:spPr>
          <a:xfrm>
            <a:off x="484632" y="914400"/>
            <a:ext cx="5760720" cy="239572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43" name="Rectangle 5"/>
          <p:cNvSpPr/>
          <p:nvPr/>
        </p:nvSpPr>
        <p:spPr>
          <a:xfrm>
            <a:off x="502920" y="932688"/>
            <a:ext cx="5724144" cy="402336"/>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CAWCC 是什么</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144" name="TextBox 6"/>
          <p:cNvSpPr txBox="1"/>
          <p:nvPr/>
        </p:nvSpPr>
        <p:spPr>
          <a:xfrm>
            <a:off x="685800" y="1444752"/>
            <a:ext cx="5394960" cy="822960"/>
          </a:xfrm>
          <a:prstGeom prst="rect">
            <a:avLst/>
          </a:prstGeom>
          <a:noFill/>
        </p:spPr>
        <p:txBody>
          <a:bodyPr wrap="square" lIns="27432" tIns="13716" rIns="27432" bIns="13716" anchor="t">
            <a:spAutoFit/>
          </a:bodyPr>
          <a:lstStyle/>
          <a:p>
            <a:pPr algn="l">
              <a:lnSpc>
                <a:spcPct val="128000"/>
              </a:lnSpc>
            </a:pPr>
            <a:r>
              <a:rPr lang="zh-CN" altLang="en-US" sz="1300" b="0" i="0">
                <a:solidFill>
                  <a:srgbClr val="1F2A33"/>
                </a:solidFill>
                <a:latin typeface="微软雅黑" panose="020B0503020204020204" pitchFamily="34" charset="-122"/>
                <a:ea typeface="微软雅黑" panose="020B0503020204020204" pitchFamily="34" charset="-122"/>
              </a:rPr>
              <a:t>Conditional AI Water Carrying Capacity：在给定水源结构、气象条件、技术水平与运行策略下，城市人工水系统可承载的 AI 算力相关用水规模。</a:t>
            </a:r>
            <a:endParaRPr lang="zh-CN" altLang="en-US" sz="1300" b="0" i="0">
              <a:solidFill>
                <a:srgbClr val="1F2A33"/>
              </a:solidFill>
              <a:latin typeface="微软雅黑" panose="020B0503020204020204" pitchFamily="34" charset="-122"/>
              <a:ea typeface="微软雅黑" panose="020B0503020204020204" pitchFamily="34" charset="-122"/>
            </a:endParaRPr>
          </a:p>
        </p:txBody>
      </p:sp>
      <p:sp>
        <p:nvSpPr>
          <p:cNvPr id="145" name="Rounded Rectangle 7"/>
          <p:cNvSpPr/>
          <p:nvPr/>
        </p:nvSpPr>
        <p:spPr>
          <a:xfrm>
            <a:off x="685800" y="2304288"/>
            <a:ext cx="1691640" cy="402336"/>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条件化</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146" name="Rounded Rectangle 8"/>
          <p:cNvSpPr/>
          <p:nvPr/>
        </p:nvSpPr>
        <p:spPr>
          <a:xfrm>
            <a:off x="2514600" y="2304288"/>
            <a:ext cx="1691640" cy="402336"/>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可计算</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147" name="Rounded Rectangle 9"/>
          <p:cNvSpPr/>
          <p:nvPr/>
        </p:nvSpPr>
        <p:spPr>
          <a:xfrm>
            <a:off x="4343400" y="2304288"/>
            <a:ext cx="1691640" cy="402336"/>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可比较</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148" name="Rectangle 10"/>
          <p:cNvSpPr/>
          <p:nvPr/>
        </p:nvSpPr>
        <p:spPr>
          <a:xfrm>
            <a:off x="685800" y="2779776"/>
            <a:ext cx="5349240" cy="457200"/>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lnSpc>
                <a:spcPct val="108000"/>
              </a:lnSpc>
            </a:pPr>
            <a:r>
              <a:rPr lang="zh-CN" altLang="en-US" sz="1250" b="1" i="0">
                <a:solidFill>
                  <a:srgbClr val="005375"/>
                </a:solidFill>
                <a:latin typeface="微软雅黑" panose="020B0503020204020204" pitchFamily="34" charset="-122"/>
                <a:ea typeface="微软雅黑" panose="020B0503020204020204" pitchFamily="34" charset="-122"/>
              </a:rPr>
              <a:t>不是单一总量阈值，而是一组随条件变化的容量维度；输出同时给出主导瓶颈。</a:t>
            </a:r>
            <a:endParaRPr lang="zh-CN" altLang="en-US" sz="1250" b="1" i="0">
              <a:solidFill>
                <a:srgbClr val="005375"/>
              </a:solidFill>
              <a:latin typeface="微软雅黑" panose="020B0503020204020204" pitchFamily="34" charset="-122"/>
              <a:ea typeface="微软雅黑" panose="020B0503020204020204" pitchFamily="34" charset="-122"/>
            </a:endParaRPr>
          </a:p>
        </p:txBody>
      </p:sp>
      <p:sp>
        <p:nvSpPr>
          <p:cNvPr id="149" name="Rounded Rectangle 11"/>
          <p:cNvSpPr/>
          <p:nvPr/>
        </p:nvSpPr>
        <p:spPr>
          <a:xfrm>
            <a:off x="484632" y="3474720"/>
            <a:ext cx="5760720" cy="239572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50" name="Rectangle 12"/>
          <p:cNvSpPr/>
          <p:nvPr/>
        </p:nvSpPr>
        <p:spPr>
          <a:xfrm>
            <a:off x="502920" y="3493008"/>
            <a:ext cx="5724144" cy="402336"/>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与既有水足迹 / WUE 指标的区别</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151" name="Rectangle 13"/>
          <p:cNvSpPr/>
          <p:nvPr/>
        </p:nvSpPr>
        <p:spPr>
          <a:xfrm>
            <a:off x="628650" y="3926205"/>
            <a:ext cx="1069848" cy="4434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52" name="TextBox 14"/>
          <p:cNvSpPr txBox="1"/>
          <p:nvPr/>
        </p:nvSpPr>
        <p:spPr>
          <a:xfrm>
            <a:off x="628650" y="3926205"/>
            <a:ext cx="1069848" cy="443484"/>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FFFFFF"/>
                </a:solidFill>
                <a:latin typeface="微软雅黑" panose="020B0503020204020204" pitchFamily="34" charset="-122"/>
                <a:ea typeface="微软雅黑" panose="020B0503020204020204" pitchFamily="34" charset="-122"/>
              </a:rPr>
              <a:t>对比维度</a:t>
            </a:r>
            <a:endParaRPr lang="zh-CN" altLang="en-US" sz="1150" b="1" i="0">
              <a:solidFill>
                <a:srgbClr val="FFFFFF"/>
              </a:solidFill>
              <a:latin typeface="微软雅黑" panose="020B0503020204020204" pitchFamily="34" charset="-122"/>
              <a:ea typeface="微软雅黑" panose="020B0503020204020204" pitchFamily="34" charset="-122"/>
            </a:endParaRPr>
          </a:p>
        </p:txBody>
      </p:sp>
      <p:sp>
        <p:nvSpPr>
          <p:cNvPr id="153" name="Rectangle 15"/>
          <p:cNvSpPr/>
          <p:nvPr/>
        </p:nvSpPr>
        <p:spPr>
          <a:xfrm>
            <a:off x="1725930" y="3926205"/>
            <a:ext cx="2167128" cy="4434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54" name="TextBox 16"/>
          <p:cNvSpPr txBox="1"/>
          <p:nvPr/>
        </p:nvSpPr>
        <p:spPr>
          <a:xfrm>
            <a:off x="1725930" y="3926205"/>
            <a:ext cx="2167128" cy="443484"/>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FFFFFF"/>
                </a:solidFill>
                <a:latin typeface="微软雅黑" panose="020B0503020204020204" pitchFamily="34" charset="-122"/>
                <a:ea typeface="微软雅黑" panose="020B0503020204020204" pitchFamily="34" charset="-122"/>
              </a:rPr>
              <a:t>既有水足迹 / WUE 指标</a:t>
            </a:r>
            <a:endParaRPr lang="zh-CN" altLang="en-US" sz="1150" b="1" i="0">
              <a:solidFill>
                <a:srgbClr val="FFFFFF"/>
              </a:solidFill>
              <a:latin typeface="微软雅黑" panose="020B0503020204020204" pitchFamily="34" charset="-122"/>
              <a:ea typeface="微软雅黑" panose="020B0503020204020204" pitchFamily="34" charset="-122"/>
            </a:endParaRPr>
          </a:p>
        </p:txBody>
      </p:sp>
      <p:sp>
        <p:nvSpPr>
          <p:cNvPr id="155" name="Rectangle 17"/>
          <p:cNvSpPr/>
          <p:nvPr/>
        </p:nvSpPr>
        <p:spPr>
          <a:xfrm>
            <a:off x="3920489" y="3926205"/>
            <a:ext cx="2167128" cy="4434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56" name="TextBox 18"/>
          <p:cNvSpPr txBox="1"/>
          <p:nvPr/>
        </p:nvSpPr>
        <p:spPr>
          <a:xfrm>
            <a:off x="3920489" y="3926205"/>
            <a:ext cx="2167128" cy="443484"/>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FFFFFF"/>
                </a:solidFill>
                <a:latin typeface="微软雅黑" panose="020B0503020204020204" pitchFamily="34" charset="-122"/>
                <a:ea typeface="微软雅黑" panose="020B0503020204020204" pitchFamily="34" charset="-122"/>
              </a:rPr>
              <a:t>CAWCC</a:t>
            </a:r>
            <a:endParaRPr lang="zh-CN" altLang="en-US" sz="1150" b="1" i="0">
              <a:solidFill>
                <a:srgbClr val="FFFFFF"/>
              </a:solidFill>
              <a:latin typeface="微软雅黑" panose="020B0503020204020204" pitchFamily="34" charset="-122"/>
              <a:ea typeface="微软雅黑" panose="020B0503020204020204" pitchFamily="34" charset="-122"/>
            </a:endParaRPr>
          </a:p>
        </p:txBody>
      </p:sp>
      <p:sp>
        <p:nvSpPr>
          <p:cNvPr id="157" name="Rectangle 19"/>
          <p:cNvSpPr/>
          <p:nvPr/>
        </p:nvSpPr>
        <p:spPr>
          <a:xfrm>
            <a:off x="628650" y="4397121"/>
            <a:ext cx="1069848" cy="443484"/>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58" name="TextBox 20"/>
          <p:cNvSpPr txBox="1"/>
          <p:nvPr/>
        </p:nvSpPr>
        <p:spPr>
          <a:xfrm>
            <a:off x="674370" y="4397121"/>
            <a:ext cx="978407" cy="443484"/>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评价对象</a:t>
            </a:r>
            <a:endParaRPr lang="zh-CN" altLang="en-US" sz="1150" b="1" i="0">
              <a:solidFill>
                <a:srgbClr val="005375"/>
              </a:solidFill>
              <a:latin typeface="微软雅黑" panose="020B0503020204020204" pitchFamily="34" charset="-122"/>
              <a:ea typeface="微软雅黑" panose="020B0503020204020204" pitchFamily="34" charset="-122"/>
            </a:endParaRPr>
          </a:p>
        </p:txBody>
      </p:sp>
      <p:sp>
        <p:nvSpPr>
          <p:cNvPr id="159" name="Rectangle 21"/>
          <p:cNvSpPr/>
          <p:nvPr/>
        </p:nvSpPr>
        <p:spPr>
          <a:xfrm>
            <a:off x="1725930" y="4397121"/>
            <a:ext cx="2167128" cy="443484"/>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60" name="TextBox 22"/>
          <p:cNvSpPr txBox="1"/>
          <p:nvPr/>
        </p:nvSpPr>
        <p:spPr>
          <a:xfrm>
            <a:off x="1771650" y="4397121"/>
            <a:ext cx="2075688" cy="443484"/>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设施自身用水效率</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161" name="Rectangle 23"/>
          <p:cNvSpPr/>
          <p:nvPr/>
        </p:nvSpPr>
        <p:spPr>
          <a:xfrm>
            <a:off x="3920489" y="4397121"/>
            <a:ext cx="2167128" cy="443484"/>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62" name="TextBox 24"/>
          <p:cNvSpPr txBox="1"/>
          <p:nvPr/>
        </p:nvSpPr>
        <p:spPr>
          <a:xfrm>
            <a:off x="3966209" y="4397121"/>
            <a:ext cx="2075688" cy="443484"/>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城市系统可承载规模</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163" name="Rectangle 25"/>
          <p:cNvSpPr/>
          <p:nvPr/>
        </p:nvSpPr>
        <p:spPr>
          <a:xfrm>
            <a:off x="628650" y="4868037"/>
            <a:ext cx="1069848" cy="443484"/>
          </a:xfrm>
          <a:prstGeom prst="rect">
            <a:avLst/>
          </a:prstGeom>
          <a:solidFill>
            <a:srgbClr val="FFFFFF"/>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64" name="TextBox 26"/>
          <p:cNvSpPr txBox="1"/>
          <p:nvPr/>
        </p:nvSpPr>
        <p:spPr>
          <a:xfrm>
            <a:off x="674370" y="4868037"/>
            <a:ext cx="978407" cy="443484"/>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表达方式</a:t>
            </a:r>
            <a:endParaRPr lang="zh-CN" altLang="en-US" sz="1150" b="1" i="0">
              <a:solidFill>
                <a:srgbClr val="005375"/>
              </a:solidFill>
              <a:latin typeface="微软雅黑" panose="020B0503020204020204" pitchFamily="34" charset="-122"/>
              <a:ea typeface="微软雅黑" panose="020B0503020204020204" pitchFamily="34" charset="-122"/>
            </a:endParaRPr>
          </a:p>
        </p:txBody>
      </p:sp>
      <p:sp>
        <p:nvSpPr>
          <p:cNvPr id="165" name="Rectangle 27"/>
          <p:cNvSpPr/>
          <p:nvPr/>
        </p:nvSpPr>
        <p:spPr>
          <a:xfrm>
            <a:off x="1725930" y="4868037"/>
            <a:ext cx="2167128" cy="443484"/>
          </a:xfrm>
          <a:prstGeom prst="rect">
            <a:avLst/>
          </a:prstGeom>
          <a:solidFill>
            <a:srgbClr val="FFFFFF"/>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66" name="TextBox 28"/>
          <p:cNvSpPr txBox="1"/>
          <p:nvPr/>
        </p:nvSpPr>
        <p:spPr>
          <a:xfrm>
            <a:off x="1771650" y="4868037"/>
            <a:ext cx="2075688" cy="443484"/>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单值或强度指标</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167" name="Rectangle 29"/>
          <p:cNvSpPr/>
          <p:nvPr/>
        </p:nvSpPr>
        <p:spPr>
          <a:xfrm>
            <a:off x="3920489" y="4868037"/>
            <a:ext cx="2167128" cy="443484"/>
          </a:xfrm>
          <a:prstGeom prst="rect">
            <a:avLst/>
          </a:prstGeom>
          <a:solidFill>
            <a:srgbClr val="FFFFFF"/>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68" name="TextBox 30"/>
          <p:cNvSpPr txBox="1"/>
          <p:nvPr/>
        </p:nvSpPr>
        <p:spPr>
          <a:xfrm>
            <a:off x="3966209" y="4868037"/>
            <a:ext cx="2075688" cy="443484"/>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随条件变化的容量</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169" name="Rectangle 31"/>
          <p:cNvSpPr/>
          <p:nvPr/>
        </p:nvSpPr>
        <p:spPr>
          <a:xfrm>
            <a:off x="628650" y="5338952"/>
            <a:ext cx="1069848" cy="443484"/>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70" name="TextBox 32"/>
          <p:cNvSpPr txBox="1"/>
          <p:nvPr/>
        </p:nvSpPr>
        <p:spPr>
          <a:xfrm>
            <a:off x="674370" y="5338952"/>
            <a:ext cx="978407" cy="443484"/>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决策用途</a:t>
            </a:r>
            <a:endParaRPr lang="zh-CN" altLang="en-US" sz="1150" b="1" i="0">
              <a:solidFill>
                <a:srgbClr val="005375"/>
              </a:solidFill>
              <a:latin typeface="微软雅黑" panose="020B0503020204020204" pitchFamily="34" charset="-122"/>
              <a:ea typeface="微软雅黑" panose="020B0503020204020204" pitchFamily="34" charset="-122"/>
            </a:endParaRPr>
          </a:p>
        </p:txBody>
      </p:sp>
      <p:sp>
        <p:nvSpPr>
          <p:cNvPr id="171" name="Rectangle 33"/>
          <p:cNvSpPr/>
          <p:nvPr/>
        </p:nvSpPr>
        <p:spPr>
          <a:xfrm>
            <a:off x="1725930" y="5338952"/>
            <a:ext cx="2167128" cy="443484"/>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72" name="TextBox 34"/>
          <p:cNvSpPr txBox="1"/>
          <p:nvPr/>
        </p:nvSpPr>
        <p:spPr>
          <a:xfrm>
            <a:off x="1771650" y="5338952"/>
            <a:ext cx="2075688" cy="443484"/>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设施节水改造</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173" name="Rectangle 35"/>
          <p:cNvSpPr/>
          <p:nvPr/>
        </p:nvSpPr>
        <p:spPr>
          <a:xfrm>
            <a:off x="3920489" y="5338952"/>
            <a:ext cx="2167128" cy="443484"/>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74" name="TextBox 36"/>
          <p:cNvSpPr txBox="1"/>
          <p:nvPr/>
        </p:nvSpPr>
        <p:spPr>
          <a:xfrm>
            <a:off x="3966209" y="5338952"/>
            <a:ext cx="2075688" cy="443484"/>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规划承载与干预排序</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175" name="Rounded Rectangle 37"/>
          <p:cNvSpPr/>
          <p:nvPr/>
        </p:nvSpPr>
        <p:spPr>
          <a:xfrm>
            <a:off x="6400800" y="914400"/>
            <a:ext cx="5303520" cy="422452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76" name="Rectangle 38"/>
          <p:cNvSpPr/>
          <p:nvPr/>
        </p:nvSpPr>
        <p:spPr>
          <a:xfrm>
            <a:off x="6419088" y="932688"/>
            <a:ext cx="5266944" cy="402336"/>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CAWCC 的条件维度</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177" name="Rectangle 39"/>
          <p:cNvSpPr/>
          <p:nvPr/>
        </p:nvSpPr>
        <p:spPr>
          <a:xfrm>
            <a:off x="6601968" y="1481328"/>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78" name="TextBox 40"/>
          <p:cNvSpPr txBox="1"/>
          <p:nvPr/>
        </p:nvSpPr>
        <p:spPr>
          <a:xfrm>
            <a:off x="6601968" y="1481328"/>
            <a:ext cx="475488" cy="475488"/>
          </a:xfrm>
          <a:prstGeom prst="rect">
            <a:avLst/>
          </a:prstGeom>
          <a:noFill/>
        </p:spPr>
        <p:txBody>
          <a:bodyPr wrap="square" lIns="27432" tIns="13716" rIns="27432" bIns="13716" anchor="ctr">
            <a:spAutoFit/>
          </a:bodyP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水</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179" name="TextBox 41"/>
          <p:cNvSpPr txBox="1"/>
          <p:nvPr/>
        </p:nvSpPr>
        <p:spPr>
          <a:xfrm>
            <a:off x="7242048" y="1444752"/>
            <a:ext cx="42976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水源结构</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180" name="TextBox 42"/>
          <p:cNvSpPr txBox="1"/>
          <p:nvPr/>
        </p:nvSpPr>
        <p:spPr>
          <a:xfrm>
            <a:off x="7242048" y="1719072"/>
            <a:ext cx="429768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再生水 · 淡水占比</a:t>
            </a:r>
            <a:endParaRPr lang="zh-CN" altLang="en-US" sz="1400" b="0" i="0">
              <a:solidFill>
                <a:srgbClr val="5A6B76"/>
              </a:solidFill>
              <a:latin typeface="微软雅黑" panose="020B0503020204020204" pitchFamily="34" charset="-122"/>
              <a:ea typeface="微软雅黑" panose="020B0503020204020204" pitchFamily="34" charset="-122"/>
            </a:endParaRPr>
          </a:p>
        </p:txBody>
      </p:sp>
      <p:cxnSp>
        <p:nvCxnSpPr>
          <p:cNvPr id="181" name="Connector 43"/>
          <p:cNvCxnSpPr/>
          <p:nvPr/>
        </p:nvCxnSpPr>
        <p:spPr>
          <a:xfrm>
            <a:off x="6601968" y="2212848"/>
            <a:ext cx="4892040"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182" name="Rectangle 44"/>
          <p:cNvSpPr/>
          <p:nvPr/>
        </p:nvSpPr>
        <p:spPr>
          <a:xfrm>
            <a:off x="6601968" y="2322576"/>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83" name="TextBox 45"/>
          <p:cNvSpPr txBox="1"/>
          <p:nvPr/>
        </p:nvSpPr>
        <p:spPr>
          <a:xfrm>
            <a:off x="6601968" y="2322576"/>
            <a:ext cx="475488" cy="475488"/>
          </a:xfrm>
          <a:prstGeom prst="rect">
            <a:avLst/>
          </a:prstGeom>
          <a:noFill/>
        </p:spPr>
        <p:txBody>
          <a:bodyPr wrap="square" lIns="27432" tIns="13716" rIns="27432" bIns="13716" anchor="ctr">
            <a:spAutoFit/>
          </a:bodyP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气</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184" name="TextBox 46"/>
          <p:cNvSpPr txBox="1"/>
          <p:nvPr/>
        </p:nvSpPr>
        <p:spPr>
          <a:xfrm>
            <a:off x="7242048" y="2286000"/>
            <a:ext cx="42976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气象条件</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185" name="TextBox 47"/>
          <p:cNvSpPr txBox="1"/>
          <p:nvPr/>
        </p:nvSpPr>
        <p:spPr>
          <a:xfrm>
            <a:off x="7242048" y="2560320"/>
            <a:ext cx="429768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气温、湿度、季节</a:t>
            </a:r>
            <a:endParaRPr lang="zh-CN" altLang="en-US" sz="1400" b="0" i="0">
              <a:solidFill>
                <a:srgbClr val="5A6B76"/>
              </a:solidFill>
              <a:latin typeface="微软雅黑" panose="020B0503020204020204" pitchFamily="34" charset="-122"/>
              <a:ea typeface="微软雅黑" panose="020B0503020204020204" pitchFamily="34" charset="-122"/>
            </a:endParaRPr>
          </a:p>
        </p:txBody>
      </p:sp>
      <p:cxnSp>
        <p:nvCxnSpPr>
          <p:cNvPr id="186" name="Connector 48"/>
          <p:cNvCxnSpPr/>
          <p:nvPr/>
        </p:nvCxnSpPr>
        <p:spPr>
          <a:xfrm>
            <a:off x="6601968" y="3054096"/>
            <a:ext cx="4892040"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187" name="Rectangle 49"/>
          <p:cNvSpPr/>
          <p:nvPr/>
        </p:nvSpPr>
        <p:spPr>
          <a:xfrm>
            <a:off x="6601968" y="3163824"/>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88" name="TextBox 50"/>
          <p:cNvSpPr txBox="1"/>
          <p:nvPr/>
        </p:nvSpPr>
        <p:spPr>
          <a:xfrm>
            <a:off x="6601968" y="3163824"/>
            <a:ext cx="475488" cy="475488"/>
          </a:xfrm>
          <a:prstGeom prst="rect">
            <a:avLst/>
          </a:prstGeom>
          <a:noFill/>
        </p:spPr>
        <p:txBody>
          <a:bodyPr wrap="square" lIns="27432" tIns="13716" rIns="27432" bIns="13716" anchor="ctr">
            <a:spAutoFit/>
          </a:bodyP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技</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189" name="TextBox 51"/>
          <p:cNvSpPr txBox="1"/>
          <p:nvPr/>
        </p:nvSpPr>
        <p:spPr>
          <a:xfrm>
            <a:off x="7242048" y="3127248"/>
            <a:ext cx="42976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技术水平</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190" name="TextBox 52"/>
          <p:cNvSpPr txBox="1"/>
          <p:nvPr/>
        </p:nvSpPr>
        <p:spPr>
          <a:xfrm>
            <a:off x="7242048" y="3401568"/>
            <a:ext cx="429768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冷却方式、PUE、浓缩倍数</a:t>
            </a:r>
            <a:endParaRPr lang="zh-CN" altLang="en-US" sz="1400" b="0" i="0">
              <a:solidFill>
                <a:srgbClr val="5A6B76"/>
              </a:solidFill>
              <a:latin typeface="微软雅黑" panose="020B0503020204020204" pitchFamily="34" charset="-122"/>
              <a:ea typeface="微软雅黑" panose="020B0503020204020204" pitchFamily="34" charset="-122"/>
            </a:endParaRPr>
          </a:p>
        </p:txBody>
      </p:sp>
      <p:cxnSp>
        <p:nvCxnSpPr>
          <p:cNvPr id="191" name="Connector 53"/>
          <p:cNvCxnSpPr/>
          <p:nvPr/>
        </p:nvCxnSpPr>
        <p:spPr>
          <a:xfrm>
            <a:off x="6601968" y="3895344"/>
            <a:ext cx="4892040" cy="0"/>
          </a:xfrm>
          <a:prstGeom prst="line">
            <a:avLst/>
          </a:prstGeom>
          <a:ln w="9525">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192" name="Rectangle 54"/>
          <p:cNvSpPr/>
          <p:nvPr/>
        </p:nvSpPr>
        <p:spPr>
          <a:xfrm>
            <a:off x="6601968" y="4005072"/>
            <a:ext cx="475488"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193" name="TextBox 55"/>
          <p:cNvSpPr txBox="1"/>
          <p:nvPr/>
        </p:nvSpPr>
        <p:spPr>
          <a:xfrm>
            <a:off x="6601968" y="4005072"/>
            <a:ext cx="475488" cy="475488"/>
          </a:xfrm>
          <a:prstGeom prst="rect">
            <a:avLst/>
          </a:prstGeom>
          <a:noFill/>
        </p:spPr>
        <p:txBody>
          <a:bodyPr wrap="square" lIns="27432" tIns="13716" rIns="27432" bIns="13716" anchor="ctr">
            <a:spAutoFit/>
          </a:bodyPr>
          <a:lstStyle/>
          <a:p>
            <a:pPr algn="ctr">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运</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194" name="TextBox 56"/>
          <p:cNvSpPr txBox="1"/>
          <p:nvPr/>
        </p:nvSpPr>
        <p:spPr>
          <a:xfrm>
            <a:off x="7242048" y="3968496"/>
            <a:ext cx="42976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运行策略</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195" name="TextBox 57"/>
          <p:cNvSpPr txBox="1"/>
          <p:nvPr/>
        </p:nvSpPr>
        <p:spPr>
          <a:xfrm>
            <a:off x="7242048" y="4242816"/>
            <a:ext cx="429768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调度、蓄水、回用率</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196" name="Rectangle 58"/>
          <p:cNvSpPr/>
          <p:nvPr/>
        </p:nvSpPr>
        <p:spPr>
          <a:xfrm>
            <a:off x="6400800" y="5303520"/>
            <a:ext cx="5303520" cy="841248"/>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8288" rIns="274320" bIns="18288" rtlCol="0" anchor="ctr"/>
          <a:lstStyle/>
          <a:p>
            <a:pPr algn="l">
              <a:lnSpc>
                <a:spcPct val="125000"/>
              </a:lnSpc>
            </a:pPr>
            <a:r>
              <a:rPr lang="zh-CN" altLang="en-US" sz="1300" b="1" i="0">
                <a:solidFill>
                  <a:srgbClr val="005375"/>
                </a:solidFill>
                <a:latin typeface="微软雅黑" panose="020B0503020204020204" pitchFamily="34" charset="-122"/>
                <a:ea typeface="微软雅黑" panose="020B0503020204020204" pitchFamily="34" charset="-122"/>
              </a:rPr>
              <a:t>关键：CAWCC 同时输出「可承载规模」与「主导瓶颈」，使容量结论具备可解释性与可干预性。</a:t>
            </a:r>
            <a:endParaRPr lang="zh-CN" altLang="en-US" sz="1300" b="1" i="0">
              <a:solidFill>
                <a:srgbClr val="005375"/>
              </a:solidFill>
              <a:latin typeface="微软雅黑" panose="020B0503020204020204" pitchFamily="34" charset="-122"/>
              <a:ea typeface="微软雅黑" panose="020B0503020204020204" pitchFamily="34" charset="-122"/>
            </a:endParaRPr>
          </a:p>
        </p:txBody>
      </p:sp>
      <p:sp>
        <p:nvSpPr>
          <p:cNvPr id="197" name="Rectangle 59"/>
          <p:cNvSpPr/>
          <p:nvPr/>
        </p:nvSpPr>
        <p:spPr>
          <a:xfrm>
            <a:off x="6547104" y="5449824"/>
            <a:ext cx="54864"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98" name=""/>
        <p:cNvGrpSpPr/>
        <p:nvPr/>
      </p:nvGrpSpPr>
      <p:grpSpPr>
        <a:xfrm>
          <a:off x="0" y="0"/>
          <a:ext cx="0" cy="0"/>
          <a:chOff x="0" y="0"/>
          <a:chExt cx="0" cy="0"/>
        </a:xfrm>
      </p:grpSpPr>
      <p:sp>
        <p:nvSpPr>
          <p:cNvPr id="199"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三个科学问题与对应研究假设</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200"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201"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13 / 24</a:t>
            </a:r>
            <a:endParaRPr lang="zh-CN" altLang="en-US" sz="1000" b="1" i="0">
              <a:solidFill>
                <a:srgbClr val="FFFFFF"/>
              </a:solidFill>
              <a:latin typeface="Arial" panose="020B0604020202020204"/>
              <a:ea typeface="Arial" panose="020B0604020202020204"/>
            </a:endParaRPr>
          </a:p>
        </p:txBody>
      </p:sp>
      <p:sp>
        <p:nvSpPr>
          <p:cNvPr id="202" name="Rounded Rectangle 4"/>
          <p:cNvSpPr/>
          <p:nvPr/>
        </p:nvSpPr>
        <p:spPr>
          <a:xfrm>
            <a:off x="484632" y="960120"/>
            <a:ext cx="3639312"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203" name="Rectangle 5"/>
          <p:cNvSpPr/>
          <p:nvPr/>
        </p:nvSpPr>
        <p:spPr>
          <a:xfrm>
            <a:off x="502920" y="978408"/>
            <a:ext cx="3602736"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204" name="Rectangle 6"/>
          <p:cNvSpPr/>
          <p:nvPr/>
        </p:nvSpPr>
        <p:spPr>
          <a:xfrm>
            <a:off x="502920" y="1042415"/>
            <a:ext cx="3602736"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300" b="1" i="0">
                <a:solidFill>
                  <a:srgbClr val="FFFFFF"/>
                </a:solidFill>
                <a:latin typeface="微软雅黑" panose="020B0503020204020204" pitchFamily="34" charset="-122"/>
                <a:ea typeface="微软雅黑" panose="020B0503020204020204" pitchFamily="34" charset="-122"/>
              </a:rPr>
              <a:t>Q1 / H1</a:t>
            </a:r>
            <a:endParaRPr lang="zh-CN" altLang="en-US" sz="1300" b="1" i="0">
              <a:solidFill>
                <a:srgbClr val="FFFFFF"/>
              </a:solidFill>
              <a:latin typeface="微软雅黑" panose="020B0503020204020204" pitchFamily="34" charset="-122"/>
              <a:ea typeface="微软雅黑" panose="020B0503020204020204" pitchFamily="34" charset="-122"/>
            </a:endParaRPr>
          </a:p>
        </p:txBody>
      </p:sp>
      <p:sp>
        <p:nvSpPr>
          <p:cNvPr id="205" name="TextBox 7"/>
          <p:cNvSpPr txBox="1"/>
          <p:nvPr/>
        </p:nvSpPr>
        <p:spPr>
          <a:xfrm>
            <a:off x="1720215" y="1588770"/>
            <a:ext cx="113538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1F2A33"/>
                </a:solidFill>
                <a:latin typeface="微软雅黑" panose="020B0503020204020204" pitchFamily="34" charset="-122"/>
                <a:ea typeface="微软雅黑" panose="020B0503020204020204" pitchFamily="34" charset="-122"/>
              </a:rPr>
              <a:t>响应机制</a:t>
            </a:r>
            <a:endParaRPr lang="zh-CN" altLang="en-US" b="1" i="0">
              <a:solidFill>
                <a:srgbClr val="1F2A33"/>
              </a:solidFill>
              <a:latin typeface="微软雅黑" panose="020B0503020204020204" pitchFamily="34" charset="-122"/>
              <a:ea typeface="微软雅黑" panose="020B0503020204020204" pitchFamily="34" charset="-122"/>
            </a:endParaRPr>
          </a:p>
        </p:txBody>
      </p:sp>
      <p:sp>
        <p:nvSpPr>
          <p:cNvPr id="206" name="Rounded Rectangle 8"/>
          <p:cNvSpPr/>
          <p:nvPr/>
        </p:nvSpPr>
        <p:spPr>
          <a:xfrm>
            <a:off x="685800" y="2148840"/>
            <a:ext cx="1188720" cy="329184"/>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科学问题</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07" name="TextBox 9"/>
          <p:cNvSpPr txBox="1"/>
          <p:nvPr/>
        </p:nvSpPr>
        <p:spPr>
          <a:xfrm>
            <a:off x="685800" y="2606040"/>
            <a:ext cx="3246120" cy="585470"/>
          </a:xfrm>
          <a:prstGeom prst="rect">
            <a:avLst/>
          </a:prstGeom>
          <a:noFill/>
        </p:spPr>
        <p:txBody>
          <a:bodyPr wrap="square" lIns="27432" tIns="13716" rIns="27432" bIns="13716" anchor="t">
            <a:spAutoFit/>
          </a:bodyPr>
          <a:lstStyle/>
          <a:p>
            <a:pPr algn="l">
              <a:lnSpc>
                <a:spcPct val="130000"/>
              </a:lnSpc>
            </a:pPr>
            <a:r>
              <a:rPr lang="zh-CN" altLang="en-US" sz="1400" b="0" i="0">
                <a:solidFill>
                  <a:srgbClr val="1F2A33"/>
                </a:solidFill>
                <a:latin typeface="微软雅黑" panose="020B0503020204020204" pitchFamily="34" charset="-122"/>
                <a:ea typeface="微软雅黑" panose="020B0503020204020204" pitchFamily="34" charset="-122"/>
              </a:rPr>
              <a:t>AI 节点接入后，城市人工水系统的代谢通量如何响应？</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08" name="Rounded Rectangle 10"/>
          <p:cNvSpPr/>
          <p:nvPr/>
        </p:nvSpPr>
        <p:spPr>
          <a:xfrm>
            <a:off x="685800" y="3886200"/>
            <a:ext cx="1188720" cy="329184"/>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研究假设</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09" name="TextBox 11"/>
          <p:cNvSpPr txBox="1"/>
          <p:nvPr/>
        </p:nvSpPr>
        <p:spPr>
          <a:xfrm>
            <a:off x="685800" y="4343400"/>
            <a:ext cx="3246120" cy="864870"/>
          </a:xfrm>
          <a:prstGeom prst="rect">
            <a:avLst/>
          </a:prstGeom>
          <a:noFill/>
        </p:spPr>
        <p:txBody>
          <a:bodyPr wrap="square" lIns="27432" tIns="13716" rIns="27432" bIns="13716" anchor="t">
            <a:spAutoFit/>
          </a:bodyPr>
          <a:lstStyle/>
          <a:p>
            <a:pPr algn="l">
              <a:lnSpc>
                <a:spcPct val="130000"/>
              </a:lnSpc>
            </a:pPr>
            <a:r>
              <a:rPr lang="zh-CN" altLang="en-US" sz="1400" b="0" i="0">
                <a:solidFill>
                  <a:srgbClr val="1F2A33"/>
                </a:solidFill>
                <a:latin typeface="微软雅黑" panose="020B0503020204020204" pitchFamily="34" charset="-122"/>
                <a:ea typeface="微软雅黑" panose="020B0503020204020204" pitchFamily="34" charset="-122"/>
              </a:rPr>
              <a:t>响应可由「算力—热—冷却—补水/排水」链条驱动的水代谢模型刻画，且存在显著季节与结构差异。</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10" name="Rounded Rectangle 12"/>
          <p:cNvSpPr/>
          <p:nvPr/>
        </p:nvSpPr>
        <p:spPr>
          <a:xfrm>
            <a:off x="4274820" y="960120"/>
            <a:ext cx="3639312"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211" name="Rectangle 13"/>
          <p:cNvSpPr/>
          <p:nvPr/>
        </p:nvSpPr>
        <p:spPr>
          <a:xfrm>
            <a:off x="4293107" y="978408"/>
            <a:ext cx="3602736"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212" name="Rectangle 14"/>
          <p:cNvSpPr/>
          <p:nvPr/>
        </p:nvSpPr>
        <p:spPr>
          <a:xfrm>
            <a:off x="4293107" y="1042415"/>
            <a:ext cx="3602736"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300" b="1" i="0">
                <a:solidFill>
                  <a:srgbClr val="FFFFFF"/>
                </a:solidFill>
                <a:latin typeface="微软雅黑" panose="020B0503020204020204" pitchFamily="34" charset="-122"/>
                <a:ea typeface="微软雅黑" panose="020B0503020204020204" pitchFamily="34" charset="-122"/>
              </a:rPr>
              <a:t>Q2 / H2</a:t>
            </a:r>
            <a:endParaRPr lang="zh-CN" altLang="en-US" sz="1300" b="1" i="0">
              <a:solidFill>
                <a:srgbClr val="FFFFFF"/>
              </a:solidFill>
              <a:latin typeface="微软雅黑" panose="020B0503020204020204" pitchFamily="34" charset="-122"/>
              <a:ea typeface="微软雅黑" panose="020B0503020204020204" pitchFamily="34" charset="-122"/>
            </a:endParaRPr>
          </a:p>
        </p:txBody>
      </p:sp>
      <p:sp>
        <p:nvSpPr>
          <p:cNvPr id="213" name="TextBox 15"/>
          <p:cNvSpPr txBox="1"/>
          <p:nvPr/>
        </p:nvSpPr>
        <p:spPr>
          <a:xfrm>
            <a:off x="5493385" y="1588770"/>
            <a:ext cx="130810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1F2A33"/>
                </a:solidFill>
                <a:latin typeface="微软雅黑" panose="020B0503020204020204" pitchFamily="34" charset="-122"/>
                <a:ea typeface="微软雅黑" panose="020B0503020204020204" pitchFamily="34" charset="-122"/>
              </a:rPr>
              <a:t>条件化边界</a:t>
            </a:r>
            <a:endParaRPr lang="zh-CN" altLang="en-US" b="1" i="0">
              <a:solidFill>
                <a:srgbClr val="1F2A33"/>
              </a:solidFill>
              <a:latin typeface="微软雅黑" panose="020B0503020204020204" pitchFamily="34" charset="-122"/>
              <a:ea typeface="微软雅黑" panose="020B0503020204020204" pitchFamily="34" charset="-122"/>
            </a:endParaRPr>
          </a:p>
        </p:txBody>
      </p:sp>
      <p:sp>
        <p:nvSpPr>
          <p:cNvPr id="214" name="Rounded Rectangle 16"/>
          <p:cNvSpPr/>
          <p:nvPr/>
        </p:nvSpPr>
        <p:spPr>
          <a:xfrm>
            <a:off x="4475988" y="2148840"/>
            <a:ext cx="1188720" cy="329184"/>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科学问题</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15" name="TextBox 17"/>
          <p:cNvSpPr txBox="1"/>
          <p:nvPr/>
        </p:nvSpPr>
        <p:spPr>
          <a:xfrm>
            <a:off x="4475988" y="2606040"/>
            <a:ext cx="3246120" cy="585470"/>
          </a:xfrm>
          <a:prstGeom prst="rect">
            <a:avLst/>
          </a:prstGeom>
          <a:noFill/>
        </p:spPr>
        <p:txBody>
          <a:bodyPr wrap="square" lIns="27432" tIns="13716" rIns="27432" bIns="13716" anchor="t">
            <a:spAutoFit/>
          </a:bodyPr>
          <a:lstStyle/>
          <a:p>
            <a:pPr algn="l">
              <a:lnSpc>
                <a:spcPct val="130000"/>
              </a:lnSpc>
            </a:pPr>
            <a:r>
              <a:rPr lang="zh-CN" altLang="en-US" sz="1400" b="0" i="0">
                <a:solidFill>
                  <a:srgbClr val="1F2A33"/>
                </a:solidFill>
                <a:latin typeface="微软雅黑" panose="020B0503020204020204" pitchFamily="34" charset="-122"/>
                <a:ea typeface="微软雅黑" panose="020B0503020204020204" pitchFamily="34" charset="-122"/>
              </a:rPr>
              <a:t>承载边界如何随水源、气象、技术、时间分辨率与运行策略变化？</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16" name="Rounded Rectangle 18"/>
          <p:cNvSpPr/>
          <p:nvPr/>
        </p:nvSpPr>
        <p:spPr>
          <a:xfrm>
            <a:off x="4475988" y="3886200"/>
            <a:ext cx="1188720" cy="329184"/>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研究假设</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17" name="TextBox 19"/>
          <p:cNvSpPr txBox="1"/>
          <p:nvPr/>
        </p:nvSpPr>
        <p:spPr>
          <a:xfrm>
            <a:off x="4475988" y="4343400"/>
            <a:ext cx="3246120" cy="585470"/>
          </a:xfrm>
          <a:prstGeom prst="rect">
            <a:avLst/>
          </a:prstGeom>
          <a:noFill/>
        </p:spPr>
        <p:txBody>
          <a:bodyPr wrap="square" lIns="27432" tIns="13716" rIns="27432" bIns="13716" anchor="t">
            <a:spAutoFit/>
          </a:bodyPr>
          <a:lstStyle/>
          <a:p>
            <a:pPr algn="l">
              <a:lnSpc>
                <a:spcPct val="130000"/>
              </a:lnSpc>
            </a:pPr>
            <a:r>
              <a:rPr lang="zh-CN" altLang="en-US" sz="1400" b="0" i="0">
                <a:solidFill>
                  <a:srgbClr val="1F2A33"/>
                </a:solidFill>
                <a:latin typeface="微软雅黑" panose="020B0503020204020204" pitchFamily="34" charset="-122"/>
                <a:ea typeface="微软雅黑" panose="020B0503020204020204" pitchFamily="34" charset="-122"/>
              </a:rPr>
              <a:t>时间聚合将掩盖峰值共振，年均承载边界</a:t>
            </a:r>
            <a:r>
              <a:rPr lang="en-US" sz="1400" b="0" i="0">
                <a:solidFill>
                  <a:srgbClr val="1F2A33"/>
                </a:solidFill>
                <a:latin typeface="微软雅黑" panose="020B0503020204020204" pitchFamily="34" charset="-122"/>
                <a:ea typeface="微软雅黑" panose="020B0503020204020204" pitchFamily="34" charset="-122"/>
              </a:rPr>
              <a:t>&gt;</a:t>
            </a:r>
            <a:r>
              <a:rPr lang="zh-CN" altLang="en-US" sz="1400" b="0" i="0">
                <a:solidFill>
                  <a:srgbClr val="1F2A33"/>
                </a:solidFill>
                <a:latin typeface="微软雅黑" panose="020B0503020204020204" pitchFamily="34" charset="-122"/>
                <a:ea typeface="微软雅黑" panose="020B0503020204020204" pitchFamily="34" charset="-122"/>
              </a:rPr>
              <a:t>日尺度</a:t>
            </a:r>
            <a:r>
              <a:rPr lang="en-US" sz="1400" b="0" i="0">
                <a:solidFill>
                  <a:srgbClr val="1F2A33"/>
                </a:solidFill>
                <a:latin typeface="微软雅黑" panose="020B0503020204020204" pitchFamily="34" charset="-122"/>
                <a:ea typeface="微软雅黑" panose="020B0503020204020204" pitchFamily="34" charset="-122"/>
              </a:rPr>
              <a:t>&gt;</a:t>
            </a:r>
            <a:r>
              <a:rPr lang="zh-CN" altLang="en-US" sz="1400" b="0" i="0">
                <a:solidFill>
                  <a:srgbClr val="1F2A33"/>
                </a:solidFill>
                <a:latin typeface="微软雅黑" panose="020B0503020204020204" pitchFamily="34" charset="-122"/>
                <a:ea typeface="微软雅黑" panose="020B0503020204020204" pitchFamily="34" charset="-122"/>
              </a:rPr>
              <a:t>极端小时尺度</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18" name="Rounded Rectangle 20"/>
          <p:cNvSpPr/>
          <p:nvPr/>
        </p:nvSpPr>
        <p:spPr>
          <a:xfrm>
            <a:off x="8065008" y="960120"/>
            <a:ext cx="3639312"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219" name="Rectangle 21"/>
          <p:cNvSpPr/>
          <p:nvPr/>
        </p:nvSpPr>
        <p:spPr>
          <a:xfrm>
            <a:off x="8083296" y="978408"/>
            <a:ext cx="3602736"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220" name="Rectangle 22"/>
          <p:cNvSpPr/>
          <p:nvPr/>
        </p:nvSpPr>
        <p:spPr>
          <a:xfrm>
            <a:off x="8083296" y="1042415"/>
            <a:ext cx="3602736"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300" b="1" i="0">
                <a:solidFill>
                  <a:srgbClr val="FFFFFF"/>
                </a:solidFill>
                <a:latin typeface="微软雅黑" panose="020B0503020204020204" pitchFamily="34" charset="-122"/>
                <a:ea typeface="微软雅黑" panose="020B0503020204020204" pitchFamily="34" charset="-122"/>
              </a:rPr>
              <a:t>Q3 / H3</a:t>
            </a:r>
            <a:endParaRPr lang="zh-CN" altLang="en-US" sz="1300" b="1" i="0">
              <a:solidFill>
                <a:srgbClr val="FFFFFF"/>
              </a:solidFill>
              <a:latin typeface="微软雅黑" panose="020B0503020204020204" pitchFamily="34" charset="-122"/>
              <a:ea typeface="微软雅黑" panose="020B0503020204020204" pitchFamily="34" charset="-122"/>
            </a:endParaRPr>
          </a:p>
        </p:txBody>
      </p:sp>
      <p:sp>
        <p:nvSpPr>
          <p:cNvPr id="221" name="TextBox 23"/>
          <p:cNvSpPr txBox="1"/>
          <p:nvPr/>
        </p:nvSpPr>
        <p:spPr>
          <a:xfrm>
            <a:off x="9317990" y="1588770"/>
            <a:ext cx="113538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1F2A33"/>
                </a:solidFill>
                <a:latin typeface="微软雅黑" panose="020B0503020204020204" pitchFamily="34" charset="-122"/>
                <a:ea typeface="微软雅黑" panose="020B0503020204020204" pitchFamily="34" charset="-122"/>
              </a:rPr>
              <a:t>瓶颈识别</a:t>
            </a:r>
            <a:endParaRPr lang="zh-CN" altLang="en-US" b="1" i="0">
              <a:solidFill>
                <a:srgbClr val="1F2A33"/>
              </a:solidFill>
              <a:latin typeface="微软雅黑" panose="020B0503020204020204" pitchFamily="34" charset="-122"/>
              <a:ea typeface="微软雅黑" panose="020B0503020204020204" pitchFamily="34" charset="-122"/>
            </a:endParaRPr>
          </a:p>
        </p:txBody>
      </p:sp>
      <p:sp>
        <p:nvSpPr>
          <p:cNvPr id="222" name="Rounded Rectangle 24"/>
          <p:cNvSpPr/>
          <p:nvPr/>
        </p:nvSpPr>
        <p:spPr>
          <a:xfrm>
            <a:off x="8266176" y="2148840"/>
            <a:ext cx="1188720" cy="329184"/>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科学问题</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23" name="TextBox 25"/>
          <p:cNvSpPr txBox="1"/>
          <p:nvPr/>
        </p:nvSpPr>
        <p:spPr>
          <a:xfrm>
            <a:off x="8266176" y="2606040"/>
            <a:ext cx="3246120" cy="306070"/>
          </a:xfrm>
          <a:prstGeom prst="rect">
            <a:avLst/>
          </a:prstGeom>
          <a:noFill/>
        </p:spPr>
        <p:txBody>
          <a:bodyPr wrap="square" lIns="27432" tIns="13716" rIns="27432" bIns="13716" anchor="t">
            <a:spAutoFit/>
          </a:bodyPr>
          <a:lstStyle/>
          <a:p>
            <a:pPr algn="l">
              <a:lnSpc>
                <a:spcPct val="130000"/>
              </a:lnSpc>
            </a:pPr>
            <a:r>
              <a:rPr lang="zh-CN" altLang="en-US" sz="1400" b="0" i="0">
                <a:solidFill>
                  <a:srgbClr val="1F2A33"/>
                </a:solidFill>
                <a:latin typeface="微软雅黑" panose="020B0503020204020204" pitchFamily="34" charset="-122"/>
                <a:ea typeface="微软雅黑" panose="020B0503020204020204" pitchFamily="34" charset="-122"/>
              </a:rPr>
              <a:t>如何识别并排序不同条件下的主导瓶颈？</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24" name="Rounded Rectangle 26"/>
          <p:cNvSpPr/>
          <p:nvPr/>
        </p:nvSpPr>
        <p:spPr>
          <a:xfrm>
            <a:off x="8266176" y="3886200"/>
            <a:ext cx="1188720" cy="329184"/>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研究假设</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25" name="TextBox 27"/>
          <p:cNvSpPr txBox="1"/>
          <p:nvPr/>
        </p:nvSpPr>
        <p:spPr>
          <a:xfrm>
            <a:off x="8266176" y="4343400"/>
            <a:ext cx="3246120" cy="864870"/>
          </a:xfrm>
          <a:prstGeom prst="rect">
            <a:avLst/>
          </a:prstGeom>
          <a:noFill/>
        </p:spPr>
        <p:txBody>
          <a:bodyPr wrap="square" lIns="27432" tIns="13716" rIns="27432" bIns="13716" anchor="t">
            <a:spAutoFit/>
          </a:bodyPr>
          <a:lstStyle/>
          <a:p>
            <a:pPr algn="l">
              <a:lnSpc>
                <a:spcPct val="130000"/>
              </a:lnSpc>
            </a:pPr>
            <a:r>
              <a:rPr lang="zh-CN" altLang="en-US" sz="1400" b="0" i="0">
                <a:solidFill>
                  <a:srgbClr val="1F2A33"/>
                </a:solidFill>
                <a:latin typeface="微软雅黑" panose="020B0503020204020204" pitchFamily="34" charset="-122"/>
                <a:ea typeface="微软雅黑" panose="020B0503020204020204" pitchFamily="34" charset="-122"/>
              </a:rPr>
              <a:t>主导瓶颈随季节与条件迁移，可通过容量扫描与敏感性分析给出可比较的排序结果。</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26" name=""/>
        <p:cNvGrpSpPr/>
        <p:nvPr/>
      </p:nvGrpSpPr>
      <p:grpSpPr>
        <a:xfrm>
          <a:off x="0" y="0"/>
          <a:ext cx="0" cy="0"/>
          <a:chOff x="0" y="0"/>
          <a:chExt cx="0" cy="0"/>
        </a:xfrm>
      </p:grpSpPr>
      <p:sp>
        <p:nvSpPr>
          <p:cNvPr id="227"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四项研究内容：从概念到边界求解</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228"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229"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14 / 24</a:t>
            </a:r>
            <a:endParaRPr lang="zh-CN" altLang="en-US" sz="1000" b="1" i="0">
              <a:solidFill>
                <a:srgbClr val="FFFFFF"/>
              </a:solidFill>
              <a:latin typeface="Arial" panose="020B0604020202020204"/>
              <a:ea typeface="Arial" panose="020B0604020202020204"/>
            </a:endParaRPr>
          </a:p>
        </p:txBody>
      </p:sp>
      <p:sp>
        <p:nvSpPr>
          <p:cNvPr id="230" name="Rounded Rectangle 4"/>
          <p:cNvSpPr/>
          <p:nvPr/>
        </p:nvSpPr>
        <p:spPr>
          <a:xfrm>
            <a:off x="484632" y="960120"/>
            <a:ext cx="2715768" cy="49834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31" name="Rectangle 5"/>
          <p:cNvSpPr/>
          <p:nvPr/>
        </p:nvSpPr>
        <p:spPr>
          <a:xfrm>
            <a:off x="502920" y="978408"/>
            <a:ext cx="267919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232" name="Rectangle 6"/>
          <p:cNvSpPr/>
          <p:nvPr/>
        </p:nvSpPr>
        <p:spPr>
          <a:xfrm>
            <a:off x="502920" y="1042415"/>
            <a:ext cx="2679192"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400" b="1" i="0">
                <a:solidFill>
                  <a:srgbClr val="FFFFFF"/>
                </a:solidFill>
                <a:latin typeface="Arial" panose="020B0604020202020204"/>
                <a:ea typeface="Arial" panose="020B0604020202020204"/>
              </a:rPr>
              <a:t>01</a:t>
            </a:r>
            <a:endParaRPr lang="zh-CN" altLang="en-US" sz="2400" b="1" i="0">
              <a:solidFill>
                <a:srgbClr val="FFFFFF"/>
              </a:solidFill>
              <a:latin typeface="Arial" panose="020B0604020202020204"/>
              <a:ea typeface="Arial" panose="020B0604020202020204"/>
            </a:endParaRPr>
          </a:p>
        </p:txBody>
      </p:sp>
      <p:sp>
        <p:nvSpPr>
          <p:cNvPr id="233" name="TextBox 7"/>
          <p:cNvSpPr txBox="1"/>
          <p:nvPr/>
        </p:nvSpPr>
        <p:spPr>
          <a:xfrm>
            <a:off x="621792" y="1609344"/>
            <a:ext cx="2441448" cy="302260"/>
          </a:xfrm>
          <a:prstGeom prst="rect">
            <a:avLst/>
          </a:prstGeom>
          <a:noFill/>
        </p:spPr>
        <p:txBody>
          <a:bodyPr wrap="square" lIns="27432" tIns="13716" rIns="27432" bIns="13716" anchor="t">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AI 算力节点的水代谢表征</a:t>
            </a:r>
            <a:endParaRPr lang="zh-CN" altLang="en-US" sz="1600" b="1" i="0">
              <a:solidFill>
                <a:srgbClr val="1F2A33"/>
              </a:solidFill>
              <a:latin typeface="微软雅黑" panose="020B0503020204020204" pitchFamily="34" charset="-122"/>
              <a:ea typeface="微软雅黑" panose="020B0503020204020204" pitchFamily="34" charset="-122"/>
            </a:endParaRPr>
          </a:p>
        </p:txBody>
      </p:sp>
      <p:cxnSp>
        <p:nvCxnSpPr>
          <p:cNvPr id="234" name="Connector 8"/>
          <p:cNvCxnSpPr/>
          <p:nvPr/>
        </p:nvCxnSpPr>
        <p:spPr>
          <a:xfrm>
            <a:off x="621792" y="2340864"/>
            <a:ext cx="384048" cy="0"/>
          </a:xfrm>
          <a:prstGeom prst="line">
            <a:avLst/>
          </a:prstGeom>
          <a:ln w="2540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235" name="TextBox 9"/>
          <p:cNvSpPr txBox="1"/>
          <p:nvPr/>
        </p:nvSpPr>
        <p:spPr>
          <a:xfrm>
            <a:off x="621792" y="2468880"/>
            <a:ext cx="2441448" cy="853440"/>
          </a:xfrm>
          <a:prstGeom prst="rect">
            <a:avLst/>
          </a:prstGeom>
          <a:noFill/>
        </p:spPr>
        <p:txBody>
          <a:bodyPr wrap="square" lIns="27432" tIns="13716" rIns="27432" bIns="13716" anchor="t">
            <a:spAutoFit/>
          </a:bodyPr>
          <a:lstStyle/>
          <a:p>
            <a:pPr algn="l">
              <a:lnSpc>
                <a:spcPct val="128000"/>
              </a:lnSpc>
            </a:pPr>
            <a:r>
              <a:rPr lang="zh-CN" altLang="en-US" sz="1400" b="0" i="0">
                <a:solidFill>
                  <a:srgbClr val="1F2A33"/>
                </a:solidFill>
                <a:latin typeface="微软雅黑" panose="020B0503020204020204" pitchFamily="34" charset="-122"/>
                <a:ea typeface="微软雅黑" panose="020B0503020204020204" pitchFamily="34" charset="-122"/>
              </a:rPr>
              <a:t>构建「算力 → 热 → 冷却 → 补水/排水」链条，形成可嵌入城市水系统的节点模块。</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36" name="Rounded Rectangle 10"/>
          <p:cNvSpPr/>
          <p:nvPr/>
        </p:nvSpPr>
        <p:spPr>
          <a:xfrm>
            <a:off x="621792" y="3822191"/>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拟回答</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37" name="TextBox 11"/>
          <p:cNvSpPr txBox="1"/>
          <p:nvPr/>
        </p:nvSpPr>
        <p:spPr>
          <a:xfrm>
            <a:off x="621792" y="4169663"/>
            <a:ext cx="2441448"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1F2A33"/>
                </a:solidFill>
                <a:latin typeface="微软雅黑" panose="020B0503020204020204" pitchFamily="34" charset="-122"/>
                <a:ea typeface="微软雅黑" panose="020B0503020204020204" pitchFamily="34" charset="-122"/>
              </a:rPr>
              <a:t>节点水代谢通量如何生成？</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38" name="Rounded Rectangle 12"/>
          <p:cNvSpPr/>
          <p:nvPr/>
        </p:nvSpPr>
        <p:spPr>
          <a:xfrm>
            <a:off x="621792" y="4791456"/>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预期形成</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39" name="TextBox 13"/>
          <p:cNvSpPr txBox="1"/>
          <p:nvPr/>
        </p:nvSpPr>
        <p:spPr>
          <a:xfrm>
            <a:off x="621792" y="5138928"/>
            <a:ext cx="2441448" cy="284480"/>
          </a:xfrm>
          <a:prstGeom prst="rect">
            <a:avLst/>
          </a:prstGeom>
          <a:noFill/>
        </p:spPr>
        <p:txBody>
          <a:bodyPr wrap="square" lIns="27432" tIns="13716" rIns="27432" bIns="13716" anchor="t">
            <a:spAutoFit/>
          </a:bodyPr>
          <a:lstStyle/>
          <a:p>
            <a:pPr algn="l">
              <a:lnSpc>
                <a:spcPct val="120000"/>
              </a:lnSpc>
            </a:pPr>
            <a:r>
              <a:rPr lang="zh-CN" altLang="en-US" sz="1400" b="1" i="0">
                <a:solidFill>
                  <a:srgbClr val="005375"/>
                </a:solidFill>
                <a:latin typeface="微软雅黑" panose="020B0503020204020204" pitchFamily="34" charset="-122"/>
                <a:ea typeface="微软雅黑" panose="020B0503020204020204" pitchFamily="34" charset="-122"/>
              </a:rPr>
              <a:t>AI 节点水代谢模块</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240" name="Rounded Rectangle 14"/>
          <p:cNvSpPr/>
          <p:nvPr/>
        </p:nvSpPr>
        <p:spPr>
          <a:xfrm>
            <a:off x="3319272" y="960120"/>
            <a:ext cx="2715768" cy="49834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41" name="Rectangle 15"/>
          <p:cNvSpPr/>
          <p:nvPr/>
        </p:nvSpPr>
        <p:spPr>
          <a:xfrm>
            <a:off x="3337560" y="978408"/>
            <a:ext cx="267919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242" name="Rectangle 16"/>
          <p:cNvSpPr/>
          <p:nvPr/>
        </p:nvSpPr>
        <p:spPr>
          <a:xfrm>
            <a:off x="3337560" y="1042415"/>
            <a:ext cx="2679192"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400" b="1" i="0">
                <a:solidFill>
                  <a:srgbClr val="FFFFFF"/>
                </a:solidFill>
                <a:latin typeface="Arial" panose="020B0604020202020204"/>
                <a:ea typeface="Arial" panose="020B0604020202020204"/>
              </a:rPr>
              <a:t>02</a:t>
            </a:r>
            <a:endParaRPr lang="zh-CN" altLang="en-US" sz="2400" b="1" i="0">
              <a:solidFill>
                <a:srgbClr val="FFFFFF"/>
              </a:solidFill>
              <a:latin typeface="Arial" panose="020B0604020202020204"/>
              <a:ea typeface="Arial" panose="020B0604020202020204"/>
            </a:endParaRPr>
          </a:p>
        </p:txBody>
      </p:sp>
      <p:sp>
        <p:nvSpPr>
          <p:cNvPr id="243" name="TextBox 17"/>
          <p:cNvSpPr txBox="1"/>
          <p:nvPr/>
        </p:nvSpPr>
        <p:spPr>
          <a:xfrm>
            <a:off x="3456432" y="1609344"/>
            <a:ext cx="2441448" cy="302260"/>
          </a:xfrm>
          <a:prstGeom prst="rect">
            <a:avLst/>
          </a:prstGeom>
          <a:noFill/>
        </p:spPr>
        <p:txBody>
          <a:bodyPr wrap="square" lIns="27432" tIns="13716" rIns="27432" bIns="13716" anchor="t">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城市人工水系统耦合模型</a:t>
            </a:r>
            <a:endParaRPr lang="zh-CN" altLang="en-US" sz="1600" b="1" i="0">
              <a:solidFill>
                <a:srgbClr val="1F2A33"/>
              </a:solidFill>
              <a:latin typeface="微软雅黑" panose="020B0503020204020204" pitchFamily="34" charset="-122"/>
              <a:ea typeface="微软雅黑" panose="020B0503020204020204" pitchFamily="34" charset="-122"/>
            </a:endParaRPr>
          </a:p>
        </p:txBody>
      </p:sp>
      <p:cxnSp>
        <p:nvCxnSpPr>
          <p:cNvPr id="244" name="Connector 18"/>
          <p:cNvCxnSpPr/>
          <p:nvPr/>
        </p:nvCxnSpPr>
        <p:spPr>
          <a:xfrm>
            <a:off x="3456432" y="2340864"/>
            <a:ext cx="384048" cy="0"/>
          </a:xfrm>
          <a:prstGeom prst="line">
            <a:avLst/>
          </a:prstGeom>
          <a:ln w="2540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245" name="TextBox 19"/>
          <p:cNvSpPr txBox="1"/>
          <p:nvPr/>
        </p:nvSpPr>
        <p:spPr>
          <a:xfrm>
            <a:off x="3456432" y="2468880"/>
            <a:ext cx="2441448" cy="853440"/>
          </a:xfrm>
          <a:prstGeom prst="rect">
            <a:avLst/>
          </a:prstGeom>
          <a:noFill/>
        </p:spPr>
        <p:txBody>
          <a:bodyPr wrap="square" lIns="27432" tIns="13716" rIns="27432" bIns="13716" anchor="t">
            <a:spAutoFit/>
          </a:bodyPr>
          <a:lstStyle/>
          <a:p>
            <a:pPr algn="l">
              <a:lnSpc>
                <a:spcPct val="128000"/>
              </a:lnSpc>
            </a:pPr>
            <a:r>
              <a:rPr lang="zh-CN" altLang="en-US" sz="1400" b="0" i="0">
                <a:solidFill>
                  <a:srgbClr val="1F2A33"/>
                </a:solidFill>
                <a:latin typeface="微软雅黑" panose="020B0503020204020204" pitchFamily="34" charset="-122"/>
                <a:ea typeface="微软雅黑" panose="020B0503020204020204" pitchFamily="34" charset="-122"/>
              </a:rPr>
              <a:t>建立取水—处理—输配—使用—排放—回用的全过程网络模型并嵌入节点模块。</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46" name="Rounded Rectangle 20"/>
          <p:cNvSpPr/>
          <p:nvPr/>
        </p:nvSpPr>
        <p:spPr>
          <a:xfrm>
            <a:off x="3456432" y="3822191"/>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拟回答</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47" name="TextBox 21"/>
          <p:cNvSpPr txBox="1"/>
          <p:nvPr/>
        </p:nvSpPr>
        <p:spPr>
          <a:xfrm>
            <a:off x="3456432" y="4169663"/>
            <a:ext cx="2441448"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1F2A33"/>
                </a:solidFill>
                <a:latin typeface="微软雅黑" panose="020B0503020204020204" pitchFamily="34" charset="-122"/>
                <a:ea typeface="微软雅黑" panose="020B0503020204020204" pitchFamily="34" charset="-122"/>
              </a:rPr>
              <a:t>系统如何响应节点接入？</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48" name="Rounded Rectangle 22"/>
          <p:cNvSpPr/>
          <p:nvPr/>
        </p:nvSpPr>
        <p:spPr>
          <a:xfrm>
            <a:off x="3456432" y="4791456"/>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预期形成</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49" name="TextBox 23"/>
          <p:cNvSpPr txBox="1"/>
          <p:nvPr/>
        </p:nvSpPr>
        <p:spPr>
          <a:xfrm>
            <a:off x="3456432" y="5138928"/>
            <a:ext cx="2441448" cy="284480"/>
          </a:xfrm>
          <a:prstGeom prst="rect">
            <a:avLst/>
          </a:prstGeom>
          <a:noFill/>
        </p:spPr>
        <p:txBody>
          <a:bodyPr wrap="square" lIns="27432" tIns="13716" rIns="27432" bIns="13716" anchor="t">
            <a:spAutoFit/>
          </a:bodyPr>
          <a:lstStyle/>
          <a:p>
            <a:pPr algn="l">
              <a:lnSpc>
                <a:spcPct val="120000"/>
              </a:lnSpc>
            </a:pPr>
            <a:r>
              <a:rPr lang="zh-CN" altLang="en-US" sz="1400" b="1" i="0">
                <a:solidFill>
                  <a:srgbClr val="005375"/>
                </a:solidFill>
                <a:latin typeface="微软雅黑" panose="020B0503020204020204" pitchFamily="34" charset="-122"/>
                <a:ea typeface="微软雅黑" panose="020B0503020204020204" pitchFamily="34" charset="-122"/>
              </a:rPr>
              <a:t>耦合水代谢模型</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250" name="Rounded Rectangle 24"/>
          <p:cNvSpPr/>
          <p:nvPr/>
        </p:nvSpPr>
        <p:spPr>
          <a:xfrm>
            <a:off x="6153912" y="960120"/>
            <a:ext cx="2715768" cy="49834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51" name="Rectangle 25"/>
          <p:cNvSpPr/>
          <p:nvPr/>
        </p:nvSpPr>
        <p:spPr>
          <a:xfrm>
            <a:off x="6172200" y="978408"/>
            <a:ext cx="267919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252" name="Rectangle 26"/>
          <p:cNvSpPr/>
          <p:nvPr/>
        </p:nvSpPr>
        <p:spPr>
          <a:xfrm>
            <a:off x="6172200" y="1042415"/>
            <a:ext cx="2679192"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400" b="1" i="0">
                <a:solidFill>
                  <a:srgbClr val="FFFFFF"/>
                </a:solidFill>
                <a:latin typeface="Arial" panose="020B0604020202020204"/>
                <a:ea typeface="Arial" panose="020B0604020202020204"/>
              </a:rPr>
              <a:t>03</a:t>
            </a:r>
            <a:endParaRPr lang="zh-CN" altLang="en-US" sz="2400" b="1" i="0">
              <a:solidFill>
                <a:srgbClr val="FFFFFF"/>
              </a:solidFill>
              <a:latin typeface="Arial" panose="020B0604020202020204"/>
              <a:ea typeface="Arial" panose="020B0604020202020204"/>
            </a:endParaRPr>
          </a:p>
        </p:txBody>
      </p:sp>
      <p:sp>
        <p:nvSpPr>
          <p:cNvPr id="253" name="TextBox 27"/>
          <p:cNvSpPr txBox="1"/>
          <p:nvPr/>
        </p:nvSpPr>
        <p:spPr>
          <a:xfrm>
            <a:off x="6291072" y="1609344"/>
            <a:ext cx="2441448" cy="302260"/>
          </a:xfrm>
          <a:prstGeom prst="rect">
            <a:avLst/>
          </a:prstGeom>
          <a:noFill/>
        </p:spPr>
        <p:txBody>
          <a:bodyPr wrap="square" lIns="27432" tIns="13716" rIns="27432" bIns="13716" anchor="t">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条件化承载边界求解</a:t>
            </a:r>
            <a:endParaRPr lang="zh-CN" altLang="en-US" sz="1600" b="1" i="0">
              <a:solidFill>
                <a:srgbClr val="1F2A33"/>
              </a:solidFill>
              <a:latin typeface="微软雅黑" panose="020B0503020204020204" pitchFamily="34" charset="-122"/>
              <a:ea typeface="微软雅黑" panose="020B0503020204020204" pitchFamily="34" charset="-122"/>
            </a:endParaRPr>
          </a:p>
        </p:txBody>
      </p:sp>
      <p:cxnSp>
        <p:nvCxnSpPr>
          <p:cNvPr id="254" name="Connector 28"/>
          <p:cNvCxnSpPr/>
          <p:nvPr/>
        </p:nvCxnSpPr>
        <p:spPr>
          <a:xfrm>
            <a:off x="6291072" y="2340864"/>
            <a:ext cx="384048" cy="0"/>
          </a:xfrm>
          <a:prstGeom prst="line">
            <a:avLst/>
          </a:prstGeom>
          <a:ln w="2540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255" name="TextBox 29"/>
          <p:cNvSpPr txBox="1"/>
          <p:nvPr/>
        </p:nvSpPr>
        <p:spPr>
          <a:xfrm>
            <a:off x="6291072" y="2468880"/>
            <a:ext cx="2441448" cy="853440"/>
          </a:xfrm>
          <a:prstGeom prst="rect">
            <a:avLst/>
          </a:prstGeom>
          <a:noFill/>
        </p:spPr>
        <p:txBody>
          <a:bodyPr wrap="square" lIns="27432" tIns="13716" rIns="27432" bIns="13716" anchor="t">
            <a:spAutoFit/>
          </a:bodyPr>
          <a:lstStyle/>
          <a:p>
            <a:pPr algn="l">
              <a:lnSpc>
                <a:spcPct val="128000"/>
              </a:lnSpc>
            </a:pPr>
            <a:r>
              <a:rPr lang="zh-CN" altLang="en-US" sz="1400" b="0" i="0">
                <a:solidFill>
                  <a:srgbClr val="1F2A33"/>
                </a:solidFill>
                <a:latin typeface="微软雅黑" panose="020B0503020204020204" pitchFamily="34" charset="-122"/>
                <a:ea typeface="微软雅黑" panose="020B0503020204020204" pitchFamily="34" charset="-122"/>
              </a:rPr>
              <a:t>定义并求解 CAWCC，扫描水源、气象、技术与运行策略组合下的容量曲面。</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56" name="Rounded Rectangle 30"/>
          <p:cNvSpPr/>
          <p:nvPr/>
        </p:nvSpPr>
        <p:spPr>
          <a:xfrm>
            <a:off x="6291072" y="3822191"/>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拟回答</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57" name="TextBox 31"/>
          <p:cNvSpPr txBox="1"/>
          <p:nvPr/>
        </p:nvSpPr>
        <p:spPr>
          <a:xfrm>
            <a:off x="6291072" y="4169663"/>
            <a:ext cx="2441448"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1F2A33"/>
                </a:solidFill>
                <a:latin typeface="微软雅黑" panose="020B0503020204020204" pitchFamily="34" charset="-122"/>
                <a:ea typeface="微软雅黑" panose="020B0503020204020204" pitchFamily="34" charset="-122"/>
              </a:rPr>
              <a:t>边界如何条件化？</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58" name="Rounded Rectangle 32"/>
          <p:cNvSpPr/>
          <p:nvPr/>
        </p:nvSpPr>
        <p:spPr>
          <a:xfrm>
            <a:off x="6291072" y="4791456"/>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预期形成</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59" name="TextBox 33"/>
          <p:cNvSpPr txBox="1"/>
          <p:nvPr/>
        </p:nvSpPr>
        <p:spPr>
          <a:xfrm>
            <a:off x="6291072" y="5138928"/>
            <a:ext cx="2441448" cy="284480"/>
          </a:xfrm>
          <a:prstGeom prst="rect">
            <a:avLst/>
          </a:prstGeom>
          <a:noFill/>
        </p:spPr>
        <p:txBody>
          <a:bodyPr wrap="square" lIns="27432" tIns="13716" rIns="27432" bIns="13716" anchor="t">
            <a:spAutoFit/>
          </a:bodyPr>
          <a:lstStyle/>
          <a:p>
            <a:pPr algn="l">
              <a:lnSpc>
                <a:spcPct val="120000"/>
              </a:lnSpc>
            </a:pPr>
            <a:r>
              <a:rPr lang="zh-CN" altLang="en-US" sz="1400" b="1" i="0">
                <a:solidFill>
                  <a:srgbClr val="005375"/>
                </a:solidFill>
                <a:latin typeface="微软雅黑" panose="020B0503020204020204" pitchFamily="34" charset="-122"/>
                <a:ea typeface="微软雅黑" panose="020B0503020204020204" pitchFamily="34" charset="-122"/>
              </a:rPr>
              <a:t>CAWCC 容量曲面</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
        <p:nvSpPr>
          <p:cNvPr id="260" name="Rounded Rectangle 34"/>
          <p:cNvSpPr/>
          <p:nvPr/>
        </p:nvSpPr>
        <p:spPr>
          <a:xfrm>
            <a:off x="8988552" y="960120"/>
            <a:ext cx="2715768" cy="49834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261" name="Rectangle 35"/>
          <p:cNvSpPr/>
          <p:nvPr/>
        </p:nvSpPr>
        <p:spPr>
          <a:xfrm>
            <a:off x="9006840" y="978408"/>
            <a:ext cx="267919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b="1"/>
          </a:p>
        </p:txBody>
      </p:sp>
      <p:sp>
        <p:nvSpPr>
          <p:cNvPr id="262" name="Rectangle 36"/>
          <p:cNvSpPr/>
          <p:nvPr/>
        </p:nvSpPr>
        <p:spPr>
          <a:xfrm>
            <a:off x="9006840" y="1042415"/>
            <a:ext cx="2679192"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400" b="1" i="0">
                <a:solidFill>
                  <a:srgbClr val="FFFFFF"/>
                </a:solidFill>
                <a:latin typeface="Arial" panose="020B0604020202020204"/>
                <a:ea typeface="Arial" panose="020B0604020202020204"/>
              </a:rPr>
              <a:t>04</a:t>
            </a:r>
            <a:endParaRPr lang="zh-CN" altLang="en-US" sz="2400" b="1" i="0">
              <a:solidFill>
                <a:srgbClr val="FFFFFF"/>
              </a:solidFill>
              <a:latin typeface="Arial" panose="020B0604020202020204"/>
              <a:ea typeface="Arial" panose="020B0604020202020204"/>
            </a:endParaRPr>
          </a:p>
        </p:txBody>
      </p:sp>
      <p:sp>
        <p:nvSpPr>
          <p:cNvPr id="263" name="TextBox 37"/>
          <p:cNvSpPr txBox="1"/>
          <p:nvPr/>
        </p:nvSpPr>
        <p:spPr>
          <a:xfrm>
            <a:off x="9125712" y="1609344"/>
            <a:ext cx="2441448" cy="302260"/>
          </a:xfrm>
          <a:prstGeom prst="rect">
            <a:avLst/>
          </a:prstGeom>
          <a:noFill/>
        </p:spPr>
        <p:txBody>
          <a:bodyPr wrap="square" lIns="27432" tIns="13716" rIns="27432" bIns="13716" anchor="t">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主导瓶颈识别与干预评估</a:t>
            </a:r>
            <a:endParaRPr lang="zh-CN" altLang="en-US" sz="1600" b="1" i="0">
              <a:solidFill>
                <a:srgbClr val="1F2A33"/>
              </a:solidFill>
              <a:latin typeface="微软雅黑" panose="020B0503020204020204" pitchFamily="34" charset="-122"/>
              <a:ea typeface="微软雅黑" panose="020B0503020204020204" pitchFamily="34" charset="-122"/>
            </a:endParaRPr>
          </a:p>
        </p:txBody>
      </p:sp>
      <p:cxnSp>
        <p:nvCxnSpPr>
          <p:cNvPr id="264" name="Connector 38"/>
          <p:cNvCxnSpPr/>
          <p:nvPr/>
        </p:nvCxnSpPr>
        <p:spPr>
          <a:xfrm>
            <a:off x="9125712" y="2340864"/>
            <a:ext cx="384048" cy="0"/>
          </a:xfrm>
          <a:prstGeom prst="line">
            <a:avLst/>
          </a:prstGeom>
          <a:ln w="2540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265" name="TextBox 39"/>
          <p:cNvSpPr txBox="1"/>
          <p:nvPr/>
        </p:nvSpPr>
        <p:spPr>
          <a:xfrm>
            <a:off x="9125712" y="2468880"/>
            <a:ext cx="2441448" cy="853440"/>
          </a:xfrm>
          <a:prstGeom prst="rect">
            <a:avLst/>
          </a:prstGeom>
          <a:noFill/>
        </p:spPr>
        <p:txBody>
          <a:bodyPr wrap="square" lIns="27432" tIns="13716" rIns="27432" bIns="13716" anchor="t">
            <a:spAutoFit/>
          </a:bodyPr>
          <a:lstStyle/>
          <a:p>
            <a:pPr algn="l">
              <a:lnSpc>
                <a:spcPct val="128000"/>
              </a:lnSpc>
            </a:pPr>
            <a:r>
              <a:rPr lang="zh-CN" altLang="en-US" sz="1400" b="0" i="0">
                <a:solidFill>
                  <a:srgbClr val="1F2A33"/>
                </a:solidFill>
                <a:latin typeface="微软雅黑" panose="020B0503020204020204" pitchFamily="34" charset="-122"/>
                <a:ea typeface="微软雅黑" panose="020B0503020204020204" pitchFamily="34" charset="-122"/>
              </a:rPr>
              <a:t>通过敏感性分析识别主导瓶颈，比较不同干预措施对承载能力的提升效果。</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66" name="Rounded Rectangle 40"/>
          <p:cNvSpPr/>
          <p:nvPr/>
        </p:nvSpPr>
        <p:spPr>
          <a:xfrm>
            <a:off x="9125712" y="3822191"/>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拟回答</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67" name="TextBox 41"/>
          <p:cNvSpPr txBox="1"/>
          <p:nvPr/>
        </p:nvSpPr>
        <p:spPr>
          <a:xfrm>
            <a:off x="9125712" y="4169663"/>
            <a:ext cx="2441448"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1F2A33"/>
                </a:solidFill>
                <a:latin typeface="微软雅黑" panose="020B0503020204020204" pitchFamily="34" charset="-122"/>
                <a:ea typeface="微软雅黑" panose="020B0503020204020204" pitchFamily="34" charset="-122"/>
              </a:rPr>
              <a:t>瓶颈是什么、如何干预？</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268" name="Rounded Rectangle 42"/>
          <p:cNvSpPr/>
          <p:nvPr/>
        </p:nvSpPr>
        <p:spPr>
          <a:xfrm>
            <a:off x="9125712" y="4791456"/>
            <a:ext cx="960120" cy="292608"/>
          </a:xfrm>
          <a:prstGeom prst="roundRect">
            <a:avLst>
              <a:gd name="adj" fmla="val 10000"/>
            </a:avLst>
          </a:prstGeom>
          <a:solidFill>
            <a:srgbClr val="DDE9F0"/>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预期形成</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269" name="TextBox 43"/>
          <p:cNvSpPr txBox="1"/>
          <p:nvPr/>
        </p:nvSpPr>
        <p:spPr>
          <a:xfrm>
            <a:off x="9125712" y="5138928"/>
            <a:ext cx="2441448" cy="284480"/>
          </a:xfrm>
          <a:prstGeom prst="rect">
            <a:avLst/>
          </a:prstGeom>
          <a:noFill/>
        </p:spPr>
        <p:txBody>
          <a:bodyPr wrap="square" lIns="27432" tIns="13716" rIns="27432" bIns="13716" anchor="t">
            <a:spAutoFit/>
          </a:bodyPr>
          <a:lstStyle/>
          <a:p>
            <a:pPr algn="l">
              <a:lnSpc>
                <a:spcPct val="120000"/>
              </a:lnSpc>
            </a:pPr>
            <a:r>
              <a:rPr lang="zh-CN" altLang="en-US" sz="1400" b="1" i="0">
                <a:solidFill>
                  <a:srgbClr val="005375"/>
                </a:solidFill>
                <a:latin typeface="微软雅黑" panose="020B0503020204020204" pitchFamily="34" charset="-122"/>
                <a:ea typeface="微软雅黑" panose="020B0503020204020204" pitchFamily="34" charset="-122"/>
              </a:rPr>
              <a:t>瓶颈排序与干预建议</a:t>
            </a:r>
            <a:endParaRPr lang="zh-CN" altLang="en-US" sz="1400" b="1" i="0">
              <a:solidFill>
                <a:srgbClr val="005375"/>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95" name=""/>
        <p:cNvGrpSpPr/>
        <p:nvPr/>
      </p:nvGrpSpPr>
      <p:grpSpPr>
        <a:xfrm>
          <a:off x="0" y="0"/>
          <a:ext cx="0" cy="0"/>
          <a:chOff x="0" y="0"/>
          <a:chExt cx="0" cy="0"/>
        </a:xfrm>
      </p:grpSpPr>
      <p:sp>
        <p:nvSpPr>
          <p:cNvPr id="296"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297"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15 / 24</a:t>
            </a:r>
            <a:endParaRPr lang="zh-CN" altLang="en-US" sz="1000" b="1" i="0">
              <a:solidFill>
                <a:srgbClr val="FFFFFF"/>
              </a:solidFill>
              <a:latin typeface="Arial" panose="020B0604020202020204"/>
              <a:ea typeface="Arial" panose="020B0604020202020204"/>
            </a:endParaRPr>
          </a:p>
        </p:txBody>
      </p:sp>
      <p:sp>
        <p:nvSpPr>
          <p:cNvPr id="298" name="TextBox 4"/>
          <p:cNvSpPr txBox="1"/>
          <p:nvPr/>
        </p:nvSpPr>
        <p:spPr>
          <a:xfrm>
            <a:off x="731520" y="868680"/>
            <a:ext cx="4206240" cy="1600200"/>
          </a:xfrm>
          <a:prstGeom prst="rect">
            <a:avLst/>
          </a:prstGeom>
          <a:noFill/>
        </p:spPr>
        <p:txBody>
          <a:bodyPr wrap="square" lIns="27432" tIns="13716" rIns="27432" bIns="13716" anchor="t">
            <a:spAutoFit/>
          </a:bodyPr>
          <a:lstStyle/>
          <a:p>
            <a:pPr algn="l">
              <a:lnSpc>
                <a:spcPct val="108000"/>
              </a:lnSpc>
            </a:pPr>
            <a:r>
              <a:rPr lang="zh-CN" altLang="en-US" sz="9600" b="0" i="0">
                <a:solidFill>
                  <a:srgbClr val="005375"/>
                </a:solidFill>
                <a:latin typeface="Arial Black" panose="020B0A04020102020204"/>
                <a:ea typeface="Arial Black" panose="020B0A04020102020204"/>
              </a:rPr>
              <a:t>04</a:t>
            </a:r>
            <a:endParaRPr lang="zh-CN" altLang="en-US" sz="9600" b="0" i="0">
              <a:solidFill>
                <a:srgbClr val="005375"/>
              </a:solidFill>
              <a:latin typeface="Arial Black" panose="020B0A04020102020204"/>
              <a:ea typeface="Arial Black" panose="020B0A04020102020204"/>
            </a:endParaRPr>
          </a:p>
        </p:txBody>
      </p:sp>
      <p:sp>
        <p:nvSpPr>
          <p:cNvPr id="299" name="TextBox 5"/>
          <p:cNvSpPr txBox="1"/>
          <p:nvPr/>
        </p:nvSpPr>
        <p:spPr>
          <a:xfrm>
            <a:off x="896112" y="2487168"/>
            <a:ext cx="3200400" cy="310896"/>
          </a:xfrm>
          <a:prstGeom prst="rect">
            <a:avLst/>
          </a:prstGeom>
          <a:noFill/>
        </p:spPr>
        <p:txBody>
          <a:bodyPr wrap="square" lIns="27432" tIns="13716" rIns="27432" bIns="13716" anchor="t">
            <a:spAutoFit/>
          </a:bodyPr>
          <a:lstStyle/>
          <a:p>
            <a:pPr algn="l">
              <a:lnSpc>
                <a:spcPct val="108000"/>
              </a:lnSpc>
            </a:pPr>
            <a:r>
              <a:rPr lang="zh-CN" altLang="en-US" sz="1300" b="0" i="0" spc="300">
                <a:solidFill>
                  <a:srgbClr val="8CA3AF"/>
                </a:solidFill>
                <a:latin typeface="Arial" panose="020B0604020202020204"/>
                <a:ea typeface="Arial" panose="020B0604020202020204"/>
              </a:rPr>
              <a:t>PART FOUR</a:t>
            </a:r>
            <a:endParaRPr lang="zh-CN" altLang="en-US" sz="1300" b="0" i="0" spc="300">
              <a:solidFill>
                <a:srgbClr val="8CA3AF"/>
              </a:solidFill>
              <a:latin typeface="Arial" panose="020B0604020202020204"/>
              <a:ea typeface="Arial" panose="020B0604020202020204"/>
            </a:endParaRPr>
          </a:p>
        </p:txBody>
      </p:sp>
      <p:sp>
        <p:nvSpPr>
          <p:cNvPr id="300" name="TextBox 6"/>
          <p:cNvSpPr txBox="1"/>
          <p:nvPr/>
        </p:nvSpPr>
        <p:spPr>
          <a:xfrm>
            <a:off x="786384" y="2834640"/>
            <a:ext cx="4709160" cy="1129030"/>
          </a:xfrm>
          <a:prstGeom prst="rect">
            <a:avLst/>
          </a:prstGeom>
          <a:noFill/>
        </p:spPr>
        <p:txBody>
          <a:bodyPr wrap="square" lIns="27432" tIns="13716" rIns="27432" bIns="13716" anchor="t">
            <a:spAutoFit/>
          </a:bodyPr>
          <a:lstStyle/>
          <a:p>
            <a:pPr algn="l">
              <a:lnSpc>
                <a:spcPct val="112000"/>
              </a:lnSpc>
            </a:pPr>
            <a:r>
              <a:rPr lang="zh-CN" altLang="en-US" sz="3200" b="1" i="0">
                <a:solidFill>
                  <a:srgbClr val="005375"/>
                </a:solidFill>
                <a:latin typeface="微软雅黑" panose="020B0503020204020204" pitchFamily="34" charset="-122"/>
                <a:ea typeface="微软雅黑" panose="020B0503020204020204" pitchFamily="34" charset="-122"/>
              </a:rPr>
              <a:t>研究方案：模型、实验</a:t>
            </a:r>
            <a:endParaRPr lang="zh-CN" altLang="en-US" sz="3200" b="1" i="0">
              <a:solidFill>
                <a:srgbClr val="005375"/>
              </a:solidFill>
              <a:latin typeface="微软雅黑" panose="020B0503020204020204" pitchFamily="34" charset="-122"/>
              <a:ea typeface="微软雅黑" panose="020B0503020204020204" pitchFamily="34" charset="-122"/>
            </a:endParaRPr>
          </a:p>
          <a:p>
            <a:pPr algn="l">
              <a:lnSpc>
                <a:spcPct val="112000"/>
              </a:lnSpc>
            </a:pPr>
            <a:r>
              <a:rPr lang="zh-CN" altLang="en-US" sz="3200" b="1" i="0">
                <a:solidFill>
                  <a:srgbClr val="005375"/>
                </a:solidFill>
                <a:latin typeface="微软雅黑" panose="020B0503020204020204" pitchFamily="34" charset="-122"/>
                <a:ea typeface="微软雅黑" panose="020B0503020204020204" pitchFamily="34" charset="-122"/>
              </a:rPr>
              <a:t>与验证</a:t>
            </a:r>
            <a:endParaRPr lang="zh-CN" altLang="en-US" sz="3200" b="1" i="0">
              <a:solidFill>
                <a:srgbClr val="005375"/>
              </a:solidFill>
              <a:latin typeface="微软雅黑" panose="020B0503020204020204" pitchFamily="34" charset="-122"/>
              <a:ea typeface="微软雅黑" panose="020B0503020204020204" pitchFamily="34" charset="-122"/>
            </a:endParaRPr>
          </a:p>
        </p:txBody>
      </p:sp>
      <p:sp>
        <p:nvSpPr>
          <p:cNvPr id="301" name="Rounded Rectangle 9"/>
          <p:cNvSpPr/>
          <p:nvPr/>
        </p:nvSpPr>
        <p:spPr>
          <a:xfrm>
            <a:off x="5532120" y="1307592"/>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02" name="Rectangle 10"/>
          <p:cNvSpPr/>
          <p:nvPr/>
        </p:nvSpPr>
        <p:spPr>
          <a:xfrm>
            <a:off x="5760720" y="1655064"/>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数据与方法</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303" name="Right Triangle 11"/>
          <p:cNvSpPr/>
          <p:nvPr/>
        </p:nvSpPr>
        <p:spPr>
          <a:xfrm>
            <a:off x="7178040" y="1655064"/>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304" name="TextBox 12"/>
          <p:cNvSpPr txBox="1"/>
          <p:nvPr/>
        </p:nvSpPr>
        <p:spPr>
          <a:xfrm>
            <a:off x="7360920" y="1741678"/>
            <a:ext cx="411479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公开数据 + 机理模型 + 情景模拟</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305" name="Rounded Rectangle 13"/>
          <p:cNvSpPr/>
          <p:nvPr/>
        </p:nvSpPr>
        <p:spPr>
          <a:xfrm>
            <a:off x="5532120" y="2752344"/>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06" name="Rectangle 14"/>
          <p:cNvSpPr/>
          <p:nvPr/>
        </p:nvSpPr>
        <p:spPr>
          <a:xfrm>
            <a:off x="5760720" y="3099816"/>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模型构建</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307" name="Right Triangle 15"/>
          <p:cNvSpPr/>
          <p:nvPr/>
        </p:nvSpPr>
        <p:spPr>
          <a:xfrm>
            <a:off x="7178040" y="3099816"/>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308" name="TextBox 16"/>
          <p:cNvSpPr txBox="1"/>
          <p:nvPr/>
        </p:nvSpPr>
        <p:spPr>
          <a:xfrm>
            <a:off x="7360920" y="3186430"/>
            <a:ext cx="411479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节点模块嵌入城市水系统网络模型</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309" name="Rounded Rectangle 17"/>
          <p:cNvSpPr/>
          <p:nvPr/>
        </p:nvSpPr>
        <p:spPr>
          <a:xfrm>
            <a:off x="5532120" y="4197096"/>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10" name="Rectangle 18"/>
          <p:cNvSpPr/>
          <p:nvPr/>
        </p:nvSpPr>
        <p:spPr>
          <a:xfrm>
            <a:off x="5760720" y="4544568"/>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实验与验证</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311" name="Right Triangle 19"/>
          <p:cNvSpPr/>
          <p:nvPr/>
        </p:nvSpPr>
        <p:spPr>
          <a:xfrm>
            <a:off x="7178040" y="4544568"/>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312" name="TextBox 20"/>
          <p:cNvSpPr txBox="1"/>
          <p:nvPr/>
        </p:nvSpPr>
        <p:spPr>
          <a:xfrm>
            <a:off x="7360920" y="4631182"/>
            <a:ext cx="411479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控制实验、敏感性分析与可信度检验</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313" name=""/>
        <p:cNvGrpSpPr/>
        <p:nvPr/>
      </p:nvGrpSpPr>
      <p:grpSpPr>
        <a:xfrm>
          <a:off x="0" y="0"/>
          <a:ext cx="0" cy="0"/>
          <a:chOff x="0" y="0"/>
          <a:chExt cx="0" cy="0"/>
        </a:xfrm>
      </p:grpSpPr>
      <p:sp>
        <p:nvSpPr>
          <p:cNvPr id="314"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技术路线：四个阶段</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315"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316"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16 / 24</a:t>
            </a:r>
            <a:endParaRPr lang="zh-CN" altLang="en-US" sz="1000" b="1" i="0">
              <a:solidFill>
                <a:srgbClr val="FFFFFF"/>
              </a:solidFill>
              <a:latin typeface="Arial" panose="020B0604020202020204"/>
              <a:ea typeface="Arial" panose="020B0604020202020204"/>
            </a:endParaRPr>
          </a:p>
        </p:txBody>
      </p:sp>
      <p:sp>
        <p:nvSpPr>
          <p:cNvPr id="317" name="Rounded Rectangle 4"/>
          <p:cNvSpPr/>
          <p:nvPr/>
        </p:nvSpPr>
        <p:spPr>
          <a:xfrm>
            <a:off x="484632" y="1097280"/>
            <a:ext cx="2633472" cy="22402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18" name="Rectangle 5"/>
          <p:cNvSpPr/>
          <p:nvPr/>
        </p:nvSpPr>
        <p:spPr>
          <a:xfrm>
            <a:off x="502920" y="1115568"/>
            <a:ext cx="2596896"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19" name="Rectangle 6"/>
          <p:cNvSpPr/>
          <p:nvPr/>
        </p:nvSpPr>
        <p:spPr>
          <a:xfrm>
            <a:off x="502920" y="1179575"/>
            <a:ext cx="2596896" cy="402336"/>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250" b="1" i="0">
                <a:solidFill>
                  <a:srgbClr val="FFFFFF"/>
                </a:solidFill>
                <a:latin typeface="微软雅黑" panose="020B0503020204020204" pitchFamily="34" charset="-122"/>
                <a:ea typeface="微软雅黑" panose="020B0503020204020204" pitchFamily="34" charset="-122"/>
              </a:rPr>
              <a:t>阶段一</a:t>
            </a:r>
            <a:endParaRPr lang="zh-CN" altLang="en-US" sz="1250" b="1" i="0">
              <a:solidFill>
                <a:srgbClr val="FFFFFF"/>
              </a:solidFill>
              <a:latin typeface="微软雅黑" panose="020B0503020204020204" pitchFamily="34" charset="-122"/>
              <a:ea typeface="微软雅黑" panose="020B0503020204020204" pitchFamily="34" charset="-122"/>
            </a:endParaRPr>
          </a:p>
        </p:txBody>
      </p:sp>
      <p:sp>
        <p:nvSpPr>
          <p:cNvPr id="320" name="TextBox 7"/>
          <p:cNvSpPr txBox="1"/>
          <p:nvPr/>
        </p:nvSpPr>
        <p:spPr>
          <a:xfrm>
            <a:off x="621792" y="1691640"/>
            <a:ext cx="237744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数据与参数梳理</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321" name="TextBox 8"/>
          <p:cNvSpPr txBox="1"/>
          <p:nvPr/>
        </p:nvSpPr>
        <p:spPr>
          <a:xfrm>
            <a:off x="621792" y="2093976"/>
            <a:ext cx="2377440" cy="734060"/>
          </a:xfrm>
          <a:prstGeom prst="rect">
            <a:avLst/>
          </a:prstGeom>
          <a:noFill/>
        </p:spPr>
        <p:txBody>
          <a:bodyPr wrap="square" lIns="27432" tIns="13716" rIns="27432" bIns="13716" anchor="t">
            <a:spAutoFit/>
          </a:bodyPr>
          <a:lstStyle/>
          <a:p>
            <a:pPr algn="l">
              <a:lnSpc>
                <a:spcPct val="128000"/>
              </a:lnSpc>
            </a:pPr>
            <a:r>
              <a:rPr lang="zh-CN" altLang="en-US" sz="1200" b="0" i="0">
                <a:solidFill>
                  <a:srgbClr val="1F2A33"/>
                </a:solidFill>
                <a:latin typeface="微软雅黑" panose="020B0503020204020204" pitchFamily="34" charset="-122"/>
                <a:ea typeface="微软雅黑" panose="020B0503020204020204" pitchFamily="34" charset="-122"/>
              </a:rPr>
              <a:t>收集算力侧与城市水系统侧公开数据，梳理模型参数与边界条件，建立数据基础。</a:t>
            </a:r>
            <a:endParaRPr lang="zh-CN" altLang="en-US" sz="1200" b="0" i="0">
              <a:solidFill>
                <a:srgbClr val="1F2A33"/>
              </a:solidFill>
              <a:latin typeface="微软雅黑" panose="020B0503020204020204" pitchFamily="34" charset="-122"/>
              <a:ea typeface="微软雅黑" panose="020B0503020204020204" pitchFamily="34" charset="-122"/>
            </a:endParaRPr>
          </a:p>
        </p:txBody>
      </p:sp>
      <p:sp>
        <p:nvSpPr>
          <p:cNvPr id="322" name="Right Arrow 9"/>
          <p:cNvSpPr/>
          <p:nvPr/>
        </p:nvSpPr>
        <p:spPr>
          <a:xfrm>
            <a:off x="3136391" y="2057400"/>
            <a:ext cx="164592" cy="201168"/>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323" name="Rounded Rectangle 10"/>
          <p:cNvSpPr/>
          <p:nvPr/>
        </p:nvSpPr>
        <p:spPr>
          <a:xfrm>
            <a:off x="3346704" y="1097280"/>
            <a:ext cx="2633472" cy="22402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24" name="Rectangle 11"/>
          <p:cNvSpPr/>
          <p:nvPr/>
        </p:nvSpPr>
        <p:spPr>
          <a:xfrm>
            <a:off x="3364992" y="1115568"/>
            <a:ext cx="2596896"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25" name="Rectangle 12"/>
          <p:cNvSpPr/>
          <p:nvPr/>
        </p:nvSpPr>
        <p:spPr>
          <a:xfrm>
            <a:off x="3364992" y="1179575"/>
            <a:ext cx="2596896" cy="402336"/>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250" b="1" i="0">
                <a:solidFill>
                  <a:srgbClr val="FFFFFF"/>
                </a:solidFill>
                <a:latin typeface="微软雅黑" panose="020B0503020204020204" pitchFamily="34" charset="-122"/>
                <a:ea typeface="微软雅黑" panose="020B0503020204020204" pitchFamily="34" charset="-122"/>
              </a:rPr>
              <a:t>阶段二</a:t>
            </a:r>
            <a:endParaRPr lang="zh-CN" altLang="en-US" sz="1250" b="1" i="0">
              <a:solidFill>
                <a:srgbClr val="FFFFFF"/>
              </a:solidFill>
              <a:latin typeface="微软雅黑" panose="020B0503020204020204" pitchFamily="34" charset="-122"/>
              <a:ea typeface="微软雅黑" panose="020B0503020204020204" pitchFamily="34" charset="-122"/>
            </a:endParaRPr>
          </a:p>
        </p:txBody>
      </p:sp>
      <p:sp>
        <p:nvSpPr>
          <p:cNvPr id="326" name="TextBox 13"/>
          <p:cNvSpPr txBox="1"/>
          <p:nvPr/>
        </p:nvSpPr>
        <p:spPr>
          <a:xfrm>
            <a:off x="3483864" y="1691640"/>
            <a:ext cx="237744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模型构建与耦合</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327" name="TextBox 14"/>
          <p:cNvSpPr txBox="1"/>
          <p:nvPr/>
        </p:nvSpPr>
        <p:spPr>
          <a:xfrm>
            <a:off x="3483864" y="2093976"/>
            <a:ext cx="2377440" cy="734060"/>
          </a:xfrm>
          <a:prstGeom prst="rect">
            <a:avLst/>
          </a:prstGeom>
          <a:noFill/>
        </p:spPr>
        <p:txBody>
          <a:bodyPr wrap="square" lIns="27432" tIns="13716" rIns="27432" bIns="13716" anchor="t">
            <a:spAutoFit/>
          </a:bodyPr>
          <a:lstStyle/>
          <a:p>
            <a:pPr algn="l">
              <a:lnSpc>
                <a:spcPct val="128000"/>
              </a:lnSpc>
            </a:pPr>
            <a:r>
              <a:rPr lang="zh-CN" altLang="en-US" sz="1200" b="0" i="0">
                <a:solidFill>
                  <a:srgbClr val="1F2A33"/>
                </a:solidFill>
                <a:latin typeface="微软雅黑" panose="020B0503020204020204" pitchFamily="34" charset="-122"/>
                <a:ea typeface="微软雅黑" panose="020B0503020204020204" pitchFamily="34" charset="-122"/>
              </a:rPr>
              <a:t>构建 AI 节点水代谢模块与城市人工水系统网络模型，完成耦合与校核。</a:t>
            </a:r>
            <a:endParaRPr lang="zh-CN" altLang="en-US" sz="1200" b="0" i="0">
              <a:solidFill>
                <a:srgbClr val="1F2A33"/>
              </a:solidFill>
              <a:latin typeface="微软雅黑" panose="020B0503020204020204" pitchFamily="34" charset="-122"/>
              <a:ea typeface="微软雅黑" panose="020B0503020204020204" pitchFamily="34" charset="-122"/>
            </a:endParaRPr>
          </a:p>
        </p:txBody>
      </p:sp>
      <p:sp>
        <p:nvSpPr>
          <p:cNvPr id="328" name="Right Arrow 15"/>
          <p:cNvSpPr/>
          <p:nvPr/>
        </p:nvSpPr>
        <p:spPr>
          <a:xfrm>
            <a:off x="5998464" y="2057400"/>
            <a:ext cx="164592" cy="201168"/>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329" name="Rounded Rectangle 16"/>
          <p:cNvSpPr/>
          <p:nvPr/>
        </p:nvSpPr>
        <p:spPr>
          <a:xfrm>
            <a:off x="6208776" y="1097280"/>
            <a:ext cx="2633472" cy="22402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30" name="Rectangle 17"/>
          <p:cNvSpPr/>
          <p:nvPr/>
        </p:nvSpPr>
        <p:spPr>
          <a:xfrm>
            <a:off x="6227064" y="1115568"/>
            <a:ext cx="2596896"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31" name="Rectangle 18"/>
          <p:cNvSpPr/>
          <p:nvPr/>
        </p:nvSpPr>
        <p:spPr>
          <a:xfrm>
            <a:off x="6227064" y="1179575"/>
            <a:ext cx="2596896" cy="402336"/>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250" b="1" i="0">
                <a:solidFill>
                  <a:srgbClr val="FFFFFF"/>
                </a:solidFill>
                <a:latin typeface="微软雅黑" panose="020B0503020204020204" pitchFamily="34" charset="-122"/>
                <a:ea typeface="微软雅黑" panose="020B0503020204020204" pitchFamily="34" charset="-122"/>
              </a:rPr>
              <a:t>阶段三</a:t>
            </a:r>
            <a:endParaRPr lang="zh-CN" altLang="en-US" sz="1250" b="1" i="0">
              <a:solidFill>
                <a:srgbClr val="FFFFFF"/>
              </a:solidFill>
              <a:latin typeface="微软雅黑" panose="020B0503020204020204" pitchFamily="34" charset="-122"/>
              <a:ea typeface="微软雅黑" panose="020B0503020204020204" pitchFamily="34" charset="-122"/>
            </a:endParaRPr>
          </a:p>
        </p:txBody>
      </p:sp>
      <p:sp>
        <p:nvSpPr>
          <p:cNvPr id="332" name="TextBox 19"/>
          <p:cNvSpPr txBox="1"/>
          <p:nvPr/>
        </p:nvSpPr>
        <p:spPr>
          <a:xfrm>
            <a:off x="6345936" y="1691640"/>
            <a:ext cx="237744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情景实验与求解</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333" name="TextBox 20"/>
          <p:cNvSpPr txBox="1"/>
          <p:nvPr/>
        </p:nvSpPr>
        <p:spPr>
          <a:xfrm>
            <a:off x="6345936" y="2093976"/>
            <a:ext cx="2377440" cy="734060"/>
          </a:xfrm>
          <a:prstGeom prst="rect">
            <a:avLst/>
          </a:prstGeom>
          <a:noFill/>
        </p:spPr>
        <p:txBody>
          <a:bodyPr wrap="square" lIns="27432" tIns="13716" rIns="27432" bIns="13716" anchor="t">
            <a:spAutoFit/>
          </a:bodyPr>
          <a:lstStyle/>
          <a:p>
            <a:pPr algn="l">
              <a:lnSpc>
                <a:spcPct val="128000"/>
              </a:lnSpc>
            </a:pPr>
            <a:r>
              <a:rPr lang="zh-CN" altLang="en-US" sz="1200" b="0" i="0">
                <a:solidFill>
                  <a:srgbClr val="1F2A33"/>
                </a:solidFill>
                <a:latin typeface="微软雅黑" panose="020B0503020204020204" pitchFamily="34" charset="-122"/>
                <a:ea typeface="微软雅黑" panose="020B0503020204020204" pitchFamily="34" charset="-122"/>
              </a:rPr>
              <a:t>设计控制实验与情景组合，求解 CAWCC 容量曲面并进行敏感性分析。</a:t>
            </a:r>
            <a:endParaRPr lang="zh-CN" altLang="en-US" sz="1200" b="0" i="0">
              <a:solidFill>
                <a:srgbClr val="1F2A33"/>
              </a:solidFill>
              <a:latin typeface="微软雅黑" panose="020B0503020204020204" pitchFamily="34" charset="-122"/>
              <a:ea typeface="微软雅黑" panose="020B0503020204020204" pitchFamily="34" charset="-122"/>
            </a:endParaRPr>
          </a:p>
        </p:txBody>
      </p:sp>
      <p:sp>
        <p:nvSpPr>
          <p:cNvPr id="334" name="Right Arrow 21"/>
          <p:cNvSpPr/>
          <p:nvPr/>
        </p:nvSpPr>
        <p:spPr>
          <a:xfrm>
            <a:off x="8860536" y="2057400"/>
            <a:ext cx="164592" cy="201168"/>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335" name="Rounded Rectangle 22"/>
          <p:cNvSpPr/>
          <p:nvPr/>
        </p:nvSpPr>
        <p:spPr>
          <a:xfrm>
            <a:off x="9070848" y="1097280"/>
            <a:ext cx="2633472" cy="22402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36" name="Rectangle 23"/>
          <p:cNvSpPr/>
          <p:nvPr/>
        </p:nvSpPr>
        <p:spPr>
          <a:xfrm>
            <a:off x="9089136" y="1115568"/>
            <a:ext cx="2596896"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37" name="Rectangle 24"/>
          <p:cNvSpPr/>
          <p:nvPr/>
        </p:nvSpPr>
        <p:spPr>
          <a:xfrm>
            <a:off x="9089136" y="1179575"/>
            <a:ext cx="2596896" cy="402336"/>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250" b="1" i="0">
                <a:solidFill>
                  <a:srgbClr val="FFFFFF"/>
                </a:solidFill>
                <a:latin typeface="微软雅黑" panose="020B0503020204020204" pitchFamily="34" charset="-122"/>
                <a:ea typeface="微软雅黑" panose="020B0503020204020204" pitchFamily="34" charset="-122"/>
              </a:rPr>
              <a:t>阶段四</a:t>
            </a:r>
            <a:endParaRPr lang="zh-CN" altLang="en-US" sz="1250" b="1" i="0">
              <a:solidFill>
                <a:srgbClr val="FFFFFF"/>
              </a:solidFill>
              <a:latin typeface="微软雅黑" panose="020B0503020204020204" pitchFamily="34" charset="-122"/>
              <a:ea typeface="微软雅黑" panose="020B0503020204020204" pitchFamily="34" charset="-122"/>
            </a:endParaRPr>
          </a:p>
        </p:txBody>
      </p:sp>
      <p:sp>
        <p:nvSpPr>
          <p:cNvPr id="338" name="TextBox 25"/>
          <p:cNvSpPr txBox="1"/>
          <p:nvPr/>
        </p:nvSpPr>
        <p:spPr>
          <a:xfrm>
            <a:off x="9208008" y="1691640"/>
            <a:ext cx="237744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瓶颈识别与验证</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339" name="TextBox 26"/>
          <p:cNvSpPr txBox="1"/>
          <p:nvPr/>
        </p:nvSpPr>
        <p:spPr>
          <a:xfrm>
            <a:off x="9208008" y="2093976"/>
            <a:ext cx="2377440" cy="498475"/>
          </a:xfrm>
          <a:prstGeom prst="rect">
            <a:avLst/>
          </a:prstGeom>
          <a:noFill/>
        </p:spPr>
        <p:txBody>
          <a:bodyPr wrap="square" lIns="27432" tIns="13716" rIns="27432" bIns="13716" anchor="t">
            <a:spAutoFit/>
          </a:bodyPr>
          <a:lstStyle/>
          <a:p>
            <a:pPr algn="l">
              <a:lnSpc>
                <a:spcPct val="128000"/>
              </a:lnSpc>
            </a:pPr>
            <a:r>
              <a:rPr lang="zh-CN" altLang="en-US" sz="1200" b="0" i="0">
                <a:solidFill>
                  <a:srgbClr val="1F2A33"/>
                </a:solidFill>
                <a:latin typeface="微软雅黑" panose="020B0503020204020204" pitchFamily="34" charset="-122"/>
                <a:ea typeface="微软雅黑" panose="020B0503020204020204" pitchFamily="34" charset="-122"/>
              </a:rPr>
              <a:t>识别主导瓶颈、评估干预措施，完成结果验证与不确定性讨论。</a:t>
            </a:r>
            <a:endParaRPr lang="zh-CN" altLang="en-US" sz="1200" b="0" i="0">
              <a:solidFill>
                <a:srgbClr val="1F2A33"/>
              </a:solidFill>
              <a:latin typeface="微软雅黑" panose="020B0503020204020204" pitchFamily="34" charset="-122"/>
              <a:ea typeface="微软雅黑" panose="020B0503020204020204" pitchFamily="34" charset="-122"/>
            </a:endParaRPr>
          </a:p>
        </p:txBody>
      </p:sp>
      <p:sp>
        <p:nvSpPr>
          <p:cNvPr id="340" name="Rectangle 27"/>
          <p:cNvSpPr/>
          <p:nvPr/>
        </p:nvSpPr>
        <p:spPr>
          <a:xfrm>
            <a:off x="484632" y="3538728"/>
            <a:ext cx="11219688" cy="438912"/>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300" b="1" i="0">
                <a:solidFill>
                  <a:srgbClr val="005375"/>
                </a:solidFill>
                <a:latin typeface="微软雅黑" panose="020B0503020204020204" pitchFamily="34" charset="-122"/>
                <a:ea typeface="微软雅黑" panose="020B0503020204020204" pitchFamily="34" charset="-122"/>
              </a:rPr>
              <a:t>输入：算力侧数据  ·  城市水系统数据  ·  气象与水源条件  ·  技术与运行参数</a:t>
            </a:r>
            <a:endParaRPr lang="zh-CN" altLang="en-US" sz="1300" b="1" i="0">
              <a:solidFill>
                <a:srgbClr val="005375"/>
              </a:solidFill>
              <a:latin typeface="微软雅黑" panose="020B0503020204020204" pitchFamily="34" charset="-122"/>
              <a:ea typeface="微软雅黑" panose="020B0503020204020204" pitchFamily="34" charset="-122"/>
            </a:endParaRPr>
          </a:p>
        </p:txBody>
      </p:sp>
      <p:sp>
        <p:nvSpPr>
          <p:cNvPr id="341" name="Rectangle 28"/>
          <p:cNvSpPr/>
          <p:nvPr/>
        </p:nvSpPr>
        <p:spPr>
          <a:xfrm>
            <a:off x="484632" y="4105656"/>
            <a:ext cx="11219688" cy="438912"/>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300" b="1" i="0">
                <a:solidFill>
                  <a:srgbClr val="005375"/>
                </a:solidFill>
                <a:latin typeface="微软雅黑" panose="020B0503020204020204" pitchFamily="34" charset="-122"/>
                <a:ea typeface="微软雅黑" panose="020B0503020204020204" pitchFamily="34" charset="-122"/>
              </a:rPr>
              <a:t>输出：水代谢响应  ·  CAWCC 容量曲面  ·  主导瓶颈排序  ·  干预效果评估</a:t>
            </a:r>
            <a:endParaRPr lang="zh-CN" altLang="en-US" sz="1300" b="1" i="0">
              <a:solidFill>
                <a:srgbClr val="005375"/>
              </a:solidFill>
              <a:latin typeface="微软雅黑" panose="020B0503020204020204" pitchFamily="34" charset="-122"/>
              <a:ea typeface="微软雅黑" panose="020B0503020204020204" pitchFamily="34" charset="-122"/>
            </a:endParaRPr>
          </a:p>
        </p:txBody>
      </p:sp>
      <p:sp>
        <p:nvSpPr>
          <p:cNvPr id="342" name="Rounded Rectangle 29"/>
          <p:cNvSpPr/>
          <p:nvPr/>
        </p:nvSpPr>
        <p:spPr>
          <a:xfrm>
            <a:off x="484505" y="4727575"/>
            <a:ext cx="11219815" cy="12369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43" name="Rectangle 30"/>
          <p:cNvSpPr/>
          <p:nvPr/>
        </p:nvSpPr>
        <p:spPr>
          <a:xfrm>
            <a:off x="484632" y="4727448"/>
            <a:ext cx="11219688"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44" name="TextBox 31"/>
          <p:cNvSpPr txBox="1"/>
          <p:nvPr/>
        </p:nvSpPr>
        <p:spPr>
          <a:xfrm>
            <a:off x="685800" y="5184775"/>
            <a:ext cx="2560320" cy="358775"/>
          </a:xfrm>
          <a:prstGeom prst="rect">
            <a:avLst/>
          </a:prstGeom>
          <a:noFill/>
        </p:spPr>
        <p:txBody>
          <a:bodyPr wrap="square" lIns="27432" tIns="13716" rIns="27432" bIns="13716" anchor="t">
            <a:spAutoFit/>
          </a:bodyPr>
          <a:lstStyle/>
          <a:p>
            <a:pPr algn="l">
              <a:lnSpc>
                <a:spcPct val="108000"/>
              </a:lnSpc>
            </a:pPr>
            <a:r>
              <a:rPr lang="zh-CN" altLang="en-US" sz="2000" b="1" i="0">
                <a:solidFill>
                  <a:srgbClr val="1F2A33"/>
                </a:solidFill>
                <a:latin typeface="微软雅黑" panose="020B0503020204020204" pitchFamily="34" charset="-122"/>
                <a:ea typeface="微软雅黑" panose="020B0503020204020204" pitchFamily="34" charset="-122"/>
              </a:rPr>
              <a:t>可行性支撑</a:t>
            </a:r>
            <a:endParaRPr lang="zh-CN" altLang="en-US" sz="2000" b="1" i="0">
              <a:solidFill>
                <a:srgbClr val="1F2A33"/>
              </a:solidFill>
              <a:latin typeface="微软雅黑" panose="020B0503020204020204" pitchFamily="34" charset="-122"/>
              <a:ea typeface="微软雅黑" panose="020B0503020204020204" pitchFamily="34" charset="-122"/>
            </a:endParaRPr>
          </a:p>
        </p:txBody>
      </p:sp>
      <p:sp>
        <p:nvSpPr>
          <p:cNvPr id="345" name="TextBox 32"/>
          <p:cNvSpPr txBox="1"/>
          <p:nvPr/>
        </p:nvSpPr>
        <p:spPr>
          <a:xfrm>
            <a:off x="2455545" y="4972685"/>
            <a:ext cx="2816225"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数据可得</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346" name="TextBox 33"/>
          <p:cNvSpPr txBox="1"/>
          <p:nvPr/>
        </p:nvSpPr>
        <p:spPr>
          <a:xfrm>
            <a:off x="2455545" y="5283835"/>
            <a:ext cx="2816225" cy="284480"/>
          </a:xfrm>
          <a:prstGeom prst="rect">
            <a:avLst/>
          </a:prstGeom>
          <a:noFill/>
        </p:spPr>
        <p:txBody>
          <a:bodyPr wrap="square" lIns="27432" tIns="13716" rIns="27432" bIns="13716" anchor="t">
            <a:spAutoFit/>
          </a:bodyPr>
          <a:lstStyle/>
          <a:p>
            <a:pPr algn="l">
              <a:lnSpc>
                <a:spcPct val="120000"/>
              </a:lnSpc>
            </a:pPr>
            <a:r>
              <a:rPr lang="zh-CN" altLang="en-US" sz="1400" b="0" i="0">
                <a:solidFill>
                  <a:schemeClr val="tx1"/>
                </a:solidFill>
                <a:latin typeface="微软雅黑" panose="020B0503020204020204" pitchFamily="34" charset="-122"/>
                <a:ea typeface="微软雅黑" panose="020B0503020204020204" pitchFamily="34" charset="-122"/>
              </a:rPr>
              <a:t>公开统计与文献参数可支撑建模</a:t>
            </a:r>
            <a:endParaRPr lang="zh-CN" altLang="en-US" sz="1400" b="0" i="0">
              <a:solidFill>
                <a:schemeClr val="tx1"/>
              </a:solidFill>
              <a:latin typeface="微软雅黑" panose="020B0503020204020204" pitchFamily="34" charset="-122"/>
              <a:ea typeface="微软雅黑" panose="020B0503020204020204" pitchFamily="34" charset="-122"/>
            </a:endParaRPr>
          </a:p>
        </p:txBody>
      </p:sp>
      <p:sp>
        <p:nvSpPr>
          <p:cNvPr id="347" name="TextBox 34"/>
          <p:cNvSpPr txBox="1"/>
          <p:nvPr/>
        </p:nvSpPr>
        <p:spPr>
          <a:xfrm>
            <a:off x="5308600" y="4972685"/>
            <a:ext cx="2816225"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方法成熟</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348" name="TextBox 35"/>
          <p:cNvSpPr txBox="1"/>
          <p:nvPr/>
        </p:nvSpPr>
        <p:spPr>
          <a:xfrm>
            <a:off x="5308600" y="5283835"/>
            <a:ext cx="2816225" cy="284480"/>
          </a:xfrm>
          <a:prstGeom prst="rect">
            <a:avLst/>
          </a:prstGeom>
          <a:noFill/>
        </p:spPr>
        <p:txBody>
          <a:bodyPr wrap="square" lIns="27432" tIns="13716" rIns="27432" bIns="13716" anchor="t">
            <a:spAutoFit/>
          </a:bodyPr>
          <a:lstStyle/>
          <a:p>
            <a:pPr algn="l">
              <a:lnSpc>
                <a:spcPct val="120000"/>
              </a:lnSpc>
            </a:pPr>
            <a:r>
              <a:rPr lang="zh-CN" altLang="en-US" sz="1400" b="0" i="0">
                <a:solidFill>
                  <a:schemeClr val="tx1"/>
                </a:solidFill>
                <a:latin typeface="微软雅黑" panose="020B0503020204020204" pitchFamily="34" charset="-122"/>
                <a:ea typeface="微软雅黑" panose="020B0503020204020204" pitchFamily="34" charset="-122"/>
              </a:rPr>
              <a:t>水系统模型与敏感性分析方法成熟</a:t>
            </a:r>
            <a:endParaRPr lang="zh-CN" altLang="en-US" sz="1400" b="0" i="0">
              <a:solidFill>
                <a:schemeClr val="tx1"/>
              </a:solidFill>
              <a:latin typeface="微软雅黑" panose="020B0503020204020204" pitchFamily="34" charset="-122"/>
              <a:ea typeface="微软雅黑" panose="020B0503020204020204" pitchFamily="34" charset="-122"/>
            </a:endParaRPr>
          </a:p>
        </p:txBody>
      </p:sp>
      <p:sp>
        <p:nvSpPr>
          <p:cNvPr id="349" name="TextBox 36"/>
          <p:cNvSpPr txBox="1"/>
          <p:nvPr/>
        </p:nvSpPr>
        <p:spPr>
          <a:xfrm>
            <a:off x="8260715" y="4972685"/>
            <a:ext cx="2816225"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计算可控</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350" name="TextBox 37"/>
          <p:cNvSpPr txBox="1"/>
          <p:nvPr/>
        </p:nvSpPr>
        <p:spPr>
          <a:xfrm>
            <a:off x="8260715" y="5283835"/>
            <a:ext cx="2816225" cy="284480"/>
          </a:xfrm>
          <a:prstGeom prst="rect">
            <a:avLst/>
          </a:prstGeom>
          <a:noFill/>
        </p:spPr>
        <p:txBody>
          <a:bodyPr wrap="square" lIns="27432" tIns="13716" rIns="27432" bIns="13716" anchor="t">
            <a:spAutoFit/>
          </a:bodyPr>
          <a:lstStyle/>
          <a:p>
            <a:pPr algn="l">
              <a:lnSpc>
                <a:spcPct val="120000"/>
              </a:lnSpc>
            </a:pPr>
            <a:r>
              <a:rPr lang="zh-CN" altLang="en-US" sz="1400" b="0" i="0">
                <a:solidFill>
                  <a:schemeClr val="tx1"/>
                </a:solidFill>
                <a:latin typeface="微软雅黑" panose="020B0503020204020204" pitchFamily="34" charset="-122"/>
                <a:ea typeface="微软雅黑" panose="020B0503020204020204" pitchFamily="34" charset="-122"/>
              </a:rPr>
              <a:t>情景组合规模可控，可在本机完成</a:t>
            </a:r>
            <a:endParaRPr lang="zh-CN" altLang="en-US" sz="1400" b="0" i="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351" name=""/>
        <p:cNvGrpSpPr/>
        <p:nvPr/>
      </p:nvGrpSpPr>
      <p:grpSpPr>
        <a:xfrm>
          <a:off x="0" y="0"/>
          <a:ext cx="0" cy="0"/>
          <a:chOff x="0" y="0"/>
          <a:chExt cx="0" cy="0"/>
        </a:xfrm>
      </p:grpSpPr>
      <p:sp>
        <p:nvSpPr>
          <p:cNvPr id="352" name="Title 1"/>
          <p:cNvSpPr>
            <a:spLocks noGrp="1"/>
          </p:cNvSpPr>
          <p:nvPr>
            <p:ph type="title"/>
          </p:nvPr>
        </p:nvSpPr>
        <p:spPr>
          <a:xfrm>
            <a:off x="484632" y="118872"/>
            <a:ext cx="11210544" cy="621792"/>
          </a:xfrm>
        </p:spPr>
        <p:txBody>
          <a:bodyPr wrap="square" lIns="0" tIns="18288" rIns="0" bIns="18288" anchor="ctr"/>
          <a:lstStyle/>
          <a:p>
            <a:pPr algn="l"/>
            <a:r>
              <a:rPr lang="zh-CN" altLang="en-US" sz="2300" b="1" i="0">
                <a:solidFill>
                  <a:srgbClr val="000000"/>
                </a:solidFill>
                <a:latin typeface="微软雅黑" panose="020B0503020204020204" pitchFamily="34" charset="-122"/>
                <a:ea typeface="微软雅黑" panose="020B0503020204020204" pitchFamily="34" charset="-122"/>
              </a:rPr>
              <a:t>研究方案总体框架：从数据到边界的技术路线</a:t>
            </a:r>
            <a:endParaRPr lang="zh-CN" altLang="en-US" sz="2300" b="1" i="0">
              <a:solidFill>
                <a:srgbClr val="000000"/>
              </a:solidFill>
              <a:latin typeface="微软雅黑" panose="020B0503020204020204" pitchFamily="34" charset="-122"/>
              <a:ea typeface="微软雅黑" panose="020B0503020204020204" pitchFamily="34" charset="-122"/>
            </a:endParaRPr>
          </a:p>
        </p:txBody>
      </p:sp>
      <p:sp>
        <p:nvSpPr>
          <p:cNvPr id="353"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354"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16 / 24</a:t>
            </a:r>
            <a:endParaRPr lang="zh-CN" altLang="en-US" sz="1000" b="1" i="0">
              <a:solidFill>
                <a:srgbClr val="FFFFFF"/>
              </a:solidFill>
              <a:latin typeface="Arial" panose="020B0604020202020204"/>
              <a:ea typeface="Arial" panose="020B0604020202020204"/>
            </a:endParaRPr>
          </a:p>
        </p:txBody>
      </p:sp>
      <p:sp>
        <p:nvSpPr>
          <p:cNvPr id="355" name="Rounded Rectangle 8"/>
          <p:cNvSpPr/>
          <p:nvPr/>
        </p:nvSpPr>
        <p:spPr>
          <a:xfrm>
            <a:off x="484632" y="914400"/>
            <a:ext cx="2702052" cy="486460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56" name="Rectangle 9"/>
          <p:cNvSpPr/>
          <p:nvPr/>
        </p:nvSpPr>
        <p:spPr>
          <a:xfrm>
            <a:off x="502920" y="932688"/>
            <a:ext cx="2665476" cy="56692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357" name="TextBox 11"/>
          <p:cNvSpPr txBox="1"/>
          <p:nvPr/>
        </p:nvSpPr>
        <p:spPr>
          <a:xfrm>
            <a:off x="484505" y="1069975"/>
            <a:ext cx="2684145" cy="297180"/>
          </a:xfrm>
          <a:prstGeom prst="rect">
            <a:avLst/>
          </a:prstGeom>
          <a:noFill/>
        </p:spPr>
        <p:txBody>
          <a:bodyPr wrap="square" lIns="27432" tIns="13716" rIns="27432" bIns="13716" anchor="ctr">
            <a:noAutofit/>
          </a:bodyP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数据构建与场景设定</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358" name="TextBox 12"/>
          <p:cNvSpPr txBox="1"/>
          <p:nvPr/>
        </p:nvSpPr>
        <p:spPr>
          <a:xfrm>
            <a:off x="594360" y="1554480"/>
            <a:ext cx="2519172" cy="219456"/>
          </a:xfrm>
          <a:prstGeom prst="rect">
            <a:avLst/>
          </a:prstGeom>
          <a:noFill/>
        </p:spPr>
        <p:txBody>
          <a:bodyPr wrap="square" lIns="27432" tIns="13716" rIns="27432" bIns="13716" anchor="t">
            <a:spAutoFit/>
          </a:bodyPr>
          <a:lstStyle/>
          <a:p>
            <a:pPr algn="l">
              <a:lnSpc>
                <a:spcPct val="108000"/>
              </a:lnSpc>
            </a:pPr>
            <a:r>
              <a:rPr lang="zh-CN" altLang="en-US" sz="1050" b="0" i="0">
                <a:solidFill>
                  <a:srgbClr val="5A6B76"/>
                </a:solidFill>
                <a:latin typeface="微软雅黑" panose="020B0503020204020204" pitchFamily="34" charset="-122"/>
                <a:ea typeface="微软雅黑" panose="020B0503020204020204" pitchFamily="34" charset="-122"/>
              </a:rPr>
              <a:t>多源数据融合，构建研究基础</a:t>
            </a:r>
            <a:endParaRPr lang="zh-CN" altLang="en-US" sz="1050" b="0" i="0">
              <a:solidFill>
                <a:srgbClr val="5A6B76"/>
              </a:solidFill>
              <a:latin typeface="微软雅黑" panose="020B0503020204020204" pitchFamily="34" charset="-122"/>
              <a:ea typeface="微软雅黑" panose="020B0503020204020204" pitchFamily="34" charset="-122"/>
            </a:endParaRPr>
          </a:p>
        </p:txBody>
      </p:sp>
      <p:sp>
        <p:nvSpPr>
          <p:cNvPr id="359" name="Rounded Rectangle 13"/>
          <p:cNvSpPr/>
          <p:nvPr/>
        </p:nvSpPr>
        <p:spPr>
          <a:xfrm>
            <a:off x="3319272" y="914400"/>
            <a:ext cx="2702052" cy="486460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60" name="Rectangle 14"/>
          <p:cNvSpPr/>
          <p:nvPr/>
        </p:nvSpPr>
        <p:spPr>
          <a:xfrm>
            <a:off x="3337560" y="932688"/>
            <a:ext cx="2665476" cy="56692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361" name="TextBox 16"/>
          <p:cNvSpPr txBox="1"/>
          <p:nvPr/>
        </p:nvSpPr>
        <p:spPr>
          <a:xfrm>
            <a:off x="3319145" y="1069975"/>
            <a:ext cx="2684145" cy="297180"/>
          </a:xfrm>
          <a:prstGeom prst="rect">
            <a:avLst/>
          </a:prstGeom>
          <a:noFill/>
        </p:spPr>
        <p:txBody>
          <a:bodyPr wrap="square" lIns="27432" tIns="13716" rIns="27432" bIns="13716" anchor="ctr">
            <a:noAutofit/>
          </a:bodyP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多过程耦合模型构建</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362" name="TextBox 17"/>
          <p:cNvSpPr txBox="1"/>
          <p:nvPr/>
        </p:nvSpPr>
        <p:spPr>
          <a:xfrm>
            <a:off x="3429000" y="1554480"/>
            <a:ext cx="2519172" cy="219456"/>
          </a:xfrm>
          <a:prstGeom prst="rect">
            <a:avLst/>
          </a:prstGeom>
          <a:noFill/>
        </p:spPr>
        <p:txBody>
          <a:bodyPr wrap="square" lIns="27432" tIns="13716" rIns="27432" bIns="13716" anchor="t">
            <a:spAutoFit/>
          </a:bodyPr>
          <a:lstStyle/>
          <a:p>
            <a:pPr algn="l">
              <a:lnSpc>
                <a:spcPct val="108000"/>
              </a:lnSpc>
            </a:pPr>
            <a:r>
              <a:rPr lang="zh-CN" altLang="en-US" sz="1050" b="0" i="0">
                <a:solidFill>
                  <a:srgbClr val="5A6B76"/>
                </a:solidFill>
                <a:latin typeface="微软雅黑" panose="020B0503020204020204" pitchFamily="34" charset="-122"/>
                <a:ea typeface="微软雅黑" panose="020B0503020204020204" pitchFamily="34" charset="-122"/>
              </a:rPr>
              <a:t>从算力节点到城市水系统的全过程模拟</a:t>
            </a:r>
            <a:endParaRPr lang="zh-CN" altLang="en-US" sz="1050" b="0" i="0">
              <a:solidFill>
                <a:srgbClr val="5A6B76"/>
              </a:solidFill>
              <a:latin typeface="微软雅黑" panose="020B0503020204020204" pitchFamily="34" charset="-122"/>
              <a:ea typeface="微软雅黑" panose="020B0503020204020204" pitchFamily="34" charset="-122"/>
            </a:endParaRPr>
          </a:p>
        </p:txBody>
      </p:sp>
      <p:sp>
        <p:nvSpPr>
          <p:cNvPr id="363" name="Rounded Rectangle 18"/>
          <p:cNvSpPr/>
          <p:nvPr/>
        </p:nvSpPr>
        <p:spPr>
          <a:xfrm>
            <a:off x="6153912" y="914400"/>
            <a:ext cx="2702052" cy="486460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64" name="Rectangle 19"/>
          <p:cNvSpPr/>
          <p:nvPr/>
        </p:nvSpPr>
        <p:spPr>
          <a:xfrm>
            <a:off x="6172200" y="932688"/>
            <a:ext cx="2665476" cy="56692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365" name="TextBox 21"/>
          <p:cNvSpPr txBox="1"/>
          <p:nvPr/>
        </p:nvSpPr>
        <p:spPr>
          <a:xfrm>
            <a:off x="6153785" y="937260"/>
            <a:ext cx="2684145" cy="568325"/>
          </a:xfrm>
          <a:prstGeom prst="rect">
            <a:avLst/>
          </a:prstGeom>
          <a:noFill/>
        </p:spPr>
        <p:txBody>
          <a:bodyPr wrap="square" lIns="27432" tIns="13716" rIns="27432" bIns="13716" anchor="ctr">
            <a:noAutofit/>
          </a:bodyP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情景模拟与敏感性分析</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366" name="TextBox 22"/>
          <p:cNvSpPr txBox="1"/>
          <p:nvPr/>
        </p:nvSpPr>
        <p:spPr>
          <a:xfrm>
            <a:off x="6263640" y="1554480"/>
            <a:ext cx="2519172" cy="219456"/>
          </a:xfrm>
          <a:prstGeom prst="rect">
            <a:avLst/>
          </a:prstGeom>
          <a:noFill/>
        </p:spPr>
        <p:txBody>
          <a:bodyPr wrap="square" lIns="27432" tIns="13716" rIns="27432" bIns="13716" anchor="t">
            <a:spAutoFit/>
          </a:bodyPr>
          <a:lstStyle/>
          <a:p>
            <a:pPr algn="l">
              <a:lnSpc>
                <a:spcPct val="108000"/>
              </a:lnSpc>
            </a:pPr>
            <a:r>
              <a:rPr lang="zh-CN" altLang="en-US" sz="1050" b="0" i="0">
                <a:solidFill>
                  <a:srgbClr val="5A6B76"/>
                </a:solidFill>
                <a:latin typeface="微软雅黑" panose="020B0503020204020204" pitchFamily="34" charset="-122"/>
                <a:ea typeface="微软雅黑" panose="020B0503020204020204" pitchFamily="34" charset="-122"/>
              </a:rPr>
              <a:t>识别关键影响因素与系统响应特征</a:t>
            </a:r>
            <a:endParaRPr lang="zh-CN" altLang="en-US" sz="1050" b="0" i="0">
              <a:solidFill>
                <a:srgbClr val="5A6B76"/>
              </a:solidFill>
              <a:latin typeface="微软雅黑" panose="020B0503020204020204" pitchFamily="34" charset="-122"/>
              <a:ea typeface="微软雅黑" panose="020B0503020204020204" pitchFamily="34" charset="-122"/>
            </a:endParaRPr>
          </a:p>
        </p:txBody>
      </p:sp>
      <p:sp>
        <p:nvSpPr>
          <p:cNvPr id="367" name="Rounded Rectangle 23"/>
          <p:cNvSpPr/>
          <p:nvPr/>
        </p:nvSpPr>
        <p:spPr>
          <a:xfrm>
            <a:off x="8988552" y="914400"/>
            <a:ext cx="2702052" cy="486460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68" name="Rectangle 24"/>
          <p:cNvSpPr/>
          <p:nvPr/>
        </p:nvSpPr>
        <p:spPr>
          <a:xfrm>
            <a:off x="9006840" y="932688"/>
            <a:ext cx="2665476" cy="56692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369" name="TextBox 26"/>
          <p:cNvSpPr txBox="1"/>
          <p:nvPr/>
        </p:nvSpPr>
        <p:spPr>
          <a:xfrm>
            <a:off x="8988425" y="1069975"/>
            <a:ext cx="2684145" cy="297180"/>
          </a:xfrm>
          <a:prstGeom prst="rect">
            <a:avLst/>
          </a:prstGeom>
          <a:noFill/>
        </p:spPr>
        <p:txBody>
          <a:bodyPr wrap="square" lIns="27432" tIns="13716" rIns="27432" bIns="13716" anchor="ctr">
            <a:noAutofit/>
          </a:bodyP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边界求解与方案评估</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370" name="TextBox 27"/>
          <p:cNvSpPr txBox="1"/>
          <p:nvPr/>
        </p:nvSpPr>
        <p:spPr>
          <a:xfrm>
            <a:off x="9098280" y="1554480"/>
            <a:ext cx="2519172" cy="219456"/>
          </a:xfrm>
          <a:prstGeom prst="rect">
            <a:avLst/>
          </a:prstGeom>
          <a:noFill/>
        </p:spPr>
        <p:txBody>
          <a:bodyPr wrap="square" lIns="27432" tIns="13716" rIns="27432" bIns="13716" anchor="t">
            <a:spAutoFit/>
          </a:bodyPr>
          <a:lstStyle/>
          <a:p>
            <a:pPr algn="l">
              <a:lnSpc>
                <a:spcPct val="108000"/>
              </a:lnSpc>
            </a:pPr>
            <a:r>
              <a:rPr lang="zh-CN" altLang="en-US" sz="1050" b="0" i="0">
                <a:solidFill>
                  <a:srgbClr val="5A6B76"/>
                </a:solidFill>
                <a:latin typeface="微软雅黑" panose="020B0503020204020204" pitchFamily="34" charset="-122"/>
                <a:ea typeface="微软雅黑" panose="020B0503020204020204" pitchFamily="34" charset="-122"/>
              </a:rPr>
              <a:t>计算条件化承载边界并提出应对方案</a:t>
            </a:r>
            <a:endParaRPr lang="zh-CN" altLang="en-US" sz="1050" b="0" i="0">
              <a:solidFill>
                <a:srgbClr val="5A6B76"/>
              </a:solidFill>
              <a:latin typeface="微软雅黑" panose="020B0503020204020204" pitchFamily="34" charset="-122"/>
              <a:ea typeface="微软雅黑" panose="020B0503020204020204" pitchFamily="34" charset="-122"/>
            </a:endParaRPr>
          </a:p>
        </p:txBody>
      </p:sp>
      <p:sp>
        <p:nvSpPr>
          <p:cNvPr id="371" name="TextBox 28"/>
          <p:cNvSpPr txBox="1"/>
          <p:nvPr/>
        </p:nvSpPr>
        <p:spPr>
          <a:xfrm>
            <a:off x="594360" y="1810512"/>
            <a:ext cx="2468880" cy="274320"/>
          </a:xfrm>
          <a:prstGeom prst="rect">
            <a:avLst/>
          </a:prstGeom>
          <a:noFill/>
        </p:spPr>
        <p:txBody>
          <a:bodyPr wrap="square" lIns="27432" tIns="13716" rIns="27432" bIns="13716" anchor="t">
            <a:spAutoFit/>
          </a:bodyP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数据来源</a:t>
            </a:r>
            <a:endParaRPr lang="zh-CN" altLang="en-US" sz="1200" b="1" i="0">
              <a:solidFill>
                <a:srgbClr val="005375"/>
              </a:solidFill>
              <a:latin typeface="微软雅黑" panose="020B0503020204020204" pitchFamily="34" charset="-122"/>
              <a:ea typeface="微软雅黑" panose="020B0503020204020204" pitchFamily="34" charset="-122"/>
            </a:endParaRPr>
          </a:p>
        </p:txBody>
      </p:sp>
      <p:cxnSp>
        <p:nvCxnSpPr>
          <p:cNvPr id="372" name="Connector 29"/>
          <p:cNvCxnSpPr/>
          <p:nvPr/>
        </p:nvCxnSpPr>
        <p:spPr>
          <a:xfrm>
            <a:off x="594360" y="2066543"/>
            <a:ext cx="329184"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373" name="Rounded Rectangle 30"/>
          <p:cNvSpPr/>
          <p:nvPr/>
        </p:nvSpPr>
        <p:spPr>
          <a:xfrm>
            <a:off x="594360" y="2103120"/>
            <a:ext cx="2478024" cy="457200"/>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74" name="TextBox 31"/>
          <p:cNvSpPr txBox="1"/>
          <p:nvPr/>
        </p:nvSpPr>
        <p:spPr>
          <a:xfrm>
            <a:off x="667512" y="2121408"/>
            <a:ext cx="2340864" cy="219456"/>
          </a:xfrm>
          <a:prstGeom prst="rect">
            <a:avLst/>
          </a:prstGeom>
          <a:noFill/>
        </p:spPr>
        <p:txBody>
          <a:bodyPr wrap="square" lIns="27432" tIns="13716" rIns="27432" bIns="13716" anchor="t">
            <a:spAutoFit/>
          </a:bodyPr>
          <a:lstStyle/>
          <a:p>
            <a:pPr algn="l">
              <a:lnSpc>
                <a:spcPct val="108000"/>
              </a:lnSpc>
            </a:pPr>
            <a:r>
              <a:rPr lang="zh-CN" altLang="en-US" sz="1150" b="1" i="0">
                <a:solidFill>
                  <a:srgbClr val="1F2A33"/>
                </a:solidFill>
                <a:latin typeface="微软雅黑" panose="020B0503020204020204" pitchFamily="34" charset="-122"/>
                <a:ea typeface="微软雅黑" panose="020B0503020204020204" pitchFamily="34" charset="-122"/>
              </a:rPr>
              <a:t>算力与数据中心数据</a:t>
            </a:r>
            <a:endParaRPr lang="zh-CN" altLang="en-US" sz="1150" b="1" i="0">
              <a:solidFill>
                <a:srgbClr val="1F2A33"/>
              </a:solidFill>
              <a:latin typeface="微软雅黑" panose="020B0503020204020204" pitchFamily="34" charset="-122"/>
              <a:ea typeface="微软雅黑" panose="020B0503020204020204" pitchFamily="34" charset="-122"/>
            </a:endParaRPr>
          </a:p>
        </p:txBody>
      </p:sp>
      <p:sp>
        <p:nvSpPr>
          <p:cNvPr id="375" name="TextBox 32"/>
          <p:cNvSpPr txBox="1"/>
          <p:nvPr/>
        </p:nvSpPr>
        <p:spPr>
          <a:xfrm>
            <a:off x="667512" y="2322576"/>
            <a:ext cx="2340864" cy="219456"/>
          </a:xfrm>
          <a:prstGeom prst="rect">
            <a:avLst/>
          </a:prstGeom>
          <a:noFill/>
        </p:spPr>
        <p:txBody>
          <a:bodyPr wrap="square" lIns="27432" tIns="13716" rIns="27432" bIns="13716" anchor="t">
            <a:spAutoFit/>
          </a:bodyPr>
          <a:lstStyle/>
          <a:p>
            <a:pPr algn="l">
              <a:lnSpc>
                <a:spcPct val="108000"/>
              </a:lnSpc>
            </a:pPr>
            <a:r>
              <a:rPr lang="zh-CN" altLang="en-US" sz="1050" b="0" i="0">
                <a:solidFill>
                  <a:srgbClr val="5A6B76"/>
                </a:solidFill>
                <a:latin typeface="微软雅黑" panose="020B0503020204020204" pitchFamily="34" charset="-122"/>
                <a:ea typeface="微软雅黑" panose="020B0503020204020204" pitchFamily="34" charset="-122"/>
              </a:rPr>
              <a:t>IT负载、功率、PUE、冷却方式</a:t>
            </a:r>
            <a:endParaRPr lang="zh-CN" altLang="en-US" sz="1050" b="0" i="0">
              <a:solidFill>
                <a:srgbClr val="5A6B76"/>
              </a:solidFill>
              <a:latin typeface="微软雅黑" panose="020B0503020204020204" pitchFamily="34" charset="-122"/>
              <a:ea typeface="微软雅黑" panose="020B0503020204020204" pitchFamily="34" charset="-122"/>
            </a:endParaRPr>
          </a:p>
        </p:txBody>
      </p:sp>
      <p:sp>
        <p:nvSpPr>
          <p:cNvPr id="376" name="Rounded Rectangle 33"/>
          <p:cNvSpPr/>
          <p:nvPr/>
        </p:nvSpPr>
        <p:spPr>
          <a:xfrm>
            <a:off x="594360" y="2578608"/>
            <a:ext cx="2478024" cy="457200"/>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77" name="TextBox 34"/>
          <p:cNvSpPr txBox="1"/>
          <p:nvPr/>
        </p:nvSpPr>
        <p:spPr>
          <a:xfrm>
            <a:off x="667512" y="2596896"/>
            <a:ext cx="2340864" cy="219456"/>
          </a:xfrm>
          <a:prstGeom prst="rect">
            <a:avLst/>
          </a:prstGeom>
          <a:noFill/>
        </p:spPr>
        <p:txBody>
          <a:bodyPr wrap="square" lIns="27432" tIns="13716" rIns="27432" bIns="13716" anchor="t">
            <a:spAutoFit/>
          </a:bodyPr>
          <a:lstStyle/>
          <a:p>
            <a:pPr algn="l">
              <a:lnSpc>
                <a:spcPct val="108000"/>
              </a:lnSpc>
            </a:pPr>
            <a:r>
              <a:rPr lang="zh-CN" altLang="en-US" sz="1150" b="1" i="0">
                <a:solidFill>
                  <a:srgbClr val="1F2A33"/>
                </a:solidFill>
                <a:latin typeface="微软雅黑" panose="020B0503020204020204" pitchFamily="34" charset="-122"/>
                <a:ea typeface="微软雅黑" panose="020B0503020204020204" pitchFamily="34" charset="-122"/>
              </a:rPr>
              <a:t>城市水系统数据</a:t>
            </a:r>
            <a:endParaRPr lang="zh-CN" altLang="en-US" sz="1150" b="1" i="0">
              <a:solidFill>
                <a:srgbClr val="1F2A33"/>
              </a:solidFill>
              <a:latin typeface="微软雅黑" panose="020B0503020204020204" pitchFamily="34" charset="-122"/>
              <a:ea typeface="微软雅黑" panose="020B0503020204020204" pitchFamily="34" charset="-122"/>
            </a:endParaRPr>
          </a:p>
        </p:txBody>
      </p:sp>
      <p:sp>
        <p:nvSpPr>
          <p:cNvPr id="378" name="TextBox 35"/>
          <p:cNvSpPr txBox="1"/>
          <p:nvPr/>
        </p:nvSpPr>
        <p:spPr>
          <a:xfrm>
            <a:off x="667512" y="2798063"/>
            <a:ext cx="2340864" cy="219456"/>
          </a:xfrm>
          <a:prstGeom prst="rect">
            <a:avLst/>
          </a:prstGeom>
          <a:noFill/>
        </p:spPr>
        <p:txBody>
          <a:bodyPr wrap="square" lIns="27432" tIns="13716" rIns="27432" bIns="13716" anchor="t">
            <a:spAutoFit/>
          </a:bodyPr>
          <a:lstStyle/>
          <a:p>
            <a:pPr algn="l">
              <a:lnSpc>
                <a:spcPct val="108000"/>
              </a:lnSpc>
            </a:pPr>
            <a:r>
              <a:rPr lang="zh-CN" altLang="en-US" sz="1050" b="0" i="0">
                <a:solidFill>
                  <a:srgbClr val="5A6B76"/>
                </a:solidFill>
                <a:latin typeface="微软雅黑" panose="020B0503020204020204" pitchFamily="34" charset="-122"/>
                <a:ea typeface="微软雅黑" panose="020B0503020204020204" pitchFamily="34" charset="-122"/>
              </a:rPr>
              <a:t>供水、再生水、污水、管网、用水结构</a:t>
            </a:r>
            <a:endParaRPr lang="zh-CN" altLang="en-US" sz="1050" b="0" i="0">
              <a:solidFill>
                <a:srgbClr val="5A6B76"/>
              </a:solidFill>
              <a:latin typeface="微软雅黑" panose="020B0503020204020204" pitchFamily="34" charset="-122"/>
              <a:ea typeface="微软雅黑" panose="020B0503020204020204" pitchFamily="34" charset="-122"/>
            </a:endParaRPr>
          </a:p>
        </p:txBody>
      </p:sp>
      <p:sp>
        <p:nvSpPr>
          <p:cNvPr id="379" name="Rounded Rectangle 36"/>
          <p:cNvSpPr/>
          <p:nvPr/>
        </p:nvSpPr>
        <p:spPr>
          <a:xfrm>
            <a:off x="594360" y="3054096"/>
            <a:ext cx="2478024" cy="457200"/>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80" name="TextBox 37"/>
          <p:cNvSpPr txBox="1"/>
          <p:nvPr/>
        </p:nvSpPr>
        <p:spPr>
          <a:xfrm>
            <a:off x="667512" y="3072384"/>
            <a:ext cx="2340864" cy="219456"/>
          </a:xfrm>
          <a:prstGeom prst="rect">
            <a:avLst/>
          </a:prstGeom>
          <a:noFill/>
        </p:spPr>
        <p:txBody>
          <a:bodyPr wrap="square" lIns="27432" tIns="13716" rIns="27432" bIns="13716" anchor="t">
            <a:spAutoFit/>
          </a:bodyPr>
          <a:lstStyle/>
          <a:p>
            <a:pPr algn="l">
              <a:lnSpc>
                <a:spcPct val="108000"/>
              </a:lnSpc>
            </a:pPr>
            <a:r>
              <a:rPr lang="zh-CN" altLang="en-US" sz="1150" b="1" i="0">
                <a:solidFill>
                  <a:srgbClr val="1F2A33"/>
                </a:solidFill>
                <a:latin typeface="微软雅黑" panose="020B0503020204020204" pitchFamily="34" charset="-122"/>
                <a:ea typeface="微软雅黑" panose="020B0503020204020204" pitchFamily="34" charset="-122"/>
              </a:rPr>
              <a:t>气象与环境数据</a:t>
            </a:r>
            <a:endParaRPr lang="zh-CN" altLang="en-US" sz="1150" b="1" i="0">
              <a:solidFill>
                <a:srgbClr val="1F2A33"/>
              </a:solidFill>
              <a:latin typeface="微软雅黑" panose="020B0503020204020204" pitchFamily="34" charset="-122"/>
              <a:ea typeface="微软雅黑" panose="020B0503020204020204" pitchFamily="34" charset="-122"/>
            </a:endParaRPr>
          </a:p>
        </p:txBody>
      </p:sp>
      <p:sp>
        <p:nvSpPr>
          <p:cNvPr id="381" name="TextBox 38"/>
          <p:cNvSpPr txBox="1"/>
          <p:nvPr/>
        </p:nvSpPr>
        <p:spPr>
          <a:xfrm>
            <a:off x="667512" y="3273552"/>
            <a:ext cx="2340864" cy="219456"/>
          </a:xfrm>
          <a:prstGeom prst="rect">
            <a:avLst/>
          </a:prstGeom>
          <a:noFill/>
        </p:spPr>
        <p:txBody>
          <a:bodyPr wrap="square" lIns="27432" tIns="13716" rIns="27432" bIns="13716" anchor="t">
            <a:spAutoFit/>
          </a:bodyPr>
          <a:lstStyle/>
          <a:p>
            <a:pPr algn="l">
              <a:lnSpc>
                <a:spcPct val="108000"/>
              </a:lnSpc>
            </a:pPr>
            <a:r>
              <a:rPr lang="zh-CN" altLang="en-US" sz="1050" b="0" i="0">
                <a:solidFill>
                  <a:srgbClr val="5A6B76"/>
                </a:solidFill>
                <a:latin typeface="微软雅黑" panose="020B0503020204020204" pitchFamily="34" charset="-122"/>
                <a:ea typeface="微软雅黑" panose="020B0503020204020204" pitchFamily="34" charset="-122"/>
              </a:rPr>
              <a:t>气温、湿度、降水、来水</a:t>
            </a:r>
            <a:endParaRPr lang="zh-CN" altLang="en-US" sz="1050" b="0" i="0">
              <a:solidFill>
                <a:srgbClr val="5A6B76"/>
              </a:solidFill>
              <a:latin typeface="微软雅黑" panose="020B0503020204020204" pitchFamily="34" charset="-122"/>
              <a:ea typeface="微软雅黑" panose="020B0503020204020204" pitchFamily="34" charset="-122"/>
            </a:endParaRPr>
          </a:p>
        </p:txBody>
      </p:sp>
      <p:sp>
        <p:nvSpPr>
          <p:cNvPr id="382" name="Rounded Rectangle 39"/>
          <p:cNvSpPr/>
          <p:nvPr/>
        </p:nvSpPr>
        <p:spPr>
          <a:xfrm>
            <a:off x="594360" y="3529584"/>
            <a:ext cx="2478024" cy="457200"/>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83" name="TextBox 40"/>
          <p:cNvSpPr txBox="1"/>
          <p:nvPr/>
        </p:nvSpPr>
        <p:spPr>
          <a:xfrm>
            <a:off x="667512" y="3547872"/>
            <a:ext cx="2340864" cy="219456"/>
          </a:xfrm>
          <a:prstGeom prst="rect">
            <a:avLst/>
          </a:prstGeom>
          <a:noFill/>
        </p:spPr>
        <p:txBody>
          <a:bodyPr wrap="square" lIns="27432" tIns="13716" rIns="27432" bIns="13716" anchor="t">
            <a:spAutoFit/>
          </a:bodyPr>
          <a:lstStyle/>
          <a:p>
            <a:pPr algn="l">
              <a:lnSpc>
                <a:spcPct val="108000"/>
              </a:lnSpc>
            </a:pPr>
            <a:r>
              <a:rPr lang="zh-CN" altLang="en-US" sz="1150" b="1" i="0">
                <a:solidFill>
                  <a:srgbClr val="1F2A33"/>
                </a:solidFill>
                <a:latin typeface="微软雅黑" panose="020B0503020204020204" pitchFamily="34" charset="-122"/>
                <a:ea typeface="微软雅黑" panose="020B0503020204020204" pitchFamily="34" charset="-122"/>
              </a:rPr>
              <a:t>规划与运行数据</a:t>
            </a:r>
            <a:endParaRPr lang="zh-CN" altLang="en-US" sz="1150" b="1" i="0">
              <a:solidFill>
                <a:srgbClr val="1F2A33"/>
              </a:solidFill>
              <a:latin typeface="微软雅黑" panose="020B0503020204020204" pitchFamily="34" charset="-122"/>
              <a:ea typeface="微软雅黑" panose="020B0503020204020204" pitchFamily="34" charset="-122"/>
            </a:endParaRPr>
          </a:p>
        </p:txBody>
      </p:sp>
      <p:sp>
        <p:nvSpPr>
          <p:cNvPr id="384" name="TextBox 41"/>
          <p:cNvSpPr txBox="1"/>
          <p:nvPr/>
        </p:nvSpPr>
        <p:spPr>
          <a:xfrm>
            <a:off x="667512" y="3749039"/>
            <a:ext cx="2340864" cy="219456"/>
          </a:xfrm>
          <a:prstGeom prst="rect">
            <a:avLst/>
          </a:prstGeom>
          <a:noFill/>
        </p:spPr>
        <p:txBody>
          <a:bodyPr wrap="square" lIns="27432" tIns="13716" rIns="27432" bIns="13716" anchor="t">
            <a:spAutoFit/>
          </a:bodyPr>
          <a:lstStyle/>
          <a:p>
            <a:pPr algn="l">
              <a:lnSpc>
                <a:spcPct val="108000"/>
              </a:lnSpc>
            </a:pPr>
            <a:r>
              <a:rPr lang="zh-CN" altLang="en-US" sz="1050" b="0" i="0">
                <a:solidFill>
                  <a:srgbClr val="5A6B76"/>
                </a:solidFill>
                <a:latin typeface="微软雅黑" panose="020B0503020204020204" pitchFamily="34" charset="-122"/>
                <a:ea typeface="微软雅黑" panose="020B0503020204020204" pitchFamily="34" charset="-122"/>
              </a:rPr>
              <a:t>区域规划、运行策略、约束条件</a:t>
            </a:r>
            <a:endParaRPr lang="zh-CN" altLang="en-US" sz="1050" b="0" i="0">
              <a:solidFill>
                <a:srgbClr val="5A6B76"/>
              </a:solidFill>
              <a:latin typeface="微软雅黑" panose="020B0503020204020204" pitchFamily="34" charset="-122"/>
              <a:ea typeface="微软雅黑" panose="020B0503020204020204" pitchFamily="34" charset="-122"/>
            </a:endParaRPr>
          </a:p>
        </p:txBody>
      </p:sp>
      <p:sp>
        <p:nvSpPr>
          <p:cNvPr id="385" name="TextBox 42"/>
          <p:cNvSpPr txBox="1"/>
          <p:nvPr/>
        </p:nvSpPr>
        <p:spPr>
          <a:xfrm>
            <a:off x="594360" y="4023359"/>
            <a:ext cx="2468880" cy="274320"/>
          </a:xfrm>
          <a:prstGeom prst="rect">
            <a:avLst/>
          </a:prstGeom>
          <a:noFill/>
        </p:spPr>
        <p:txBody>
          <a:bodyPr wrap="square" lIns="27432" tIns="13716" rIns="27432" bIns="13716" anchor="t">
            <a:spAutoFit/>
          </a:bodyP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情景设定</a:t>
            </a:r>
            <a:endParaRPr lang="zh-CN" altLang="en-US" sz="1200" b="1" i="0">
              <a:solidFill>
                <a:srgbClr val="005375"/>
              </a:solidFill>
              <a:latin typeface="微软雅黑" panose="020B0503020204020204" pitchFamily="34" charset="-122"/>
              <a:ea typeface="微软雅黑" panose="020B0503020204020204" pitchFamily="34" charset="-122"/>
            </a:endParaRPr>
          </a:p>
        </p:txBody>
      </p:sp>
      <p:cxnSp>
        <p:nvCxnSpPr>
          <p:cNvPr id="386" name="Connector 43"/>
          <p:cNvCxnSpPr/>
          <p:nvPr/>
        </p:nvCxnSpPr>
        <p:spPr>
          <a:xfrm>
            <a:off x="594360" y="4279392"/>
            <a:ext cx="329184"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387" name="TextBox 44"/>
          <p:cNvSpPr txBox="1"/>
          <p:nvPr/>
        </p:nvSpPr>
        <p:spPr>
          <a:xfrm>
            <a:off x="594360" y="4297680"/>
            <a:ext cx="2478024" cy="347472"/>
          </a:xfrm>
          <a:prstGeom prst="rect">
            <a:avLst/>
          </a:prstGeom>
          <a:noFill/>
        </p:spPr>
        <p:txBody>
          <a:bodyPr wrap="square" lIns="27432" tIns="13716" rIns="27432" bIns="13716" anchor="t">
            <a:spAutoFit/>
          </a:bodyPr>
          <a:lstStyle/>
          <a:p>
            <a:pPr algn="l">
              <a:lnSpc>
                <a:spcPct val="100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水源结构情景（再生水比例、外调水等）</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388" name="TextBox 45"/>
          <p:cNvSpPr txBox="1"/>
          <p:nvPr/>
        </p:nvSpPr>
        <p:spPr>
          <a:xfrm>
            <a:off x="594360" y="4645152"/>
            <a:ext cx="2478024" cy="347472"/>
          </a:xfrm>
          <a:prstGeom prst="rect">
            <a:avLst/>
          </a:prstGeom>
          <a:noFill/>
        </p:spPr>
        <p:txBody>
          <a:bodyPr wrap="square" lIns="27432" tIns="13716" rIns="27432" bIns="13716" anchor="t">
            <a:spAutoFit/>
          </a:bodyPr>
          <a:lstStyle/>
          <a:p>
            <a:pPr algn="l">
              <a:lnSpc>
                <a:spcPct val="100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气候与季节情景（平年、极枯年）</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389" name="TextBox 46"/>
          <p:cNvSpPr txBox="1"/>
          <p:nvPr/>
        </p:nvSpPr>
        <p:spPr>
          <a:xfrm>
            <a:off x="594360" y="4992624"/>
            <a:ext cx="2478024" cy="347472"/>
          </a:xfrm>
          <a:prstGeom prst="rect">
            <a:avLst/>
          </a:prstGeom>
          <a:noFill/>
        </p:spPr>
        <p:txBody>
          <a:bodyPr wrap="square" lIns="27432" tIns="13716" rIns="27432" bIns="13716" anchor="t">
            <a:spAutoFit/>
          </a:bodyPr>
          <a:lstStyle/>
          <a:p>
            <a:pPr algn="l">
              <a:lnSpc>
                <a:spcPct val="100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技术情景（冷却方式、PUE、浓缩倍数）</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390" name="TextBox 47"/>
          <p:cNvSpPr txBox="1"/>
          <p:nvPr/>
        </p:nvSpPr>
        <p:spPr>
          <a:xfrm>
            <a:off x="594360" y="5340096"/>
            <a:ext cx="2478024" cy="347472"/>
          </a:xfrm>
          <a:prstGeom prst="rect">
            <a:avLst/>
          </a:prstGeom>
          <a:noFill/>
        </p:spPr>
        <p:txBody>
          <a:bodyPr wrap="square" lIns="27432" tIns="13716" rIns="27432" bIns="13716" anchor="t">
            <a:spAutoFit/>
          </a:bodyPr>
          <a:lstStyle/>
          <a:p>
            <a:pPr algn="l">
              <a:lnSpc>
                <a:spcPct val="100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运行策略情景（调度、耗水、回用率）</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391" name="Rounded Rectangle 48"/>
          <p:cNvSpPr/>
          <p:nvPr/>
        </p:nvSpPr>
        <p:spPr>
          <a:xfrm>
            <a:off x="3429000" y="1810512"/>
            <a:ext cx="2478024" cy="658368"/>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92" name="TextBox 49"/>
          <p:cNvSpPr txBox="1"/>
          <p:nvPr/>
        </p:nvSpPr>
        <p:spPr>
          <a:xfrm>
            <a:off x="3520440" y="1847088"/>
            <a:ext cx="2304288" cy="237744"/>
          </a:xfrm>
          <a:prstGeom prst="rect">
            <a:avLst/>
          </a:prstGeom>
          <a:noFill/>
        </p:spPr>
        <p:txBody>
          <a:bodyPr wrap="square" lIns="27432" tIns="13716" rIns="27432" bIns="13716" anchor="t">
            <a:spAutoFit/>
          </a:bodyPr>
          <a:lstStyle/>
          <a:p>
            <a:pPr algn="l">
              <a:lnSpc>
                <a:spcPct val="108000"/>
              </a:lnSpc>
            </a:pPr>
            <a:r>
              <a:rPr lang="zh-CN" altLang="en-US" sz="1150" b="1" i="0">
                <a:solidFill>
                  <a:srgbClr val="1F2A33"/>
                </a:solidFill>
                <a:latin typeface="微软雅黑" panose="020B0503020204020204" pitchFamily="34" charset="-122"/>
                <a:ea typeface="微软雅黑" panose="020B0503020204020204" pitchFamily="34" charset="-122"/>
              </a:rPr>
              <a:t>算力负荷模块</a:t>
            </a:r>
            <a:endParaRPr lang="zh-CN" altLang="en-US" sz="1150" b="1" i="0">
              <a:solidFill>
                <a:srgbClr val="1F2A33"/>
              </a:solidFill>
              <a:latin typeface="微软雅黑" panose="020B0503020204020204" pitchFamily="34" charset="-122"/>
              <a:ea typeface="微软雅黑" panose="020B0503020204020204" pitchFamily="34" charset="-122"/>
            </a:endParaRPr>
          </a:p>
        </p:txBody>
      </p:sp>
      <p:sp>
        <p:nvSpPr>
          <p:cNvPr id="393" name="TextBox 50"/>
          <p:cNvSpPr txBox="1"/>
          <p:nvPr/>
        </p:nvSpPr>
        <p:spPr>
          <a:xfrm>
            <a:off x="3520440" y="2084831"/>
            <a:ext cx="2304288" cy="365760"/>
          </a:xfrm>
          <a:prstGeom prst="rect">
            <a:avLst/>
          </a:prstGeom>
          <a:noFill/>
        </p:spPr>
        <p:txBody>
          <a:bodyPr wrap="square" lIns="27432" tIns="13716" rIns="27432" bIns="13716" anchor="t">
            <a:spAutoFit/>
          </a:bodyPr>
          <a:lstStyle/>
          <a:p>
            <a:pPr algn="l">
              <a:lnSpc>
                <a:spcPct val="105000"/>
              </a:lnSpc>
            </a:pPr>
            <a:r>
              <a:rPr lang="zh-CN" altLang="en-US" sz="1150" b="0" i="0">
                <a:solidFill>
                  <a:srgbClr val="5A6B76"/>
                </a:solidFill>
                <a:latin typeface="微软雅黑" panose="020B0503020204020204" pitchFamily="34" charset="-122"/>
                <a:ea typeface="微软雅黑" panose="020B0503020204020204" pitchFamily="34" charset="-122"/>
              </a:rPr>
              <a:t>IT负载、功率、热负荷、PUE、冷却水</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394" name="Down Arrow 51"/>
          <p:cNvSpPr/>
          <p:nvPr/>
        </p:nvSpPr>
        <p:spPr>
          <a:xfrm>
            <a:off x="4617720" y="2455164"/>
            <a:ext cx="109728" cy="91440"/>
          </a:xfrm>
          <a:prstGeom prst="down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95" name="Rounded Rectangle 52"/>
          <p:cNvSpPr/>
          <p:nvPr/>
        </p:nvSpPr>
        <p:spPr>
          <a:xfrm>
            <a:off x="3429000" y="2505456"/>
            <a:ext cx="2478024" cy="658368"/>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96" name="TextBox 53"/>
          <p:cNvSpPr txBox="1"/>
          <p:nvPr/>
        </p:nvSpPr>
        <p:spPr>
          <a:xfrm>
            <a:off x="3520440" y="2542032"/>
            <a:ext cx="2304288" cy="237744"/>
          </a:xfrm>
          <a:prstGeom prst="rect">
            <a:avLst/>
          </a:prstGeom>
          <a:noFill/>
        </p:spPr>
        <p:txBody>
          <a:bodyPr wrap="square" lIns="27432" tIns="13716" rIns="27432" bIns="13716" anchor="t">
            <a:spAutoFit/>
          </a:bodyPr>
          <a:lstStyle/>
          <a:p>
            <a:pPr algn="l">
              <a:lnSpc>
                <a:spcPct val="108000"/>
              </a:lnSpc>
            </a:pPr>
            <a:r>
              <a:rPr lang="zh-CN" altLang="en-US" sz="1150" b="1" i="0">
                <a:solidFill>
                  <a:srgbClr val="1F2A33"/>
                </a:solidFill>
                <a:latin typeface="微软雅黑" panose="020B0503020204020204" pitchFamily="34" charset="-122"/>
                <a:ea typeface="微软雅黑" panose="020B0503020204020204" pitchFamily="34" charset="-122"/>
              </a:rPr>
              <a:t>冷却与用水模块</a:t>
            </a:r>
            <a:endParaRPr lang="zh-CN" altLang="en-US" sz="1150" b="1" i="0">
              <a:solidFill>
                <a:srgbClr val="1F2A33"/>
              </a:solidFill>
              <a:latin typeface="微软雅黑" panose="020B0503020204020204" pitchFamily="34" charset="-122"/>
              <a:ea typeface="微软雅黑" panose="020B0503020204020204" pitchFamily="34" charset="-122"/>
            </a:endParaRPr>
          </a:p>
        </p:txBody>
      </p:sp>
      <p:sp>
        <p:nvSpPr>
          <p:cNvPr id="397" name="TextBox 54"/>
          <p:cNvSpPr txBox="1"/>
          <p:nvPr/>
        </p:nvSpPr>
        <p:spPr>
          <a:xfrm>
            <a:off x="3520440" y="2779776"/>
            <a:ext cx="2304288" cy="365760"/>
          </a:xfrm>
          <a:prstGeom prst="rect">
            <a:avLst/>
          </a:prstGeom>
          <a:noFill/>
        </p:spPr>
        <p:txBody>
          <a:bodyPr wrap="square" lIns="27432" tIns="13716" rIns="27432" bIns="13716" anchor="t">
            <a:spAutoFit/>
          </a:bodyPr>
          <a:lstStyle/>
          <a:p>
            <a:pPr algn="l">
              <a:lnSpc>
                <a:spcPct val="105000"/>
              </a:lnSpc>
            </a:pPr>
            <a:r>
              <a:rPr lang="zh-CN" altLang="en-US" sz="1150" b="0" i="0">
                <a:solidFill>
                  <a:srgbClr val="5A6B76"/>
                </a:solidFill>
                <a:latin typeface="微软雅黑" panose="020B0503020204020204" pitchFamily="34" charset="-122"/>
                <a:ea typeface="微软雅黑" panose="020B0503020204020204" pitchFamily="34" charset="-122"/>
              </a:rPr>
              <a:t>冷却方式、温升温差、蒸发损失、排水水质</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398" name="Down Arrow 55"/>
          <p:cNvSpPr/>
          <p:nvPr/>
        </p:nvSpPr>
        <p:spPr>
          <a:xfrm>
            <a:off x="4617720" y="3150108"/>
            <a:ext cx="109728" cy="91440"/>
          </a:xfrm>
          <a:prstGeom prst="down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399" name="Rounded Rectangle 56"/>
          <p:cNvSpPr/>
          <p:nvPr/>
        </p:nvSpPr>
        <p:spPr>
          <a:xfrm>
            <a:off x="3429000" y="3200400"/>
            <a:ext cx="2478024" cy="658368"/>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00" name="TextBox 57"/>
          <p:cNvSpPr txBox="1"/>
          <p:nvPr/>
        </p:nvSpPr>
        <p:spPr>
          <a:xfrm>
            <a:off x="3520440" y="3236976"/>
            <a:ext cx="2304288" cy="237744"/>
          </a:xfrm>
          <a:prstGeom prst="rect">
            <a:avLst/>
          </a:prstGeom>
          <a:noFill/>
        </p:spPr>
        <p:txBody>
          <a:bodyPr wrap="square" lIns="27432" tIns="13716" rIns="27432" bIns="13716" anchor="t">
            <a:spAutoFit/>
          </a:bodyPr>
          <a:lstStyle/>
          <a:p>
            <a:pPr algn="l">
              <a:lnSpc>
                <a:spcPct val="108000"/>
              </a:lnSpc>
            </a:pPr>
            <a:r>
              <a:rPr lang="zh-CN" altLang="en-US" sz="1150" b="1" i="0">
                <a:solidFill>
                  <a:srgbClr val="1F2A33"/>
                </a:solidFill>
                <a:latin typeface="微软雅黑" panose="020B0503020204020204" pitchFamily="34" charset="-122"/>
                <a:ea typeface="微软雅黑" panose="020B0503020204020204" pitchFamily="34" charset="-122"/>
              </a:rPr>
              <a:t>城市水系统模块</a:t>
            </a:r>
            <a:endParaRPr lang="zh-CN" altLang="en-US" sz="1150" b="1" i="0">
              <a:solidFill>
                <a:srgbClr val="1F2A33"/>
              </a:solidFill>
              <a:latin typeface="微软雅黑" panose="020B0503020204020204" pitchFamily="34" charset="-122"/>
              <a:ea typeface="微软雅黑" panose="020B0503020204020204" pitchFamily="34" charset="-122"/>
            </a:endParaRPr>
          </a:p>
        </p:txBody>
      </p:sp>
      <p:sp>
        <p:nvSpPr>
          <p:cNvPr id="401" name="TextBox 58"/>
          <p:cNvSpPr txBox="1"/>
          <p:nvPr/>
        </p:nvSpPr>
        <p:spPr>
          <a:xfrm>
            <a:off x="3520440" y="3474720"/>
            <a:ext cx="2304288" cy="365760"/>
          </a:xfrm>
          <a:prstGeom prst="rect">
            <a:avLst/>
          </a:prstGeom>
          <a:noFill/>
        </p:spPr>
        <p:txBody>
          <a:bodyPr wrap="square" lIns="27432" tIns="13716" rIns="27432" bIns="13716" anchor="t">
            <a:spAutoFit/>
          </a:bodyPr>
          <a:lstStyle/>
          <a:p>
            <a:pPr algn="l">
              <a:lnSpc>
                <a:spcPct val="105000"/>
              </a:lnSpc>
            </a:pPr>
            <a:r>
              <a:rPr lang="zh-CN" altLang="en-US" sz="1150" b="0" i="0">
                <a:solidFill>
                  <a:srgbClr val="5A6B76"/>
                </a:solidFill>
                <a:latin typeface="微软雅黑" panose="020B0503020204020204" pitchFamily="34" charset="-122"/>
                <a:ea typeface="微软雅黑" panose="020B0503020204020204" pitchFamily="34" charset="-122"/>
              </a:rPr>
              <a:t>供水 → 用户 / AI → 污水 → 再生回用 / 排放</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402" name="Down Arrow 59"/>
          <p:cNvSpPr/>
          <p:nvPr/>
        </p:nvSpPr>
        <p:spPr>
          <a:xfrm>
            <a:off x="4617720" y="3845052"/>
            <a:ext cx="109728" cy="91440"/>
          </a:xfrm>
          <a:prstGeom prst="down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03" name="Rounded Rectangle 60"/>
          <p:cNvSpPr/>
          <p:nvPr/>
        </p:nvSpPr>
        <p:spPr>
          <a:xfrm>
            <a:off x="3429000" y="3895344"/>
            <a:ext cx="2478024" cy="658368"/>
          </a:xfrm>
          <a:prstGeom prst="roundRect">
            <a:avLst>
              <a:gd name="adj" fmla="val 100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04" name="TextBox 61"/>
          <p:cNvSpPr txBox="1"/>
          <p:nvPr/>
        </p:nvSpPr>
        <p:spPr>
          <a:xfrm>
            <a:off x="3520440" y="3931920"/>
            <a:ext cx="2304288" cy="237744"/>
          </a:xfrm>
          <a:prstGeom prst="rect">
            <a:avLst/>
          </a:prstGeom>
          <a:noFill/>
        </p:spPr>
        <p:txBody>
          <a:bodyPr wrap="square" lIns="27432" tIns="13716" rIns="27432" bIns="13716" anchor="t">
            <a:spAutoFit/>
          </a:bodyPr>
          <a:lstStyle/>
          <a:p>
            <a:pPr algn="l">
              <a:lnSpc>
                <a:spcPct val="108000"/>
              </a:lnSpc>
            </a:pPr>
            <a:r>
              <a:rPr lang="zh-CN" altLang="en-US" sz="1150" b="1" i="0">
                <a:solidFill>
                  <a:srgbClr val="1F2A33"/>
                </a:solidFill>
                <a:latin typeface="微软雅黑" panose="020B0503020204020204" pitchFamily="34" charset="-122"/>
                <a:ea typeface="微软雅黑" panose="020B0503020204020204" pitchFamily="34" charset="-122"/>
              </a:rPr>
              <a:t>约束与调度模块</a:t>
            </a:r>
            <a:endParaRPr lang="zh-CN" altLang="en-US" sz="1150" b="1" i="0">
              <a:solidFill>
                <a:srgbClr val="1F2A33"/>
              </a:solidFill>
              <a:latin typeface="微软雅黑" panose="020B0503020204020204" pitchFamily="34" charset="-122"/>
              <a:ea typeface="微软雅黑" panose="020B0503020204020204" pitchFamily="34" charset="-122"/>
            </a:endParaRPr>
          </a:p>
        </p:txBody>
      </p:sp>
      <p:sp>
        <p:nvSpPr>
          <p:cNvPr id="405" name="TextBox 62"/>
          <p:cNvSpPr txBox="1"/>
          <p:nvPr/>
        </p:nvSpPr>
        <p:spPr>
          <a:xfrm>
            <a:off x="3520440" y="4169663"/>
            <a:ext cx="2304288" cy="365760"/>
          </a:xfrm>
          <a:prstGeom prst="rect">
            <a:avLst/>
          </a:prstGeom>
          <a:noFill/>
        </p:spPr>
        <p:txBody>
          <a:bodyPr wrap="square" lIns="27432" tIns="13716" rIns="27432" bIns="13716" anchor="t">
            <a:spAutoFit/>
          </a:bodyPr>
          <a:lstStyle/>
          <a:p>
            <a:pPr algn="l">
              <a:lnSpc>
                <a:spcPct val="105000"/>
              </a:lnSpc>
            </a:pPr>
            <a:r>
              <a:rPr lang="zh-CN" altLang="en-US" sz="1150" b="0" i="0">
                <a:solidFill>
                  <a:srgbClr val="5A6B76"/>
                </a:solidFill>
                <a:latin typeface="微软雅黑" panose="020B0503020204020204" pitchFamily="34" charset="-122"/>
                <a:ea typeface="微软雅黑" panose="020B0503020204020204" pitchFamily="34" charset="-122"/>
              </a:rPr>
              <a:t>水源约束、设施能力、运行策略、时序调度</a:t>
            </a:r>
            <a:endParaRPr lang="zh-CN" altLang="en-US" sz="1150" b="0" i="0">
              <a:solidFill>
                <a:srgbClr val="5A6B76"/>
              </a:solidFill>
              <a:latin typeface="微软雅黑" panose="020B0503020204020204" pitchFamily="34" charset="-122"/>
              <a:ea typeface="微软雅黑" panose="020B0503020204020204" pitchFamily="34" charset="-122"/>
            </a:endParaRPr>
          </a:p>
        </p:txBody>
      </p:sp>
      <p:sp>
        <p:nvSpPr>
          <p:cNvPr id="406" name="Rectangle 63"/>
          <p:cNvSpPr/>
          <p:nvPr/>
        </p:nvSpPr>
        <p:spPr>
          <a:xfrm>
            <a:off x="3420110" y="4663694"/>
            <a:ext cx="2478024"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150" b="1" i="0">
                <a:solidFill>
                  <a:schemeClr val="tx1"/>
                </a:solidFill>
                <a:latin typeface="微软雅黑" panose="020B0503020204020204" pitchFamily="34" charset="-122"/>
                <a:ea typeface="微软雅黑" panose="020B0503020204020204" pitchFamily="34" charset="-122"/>
              </a:rPr>
              <a:t>耦合成城市水代谢模型</a:t>
            </a:r>
            <a:endParaRPr lang="zh-CN" altLang="en-US" sz="1150" b="1" i="0">
              <a:solidFill>
                <a:schemeClr val="tx1"/>
              </a:solidFill>
              <a:latin typeface="微软雅黑" panose="020B0503020204020204" pitchFamily="34" charset="-122"/>
              <a:ea typeface="微软雅黑" panose="020B0503020204020204" pitchFamily="34" charset="-122"/>
            </a:endParaRPr>
          </a:p>
        </p:txBody>
      </p:sp>
      <p:sp>
        <p:nvSpPr>
          <p:cNvPr id="407" name="TextBox 64"/>
          <p:cNvSpPr txBox="1"/>
          <p:nvPr/>
        </p:nvSpPr>
        <p:spPr>
          <a:xfrm>
            <a:off x="3429000" y="5029200"/>
            <a:ext cx="2468880" cy="274320"/>
          </a:xfrm>
          <a:prstGeom prst="rect">
            <a:avLst/>
          </a:prstGeom>
          <a:noFill/>
        </p:spPr>
        <p:txBody>
          <a:bodyPr wrap="square" lIns="27432" tIns="13716" rIns="27432" bIns="13716" anchor="t">
            <a:spAutoFit/>
          </a:bodyP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模块接口</a:t>
            </a:r>
            <a:endParaRPr lang="zh-CN" altLang="en-US" sz="1200" b="1" i="0">
              <a:solidFill>
                <a:srgbClr val="005375"/>
              </a:solidFill>
              <a:latin typeface="微软雅黑" panose="020B0503020204020204" pitchFamily="34" charset="-122"/>
              <a:ea typeface="微软雅黑" panose="020B0503020204020204" pitchFamily="34" charset="-122"/>
            </a:endParaRPr>
          </a:p>
        </p:txBody>
      </p:sp>
      <p:cxnSp>
        <p:nvCxnSpPr>
          <p:cNvPr id="408" name="Connector 65"/>
          <p:cNvCxnSpPr/>
          <p:nvPr/>
        </p:nvCxnSpPr>
        <p:spPr>
          <a:xfrm>
            <a:off x="3429000" y="5285232"/>
            <a:ext cx="329184"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409" name="TextBox 66"/>
          <p:cNvSpPr txBox="1"/>
          <p:nvPr/>
        </p:nvSpPr>
        <p:spPr>
          <a:xfrm>
            <a:off x="3429000" y="5321807"/>
            <a:ext cx="2478024" cy="457200"/>
          </a:xfrm>
          <a:prstGeom prst="rect">
            <a:avLst/>
          </a:prstGeom>
          <a:noFill/>
        </p:spPr>
        <p:txBody>
          <a:bodyPr wrap="square" lIns="27432" tIns="13716" rIns="27432" bIns="13716" anchor="t">
            <a:spAutoFit/>
          </a:bodyPr>
          <a:lstStyle/>
          <a:p>
            <a:pPr algn="l">
              <a:lnSpc>
                <a:spcPct val="115000"/>
              </a:lnSpc>
            </a:pPr>
            <a:r>
              <a:rPr lang="zh-CN" altLang="en-US" sz="1200" b="0" i="0">
                <a:solidFill>
                  <a:srgbClr val="5A6B76"/>
                </a:solidFill>
                <a:latin typeface="微软雅黑" panose="020B0503020204020204" pitchFamily="34" charset="-122"/>
                <a:ea typeface="微软雅黑" panose="020B0503020204020204" pitchFamily="34" charset="-122"/>
              </a:rPr>
              <a:t>节点模块以通量形式接入系统网络，随场景替换参数后耦合求解。</a:t>
            </a:r>
            <a:endParaRPr lang="zh-CN" altLang="en-US" sz="1200" b="0" i="0">
              <a:solidFill>
                <a:srgbClr val="5A6B76"/>
              </a:solidFill>
              <a:latin typeface="微软雅黑" panose="020B0503020204020204" pitchFamily="34" charset="-122"/>
              <a:ea typeface="微软雅黑" panose="020B0503020204020204" pitchFamily="34" charset="-122"/>
            </a:endParaRPr>
          </a:p>
        </p:txBody>
      </p:sp>
      <p:sp>
        <p:nvSpPr>
          <p:cNvPr id="410" name="TextBox 67"/>
          <p:cNvSpPr txBox="1"/>
          <p:nvPr/>
        </p:nvSpPr>
        <p:spPr>
          <a:xfrm>
            <a:off x="6263640" y="1810512"/>
            <a:ext cx="2468880" cy="274320"/>
          </a:xfrm>
          <a:prstGeom prst="rect">
            <a:avLst/>
          </a:prstGeom>
          <a:noFill/>
        </p:spPr>
        <p:txBody>
          <a:bodyPr wrap="square" lIns="27432" tIns="13716" rIns="27432" bIns="13716" anchor="t">
            <a:spAutoFit/>
          </a:bodyP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情景模拟</a:t>
            </a:r>
            <a:endParaRPr lang="zh-CN" altLang="en-US" sz="1200" b="1" i="0">
              <a:solidFill>
                <a:srgbClr val="005375"/>
              </a:solidFill>
              <a:latin typeface="微软雅黑" panose="020B0503020204020204" pitchFamily="34" charset="-122"/>
              <a:ea typeface="微软雅黑" panose="020B0503020204020204" pitchFamily="34" charset="-122"/>
            </a:endParaRPr>
          </a:p>
        </p:txBody>
      </p:sp>
      <p:cxnSp>
        <p:nvCxnSpPr>
          <p:cNvPr id="411" name="Connector 68"/>
          <p:cNvCxnSpPr/>
          <p:nvPr/>
        </p:nvCxnSpPr>
        <p:spPr>
          <a:xfrm>
            <a:off x="6263640" y="2066543"/>
            <a:ext cx="329184"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412" name="TextBox 69"/>
          <p:cNvSpPr txBox="1"/>
          <p:nvPr/>
        </p:nvSpPr>
        <p:spPr>
          <a:xfrm>
            <a:off x="6263640" y="2103120"/>
            <a:ext cx="2478024" cy="256032"/>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不同水源结构情景</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13" name="TextBox 70"/>
          <p:cNvSpPr txBox="1"/>
          <p:nvPr/>
        </p:nvSpPr>
        <p:spPr>
          <a:xfrm>
            <a:off x="6263640" y="2377439"/>
            <a:ext cx="2478024" cy="256032"/>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不同气候与季节情景</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14" name="TextBox 71"/>
          <p:cNvSpPr txBox="1"/>
          <p:nvPr/>
        </p:nvSpPr>
        <p:spPr>
          <a:xfrm>
            <a:off x="6263640" y="2651759"/>
            <a:ext cx="2478024" cy="256032"/>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不同技术水平情景</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15" name="TextBox 72"/>
          <p:cNvSpPr txBox="1"/>
          <p:nvPr/>
        </p:nvSpPr>
        <p:spPr>
          <a:xfrm>
            <a:off x="6263640" y="2926079"/>
            <a:ext cx="2478024" cy="256032"/>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不同运行策略情景</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16" name="TextBox 73"/>
          <p:cNvSpPr txBox="1"/>
          <p:nvPr/>
        </p:nvSpPr>
        <p:spPr>
          <a:xfrm>
            <a:off x="6263640" y="3200399"/>
            <a:ext cx="2478024" cy="256032"/>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多情景组合模拟</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17" name="TextBox 74"/>
          <p:cNvSpPr txBox="1"/>
          <p:nvPr/>
        </p:nvSpPr>
        <p:spPr>
          <a:xfrm>
            <a:off x="6263640" y="3566159"/>
            <a:ext cx="2468880" cy="274320"/>
          </a:xfrm>
          <a:prstGeom prst="rect">
            <a:avLst/>
          </a:prstGeom>
          <a:noFill/>
        </p:spPr>
        <p:txBody>
          <a:bodyPr wrap="square" lIns="27432" tIns="13716" rIns="27432" bIns="13716" anchor="t">
            <a:spAutoFit/>
          </a:bodyP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敏感性分析</a:t>
            </a:r>
            <a:endParaRPr lang="zh-CN" altLang="en-US" sz="1200" b="1" i="0">
              <a:solidFill>
                <a:srgbClr val="005375"/>
              </a:solidFill>
              <a:latin typeface="微软雅黑" panose="020B0503020204020204" pitchFamily="34" charset="-122"/>
              <a:ea typeface="微软雅黑" panose="020B0503020204020204" pitchFamily="34" charset="-122"/>
            </a:endParaRPr>
          </a:p>
        </p:txBody>
      </p:sp>
      <p:cxnSp>
        <p:nvCxnSpPr>
          <p:cNvPr id="418" name="Connector 75"/>
          <p:cNvCxnSpPr/>
          <p:nvPr/>
        </p:nvCxnSpPr>
        <p:spPr>
          <a:xfrm>
            <a:off x="6263640" y="3822191"/>
            <a:ext cx="329184"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419" name="TextBox 76"/>
          <p:cNvSpPr txBox="1"/>
          <p:nvPr/>
        </p:nvSpPr>
        <p:spPr>
          <a:xfrm>
            <a:off x="6263640" y="3858767"/>
            <a:ext cx="2478024" cy="256032"/>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关键参数敏感性识别</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20" name="TextBox 77"/>
          <p:cNvSpPr txBox="1"/>
          <p:nvPr/>
        </p:nvSpPr>
        <p:spPr>
          <a:xfrm>
            <a:off x="6263640" y="4133087"/>
            <a:ext cx="2478024" cy="256032"/>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影响因素排序</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21" name="TextBox 78"/>
          <p:cNvSpPr txBox="1"/>
          <p:nvPr/>
        </p:nvSpPr>
        <p:spPr>
          <a:xfrm>
            <a:off x="6263640" y="4407407"/>
            <a:ext cx="2478024" cy="256032"/>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不确定性分析</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22" name="TextBox 79"/>
          <p:cNvSpPr txBox="1"/>
          <p:nvPr/>
        </p:nvSpPr>
        <p:spPr>
          <a:xfrm>
            <a:off x="6263640" y="4681727"/>
            <a:ext cx="2478024" cy="256032"/>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主导瓶颈的时空变化特征</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23" name="TextBox 80"/>
          <p:cNvSpPr txBox="1"/>
          <p:nvPr/>
        </p:nvSpPr>
        <p:spPr>
          <a:xfrm>
            <a:off x="9098280" y="1810512"/>
            <a:ext cx="2468880" cy="274320"/>
          </a:xfrm>
          <a:prstGeom prst="rect">
            <a:avLst/>
          </a:prstGeom>
          <a:noFill/>
        </p:spPr>
        <p:txBody>
          <a:bodyPr wrap="square" lIns="27432" tIns="13716" rIns="27432" bIns="13716" anchor="t">
            <a:spAutoFit/>
          </a:bodyP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CAWCC 计算</a:t>
            </a:r>
            <a:endParaRPr lang="zh-CN" altLang="en-US" sz="1200" b="1" i="0">
              <a:solidFill>
                <a:srgbClr val="005375"/>
              </a:solidFill>
              <a:latin typeface="微软雅黑" panose="020B0503020204020204" pitchFamily="34" charset="-122"/>
              <a:ea typeface="微软雅黑" panose="020B0503020204020204" pitchFamily="34" charset="-122"/>
            </a:endParaRPr>
          </a:p>
        </p:txBody>
      </p:sp>
      <p:cxnSp>
        <p:nvCxnSpPr>
          <p:cNvPr id="424" name="Connector 81"/>
          <p:cNvCxnSpPr/>
          <p:nvPr/>
        </p:nvCxnSpPr>
        <p:spPr>
          <a:xfrm>
            <a:off x="9098280" y="2066543"/>
            <a:ext cx="329183"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425" name="TextBox 82"/>
          <p:cNvSpPr txBox="1"/>
          <p:nvPr/>
        </p:nvSpPr>
        <p:spPr>
          <a:xfrm>
            <a:off x="9098280" y="2103120"/>
            <a:ext cx="2478024" cy="347472"/>
          </a:xfrm>
          <a:prstGeom prst="rect">
            <a:avLst/>
          </a:prstGeom>
          <a:noFill/>
        </p:spPr>
        <p:txBody>
          <a:bodyPr wrap="square" lIns="27432" tIns="13716" rIns="27432" bIns="13716" anchor="t">
            <a:spAutoFit/>
          </a:bodyPr>
          <a:lstStyle/>
          <a:p>
            <a:pPr algn="l">
              <a:lnSpc>
                <a:spcPct val="100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在不同条件组合下求解可承载的 AI 算力</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26" name="TextBox 83"/>
          <p:cNvSpPr txBox="1"/>
          <p:nvPr/>
        </p:nvSpPr>
        <p:spPr>
          <a:xfrm>
            <a:off x="9098280" y="2468879"/>
            <a:ext cx="2478024" cy="347472"/>
          </a:xfrm>
          <a:prstGeom prst="rect">
            <a:avLst/>
          </a:prstGeom>
          <a:noFill/>
        </p:spPr>
        <p:txBody>
          <a:bodyPr wrap="square" lIns="27432" tIns="13716" rIns="27432" bIns="13716" anchor="t">
            <a:spAutoFit/>
          </a:bodyPr>
          <a:lstStyle/>
          <a:p>
            <a:pPr algn="l">
              <a:lnSpc>
                <a:spcPct val="100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形成随条件变化的容量曲面</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27" name="TextBox 84"/>
          <p:cNvSpPr txBox="1"/>
          <p:nvPr/>
        </p:nvSpPr>
        <p:spPr>
          <a:xfrm>
            <a:off x="9098280" y="2834639"/>
            <a:ext cx="2478024" cy="347472"/>
          </a:xfrm>
          <a:prstGeom prst="rect">
            <a:avLst/>
          </a:prstGeom>
          <a:noFill/>
        </p:spPr>
        <p:txBody>
          <a:bodyPr wrap="square" lIns="27432" tIns="13716" rIns="27432" bIns="13716" anchor="t">
            <a:spAutoFit/>
          </a:bodyPr>
          <a:lstStyle/>
          <a:p>
            <a:pPr algn="l">
              <a:lnSpc>
                <a:spcPct val="100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同时识别主导瓶颈</a:t>
            </a:r>
            <a:endParaRPr lang="zh-CN" altLang="en-US" sz="1150" b="0" i="0">
              <a:solidFill>
                <a:srgbClr val="1F2A33"/>
              </a:solidFill>
              <a:latin typeface="微软雅黑" panose="020B0503020204020204" pitchFamily="34" charset="-122"/>
              <a:ea typeface="微软雅黑" panose="020B0503020204020204" pitchFamily="34" charset="-122"/>
            </a:endParaRPr>
          </a:p>
        </p:txBody>
      </p:sp>
      <p:pic>
        <p:nvPicPr>
          <p:cNvPr id="428" name="Picture 85" descr="chart3d.png"/>
          <p:cNvPicPr>
            <a:picLocks noChangeAspect="1"/>
          </p:cNvPicPr>
          <p:nvPr/>
        </p:nvPicPr>
        <p:blipFill>
          <a:blip r:embed="rId1"/>
          <a:stretch>
            <a:fillRect/>
          </a:stretch>
        </p:blipFill>
        <p:spPr>
          <a:xfrm>
            <a:off x="9208007" y="3246119"/>
            <a:ext cx="2240280" cy="1417320"/>
          </a:xfrm>
          <a:prstGeom prst="rect">
            <a:avLst/>
          </a:prstGeom>
        </p:spPr>
      </p:pic>
      <p:sp>
        <p:nvSpPr>
          <p:cNvPr id="429" name="TextBox 86"/>
          <p:cNvSpPr txBox="1"/>
          <p:nvPr/>
        </p:nvSpPr>
        <p:spPr>
          <a:xfrm>
            <a:off x="9098280" y="4736592"/>
            <a:ext cx="2468880" cy="274320"/>
          </a:xfrm>
          <a:prstGeom prst="rect">
            <a:avLst/>
          </a:prstGeom>
          <a:noFill/>
        </p:spPr>
        <p:txBody>
          <a:bodyPr wrap="square" lIns="27432" tIns="13716" rIns="27432" bIns="13716" anchor="t">
            <a:spAutoFit/>
          </a:bodyP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方案评估与建议</a:t>
            </a:r>
            <a:endParaRPr lang="zh-CN" altLang="en-US" sz="1200" b="1" i="0">
              <a:solidFill>
                <a:srgbClr val="005375"/>
              </a:solidFill>
              <a:latin typeface="微软雅黑" panose="020B0503020204020204" pitchFamily="34" charset="-122"/>
              <a:ea typeface="微软雅黑" panose="020B0503020204020204" pitchFamily="34" charset="-122"/>
            </a:endParaRPr>
          </a:p>
        </p:txBody>
      </p:sp>
      <p:cxnSp>
        <p:nvCxnSpPr>
          <p:cNvPr id="430" name="Connector 87"/>
          <p:cNvCxnSpPr/>
          <p:nvPr/>
        </p:nvCxnSpPr>
        <p:spPr>
          <a:xfrm>
            <a:off x="9098280" y="4992624"/>
            <a:ext cx="329183"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431" name="TextBox 88"/>
          <p:cNvSpPr txBox="1"/>
          <p:nvPr/>
        </p:nvSpPr>
        <p:spPr>
          <a:xfrm>
            <a:off x="9098280" y="5029200"/>
            <a:ext cx="2478024" cy="237744"/>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不同干预措施的效果评估</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32" name="TextBox 89"/>
          <p:cNvSpPr txBox="1"/>
          <p:nvPr/>
        </p:nvSpPr>
        <p:spPr>
          <a:xfrm>
            <a:off x="9098280" y="5276088"/>
            <a:ext cx="2478024" cy="237744"/>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瓶颈缓解路径比较</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33" name="TextBox 90"/>
          <p:cNvSpPr txBox="1"/>
          <p:nvPr/>
        </p:nvSpPr>
        <p:spPr>
          <a:xfrm>
            <a:off x="9098280" y="5522975"/>
            <a:ext cx="2478024" cy="237744"/>
          </a:xfrm>
          <a:prstGeom prst="rect">
            <a:avLst/>
          </a:prstGeom>
          <a:noFill/>
        </p:spPr>
        <p:txBody>
          <a:bodyPr wrap="square" lIns="27432" tIns="13716" rIns="27432" bIns="13716" anchor="t">
            <a:spAutoFit/>
          </a:bodyPr>
          <a:lstStyle/>
          <a:p>
            <a:pPr algn="l">
              <a:lnSpc>
                <a:spcPct val="108000"/>
              </a:lnSpc>
            </a:pPr>
            <a:r>
              <a:rPr lang="zh-CN" altLang="en-US" sz="1150" b="1" i="0">
                <a:solidFill>
                  <a:srgbClr val="005375"/>
                </a:solidFill>
                <a:latin typeface="微软雅黑" panose="020B0503020204020204" pitchFamily="34" charset="-122"/>
                <a:ea typeface="微软雅黑" panose="020B0503020204020204" pitchFamily="34" charset="-122"/>
              </a:rPr>
              <a:t>· </a:t>
            </a:r>
            <a:r>
              <a:rPr lang="zh-CN" altLang="en-US" sz="1150" b="0" i="0">
                <a:solidFill>
                  <a:srgbClr val="1F2A33"/>
                </a:solidFill>
                <a:latin typeface="微软雅黑" panose="020B0503020204020204" pitchFamily="34" charset="-122"/>
                <a:ea typeface="微软雅黑" panose="020B0503020204020204" pitchFamily="34" charset="-122"/>
              </a:rPr>
              <a:t>规划与运行层面的建议</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34" name="Rectangle 91"/>
          <p:cNvSpPr/>
          <p:nvPr/>
        </p:nvSpPr>
        <p:spPr>
          <a:xfrm>
            <a:off x="484632" y="5870448"/>
            <a:ext cx="11219688" cy="438912"/>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sz="1600" b="1" i="0">
                <a:solidFill>
                  <a:srgbClr val="FFFFFF"/>
                </a:solidFill>
                <a:latin typeface="微软雅黑" panose="020B0503020204020204" pitchFamily="34" charset="-122"/>
                <a:ea typeface="微软雅黑" panose="020B0503020204020204" pitchFamily="34" charset="-122"/>
              </a:rPr>
              <a:t>形成“数据驱动 → 模型耦合 → 情景模拟 → 边界求解 → 方案评估”的完整技术路线。</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1" name="文本框 0"/>
          <p:cNvSpPr txBox="1"/>
          <p:nvPr/>
        </p:nvSpPr>
        <p:spPr>
          <a:xfrm>
            <a:off x="9618345" y="3736975"/>
            <a:ext cx="392430" cy="141605"/>
          </a:xfrm>
          <a:prstGeom prst="rect">
            <a:avLst/>
          </a:prstGeom>
          <a:solidFill>
            <a:schemeClr val="bg1"/>
          </a:solidFill>
          <a:ln>
            <a:noFill/>
          </a:ln>
        </p:spPr>
        <p:txBody>
          <a:bodyPr wrap="square" rtlCol="0">
            <a:noAutofit/>
          </a:bodyPr>
          <a:p>
            <a:pPr algn="ctr"/>
            <a:r>
              <a:rPr lang="en-US" altLang="zh-CN" sz="700" b="1">
                <a:latin typeface="微软雅黑" panose="020B0503020204020204" pitchFamily="34" charset="-122"/>
                <a:ea typeface="微软雅黑" panose="020B0503020204020204" pitchFamily="34" charset="-122"/>
              </a:rPr>
              <a:t>MW</a:t>
            </a:r>
            <a:endParaRPr lang="en-US" altLang="zh-CN" sz="700" b="1">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435" name=""/>
        <p:cNvGrpSpPr/>
        <p:nvPr/>
      </p:nvGrpSpPr>
      <p:grpSpPr>
        <a:xfrm>
          <a:off x="0" y="0"/>
          <a:ext cx="0" cy="0"/>
          <a:chOff x="0" y="0"/>
          <a:chExt cx="0" cy="0"/>
        </a:xfrm>
      </p:grpSpPr>
      <p:sp>
        <p:nvSpPr>
          <p:cNvPr id="436" name="标题 1"/>
          <p:cNvSpPr>
            <a:spLocks noGrp="1"/>
          </p:cNvSpPr>
          <p:nvPr>
            <p:ph type="title"/>
          </p:nvPr>
        </p:nvSpPr>
        <p:spPr/>
        <p:txBody>
          <a:bodyPr/>
          <a:p>
            <a:endParaRPr lang="zh-CN" altLang="en-US"/>
          </a:p>
        </p:txBody>
      </p:sp>
      <p:pic>
        <p:nvPicPr>
          <p:cNvPr id="437" name="内容占位符 3"/>
          <p:cNvPicPr>
            <a:picLocks noChangeAspect="1"/>
          </p:cNvPicPr>
          <p:nvPr>
            <p:ph idx="1"/>
          </p:nvPr>
        </p:nvPicPr>
        <p:blipFill>
          <a:blip r:embed="rId1"/>
          <a:stretch>
            <a:fillRect/>
          </a:stretch>
        </p:blipFill>
        <p:spPr>
          <a:xfrm>
            <a:off x="0" y="0"/>
            <a:ext cx="12191365" cy="686181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438" name=""/>
        <p:cNvGrpSpPr/>
        <p:nvPr/>
      </p:nvGrpSpPr>
      <p:grpSpPr>
        <a:xfrm>
          <a:off x="0" y="0"/>
          <a:ext cx="0" cy="0"/>
          <a:chOff x="0" y="0"/>
          <a:chExt cx="0" cy="0"/>
        </a:xfrm>
      </p:grpSpPr>
      <p:sp>
        <p:nvSpPr>
          <p:cNvPr id="439"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实验设计：四组控制实验</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440"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441"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18 / 24</a:t>
            </a:r>
            <a:endParaRPr lang="zh-CN" altLang="en-US" sz="1000" b="1" i="0">
              <a:solidFill>
                <a:srgbClr val="FFFFFF"/>
              </a:solidFill>
              <a:latin typeface="Arial" panose="020B0604020202020204"/>
              <a:ea typeface="Arial" panose="020B0604020202020204"/>
            </a:endParaRPr>
          </a:p>
        </p:txBody>
      </p:sp>
      <p:sp>
        <p:nvSpPr>
          <p:cNvPr id="442" name="Rounded Rectangle 4"/>
          <p:cNvSpPr/>
          <p:nvPr>
            <p:custDataLst>
              <p:tags r:id="rId1"/>
            </p:custDataLst>
          </p:nvPr>
        </p:nvSpPr>
        <p:spPr>
          <a:xfrm>
            <a:off x="484632" y="960120"/>
            <a:ext cx="5504688" cy="192024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43" name="Rectangle 5"/>
          <p:cNvSpPr/>
          <p:nvPr>
            <p:custDataLst>
              <p:tags r:id="rId2"/>
            </p:custDataLst>
          </p:nvPr>
        </p:nvSpPr>
        <p:spPr>
          <a:xfrm>
            <a:off x="502920" y="955548"/>
            <a:ext cx="546811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44" name="Rectangle 6"/>
          <p:cNvSpPr/>
          <p:nvPr>
            <p:custDataLst>
              <p:tags r:id="rId3"/>
            </p:custDataLst>
          </p:nvPr>
        </p:nvSpPr>
        <p:spPr>
          <a:xfrm>
            <a:off x="484632" y="960120"/>
            <a:ext cx="731520" cy="19202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rPr>
              <a:t>E1</a:t>
            </a:r>
            <a:endParaRPr lang="zh-CN" altLang="en-US" sz="2800" b="1" i="0">
              <a:solidFill>
                <a:srgbClr val="FFFFFF"/>
              </a:solidFill>
              <a:latin typeface="微软雅黑" panose="020B0503020204020204" pitchFamily="34" charset="-122"/>
              <a:ea typeface="微软雅黑" panose="020B0503020204020204" pitchFamily="34" charset="-122"/>
            </a:endParaRPr>
          </a:p>
        </p:txBody>
      </p:sp>
      <p:sp>
        <p:nvSpPr>
          <p:cNvPr id="445" name="TextBox 7"/>
          <p:cNvSpPr txBox="1"/>
          <p:nvPr>
            <p:custDataLst>
              <p:tags r:id="rId4"/>
            </p:custDataLst>
          </p:nvPr>
        </p:nvSpPr>
        <p:spPr>
          <a:xfrm>
            <a:off x="1417320" y="1106424"/>
            <a:ext cx="43891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1F2A33"/>
                </a:solidFill>
                <a:latin typeface="微软雅黑" panose="020B0503020204020204" pitchFamily="34" charset="-122"/>
                <a:ea typeface="微软雅黑" panose="020B0503020204020204" pitchFamily="34" charset="-122"/>
              </a:rPr>
              <a:t>算力规模梯度实验</a:t>
            </a:r>
            <a:endParaRPr lang="zh-CN" altLang="en-US" b="1" i="0">
              <a:solidFill>
                <a:srgbClr val="1F2A33"/>
              </a:solidFill>
              <a:latin typeface="微软雅黑" panose="020B0503020204020204" pitchFamily="34" charset="-122"/>
              <a:ea typeface="微软雅黑" panose="020B0503020204020204" pitchFamily="34" charset="-122"/>
            </a:endParaRPr>
          </a:p>
        </p:txBody>
      </p:sp>
      <p:sp>
        <p:nvSpPr>
          <p:cNvPr id="446" name="TextBox 8"/>
          <p:cNvSpPr txBox="1"/>
          <p:nvPr>
            <p:custDataLst>
              <p:tags r:id="rId5"/>
            </p:custDataLst>
          </p:nvPr>
        </p:nvSpPr>
        <p:spPr>
          <a:xfrm>
            <a:off x="1417320" y="1508760"/>
            <a:ext cx="4389120" cy="565150"/>
          </a:xfrm>
          <a:prstGeom prst="rect">
            <a:avLst/>
          </a:prstGeom>
          <a:noFill/>
        </p:spPr>
        <p:txBody>
          <a:bodyPr wrap="square" lIns="27432" tIns="13716" rIns="27432" bIns="13716" anchor="t">
            <a:spAutoFit/>
          </a:bodyPr>
          <a:lstStyle/>
          <a:p>
            <a:pPr algn="l">
              <a:lnSpc>
                <a:spcPct val="125000"/>
              </a:lnSpc>
            </a:pPr>
            <a:r>
              <a:rPr lang="zh-CN" altLang="en-US" sz="1400" b="0" i="0">
                <a:solidFill>
                  <a:srgbClr val="1F2A33"/>
                </a:solidFill>
                <a:latin typeface="微软雅黑" panose="020B0503020204020204" pitchFamily="34" charset="-122"/>
                <a:ea typeface="微软雅黑" panose="020B0503020204020204" pitchFamily="34" charset="-122"/>
              </a:rPr>
              <a:t>改变 AI 节点算力规模，观察水代谢通量与承载状态的响应梯度。</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447" name="Rectangle 9"/>
          <p:cNvSpPr/>
          <p:nvPr>
            <p:custDataLst>
              <p:tags r:id="rId6"/>
            </p:custDataLst>
          </p:nvPr>
        </p:nvSpPr>
        <p:spPr>
          <a:xfrm>
            <a:off x="1417320" y="2386584"/>
            <a:ext cx="4343400" cy="347472"/>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检验 H1：响应是否显著且呈梯度</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448" name="Rounded Rectangle 10"/>
          <p:cNvSpPr/>
          <p:nvPr>
            <p:custDataLst>
              <p:tags r:id="rId7"/>
            </p:custDataLst>
          </p:nvPr>
        </p:nvSpPr>
        <p:spPr>
          <a:xfrm>
            <a:off x="6199632" y="960120"/>
            <a:ext cx="5504688" cy="192024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49" name="Rectangle 11"/>
          <p:cNvSpPr/>
          <p:nvPr>
            <p:custDataLst>
              <p:tags r:id="rId8"/>
            </p:custDataLst>
          </p:nvPr>
        </p:nvSpPr>
        <p:spPr>
          <a:xfrm>
            <a:off x="6217920" y="955548"/>
            <a:ext cx="546811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50" name="Rectangle 12"/>
          <p:cNvSpPr/>
          <p:nvPr>
            <p:custDataLst>
              <p:tags r:id="rId9"/>
            </p:custDataLst>
          </p:nvPr>
        </p:nvSpPr>
        <p:spPr>
          <a:xfrm>
            <a:off x="6199632" y="960120"/>
            <a:ext cx="731520" cy="19202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rPr>
              <a:t>E2</a:t>
            </a:r>
            <a:endParaRPr lang="zh-CN" altLang="en-US" sz="2800" b="1" i="0">
              <a:solidFill>
                <a:srgbClr val="FFFFFF"/>
              </a:solidFill>
              <a:latin typeface="微软雅黑" panose="020B0503020204020204" pitchFamily="34" charset="-122"/>
              <a:ea typeface="微软雅黑" panose="020B0503020204020204" pitchFamily="34" charset="-122"/>
            </a:endParaRPr>
          </a:p>
        </p:txBody>
      </p:sp>
      <p:sp>
        <p:nvSpPr>
          <p:cNvPr id="451" name="TextBox 13"/>
          <p:cNvSpPr txBox="1"/>
          <p:nvPr>
            <p:custDataLst>
              <p:tags r:id="rId10"/>
            </p:custDataLst>
          </p:nvPr>
        </p:nvSpPr>
        <p:spPr>
          <a:xfrm>
            <a:off x="7132320" y="1106424"/>
            <a:ext cx="43891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1F2A33"/>
                </a:solidFill>
                <a:latin typeface="微软雅黑" panose="020B0503020204020204" pitchFamily="34" charset="-122"/>
                <a:ea typeface="微软雅黑" panose="020B0503020204020204" pitchFamily="34" charset="-122"/>
              </a:rPr>
              <a:t>水源结构对照实验</a:t>
            </a:r>
            <a:endParaRPr lang="zh-CN" altLang="en-US" b="1" i="0">
              <a:solidFill>
                <a:srgbClr val="1F2A33"/>
              </a:solidFill>
              <a:latin typeface="微软雅黑" panose="020B0503020204020204" pitchFamily="34" charset="-122"/>
              <a:ea typeface="微软雅黑" panose="020B0503020204020204" pitchFamily="34" charset="-122"/>
            </a:endParaRPr>
          </a:p>
        </p:txBody>
      </p:sp>
      <p:sp>
        <p:nvSpPr>
          <p:cNvPr id="452" name="TextBox 14"/>
          <p:cNvSpPr txBox="1"/>
          <p:nvPr>
            <p:custDataLst>
              <p:tags r:id="rId11"/>
            </p:custDataLst>
          </p:nvPr>
        </p:nvSpPr>
        <p:spPr>
          <a:xfrm>
            <a:off x="7132320" y="1508760"/>
            <a:ext cx="4389120" cy="565150"/>
          </a:xfrm>
          <a:prstGeom prst="rect">
            <a:avLst/>
          </a:prstGeom>
          <a:noFill/>
        </p:spPr>
        <p:txBody>
          <a:bodyPr wrap="square" lIns="27432" tIns="13716" rIns="27432" bIns="13716" anchor="t">
            <a:spAutoFit/>
          </a:bodyPr>
          <a:lstStyle/>
          <a:p>
            <a:pPr algn="l">
              <a:lnSpc>
                <a:spcPct val="125000"/>
              </a:lnSpc>
            </a:pPr>
            <a:r>
              <a:rPr lang="zh-CN" altLang="en-US" sz="1400" b="0" i="0">
                <a:solidFill>
                  <a:srgbClr val="1F2A33"/>
                </a:solidFill>
                <a:latin typeface="微软雅黑" panose="020B0503020204020204" pitchFamily="34" charset="-122"/>
                <a:ea typeface="微软雅黑" panose="020B0503020204020204" pitchFamily="34" charset="-122"/>
              </a:rPr>
              <a:t>对比淡水为主与再生水为主的供水结构，观察承载边界差异。</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453" name="Rectangle 15"/>
          <p:cNvSpPr/>
          <p:nvPr>
            <p:custDataLst>
              <p:tags r:id="rId12"/>
            </p:custDataLst>
          </p:nvPr>
        </p:nvSpPr>
        <p:spPr>
          <a:xfrm>
            <a:off x="7132320" y="2386584"/>
            <a:ext cx="4343400" cy="347472"/>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检验 H2：边界是否随水源条件化</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454" name="Rounded Rectangle 16"/>
          <p:cNvSpPr/>
          <p:nvPr>
            <p:custDataLst>
              <p:tags r:id="rId13"/>
            </p:custDataLst>
          </p:nvPr>
        </p:nvSpPr>
        <p:spPr>
          <a:xfrm>
            <a:off x="484632" y="3035808"/>
            <a:ext cx="5504688" cy="192024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55" name="Rectangle 17"/>
          <p:cNvSpPr/>
          <p:nvPr>
            <p:custDataLst>
              <p:tags r:id="rId14"/>
            </p:custDataLst>
          </p:nvPr>
        </p:nvSpPr>
        <p:spPr>
          <a:xfrm>
            <a:off x="502920" y="3031236"/>
            <a:ext cx="546811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56" name="Rectangle 18"/>
          <p:cNvSpPr/>
          <p:nvPr>
            <p:custDataLst>
              <p:tags r:id="rId15"/>
            </p:custDataLst>
          </p:nvPr>
        </p:nvSpPr>
        <p:spPr>
          <a:xfrm>
            <a:off x="484632" y="3035808"/>
            <a:ext cx="731520" cy="19202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rPr>
              <a:t>E3</a:t>
            </a:r>
            <a:endParaRPr lang="zh-CN" altLang="en-US" sz="2800" b="1" i="0">
              <a:solidFill>
                <a:srgbClr val="FFFFFF"/>
              </a:solidFill>
              <a:latin typeface="微软雅黑" panose="020B0503020204020204" pitchFamily="34" charset="-122"/>
              <a:ea typeface="微软雅黑" panose="020B0503020204020204" pitchFamily="34" charset="-122"/>
            </a:endParaRPr>
          </a:p>
        </p:txBody>
      </p:sp>
      <p:sp>
        <p:nvSpPr>
          <p:cNvPr id="457" name="TextBox 19"/>
          <p:cNvSpPr txBox="1"/>
          <p:nvPr>
            <p:custDataLst>
              <p:tags r:id="rId16"/>
            </p:custDataLst>
          </p:nvPr>
        </p:nvSpPr>
        <p:spPr>
          <a:xfrm>
            <a:off x="1417320" y="3182112"/>
            <a:ext cx="43891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1F2A33"/>
                </a:solidFill>
                <a:latin typeface="微软雅黑" panose="020B0503020204020204" pitchFamily="34" charset="-122"/>
                <a:ea typeface="微软雅黑" panose="020B0503020204020204" pitchFamily="34" charset="-122"/>
              </a:rPr>
              <a:t>气象与季节情景实验</a:t>
            </a:r>
            <a:endParaRPr lang="zh-CN" altLang="en-US" b="1" i="0">
              <a:solidFill>
                <a:srgbClr val="1F2A33"/>
              </a:solidFill>
              <a:latin typeface="微软雅黑" panose="020B0503020204020204" pitchFamily="34" charset="-122"/>
              <a:ea typeface="微软雅黑" panose="020B0503020204020204" pitchFamily="34" charset="-122"/>
            </a:endParaRPr>
          </a:p>
        </p:txBody>
      </p:sp>
      <p:sp>
        <p:nvSpPr>
          <p:cNvPr id="458" name="TextBox 20"/>
          <p:cNvSpPr txBox="1"/>
          <p:nvPr>
            <p:custDataLst>
              <p:tags r:id="rId17"/>
            </p:custDataLst>
          </p:nvPr>
        </p:nvSpPr>
        <p:spPr>
          <a:xfrm>
            <a:off x="1371600" y="3593973"/>
            <a:ext cx="4389120" cy="834390"/>
          </a:xfrm>
          <a:prstGeom prst="rect">
            <a:avLst/>
          </a:prstGeom>
          <a:noFill/>
        </p:spPr>
        <p:txBody>
          <a:bodyPr wrap="square" lIns="27432" tIns="13716" rIns="27432" bIns="13716" anchor="t">
            <a:spAutoFit/>
          </a:bodyPr>
          <a:lstStyle/>
          <a:p>
            <a:pPr algn="l">
              <a:lnSpc>
                <a:spcPct val="125000"/>
              </a:lnSpc>
            </a:pPr>
            <a:r>
              <a:rPr lang="zh-CN" altLang="en-US" sz="1400" b="0" i="0">
                <a:solidFill>
                  <a:srgbClr val="1F2A33"/>
                </a:solidFill>
                <a:latin typeface="微软雅黑" panose="020B0503020204020204" pitchFamily="34" charset="-122"/>
                <a:ea typeface="微软雅黑" panose="020B0503020204020204" pitchFamily="34" charset="-122"/>
              </a:rPr>
              <a:t>改变气温、湿度与季节分布，观察冷却负荷与取水的时序变化，进行多时间尺度与复合气象情景实验（年-日-极端小时对比）</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459" name="Rectangle 21"/>
          <p:cNvSpPr/>
          <p:nvPr>
            <p:custDataLst>
              <p:tags r:id="rId18"/>
            </p:custDataLst>
          </p:nvPr>
        </p:nvSpPr>
        <p:spPr>
          <a:xfrm>
            <a:off x="1417320" y="4462272"/>
            <a:ext cx="4343400" cy="347472"/>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检验 H1 / H2：季节敏感性</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460" name="Rounded Rectangle 22"/>
          <p:cNvSpPr/>
          <p:nvPr>
            <p:custDataLst>
              <p:tags r:id="rId19"/>
            </p:custDataLst>
          </p:nvPr>
        </p:nvSpPr>
        <p:spPr>
          <a:xfrm>
            <a:off x="6199632" y="3035808"/>
            <a:ext cx="5504688" cy="192024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61" name="Rectangle 23"/>
          <p:cNvSpPr/>
          <p:nvPr>
            <p:custDataLst>
              <p:tags r:id="rId20"/>
            </p:custDataLst>
          </p:nvPr>
        </p:nvSpPr>
        <p:spPr>
          <a:xfrm>
            <a:off x="6217920" y="3031236"/>
            <a:ext cx="546811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62" name="Rectangle 24"/>
          <p:cNvSpPr/>
          <p:nvPr>
            <p:custDataLst>
              <p:tags r:id="rId21"/>
            </p:custDataLst>
          </p:nvPr>
        </p:nvSpPr>
        <p:spPr>
          <a:xfrm>
            <a:off x="6199632" y="3035808"/>
            <a:ext cx="731520" cy="19202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800" b="1" i="0">
                <a:solidFill>
                  <a:srgbClr val="FFFFFF"/>
                </a:solidFill>
                <a:latin typeface="微软雅黑" panose="020B0503020204020204" pitchFamily="34" charset="-122"/>
                <a:ea typeface="微软雅黑" panose="020B0503020204020204" pitchFamily="34" charset="-122"/>
              </a:rPr>
              <a:t>E4</a:t>
            </a:r>
            <a:endParaRPr lang="zh-CN" altLang="en-US" sz="2800" b="1" i="0">
              <a:solidFill>
                <a:srgbClr val="FFFFFF"/>
              </a:solidFill>
              <a:latin typeface="微软雅黑" panose="020B0503020204020204" pitchFamily="34" charset="-122"/>
              <a:ea typeface="微软雅黑" panose="020B0503020204020204" pitchFamily="34" charset="-122"/>
            </a:endParaRPr>
          </a:p>
        </p:txBody>
      </p:sp>
      <p:sp>
        <p:nvSpPr>
          <p:cNvPr id="463" name="TextBox 25"/>
          <p:cNvSpPr txBox="1"/>
          <p:nvPr>
            <p:custDataLst>
              <p:tags r:id="rId22"/>
            </p:custDataLst>
          </p:nvPr>
        </p:nvSpPr>
        <p:spPr>
          <a:xfrm>
            <a:off x="7132320" y="3182112"/>
            <a:ext cx="4389120" cy="325120"/>
          </a:xfrm>
          <a:prstGeom prst="rect">
            <a:avLst/>
          </a:prstGeom>
          <a:noFill/>
        </p:spPr>
        <p:txBody>
          <a:bodyPr wrap="square" lIns="27432" tIns="13716" rIns="27432" bIns="13716" anchor="t">
            <a:spAutoFit/>
          </a:bodyPr>
          <a:lstStyle/>
          <a:p>
            <a:pPr algn="l">
              <a:lnSpc>
                <a:spcPct val="108000"/>
              </a:lnSpc>
            </a:pPr>
            <a:r>
              <a:rPr lang="zh-CN" altLang="en-US" b="1" i="0">
                <a:solidFill>
                  <a:srgbClr val="1F2A33"/>
                </a:solidFill>
                <a:latin typeface="微软雅黑" panose="020B0503020204020204" pitchFamily="34" charset="-122"/>
                <a:ea typeface="微软雅黑" panose="020B0503020204020204" pitchFamily="34" charset="-122"/>
              </a:rPr>
              <a:t>技术与策略组合实验</a:t>
            </a:r>
            <a:endParaRPr lang="zh-CN" altLang="en-US" b="1" i="0">
              <a:solidFill>
                <a:srgbClr val="1F2A33"/>
              </a:solidFill>
              <a:latin typeface="微软雅黑" panose="020B0503020204020204" pitchFamily="34" charset="-122"/>
              <a:ea typeface="微软雅黑" panose="020B0503020204020204" pitchFamily="34" charset="-122"/>
            </a:endParaRPr>
          </a:p>
        </p:txBody>
      </p:sp>
      <p:sp>
        <p:nvSpPr>
          <p:cNvPr id="464" name="TextBox 26"/>
          <p:cNvSpPr txBox="1"/>
          <p:nvPr>
            <p:custDataLst>
              <p:tags r:id="rId23"/>
            </p:custDataLst>
          </p:nvPr>
        </p:nvSpPr>
        <p:spPr>
          <a:xfrm>
            <a:off x="7132320" y="3584448"/>
            <a:ext cx="4389120" cy="565150"/>
          </a:xfrm>
          <a:prstGeom prst="rect">
            <a:avLst/>
          </a:prstGeom>
          <a:noFill/>
        </p:spPr>
        <p:txBody>
          <a:bodyPr wrap="square" lIns="27432" tIns="13716" rIns="27432" bIns="13716" anchor="t">
            <a:spAutoFit/>
          </a:bodyPr>
          <a:lstStyle/>
          <a:p>
            <a:pPr algn="l">
              <a:lnSpc>
                <a:spcPct val="125000"/>
              </a:lnSpc>
            </a:pPr>
            <a:r>
              <a:rPr lang="zh-CN" altLang="en-US" sz="1400" b="0" i="0">
                <a:solidFill>
                  <a:srgbClr val="1F2A33"/>
                </a:solidFill>
                <a:latin typeface="微软雅黑" panose="020B0503020204020204" pitchFamily="34" charset="-122"/>
                <a:ea typeface="微软雅黑" panose="020B0503020204020204" pitchFamily="34" charset="-122"/>
              </a:rPr>
              <a:t>组合冷却方式、PUE、浓缩倍数与调度策略，评估干预提升效果。</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465" name="Rectangle 27"/>
          <p:cNvSpPr/>
          <p:nvPr>
            <p:custDataLst>
              <p:tags r:id="rId24"/>
            </p:custDataLst>
          </p:nvPr>
        </p:nvSpPr>
        <p:spPr>
          <a:xfrm>
            <a:off x="7132320" y="4462272"/>
            <a:ext cx="4343400" cy="347472"/>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检验 H3：瓶颈迁移与干预效果</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466" name="Rectangle 28"/>
          <p:cNvSpPr/>
          <p:nvPr/>
        </p:nvSpPr>
        <p:spPr>
          <a:xfrm>
            <a:off x="484632" y="5193792"/>
            <a:ext cx="11219688" cy="65836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5000"/>
              </a:lnSpc>
            </a:pPr>
            <a:r>
              <a:rPr lang="zh-CN" altLang="en-US" b="1" i="0">
                <a:solidFill>
                  <a:srgbClr val="FFFFFF"/>
                </a:solidFill>
                <a:latin typeface="微软雅黑" panose="020B0503020204020204" pitchFamily="34" charset="-122"/>
                <a:ea typeface="微软雅黑" panose="020B0503020204020204" pitchFamily="34" charset="-122"/>
              </a:rPr>
              <a:t>变量控制原则</a:t>
            </a:r>
            <a:r>
              <a:rPr lang="zh-CN" altLang="en-US" b="0" i="0">
                <a:solidFill>
                  <a:srgbClr val="FFFFFF"/>
                </a:solidFill>
                <a:latin typeface="微软雅黑" panose="020B0503020204020204" pitchFamily="34" charset="-122"/>
                <a:ea typeface="微软雅黑" panose="020B0503020204020204" pitchFamily="34" charset="-122"/>
              </a:rPr>
              <a:t> </a:t>
            </a:r>
            <a:r>
              <a:rPr lang="zh-CN" altLang="en-US" sz="1400" b="0" i="0">
                <a:solidFill>
                  <a:srgbClr val="FFFFFF"/>
                </a:solidFill>
                <a:latin typeface="微软雅黑" panose="020B0503020204020204" pitchFamily="34" charset="-122"/>
                <a:ea typeface="微软雅黑" panose="020B0503020204020204" pitchFamily="34" charset="-122"/>
              </a:rPr>
              <a:t>：</a:t>
            </a:r>
            <a:r>
              <a:rPr lang="zh-CN" altLang="en-US" sz="1400" b="0" i="0">
                <a:solidFill>
                  <a:srgbClr val="FFFFFF"/>
                </a:solidFill>
                <a:latin typeface="微软雅黑" panose="020B0503020204020204" pitchFamily="34" charset="-122"/>
                <a:ea typeface="微软雅黑" panose="020B0503020204020204" pitchFamily="34" charset="-122"/>
              </a:rPr>
              <a:t>每组实验仅改变目标变量，其余条件保持基线不变；结果以相对基线的差值与排序呈现，保证可比性。</a:t>
            </a:r>
            <a:endParaRPr lang="zh-CN" altLang="en-US" sz="1400" b="0" i="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467" name=""/>
        <p:cNvGrpSpPr/>
        <p:nvPr/>
      </p:nvGrpSpPr>
      <p:grpSpPr>
        <a:xfrm>
          <a:off x="0" y="0"/>
          <a:ext cx="0" cy="0"/>
          <a:chOff x="0" y="0"/>
          <a:chExt cx="0" cy="0"/>
        </a:xfrm>
      </p:grpSpPr>
      <p:sp>
        <p:nvSpPr>
          <p:cNvPr id="468"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CAWCC 求解：容量扫描与干预区间</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469"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470"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19 / 24</a:t>
            </a:r>
            <a:endParaRPr lang="zh-CN" altLang="en-US" sz="1000" b="1" i="0">
              <a:solidFill>
                <a:srgbClr val="FFFFFF"/>
              </a:solidFill>
              <a:latin typeface="Arial" panose="020B0604020202020204"/>
              <a:ea typeface="Arial" panose="020B0604020202020204"/>
            </a:endParaRPr>
          </a:p>
        </p:txBody>
      </p:sp>
      <p:sp>
        <p:nvSpPr>
          <p:cNvPr id="471" name="Rounded Rectangle 4"/>
          <p:cNvSpPr/>
          <p:nvPr/>
        </p:nvSpPr>
        <p:spPr>
          <a:xfrm>
            <a:off x="484632" y="914400"/>
            <a:ext cx="5989320" cy="45262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72" name="Rectangle 5"/>
          <p:cNvSpPr/>
          <p:nvPr/>
        </p:nvSpPr>
        <p:spPr>
          <a:xfrm>
            <a:off x="667512" y="1097280"/>
            <a:ext cx="457200" cy="4572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000" b="1" i="0">
                <a:solidFill>
                  <a:srgbClr val="FFFFFF"/>
                </a:solidFill>
                <a:latin typeface="微软雅黑" panose="020B0503020204020204" pitchFamily="34" charset="-122"/>
                <a:ea typeface="微软雅黑" panose="020B0503020204020204" pitchFamily="34" charset="-122"/>
              </a:rPr>
              <a:t>01</a:t>
            </a:r>
            <a:endParaRPr lang="zh-CN" altLang="en-US" sz="2000" b="1" i="0">
              <a:solidFill>
                <a:srgbClr val="FFFFFF"/>
              </a:solidFill>
              <a:latin typeface="微软雅黑" panose="020B0503020204020204" pitchFamily="34" charset="-122"/>
              <a:ea typeface="微软雅黑" panose="020B0503020204020204" pitchFamily="34" charset="-122"/>
            </a:endParaRPr>
          </a:p>
        </p:txBody>
      </p:sp>
      <p:sp>
        <p:nvSpPr>
          <p:cNvPr id="473" name="TextBox 6"/>
          <p:cNvSpPr txBox="1"/>
          <p:nvPr/>
        </p:nvSpPr>
        <p:spPr>
          <a:xfrm>
            <a:off x="1261872" y="1115568"/>
            <a:ext cx="5029200" cy="411480"/>
          </a:xfrm>
          <a:prstGeom prst="rect">
            <a:avLst/>
          </a:prstGeom>
          <a:noFill/>
        </p:spPr>
        <p:txBody>
          <a:bodyPr wrap="square" lIns="27432" tIns="13716" rIns="27432" bIns="13716" anchor="t">
            <a:spAutoFit/>
          </a:bodyPr>
          <a:lstStyle/>
          <a:p>
            <a:pPr algn="l">
              <a:lnSpc>
                <a:spcPct val="108000"/>
              </a:lnSpc>
            </a:pPr>
            <a:r>
              <a:rPr lang="zh-CN" altLang="en-US" sz="1350" b="1" i="0">
                <a:solidFill>
                  <a:srgbClr val="1F2A33"/>
                </a:solidFill>
                <a:latin typeface="微软雅黑" panose="020B0503020204020204" pitchFamily="34" charset="-122"/>
                <a:ea typeface="微软雅黑" panose="020B0503020204020204" pitchFamily="34" charset="-122"/>
              </a:rPr>
              <a:t>容量扫描：从单点阈值到容量曲面</a:t>
            </a:r>
            <a:endParaRPr lang="zh-CN" altLang="en-US" sz="1350" b="1" i="0">
              <a:solidFill>
                <a:srgbClr val="1F2A33"/>
              </a:solidFill>
              <a:latin typeface="微软雅黑" panose="020B0503020204020204" pitchFamily="34" charset="-122"/>
              <a:ea typeface="微软雅黑" panose="020B0503020204020204" pitchFamily="34" charset="-122"/>
            </a:endParaRPr>
          </a:p>
        </p:txBody>
      </p:sp>
      <p:sp>
        <p:nvSpPr>
          <p:cNvPr id="474" name="TextBox 7"/>
          <p:cNvSpPr txBox="1"/>
          <p:nvPr/>
        </p:nvSpPr>
        <p:spPr>
          <a:xfrm>
            <a:off x="685800" y="1700784"/>
            <a:ext cx="2743200" cy="274320"/>
          </a:xfrm>
          <a:prstGeom prst="rect">
            <a:avLst/>
          </a:prstGeom>
          <a:noFill/>
        </p:spPr>
        <p:txBody>
          <a:bodyPr wrap="square" lIns="27432" tIns="13716" rIns="27432" bIns="13716" anchor="t">
            <a:spAutoFit/>
          </a:bodyPr>
          <a:lstStyle/>
          <a:p>
            <a:pPr algn="l">
              <a:lnSpc>
                <a:spcPct val="108000"/>
              </a:lnSpc>
            </a:pPr>
            <a:r>
              <a:rPr lang="zh-CN" altLang="en-US" sz="1300" b="1" i="0">
                <a:solidFill>
                  <a:srgbClr val="005375"/>
                </a:solidFill>
                <a:latin typeface="微软雅黑" panose="020B0503020204020204" pitchFamily="34" charset="-122"/>
                <a:ea typeface="微软雅黑" panose="020B0503020204020204" pitchFamily="34" charset="-122"/>
              </a:rPr>
              <a:t>算力规模递增</a:t>
            </a:r>
            <a:endParaRPr lang="zh-CN" altLang="en-US" sz="1300" b="1" i="0">
              <a:solidFill>
                <a:srgbClr val="005375"/>
              </a:solidFill>
              <a:latin typeface="微软雅黑" panose="020B0503020204020204" pitchFamily="34" charset="-122"/>
              <a:ea typeface="微软雅黑" panose="020B0503020204020204" pitchFamily="34" charset="-122"/>
            </a:endParaRPr>
          </a:p>
        </p:txBody>
      </p:sp>
      <p:sp>
        <p:nvSpPr>
          <p:cNvPr id="475" name="Chevron 8"/>
          <p:cNvSpPr/>
          <p:nvPr/>
        </p:nvSpPr>
        <p:spPr>
          <a:xfrm>
            <a:off x="685800" y="1993392"/>
            <a:ext cx="1417320" cy="420624"/>
          </a:xfrm>
          <a:prstGeom prst="chevron">
            <a:avLst/>
          </a:prstGeom>
          <a:solidFill>
            <a:srgbClr val="D7E5EC"/>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lnSpc>
                <a:spcPct val="108000"/>
              </a:lnSpc>
            </a:pPr>
            <a:r>
              <a:rPr lang="zh-CN" altLang="en-US" sz="1200" b="1" i="0">
                <a:solidFill>
                  <a:srgbClr val="005375"/>
                </a:solidFill>
                <a:latin typeface="微软雅黑" panose="020B0503020204020204" pitchFamily="34" charset="-122"/>
                <a:ea typeface="微软雅黑" panose="020B0503020204020204" pitchFamily="34" charset="-122"/>
              </a:rPr>
              <a:t>安全区</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476" name="Chevron 9"/>
          <p:cNvSpPr/>
          <p:nvPr/>
        </p:nvSpPr>
        <p:spPr>
          <a:xfrm>
            <a:off x="2002536" y="1993392"/>
            <a:ext cx="1417320" cy="420624"/>
          </a:xfrm>
          <a:prstGeom prst="chevron">
            <a:avLst/>
          </a:prstGeom>
          <a:solidFill>
            <a:srgbClr val="A9C6D4"/>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lnSpc>
                <a:spcPct val="108000"/>
              </a:lnSpc>
            </a:pPr>
            <a:r>
              <a:rPr lang="zh-CN" altLang="en-US" sz="1200" b="1" i="0">
                <a:solidFill>
                  <a:srgbClr val="123A4E"/>
                </a:solidFill>
                <a:latin typeface="微软雅黑" panose="020B0503020204020204" pitchFamily="34" charset="-122"/>
                <a:ea typeface="微软雅黑" panose="020B0503020204020204" pitchFamily="34" charset="-122"/>
              </a:rPr>
              <a:t>过渡区</a:t>
            </a:r>
            <a:endParaRPr lang="zh-CN" altLang="en-US" sz="1200" b="1" i="0">
              <a:solidFill>
                <a:srgbClr val="123A4E"/>
              </a:solidFill>
              <a:latin typeface="微软雅黑" panose="020B0503020204020204" pitchFamily="34" charset="-122"/>
              <a:ea typeface="微软雅黑" panose="020B0503020204020204" pitchFamily="34" charset="-122"/>
            </a:endParaRPr>
          </a:p>
        </p:txBody>
      </p:sp>
      <p:sp>
        <p:nvSpPr>
          <p:cNvPr id="477" name="Chevron 10"/>
          <p:cNvSpPr/>
          <p:nvPr/>
        </p:nvSpPr>
        <p:spPr>
          <a:xfrm>
            <a:off x="3319272" y="1993392"/>
            <a:ext cx="1417320" cy="420624"/>
          </a:xfrm>
          <a:prstGeom prst="chevron">
            <a:avLst/>
          </a:prstGeom>
          <a:solidFill>
            <a:srgbClr val="5E8AA0"/>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lnSpc>
                <a:spcPct val="108000"/>
              </a:lnSpc>
            </a:pPr>
            <a:r>
              <a:rPr lang="zh-CN" altLang="en-US" sz="1200" b="1" i="0">
                <a:solidFill>
                  <a:srgbClr val="FFFFFF"/>
                </a:solidFill>
                <a:latin typeface="微软雅黑" panose="020B0503020204020204" pitchFamily="34" charset="-122"/>
                <a:ea typeface="微软雅黑" panose="020B0503020204020204" pitchFamily="34" charset="-122"/>
              </a:rPr>
              <a:t>紧张区</a:t>
            </a:r>
            <a:endParaRPr lang="zh-CN" altLang="en-US" sz="1200" b="1" i="0">
              <a:solidFill>
                <a:srgbClr val="FFFFFF"/>
              </a:solidFill>
              <a:latin typeface="微软雅黑" panose="020B0503020204020204" pitchFamily="34" charset="-122"/>
              <a:ea typeface="微软雅黑" panose="020B0503020204020204" pitchFamily="34" charset="-122"/>
            </a:endParaRPr>
          </a:p>
        </p:txBody>
      </p:sp>
      <p:sp>
        <p:nvSpPr>
          <p:cNvPr id="478" name="Chevron 11"/>
          <p:cNvSpPr/>
          <p:nvPr/>
        </p:nvSpPr>
        <p:spPr>
          <a:xfrm>
            <a:off x="4636008" y="1993392"/>
            <a:ext cx="1417320" cy="420624"/>
          </a:xfrm>
          <a:prstGeom prst="chevron">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lnSpc>
                <a:spcPct val="108000"/>
              </a:lnSpc>
            </a:pPr>
            <a:r>
              <a:rPr lang="zh-CN" altLang="en-US" sz="1200" b="1" i="0">
                <a:solidFill>
                  <a:srgbClr val="FFFFFF"/>
                </a:solidFill>
                <a:latin typeface="微软雅黑" panose="020B0503020204020204" pitchFamily="34" charset="-122"/>
                <a:ea typeface="微软雅黑" panose="020B0503020204020204" pitchFamily="34" charset="-122"/>
              </a:rPr>
              <a:t>受限区</a:t>
            </a:r>
            <a:endParaRPr lang="zh-CN" altLang="en-US" sz="1200" b="1" i="0">
              <a:solidFill>
                <a:srgbClr val="FFFFFF"/>
              </a:solidFill>
              <a:latin typeface="微软雅黑" panose="020B0503020204020204" pitchFamily="34" charset="-122"/>
              <a:ea typeface="微软雅黑" panose="020B0503020204020204" pitchFamily="34" charset="-122"/>
            </a:endParaRPr>
          </a:p>
        </p:txBody>
      </p:sp>
      <p:sp>
        <p:nvSpPr>
          <p:cNvPr id="479" name="Rectangle 12"/>
          <p:cNvSpPr/>
          <p:nvPr/>
        </p:nvSpPr>
        <p:spPr>
          <a:xfrm>
            <a:off x="685800" y="2560320"/>
            <a:ext cx="5577840" cy="420624"/>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lnSpc>
                <a:spcPct val="108000"/>
              </a:lnSpc>
            </a:pPr>
            <a:r>
              <a:rPr lang="zh-CN" altLang="en-US" sz="1250" b="1" i="0">
                <a:solidFill>
                  <a:srgbClr val="005375"/>
                </a:solidFill>
                <a:latin typeface="微软雅黑" panose="020B0503020204020204" pitchFamily="34" charset="-122"/>
                <a:ea typeface="微软雅黑" panose="020B0503020204020204" pitchFamily="34" charset="-122"/>
              </a:rPr>
              <a:t>CAWCC</a:t>
            </a:r>
            <a:r>
              <a:rPr lang="zh-CN" altLang="en-US" sz="1300" b="1" i="0">
                <a:solidFill>
                  <a:srgbClr val="1F2A33"/>
                </a:solidFill>
                <a:latin typeface="微软雅黑" panose="020B0503020204020204" pitchFamily="34" charset="-122"/>
                <a:ea typeface="微软雅黑" panose="020B0503020204020204" pitchFamily="34" charset="-122"/>
              </a:rPr>
              <a:t> = 安全区与过渡区的分界位置（随条件组合移动）</a:t>
            </a:r>
            <a:endParaRPr lang="zh-CN" altLang="en-US" sz="1300" b="1" i="0">
              <a:solidFill>
                <a:srgbClr val="1F2A33"/>
              </a:solidFill>
              <a:latin typeface="微软雅黑" panose="020B0503020204020204" pitchFamily="34" charset="-122"/>
              <a:ea typeface="微软雅黑" panose="020B0503020204020204" pitchFamily="34" charset="-122"/>
            </a:endParaRPr>
          </a:p>
        </p:txBody>
      </p:sp>
      <p:sp>
        <p:nvSpPr>
          <p:cNvPr id="480" name="TextBox 13"/>
          <p:cNvSpPr txBox="1"/>
          <p:nvPr/>
        </p:nvSpPr>
        <p:spPr>
          <a:xfrm>
            <a:off x="685800" y="3108960"/>
            <a:ext cx="2743200" cy="274320"/>
          </a:xfrm>
          <a:prstGeom prst="rect">
            <a:avLst/>
          </a:prstGeom>
          <a:noFill/>
        </p:spPr>
        <p:txBody>
          <a:bodyPr wrap="square" lIns="27432" tIns="13716" rIns="27432" bIns="13716" anchor="t">
            <a:spAutoFit/>
          </a:bodyPr>
          <a:lstStyle/>
          <a:p>
            <a:pPr algn="l">
              <a:lnSpc>
                <a:spcPct val="108000"/>
              </a:lnSpc>
            </a:pPr>
            <a:r>
              <a:rPr lang="zh-CN" altLang="en-US" sz="1300" b="1" i="0">
                <a:solidFill>
                  <a:srgbClr val="005375"/>
                </a:solidFill>
                <a:latin typeface="微软雅黑" panose="020B0503020204020204" pitchFamily="34" charset="-122"/>
                <a:ea typeface="微软雅黑" panose="020B0503020204020204" pitchFamily="34" charset="-122"/>
              </a:rPr>
              <a:t>条件组合扫描</a:t>
            </a:r>
            <a:endParaRPr lang="zh-CN" altLang="en-US" sz="1300" b="1" i="0">
              <a:solidFill>
                <a:srgbClr val="005375"/>
              </a:solidFill>
              <a:latin typeface="微软雅黑" panose="020B0503020204020204" pitchFamily="34" charset="-122"/>
              <a:ea typeface="微软雅黑" panose="020B0503020204020204" pitchFamily="34" charset="-122"/>
            </a:endParaRPr>
          </a:p>
        </p:txBody>
      </p:sp>
      <p:sp>
        <p:nvSpPr>
          <p:cNvPr id="481" name="Rectangle 14"/>
          <p:cNvSpPr/>
          <p:nvPr/>
        </p:nvSpPr>
        <p:spPr>
          <a:xfrm>
            <a:off x="685800" y="3401568"/>
            <a:ext cx="1389888" cy="3840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82" name="TextBox 15"/>
          <p:cNvSpPr txBox="1"/>
          <p:nvPr/>
        </p:nvSpPr>
        <p:spPr>
          <a:xfrm>
            <a:off x="685800" y="3401568"/>
            <a:ext cx="1389888" cy="384048"/>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FFFFFF"/>
                </a:solidFill>
                <a:latin typeface="微软雅黑" panose="020B0503020204020204" pitchFamily="34" charset="-122"/>
                <a:ea typeface="微软雅黑" panose="020B0503020204020204" pitchFamily="34" charset="-122"/>
              </a:rPr>
              <a:t>再生水占比</a:t>
            </a:r>
            <a:endParaRPr lang="zh-CN" altLang="en-US" sz="1150" b="1" i="0">
              <a:solidFill>
                <a:srgbClr val="FFFFFF"/>
              </a:solidFill>
              <a:latin typeface="微软雅黑" panose="020B0503020204020204" pitchFamily="34" charset="-122"/>
              <a:ea typeface="微软雅黑" panose="020B0503020204020204" pitchFamily="34" charset="-122"/>
            </a:endParaRPr>
          </a:p>
        </p:txBody>
      </p:sp>
      <p:sp>
        <p:nvSpPr>
          <p:cNvPr id="483" name="Rectangle 16"/>
          <p:cNvSpPr/>
          <p:nvPr/>
        </p:nvSpPr>
        <p:spPr>
          <a:xfrm>
            <a:off x="2103120" y="3401568"/>
            <a:ext cx="1344168" cy="384048"/>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84" name="TextBox 17"/>
          <p:cNvSpPr txBox="1"/>
          <p:nvPr/>
        </p:nvSpPr>
        <p:spPr>
          <a:xfrm>
            <a:off x="2103120" y="3401568"/>
            <a:ext cx="1344168" cy="384048"/>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低</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85" name="Rectangle 18"/>
          <p:cNvSpPr/>
          <p:nvPr/>
        </p:nvSpPr>
        <p:spPr>
          <a:xfrm>
            <a:off x="3474720" y="3401568"/>
            <a:ext cx="1344168" cy="384048"/>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86" name="TextBox 19"/>
          <p:cNvSpPr txBox="1"/>
          <p:nvPr/>
        </p:nvSpPr>
        <p:spPr>
          <a:xfrm>
            <a:off x="3474720" y="3401568"/>
            <a:ext cx="1344168" cy="384048"/>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湿冷</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87" name="Rectangle 20"/>
          <p:cNvSpPr/>
          <p:nvPr/>
        </p:nvSpPr>
        <p:spPr>
          <a:xfrm>
            <a:off x="4846320" y="3401568"/>
            <a:ext cx="1362456" cy="384048"/>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88" name="TextBox 21"/>
          <p:cNvSpPr txBox="1"/>
          <p:nvPr/>
        </p:nvSpPr>
        <p:spPr>
          <a:xfrm>
            <a:off x="4846320" y="3401568"/>
            <a:ext cx="1362456" cy="384048"/>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凉爽</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89" name="Rectangle 22"/>
          <p:cNvSpPr/>
          <p:nvPr/>
        </p:nvSpPr>
        <p:spPr>
          <a:xfrm>
            <a:off x="685800" y="3813048"/>
            <a:ext cx="1389888" cy="3840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90" name="TextBox 23"/>
          <p:cNvSpPr txBox="1"/>
          <p:nvPr/>
        </p:nvSpPr>
        <p:spPr>
          <a:xfrm>
            <a:off x="685800" y="3813048"/>
            <a:ext cx="1389888" cy="384048"/>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FFFFFF"/>
                </a:solidFill>
                <a:latin typeface="微软雅黑" panose="020B0503020204020204" pitchFamily="34" charset="-122"/>
                <a:ea typeface="微软雅黑" panose="020B0503020204020204" pitchFamily="34" charset="-122"/>
              </a:rPr>
              <a:t>冷却方式</a:t>
            </a:r>
            <a:endParaRPr lang="zh-CN" altLang="en-US" sz="1150" b="1" i="0">
              <a:solidFill>
                <a:srgbClr val="FFFFFF"/>
              </a:solidFill>
              <a:latin typeface="微软雅黑" panose="020B0503020204020204" pitchFamily="34" charset="-122"/>
              <a:ea typeface="微软雅黑" panose="020B0503020204020204" pitchFamily="34" charset="-122"/>
            </a:endParaRPr>
          </a:p>
        </p:txBody>
      </p:sp>
      <p:sp>
        <p:nvSpPr>
          <p:cNvPr id="491" name="Rectangle 24"/>
          <p:cNvSpPr/>
          <p:nvPr/>
        </p:nvSpPr>
        <p:spPr>
          <a:xfrm>
            <a:off x="2103120" y="3813048"/>
            <a:ext cx="1344168" cy="384048"/>
          </a:xfrm>
          <a:prstGeom prst="rect">
            <a:avLst/>
          </a:prstGeom>
          <a:solidFill>
            <a:srgbClr val="FFFFFF"/>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92" name="TextBox 25"/>
          <p:cNvSpPr txBox="1"/>
          <p:nvPr/>
        </p:nvSpPr>
        <p:spPr>
          <a:xfrm>
            <a:off x="2103120" y="3813048"/>
            <a:ext cx="1344168" cy="384048"/>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中</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93" name="Rectangle 26"/>
          <p:cNvSpPr/>
          <p:nvPr/>
        </p:nvSpPr>
        <p:spPr>
          <a:xfrm>
            <a:off x="3474720" y="3813048"/>
            <a:ext cx="1344168" cy="384048"/>
          </a:xfrm>
          <a:prstGeom prst="rect">
            <a:avLst/>
          </a:prstGeom>
          <a:solidFill>
            <a:srgbClr val="FFFFFF"/>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94" name="TextBox 27"/>
          <p:cNvSpPr txBox="1"/>
          <p:nvPr/>
        </p:nvSpPr>
        <p:spPr>
          <a:xfrm>
            <a:off x="3474720" y="3813048"/>
            <a:ext cx="1344168" cy="384048"/>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干湿混合</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95" name="Rectangle 28"/>
          <p:cNvSpPr/>
          <p:nvPr/>
        </p:nvSpPr>
        <p:spPr>
          <a:xfrm>
            <a:off x="4846320" y="3813048"/>
            <a:ext cx="1362456" cy="384048"/>
          </a:xfrm>
          <a:prstGeom prst="rect">
            <a:avLst/>
          </a:prstGeom>
          <a:solidFill>
            <a:srgbClr val="FFFFFF"/>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96" name="TextBox 29"/>
          <p:cNvSpPr txBox="1"/>
          <p:nvPr/>
        </p:nvSpPr>
        <p:spPr>
          <a:xfrm>
            <a:off x="4846320" y="3813048"/>
            <a:ext cx="1362456" cy="384048"/>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常态</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497" name="Rectangle 30"/>
          <p:cNvSpPr/>
          <p:nvPr/>
        </p:nvSpPr>
        <p:spPr>
          <a:xfrm>
            <a:off x="685800" y="4224528"/>
            <a:ext cx="1389888" cy="3840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498" name="TextBox 31"/>
          <p:cNvSpPr txBox="1"/>
          <p:nvPr/>
        </p:nvSpPr>
        <p:spPr>
          <a:xfrm>
            <a:off x="685800" y="4224528"/>
            <a:ext cx="1389888" cy="384048"/>
          </a:xfrm>
          <a:prstGeom prst="rect">
            <a:avLst/>
          </a:prstGeom>
          <a:noFill/>
        </p:spPr>
        <p:txBody>
          <a:bodyPr wrap="square" lIns="27432" tIns="13716" rIns="27432" bIns="13716" anchor="ctr">
            <a:spAutoFit/>
          </a:bodyPr>
          <a:lstStyle/>
          <a:p>
            <a:pPr algn="ctr">
              <a:lnSpc>
                <a:spcPct val="108000"/>
              </a:lnSpc>
            </a:pPr>
            <a:r>
              <a:rPr lang="zh-CN" altLang="en-US" sz="1150" b="1" i="0">
                <a:solidFill>
                  <a:srgbClr val="FFFFFF"/>
                </a:solidFill>
                <a:latin typeface="微软雅黑" panose="020B0503020204020204" pitchFamily="34" charset="-122"/>
                <a:ea typeface="微软雅黑" panose="020B0503020204020204" pitchFamily="34" charset="-122"/>
              </a:rPr>
              <a:t>气温情景</a:t>
            </a:r>
            <a:endParaRPr lang="zh-CN" altLang="en-US" sz="1150" b="1" i="0">
              <a:solidFill>
                <a:srgbClr val="FFFFFF"/>
              </a:solidFill>
              <a:latin typeface="微软雅黑" panose="020B0503020204020204" pitchFamily="34" charset="-122"/>
              <a:ea typeface="微软雅黑" panose="020B0503020204020204" pitchFamily="34" charset="-122"/>
            </a:endParaRPr>
          </a:p>
        </p:txBody>
      </p:sp>
      <p:sp>
        <p:nvSpPr>
          <p:cNvPr id="499" name="Rectangle 32"/>
          <p:cNvSpPr/>
          <p:nvPr/>
        </p:nvSpPr>
        <p:spPr>
          <a:xfrm>
            <a:off x="2103120" y="4224528"/>
            <a:ext cx="1344168" cy="384048"/>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00" name="TextBox 33"/>
          <p:cNvSpPr txBox="1"/>
          <p:nvPr/>
        </p:nvSpPr>
        <p:spPr>
          <a:xfrm>
            <a:off x="2103120" y="4224528"/>
            <a:ext cx="1344168" cy="384048"/>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高</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501" name="Rectangle 34"/>
          <p:cNvSpPr/>
          <p:nvPr/>
        </p:nvSpPr>
        <p:spPr>
          <a:xfrm>
            <a:off x="3474720" y="4224528"/>
            <a:ext cx="1344168" cy="384048"/>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02" name="TextBox 35"/>
          <p:cNvSpPr txBox="1"/>
          <p:nvPr/>
        </p:nvSpPr>
        <p:spPr>
          <a:xfrm>
            <a:off x="3474720" y="4224528"/>
            <a:ext cx="1344168" cy="384048"/>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干冷</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503" name="Rectangle 36"/>
          <p:cNvSpPr/>
          <p:nvPr/>
        </p:nvSpPr>
        <p:spPr>
          <a:xfrm>
            <a:off x="4846320" y="4224528"/>
            <a:ext cx="1362456" cy="384048"/>
          </a:xfrm>
          <a:prstGeom prst="rect">
            <a:avLst/>
          </a:prstGeom>
          <a:solidFill>
            <a:srgbClr val="F5F9FB"/>
          </a:solidFill>
          <a:ln w="6350">
            <a:solidFill>
              <a:srgbClr val="C6D9E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04" name="TextBox 37"/>
          <p:cNvSpPr txBox="1"/>
          <p:nvPr/>
        </p:nvSpPr>
        <p:spPr>
          <a:xfrm>
            <a:off x="4846320" y="4224528"/>
            <a:ext cx="1362456" cy="384048"/>
          </a:xfrm>
          <a:prstGeom prst="rect">
            <a:avLst/>
          </a:prstGeom>
          <a:noFill/>
        </p:spPr>
        <p:txBody>
          <a:bodyPr wrap="square" lIns="27432" tIns="13716" rIns="27432" bIns="13716" anchor="ctr">
            <a:spAutoFit/>
          </a:bodyPr>
          <a:lstStyle/>
          <a:p>
            <a:pPr algn="ctr">
              <a:lnSpc>
                <a:spcPct val="108000"/>
              </a:lnSpc>
            </a:pPr>
            <a:r>
              <a:rPr lang="zh-CN" altLang="en-US" sz="1150" b="0" i="0">
                <a:solidFill>
                  <a:srgbClr val="1F2A33"/>
                </a:solidFill>
                <a:latin typeface="微软雅黑" panose="020B0503020204020204" pitchFamily="34" charset="-122"/>
                <a:ea typeface="微软雅黑" panose="020B0503020204020204" pitchFamily="34" charset="-122"/>
              </a:rPr>
              <a:t>高温</a:t>
            </a:r>
            <a:endParaRPr lang="zh-CN" altLang="en-US" sz="1150" b="0" i="0">
              <a:solidFill>
                <a:srgbClr val="1F2A33"/>
              </a:solidFill>
              <a:latin typeface="微软雅黑" panose="020B0503020204020204" pitchFamily="34" charset="-122"/>
              <a:ea typeface="微软雅黑" panose="020B0503020204020204" pitchFamily="34" charset="-122"/>
            </a:endParaRPr>
          </a:p>
        </p:txBody>
      </p:sp>
      <p:sp>
        <p:nvSpPr>
          <p:cNvPr id="505" name="TextBox 38"/>
          <p:cNvSpPr txBox="1"/>
          <p:nvPr/>
        </p:nvSpPr>
        <p:spPr>
          <a:xfrm>
            <a:off x="685800" y="4690872"/>
            <a:ext cx="5486400" cy="320040"/>
          </a:xfrm>
          <a:prstGeom prst="rect">
            <a:avLst/>
          </a:prstGeom>
          <a:noFill/>
        </p:spPr>
        <p:txBody>
          <a:bodyPr wrap="square" lIns="27432" tIns="13716" rIns="27432" bIns="13716" anchor="t">
            <a:spAutoFit/>
          </a:bodyPr>
          <a:lstStyle/>
          <a:p>
            <a:pPr algn="l">
              <a:lnSpc>
                <a:spcPct val="108000"/>
              </a:lnSpc>
            </a:pPr>
            <a:r>
              <a:rPr lang="zh-CN" altLang="en-US" sz="1300" b="0" i="0">
                <a:solidFill>
                  <a:srgbClr val="1F2A33"/>
                </a:solidFill>
                <a:latin typeface="微软雅黑" panose="020B0503020204020204" pitchFamily="34" charset="-122"/>
                <a:ea typeface="微软雅黑" panose="020B0503020204020204" pitchFamily="34" charset="-122"/>
              </a:rPr>
              <a:t>→ 组合遍历 → 得到随条件变化的 </a:t>
            </a:r>
            <a:r>
              <a:rPr lang="zh-CN" altLang="en-US" sz="1300" b="1" i="0">
                <a:solidFill>
                  <a:srgbClr val="005375"/>
                </a:solidFill>
                <a:latin typeface="微软雅黑" panose="020B0503020204020204" pitchFamily="34" charset="-122"/>
                <a:ea typeface="微软雅黑" panose="020B0503020204020204" pitchFamily="34" charset="-122"/>
              </a:rPr>
              <a:t>CAWCC 容量曲面</a:t>
            </a:r>
            <a:endParaRPr lang="zh-CN" altLang="en-US" sz="1300" b="1" i="0">
              <a:solidFill>
                <a:srgbClr val="005375"/>
              </a:solidFill>
              <a:latin typeface="微软雅黑" panose="020B0503020204020204" pitchFamily="34" charset="-122"/>
              <a:ea typeface="微软雅黑" panose="020B0503020204020204" pitchFamily="34" charset="-122"/>
            </a:endParaRPr>
          </a:p>
        </p:txBody>
      </p:sp>
      <p:sp>
        <p:nvSpPr>
          <p:cNvPr id="506" name="Rounded Rectangle 39"/>
          <p:cNvSpPr/>
          <p:nvPr/>
        </p:nvSpPr>
        <p:spPr>
          <a:xfrm>
            <a:off x="6675120" y="914400"/>
            <a:ext cx="5029200" cy="452628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07" name="Rectangle 40"/>
          <p:cNvSpPr/>
          <p:nvPr/>
        </p:nvSpPr>
        <p:spPr>
          <a:xfrm>
            <a:off x="6858000" y="1097280"/>
            <a:ext cx="457200" cy="45720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000" b="1" i="0">
                <a:solidFill>
                  <a:srgbClr val="FFFFFF"/>
                </a:solidFill>
                <a:latin typeface="微软雅黑" panose="020B0503020204020204" pitchFamily="34" charset="-122"/>
                <a:ea typeface="微软雅黑" panose="020B0503020204020204" pitchFamily="34" charset="-122"/>
              </a:rPr>
              <a:t>02</a:t>
            </a:r>
            <a:endParaRPr lang="zh-CN" altLang="en-US" sz="2000" b="1" i="0">
              <a:solidFill>
                <a:srgbClr val="FFFFFF"/>
              </a:solidFill>
              <a:latin typeface="微软雅黑" panose="020B0503020204020204" pitchFamily="34" charset="-122"/>
              <a:ea typeface="微软雅黑" panose="020B0503020204020204" pitchFamily="34" charset="-122"/>
            </a:endParaRPr>
          </a:p>
        </p:txBody>
      </p:sp>
      <p:sp>
        <p:nvSpPr>
          <p:cNvPr id="508" name="TextBox 41"/>
          <p:cNvSpPr txBox="1"/>
          <p:nvPr/>
        </p:nvSpPr>
        <p:spPr>
          <a:xfrm>
            <a:off x="7452360" y="1115568"/>
            <a:ext cx="4114800" cy="411480"/>
          </a:xfrm>
          <a:prstGeom prst="rect">
            <a:avLst/>
          </a:prstGeom>
          <a:noFill/>
        </p:spPr>
        <p:txBody>
          <a:bodyPr wrap="square" lIns="27432" tIns="13716" rIns="27432" bIns="13716" anchor="t">
            <a:spAutoFit/>
          </a:bodyPr>
          <a:lstStyle/>
          <a:p>
            <a:pPr algn="l">
              <a:lnSpc>
                <a:spcPct val="108000"/>
              </a:lnSpc>
            </a:pPr>
            <a:r>
              <a:rPr lang="zh-CN" altLang="en-US" sz="1350" b="1" i="0">
                <a:solidFill>
                  <a:srgbClr val="1F2A33"/>
                </a:solidFill>
                <a:latin typeface="微软雅黑" panose="020B0503020204020204" pitchFamily="34" charset="-122"/>
                <a:ea typeface="微软雅黑" panose="020B0503020204020204" pitchFamily="34" charset="-122"/>
              </a:rPr>
              <a:t>三类干预区间与措施</a:t>
            </a:r>
            <a:endParaRPr lang="zh-CN" altLang="en-US" sz="1350" b="1" i="0">
              <a:solidFill>
                <a:srgbClr val="1F2A33"/>
              </a:solidFill>
              <a:latin typeface="微软雅黑" panose="020B0503020204020204" pitchFamily="34" charset="-122"/>
              <a:ea typeface="微软雅黑" panose="020B0503020204020204" pitchFamily="34" charset="-122"/>
            </a:endParaRPr>
          </a:p>
        </p:txBody>
      </p:sp>
      <p:sp>
        <p:nvSpPr>
          <p:cNvPr id="509" name="Rounded Rectangle 42"/>
          <p:cNvSpPr/>
          <p:nvPr/>
        </p:nvSpPr>
        <p:spPr>
          <a:xfrm>
            <a:off x="6876288" y="1737360"/>
            <a:ext cx="4626864" cy="969264"/>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10" name="Rectangle 43"/>
          <p:cNvSpPr/>
          <p:nvPr/>
        </p:nvSpPr>
        <p:spPr>
          <a:xfrm>
            <a:off x="6876288" y="1737360"/>
            <a:ext cx="64008" cy="96926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11" name="Rectangle 44"/>
          <p:cNvSpPr/>
          <p:nvPr/>
        </p:nvSpPr>
        <p:spPr>
          <a:xfrm>
            <a:off x="7059168" y="1947672"/>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12" name="TextBox 45"/>
          <p:cNvSpPr txBox="1"/>
          <p:nvPr/>
        </p:nvSpPr>
        <p:spPr>
          <a:xfrm>
            <a:off x="7059168" y="1947672"/>
            <a:ext cx="548640" cy="548640"/>
          </a:xfrm>
          <a:prstGeom prst="rect">
            <a:avLst/>
          </a:prstGeom>
          <a:noFill/>
        </p:spPr>
        <p:txBody>
          <a:bodyPr wrap="square" lIns="27432" tIns="13716" rIns="27432" bIns="13716" anchor="ctr">
            <a:spAutoFit/>
          </a:bodyPr>
          <a:lstStyle/>
          <a:p>
            <a:pPr algn="ctr">
              <a:lnSpc>
                <a:spcPct val="108000"/>
              </a:lnSpc>
            </a:pPr>
            <a:r>
              <a:rPr lang="zh-CN" altLang="en-US" sz="1500" b="1" i="0">
                <a:solidFill>
                  <a:srgbClr val="FFFFFF"/>
                </a:solidFill>
                <a:latin typeface="微软雅黑" panose="020B0503020204020204" pitchFamily="34" charset="-122"/>
                <a:ea typeface="微软雅黑" panose="020B0503020204020204" pitchFamily="34" charset="-122"/>
              </a:rPr>
              <a:t>供</a:t>
            </a:r>
            <a:endParaRPr lang="zh-CN" altLang="en-US" sz="1500" b="1" i="0">
              <a:solidFill>
                <a:srgbClr val="FFFFFF"/>
              </a:solidFill>
              <a:latin typeface="微软雅黑" panose="020B0503020204020204" pitchFamily="34" charset="-122"/>
              <a:ea typeface="微软雅黑" panose="020B0503020204020204" pitchFamily="34" charset="-122"/>
            </a:endParaRPr>
          </a:p>
        </p:txBody>
      </p:sp>
      <p:sp>
        <p:nvSpPr>
          <p:cNvPr id="513" name="TextBox 46"/>
          <p:cNvSpPr txBox="1"/>
          <p:nvPr/>
        </p:nvSpPr>
        <p:spPr>
          <a:xfrm>
            <a:off x="7772400" y="1847088"/>
            <a:ext cx="274320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供给侧</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514" name="TextBox 47"/>
          <p:cNvSpPr txBox="1"/>
          <p:nvPr/>
        </p:nvSpPr>
        <p:spPr>
          <a:xfrm>
            <a:off x="7772400" y="2157984"/>
            <a:ext cx="3566160" cy="273685"/>
          </a:xfrm>
          <a:prstGeom prst="rect">
            <a:avLst/>
          </a:prstGeom>
          <a:noFill/>
        </p:spPr>
        <p:txBody>
          <a:bodyPr wrap="square" lIns="27432" tIns="13716" rIns="27432" bIns="13716" anchor="t">
            <a:spAutoFit/>
          </a:bodyPr>
          <a:lstStyle/>
          <a:p>
            <a:pPr algn="l">
              <a:lnSpc>
                <a:spcPct val="115000"/>
              </a:lnSpc>
            </a:pPr>
            <a:r>
              <a:rPr lang="zh-CN" altLang="en-US" sz="1400" b="0" i="0">
                <a:solidFill>
                  <a:schemeClr val="tx1"/>
                </a:solidFill>
                <a:latin typeface="微软雅黑" panose="020B0503020204020204" pitchFamily="34" charset="-122"/>
                <a:ea typeface="微软雅黑" panose="020B0503020204020204" pitchFamily="34" charset="-122"/>
              </a:rPr>
              <a:t>再生水替代、多水源调度、蓄水调节</a:t>
            </a:r>
            <a:endParaRPr lang="zh-CN" altLang="en-US" sz="1400" b="0" i="0">
              <a:solidFill>
                <a:schemeClr val="tx1"/>
              </a:solidFill>
              <a:latin typeface="微软雅黑" panose="020B0503020204020204" pitchFamily="34" charset="-122"/>
              <a:ea typeface="微软雅黑" panose="020B0503020204020204" pitchFamily="34" charset="-122"/>
            </a:endParaRPr>
          </a:p>
        </p:txBody>
      </p:sp>
      <p:sp>
        <p:nvSpPr>
          <p:cNvPr id="515" name="TextBox 48"/>
          <p:cNvSpPr txBox="1"/>
          <p:nvPr/>
        </p:nvSpPr>
        <p:spPr>
          <a:xfrm>
            <a:off x="10607040" y="1920240"/>
            <a:ext cx="777240" cy="548640"/>
          </a:xfrm>
          <a:prstGeom prst="rect">
            <a:avLst/>
          </a:prstGeom>
          <a:noFill/>
        </p:spPr>
        <p:txBody>
          <a:bodyPr wrap="square" lIns="27432" tIns="13716" rIns="27432" bIns="13716" anchor="t">
            <a:spAutoFit/>
          </a:bodyPr>
          <a:lstStyle/>
          <a:p>
            <a:pPr algn="r">
              <a:lnSpc>
                <a:spcPct val="108000"/>
              </a:lnSpc>
            </a:pPr>
            <a:r>
              <a:rPr lang="zh-CN" altLang="en-US" sz="2200" b="1" i="0">
                <a:solidFill>
                  <a:srgbClr val="C9DCE6"/>
                </a:solidFill>
                <a:latin typeface="Arial" panose="020B0604020202020204"/>
                <a:ea typeface="Arial" panose="020B0604020202020204"/>
              </a:rPr>
              <a:t>01</a:t>
            </a:r>
            <a:endParaRPr lang="zh-CN" altLang="en-US" sz="2200" b="1" i="0">
              <a:solidFill>
                <a:srgbClr val="C9DCE6"/>
              </a:solidFill>
              <a:latin typeface="Arial" panose="020B0604020202020204"/>
              <a:ea typeface="Arial" panose="020B0604020202020204"/>
            </a:endParaRPr>
          </a:p>
        </p:txBody>
      </p:sp>
      <p:sp>
        <p:nvSpPr>
          <p:cNvPr id="516" name="Rounded Rectangle 49"/>
          <p:cNvSpPr/>
          <p:nvPr/>
        </p:nvSpPr>
        <p:spPr>
          <a:xfrm>
            <a:off x="6876288" y="2852928"/>
            <a:ext cx="4626864" cy="969264"/>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17" name="Rectangle 50"/>
          <p:cNvSpPr/>
          <p:nvPr/>
        </p:nvSpPr>
        <p:spPr>
          <a:xfrm>
            <a:off x="6876288" y="2852928"/>
            <a:ext cx="64008" cy="96926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18" name="Rectangle 51"/>
          <p:cNvSpPr/>
          <p:nvPr/>
        </p:nvSpPr>
        <p:spPr>
          <a:xfrm>
            <a:off x="7059168" y="3063240"/>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19" name="TextBox 52"/>
          <p:cNvSpPr txBox="1"/>
          <p:nvPr/>
        </p:nvSpPr>
        <p:spPr>
          <a:xfrm>
            <a:off x="7059168" y="3063240"/>
            <a:ext cx="548640" cy="548640"/>
          </a:xfrm>
          <a:prstGeom prst="rect">
            <a:avLst/>
          </a:prstGeom>
          <a:noFill/>
        </p:spPr>
        <p:txBody>
          <a:bodyPr wrap="square" lIns="27432" tIns="13716" rIns="27432" bIns="13716" anchor="ctr">
            <a:spAutoFit/>
          </a:bodyPr>
          <a:lstStyle/>
          <a:p>
            <a:pPr algn="ctr">
              <a:lnSpc>
                <a:spcPct val="108000"/>
              </a:lnSpc>
            </a:pPr>
            <a:r>
              <a:rPr lang="zh-CN" altLang="en-US" sz="1500" b="1" i="0">
                <a:solidFill>
                  <a:srgbClr val="FFFFFF"/>
                </a:solidFill>
                <a:latin typeface="微软雅黑" panose="020B0503020204020204" pitchFamily="34" charset="-122"/>
                <a:ea typeface="微软雅黑" panose="020B0503020204020204" pitchFamily="34" charset="-122"/>
              </a:rPr>
              <a:t>技</a:t>
            </a:r>
            <a:endParaRPr lang="zh-CN" altLang="en-US" sz="1500" b="1" i="0">
              <a:solidFill>
                <a:srgbClr val="FFFFFF"/>
              </a:solidFill>
              <a:latin typeface="微软雅黑" panose="020B0503020204020204" pitchFamily="34" charset="-122"/>
              <a:ea typeface="微软雅黑" panose="020B0503020204020204" pitchFamily="34" charset="-122"/>
            </a:endParaRPr>
          </a:p>
        </p:txBody>
      </p:sp>
      <p:sp>
        <p:nvSpPr>
          <p:cNvPr id="520" name="TextBox 53"/>
          <p:cNvSpPr txBox="1"/>
          <p:nvPr/>
        </p:nvSpPr>
        <p:spPr>
          <a:xfrm>
            <a:off x="7772400" y="2962656"/>
            <a:ext cx="274320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技术侧</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521" name="TextBox 54"/>
          <p:cNvSpPr txBox="1"/>
          <p:nvPr/>
        </p:nvSpPr>
        <p:spPr>
          <a:xfrm>
            <a:off x="7772400" y="3273552"/>
            <a:ext cx="3566160" cy="273685"/>
          </a:xfrm>
          <a:prstGeom prst="rect">
            <a:avLst/>
          </a:prstGeom>
          <a:noFill/>
        </p:spPr>
        <p:txBody>
          <a:bodyPr wrap="square" lIns="27432" tIns="13716" rIns="27432" bIns="13716" anchor="t">
            <a:spAutoFit/>
          </a:bodyPr>
          <a:lstStyle/>
          <a:p>
            <a:pPr algn="l">
              <a:lnSpc>
                <a:spcPct val="115000"/>
              </a:lnSpc>
            </a:pPr>
            <a:r>
              <a:rPr lang="zh-CN" altLang="en-US" sz="1400" b="0" i="0">
                <a:solidFill>
                  <a:schemeClr val="tx1"/>
                </a:solidFill>
                <a:latin typeface="微软雅黑" panose="020B0503020204020204" pitchFamily="34" charset="-122"/>
                <a:ea typeface="微软雅黑" panose="020B0503020204020204" pitchFamily="34" charset="-122"/>
              </a:rPr>
              <a:t>冷却方式改进、PUE 优化、浓缩倍数提升</a:t>
            </a:r>
            <a:endParaRPr lang="zh-CN" altLang="en-US" sz="1400" b="0" i="0">
              <a:solidFill>
                <a:schemeClr val="tx1"/>
              </a:solidFill>
              <a:latin typeface="微软雅黑" panose="020B0503020204020204" pitchFamily="34" charset="-122"/>
              <a:ea typeface="微软雅黑" panose="020B0503020204020204" pitchFamily="34" charset="-122"/>
            </a:endParaRPr>
          </a:p>
        </p:txBody>
      </p:sp>
      <p:sp>
        <p:nvSpPr>
          <p:cNvPr id="522" name="TextBox 55"/>
          <p:cNvSpPr txBox="1"/>
          <p:nvPr/>
        </p:nvSpPr>
        <p:spPr>
          <a:xfrm>
            <a:off x="10607040" y="3035808"/>
            <a:ext cx="777240" cy="548640"/>
          </a:xfrm>
          <a:prstGeom prst="rect">
            <a:avLst/>
          </a:prstGeom>
          <a:noFill/>
        </p:spPr>
        <p:txBody>
          <a:bodyPr wrap="square" lIns="27432" tIns="13716" rIns="27432" bIns="13716" anchor="t">
            <a:spAutoFit/>
          </a:bodyPr>
          <a:lstStyle/>
          <a:p>
            <a:pPr algn="r">
              <a:lnSpc>
                <a:spcPct val="108000"/>
              </a:lnSpc>
            </a:pPr>
            <a:r>
              <a:rPr lang="zh-CN" altLang="en-US" sz="2200" b="1" i="0">
                <a:solidFill>
                  <a:srgbClr val="C9DCE6"/>
                </a:solidFill>
                <a:latin typeface="Arial" panose="020B0604020202020204"/>
                <a:ea typeface="Arial" panose="020B0604020202020204"/>
              </a:rPr>
              <a:t>02</a:t>
            </a:r>
            <a:endParaRPr lang="zh-CN" altLang="en-US" sz="2200" b="1" i="0">
              <a:solidFill>
                <a:srgbClr val="C9DCE6"/>
              </a:solidFill>
              <a:latin typeface="Arial" panose="020B0604020202020204"/>
              <a:ea typeface="Arial" panose="020B0604020202020204"/>
            </a:endParaRPr>
          </a:p>
        </p:txBody>
      </p:sp>
      <p:sp>
        <p:nvSpPr>
          <p:cNvPr id="523" name="Rounded Rectangle 56"/>
          <p:cNvSpPr/>
          <p:nvPr/>
        </p:nvSpPr>
        <p:spPr>
          <a:xfrm>
            <a:off x="6876288" y="3968496"/>
            <a:ext cx="4626864" cy="969264"/>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24" name="Rectangle 57"/>
          <p:cNvSpPr/>
          <p:nvPr/>
        </p:nvSpPr>
        <p:spPr>
          <a:xfrm>
            <a:off x="6876288" y="3968496"/>
            <a:ext cx="64008" cy="96926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25" name="Rectangle 58"/>
          <p:cNvSpPr/>
          <p:nvPr/>
        </p:nvSpPr>
        <p:spPr>
          <a:xfrm>
            <a:off x="7059168" y="4178808"/>
            <a:ext cx="548640" cy="54864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26" name="TextBox 59"/>
          <p:cNvSpPr txBox="1"/>
          <p:nvPr/>
        </p:nvSpPr>
        <p:spPr>
          <a:xfrm>
            <a:off x="7059168" y="4178808"/>
            <a:ext cx="548640" cy="548640"/>
          </a:xfrm>
          <a:prstGeom prst="rect">
            <a:avLst/>
          </a:prstGeom>
          <a:noFill/>
        </p:spPr>
        <p:txBody>
          <a:bodyPr wrap="square" lIns="27432" tIns="13716" rIns="27432" bIns="13716" anchor="ctr">
            <a:spAutoFit/>
          </a:bodyPr>
          <a:lstStyle/>
          <a:p>
            <a:pPr algn="ctr">
              <a:lnSpc>
                <a:spcPct val="108000"/>
              </a:lnSpc>
            </a:pPr>
            <a:r>
              <a:rPr lang="zh-CN" altLang="en-US" sz="1500" b="1" i="0">
                <a:solidFill>
                  <a:srgbClr val="FFFFFF"/>
                </a:solidFill>
                <a:latin typeface="微软雅黑" panose="020B0503020204020204" pitchFamily="34" charset="-122"/>
                <a:ea typeface="微软雅黑" panose="020B0503020204020204" pitchFamily="34" charset="-122"/>
              </a:rPr>
              <a:t>运</a:t>
            </a:r>
            <a:endParaRPr lang="zh-CN" altLang="en-US" sz="1500" b="1" i="0">
              <a:solidFill>
                <a:srgbClr val="FFFFFF"/>
              </a:solidFill>
              <a:latin typeface="微软雅黑" panose="020B0503020204020204" pitchFamily="34" charset="-122"/>
              <a:ea typeface="微软雅黑" panose="020B0503020204020204" pitchFamily="34" charset="-122"/>
            </a:endParaRPr>
          </a:p>
        </p:txBody>
      </p:sp>
      <p:sp>
        <p:nvSpPr>
          <p:cNvPr id="527" name="TextBox 60"/>
          <p:cNvSpPr txBox="1"/>
          <p:nvPr/>
        </p:nvSpPr>
        <p:spPr>
          <a:xfrm>
            <a:off x="7772400" y="4078224"/>
            <a:ext cx="274320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运行侧</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528" name="TextBox 61"/>
          <p:cNvSpPr txBox="1"/>
          <p:nvPr/>
        </p:nvSpPr>
        <p:spPr>
          <a:xfrm>
            <a:off x="7772400" y="4389120"/>
            <a:ext cx="3566160" cy="273685"/>
          </a:xfrm>
          <a:prstGeom prst="rect">
            <a:avLst/>
          </a:prstGeom>
          <a:noFill/>
        </p:spPr>
        <p:txBody>
          <a:bodyPr wrap="square" lIns="27432" tIns="13716" rIns="27432" bIns="13716" anchor="t">
            <a:spAutoFit/>
          </a:bodyPr>
          <a:lstStyle/>
          <a:p>
            <a:pPr algn="l">
              <a:lnSpc>
                <a:spcPct val="115000"/>
              </a:lnSpc>
            </a:pPr>
            <a:r>
              <a:rPr lang="zh-CN" altLang="en-US" sz="1400" b="0" i="0">
                <a:solidFill>
                  <a:schemeClr val="tx1"/>
                </a:solidFill>
                <a:latin typeface="微软雅黑" panose="020B0503020204020204" pitchFamily="34" charset="-122"/>
                <a:ea typeface="微软雅黑" panose="020B0503020204020204" pitchFamily="34" charset="-122"/>
              </a:rPr>
              <a:t>负荷时序调度、回用率提升、排水协同</a:t>
            </a:r>
            <a:endParaRPr lang="zh-CN" altLang="en-US" sz="1400" b="0" i="0">
              <a:solidFill>
                <a:schemeClr val="tx1"/>
              </a:solidFill>
              <a:latin typeface="微软雅黑" panose="020B0503020204020204" pitchFamily="34" charset="-122"/>
              <a:ea typeface="微软雅黑" panose="020B0503020204020204" pitchFamily="34" charset="-122"/>
            </a:endParaRPr>
          </a:p>
        </p:txBody>
      </p:sp>
      <p:sp>
        <p:nvSpPr>
          <p:cNvPr id="529" name="TextBox 62"/>
          <p:cNvSpPr txBox="1"/>
          <p:nvPr/>
        </p:nvSpPr>
        <p:spPr>
          <a:xfrm>
            <a:off x="10607040" y="4151376"/>
            <a:ext cx="777240" cy="548640"/>
          </a:xfrm>
          <a:prstGeom prst="rect">
            <a:avLst/>
          </a:prstGeom>
          <a:noFill/>
        </p:spPr>
        <p:txBody>
          <a:bodyPr wrap="square" lIns="27432" tIns="13716" rIns="27432" bIns="13716" anchor="t">
            <a:spAutoFit/>
          </a:bodyPr>
          <a:lstStyle/>
          <a:p>
            <a:pPr algn="r">
              <a:lnSpc>
                <a:spcPct val="108000"/>
              </a:lnSpc>
            </a:pPr>
            <a:r>
              <a:rPr lang="zh-CN" altLang="en-US" sz="2200" b="1" i="0">
                <a:solidFill>
                  <a:srgbClr val="C9DCE6"/>
                </a:solidFill>
                <a:latin typeface="Arial" panose="020B0604020202020204"/>
                <a:ea typeface="Arial" panose="020B0604020202020204"/>
              </a:rPr>
              <a:t>03</a:t>
            </a:r>
            <a:endParaRPr lang="zh-CN" altLang="en-US" sz="2200" b="1" i="0">
              <a:solidFill>
                <a:srgbClr val="C9DCE6"/>
              </a:solidFill>
              <a:latin typeface="Arial" panose="020B0604020202020204"/>
              <a:ea typeface="Arial" panose="020B0604020202020204"/>
            </a:endParaRPr>
          </a:p>
        </p:txBody>
      </p:sp>
      <p:sp>
        <p:nvSpPr>
          <p:cNvPr id="530" name="Rectangle 63"/>
          <p:cNvSpPr/>
          <p:nvPr/>
        </p:nvSpPr>
        <p:spPr>
          <a:xfrm>
            <a:off x="6876288" y="5029200"/>
            <a:ext cx="4626864" cy="347472"/>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lnSpc>
                <a:spcPct val="108000"/>
              </a:lnSpc>
            </a:pPr>
            <a:r>
              <a:rPr lang="zh-CN" altLang="en-US" sz="1250" b="0" i="0">
                <a:solidFill>
                  <a:srgbClr val="1F2A33"/>
                </a:solidFill>
                <a:latin typeface="微软雅黑" panose="020B0503020204020204" pitchFamily="34" charset="-122"/>
                <a:ea typeface="微软雅黑" panose="020B0503020204020204" pitchFamily="34" charset="-122"/>
              </a:rPr>
              <a:t>干预效果以 </a:t>
            </a:r>
            <a:r>
              <a:rPr lang="zh-CN" altLang="en-US" sz="1250" b="1" i="0">
                <a:solidFill>
                  <a:srgbClr val="005375"/>
                </a:solidFill>
                <a:latin typeface="微软雅黑" panose="020B0503020204020204" pitchFamily="34" charset="-122"/>
                <a:ea typeface="微软雅黑" panose="020B0503020204020204" pitchFamily="34" charset="-122"/>
              </a:rPr>
              <a:t>CAWCC 提升幅度</a:t>
            </a:r>
            <a:r>
              <a:rPr lang="zh-CN" altLang="en-US" sz="1250" b="0" i="0">
                <a:solidFill>
                  <a:srgbClr val="1F2A33"/>
                </a:solidFill>
                <a:latin typeface="微软雅黑" panose="020B0503020204020204" pitchFamily="34" charset="-122"/>
                <a:ea typeface="微软雅黑" panose="020B0503020204020204" pitchFamily="34" charset="-122"/>
              </a:rPr>
              <a:t> 与瓶颈变化评估</a:t>
            </a:r>
            <a:endParaRPr lang="zh-CN" altLang="en-US" sz="1250" b="0" i="0">
              <a:solidFill>
                <a:srgbClr val="1F2A33"/>
              </a:solidFill>
              <a:latin typeface="微软雅黑" panose="020B0503020204020204" pitchFamily="34" charset="-122"/>
              <a:ea typeface="微软雅黑" panose="020B0503020204020204" pitchFamily="34" charset="-122"/>
            </a:endParaRPr>
          </a:p>
        </p:txBody>
      </p:sp>
      <p:sp>
        <p:nvSpPr>
          <p:cNvPr id="531" name="Rounded Rectangle 64"/>
          <p:cNvSpPr/>
          <p:nvPr/>
        </p:nvSpPr>
        <p:spPr>
          <a:xfrm>
            <a:off x="484632" y="5577840"/>
            <a:ext cx="11219688" cy="658368"/>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32" name="Rectangle 65"/>
          <p:cNvSpPr/>
          <p:nvPr/>
        </p:nvSpPr>
        <p:spPr>
          <a:xfrm>
            <a:off x="640080" y="5669280"/>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400" b="1" i="0">
                <a:solidFill>
                  <a:srgbClr val="FFFFFF"/>
                </a:solidFill>
                <a:latin typeface="微软雅黑" panose="020B0503020204020204" pitchFamily="34" charset="-122"/>
                <a:ea typeface="微软雅黑" panose="020B0503020204020204" pitchFamily="34" charset="-122"/>
              </a:rPr>
              <a:t>求解思路</a:t>
            </a:r>
            <a:endParaRPr lang="zh-CN" altLang="en-US" sz="1400" b="1" i="0">
              <a:solidFill>
                <a:srgbClr val="FFFFFF"/>
              </a:solidFill>
              <a:latin typeface="微软雅黑" panose="020B0503020204020204" pitchFamily="34" charset="-122"/>
              <a:ea typeface="微软雅黑" panose="020B0503020204020204" pitchFamily="34" charset="-122"/>
            </a:endParaRPr>
          </a:p>
        </p:txBody>
      </p:sp>
      <p:sp>
        <p:nvSpPr>
          <p:cNvPr id="533" name="TextBox 66"/>
          <p:cNvSpPr txBox="1"/>
          <p:nvPr/>
        </p:nvSpPr>
        <p:spPr>
          <a:xfrm>
            <a:off x="2240280" y="5792407"/>
            <a:ext cx="1600200" cy="229235"/>
          </a:xfrm>
          <a:prstGeom prst="rect">
            <a:avLst/>
          </a:prstGeom>
          <a:noFill/>
        </p:spPr>
        <p:txBody>
          <a:bodyPr wrap="square" lIns="27432" tIns="13716" rIns="27432" bIns="13716" anchor="ctr">
            <a:spAutoFit/>
          </a:bodyPr>
          <a:lstStyle/>
          <a:p>
            <a:pPr algn="ctr">
              <a:lnSpc>
                <a:spcPct val="110000"/>
              </a:lnSpc>
            </a:pPr>
            <a:r>
              <a:rPr lang="zh-CN" altLang="en-US" sz="1200" b="1" i="0">
                <a:solidFill>
                  <a:srgbClr val="005375"/>
                </a:solidFill>
                <a:latin typeface="微软雅黑" panose="020B0503020204020204" pitchFamily="34" charset="-122"/>
                <a:ea typeface="微软雅黑" panose="020B0503020204020204" pitchFamily="34" charset="-122"/>
              </a:rPr>
              <a:t>① 固定条件组合</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534" name="Right Arrow 67"/>
          <p:cNvSpPr/>
          <p:nvPr/>
        </p:nvSpPr>
        <p:spPr>
          <a:xfrm>
            <a:off x="3822192" y="5833872"/>
            <a:ext cx="128016" cy="109728"/>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35" name="TextBox 68"/>
          <p:cNvSpPr txBox="1"/>
          <p:nvPr/>
        </p:nvSpPr>
        <p:spPr>
          <a:xfrm>
            <a:off x="3986784" y="5792407"/>
            <a:ext cx="1600200" cy="229235"/>
          </a:xfrm>
          <a:prstGeom prst="rect">
            <a:avLst/>
          </a:prstGeom>
          <a:noFill/>
        </p:spPr>
        <p:txBody>
          <a:bodyPr wrap="square" lIns="27432" tIns="13716" rIns="27432" bIns="13716" anchor="ctr">
            <a:spAutoFit/>
          </a:bodyPr>
          <a:lstStyle/>
          <a:p>
            <a:pPr algn="ctr">
              <a:lnSpc>
                <a:spcPct val="110000"/>
              </a:lnSpc>
            </a:pPr>
            <a:r>
              <a:rPr lang="zh-CN" altLang="en-US" sz="1200" b="1" i="0">
                <a:solidFill>
                  <a:srgbClr val="005375"/>
                </a:solidFill>
                <a:latin typeface="微软雅黑" panose="020B0503020204020204" pitchFamily="34" charset="-122"/>
                <a:ea typeface="微软雅黑" panose="020B0503020204020204" pitchFamily="34" charset="-122"/>
              </a:rPr>
              <a:t>② 逐步提升算力规模</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536" name="Right Arrow 69"/>
          <p:cNvSpPr/>
          <p:nvPr/>
        </p:nvSpPr>
        <p:spPr>
          <a:xfrm>
            <a:off x="5568696" y="5833872"/>
            <a:ext cx="128016" cy="109728"/>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37" name="TextBox 70"/>
          <p:cNvSpPr txBox="1"/>
          <p:nvPr/>
        </p:nvSpPr>
        <p:spPr>
          <a:xfrm>
            <a:off x="5733288" y="5792407"/>
            <a:ext cx="1600200" cy="229235"/>
          </a:xfrm>
          <a:prstGeom prst="rect">
            <a:avLst/>
          </a:prstGeom>
          <a:noFill/>
        </p:spPr>
        <p:txBody>
          <a:bodyPr wrap="square" lIns="27432" tIns="13716" rIns="27432" bIns="13716" anchor="ctr">
            <a:spAutoFit/>
          </a:bodyPr>
          <a:lstStyle/>
          <a:p>
            <a:pPr algn="ctr">
              <a:lnSpc>
                <a:spcPct val="110000"/>
              </a:lnSpc>
            </a:pPr>
            <a:r>
              <a:rPr lang="zh-CN" altLang="en-US" sz="1200" b="1" i="0">
                <a:solidFill>
                  <a:srgbClr val="005375"/>
                </a:solidFill>
                <a:latin typeface="微软雅黑" panose="020B0503020204020204" pitchFamily="34" charset="-122"/>
                <a:ea typeface="微软雅黑" panose="020B0503020204020204" pitchFamily="34" charset="-122"/>
              </a:rPr>
              <a:t>③ 识别首个越限约束</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
        <p:nvSpPr>
          <p:cNvPr id="538" name="Right Arrow 71"/>
          <p:cNvSpPr/>
          <p:nvPr/>
        </p:nvSpPr>
        <p:spPr>
          <a:xfrm>
            <a:off x="7315200" y="5833872"/>
            <a:ext cx="128016" cy="109728"/>
          </a:xfrm>
          <a:prstGeom prst="rightArrow">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000"/>
          </a:p>
        </p:txBody>
      </p:sp>
      <p:sp>
        <p:nvSpPr>
          <p:cNvPr id="539" name="TextBox 72"/>
          <p:cNvSpPr txBox="1"/>
          <p:nvPr/>
        </p:nvSpPr>
        <p:spPr>
          <a:xfrm>
            <a:off x="7065010" y="5792470"/>
            <a:ext cx="3977640" cy="229235"/>
          </a:xfrm>
          <a:prstGeom prst="rect">
            <a:avLst/>
          </a:prstGeom>
          <a:noFill/>
        </p:spPr>
        <p:txBody>
          <a:bodyPr wrap="square" lIns="27432" tIns="13716" rIns="27432" bIns="13716" anchor="ctr">
            <a:spAutoFit/>
          </a:bodyPr>
          <a:lstStyle/>
          <a:p>
            <a:pPr algn="ctr">
              <a:lnSpc>
                <a:spcPct val="110000"/>
              </a:lnSpc>
            </a:pPr>
            <a:r>
              <a:rPr lang="zh-CN" altLang="en-US" sz="1200" b="1" i="0">
                <a:solidFill>
                  <a:srgbClr val="005375"/>
                </a:solidFill>
                <a:latin typeface="微软雅黑" panose="020B0503020204020204" pitchFamily="34" charset="-122"/>
                <a:ea typeface="微软雅黑" panose="020B0503020204020204" pitchFamily="34" charset="-122"/>
              </a:rPr>
              <a:t>④ 该约束即为主导瓶颈，对应规模即 CAWCC</a:t>
            </a:r>
            <a:endParaRPr lang="zh-CN" altLang="en-US" sz="1200" b="1" i="0">
              <a:solidFill>
                <a:srgbClr val="005375"/>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540" name=""/>
        <p:cNvGrpSpPr/>
        <p:nvPr/>
      </p:nvGrpSpPr>
      <p:grpSpPr>
        <a:xfrm>
          <a:off x="0" y="0"/>
          <a:ext cx="0" cy="0"/>
          <a:chOff x="0" y="0"/>
          <a:chExt cx="0" cy="0"/>
        </a:xfrm>
      </p:grpSpPr>
      <p:sp>
        <p:nvSpPr>
          <p:cNvPr id="541"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输出指标与结果可信度</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542"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543"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20 / 24</a:t>
            </a:r>
            <a:endParaRPr lang="zh-CN" altLang="en-US" sz="1000" b="1" i="0">
              <a:solidFill>
                <a:srgbClr val="FFFFFF"/>
              </a:solidFill>
              <a:latin typeface="Arial" panose="020B0604020202020204"/>
              <a:ea typeface="Arial" panose="020B0604020202020204"/>
            </a:endParaRPr>
          </a:p>
        </p:txBody>
      </p:sp>
      <p:sp>
        <p:nvSpPr>
          <p:cNvPr id="544" name="Rounded Rectangle 4"/>
          <p:cNvSpPr/>
          <p:nvPr/>
        </p:nvSpPr>
        <p:spPr>
          <a:xfrm>
            <a:off x="484632" y="914400"/>
            <a:ext cx="5504688"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45" name="Rectangle 5"/>
          <p:cNvSpPr/>
          <p:nvPr/>
        </p:nvSpPr>
        <p:spPr>
          <a:xfrm>
            <a:off x="502920" y="932688"/>
            <a:ext cx="546811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46" name="Rectangle 6"/>
          <p:cNvSpPr/>
          <p:nvPr/>
        </p:nvSpPr>
        <p:spPr>
          <a:xfrm>
            <a:off x="502920" y="996696"/>
            <a:ext cx="5468112"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核心输出指标</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547" name="Rectangle 7"/>
          <p:cNvSpPr/>
          <p:nvPr/>
        </p:nvSpPr>
        <p:spPr>
          <a:xfrm>
            <a:off x="713232" y="1572768"/>
            <a:ext cx="365760" cy="3657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000" b="1" i="0">
                <a:solidFill>
                  <a:srgbClr val="FFFFFF"/>
                </a:solidFill>
                <a:latin typeface="微软雅黑" panose="020B0503020204020204" pitchFamily="34" charset="-122"/>
                <a:ea typeface="微软雅黑" panose="020B0503020204020204" pitchFamily="34" charset="-122"/>
              </a:rPr>
              <a:t>1</a:t>
            </a:r>
            <a:endParaRPr lang="zh-CN" altLang="en-US" sz="2000" b="1" i="0">
              <a:solidFill>
                <a:srgbClr val="FFFFFF"/>
              </a:solidFill>
              <a:latin typeface="微软雅黑" panose="020B0503020204020204" pitchFamily="34" charset="-122"/>
              <a:ea typeface="微软雅黑" panose="020B0503020204020204" pitchFamily="34" charset="-122"/>
            </a:endParaRPr>
          </a:p>
        </p:txBody>
      </p:sp>
      <p:sp>
        <p:nvSpPr>
          <p:cNvPr id="548" name="TextBox 8"/>
          <p:cNvSpPr txBox="1"/>
          <p:nvPr/>
        </p:nvSpPr>
        <p:spPr>
          <a:xfrm>
            <a:off x="1234440" y="1536192"/>
            <a:ext cx="457200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CAWCC</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549" name="TextBox 9"/>
          <p:cNvSpPr txBox="1"/>
          <p:nvPr/>
        </p:nvSpPr>
        <p:spPr>
          <a:xfrm>
            <a:off x="1234440" y="1792224"/>
            <a:ext cx="457200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条件化 AI 水承载容量（主指标）</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550" name="Rectangle 10"/>
          <p:cNvSpPr/>
          <p:nvPr/>
        </p:nvSpPr>
        <p:spPr>
          <a:xfrm>
            <a:off x="713232" y="2304288"/>
            <a:ext cx="365760" cy="3657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000" b="1" i="0">
                <a:solidFill>
                  <a:srgbClr val="FFFFFF"/>
                </a:solidFill>
                <a:latin typeface="微软雅黑" panose="020B0503020204020204" pitchFamily="34" charset="-122"/>
                <a:ea typeface="微软雅黑" panose="020B0503020204020204" pitchFamily="34" charset="-122"/>
              </a:rPr>
              <a:t>2</a:t>
            </a:r>
            <a:endParaRPr lang="zh-CN" altLang="en-US" sz="2000" b="1" i="0">
              <a:solidFill>
                <a:srgbClr val="FFFFFF"/>
              </a:solidFill>
              <a:latin typeface="微软雅黑" panose="020B0503020204020204" pitchFamily="34" charset="-122"/>
              <a:ea typeface="微软雅黑" panose="020B0503020204020204" pitchFamily="34" charset="-122"/>
            </a:endParaRPr>
          </a:p>
        </p:txBody>
      </p:sp>
      <p:sp>
        <p:nvSpPr>
          <p:cNvPr id="551" name="TextBox 11"/>
          <p:cNvSpPr txBox="1"/>
          <p:nvPr/>
        </p:nvSpPr>
        <p:spPr>
          <a:xfrm>
            <a:off x="1234440" y="2267712"/>
            <a:ext cx="457200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水代谢通量</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552" name="TextBox 12"/>
          <p:cNvSpPr txBox="1"/>
          <p:nvPr/>
        </p:nvSpPr>
        <p:spPr>
          <a:xfrm>
            <a:off x="1234440" y="2523744"/>
            <a:ext cx="457200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取水、排水、回用与消耗的逐时通量</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553" name="Rectangle 13"/>
          <p:cNvSpPr/>
          <p:nvPr/>
        </p:nvSpPr>
        <p:spPr>
          <a:xfrm>
            <a:off x="713232" y="3035808"/>
            <a:ext cx="365760" cy="3657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000" b="1" i="0">
                <a:solidFill>
                  <a:srgbClr val="FFFFFF"/>
                </a:solidFill>
                <a:latin typeface="微软雅黑" panose="020B0503020204020204" pitchFamily="34" charset="-122"/>
                <a:ea typeface="微软雅黑" panose="020B0503020204020204" pitchFamily="34" charset="-122"/>
              </a:rPr>
              <a:t>3</a:t>
            </a:r>
            <a:endParaRPr lang="zh-CN" altLang="en-US" sz="2000" b="1" i="0">
              <a:solidFill>
                <a:srgbClr val="FFFFFF"/>
              </a:solidFill>
              <a:latin typeface="微软雅黑" panose="020B0503020204020204" pitchFamily="34" charset="-122"/>
              <a:ea typeface="微软雅黑" panose="020B0503020204020204" pitchFamily="34" charset="-122"/>
            </a:endParaRPr>
          </a:p>
        </p:txBody>
      </p:sp>
      <p:sp>
        <p:nvSpPr>
          <p:cNvPr id="554" name="TextBox 14"/>
          <p:cNvSpPr txBox="1"/>
          <p:nvPr/>
        </p:nvSpPr>
        <p:spPr>
          <a:xfrm>
            <a:off x="1234440" y="2999232"/>
            <a:ext cx="457200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主导瓶颈</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555" name="TextBox 15"/>
          <p:cNvSpPr txBox="1"/>
          <p:nvPr/>
        </p:nvSpPr>
        <p:spPr>
          <a:xfrm>
            <a:off x="1234440" y="3255264"/>
            <a:ext cx="457200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各条件下的首要约束及其排序</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556" name="Rectangle 16"/>
          <p:cNvSpPr/>
          <p:nvPr/>
        </p:nvSpPr>
        <p:spPr>
          <a:xfrm>
            <a:off x="713232" y="3767328"/>
            <a:ext cx="365760" cy="3657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000" b="1" i="0">
                <a:solidFill>
                  <a:srgbClr val="FFFFFF"/>
                </a:solidFill>
                <a:latin typeface="微软雅黑" panose="020B0503020204020204" pitchFamily="34" charset="-122"/>
                <a:ea typeface="微软雅黑" panose="020B0503020204020204" pitchFamily="34" charset="-122"/>
              </a:rPr>
              <a:t>4</a:t>
            </a:r>
            <a:endParaRPr lang="zh-CN" altLang="en-US" sz="2000" b="1" i="0">
              <a:solidFill>
                <a:srgbClr val="FFFFFF"/>
              </a:solidFill>
              <a:latin typeface="微软雅黑" panose="020B0503020204020204" pitchFamily="34" charset="-122"/>
              <a:ea typeface="微软雅黑" panose="020B0503020204020204" pitchFamily="34" charset="-122"/>
            </a:endParaRPr>
          </a:p>
        </p:txBody>
      </p:sp>
      <p:sp>
        <p:nvSpPr>
          <p:cNvPr id="557" name="TextBox 17"/>
          <p:cNvSpPr txBox="1"/>
          <p:nvPr/>
        </p:nvSpPr>
        <p:spPr>
          <a:xfrm>
            <a:off x="1234440" y="3730752"/>
            <a:ext cx="457200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瓶颈迁移路径</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558" name="TextBox 18"/>
          <p:cNvSpPr txBox="1"/>
          <p:nvPr/>
        </p:nvSpPr>
        <p:spPr>
          <a:xfrm>
            <a:off x="1234440" y="3986784"/>
            <a:ext cx="457200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随季节与条件变化的瓶颈迁移</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559" name="Rectangle 19"/>
          <p:cNvSpPr/>
          <p:nvPr/>
        </p:nvSpPr>
        <p:spPr>
          <a:xfrm>
            <a:off x="713232" y="4498848"/>
            <a:ext cx="365760" cy="3657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2000" b="1" i="0">
                <a:solidFill>
                  <a:srgbClr val="FFFFFF"/>
                </a:solidFill>
                <a:latin typeface="微软雅黑" panose="020B0503020204020204" pitchFamily="34" charset="-122"/>
                <a:ea typeface="微软雅黑" panose="020B0503020204020204" pitchFamily="34" charset="-122"/>
              </a:rPr>
              <a:t>5</a:t>
            </a:r>
            <a:endParaRPr lang="zh-CN" altLang="en-US" sz="2000" b="1" i="0">
              <a:solidFill>
                <a:srgbClr val="FFFFFF"/>
              </a:solidFill>
              <a:latin typeface="微软雅黑" panose="020B0503020204020204" pitchFamily="34" charset="-122"/>
              <a:ea typeface="微软雅黑" panose="020B0503020204020204" pitchFamily="34" charset="-122"/>
            </a:endParaRPr>
          </a:p>
        </p:txBody>
      </p:sp>
      <p:sp>
        <p:nvSpPr>
          <p:cNvPr id="560" name="TextBox 20"/>
          <p:cNvSpPr txBox="1"/>
          <p:nvPr/>
        </p:nvSpPr>
        <p:spPr>
          <a:xfrm>
            <a:off x="1234440" y="4462272"/>
            <a:ext cx="457200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干预提升幅度</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561" name="TextBox 21"/>
          <p:cNvSpPr txBox="1"/>
          <p:nvPr/>
        </p:nvSpPr>
        <p:spPr>
          <a:xfrm>
            <a:off x="1234440" y="4718304"/>
            <a:ext cx="457200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不同措施对 CAWCC 的提升效果</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562" name="Rectangle 22"/>
          <p:cNvSpPr/>
          <p:nvPr/>
        </p:nvSpPr>
        <p:spPr>
          <a:xfrm>
            <a:off x="713105" y="5171440"/>
            <a:ext cx="5029200" cy="626110"/>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lnSpc>
                <a:spcPct val="108000"/>
              </a:lnSpc>
            </a:pPr>
            <a:r>
              <a:rPr lang="zh-CN" altLang="en-US" sz="1600" b="1" i="0">
                <a:solidFill>
                  <a:srgbClr val="005375"/>
                </a:solidFill>
                <a:latin typeface="微软雅黑" panose="020B0503020204020204" pitchFamily="34" charset="-122"/>
                <a:ea typeface="微软雅黑" panose="020B0503020204020204" pitchFamily="34" charset="-122"/>
              </a:rPr>
              <a:t>主指标结论同时给出「容量」与「瓶颈」，避免只有阈值无解释。</a:t>
            </a:r>
            <a:endParaRPr lang="zh-CN" altLang="en-US" sz="1600" b="1" i="0">
              <a:solidFill>
                <a:srgbClr val="005375"/>
              </a:solidFill>
              <a:latin typeface="微软雅黑" panose="020B0503020204020204" pitchFamily="34" charset="-122"/>
              <a:ea typeface="微软雅黑" panose="020B0503020204020204" pitchFamily="34" charset="-122"/>
            </a:endParaRPr>
          </a:p>
        </p:txBody>
      </p:sp>
      <p:sp>
        <p:nvSpPr>
          <p:cNvPr id="563" name="Rounded Rectangle 23"/>
          <p:cNvSpPr/>
          <p:nvPr/>
        </p:nvSpPr>
        <p:spPr>
          <a:xfrm>
            <a:off x="6199632" y="914400"/>
            <a:ext cx="5504688"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64" name="Rectangle 24"/>
          <p:cNvSpPr/>
          <p:nvPr/>
        </p:nvSpPr>
        <p:spPr>
          <a:xfrm>
            <a:off x="6217920" y="932688"/>
            <a:ext cx="5468112"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65" name="Rectangle 25"/>
          <p:cNvSpPr/>
          <p:nvPr/>
        </p:nvSpPr>
        <p:spPr>
          <a:xfrm>
            <a:off x="6217920" y="996696"/>
            <a:ext cx="5468112"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可信度与不确定性处理</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566" name="Rounded Rectangle 26"/>
          <p:cNvSpPr/>
          <p:nvPr/>
        </p:nvSpPr>
        <p:spPr>
          <a:xfrm>
            <a:off x="6419088" y="1600200"/>
            <a:ext cx="5074920" cy="960120"/>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67" name="Rectangle 27"/>
          <p:cNvSpPr/>
          <p:nvPr/>
        </p:nvSpPr>
        <p:spPr>
          <a:xfrm>
            <a:off x="6419088" y="1600200"/>
            <a:ext cx="73152" cy="96012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68" name="TextBox 28"/>
          <p:cNvSpPr txBox="1"/>
          <p:nvPr/>
        </p:nvSpPr>
        <p:spPr>
          <a:xfrm>
            <a:off x="6656832" y="1691640"/>
            <a:ext cx="466344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参数来源校验</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569" name="TextBox 29"/>
          <p:cNvSpPr txBox="1"/>
          <p:nvPr/>
        </p:nvSpPr>
        <p:spPr>
          <a:xfrm>
            <a:off x="6656832" y="1984248"/>
            <a:ext cx="4663440"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关键参数以多来源交叉比对，标注取值范围而非单点值。</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570" name="Rounded Rectangle 30"/>
          <p:cNvSpPr/>
          <p:nvPr/>
        </p:nvSpPr>
        <p:spPr>
          <a:xfrm>
            <a:off x="6419088" y="2679191"/>
            <a:ext cx="5074920" cy="960120"/>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71" name="Rectangle 31"/>
          <p:cNvSpPr/>
          <p:nvPr/>
        </p:nvSpPr>
        <p:spPr>
          <a:xfrm>
            <a:off x="6419088" y="2679191"/>
            <a:ext cx="73152" cy="96012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72" name="TextBox 32"/>
          <p:cNvSpPr txBox="1"/>
          <p:nvPr/>
        </p:nvSpPr>
        <p:spPr>
          <a:xfrm>
            <a:off x="6656832" y="2770632"/>
            <a:ext cx="466344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敏感性分析</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573" name="TextBox 33"/>
          <p:cNvSpPr txBox="1"/>
          <p:nvPr/>
        </p:nvSpPr>
        <p:spPr>
          <a:xfrm>
            <a:off x="6656832" y="3063239"/>
            <a:ext cx="4663440"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对关键参数做敏感性分析，识别对结论影响最大的因素。</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574" name="Rounded Rectangle 34"/>
          <p:cNvSpPr/>
          <p:nvPr/>
        </p:nvSpPr>
        <p:spPr>
          <a:xfrm>
            <a:off x="6419088" y="3758183"/>
            <a:ext cx="5074920" cy="960120"/>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75" name="Rectangle 35"/>
          <p:cNvSpPr/>
          <p:nvPr/>
        </p:nvSpPr>
        <p:spPr>
          <a:xfrm>
            <a:off x="6419088" y="3758183"/>
            <a:ext cx="73152" cy="96012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76" name="TextBox 36"/>
          <p:cNvSpPr txBox="1"/>
          <p:nvPr/>
        </p:nvSpPr>
        <p:spPr>
          <a:xfrm>
            <a:off x="6656832" y="3849623"/>
            <a:ext cx="466344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情景边界清晰</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577" name="TextBox 37"/>
          <p:cNvSpPr txBox="1"/>
          <p:nvPr/>
        </p:nvSpPr>
        <p:spPr>
          <a:xfrm>
            <a:off x="6656832" y="4142231"/>
            <a:ext cx="4663440"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明确说明假设与适用边界，避免超出数据支撑外推。</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578" name="Rounded Rectangle 38"/>
          <p:cNvSpPr/>
          <p:nvPr/>
        </p:nvSpPr>
        <p:spPr>
          <a:xfrm>
            <a:off x="6419088" y="4837175"/>
            <a:ext cx="5074920" cy="960120"/>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79" name="Rectangle 39"/>
          <p:cNvSpPr/>
          <p:nvPr/>
        </p:nvSpPr>
        <p:spPr>
          <a:xfrm>
            <a:off x="6419088" y="4837175"/>
            <a:ext cx="73152" cy="96012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80" name="TextBox 40"/>
          <p:cNvSpPr txBox="1"/>
          <p:nvPr/>
        </p:nvSpPr>
        <p:spPr>
          <a:xfrm>
            <a:off x="6656832" y="4928615"/>
            <a:ext cx="466344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结果稳健性讨论</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581" name="TextBox 41"/>
          <p:cNvSpPr txBox="1"/>
          <p:nvPr/>
        </p:nvSpPr>
        <p:spPr>
          <a:xfrm>
            <a:off x="6656832" y="5221223"/>
            <a:ext cx="4663440"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结论以相对变化与排序为主，降低绝对值不确定性影响。</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582" name=""/>
        <p:cNvGrpSpPr/>
        <p:nvPr/>
      </p:nvGrpSpPr>
      <p:grpSpPr>
        <a:xfrm>
          <a:off x="0" y="0"/>
          <a:ext cx="0" cy="0"/>
          <a:chOff x="0" y="0"/>
          <a:chExt cx="0" cy="0"/>
        </a:xfrm>
      </p:grpSpPr>
      <p:sp>
        <p:nvSpPr>
          <p:cNvPr id="583"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584"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21 / 24</a:t>
            </a:r>
            <a:endParaRPr lang="zh-CN" altLang="en-US" sz="1000" b="1" i="0">
              <a:solidFill>
                <a:srgbClr val="FFFFFF"/>
              </a:solidFill>
              <a:latin typeface="Arial" panose="020B0604020202020204"/>
              <a:ea typeface="Arial" panose="020B0604020202020204"/>
            </a:endParaRPr>
          </a:p>
        </p:txBody>
      </p:sp>
      <p:sp>
        <p:nvSpPr>
          <p:cNvPr id="585" name="TextBox 4"/>
          <p:cNvSpPr txBox="1"/>
          <p:nvPr/>
        </p:nvSpPr>
        <p:spPr>
          <a:xfrm>
            <a:off x="731520" y="868680"/>
            <a:ext cx="4206240" cy="1600200"/>
          </a:xfrm>
          <a:prstGeom prst="rect">
            <a:avLst/>
          </a:prstGeom>
          <a:noFill/>
        </p:spPr>
        <p:txBody>
          <a:bodyPr wrap="square" lIns="27432" tIns="13716" rIns="27432" bIns="13716" anchor="t">
            <a:spAutoFit/>
          </a:bodyPr>
          <a:lstStyle/>
          <a:p>
            <a:pPr algn="l">
              <a:lnSpc>
                <a:spcPct val="108000"/>
              </a:lnSpc>
            </a:pPr>
            <a:r>
              <a:rPr lang="zh-CN" altLang="en-US" sz="9600" b="0" i="0">
                <a:solidFill>
                  <a:srgbClr val="005375"/>
                </a:solidFill>
                <a:latin typeface="Arial Black" panose="020B0A04020102020204"/>
                <a:ea typeface="Arial Black" panose="020B0A04020102020204"/>
              </a:rPr>
              <a:t>05</a:t>
            </a:r>
            <a:endParaRPr lang="zh-CN" altLang="en-US" sz="9600" b="0" i="0">
              <a:solidFill>
                <a:srgbClr val="005375"/>
              </a:solidFill>
              <a:latin typeface="Arial Black" panose="020B0A04020102020204"/>
              <a:ea typeface="Arial Black" panose="020B0A04020102020204"/>
            </a:endParaRPr>
          </a:p>
        </p:txBody>
      </p:sp>
      <p:sp>
        <p:nvSpPr>
          <p:cNvPr id="586" name="TextBox 5"/>
          <p:cNvSpPr txBox="1"/>
          <p:nvPr/>
        </p:nvSpPr>
        <p:spPr>
          <a:xfrm>
            <a:off x="896112" y="2487168"/>
            <a:ext cx="3200400" cy="310896"/>
          </a:xfrm>
          <a:prstGeom prst="rect">
            <a:avLst/>
          </a:prstGeom>
          <a:noFill/>
        </p:spPr>
        <p:txBody>
          <a:bodyPr wrap="square" lIns="27432" tIns="13716" rIns="27432" bIns="13716" anchor="t">
            <a:spAutoFit/>
          </a:bodyPr>
          <a:lstStyle/>
          <a:p>
            <a:pPr algn="l">
              <a:lnSpc>
                <a:spcPct val="108000"/>
              </a:lnSpc>
            </a:pPr>
            <a:r>
              <a:rPr lang="zh-CN" altLang="en-US" sz="1300" b="0" i="0" spc="300">
                <a:solidFill>
                  <a:srgbClr val="8CA3AF"/>
                </a:solidFill>
                <a:latin typeface="Arial" panose="020B0604020202020204"/>
                <a:ea typeface="Arial" panose="020B0604020202020204"/>
              </a:rPr>
              <a:t>PART FIVE</a:t>
            </a:r>
            <a:endParaRPr lang="zh-CN" altLang="en-US" sz="1300" b="0" i="0" spc="300">
              <a:solidFill>
                <a:srgbClr val="8CA3AF"/>
              </a:solidFill>
              <a:latin typeface="Arial" panose="020B0604020202020204"/>
              <a:ea typeface="Arial" panose="020B0604020202020204"/>
            </a:endParaRPr>
          </a:p>
        </p:txBody>
      </p:sp>
      <p:sp>
        <p:nvSpPr>
          <p:cNvPr id="587" name="TextBox 6"/>
          <p:cNvSpPr txBox="1"/>
          <p:nvPr/>
        </p:nvSpPr>
        <p:spPr>
          <a:xfrm>
            <a:off x="786384" y="2834640"/>
            <a:ext cx="4709160" cy="1371600"/>
          </a:xfrm>
          <a:prstGeom prst="rect">
            <a:avLst/>
          </a:prstGeom>
          <a:noFill/>
        </p:spPr>
        <p:txBody>
          <a:bodyPr wrap="square" lIns="27432" tIns="13716" rIns="27432" bIns="13716" anchor="t">
            <a:spAutoFit/>
          </a:bodyPr>
          <a:lstStyle/>
          <a:p>
            <a:pPr algn="l">
              <a:lnSpc>
                <a:spcPct val="112000"/>
              </a:lnSpc>
            </a:pPr>
            <a:r>
              <a:rPr lang="zh-CN" altLang="en-US" sz="2800" b="1" i="0">
                <a:solidFill>
                  <a:srgbClr val="005375"/>
                </a:solidFill>
                <a:latin typeface="微软雅黑" panose="020B0503020204020204" pitchFamily="34" charset="-122"/>
                <a:ea typeface="微软雅黑" panose="020B0503020204020204" pitchFamily="34" charset="-122"/>
              </a:rPr>
              <a:t>研究基础、进度与预期成果</a:t>
            </a:r>
            <a:endParaRPr lang="zh-CN" altLang="en-US" sz="2800" b="1" i="0">
              <a:solidFill>
                <a:srgbClr val="005375"/>
              </a:solidFill>
              <a:latin typeface="微软雅黑" panose="020B0503020204020204" pitchFamily="34" charset="-122"/>
              <a:ea typeface="微软雅黑" panose="020B0503020204020204" pitchFamily="34" charset="-122"/>
            </a:endParaRPr>
          </a:p>
        </p:txBody>
      </p:sp>
      <p:sp>
        <p:nvSpPr>
          <p:cNvPr id="588" name="Rounded Rectangle 9"/>
          <p:cNvSpPr/>
          <p:nvPr/>
        </p:nvSpPr>
        <p:spPr>
          <a:xfrm>
            <a:off x="5532120" y="1307592"/>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89" name="Rectangle 10"/>
          <p:cNvSpPr/>
          <p:nvPr/>
        </p:nvSpPr>
        <p:spPr>
          <a:xfrm>
            <a:off x="5760720" y="1643634"/>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研究基础</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590" name="Right Triangle 11"/>
          <p:cNvSpPr/>
          <p:nvPr/>
        </p:nvSpPr>
        <p:spPr>
          <a:xfrm>
            <a:off x="7178040" y="1643634"/>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91" name="TextBox 12"/>
          <p:cNvSpPr txBox="1"/>
          <p:nvPr/>
        </p:nvSpPr>
        <p:spPr>
          <a:xfrm>
            <a:off x="7360920" y="1741678"/>
            <a:ext cx="411479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已有数据、方法与前期工作积累</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592" name="Rounded Rectangle 13"/>
          <p:cNvSpPr/>
          <p:nvPr/>
        </p:nvSpPr>
        <p:spPr>
          <a:xfrm>
            <a:off x="5532120" y="2752344"/>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93" name="Rectangle 14"/>
          <p:cNvSpPr/>
          <p:nvPr/>
        </p:nvSpPr>
        <p:spPr>
          <a:xfrm>
            <a:off x="5760720" y="3088386"/>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进度安排</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594" name="Right Triangle 15"/>
          <p:cNvSpPr/>
          <p:nvPr/>
        </p:nvSpPr>
        <p:spPr>
          <a:xfrm>
            <a:off x="7178040" y="3088386"/>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95" name="TextBox 16"/>
          <p:cNvSpPr txBox="1"/>
          <p:nvPr/>
        </p:nvSpPr>
        <p:spPr>
          <a:xfrm>
            <a:off x="7360920" y="3186430"/>
            <a:ext cx="411479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五个阶段的时间节点与里程碑</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596" name="Rounded Rectangle 17"/>
          <p:cNvSpPr/>
          <p:nvPr/>
        </p:nvSpPr>
        <p:spPr>
          <a:xfrm>
            <a:off x="5532120" y="4197096"/>
            <a:ext cx="6172200" cy="1170432"/>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p>
        </p:txBody>
      </p:sp>
      <p:sp>
        <p:nvSpPr>
          <p:cNvPr id="597" name="Rectangle 18"/>
          <p:cNvSpPr/>
          <p:nvPr/>
        </p:nvSpPr>
        <p:spPr>
          <a:xfrm>
            <a:off x="5760720" y="4533138"/>
            <a:ext cx="1417320" cy="47548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sz="1600" b="1" i="0">
                <a:solidFill>
                  <a:srgbClr val="FFFFFF"/>
                </a:solidFill>
                <a:latin typeface="微软雅黑" panose="020B0503020204020204" pitchFamily="34" charset="-122"/>
                <a:ea typeface="微软雅黑" panose="020B0503020204020204" pitchFamily="34" charset="-122"/>
              </a:rPr>
              <a:t>预期成果</a:t>
            </a:r>
            <a:endParaRPr lang="zh-CN" altLang="en-US" sz="1600" b="1" i="0">
              <a:solidFill>
                <a:srgbClr val="FFFFFF"/>
              </a:solidFill>
              <a:latin typeface="微软雅黑" panose="020B0503020204020204" pitchFamily="34" charset="-122"/>
              <a:ea typeface="微软雅黑" panose="020B0503020204020204" pitchFamily="34" charset="-122"/>
            </a:endParaRPr>
          </a:p>
        </p:txBody>
      </p:sp>
      <p:sp>
        <p:nvSpPr>
          <p:cNvPr id="598" name="Right Triangle 19"/>
          <p:cNvSpPr/>
          <p:nvPr/>
        </p:nvSpPr>
        <p:spPr>
          <a:xfrm>
            <a:off x="7178040" y="4533138"/>
            <a:ext cx="91440" cy="475488"/>
          </a:xfrm>
          <a:prstGeom prst="rtTriangl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599" name="TextBox 20"/>
          <p:cNvSpPr txBox="1"/>
          <p:nvPr/>
        </p:nvSpPr>
        <p:spPr>
          <a:xfrm>
            <a:off x="7360920" y="4631182"/>
            <a:ext cx="4114799" cy="302260"/>
          </a:xfrm>
          <a:prstGeom prst="rect">
            <a:avLst/>
          </a:prstGeom>
          <a:noFill/>
        </p:spPr>
        <p:txBody>
          <a:bodyPr wrap="square" lIns="27432" tIns="13716" rIns="27432" bIns="13716" anchor="ctr">
            <a:spAutoFit/>
          </a:bodyPr>
          <a:lstStyle/>
          <a:p>
            <a:pPr algn="l">
              <a:lnSpc>
                <a:spcPct val="112000"/>
              </a:lnSpc>
            </a:pPr>
            <a:r>
              <a:rPr lang="zh-CN" altLang="en-US" sz="1600" b="1" i="0">
                <a:solidFill>
                  <a:srgbClr val="1F2A33"/>
                </a:solidFill>
                <a:latin typeface="微软雅黑" panose="020B0503020204020204" pitchFamily="34" charset="-122"/>
                <a:ea typeface="微软雅黑" panose="020B0503020204020204" pitchFamily="34" charset="-122"/>
              </a:rPr>
              <a:t>论文、指标方法与政策建议</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600" name=""/>
        <p:cNvGrpSpPr/>
        <p:nvPr/>
      </p:nvGrpSpPr>
      <p:grpSpPr>
        <a:xfrm>
          <a:off x="0" y="0"/>
          <a:ext cx="0" cy="0"/>
          <a:chOff x="0" y="0"/>
          <a:chExt cx="0" cy="0"/>
        </a:xfrm>
      </p:grpSpPr>
      <p:sp>
        <p:nvSpPr>
          <p:cNvPr id="601"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研究基础与进度安排</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602"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603"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22 / 24</a:t>
            </a:r>
            <a:endParaRPr lang="zh-CN" altLang="en-US" sz="1000" b="1" i="0">
              <a:solidFill>
                <a:srgbClr val="FFFFFF"/>
              </a:solidFill>
              <a:latin typeface="Arial" panose="020B0604020202020204"/>
              <a:ea typeface="Arial" panose="020B0604020202020204"/>
            </a:endParaRPr>
          </a:p>
        </p:txBody>
      </p:sp>
      <p:sp>
        <p:nvSpPr>
          <p:cNvPr id="604" name="Rounded Rectangle 4"/>
          <p:cNvSpPr/>
          <p:nvPr/>
        </p:nvSpPr>
        <p:spPr>
          <a:xfrm>
            <a:off x="484632" y="914400"/>
            <a:ext cx="4206240"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05" name="Rectangle 5"/>
          <p:cNvSpPr/>
          <p:nvPr/>
        </p:nvSpPr>
        <p:spPr>
          <a:xfrm>
            <a:off x="502920" y="932688"/>
            <a:ext cx="4169663"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606" name="Rectangle 6"/>
          <p:cNvSpPr/>
          <p:nvPr/>
        </p:nvSpPr>
        <p:spPr>
          <a:xfrm>
            <a:off x="502920" y="996696"/>
            <a:ext cx="4169663"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研究基础</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607" name="Rectangle 7"/>
          <p:cNvSpPr/>
          <p:nvPr/>
        </p:nvSpPr>
        <p:spPr>
          <a:xfrm>
            <a:off x="713232" y="1618488"/>
            <a:ext cx="73152" cy="8229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08" name="TextBox 8"/>
          <p:cNvSpPr txBox="1"/>
          <p:nvPr/>
        </p:nvSpPr>
        <p:spPr>
          <a:xfrm>
            <a:off x="932688" y="1600200"/>
            <a:ext cx="36118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文献与数据积累</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09" name="TextBox 9"/>
          <p:cNvSpPr txBox="1"/>
          <p:nvPr/>
        </p:nvSpPr>
        <p:spPr>
          <a:xfrm>
            <a:off x="932688" y="1892807"/>
            <a:ext cx="361188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5A6B76"/>
                </a:solidFill>
                <a:latin typeface="微软雅黑" panose="020B0503020204020204" pitchFamily="34" charset="-122"/>
                <a:ea typeface="微软雅黑" panose="020B0503020204020204" pitchFamily="34" charset="-122"/>
              </a:rPr>
              <a:t>已系统梳理算力水足迹、城市水代谢与优化配置相关文献与公开数据。</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10" name="Rectangle 10"/>
          <p:cNvSpPr/>
          <p:nvPr/>
        </p:nvSpPr>
        <p:spPr>
          <a:xfrm>
            <a:off x="713232" y="2679192"/>
            <a:ext cx="73152" cy="8229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11" name="TextBox 11"/>
          <p:cNvSpPr txBox="1"/>
          <p:nvPr/>
        </p:nvSpPr>
        <p:spPr>
          <a:xfrm>
            <a:off x="932688" y="2660904"/>
            <a:ext cx="36118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方法储备</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12" name="TextBox 12"/>
          <p:cNvSpPr txBox="1"/>
          <p:nvPr/>
        </p:nvSpPr>
        <p:spPr>
          <a:xfrm>
            <a:off x="932688" y="2953512"/>
            <a:ext cx="361188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5A6B76"/>
                </a:solidFill>
                <a:latin typeface="微软雅黑" panose="020B0503020204020204" pitchFamily="34" charset="-122"/>
                <a:ea typeface="微软雅黑" panose="020B0503020204020204" pitchFamily="34" charset="-122"/>
              </a:rPr>
              <a:t>掌握水系统建模、情景模拟与敏感性分析的基本方法。</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13" name="Rectangle 13"/>
          <p:cNvSpPr/>
          <p:nvPr/>
        </p:nvSpPr>
        <p:spPr>
          <a:xfrm>
            <a:off x="713232" y="3739896"/>
            <a:ext cx="73152" cy="8229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14" name="TextBox 14"/>
          <p:cNvSpPr txBox="1"/>
          <p:nvPr/>
        </p:nvSpPr>
        <p:spPr>
          <a:xfrm>
            <a:off x="932688" y="3721608"/>
            <a:ext cx="36118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前期工作</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15" name="TextBox 15"/>
          <p:cNvSpPr txBox="1"/>
          <p:nvPr/>
        </p:nvSpPr>
        <p:spPr>
          <a:xfrm>
            <a:off x="932688" y="4014216"/>
            <a:ext cx="361188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5A6B76"/>
                </a:solidFill>
                <a:latin typeface="微软雅黑" panose="020B0503020204020204" pitchFamily="34" charset="-122"/>
                <a:ea typeface="微软雅黑" panose="020B0503020204020204" pitchFamily="34" charset="-122"/>
              </a:rPr>
              <a:t>已完成问题界定、概念框架与部分参数的初步整理。</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16" name="Rectangle 16"/>
          <p:cNvSpPr/>
          <p:nvPr/>
        </p:nvSpPr>
        <p:spPr>
          <a:xfrm>
            <a:off x="713232" y="4800600"/>
            <a:ext cx="73152" cy="822960"/>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17" name="TextBox 17"/>
          <p:cNvSpPr txBox="1"/>
          <p:nvPr/>
        </p:nvSpPr>
        <p:spPr>
          <a:xfrm>
            <a:off x="932688" y="4782312"/>
            <a:ext cx="361188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条件保障</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18" name="TextBox 18"/>
          <p:cNvSpPr txBox="1"/>
          <p:nvPr/>
        </p:nvSpPr>
        <p:spPr>
          <a:xfrm>
            <a:off x="932688" y="5074920"/>
            <a:ext cx="361188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5A6B76"/>
                </a:solidFill>
                <a:latin typeface="微软雅黑" panose="020B0503020204020204" pitchFamily="34" charset="-122"/>
                <a:ea typeface="微软雅黑" panose="020B0503020204020204" pitchFamily="34" charset="-122"/>
              </a:rPr>
              <a:t>依托课题组已有数据与计算环境，可支撑模型构建与实验。</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19" name="Rounded Rectangle 19"/>
          <p:cNvSpPr/>
          <p:nvPr/>
        </p:nvSpPr>
        <p:spPr>
          <a:xfrm>
            <a:off x="4846320" y="914400"/>
            <a:ext cx="6858000"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20" name="Rectangle 20"/>
          <p:cNvSpPr/>
          <p:nvPr/>
        </p:nvSpPr>
        <p:spPr>
          <a:xfrm>
            <a:off x="4864608" y="932688"/>
            <a:ext cx="6821424"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621" name="Rectangle 21"/>
          <p:cNvSpPr/>
          <p:nvPr/>
        </p:nvSpPr>
        <p:spPr>
          <a:xfrm>
            <a:off x="4864608" y="996696"/>
            <a:ext cx="6821424"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进度安排：五个阶段</a:t>
            </a:r>
            <a:endParaRPr lang="zh-CN" altLang="en-US" b="1" i="0">
              <a:solidFill>
                <a:srgbClr val="FFFFFF"/>
              </a:solidFill>
              <a:latin typeface="微软雅黑" panose="020B0503020204020204" pitchFamily="34" charset="-122"/>
              <a:ea typeface="微软雅黑" panose="020B0503020204020204" pitchFamily="34" charset="-122"/>
            </a:endParaRPr>
          </a:p>
        </p:txBody>
      </p:sp>
      <p:cxnSp>
        <p:nvCxnSpPr>
          <p:cNvPr id="622" name="Connector 22"/>
          <p:cNvCxnSpPr/>
          <p:nvPr/>
        </p:nvCxnSpPr>
        <p:spPr>
          <a:xfrm>
            <a:off x="6812280" y="1691640"/>
            <a:ext cx="0" cy="3977639"/>
          </a:xfrm>
          <a:prstGeom prst="line">
            <a:avLst/>
          </a:prstGeom>
          <a:ln w="15240">
            <a:solidFill>
              <a:srgbClr val="C6D9E2"/>
            </a:solidFill>
          </a:ln>
          <a:effectLst/>
        </p:spPr>
        <p:style>
          <a:lnRef idx="2">
            <a:schemeClr val="accent1"/>
          </a:lnRef>
          <a:fillRef idx="0">
            <a:schemeClr val="accent1"/>
          </a:fillRef>
          <a:effectRef idx="1">
            <a:schemeClr val="accent1"/>
          </a:effectRef>
          <a:fontRef idx="minor">
            <a:schemeClr val="tx1"/>
          </a:fontRef>
        </p:style>
      </p:cxnSp>
      <p:sp>
        <p:nvSpPr>
          <p:cNvPr id="623" name="Rectangle 23"/>
          <p:cNvSpPr/>
          <p:nvPr/>
        </p:nvSpPr>
        <p:spPr>
          <a:xfrm>
            <a:off x="5074920" y="1600200"/>
            <a:ext cx="1572768" cy="566928"/>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400" b="1" i="0">
                <a:solidFill>
                  <a:srgbClr val="005375"/>
                </a:solidFill>
                <a:latin typeface="Arial" panose="020B0604020202020204"/>
                <a:ea typeface="Arial" panose="020B0604020202020204"/>
              </a:rPr>
              <a:t>2026.09 - 2026.11</a:t>
            </a:r>
            <a:endParaRPr lang="zh-CN" altLang="en-US" sz="1400" b="1" i="0">
              <a:solidFill>
                <a:srgbClr val="005375"/>
              </a:solidFill>
              <a:latin typeface="Arial" panose="020B0604020202020204"/>
              <a:ea typeface="Arial" panose="020B0604020202020204"/>
            </a:endParaRPr>
          </a:p>
        </p:txBody>
      </p:sp>
      <p:sp>
        <p:nvSpPr>
          <p:cNvPr id="624" name="Oval 24"/>
          <p:cNvSpPr/>
          <p:nvPr/>
        </p:nvSpPr>
        <p:spPr>
          <a:xfrm>
            <a:off x="6748272" y="1792224"/>
            <a:ext cx="137160" cy="137160"/>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25" name="TextBox 25"/>
          <p:cNvSpPr txBox="1"/>
          <p:nvPr/>
        </p:nvSpPr>
        <p:spPr>
          <a:xfrm>
            <a:off x="7059168" y="1581912"/>
            <a:ext cx="448056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文献调研与数据整理</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26" name="TextBox 26"/>
          <p:cNvSpPr txBox="1"/>
          <p:nvPr/>
        </p:nvSpPr>
        <p:spPr>
          <a:xfrm>
            <a:off x="7059168" y="1856232"/>
            <a:ext cx="448056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完成数据收集、参数梳理与模型框架确定</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27" name="Rectangle 27"/>
          <p:cNvSpPr/>
          <p:nvPr/>
        </p:nvSpPr>
        <p:spPr>
          <a:xfrm>
            <a:off x="5074920" y="2459736"/>
            <a:ext cx="1572768" cy="566928"/>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400" b="1" i="0">
                <a:solidFill>
                  <a:srgbClr val="005375"/>
                </a:solidFill>
                <a:latin typeface="Arial" panose="020B0604020202020204"/>
                <a:ea typeface="Arial" panose="020B0604020202020204"/>
              </a:rPr>
              <a:t>2026.11 - 2027.01</a:t>
            </a:r>
            <a:endParaRPr lang="zh-CN" altLang="en-US" sz="1400" b="1" i="0">
              <a:solidFill>
                <a:srgbClr val="005375"/>
              </a:solidFill>
              <a:latin typeface="Arial" panose="020B0604020202020204"/>
              <a:ea typeface="Arial" panose="020B0604020202020204"/>
            </a:endParaRPr>
          </a:p>
        </p:txBody>
      </p:sp>
      <p:sp>
        <p:nvSpPr>
          <p:cNvPr id="628" name="Oval 28"/>
          <p:cNvSpPr/>
          <p:nvPr/>
        </p:nvSpPr>
        <p:spPr>
          <a:xfrm>
            <a:off x="6748272" y="2651760"/>
            <a:ext cx="137160" cy="137160"/>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29" name="TextBox 29"/>
          <p:cNvSpPr txBox="1"/>
          <p:nvPr/>
        </p:nvSpPr>
        <p:spPr>
          <a:xfrm>
            <a:off x="7059168" y="2441448"/>
            <a:ext cx="448056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模型构建与耦合</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30" name="TextBox 30"/>
          <p:cNvSpPr txBox="1"/>
          <p:nvPr/>
        </p:nvSpPr>
        <p:spPr>
          <a:xfrm>
            <a:off x="7059168" y="2715768"/>
            <a:ext cx="448056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完成节点模块与系统网络模型的构建与校核</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31" name="Rectangle 31"/>
          <p:cNvSpPr/>
          <p:nvPr/>
        </p:nvSpPr>
        <p:spPr>
          <a:xfrm>
            <a:off x="5074920" y="3319272"/>
            <a:ext cx="1572768" cy="566928"/>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400" b="1" i="0">
                <a:solidFill>
                  <a:srgbClr val="005375"/>
                </a:solidFill>
                <a:latin typeface="Arial" panose="020B0604020202020204"/>
                <a:ea typeface="Arial" panose="020B0604020202020204"/>
              </a:rPr>
              <a:t>2027.01 - 2027.05</a:t>
            </a:r>
            <a:endParaRPr lang="zh-CN" altLang="en-US" sz="1400" b="1" i="0">
              <a:solidFill>
                <a:srgbClr val="005375"/>
              </a:solidFill>
              <a:latin typeface="Arial" panose="020B0604020202020204"/>
              <a:ea typeface="Arial" panose="020B0604020202020204"/>
            </a:endParaRPr>
          </a:p>
        </p:txBody>
      </p:sp>
      <p:sp>
        <p:nvSpPr>
          <p:cNvPr id="632" name="Oval 32"/>
          <p:cNvSpPr/>
          <p:nvPr/>
        </p:nvSpPr>
        <p:spPr>
          <a:xfrm>
            <a:off x="6748272" y="3511296"/>
            <a:ext cx="137160" cy="137160"/>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33" name="TextBox 33"/>
          <p:cNvSpPr txBox="1"/>
          <p:nvPr/>
        </p:nvSpPr>
        <p:spPr>
          <a:xfrm>
            <a:off x="7059168" y="3300984"/>
            <a:ext cx="448056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情景实验与求解</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34" name="TextBox 34"/>
          <p:cNvSpPr txBox="1"/>
          <p:nvPr/>
        </p:nvSpPr>
        <p:spPr>
          <a:xfrm>
            <a:off x="7059168" y="3575304"/>
            <a:ext cx="448056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完成四组控制实验与 CAWCC 容量曲面求解</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35" name="Rectangle 35"/>
          <p:cNvSpPr/>
          <p:nvPr/>
        </p:nvSpPr>
        <p:spPr>
          <a:xfrm>
            <a:off x="5074920" y="4178808"/>
            <a:ext cx="1572768" cy="566928"/>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400" b="1" i="0">
                <a:solidFill>
                  <a:srgbClr val="005375"/>
                </a:solidFill>
                <a:latin typeface="Arial" panose="020B0604020202020204"/>
                <a:ea typeface="Arial" panose="020B0604020202020204"/>
              </a:rPr>
              <a:t>2027.05 - 2027.</a:t>
            </a:r>
            <a:r>
              <a:rPr lang="en-US" altLang="zh-CN" sz="1400" b="1" i="0">
                <a:solidFill>
                  <a:srgbClr val="005375"/>
                </a:solidFill>
                <a:latin typeface="Arial" panose="020B0604020202020204"/>
                <a:ea typeface="Arial" panose="020B0604020202020204"/>
              </a:rPr>
              <a:t>0</a:t>
            </a:r>
            <a:r>
              <a:rPr lang="zh-CN" altLang="en-US" sz="1400" b="1" i="0">
                <a:solidFill>
                  <a:srgbClr val="005375"/>
                </a:solidFill>
                <a:latin typeface="Arial" panose="020B0604020202020204"/>
                <a:ea typeface="Arial" panose="020B0604020202020204"/>
              </a:rPr>
              <a:t>9</a:t>
            </a:r>
            <a:endParaRPr lang="zh-CN" altLang="en-US" sz="1400" b="1" i="0">
              <a:solidFill>
                <a:srgbClr val="005375"/>
              </a:solidFill>
              <a:latin typeface="Arial" panose="020B0604020202020204"/>
              <a:ea typeface="Arial" panose="020B0604020202020204"/>
            </a:endParaRPr>
          </a:p>
        </p:txBody>
      </p:sp>
      <p:sp>
        <p:nvSpPr>
          <p:cNvPr id="636" name="Oval 36"/>
          <p:cNvSpPr/>
          <p:nvPr/>
        </p:nvSpPr>
        <p:spPr>
          <a:xfrm>
            <a:off x="6748272" y="4370832"/>
            <a:ext cx="137160" cy="137160"/>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37" name="TextBox 37"/>
          <p:cNvSpPr txBox="1"/>
          <p:nvPr/>
        </p:nvSpPr>
        <p:spPr>
          <a:xfrm>
            <a:off x="7059168" y="4160520"/>
            <a:ext cx="448056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瓶颈识别与验证</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38" name="TextBox 38"/>
          <p:cNvSpPr txBox="1"/>
          <p:nvPr/>
        </p:nvSpPr>
        <p:spPr>
          <a:xfrm>
            <a:off x="7059168" y="4434840"/>
            <a:ext cx="448056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完成主导瓶颈识别、干预评估与结果验证</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39" name="Rectangle 39"/>
          <p:cNvSpPr/>
          <p:nvPr/>
        </p:nvSpPr>
        <p:spPr>
          <a:xfrm>
            <a:off x="5074920" y="5038344"/>
            <a:ext cx="1572768" cy="566928"/>
          </a:xfrm>
          <a:prstGeom prst="rect">
            <a:avLst/>
          </a:prstGeom>
          <a:solidFill>
            <a:srgbClr val="E4EEF3"/>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l">
              <a:lnSpc>
                <a:spcPct val="108000"/>
              </a:lnSpc>
            </a:pPr>
            <a:r>
              <a:rPr lang="zh-CN" altLang="en-US" sz="1400" b="1" i="0">
                <a:solidFill>
                  <a:srgbClr val="005375"/>
                </a:solidFill>
                <a:latin typeface="Arial" panose="020B0604020202020204"/>
                <a:ea typeface="Arial" panose="020B0604020202020204"/>
              </a:rPr>
              <a:t>2027.</a:t>
            </a:r>
            <a:r>
              <a:rPr lang="en-US" altLang="zh-CN" sz="1400" b="1" i="0">
                <a:solidFill>
                  <a:srgbClr val="005375"/>
                </a:solidFill>
                <a:latin typeface="Arial" panose="020B0604020202020204"/>
                <a:ea typeface="Arial" panose="020B0604020202020204"/>
              </a:rPr>
              <a:t>0</a:t>
            </a:r>
            <a:r>
              <a:rPr lang="zh-CN" altLang="en-US" sz="1400" b="1" i="0">
                <a:solidFill>
                  <a:srgbClr val="005375"/>
                </a:solidFill>
                <a:latin typeface="Arial" panose="020B0604020202020204"/>
                <a:ea typeface="Arial" panose="020B0604020202020204"/>
              </a:rPr>
              <a:t>9 - 2028.04</a:t>
            </a:r>
            <a:endParaRPr lang="zh-CN" altLang="en-US" sz="1400" b="1" i="0">
              <a:solidFill>
                <a:srgbClr val="005375"/>
              </a:solidFill>
              <a:latin typeface="Arial" panose="020B0604020202020204"/>
              <a:ea typeface="Arial" panose="020B0604020202020204"/>
            </a:endParaRPr>
          </a:p>
        </p:txBody>
      </p:sp>
      <p:sp>
        <p:nvSpPr>
          <p:cNvPr id="640" name="Oval 40"/>
          <p:cNvSpPr/>
          <p:nvPr/>
        </p:nvSpPr>
        <p:spPr>
          <a:xfrm>
            <a:off x="6748272" y="5230368"/>
            <a:ext cx="137160" cy="137160"/>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41" name="TextBox 41"/>
          <p:cNvSpPr txBox="1"/>
          <p:nvPr/>
        </p:nvSpPr>
        <p:spPr>
          <a:xfrm>
            <a:off x="7059168" y="5020056"/>
            <a:ext cx="448056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论文撰写与答辩</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42" name="TextBox 42"/>
          <p:cNvSpPr txBox="1"/>
          <p:nvPr/>
        </p:nvSpPr>
        <p:spPr>
          <a:xfrm>
            <a:off x="7059168" y="5294376"/>
            <a:ext cx="4480560" cy="258445"/>
          </a:xfrm>
          <a:prstGeom prst="rect">
            <a:avLst/>
          </a:prstGeom>
          <a:noFill/>
        </p:spPr>
        <p:txBody>
          <a:bodyPr wrap="square" lIns="27432" tIns="13716" rIns="27432" bIns="13716" anchor="t">
            <a:spAutoFit/>
          </a:bodyPr>
          <a:lstStyle/>
          <a:p>
            <a:pPr algn="l">
              <a:lnSpc>
                <a:spcPct val="108000"/>
              </a:lnSpc>
            </a:pPr>
            <a:r>
              <a:rPr lang="zh-CN" altLang="en-US" sz="1400" b="0" i="0">
                <a:solidFill>
                  <a:srgbClr val="5A6B76"/>
                </a:solidFill>
                <a:latin typeface="微软雅黑" panose="020B0503020204020204" pitchFamily="34" charset="-122"/>
                <a:ea typeface="微软雅黑" panose="020B0503020204020204" pitchFamily="34" charset="-122"/>
              </a:rPr>
              <a:t>完成学位论文撰写、修改与答辩准备</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643" name=""/>
        <p:cNvGrpSpPr/>
        <p:nvPr/>
      </p:nvGrpSpPr>
      <p:grpSpPr>
        <a:xfrm>
          <a:off x="0" y="0"/>
          <a:ext cx="0" cy="0"/>
          <a:chOff x="0" y="0"/>
          <a:chExt cx="0" cy="0"/>
        </a:xfrm>
      </p:grpSpPr>
      <p:sp>
        <p:nvSpPr>
          <p:cNvPr id="644" name="Title 1"/>
          <p:cNvSpPr>
            <a:spLocks noGrp="1"/>
          </p:cNvSpPr>
          <p:nvPr>
            <p:ph type="title"/>
          </p:nvPr>
        </p:nvSpPr>
        <p:spPr>
          <a:xfrm>
            <a:off x="484632" y="118872"/>
            <a:ext cx="11210544" cy="621792"/>
          </a:xfrm>
        </p:spPr>
        <p:txBody>
          <a:bodyPr wrap="square" lIns="0" tIns="18288" rIns="0" bIns="18288" anchor="ctr"/>
          <a:lstStyle/>
          <a:p>
            <a:pPr algn="l"/>
            <a:r>
              <a:rPr lang="zh-CN" altLang="en-US" sz="2800" b="1" i="0">
                <a:solidFill>
                  <a:srgbClr val="000000"/>
                </a:solidFill>
                <a:latin typeface="微软雅黑" panose="020B0503020204020204" pitchFamily="34" charset="-122"/>
                <a:ea typeface="微软雅黑" panose="020B0503020204020204" pitchFamily="34" charset="-122"/>
              </a:rPr>
              <a:t>预期成果、创新点与风险应对</a:t>
            </a:r>
            <a:endParaRPr lang="zh-CN" altLang="en-US" sz="2800" b="1" i="0">
              <a:solidFill>
                <a:srgbClr val="000000"/>
              </a:solidFill>
              <a:latin typeface="微软雅黑" panose="020B0503020204020204" pitchFamily="34" charset="-122"/>
              <a:ea typeface="微软雅黑" panose="020B0503020204020204" pitchFamily="34" charset="-122"/>
            </a:endParaRPr>
          </a:p>
        </p:txBody>
      </p:sp>
      <p:sp>
        <p:nvSpPr>
          <p:cNvPr id="645" name="TextBox 2"/>
          <p:cNvSpPr txBox="1"/>
          <p:nvPr/>
        </p:nvSpPr>
        <p:spPr>
          <a:xfrm>
            <a:off x="484632" y="6483096"/>
            <a:ext cx="7772400" cy="274320"/>
          </a:xfrm>
          <a:prstGeom prst="rect">
            <a:avLst/>
          </a:prstGeom>
          <a:noFill/>
        </p:spPr>
        <p:txBody>
          <a:bodyPr wrap="square" lIns="27432" tIns="13716" rIns="27432" bIns="13716" anchor="ctr">
            <a:spAutoFit/>
          </a:bodyPr>
          <a:lstStyle/>
          <a:p>
            <a:pPr algn="l">
              <a:lnSpc>
                <a:spcPct val="108000"/>
              </a:lnSpc>
            </a:pPr>
            <a:r>
              <a:rPr lang="zh-CN" altLang="en-US" sz="1050" b="0" i="0">
                <a:solidFill>
                  <a:srgbClr val="FFFFFF"/>
                </a:solidFill>
                <a:latin typeface="微软雅黑" panose="020B0503020204020204" pitchFamily="34" charset="-122"/>
                <a:ea typeface="微软雅黑" panose="020B0503020204020204" pitchFamily="34" charset="-122"/>
              </a:rPr>
              <a:t>哈尔滨工业大学 · 硕士学位开题报告</a:t>
            </a:r>
            <a:endParaRPr lang="zh-CN" altLang="en-US" sz="1050" b="0" i="0">
              <a:solidFill>
                <a:srgbClr val="FFFFFF"/>
              </a:solidFill>
              <a:latin typeface="微软雅黑" panose="020B0503020204020204" pitchFamily="34" charset="-122"/>
              <a:ea typeface="微软雅黑" panose="020B0503020204020204" pitchFamily="34" charset="-122"/>
            </a:endParaRPr>
          </a:p>
        </p:txBody>
      </p:sp>
      <p:sp>
        <p:nvSpPr>
          <p:cNvPr id="646" name="TextBox 3"/>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23 / 24</a:t>
            </a:r>
            <a:endParaRPr lang="zh-CN" altLang="en-US" sz="1000" b="1" i="0">
              <a:solidFill>
                <a:srgbClr val="FFFFFF"/>
              </a:solidFill>
              <a:latin typeface="Arial" panose="020B0604020202020204"/>
              <a:ea typeface="Arial" panose="020B0604020202020204"/>
            </a:endParaRPr>
          </a:p>
        </p:txBody>
      </p:sp>
      <p:sp>
        <p:nvSpPr>
          <p:cNvPr id="647" name="Rounded Rectangle 4"/>
          <p:cNvSpPr/>
          <p:nvPr/>
        </p:nvSpPr>
        <p:spPr>
          <a:xfrm>
            <a:off x="484632" y="914400"/>
            <a:ext cx="3639312"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48" name="Rectangle 5"/>
          <p:cNvSpPr/>
          <p:nvPr/>
        </p:nvSpPr>
        <p:spPr>
          <a:xfrm>
            <a:off x="502920" y="932688"/>
            <a:ext cx="3602736"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649" name="Rectangle 6"/>
          <p:cNvSpPr/>
          <p:nvPr/>
        </p:nvSpPr>
        <p:spPr>
          <a:xfrm>
            <a:off x="502920" y="996696"/>
            <a:ext cx="3602736"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预期成果</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650" name="Rectangle 7"/>
          <p:cNvSpPr/>
          <p:nvPr/>
        </p:nvSpPr>
        <p:spPr>
          <a:xfrm>
            <a:off x="713232" y="1618488"/>
            <a:ext cx="73152" cy="7863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51" name="TextBox 8"/>
          <p:cNvSpPr txBox="1"/>
          <p:nvPr/>
        </p:nvSpPr>
        <p:spPr>
          <a:xfrm>
            <a:off x="932688" y="1600200"/>
            <a:ext cx="301752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学位论文</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52" name="TextBox 9"/>
          <p:cNvSpPr txBox="1"/>
          <p:nvPr/>
        </p:nvSpPr>
        <p:spPr>
          <a:xfrm>
            <a:off x="932688" y="1892807"/>
            <a:ext cx="3017520"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高质量地完成硕士学位论文 </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53" name="Rectangle 10"/>
          <p:cNvSpPr/>
          <p:nvPr/>
        </p:nvSpPr>
        <p:spPr>
          <a:xfrm>
            <a:off x="713232" y="2660903"/>
            <a:ext cx="73152" cy="7863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54" name="TextBox 11"/>
          <p:cNvSpPr txBox="1"/>
          <p:nvPr/>
        </p:nvSpPr>
        <p:spPr>
          <a:xfrm>
            <a:off x="932688" y="2642615"/>
            <a:ext cx="301752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模型与指标</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55" name="TextBox 12"/>
          <p:cNvSpPr txBox="1"/>
          <p:nvPr/>
        </p:nvSpPr>
        <p:spPr>
          <a:xfrm>
            <a:off x="932688" y="2935223"/>
            <a:ext cx="3017520" cy="542925"/>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城市水代谢耦合模型与 CAWCC 指标方法</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56" name="Rectangle 13"/>
          <p:cNvSpPr/>
          <p:nvPr/>
        </p:nvSpPr>
        <p:spPr>
          <a:xfrm>
            <a:off x="713232" y="3703319"/>
            <a:ext cx="73152" cy="7863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57" name="TextBox 14"/>
          <p:cNvSpPr txBox="1"/>
          <p:nvPr/>
        </p:nvSpPr>
        <p:spPr>
          <a:xfrm>
            <a:off x="932688" y="3685031"/>
            <a:ext cx="301752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学术论文</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58" name="TextBox 15"/>
          <p:cNvSpPr txBox="1"/>
          <p:nvPr/>
        </p:nvSpPr>
        <p:spPr>
          <a:xfrm>
            <a:off x="932688" y="3977639"/>
            <a:ext cx="3017520"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争取发表学术论文 1 - 2 篇</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59" name="Rectangle 16"/>
          <p:cNvSpPr/>
          <p:nvPr/>
        </p:nvSpPr>
        <p:spPr>
          <a:xfrm>
            <a:off x="713232" y="4745735"/>
            <a:ext cx="73152" cy="78638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60" name="TextBox 17"/>
          <p:cNvSpPr txBox="1"/>
          <p:nvPr/>
        </p:nvSpPr>
        <p:spPr>
          <a:xfrm>
            <a:off x="932688" y="4727447"/>
            <a:ext cx="301752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决策支撑</a:t>
            </a:r>
            <a:endParaRPr lang="zh-CN" altLang="en-US" sz="1400" b="1" i="0">
              <a:solidFill>
                <a:srgbClr val="1F2A33"/>
              </a:solidFill>
              <a:latin typeface="微软雅黑" panose="020B0503020204020204" pitchFamily="34" charset="-122"/>
              <a:ea typeface="微软雅黑" panose="020B0503020204020204" pitchFamily="34" charset="-122"/>
            </a:endParaRPr>
          </a:p>
        </p:txBody>
      </p:sp>
      <p:sp>
        <p:nvSpPr>
          <p:cNvPr id="661" name="TextBox 18"/>
          <p:cNvSpPr txBox="1"/>
          <p:nvPr/>
        </p:nvSpPr>
        <p:spPr>
          <a:xfrm>
            <a:off x="932688" y="5020055"/>
            <a:ext cx="3017520" cy="284480"/>
          </a:xfrm>
          <a:prstGeom prst="rect">
            <a:avLst/>
          </a:prstGeom>
          <a:noFill/>
        </p:spPr>
        <p:txBody>
          <a:bodyPr wrap="square" lIns="27432" tIns="13716" rIns="27432" bIns="13716" anchor="t">
            <a:spAutoFit/>
          </a:bodyPr>
          <a:lstStyle/>
          <a:p>
            <a:pPr algn="l">
              <a:lnSpc>
                <a:spcPct val="120000"/>
              </a:lnSpc>
            </a:pPr>
            <a:r>
              <a:rPr lang="zh-CN" altLang="en-US" sz="1400" b="0" i="0">
                <a:solidFill>
                  <a:srgbClr val="5A6B76"/>
                </a:solidFill>
                <a:latin typeface="微软雅黑" panose="020B0503020204020204" pitchFamily="34" charset="-122"/>
                <a:ea typeface="微软雅黑" panose="020B0503020204020204" pitchFamily="34" charset="-122"/>
              </a:rPr>
              <a:t>形成承载判定与干预优先级的建议</a:t>
            </a:r>
            <a:endParaRPr lang="zh-CN" altLang="en-US" sz="1400" b="0" i="0">
              <a:solidFill>
                <a:srgbClr val="5A6B76"/>
              </a:solidFill>
              <a:latin typeface="微软雅黑" panose="020B0503020204020204" pitchFamily="34" charset="-122"/>
              <a:ea typeface="微软雅黑" panose="020B0503020204020204" pitchFamily="34" charset="-122"/>
            </a:endParaRPr>
          </a:p>
        </p:txBody>
      </p:sp>
      <p:sp>
        <p:nvSpPr>
          <p:cNvPr id="662" name="Rounded Rectangle 19"/>
          <p:cNvSpPr/>
          <p:nvPr/>
        </p:nvSpPr>
        <p:spPr>
          <a:xfrm>
            <a:off x="4270248" y="914400"/>
            <a:ext cx="3639312"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63" name="Rectangle 20"/>
          <p:cNvSpPr/>
          <p:nvPr/>
        </p:nvSpPr>
        <p:spPr>
          <a:xfrm>
            <a:off x="4288536" y="932688"/>
            <a:ext cx="3602736"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664" name="Rectangle 21"/>
          <p:cNvSpPr/>
          <p:nvPr/>
        </p:nvSpPr>
        <p:spPr>
          <a:xfrm>
            <a:off x="4288536" y="996696"/>
            <a:ext cx="3602736"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创新点</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665" name="Rounded Rectangle 22"/>
          <p:cNvSpPr/>
          <p:nvPr/>
        </p:nvSpPr>
        <p:spPr>
          <a:xfrm>
            <a:off x="4480560" y="1600200"/>
            <a:ext cx="3218688" cy="1298448"/>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66" name="Rectangle 23"/>
          <p:cNvSpPr/>
          <p:nvPr/>
        </p:nvSpPr>
        <p:spPr>
          <a:xfrm>
            <a:off x="4480560" y="1600200"/>
            <a:ext cx="73152" cy="12984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67" name="Oval 24"/>
          <p:cNvSpPr/>
          <p:nvPr/>
        </p:nvSpPr>
        <p:spPr>
          <a:xfrm>
            <a:off x="4663440" y="1746504"/>
            <a:ext cx="310896" cy="310896"/>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68" name="TextBox 25"/>
          <p:cNvSpPr txBox="1"/>
          <p:nvPr/>
        </p:nvSpPr>
        <p:spPr>
          <a:xfrm>
            <a:off x="4663440" y="1755902"/>
            <a:ext cx="310896" cy="292100"/>
          </a:xfrm>
          <a:prstGeom prst="rect">
            <a:avLst/>
          </a:prstGeom>
          <a:noFill/>
        </p:spPr>
        <p:txBody>
          <a:bodyPr wrap="square" lIns="27432" tIns="13716" rIns="27432" bIns="13716" anchor="ctr">
            <a:spAutoFit/>
          </a:bodyPr>
          <a:lstStyle/>
          <a:p>
            <a:pPr algn="ctr">
              <a:lnSpc>
                <a:spcPct val="108000"/>
              </a:lnSpc>
            </a:pPr>
            <a:r>
              <a:rPr lang="zh-CN" altLang="en-US" sz="1600" b="1" i="0">
                <a:solidFill>
                  <a:srgbClr val="FFFFFF"/>
                </a:solidFill>
                <a:latin typeface="Arial" panose="020B0604020202020204"/>
                <a:ea typeface="Arial" panose="020B0604020202020204"/>
              </a:rPr>
              <a:t>1</a:t>
            </a:r>
            <a:endParaRPr lang="zh-CN" altLang="en-US" sz="1600" b="1" i="0">
              <a:solidFill>
                <a:srgbClr val="FFFFFF"/>
              </a:solidFill>
              <a:latin typeface="Arial" panose="020B0604020202020204"/>
              <a:ea typeface="Arial" panose="020B0604020202020204"/>
            </a:endParaRPr>
          </a:p>
        </p:txBody>
      </p:sp>
      <p:sp>
        <p:nvSpPr>
          <p:cNvPr id="669" name="TextBox 26"/>
          <p:cNvSpPr txBox="1"/>
          <p:nvPr/>
        </p:nvSpPr>
        <p:spPr>
          <a:xfrm>
            <a:off x="5084064" y="1746504"/>
            <a:ext cx="246888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视角创新</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70" name="TextBox 27"/>
          <p:cNvSpPr txBox="1"/>
          <p:nvPr/>
        </p:nvSpPr>
        <p:spPr>
          <a:xfrm>
            <a:off x="4663440" y="2148840"/>
            <a:ext cx="288036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把 AI 算力节点作为城市水系统的新增负荷类型纳入统一框架</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71" name="Rounded Rectangle 28"/>
          <p:cNvSpPr/>
          <p:nvPr/>
        </p:nvSpPr>
        <p:spPr>
          <a:xfrm>
            <a:off x="4480560" y="3044952"/>
            <a:ext cx="3218688" cy="1298448"/>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72" name="Rectangle 29"/>
          <p:cNvSpPr/>
          <p:nvPr/>
        </p:nvSpPr>
        <p:spPr>
          <a:xfrm>
            <a:off x="4480560" y="3044952"/>
            <a:ext cx="73152" cy="12984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73" name="Oval 30"/>
          <p:cNvSpPr/>
          <p:nvPr/>
        </p:nvSpPr>
        <p:spPr>
          <a:xfrm>
            <a:off x="4663440" y="3191256"/>
            <a:ext cx="310896" cy="310896"/>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74" name="TextBox 31"/>
          <p:cNvSpPr txBox="1"/>
          <p:nvPr/>
        </p:nvSpPr>
        <p:spPr>
          <a:xfrm>
            <a:off x="4663440" y="3200654"/>
            <a:ext cx="310896" cy="292100"/>
          </a:xfrm>
          <a:prstGeom prst="rect">
            <a:avLst/>
          </a:prstGeom>
          <a:noFill/>
        </p:spPr>
        <p:txBody>
          <a:bodyPr wrap="square" lIns="27432" tIns="13716" rIns="27432" bIns="13716" anchor="ctr">
            <a:spAutoFit/>
          </a:bodyPr>
          <a:lstStyle/>
          <a:p>
            <a:pPr algn="ctr">
              <a:lnSpc>
                <a:spcPct val="108000"/>
              </a:lnSpc>
            </a:pPr>
            <a:r>
              <a:rPr lang="zh-CN" altLang="en-US" sz="1600" b="1" i="0">
                <a:solidFill>
                  <a:srgbClr val="FFFFFF"/>
                </a:solidFill>
                <a:latin typeface="Arial" panose="020B0604020202020204"/>
                <a:ea typeface="Arial" panose="020B0604020202020204"/>
              </a:rPr>
              <a:t>2</a:t>
            </a:r>
            <a:endParaRPr lang="zh-CN" altLang="en-US" sz="1600" b="1" i="0">
              <a:solidFill>
                <a:srgbClr val="FFFFFF"/>
              </a:solidFill>
              <a:latin typeface="Arial" panose="020B0604020202020204"/>
              <a:ea typeface="Arial" panose="020B0604020202020204"/>
            </a:endParaRPr>
          </a:p>
        </p:txBody>
      </p:sp>
      <p:sp>
        <p:nvSpPr>
          <p:cNvPr id="675" name="TextBox 32"/>
          <p:cNvSpPr txBox="1"/>
          <p:nvPr/>
        </p:nvSpPr>
        <p:spPr>
          <a:xfrm>
            <a:off x="5084064" y="3191256"/>
            <a:ext cx="246888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方法创新</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76" name="TextBox 33"/>
          <p:cNvSpPr txBox="1"/>
          <p:nvPr/>
        </p:nvSpPr>
        <p:spPr>
          <a:xfrm>
            <a:off x="4663440" y="3593592"/>
            <a:ext cx="288036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提出条件化承载指标 CAWCC，以容量曲面替代单值阈值</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77" name="Rounded Rectangle 34"/>
          <p:cNvSpPr/>
          <p:nvPr/>
        </p:nvSpPr>
        <p:spPr>
          <a:xfrm>
            <a:off x="4480560" y="4489704"/>
            <a:ext cx="3218688" cy="1298448"/>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78" name="Rectangle 35"/>
          <p:cNvSpPr/>
          <p:nvPr/>
        </p:nvSpPr>
        <p:spPr>
          <a:xfrm>
            <a:off x="4480560" y="4489704"/>
            <a:ext cx="73152" cy="12984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79" name="Oval 36"/>
          <p:cNvSpPr/>
          <p:nvPr/>
        </p:nvSpPr>
        <p:spPr>
          <a:xfrm>
            <a:off x="4663440" y="4636008"/>
            <a:ext cx="310896" cy="310896"/>
          </a:xfrm>
          <a:prstGeom prst="ellipse">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80" name="TextBox 37"/>
          <p:cNvSpPr txBox="1"/>
          <p:nvPr/>
        </p:nvSpPr>
        <p:spPr>
          <a:xfrm>
            <a:off x="4663440" y="4645406"/>
            <a:ext cx="310896" cy="292100"/>
          </a:xfrm>
          <a:prstGeom prst="rect">
            <a:avLst/>
          </a:prstGeom>
          <a:noFill/>
        </p:spPr>
        <p:txBody>
          <a:bodyPr wrap="square" lIns="27432" tIns="13716" rIns="27432" bIns="13716" anchor="ctr">
            <a:spAutoFit/>
          </a:bodyPr>
          <a:lstStyle/>
          <a:p>
            <a:pPr algn="ctr">
              <a:lnSpc>
                <a:spcPct val="108000"/>
              </a:lnSpc>
            </a:pPr>
            <a:r>
              <a:rPr lang="zh-CN" altLang="en-US" sz="1600" b="1" i="0">
                <a:solidFill>
                  <a:srgbClr val="FFFFFF"/>
                </a:solidFill>
                <a:latin typeface="Arial" panose="020B0604020202020204"/>
                <a:ea typeface="Arial" panose="020B0604020202020204"/>
              </a:rPr>
              <a:t>3</a:t>
            </a:r>
            <a:endParaRPr lang="zh-CN" altLang="en-US" sz="1600" b="1" i="0">
              <a:solidFill>
                <a:srgbClr val="FFFFFF"/>
              </a:solidFill>
              <a:latin typeface="Arial" panose="020B0604020202020204"/>
              <a:ea typeface="Arial" panose="020B0604020202020204"/>
            </a:endParaRPr>
          </a:p>
        </p:txBody>
      </p:sp>
      <p:sp>
        <p:nvSpPr>
          <p:cNvPr id="681" name="TextBox 38"/>
          <p:cNvSpPr txBox="1"/>
          <p:nvPr/>
        </p:nvSpPr>
        <p:spPr>
          <a:xfrm>
            <a:off x="5084064" y="4636008"/>
            <a:ext cx="2468880" cy="292100"/>
          </a:xfrm>
          <a:prstGeom prst="rect">
            <a:avLst/>
          </a:prstGeom>
          <a:noFill/>
        </p:spPr>
        <p:txBody>
          <a:bodyPr wrap="square" lIns="27432" tIns="13716" rIns="27432" bIns="13716" anchor="t">
            <a:spAutoFit/>
          </a:bodyPr>
          <a:lstStyle/>
          <a:p>
            <a:pPr algn="l">
              <a:lnSpc>
                <a:spcPct val="108000"/>
              </a:lnSpc>
            </a:pPr>
            <a:r>
              <a:rPr lang="zh-CN" altLang="en-US" sz="1600" b="1" i="0">
                <a:solidFill>
                  <a:srgbClr val="1F2A33"/>
                </a:solidFill>
                <a:latin typeface="微软雅黑" panose="020B0503020204020204" pitchFamily="34" charset="-122"/>
                <a:ea typeface="微软雅黑" panose="020B0503020204020204" pitchFamily="34" charset="-122"/>
              </a:rPr>
              <a:t>应用创新</a:t>
            </a:r>
            <a:endParaRPr lang="zh-CN" altLang="en-US" sz="1600" b="1" i="0">
              <a:solidFill>
                <a:srgbClr val="1F2A33"/>
              </a:solidFill>
              <a:latin typeface="微软雅黑" panose="020B0503020204020204" pitchFamily="34" charset="-122"/>
              <a:ea typeface="微软雅黑" panose="020B0503020204020204" pitchFamily="34" charset="-122"/>
            </a:endParaRPr>
          </a:p>
        </p:txBody>
      </p:sp>
      <p:sp>
        <p:nvSpPr>
          <p:cNvPr id="682" name="TextBox 39"/>
          <p:cNvSpPr txBox="1"/>
          <p:nvPr/>
        </p:nvSpPr>
        <p:spPr>
          <a:xfrm>
            <a:off x="4663440" y="5038344"/>
            <a:ext cx="288036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输出主导瓶颈排序与干预优先级，直接服务规划与运行决策</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83" name="Rounded Rectangle 40"/>
          <p:cNvSpPr/>
          <p:nvPr/>
        </p:nvSpPr>
        <p:spPr>
          <a:xfrm>
            <a:off x="8055864" y="914400"/>
            <a:ext cx="3639312" cy="5074920"/>
          </a:xfrm>
          <a:prstGeom prst="roundRect">
            <a:avLst>
              <a:gd name="adj" fmla="val 2800"/>
            </a:avLst>
          </a:prstGeom>
          <a:solidFill>
            <a:srgbClr val="FFFFFF"/>
          </a:solidFill>
          <a:ln w="12700">
            <a:solidFill>
              <a:srgbClr val="00537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84" name="Rectangle 41"/>
          <p:cNvSpPr/>
          <p:nvPr/>
        </p:nvSpPr>
        <p:spPr>
          <a:xfrm>
            <a:off x="8074152" y="932688"/>
            <a:ext cx="3602736" cy="6400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800"/>
          </a:p>
        </p:txBody>
      </p:sp>
      <p:sp>
        <p:nvSpPr>
          <p:cNvPr id="685" name="Rectangle 42"/>
          <p:cNvSpPr/>
          <p:nvPr/>
        </p:nvSpPr>
        <p:spPr>
          <a:xfrm>
            <a:off x="8074152" y="996696"/>
            <a:ext cx="3602736" cy="420624"/>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lnSpc>
                <a:spcPct val="108000"/>
              </a:lnSpc>
            </a:pPr>
            <a:r>
              <a:rPr lang="zh-CN" altLang="en-US" b="1" i="0">
                <a:solidFill>
                  <a:srgbClr val="FFFFFF"/>
                </a:solidFill>
                <a:latin typeface="微软雅黑" panose="020B0503020204020204" pitchFamily="34" charset="-122"/>
                <a:ea typeface="微软雅黑" panose="020B0503020204020204" pitchFamily="34" charset="-122"/>
              </a:rPr>
              <a:t>风险与应对</a:t>
            </a:r>
            <a:endParaRPr lang="zh-CN" altLang="en-US" b="1" i="0">
              <a:solidFill>
                <a:srgbClr val="FFFFFF"/>
              </a:solidFill>
              <a:latin typeface="微软雅黑" panose="020B0503020204020204" pitchFamily="34" charset="-122"/>
              <a:ea typeface="微软雅黑" panose="020B0503020204020204" pitchFamily="34" charset="-122"/>
            </a:endParaRPr>
          </a:p>
        </p:txBody>
      </p:sp>
      <p:sp>
        <p:nvSpPr>
          <p:cNvPr id="686" name="Rounded Rectangle 43"/>
          <p:cNvSpPr/>
          <p:nvPr/>
        </p:nvSpPr>
        <p:spPr>
          <a:xfrm>
            <a:off x="8266175" y="1600200"/>
            <a:ext cx="3218688" cy="1298448"/>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87" name="Rectangle 44"/>
          <p:cNvSpPr/>
          <p:nvPr/>
        </p:nvSpPr>
        <p:spPr>
          <a:xfrm>
            <a:off x="8266175" y="1600200"/>
            <a:ext cx="73152" cy="12984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88" name="TextBox 45"/>
          <p:cNvSpPr txBox="1"/>
          <p:nvPr/>
        </p:nvSpPr>
        <p:spPr>
          <a:xfrm>
            <a:off x="8449056" y="1709928"/>
            <a:ext cx="288036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数据可得性不足</a:t>
            </a:r>
            <a:endParaRPr lang="zh-CN" altLang="en-US" sz="1400" b="1" i="0">
              <a:solidFill>
                <a:srgbClr val="1F2A33"/>
              </a:solidFill>
              <a:latin typeface="微软雅黑" panose="020B0503020204020204" pitchFamily="34" charset="-122"/>
              <a:ea typeface="微软雅黑" panose="020B0503020204020204" pitchFamily="34" charset="-122"/>
            </a:endParaRPr>
          </a:p>
        </p:txBody>
      </p:sp>
      <p:cxnSp>
        <p:nvCxnSpPr>
          <p:cNvPr id="689" name="Connector 46"/>
          <p:cNvCxnSpPr/>
          <p:nvPr/>
        </p:nvCxnSpPr>
        <p:spPr>
          <a:xfrm>
            <a:off x="8449056" y="2039112"/>
            <a:ext cx="292608"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690" name="TextBox 47"/>
          <p:cNvSpPr txBox="1"/>
          <p:nvPr/>
        </p:nvSpPr>
        <p:spPr>
          <a:xfrm>
            <a:off x="8449056" y="2130552"/>
            <a:ext cx="288036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以公开数据与文献参数替代，并做敏感性分析说明影响</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91" name="Rounded Rectangle 48"/>
          <p:cNvSpPr/>
          <p:nvPr/>
        </p:nvSpPr>
        <p:spPr>
          <a:xfrm>
            <a:off x="8266175" y="3044952"/>
            <a:ext cx="3218688" cy="1298448"/>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92" name="Rectangle 49"/>
          <p:cNvSpPr/>
          <p:nvPr/>
        </p:nvSpPr>
        <p:spPr>
          <a:xfrm>
            <a:off x="8266175" y="3044952"/>
            <a:ext cx="73152" cy="12984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93" name="TextBox 50"/>
          <p:cNvSpPr txBox="1"/>
          <p:nvPr/>
        </p:nvSpPr>
        <p:spPr>
          <a:xfrm>
            <a:off x="8449056" y="3154680"/>
            <a:ext cx="288036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模型复杂度偏高</a:t>
            </a:r>
            <a:endParaRPr lang="zh-CN" altLang="en-US" sz="1400" b="1" i="0">
              <a:solidFill>
                <a:srgbClr val="1F2A33"/>
              </a:solidFill>
              <a:latin typeface="微软雅黑" panose="020B0503020204020204" pitchFamily="34" charset="-122"/>
              <a:ea typeface="微软雅黑" panose="020B0503020204020204" pitchFamily="34" charset="-122"/>
            </a:endParaRPr>
          </a:p>
        </p:txBody>
      </p:sp>
      <p:cxnSp>
        <p:nvCxnSpPr>
          <p:cNvPr id="694" name="Connector 51"/>
          <p:cNvCxnSpPr/>
          <p:nvPr/>
        </p:nvCxnSpPr>
        <p:spPr>
          <a:xfrm>
            <a:off x="8449056" y="3483864"/>
            <a:ext cx="292608"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695" name="TextBox 52"/>
          <p:cNvSpPr txBox="1"/>
          <p:nvPr/>
        </p:nvSpPr>
        <p:spPr>
          <a:xfrm>
            <a:off x="8449056" y="3575304"/>
            <a:ext cx="2880360" cy="551180"/>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采用模块化建模，先主链后细节，逐步增加复杂度</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
        <p:nvSpPr>
          <p:cNvPr id="696" name="Rounded Rectangle 53"/>
          <p:cNvSpPr/>
          <p:nvPr/>
        </p:nvSpPr>
        <p:spPr>
          <a:xfrm>
            <a:off x="8266175" y="4489704"/>
            <a:ext cx="3218688" cy="1298448"/>
          </a:xfrm>
          <a:prstGeom prst="roundRect">
            <a:avLst>
              <a:gd name="adj" fmla="val 2800"/>
            </a:avLst>
          </a:prstGeom>
          <a:solidFill>
            <a:srgbClr val="EFF5F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97" name="Rectangle 54"/>
          <p:cNvSpPr/>
          <p:nvPr/>
        </p:nvSpPr>
        <p:spPr>
          <a:xfrm>
            <a:off x="8266175" y="4489704"/>
            <a:ext cx="73152" cy="1298448"/>
          </a:xfrm>
          <a:prstGeom prst="rect">
            <a:avLst/>
          </a:prstGeom>
          <a:solidFill>
            <a:srgbClr val="00537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400"/>
          </a:p>
        </p:txBody>
      </p:sp>
      <p:sp>
        <p:nvSpPr>
          <p:cNvPr id="698" name="TextBox 55"/>
          <p:cNvSpPr txBox="1"/>
          <p:nvPr/>
        </p:nvSpPr>
        <p:spPr>
          <a:xfrm>
            <a:off x="8449056" y="4599432"/>
            <a:ext cx="2880360" cy="258445"/>
          </a:xfrm>
          <a:prstGeom prst="rect">
            <a:avLst/>
          </a:prstGeom>
          <a:noFill/>
        </p:spPr>
        <p:txBody>
          <a:bodyPr wrap="square" lIns="27432" tIns="13716" rIns="27432" bIns="13716" anchor="t">
            <a:spAutoFit/>
          </a:bodyPr>
          <a:lstStyle/>
          <a:p>
            <a:pPr algn="l">
              <a:lnSpc>
                <a:spcPct val="108000"/>
              </a:lnSpc>
            </a:pPr>
            <a:r>
              <a:rPr lang="zh-CN" altLang="en-US" sz="1400" b="1" i="0">
                <a:solidFill>
                  <a:srgbClr val="1F2A33"/>
                </a:solidFill>
                <a:latin typeface="微软雅黑" panose="020B0503020204020204" pitchFamily="34" charset="-122"/>
                <a:ea typeface="微软雅黑" panose="020B0503020204020204" pitchFamily="34" charset="-122"/>
              </a:rPr>
              <a:t>结论不确定性</a:t>
            </a:r>
            <a:endParaRPr lang="zh-CN" altLang="en-US" sz="1400" b="1" i="0">
              <a:solidFill>
                <a:srgbClr val="1F2A33"/>
              </a:solidFill>
              <a:latin typeface="微软雅黑" panose="020B0503020204020204" pitchFamily="34" charset="-122"/>
              <a:ea typeface="微软雅黑" panose="020B0503020204020204" pitchFamily="34" charset="-122"/>
            </a:endParaRPr>
          </a:p>
        </p:txBody>
      </p:sp>
      <p:cxnSp>
        <p:nvCxnSpPr>
          <p:cNvPr id="699" name="Connector 56"/>
          <p:cNvCxnSpPr/>
          <p:nvPr/>
        </p:nvCxnSpPr>
        <p:spPr>
          <a:xfrm>
            <a:off x="8449056" y="4928616"/>
            <a:ext cx="292608" cy="0"/>
          </a:xfrm>
          <a:prstGeom prst="line">
            <a:avLst/>
          </a:prstGeom>
          <a:ln w="22860">
            <a:solidFill>
              <a:srgbClr val="005375"/>
            </a:solidFill>
          </a:ln>
          <a:effectLst/>
        </p:spPr>
        <p:style>
          <a:lnRef idx="2">
            <a:schemeClr val="accent1"/>
          </a:lnRef>
          <a:fillRef idx="0">
            <a:schemeClr val="accent1"/>
          </a:fillRef>
          <a:effectRef idx="1">
            <a:schemeClr val="accent1"/>
          </a:effectRef>
          <a:fontRef idx="minor">
            <a:schemeClr val="tx1"/>
          </a:fontRef>
        </p:style>
      </p:cxnSp>
      <p:sp>
        <p:nvSpPr>
          <p:cNvPr id="700" name="TextBox 57"/>
          <p:cNvSpPr txBox="1"/>
          <p:nvPr/>
        </p:nvSpPr>
        <p:spPr>
          <a:xfrm>
            <a:off x="8449056" y="5020056"/>
            <a:ext cx="2880360" cy="813435"/>
          </a:xfrm>
          <a:prstGeom prst="rect">
            <a:avLst/>
          </a:prstGeom>
          <a:noFill/>
        </p:spPr>
        <p:txBody>
          <a:bodyPr wrap="square" lIns="27432" tIns="13716" rIns="27432" bIns="13716" anchor="t">
            <a:spAutoFit/>
          </a:bodyPr>
          <a:lstStyle/>
          <a:p>
            <a:pPr algn="l">
              <a:lnSpc>
                <a:spcPct val="122000"/>
              </a:lnSpc>
            </a:pPr>
            <a:r>
              <a:rPr lang="zh-CN" altLang="en-US" sz="1400" b="0" i="0">
                <a:solidFill>
                  <a:srgbClr val="1F2A33"/>
                </a:solidFill>
                <a:latin typeface="微软雅黑" panose="020B0503020204020204" pitchFamily="34" charset="-122"/>
                <a:ea typeface="微软雅黑" panose="020B0503020204020204" pitchFamily="34" charset="-122"/>
              </a:rPr>
              <a:t>以相对变化与排序为主，明确适用边界与假设条件，严格遵循质量/水量守恒闭合测试</a:t>
            </a:r>
            <a:endParaRPr lang="zh-CN" altLang="en-US" sz="1400" b="0" i="0">
              <a:solidFill>
                <a:srgbClr val="1F2A33"/>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720" name=""/>
        <p:cNvGrpSpPr/>
        <p:nvPr/>
      </p:nvGrpSpPr>
      <p:grpSpPr>
        <a:xfrm>
          <a:off x="0" y="0"/>
          <a:ext cx="0" cy="0"/>
          <a:chOff x="0" y="0"/>
          <a:chExt cx="0" cy="0"/>
        </a:xfrm>
      </p:grpSpPr>
      <p:pic>
        <p:nvPicPr>
          <p:cNvPr id="721" name="图片 9"/>
          <p:cNvPicPr>
            <a:picLocks noChangeAspect="1"/>
          </p:cNvPicPr>
          <p:nvPr/>
        </p:nvPicPr>
        <p:blipFill>
          <a:blip r:embed="rId2"/>
          <a:stretch>
            <a:fillRect/>
          </a:stretch>
        </p:blipFill>
        <p:spPr>
          <a:xfrm>
            <a:off x="2896427" y="3596360"/>
            <a:ext cx="6287881" cy="2749276"/>
          </a:xfrm>
          <a:prstGeom prst="rect">
            <a:avLst/>
          </a:prstGeom>
        </p:spPr>
      </p:pic>
      <p:sp>
        <p:nvSpPr>
          <p:cNvPr id="722" name="矩形 1"/>
          <p:cNvSpPr/>
          <p:nvPr/>
        </p:nvSpPr>
        <p:spPr>
          <a:xfrm>
            <a:off x="0" y="6296878"/>
            <a:ext cx="12191999" cy="561122"/>
          </a:xfrm>
          <a:prstGeom prst="rect">
            <a:avLst/>
          </a:prstGeom>
          <a:solidFill>
            <a:srgbClr val="0053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3" name="矩形 2"/>
          <p:cNvSpPr/>
          <p:nvPr/>
        </p:nvSpPr>
        <p:spPr>
          <a:xfrm>
            <a:off x="0" y="1589647"/>
            <a:ext cx="12192002" cy="1777150"/>
          </a:xfrm>
          <a:prstGeom prst="rect">
            <a:avLst/>
          </a:prstGeom>
          <a:solidFill>
            <a:srgbClr val="0053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dirty="0">
              <a:latin typeface="微软雅黑" panose="020B0503020204020204" pitchFamily="34" charset="-122"/>
              <a:ea typeface="微软雅黑" panose="020B0503020204020204" pitchFamily="34" charset="-122"/>
            </a:endParaRPr>
          </a:p>
        </p:txBody>
      </p:sp>
      <p:cxnSp>
        <p:nvCxnSpPr>
          <p:cNvPr id="724" name="直接连接符 3"/>
          <p:cNvCxnSpPr/>
          <p:nvPr/>
        </p:nvCxnSpPr>
        <p:spPr>
          <a:xfrm flipH="1">
            <a:off x="0" y="1149746"/>
            <a:ext cx="4933046" cy="0"/>
          </a:xfrm>
          <a:prstGeom prst="line">
            <a:avLst/>
          </a:prstGeom>
          <a:ln w="25400">
            <a:solidFill>
              <a:srgbClr val="005376"/>
            </a:solidFill>
          </a:ln>
        </p:spPr>
        <p:style>
          <a:lnRef idx="1">
            <a:schemeClr val="accent1"/>
          </a:lnRef>
          <a:fillRef idx="0">
            <a:schemeClr val="accent1"/>
          </a:fillRef>
          <a:effectRef idx="0">
            <a:schemeClr val="accent1"/>
          </a:effectRef>
          <a:fontRef idx="minor">
            <a:schemeClr val="tx1"/>
          </a:fontRef>
        </p:style>
      </p:cxnSp>
      <p:sp>
        <p:nvSpPr>
          <p:cNvPr id="725" name="标题 1"/>
          <p:cNvSpPr txBox="1"/>
          <p:nvPr/>
        </p:nvSpPr>
        <p:spPr>
          <a:xfrm>
            <a:off x="495300" y="1812860"/>
            <a:ext cx="11201400" cy="149052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4000" b="1" i="0">
                <a:solidFill>
                  <a:srgbClr val="FFFFFF"/>
                </a:solidFill>
                <a:latin typeface="微软雅黑" panose="020B0503020204020204" pitchFamily="34" charset="-122"/>
                <a:ea typeface="微软雅黑" panose="020B0503020204020204" pitchFamily="34" charset="-122"/>
              </a:rPr>
              <a:t>汇 报 完 毕</a:t>
            </a:r>
            <a:endParaRPr lang="zh-CN" altLang="en-US" sz="4000" b="1" i="0">
              <a:solidFill>
                <a:srgbClr val="FFFFFF"/>
              </a:solidFill>
              <a:latin typeface="微软雅黑" panose="020B0503020204020204" pitchFamily="34" charset="-122"/>
              <a:ea typeface="微软雅黑" panose="020B0503020204020204" pitchFamily="34" charset="-122"/>
            </a:endParaRPr>
          </a:p>
        </p:txBody>
      </p:sp>
      <p:cxnSp>
        <p:nvCxnSpPr>
          <p:cNvPr id="726" name="直接连接符 7"/>
          <p:cNvCxnSpPr/>
          <p:nvPr/>
        </p:nvCxnSpPr>
        <p:spPr>
          <a:xfrm flipH="1">
            <a:off x="7239000" y="1145795"/>
            <a:ext cx="4953000" cy="0"/>
          </a:xfrm>
          <a:prstGeom prst="line">
            <a:avLst/>
          </a:prstGeom>
          <a:ln w="25400">
            <a:solidFill>
              <a:srgbClr val="005376"/>
            </a:solidFill>
          </a:ln>
        </p:spPr>
        <p:style>
          <a:lnRef idx="1">
            <a:schemeClr val="accent1"/>
          </a:lnRef>
          <a:fillRef idx="0">
            <a:schemeClr val="accent1"/>
          </a:fillRef>
          <a:effectRef idx="0">
            <a:schemeClr val="accent1"/>
          </a:effectRef>
          <a:fontRef idx="minor">
            <a:schemeClr val="tx1"/>
          </a:fontRef>
        </p:style>
      </p:cxnSp>
      <p:pic>
        <p:nvPicPr>
          <p:cNvPr id="727" name="图片 10"/>
          <p:cNvPicPr>
            <a:picLocks noChangeAspect="1"/>
          </p:cNvPicPr>
          <p:nvPr/>
        </p:nvPicPr>
        <p:blipFill>
          <a:blip r:embed="rId3" cstate="print"/>
          <a:stretch>
            <a:fillRect/>
          </a:stretch>
        </p:blipFill>
        <p:spPr>
          <a:xfrm>
            <a:off x="4967788" y="219682"/>
            <a:ext cx="2199274" cy="961598"/>
          </a:xfrm>
          <a:prstGeom prst="rect">
            <a:avLst/>
          </a:prstGeom>
        </p:spPr>
      </p:pic>
      <p:sp>
        <p:nvSpPr>
          <p:cNvPr id="728" name="副标题 2"/>
          <p:cNvSpPr>
            <a:spLocks noGrp="1"/>
          </p:cNvSpPr>
          <p:nvPr>
            <p:ph type="subTitle" idx="1"/>
          </p:nvPr>
        </p:nvSpPr>
        <p:spPr>
          <a:xfrm>
            <a:off x="0" y="4064000"/>
            <a:ext cx="12192000" cy="680085"/>
          </a:xfrm>
        </p:spPr>
        <p:txBody>
          <a:bodyPr>
            <a:normAutofit/>
          </a:bodyPr>
          <a:lstStyle/>
          <a:p>
            <a:pPr marL="0" indent="0" algn="ctr">
              <a:buNone/>
            </a:pPr>
            <a:r>
              <a:rPr lang="zh-CN" altLang="en-US" sz="2200" b="1" i="0">
                <a:solidFill>
                  <a:srgbClr val="005376"/>
                </a:solidFill>
                <a:latin typeface="微软雅黑" panose="020B0503020204020204" pitchFamily="34" charset="-122"/>
                <a:ea typeface="微软雅黑" panose="020B0503020204020204" pitchFamily="34" charset="-122"/>
              </a:rPr>
              <a:t>恳请各位老师  批评指正！</a:t>
            </a:r>
            <a:endParaRPr lang="zh-CN" altLang="en-US" sz="2200" b="1" i="0">
              <a:solidFill>
                <a:srgbClr val="005376"/>
              </a:solidFill>
              <a:latin typeface="微软雅黑" panose="020B0503020204020204" pitchFamily="34" charset="-122"/>
              <a:ea typeface="微软雅黑" panose="020B0503020204020204" pitchFamily="34" charset="-122"/>
            </a:endParaRPr>
          </a:p>
        </p:txBody>
      </p:sp>
      <p:sp>
        <p:nvSpPr>
          <p:cNvPr id="729" name="副标题 2"/>
          <p:cNvSpPr txBox="1"/>
          <p:nvPr/>
        </p:nvSpPr>
        <p:spPr>
          <a:xfrm>
            <a:off x="0" y="4602480"/>
            <a:ext cx="12192000" cy="68008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sz="1600" b="1" i="0">
                <a:solidFill>
                  <a:srgbClr val="005376"/>
                </a:solidFill>
                <a:latin typeface="微软雅黑" panose="020B0503020204020204" pitchFamily="34" charset="-122"/>
                <a:ea typeface="微软雅黑" panose="020B0503020204020204" pitchFamily="34" charset="-122"/>
              </a:rPr>
              <a:t>姓名：邵敬哲      导师：白舜文</a:t>
            </a:r>
            <a:endParaRPr lang="zh-CN" altLang="en-US" sz="1600" b="1" i="0">
              <a:solidFill>
                <a:srgbClr val="005376"/>
              </a:solidFill>
              <a:latin typeface="微软雅黑" panose="020B0503020204020204" pitchFamily="34" charset="-122"/>
              <a:ea typeface="微软雅黑" panose="020B0503020204020204" pitchFamily="34" charset="-122"/>
            </a:endParaRPr>
          </a:p>
          <a:p>
            <a:pPr algn="ctr"/>
            <a:r>
              <a:rPr lang="zh-CN" altLang="en-US" sz="1050" b="0" i="0">
                <a:solidFill>
                  <a:srgbClr val="5A6B76"/>
                </a:solidFill>
                <a:latin typeface="微软雅黑" panose="020B0503020204020204" pitchFamily="34" charset="-122"/>
                <a:ea typeface="微软雅黑" panose="020B0503020204020204" pitchFamily="34" charset="-122"/>
              </a:rPr>
              <a:t>AI 算力基础设施驱动下城市人工水系统代谢响应与条件化承载边界的系统模拟研究</a:t>
            </a:r>
            <a:endParaRPr lang="zh-CN" altLang="en-US" sz="1050" b="0" i="0">
              <a:solidFill>
                <a:srgbClr val="5A6B76"/>
              </a:solidFill>
              <a:latin typeface="微软雅黑" panose="020B0503020204020204" pitchFamily="34" charset="-122"/>
              <a:ea typeface="微软雅黑" panose="020B0503020204020204" pitchFamily="34" charset="-122"/>
            </a:endParaRPr>
          </a:p>
          <a:p>
            <a:pPr algn="ctr"/>
            <a:r>
              <a:rPr lang="zh-CN" altLang="en-US" sz="1200" b="0" i="0">
                <a:solidFill>
                  <a:srgbClr val="005376"/>
                </a:solidFill>
                <a:latin typeface="微软雅黑" panose="020B0503020204020204" pitchFamily="34" charset="-122"/>
                <a:ea typeface="微软雅黑" panose="020B0503020204020204" pitchFamily="34" charset="-122"/>
              </a:rPr>
              <a:t>哈尔滨工业大学 · 环境学院</a:t>
            </a:r>
            <a:endParaRPr lang="zh-CN" altLang="en-US" sz="1200" b="0" i="0">
              <a:solidFill>
                <a:srgbClr val="005376"/>
              </a:solidFill>
              <a:latin typeface="微软雅黑" panose="020B0503020204020204" pitchFamily="34" charset="-122"/>
              <a:ea typeface="微软雅黑" panose="020B0503020204020204" pitchFamily="34" charset="-122"/>
            </a:endParaRPr>
          </a:p>
        </p:txBody>
      </p:sp>
      <p:pic>
        <p:nvPicPr>
          <p:cNvPr id="730" name="图片 5"/>
          <p:cNvPicPr>
            <a:picLocks noChangeAspect="1"/>
          </p:cNvPicPr>
          <p:nvPr/>
        </p:nvPicPr>
        <p:blipFill>
          <a:blip r:embed="rId4" cstate="print"/>
          <a:stretch>
            <a:fillRect/>
          </a:stretch>
        </p:blipFill>
        <p:spPr>
          <a:xfrm>
            <a:off x="239679" y="6415212"/>
            <a:ext cx="1655733" cy="324128"/>
          </a:xfrm>
          <a:prstGeom prst="rect">
            <a:avLst/>
          </a:prstGeom>
        </p:spPr>
      </p:pic>
      <p:sp>
        <p:nvSpPr>
          <p:cNvPr id="731" name="TextBox 12"/>
          <p:cNvSpPr txBox="1"/>
          <p:nvPr/>
        </p:nvSpPr>
        <p:spPr>
          <a:xfrm>
            <a:off x="10058400" y="6483096"/>
            <a:ext cx="1645920" cy="274320"/>
          </a:xfrm>
          <a:prstGeom prst="rect">
            <a:avLst/>
          </a:prstGeom>
          <a:noFill/>
        </p:spPr>
        <p:txBody>
          <a:bodyPr wrap="square" lIns="27432" tIns="13716" rIns="27432" bIns="13716" anchor="ctr">
            <a:spAutoFit/>
          </a:bodyPr>
          <a:lstStyle/>
          <a:p>
            <a:pPr algn="r">
              <a:lnSpc>
                <a:spcPct val="108000"/>
              </a:lnSpc>
            </a:pPr>
            <a:r>
              <a:rPr lang="zh-CN" altLang="en-US" sz="1000" b="1" i="0">
                <a:solidFill>
                  <a:srgbClr val="FFFFFF"/>
                </a:solidFill>
                <a:latin typeface="Arial" panose="020B0604020202020204"/>
                <a:ea typeface="Arial" panose="020B0604020202020204"/>
              </a:rPr>
              <a:t>24 / 24</a:t>
            </a:r>
            <a:endParaRPr lang="zh-CN" altLang="en-US" sz="1000" b="1" i="0">
              <a:solidFill>
                <a:srgbClr val="FFFFFF"/>
              </a:solidFill>
              <a:latin typeface="Arial" panose="020B0604020202020204"/>
              <a:ea typeface="Arial" panose="020B0604020202020204"/>
            </a:endParaRPr>
          </a:p>
        </p:txBody>
      </p:sp>
    </p:spTree>
  </p:cSld>
  <p:clrMapOvr>
    <a:masterClrMapping/>
  </p:clrMapOvr>
</p:sld>
</file>

<file path=ppt/tags/tag1.xml><?xml version="1.0" encoding="utf-8"?>
<p:tagLst xmlns:p="http://schemas.openxmlformats.org/presentationml/2006/main">
  <p:tag name="KSO_WM_DIAGRAM_VIRTUALLY_FRAME" val="{&quot;height&quot;:237.6,&quot;left&quot;:38.160000000000004,&quot;top&quot;:81.45,&quot;width&quot;:883.4399999999999}"/>
</p:tagLst>
</file>

<file path=ppt/tags/tag2.xml><?xml version="1.0" encoding="utf-8"?>
<p:tagLst xmlns:p="http://schemas.openxmlformats.org/presentationml/2006/main">
  <p:tag name="KSO_WM_DIAGRAM_VIRTUALLY_FRAME" val="{&quot;height&quot;:237.6,&quot;left&quot;:38.160000000000004,&quot;top&quot;:81.45,&quot;width&quot;:883.4399999999999}"/>
</p:tagLst>
</file>

<file path=ppt/tags/tag3.xml><?xml version="1.0" encoding="utf-8"?>
<p:tagLst xmlns:p="http://schemas.openxmlformats.org/presentationml/2006/main">
  <p:tag name="KSO_WM_DIAGRAM_VIRTUALLY_FRAME" val="{&quot;height&quot;:237.6,&quot;left&quot;:38.160000000000004,&quot;top&quot;:81.45,&quot;width&quot;:883.4399999999999}"/>
</p:tagLst>
</file>

<file path=ppt/tags/tag4.xml><?xml version="1.0" encoding="utf-8"?>
<p:tagLst xmlns:p="http://schemas.openxmlformats.org/presentationml/2006/main">
  <p:tag name="KSO_WM_DIAGRAM_VIRTUALLY_FRAME" val="{&quot;height&quot;:237.6,&quot;left&quot;:38.160000000000004,&quot;top&quot;:81.45,&quot;width&quot;:883.4399999999999}"/>
</p:tagLst>
</file>

<file path=ppt/tags/tag5.xml><?xml version="1.0" encoding="utf-8"?>
<p:tagLst xmlns:p="http://schemas.openxmlformats.org/presentationml/2006/main">
  <p:tag name="KSO_WM_DIAGRAM_VIRTUALLY_FRAME" val="{&quot;height&quot;:237.6,&quot;left&quot;:38.160000000000004,&quot;top&quot;:81.45,&quot;width&quot;:883.4399999999999}"/>
</p:tagLst>
</file>

<file path=ppt/tags/tag6.xml><?xml version="1.0" encoding="utf-8"?>
<p:tagLst xmlns:p="http://schemas.openxmlformats.org/presentationml/2006/main">
  <p:tag name="KSO_WM_DIAGRAM_VIRTUALLY_FRAME" val="{&quot;height&quot;:237.6,&quot;left&quot;:38.160000000000004,&quot;top&quot;:81.45,&quot;width&quot;:883.4399999999999}"/>
</p:tagLst>
</file>

<file path=ppt/tags/tag7.xml><?xml version="1.0" encoding="utf-8"?>
<p:tagLst xmlns:p="http://schemas.openxmlformats.org/presentationml/2006/main">
  <p:tag name="KSO_WM_DIAGRAM_VIRTUALLY_FRAME" val="{&quot;height&quot;:237.6,&quot;left&quot;:38.160000000000004,&quot;top&quot;:81.45,&quot;width&quot;:883.4399999999999}"/>
</p:tagLst>
</file>

<file path=ppt/tags/tag8.xml><?xml version="1.0" encoding="utf-8"?>
<p:tagLst xmlns:p="http://schemas.openxmlformats.org/presentationml/2006/main">
  <p:tag name="KSO_WM_DIAGRAM_VIRTUALLY_FRAME" val="{&quot;height&quot;:237.6,&quot;left&quot;:38.160000000000004,&quot;top&quot;:81.45,&quot;width&quot;:883.4399999999999}"/>
</p:tagLst>
</file>

<file path=ppt/tags/tag9.xml><?xml version="1.0" encoding="utf-8"?>
<p:tagLst xmlns:p="http://schemas.openxmlformats.org/presentationml/2006/main">
  <p:tag name="KSO_WM_DIAGRAM_VIRTUALLY_FRAME" val="{&quot;height&quot;:237.6,&quot;left&quot;:38.160000000000004,&quot;top&quot;:81.45,&quot;width&quot;:883.4399999999999}"/>
</p:tagLst>
</file>

<file path=ppt/tags/tag10.xml><?xml version="1.0" encoding="utf-8"?>
<p:tagLst xmlns:p="http://schemas.openxmlformats.org/presentationml/2006/main">
  <p:tag name="KSO_WM_DIAGRAM_VIRTUALLY_FRAME" val="{&quot;height&quot;:237.6,&quot;left&quot;:38.160000000000004,&quot;top&quot;:81.45,&quot;width&quot;:883.4399999999999}"/>
</p:tagLst>
</file>

<file path=ppt/tags/tag11.xml><?xml version="1.0" encoding="utf-8"?>
<p:tagLst xmlns:p="http://schemas.openxmlformats.org/presentationml/2006/main">
  <p:tag name="KSO_WM_DIAGRAM_VIRTUALLY_FRAME" val="{&quot;height&quot;:237.6,&quot;left&quot;:38.160000000000004,&quot;top&quot;:81.45,&quot;width&quot;:883.4399999999999}"/>
</p:tagLst>
</file>

<file path=ppt/tags/tag12.xml><?xml version="1.0" encoding="utf-8"?>
<p:tagLst xmlns:p="http://schemas.openxmlformats.org/presentationml/2006/main">
  <p:tag name="KSO_WM_DIAGRAM_VIRTUALLY_FRAME" val="{&quot;height&quot;:237.6,&quot;left&quot;:38.160000000000004,&quot;top&quot;:81.45,&quot;width&quot;:883.4399999999999}"/>
</p:tagLst>
</file>

<file path=ppt/tags/tag13.xml><?xml version="1.0" encoding="utf-8"?>
<p:tagLst xmlns:p="http://schemas.openxmlformats.org/presentationml/2006/main">
  <p:tag name="KSO_WM_DIAGRAM_VIRTUALLY_FRAME" val="{&quot;height&quot;:237.6,&quot;left&quot;:38.160000000000004,&quot;top&quot;:81.45,&quot;width&quot;:883.4399999999999}"/>
</p:tagLst>
</file>

<file path=ppt/tags/tag14.xml><?xml version="1.0" encoding="utf-8"?>
<p:tagLst xmlns:p="http://schemas.openxmlformats.org/presentationml/2006/main">
  <p:tag name="KSO_WM_DIAGRAM_VIRTUALLY_FRAME" val="{&quot;height&quot;:237.6,&quot;left&quot;:38.160000000000004,&quot;top&quot;:81.45,&quot;width&quot;:883.4399999999999}"/>
</p:tagLst>
</file>

<file path=ppt/tags/tag15.xml><?xml version="1.0" encoding="utf-8"?>
<p:tagLst xmlns:p="http://schemas.openxmlformats.org/presentationml/2006/main">
  <p:tag name="KSO_WM_DIAGRAM_VIRTUALLY_FRAME" val="{&quot;height&quot;:237.6,&quot;left&quot;:38.160000000000004,&quot;top&quot;:81.45,&quot;width&quot;:883.4399999999999}"/>
</p:tagLst>
</file>

<file path=ppt/tags/tag16.xml><?xml version="1.0" encoding="utf-8"?>
<p:tagLst xmlns:p="http://schemas.openxmlformats.org/presentationml/2006/main">
  <p:tag name="KSO_WM_DIAGRAM_VIRTUALLY_FRAME" val="{&quot;height&quot;:315,&quot;left&quot;:38.160000000000004,&quot;top&quot;:75.24,&quot;width&quot;:883.4399999999999}"/>
</p:tagLst>
</file>

<file path=ppt/tags/tag17.xml><?xml version="1.0" encoding="utf-8"?>
<p:tagLst xmlns:p="http://schemas.openxmlformats.org/presentationml/2006/main">
  <p:tag name="KSO_WM_DIAGRAM_VIRTUALLY_FRAME" val="{&quot;height&quot;:315,&quot;left&quot;:38.160000000000004,&quot;top&quot;:75.24,&quot;width&quot;:883.4399999999999}"/>
</p:tagLst>
</file>

<file path=ppt/tags/tag18.xml><?xml version="1.0" encoding="utf-8"?>
<p:tagLst xmlns:p="http://schemas.openxmlformats.org/presentationml/2006/main">
  <p:tag name="KSO_WM_DIAGRAM_VIRTUALLY_FRAME" val="{&quot;height&quot;:315,&quot;left&quot;:38.160000000000004,&quot;top&quot;:75.24,&quot;width&quot;:883.4399999999999}"/>
</p:tagLst>
</file>

<file path=ppt/tags/tag19.xml><?xml version="1.0" encoding="utf-8"?>
<p:tagLst xmlns:p="http://schemas.openxmlformats.org/presentationml/2006/main">
  <p:tag name="KSO_WM_DIAGRAM_VIRTUALLY_FRAME" val="{&quot;height&quot;:315,&quot;left&quot;:38.160000000000004,&quot;top&quot;:75.24,&quot;width&quot;:883.4399999999999}"/>
</p:tagLst>
</file>

<file path=ppt/tags/tag20.xml><?xml version="1.0" encoding="utf-8"?>
<p:tagLst xmlns:p="http://schemas.openxmlformats.org/presentationml/2006/main">
  <p:tag name="KSO_WM_DIAGRAM_VIRTUALLY_FRAME" val="{&quot;height&quot;:315,&quot;left&quot;:38.160000000000004,&quot;top&quot;:75.24,&quot;width&quot;:883.4399999999999}"/>
</p:tagLst>
</file>

<file path=ppt/tags/tag21.xml><?xml version="1.0" encoding="utf-8"?>
<p:tagLst xmlns:p="http://schemas.openxmlformats.org/presentationml/2006/main">
  <p:tag name="KSO_WM_DIAGRAM_VIRTUALLY_FRAME" val="{&quot;height&quot;:315,&quot;left&quot;:38.160000000000004,&quot;top&quot;:75.24,&quot;width&quot;:883.4399999999999}"/>
</p:tagLst>
</file>

<file path=ppt/tags/tag22.xml><?xml version="1.0" encoding="utf-8"?>
<p:tagLst xmlns:p="http://schemas.openxmlformats.org/presentationml/2006/main">
  <p:tag name="KSO_WM_DIAGRAM_VIRTUALLY_FRAME" val="{&quot;height&quot;:315,&quot;left&quot;:38.160000000000004,&quot;top&quot;:75.24,&quot;width&quot;:883.4399999999999}"/>
</p:tagLst>
</file>

<file path=ppt/tags/tag23.xml><?xml version="1.0" encoding="utf-8"?>
<p:tagLst xmlns:p="http://schemas.openxmlformats.org/presentationml/2006/main">
  <p:tag name="KSO_WM_DIAGRAM_VIRTUALLY_FRAME" val="{&quot;height&quot;:315,&quot;left&quot;:38.160000000000004,&quot;top&quot;:75.24,&quot;width&quot;:883.4399999999999}"/>
</p:tagLst>
</file>

<file path=ppt/tags/tag24.xml><?xml version="1.0" encoding="utf-8"?>
<p:tagLst xmlns:p="http://schemas.openxmlformats.org/presentationml/2006/main">
  <p:tag name="KSO_WM_DIAGRAM_VIRTUALLY_FRAME" val="{&quot;height&quot;:315,&quot;left&quot;:38.160000000000004,&quot;top&quot;:75.24,&quot;width&quot;:883.4399999999999}"/>
</p:tagLst>
</file>

<file path=ppt/tags/tag25.xml><?xml version="1.0" encoding="utf-8"?>
<p:tagLst xmlns:p="http://schemas.openxmlformats.org/presentationml/2006/main">
  <p:tag name="KSO_WM_DIAGRAM_VIRTUALLY_FRAME" val="{&quot;height&quot;:315,&quot;left&quot;:38.160000000000004,&quot;top&quot;:75.24,&quot;width&quot;:883.4399999999999}"/>
</p:tagLst>
</file>

<file path=ppt/tags/tag26.xml><?xml version="1.0" encoding="utf-8"?>
<p:tagLst xmlns:p="http://schemas.openxmlformats.org/presentationml/2006/main">
  <p:tag name="KSO_WM_DIAGRAM_VIRTUALLY_FRAME" val="{&quot;height&quot;:315,&quot;left&quot;:38.160000000000004,&quot;top&quot;:75.24,&quot;width&quot;:883.4399999999999}"/>
</p:tagLst>
</file>

<file path=ppt/tags/tag27.xml><?xml version="1.0" encoding="utf-8"?>
<p:tagLst xmlns:p="http://schemas.openxmlformats.org/presentationml/2006/main">
  <p:tag name="KSO_WM_DIAGRAM_VIRTUALLY_FRAME" val="{&quot;height&quot;:315,&quot;left&quot;:38.160000000000004,&quot;top&quot;:75.24,&quot;width&quot;:883.4399999999999}"/>
</p:tagLst>
</file>

<file path=ppt/tags/tag28.xml><?xml version="1.0" encoding="utf-8"?>
<p:tagLst xmlns:p="http://schemas.openxmlformats.org/presentationml/2006/main">
  <p:tag name="KSO_WM_DIAGRAM_VIRTUALLY_FRAME" val="{&quot;height&quot;:315,&quot;left&quot;:38.160000000000004,&quot;top&quot;:75.24,&quot;width&quot;:883.4399999999999}"/>
</p:tagLst>
</file>

<file path=ppt/tags/tag29.xml><?xml version="1.0" encoding="utf-8"?>
<p:tagLst xmlns:p="http://schemas.openxmlformats.org/presentationml/2006/main">
  <p:tag name="KSO_WM_DIAGRAM_VIRTUALLY_FRAME" val="{&quot;height&quot;:315,&quot;left&quot;:38.160000000000004,&quot;top&quot;:75.24,&quot;width&quot;:883.4399999999999}"/>
</p:tagLst>
</file>

<file path=ppt/tags/tag30.xml><?xml version="1.0" encoding="utf-8"?>
<p:tagLst xmlns:p="http://schemas.openxmlformats.org/presentationml/2006/main">
  <p:tag name="KSO_WM_DIAGRAM_VIRTUALLY_FRAME" val="{&quot;height&quot;:315,&quot;left&quot;:38.160000000000004,&quot;top&quot;:75.24,&quot;width&quot;:883.4399999999999}"/>
</p:tagLst>
</file>

<file path=ppt/tags/tag31.xml><?xml version="1.0" encoding="utf-8"?>
<p:tagLst xmlns:p="http://schemas.openxmlformats.org/presentationml/2006/main">
  <p:tag name="KSO_WM_DIAGRAM_VIRTUALLY_FRAME" val="{&quot;height&quot;:315,&quot;left&quot;:38.160000000000004,&quot;top&quot;:75.24,&quot;width&quot;:883.4399999999999}"/>
</p:tagLst>
</file>

<file path=ppt/tags/tag32.xml><?xml version="1.0" encoding="utf-8"?>
<p:tagLst xmlns:p="http://schemas.openxmlformats.org/presentationml/2006/main">
  <p:tag name="KSO_WM_DIAGRAM_VIRTUALLY_FRAME" val="{&quot;height&quot;:315,&quot;left&quot;:38.160000000000004,&quot;top&quot;:75.24,&quot;width&quot;:883.4399999999999}"/>
</p:tagLst>
</file>

<file path=ppt/tags/tag33.xml><?xml version="1.0" encoding="utf-8"?>
<p:tagLst xmlns:p="http://schemas.openxmlformats.org/presentationml/2006/main">
  <p:tag name="KSO_WM_DIAGRAM_VIRTUALLY_FRAME" val="{&quot;height&quot;:315,&quot;left&quot;:38.160000000000004,&quot;top&quot;:75.24,&quot;width&quot;:883.4399999999999}"/>
</p:tagLst>
</file>

<file path=ppt/tags/tag34.xml><?xml version="1.0" encoding="utf-8"?>
<p:tagLst xmlns:p="http://schemas.openxmlformats.org/presentationml/2006/main">
  <p:tag name="KSO_WM_DIAGRAM_VIRTUALLY_FRAME" val="{&quot;height&quot;:315,&quot;left&quot;:38.160000000000004,&quot;top&quot;:75.24,&quot;width&quot;:883.4399999999999}"/>
</p:tagLst>
</file>

<file path=ppt/tags/tag35.xml><?xml version="1.0" encoding="utf-8"?>
<p:tagLst xmlns:p="http://schemas.openxmlformats.org/presentationml/2006/main">
  <p:tag name="KSO_WM_DIAGRAM_VIRTUALLY_FRAME" val="{&quot;height&quot;:315,&quot;left&quot;:38.160000000000004,&quot;top&quot;:75.24,&quot;width&quot;:883.4399999999999}"/>
</p:tagLst>
</file>

<file path=ppt/tags/tag36.xml><?xml version="1.0" encoding="utf-8"?>
<p:tagLst xmlns:p="http://schemas.openxmlformats.org/presentationml/2006/main">
  <p:tag name="KSO_WM_DIAGRAM_VIRTUALLY_FRAME" val="{&quot;height&quot;:315,&quot;left&quot;:38.160000000000004,&quot;top&quot;:75.24,&quot;width&quot;:883.4399999999999}"/>
</p:tagLst>
</file>

<file path=ppt/tags/tag37.xml><?xml version="1.0" encoding="utf-8"?>
<p:tagLst xmlns:p="http://schemas.openxmlformats.org/presentationml/2006/main">
  <p:tag name="KSO_WM_DIAGRAM_VIRTUALLY_FRAME" val="{&quot;height&quot;:315,&quot;left&quot;:38.160000000000004,&quot;top&quot;:75.24,&quot;width&quot;:883.4399999999999}"/>
</p:tagLst>
</file>

<file path=ppt/tags/tag38.xml><?xml version="1.0" encoding="utf-8"?>
<p:tagLst xmlns:p="http://schemas.openxmlformats.org/presentationml/2006/main">
  <p:tag name="KSO_WM_DIAGRAM_VIRTUALLY_FRAME" val="{&quot;height&quot;:315,&quot;left&quot;:38.160000000000004,&quot;top&quot;:75.24,&quot;width&quot;:883.4399999999999}"/>
</p:tagLst>
</file>

<file path=ppt/tags/tag39.xml><?xml version="1.0" encoding="utf-8"?>
<p:tagLst xmlns:p="http://schemas.openxmlformats.org/presentationml/2006/main">
  <p:tag name="KSO_WM_DIAGRAM_VIRTUALLY_FRAME" val="{&quot;height&quot;:315,&quot;left&quot;:38.160000000000004,&quot;top&quot;:75.24,&quot;width&quot;:883.439999999999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7991</Words>
  <Application>WPS 演示</Application>
  <PresentationFormat/>
  <Paragraphs>1131</Paragraphs>
  <Slides>29</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29</vt:i4>
      </vt:variant>
    </vt:vector>
  </HeadingPairs>
  <TitlesOfParts>
    <vt:vector size="42" baseType="lpstr">
      <vt:lpstr>Arial</vt:lpstr>
      <vt:lpstr>宋体</vt:lpstr>
      <vt:lpstr>Wingdings</vt:lpstr>
      <vt:lpstr>微软雅黑</vt:lpstr>
      <vt:lpstr>Arial</vt:lpstr>
      <vt:lpstr>Arial Black</vt:lpstr>
      <vt:lpstr>Times New Roman</vt:lpstr>
      <vt:lpstr>Wingdings</vt:lpstr>
      <vt:lpstr>等线</vt:lpstr>
      <vt:lpstr>Arial Unicode MS</vt:lpstr>
      <vt:lpstr>等线 Light</vt:lpstr>
      <vt:lpstr>Calibri</vt:lpstr>
      <vt:lpstr>Office 主题​​</vt:lpstr>
      <vt:lpstr>城市人工水系统代谢响应与条件化承载边界的系统模拟研究</vt:lpstr>
      <vt:lpstr>汇报框架</vt:lpstr>
      <vt:lpstr>PowerPoint 演示文稿</vt:lpstr>
      <vt:lpstr>大模型行为的资源消耗</vt:lpstr>
      <vt:lpstr>AI 算力扩张正在把计算需求转化为持续性城市物理负荷</vt:lpstr>
      <vt:lpstr>相同年用水量可能对应完全不同的城市系统压力</vt:lpstr>
      <vt:lpstr>研究对象落在城市人工水系统的全过程网络上</vt:lpstr>
      <vt:lpstr>PowerPoint 演示文稿</vt:lpstr>
      <vt:lpstr>AI算力扩张带来持续增长的水资源环境压力</vt:lpstr>
      <vt:lpstr>中国数据中心水足迹存在明显空间差异</vt:lpstr>
      <vt:lpstr>冷却技术与气候条件共同决定数据中心动态水耗</vt:lpstr>
      <vt:lpstr>年均水足迹评价难以识别时间尺度上的峰值压力</vt:lpstr>
      <vt:lpstr>现有研究已解决什么？尚未解决什么？</vt:lpstr>
      <vt:lpstr>本研究针对的三个科学缺口</vt:lpstr>
      <vt:lpstr>PowerPoint 演示文稿</vt:lpstr>
      <vt:lpstr>核心概念：CAWCC 条件化 AI 水承载容量</vt:lpstr>
      <vt:lpstr>三个科学问题与对应研究假设</vt:lpstr>
      <vt:lpstr>四项研究内容：从概念到边界求解</vt:lpstr>
      <vt:lpstr>PowerPoint 演示文稿</vt:lpstr>
      <vt:lpstr>技术路线：四个阶段</vt:lpstr>
      <vt:lpstr>研究方案总体框架：从数据到边界的技术路线</vt:lpstr>
      <vt:lpstr>PowerPoint 演示文稿</vt:lpstr>
      <vt:lpstr>实验设计：四组控制实验</vt:lpstr>
      <vt:lpstr>CAWCC 求解：容量扫描与干预区间</vt:lpstr>
      <vt:lpstr>输出指标与结果可信度</vt:lpstr>
      <vt:lpstr>PowerPoint 演示文稿</vt:lpstr>
      <vt:lpstr>研究基础与进度安排</vt:lpstr>
      <vt:lpstr>预期成果、创新点与风险应对</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算力基础设施驱动下城市人工水系统代谢响应与条件化承载边界的系统模拟研究</dc:title>
  <dc:creator/>
  <cp:lastModifiedBy>邵敬哲</cp:lastModifiedBy>
  <cp:revision>4</cp:revision>
  <dcterms:created xsi:type="dcterms:W3CDTF">2026-09-10T01:10:00Z</dcterms:created>
  <dcterms:modified xsi:type="dcterms:W3CDTF">2026-09-10T02:38:25Z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7E90788A1DD74D68AB01777D7FC664AF_12</vt:lpwstr>
  </property>
</Properties>
</file>