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2000"/>
  <p:notesSz cx="6858000" cy="9144000"/>
  <p:embeddedFontLst>
    <p:embeddedFont>
      <p:font typeface="Plus Jakarta Sans ExtraBold"/>
      <p:bold r:id="rId33"/>
      <p:boldItalic r:id="rId34"/>
    </p:embeddedFont>
    <p:embeddedFont>
      <p:font typeface="JetBrains Mono ExtraBold"/>
      <p:bold r:id="rId35"/>
      <p:boldItalic r:id="rId36"/>
    </p:embeddedFont>
    <p:embeddedFont>
      <p:font typeface="JetBrains Mono SemiBold"/>
      <p:regular r:id="rId37"/>
      <p:bold r:id="rId38"/>
      <p:italic r:id="rId39"/>
      <p:boldItalic r:id="rId40"/>
    </p:embeddedFont>
    <p:embeddedFont>
      <p:font typeface="Noto Sans SC"/>
      <p:bold r:id="rId41"/>
    </p:embeddedFont>
    <p:embeddedFont>
      <p:font typeface="JetBrains Mon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E001E9-BA96-4B7F-91D8-A5F58F78CBA2}">
  <a:tblStyle styleId="{B4E001E9-BA96-4B7F-91D8-A5F58F78CBA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font" Target="fonts/PlusJakartaSansExtraBold-bold.fntdata"/><Relationship Id="rId34" Type="http://schemas.openxmlformats.org/officeDocument/2006/relationships/font" Target="fonts/PlusJakartaSansExtraBold-boldItalic.fntdata"/><Relationship Id="rId35" Type="http://schemas.openxmlformats.org/officeDocument/2006/relationships/font" Target="fonts/JetBrainsMonoExtraBold-bold.fntdata"/><Relationship Id="rId36" Type="http://schemas.openxmlformats.org/officeDocument/2006/relationships/font" Target="fonts/JetBrainsMonoExtraBold-boldItalic.fntdata"/><Relationship Id="rId37" Type="http://schemas.openxmlformats.org/officeDocument/2006/relationships/font" Target="fonts/JetBrainsMonoSemiBold-regular.fntdata"/><Relationship Id="rId38" Type="http://schemas.openxmlformats.org/officeDocument/2006/relationships/font" Target="fonts/JetBrainsMonoSemiBold-bold.fntdata"/><Relationship Id="rId39" Type="http://schemas.openxmlformats.org/officeDocument/2006/relationships/font" Target="fonts/JetBrainsMonoSemiBold-italic.fntdata"/><Relationship Id="rId40" Type="http://schemas.openxmlformats.org/officeDocument/2006/relationships/font" Target="fonts/JetBrainsMonoSemiBold-boldItalic.fntdata"/><Relationship Id="rId41" Type="http://schemas.openxmlformats.org/officeDocument/2006/relationships/font" Target="fonts/NotoSansSC-bold.fntdata"/><Relationship Id="rId42" Type="http://schemas.openxmlformats.org/officeDocument/2006/relationships/font" Target="fonts/JetBrainsMono-regular.fntdata"/><Relationship Id="rId43" Type="http://schemas.openxmlformats.org/officeDocument/2006/relationships/font" Target="fonts/JetBrainsMono-bold.fntdata"/><Relationship Id="rId44" Type="http://schemas.openxmlformats.org/officeDocument/2006/relationships/font" Target="fonts/JetBrainsMono-italic.fntdata"/><Relationship Id="rId45" Type="http://schemas.openxmlformats.org/officeDocument/2006/relationships/font" Target="fonts/JetBrains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2.png"/><Relationship Id="rId8"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9.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9.png"/><Relationship Id="rId11" Type="http://schemas.openxmlformats.org/officeDocument/2006/relationships/image" Target="../media/image5.png"/><Relationship Id="rId12" Type="http://schemas.openxmlformats.org/officeDocument/2006/relationships/image" Target="../media/image15.png"/><Relationship Id="rId13" Type="http://schemas.openxmlformats.org/officeDocument/2006/relationships/image" Target="../media/image17.png"/><Relationship Id="rId14" Type="http://schemas.openxmlformats.org/officeDocument/2006/relationships/image" Target="../media/image10.png"/><Relationship Id="rId15" Type="http://schemas.openxmlformats.org/officeDocument/2006/relationships/image" Target="../media/image13.png"/><Relationship Id="rId16" Type="http://schemas.openxmlformats.org/officeDocument/2006/relationships/image" Target="../media/image20.png"/><Relationship Id="rId17" Type="http://schemas.openxmlformats.org/officeDocument/2006/relationships/image" Target="../media/image24.png"/><Relationship Id="rId18" Type="http://schemas.openxmlformats.org/officeDocument/2006/relationships/image" Target="../media/image28.png"/><Relationship Id="rId19" Type="http://schemas.openxmlformats.org/officeDocument/2006/relationships/image" Target="../media/image22.png"/><Relationship Id="rId20" Type="http://schemas.openxmlformats.org/officeDocument/2006/relationships/image" Target="../media/image23.png"/><Relationship Id="rId21" Type="http://schemas.openxmlformats.org/officeDocument/2006/relationships/image" Target="../media/image25.png"/><Relationship Id="rId22" Type="http://schemas.openxmlformats.org/officeDocument/2006/relationships/image" Target="../media/image21.png"/><Relationship Id="rId23" Type="http://schemas.openxmlformats.org/officeDocument/2006/relationships/image" Target="../media/image35.png"/><Relationship Id="rId24" Type="http://schemas.openxmlformats.org/officeDocument/2006/relationships/image" Target="../media/image26.png"/><Relationship Id="rId25" Type="http://schemas.openxmlformats.org/officeDocument/2006/relationships/image" Target="../media/image31.png"/><Relationship Id="rId26" Type="http://schemas.openxmlformats.org/officeDocument/2006/relationships/image" Target="../media/image34.png"/><Relationship Id="rId27" Type="http://schemas.openxmlformats.org/officeDocument/2006/relationships/image" Target="../media/image27.png"/><Relationship Id="rId28" Type="http://schemas.openxmlformats.org/officeDocument/2006/relationships/image" Target="../media/image29.png"/><Relationship Id="rId29" Type="http://schemas.openxmlformats.org/officeDocument/2006/relationships/image" Target="../media/image32.png"/><Relationship Id="rId30" Type="http://schemas.openxmlformats.org/officeDocument/2006/relationships/image" Target="../media/image3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30.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47.png"/><Relationship Id="rId8" Type="http://schemas.openxmlformats.org/officeDocument/2006/relationships/image" Target="../media/image39.png"/><Relationship Id="rId9" Type="http://schemas.openxmlformats.org/officeDocument/2006/relationships/image" Target="../media/image41.png"/><Relationship Id="rId10" Type="http://schemas.openxmlformats.org/officeDocument/2006/relationships/image" Target="../media/image13.png"/><Relationship Id="rId11" Type="http://schemas.openxmlformats.org/officeDocument/2006/relationships/image" Target="../media/image50.png"/><Relationship Id="rId12" Type="http://schemas.openxmlformats.org/officeDocument/2006/relationships/image" Target="../media/image38.png"/><Relationship Id="rId13" Type="http://schemas.openxmlformats.org/officeDocument/2006/relationships/image" Target="../media/image28.png"/><Relationship Id="rId14" Type="http://schemas.openxmlformats.org/officeDocument/2006/relationships/image" Target="../media/image40.png"/><Relationship Id="rId15" Type="http://schemas.openxmlformats.org/officeDocument/2006/relationships/image" Target="../media/image45.png"/><Relationship Id="rId16" Type="http://schemas.openxmlformats.org/officeDocument/2006/relationships/image" Target="../media/image48.png"/><Relationship Id="rId17" Type="http://schemas.openxmlformats.org/officeDocument/2006/relationships/image" Target="../media/image4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49.png"/><Relationship Id="rId7" Type="http://schemas.openxmlformats.org/officeDocument/2006/relationships/image" Target="../media/image44.png"/><Relationship Id="rId8" Type="http://schemas.openxmlformats.org/officeDocument/2006/relationships/image" Target="../media/image28.png"/><Relationship Id="rId9" Type="http://schemas.openxmlformats.org/officeDocument/2006/relationships/image" Target="../media/image43.png"/><Relationship Id="rId10" Type="http://schemas.openxmlformats.org/officeDocument/2006/relationships/image" Target="../media/image46.png"/><Relationship Id="rId11" Type="http://schemas.openxmlformats.org/officeDocument/2006/relationships/image" Target="../media/image51.png"/><Relationship Id="rId12" Type="http://schemas.openxmlformats.org/officeDocument/2006/relationships/image" Target="../media/image52.png"/><Relationship Id="rId13" Type="http://schemas.openxmlformats.org/officeDocument/2006/relationships/image" Target="../media/image54.png"/><Relationship Id="rId14" Type="http://schemas.openxmlformats.org/officeDocument/2006/relationships/image" Target="../media/image53.png"/><Relationship Id="rId15" Type="http://schemas.openxmlformats.org/officeDocument/2006/relationships/image" Target="../media/image55.png"/><Relationship Id="rId16" Type="http://schemas.openxmlformats.org/officeDocument/2006/relationships/image" Target="../media/image56.png"/><Relationship Id="rId17" Type="http://schemas.openxmlformats.org/officeDocument/2006/relationships/image" Target="../media/image58.png"/><Relationship Id="rId18" Type="http://schemas.openxmlformats.org/officeDocument/2006/relationships/image" Target="../media/image57.png"/><Relationship Id="rId19" Type="http://schemas.openxmlformats.org/officeDocument/2006/relationships/image" Target="../media/image59.png"/><Relationship Id="rId20" Type="http://schemas.openxmlformats.org/officeDocument/2006/relationships/image" Target="../media/image60.png"/><Relationship Id="rId21" Type="http://schemas.openxmlformats.org/officeDocument/2006/relationships/image" Target="../media/image62.png"/><Relationship Id="rId22" Type="http://schemas.openxmlformats.org/officeDocument/2006/relationships/image" Target="../media/image6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63.png"/><Relationship Id="rId5" Type="http://schemas.openxmlformats.org/officeDocument/2006/relationships/image" Target="../media/image66.png"/><Relationship Id="rId6" Type="http://schemas.openxmlformats.org/officeDocument/2006/relationships/image" Target="../media/image71.png"/><Relationship Id="rId7" Type="http://schemas.openxmlformats.org/officeDocument/2006/relationships/image" Target="../media/image70.png"/><Relationship Id="rId8" Type="http://schemas.openxmlformats.org/officeDocument/2006/relationships/image" Target="../media/image65.png"/><Relationship Id="rId9" Type="http://schemas.openxmlformats.org/officeDocument/2006/relationships/image" Target="../media/image68.png"/><Relationship Id="rId10" Type="http://schemas.openxmlformats.org/officeDocument/2006/relationships/image" Target="../media/image72.png"/><Relationship Id="rId11" Type="http://schemas.openxmlformats.org/officeDocument/2006/relationships/image" Target="../media/image13.png"/><Relationship Id="rId12" Type="http://schemas.openxmlformats.org/officeDocument/2006/relationships/image" Target="../media/image67.png"/><Relationship Id="rId13" Type="http://schemas.openxmlformats.org/officeDocument/2006/relationships/image" Target="../media/image69.png"/><Relationship Id="rId14" Type="http://schemas.openxmlformats.org/officeDocument/2006/relationships/image" Target="../media/image28.png"/><Relationship Id="rId15" Type="http://schemas.openxmlformats.org/officeDocument/2006/relationships/image" Target="../media/image64.png"/><Relationship Id="rId16" Type="http://schemas.openxmlformats.org/officeDocument/2006/relationships/image" Target="../media/image7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6.png"/><Relationship Id="rId5" Type="http://schemas.openxmlformats.org/officeDocument/2006/relationships/image" Target="../media/image13.png"/><Relationship Id="rId6" Type="http://schemas.openxmlformats.org/officeDocument/2006/relationships/image" Target="../media/image77.png"/><Relationship Id="rId7" Type="http://schemas.openxmlformats.org/officeDocument/2006/relationships/image" Target="../media/image74.png"/><Relationship Id="rId8" Type="http://schemas.openxmlformats.org/officeDocument/2006/relationships/image" Target="../media/image28.png"/><Relationship Id="rId9" Type="http://schemas.openxmlformats.org/officeDocument/2006/relationships/image" Target="../media/image75.png"/><Relationship Id="rId10" Type="http://schemas.openxmlformats.org/officeDocument/2006/relationships/image" Target="../media/image85.png"/><Relationship Id="rId11" Type="http://schemas.openxmlformats.org/officeDocument/2006/relationships/image" Target="../media/image80.png"/><Relationship Id="rId12" Type="http://schemas.openxmlformats.org/officeDocument/2006/relationships/image" Target="../media/image82.png"/><Relationship Id="rId13" Type="http://schemas.openxmlformats.org/officeDocument/2006/relationships/image" Target="../media/image8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83.png"/><Relationship Id="rId5" Type="http://schemas.openxmlformats.org/officeDocument/2006/relationships/image" Target="../media/image78.png"/><Relationship Id="rId6" Type="http://schemas.openxmlformats.org/officeDocument/2006/relationships/image" Target="../media/image81.png"/><Relationship Id="rId7" Type="http://schemas.openxmlformats.org/officeDocument/2006/relationships/image" Target="../media/image79.png"/><Relationship Id="rId8" Type="http://schemas.openxmlformats.org/officeDocument/2006/relationships/image" Target="../media/image84.png"/><Relationship Id="rId9" Type="http://schemas.openxmlformats.org/officeDocument/2006/relationships/image" Target="../media/image13.png"/><Relationship Id="rId10" Type="http://schemas.openxmlformats.org/officeDocument/2006/relationships/image" Target="../media/image86.png"/><Relationship Id="rId11" Type="http://schemas.openxmlformats.org/officeDocument/2006/relationships/image" Target="../media/image87.png"/><Relationship Id="rId12" Type="http://schemas.openxmlformats.org/officeDocument/2006/relationships/image" Target="../media/image92.png"/><Relationship Id="rId13" Type="http://schemas.openxmlformats.org/officeDocument/2006/relationships/image" Target="../media/image28.png"/><Relationship Id="rId14" Type="http://schemas.openxmlformats.org/officeDocument/2006/relationships/image" Target="../media/image93.png"/><Relationship Id="rId15" Type="http://schemas.openxmlformats.org/officeDocument/2006/relationships/image" Target="../media/image91.png"/><Relationship Id="rId16" Type="http://schemas.openxmlformats.org/officeDocument/2006/relationships/image" Target="../media/image8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0.png"/><Relationship Id="rId5" Type="http://schemas.openxmlformats.org/officeDocument/2006/relationships/image" Target="../media/image66.png"/><Relationship Id="rId6" Type="http://schemas.openxmlformats.org/officeDocument/2006/relationships/image" Target="../media/image94.png"/><Relationship Id="rId7" Type="http://schemas.openxmlformats.org/officeDocument/2006/relationships/image" Target="../media/image96.png"/><Relationship Id="rId8" Type="http://schemas.openxmlformats.org/officeDocument/2006/relationships/image" Target="../media/image97.png"/><Relationship Id="rId9" Type="http://schemas.openxmlformats.org/officeDocument/2006/relationships/image" Target="../media/image106.png"/><Relationship Id="rId10" Type="http://schemas.openxmlformats.org/officeDocument/2006/relationships/image" Target="../media/image95.png"/><Relationship Id="rId11" Type="http://schemas.openxmlformats.org/officeDocument/2006/relationships/image" Target="../media/image101.png"/><Relationship Id="rId12" Type="http://schemas.openxmlformats.org/officeDocument/2006/relationships/image" Target="../media/image13.png"/><Relationship Id="rId13" Type="http://schemas.openxmlformats.org/officeDocument/2006/relationships/image" Target="../media/image102.png"/><Relationship Id="rId14" Type="http://schemas.openxmlformats.org/officeDocument/2006/relationships/image" Target="../media/image100.png"/><Relationship Id="rId15" Type="http://schemas.openxmlformats.org/officeDocument/2006/relationships/image" Target="../media/image28.png"/><Relationship Id="rId16" Type="http://schemas.openxmlformats.org/officeDocument/2006/relationships/image" Target="../media/image99.png"/><Relationship Id="rId17" Type="http://schemas.openxmlformats.org/officeDocument/2006/relationships/image" Target="../media/image104.png"/><Relationship Id="rId18" Type="http://schemas.openxmlformats.org/officeDocument/2006/relationships/image" Target="../media/image9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3.png"/><Relationship Id="rId5" Type="http://schemas.openxmlformats.org/officeDocument/2006/relationships/image" Target="../media/image105.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112.png"/><Relationship Id="rId10" Type="http://schemas.openxmlformats.org/officeDocument/2006/relationships/image" Target="../media/image110.png"/><Relationship Id="rId11" Type="http://schemas.openxmlformats.org/officeDocument/2006/relationships/image" Target="../media/image115.png"/><Relationship Id="rId12" Type="http://schemas.openxmlformats.org/officeDocument/2006/relationships/image" Target="../media/image13.png"/><Relationship Id="rId13" Type="http://schemas.openxmlformats.org/officeDocument/2006/relationships/image" Target="../media/image114.png"/><Relationship Id="rId14" Type="http://schemas.openxmlformats.org/officeDocument/2006/relationships/image" Target="../media/image116.png"/><Relationship Id="rId15" Type="http://schemas.openxmlformats.org/officeDocument/2006/relationships/image" Target="../media/image28.png"/><Relationship Id="rId16" Type="http://schemas.openxmlformats.org/officeDocument/2006/relationships/image" Target="../media/image111.png"/><Relationship Id="rId17" Type="http://schemas.openxmlformats.org/officeDocument/2006/relationships/image" Target="../media/image113.png"/><Relationship Id="rId18" Type="http://schemas.openxmlformats.org/officeDocument/2006/relationships/image" Target="../media/image118.png"/><Relationship Id="rId19" Type="http://schemas.openxmlformats.org/officeDocument/2006/relationships/image" Target="../media/image1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1.png"/><Relationship Id="rId4" Type="http://schemas.openxmlformats.org/officeDocument/2006/relationships/image" Target="../media/image122.png"/><Relationship Id="rId5" Type="http://schemas.openxmlformats.org/officeDocument/2006/relationships/image" Target="../media/image117.png"/><Relationship Id="rId6" Type="http://schemas.openxmlformats.org/officeDocument/2006/relationships/image" Target="../media/image120.png"/><Relationship Id="rId7" Type="http://schemas.openxmlformats.org/officeDocument/2006/relationships/image" Target="../media/image124.png"/><Relationship Id="rId8" Type="http://schemas.openxmlformats.org/officeDocument/2006/relationships/image" Target="../media/image13.png"/><Relationship Id="rId9" Type="http://schemas.openxmlformats.org/officeDocument/2006/relationships/image" Target="../media/image125.png"/><Relationship Id="rId10" Type="http://schemas.openxmlformats.org/officeDocument/2006/relationships/image" Target="../media/image131.png"/><Relationship Id="rId11" Type="http://schemas.openxmlformats.org/officeDocument/2006/relationships/image" Target="../media/image123.png"/><Relationship Id="rId12" Type="http://schemas.openxmlformats.org/officeDocument/2006/relationships/image" Target="../media/image28.png"/><Relationship Id="rId13" Type="http://schemas.openxmlformats.org/officeDocument/2006/relationships/image" Target="../media/image1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29.png"/><Relationship Id="rId5" Type="http://schemas.openxmlformats.org/officeDocument/2006/relationships/image" Target="../media/image13.png"/><Relationship Id="rId6" Type="http://schemas.openxmlformats.org/officeDocument/2006/relationships/image" Target="../media/image130.png"/><Relationship Id="rId7" Type="http://schemas.openxmlformats.org/officeDocument/2006/relationships/image" Target="../media/image134.png"/><Relationship Id="rId8" Type="http://schemas.openxmlformats.org/officeDocument/2006/relationships/image" Target="../media/image28.png"/><Relationship Id="rId9" Type="http://schemas.openxmlformats.org/officeDocument/2006/relationships/image" Target="../media/image128.png"/><Relationship Id="rId10" Type="http://schemas.openxmlformats.org/officeDocument/2006/relationships/image" Target="../media/image126.png"/><Relationship Id="rId11" Type="http://schemas.openxmlformats.org/officeDocument/2006/relationships/image" Target="../media/image135.png"/><Relationship Id="rId12" Type="http://schemas.openxmlformats.org/officeDocument/2006/relationships/image" Target="../media/image132.png"/><Relationship Id="rId13" Type="http://schemas.openxmlformats.org/officeDocument/2006/relationships/image" Target="../media/image140.png"/><Relationship Id="rId14" Type="http://schemas.openxmlformats.org/officeDocument/2006/relationships/image" Target="../media/image139.png"/><Relationship Id="rId15" Type="http://schemas.openxmlformats.org/officeDocument/2006/relationships/image" Target="../media/image133.png"/><Relationship Id="rId16" Type="http://schemas.openxmlformats.org/officeDocument/2006/relationships/image" Target="../media/image136.png"/><Relationship Id="rId17" Type="http://schemas.openxmlformats.org/officeDocument/2006/relationships/image" Target="../media/image137.png"/><Relationship Id="rId18" Type="http://schemas.openxmlformats.org/officeDocument/2006/relationships/image" Target="../media/image1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142.png"/><Relationship Id="rId5" Type="http://schemas.openxmlformats.org/officeDocument/2006/relationships/image" Target="../media/image147.png"/><Relationship Id="rId6" Type="http://schemas.openxmlformats.org/officeDocument/2006/relationships/image" Target="../media/image141.png"/><Relationship Id="rId7" Type="http://schemas.openxmlformats.org/officeDocument/2006/relationships/image" Target="../media/image143.png"/><Relationship Id="rId8" Type="http://schemas.openxmlformats.org/officeDocument/2006/relationships/image" Target="../media/image13.png"/><Relationship Id="rId9" Type="http://schemas.openxmlformats.org/officeDocument/2006/relationships/image" Target="../media/image146.png"/><Relationship Id="rId10" Type="http://schemas.openxmlformats.org/officeDocument/2006/relationships/image" Target="../media/image144.png"/><Relationship Id="rId11" Type="http://schemas.openxmlformats.org/officeDocument/2006/relationships/image" Target="../media/image28.png"/><Relationship Id="rId12" Type="http://schemas.openxmlformats.org/officeDocument/2006/relationships/image" Target="../media/image145.png"/><Relationship Id="rId13" Type="http://schemas.openxmlformats.org/officeDocument/2006/relationships/image" Target="../media/image15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29.png"/><Relationship Id="rId5" Type="http://schemas.openxmlformats.org/officeDocument/2006/relationships/image" Target="../media/image13.png"/><Relationship Id="rId6" Type="http://schemas.openxmlformats.org/officeDocument/2006/relationships/image" Target="../media/image156.png"/><Relationship Id="rId7" Type="http://schemas.openxmlformats.org/officeDocument/2006/relationships/image" Target="../media/image151.png"/><Relationship Id="rId8" Type="http://schemas.openxmlformats.org/officeDocument/2006/relationships/image" Target="../media/image28.png"/><Relationship Id="rId9" Type="http://schemas.openxmlformats.org/officeDocument/2006/relationships/image" Target="../media/image154.png"/><Relationship Id="rId10" Type="http://schemas.openxmlformats.org/officeDocument/2006/relationships/image" Target="../media/image157.png"/><Relationship Id="rId11" Type="http://schemas.openxmlformats.org/officeDocument/2006/relationships/image" Target="../media/image153.png"/><Relationship Id="rId12" Type="http://schemas.openxmlformats.org/officeDocument/2006/relationships/image" Target="../media/image150.png"/><Relationship Id="rId13" Type="http://schemas.openxmlformats.org/officeDocument/2006/relationships/image" Target="../media/image149.png"/><Relationship Id="rId14" Type="http://schemas.openxmlformats.org/officeDocument/2006/relationships/image" Target="../media/image158.png"/><Relationship Id="rId15" Type="http://schemas.openxmlformats.org/officeDocument/2006/relationships/image" Target="../media/image148.png"/><Relationship Id="rId16" Type="http://schemas.openxmlformats.org/officeDocument/2006/relationships/image" Target="../media/image155.png"/><Relationship Id="rId17" Type="http://schemas.openxmlformats.org/officeDocument/2006/relationships/image" Target="../media/image159.png"/><Relationship Id="rId18" Type="http://schemas.openxmlformats.org/officeDocument/2006/relationships/image" Target="../media/image162.png"/><Relationship Id="rId19" Type="http://schemas.openxmlformats.org/officeDocument/2006/relationships/image" Target="../media/image16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63.png"/><Relationship Id="rId5" Type="http://schemas.openxmlformats.org/officeDocument/2006/relationships/image" Target="../media/image161.png"/><Relationship Id="rId6" Type="http://schemas.openxmlformats.org/officeDocument/2006/relationships/image" Target="../media/image164.png"/><Relationship Id="rId7" Type="http://schemas.openxmlformats.org/officeDocument/2006/relationships/image" Target="../media/image168.png"/><Relationship Id="rId8" Type="http://schemas.openxmlformats.org/officeDocument/2006/relationships/image" Target="../media/image13.png"/><Relationship Id="rId9" Type="http://schemas.openxmlformats.org/officeDocument/2006/relationships/image" Target="../media/image171.png"/><Relationship Id="rId10" Type="http://schemas.openxmlformats.org/officeDocument/2006/relationships/image" Target="../media/image165.png"/><Relationship Id="rId11" Type="http://schemas.openxmlformats.org/officeDocument/2006/relationships/image" Target="../media/image28.png"/><Relationship Id="rId12" Type="http://schemas.openxmlformats.org/officeDocument/2006/relationships/image" Target="../media/image1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70.png"/><Relationship Id="rId5" Type="http://schemas.openxmlformats.org/officeDocument/2006/relationships/image" Target="../media/image167.png"/><Relationship Id="rId6" Type="http://schemas.openxmlformats.org/officeDocument/2006/relationships/image" Target="../media/image177.png"/><Relationship Id="rId7" Type="http://schemas.openxmlformats.org/officeDocument/2006/relationships/image" Target="../media/image173.png"/><Relationship Id="rId8" Type="http://schemas.openxmlformats.org/officeDocument/2006/relationships/image" Target="../media/image13.png"/><Relationship Id="rId9" Type="http://schemas.openxmlformats.org/officeDocument/2006/relationships/image" Target="../media/image176.png"/><Relationship Id="rId10" Type="http://schemas.openxmlformats.org/officeDocument/2006/relationships/image" Target="../media/image174.png"/><Relationship Id="rId11" Type="http://schemas.openxmlformats.org/officeDocument/2006/relationships/image" Target="../media/image28.png"/><Relationship Id="rId12" Type="http://schemas.openxmlformats.org/officeDocument/2006/relationships/image" Target="../media/image169.png"/><Relationship Id="rId13" Type="http://schemas.openxmlformats.org/officeDocument/2006/relationships/image" Target="../media/image17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8.png"/><Relationship Id="rId4" Type="http://schemas.openxmlformats.org/officeDocument/2006/relationships/image" Target="../media/image175.png"/><Relationship Id="rId5" Type="http://schemas.openxmlformats.org/officeDocument/2006/relationships/image" Target="../media/image18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 Id="rId4" Type="http://schemas.openxmlformats.org/officeDocument/2006/relationships/image" Target="../media/image179.png"/><Relationship Id="rId5" Type="http://schemas.openxmlformats.org/officeDocument/2006/relationships/image" Target="../media/image181.png"/><Relationship Id="rId6" Type="http://schemas.openxmlformats.org/officeDocument/2006/relationships/image" Target="../media/image183.png"/><Relationship Id="rId7" Type="http://schemas.openxmlformats.org/officeDocument/2006/relationships/image" Target="../media/image184.png"/><Relationship Id="rId8" Type="http://schemas.openxmlformats.org/officeDocument/2006/relationships/image" Target="../media/image185.png"/><Relationship Id="rId9" Type="http://schemas.openxmlformats.org/officeDocument/2006/relationships/image" Target="../media/image13.png"/><Relationship Id="rId10" Type="http://schemas.openxmlformats.org/officeDocument/2006/relationships/image" Target="../media/image192.png"/><Relationship Id="rId11" Type="http://schemas.openxmlformats.org/officeDocument/2006/relationships/image" Target="../media/image190.png"/><Relationship Id="rId12" Type="http://schemas.openxmlformats.org/officeDocument/2006/relationships/image" Target="../media/image28.png"/><Relationship Id="rId13" Type="http://schemas.openxmlformats.org/officeDocument/2006/relationships/image" Target="../media/image186.png"/><Relationship Id="rId14" Type="http://schemas.openxmlformats.org/officeDocument/2006/relationships/image" Target="../media/image18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93.png"/><Relationship Id="rId5" Type="http://schemas.openxmlformats.org/officeDocument/2006/relationships/image" Target="../media/image187.png"/><Relationship Id="rId6" Type="http://schemas.openxmlformats.org/officeDocument/2006/relationships/image" Target="../media/image188.png"/><Relationship Id="rId7" Type="http://schemas.openxmlformats.org/officeDocument/2006/relationships/image" Target="../media/image191.png"/><Relationship Id="rId8" Type="http://schemas.openxmlformats.org/officeDocument/2006/relationships/image" Target="../media/image13.png"/><Relationship Id="rId9" Type="http://schemas.openxmlformats.org/officeDocument/2006/relationships/image" Target="../media/image189.png"/><Relationship Id="rId10" Type="http://schemas.openxmlformats.org/officeDocument/2006/relationships/image" Target="../media/image194.png"/><Relationship Id="rId11" Type="http://schemas.openxmlformats.org/officeDocument/2006/relationships/image" Target="../media/image28.png"/><Relationship Id="rId12" Type="http://schemas.openxmlformats.org/officeDocument/2006/relationships/image" Target="../media/image18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95.png"/><Relationship Id="rId5" Type="http://schemas.openxmlformats.org/officeDocument/2006/relationships/image" Target="../media/image197.png"/><Relationship Id="rId6" Type="http://schemas.openxmlformats.org/officeDocument/2006/relationships/image" Target="../media/image199.png"/><Relationship Id="rId7" Type="http://schemas.openxmlformats.org/officeDocument/2006/relationships/image" Target="../media/image198.png"/><Relationship Id="rId8" Type="http://schemas.openxmlformats.org/officeDocument/2006/relationships/image" Target="../media/image13.png"/><Relationship Id="rId9" Type="http://schemas.openxmlformats.org/officeDocument/2006/relationships/image" Target="../media/image200.png"/><Relationship Id="rId10" Type="http://schemas.openxmlformats.org/officeDocument/2006/relationships/image" Target="../media/image196.png"/><Relationship Id="rId11" Type="http://schemas.openxmlformats.org/officeDocument/2006/relationships/image" Target="../media/image28.png"/><Relationship Id="rId12" Type="http://schemas.openxmlformats.org/officeDocument/2006/relationships/image" Target="../media/image18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10114061" y="442912"/>
            <a:ext cx="1544538" cy="238125"/>
          </a:xfrm>
          <a:prstGeom prst="rect">
            <a:avLst/>
          </a:prstGeom>
          <a:noFill/>
          <a:ln>
            <a:noFill/>
          </a:ln>
        </p:spPr>
      </p:pic>
      <p:pic>
        <p:nvPicPr>
          <p:cNvPr descr="image.png" id="86" name="Google Shape;86;p13"/>
          <p:cNvPicPr preferRelativeResize="0"/>
          <p:nvPr/>
        </p:nvPicPr>
        <p:blipFill rotWithShape="1">
          <a:blip r:embed="rId5">
            <a:alphaModFix/>
          </a:blip>
          <a:srcRect b="0" l="0" r="0" t="0"/>
          <a:stretch/>
        </p:blipFill>
        <p:spPr>
          <a:xfrm>
            <a:off x="533400" y="3642270"/>
            <a:ext cx="11125200" cy="453330"/>
          </a:xfrm>
          <a:prstGeom prst="rect">
            <a:avLst/>
          </a:prstGeom>
          <a:noFill/>
          <a:ln>
            <a:noFill/>
          </a:ln>
        </p:spPr>
      </p:pic>
      <p:pic>
        <p:nvPicPr>
          <p:cNvPr descr="image.png" id="87" name="Google Shape;87;p13"/>
          <p:cNvPicPr preferRelativeResize="0"/>
          <p:nvPr/>
        </p:nvPicPr>
        <p:blipFill rotWithShape="1">
          <a:blip r:embed="rId6">
            <a:alphaModFix/>
          </a:blip>
          <a:srcRect b="0" l="0" r="0" t="0"/>
          <a:stretch/>
        </p:blipFill>
        <p:spPr>
          <a:xfrm>
            <a:off x="533400" y="5915025"/>
            <a:ext cx="11125200" cy="504825"/>
          </a:xfrm>
          <a:prstGeom prst="rect">
            <a:avLst/>
          </a:prstGeom>
          <a:noFill/>
          <a:ln>
            <a:noFill/>
          </a:ln>
        </p:spPr>
      </p:pic>
      <p:sp>
        <p:nvSpPr>
          <p:cNvPr id="88" name="Google Shape;88;p13"/>
          <p:cNvSpPr txBox="1"/>
          <p:nvPr/>
        </p:nvSpPr>
        <p:spPr>
          <a:xfrm>
            <a:off x="533400" y="2648098"/>
            <a:ext cx="11658600" cy="822721"/>
          </a:xfrm>
          <a:prstGeom prst="rect">
            <a:avLst/>
          </a:prstGeom>
          <a:noFill/>
          <a:ln>
            <a:noFill/>
          </a:ln>
        </p:spPr>
        <p:txBody>
          <a:bodyPr anchorCtr="0" anchor="t" bIns="0" lIns="0" spcFirstLastPara="1" rIns="0" wrap="square" tIns="0">
            <a:spAutoFit/>
          </a:bodyPr>
          <a:lstStyle/>
          <a:p>
            <a:pPr indent="0" lvl="0" marL="0" marR="0" rtl="0" algn="l">
              <a:lnSpc>
                <a:spcPct val="135000"/>
              </a:lnSpc>
              <a:spcBef>
                <a:spcPts val="0"/>
              </a:spcBef>
              <a:spcAft>
                <a:spcPts val="0"/>
              </a:spcAft>
              <a:buNone/>
            </a:pPr>
            <a:r>
              <a:rPr b="0" i="0" lang="en-US" sz="2400" u="none" cap="none" strike="noStrike">
                <a:solidFill>
                  <a:srgbClr val="FFFFFF"/>
                </a:solidFill>
                <a:latin typeface="Noto Sans SC"/>
                <a:ea typeface="Noto Sans SC"/>
                <a:cs typeface="Noto Sans SC"/>
                <a:sym typeface="Noto Sans SC"/>
              </a:rPr>
              <a:t>AI算力基础设施驱动下城市人工水系统</a:t>
            </a:r>
            <a:br>
              <a:rPr b="0" i="0" lang="en-US" sz="1800" u="none" cap="none" strike="noStrike">
                <a:solidFill>
                  <a:schemeClr val="dk1"/>
                </a:solidFill>
                <a:latin typeface="Calibri"/>
                <a:ea typeface="Calibri"/>
                <a:cs typeface="Calibri"/>
                <a:sym typeface="Calibri"/>
              </a:rPr>
            </a:br>
            <a:r>
              <a:rPr b="0" i="0" lang="en-US" sz="2400" u="none" cap="none" strike="noStrike">
                <a:solidFill>
                  <a:srgbClr val="FFFFFF"/>
                </a:solidFill>
                <a:latin typeface="Noto Sans SC"/>
                <a:ea typeface="Noto Sans SC"/>
                <a:cs typeface="Noto Sans SC"/>
                <a:sym typeface="Noto Sans SC"/>
              </a:rPr>
              <a:t> 代谢响应与条件化承载边界研究</a:t>
            </a:r>
            <a:endParaRPr/>
          </a:p>
        </p:txBody>
      </p:sp>
      <p:sp>
        <p:nvSpPr>
          <p:cNvPr id="89" name="Google Shape;89;p13"/>
          <p:cNvSpPr txBox="1"/>
          <p:nvPr/>
        </p:nvSpPr>
        <p:spPr>
          <a:xfrm>
            <a:off x="533400" y="6076950"/>
            <a:ext cx="26670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94A3B8"/>
                </a:solidFill>
                <a:latin typeface="Noto Sans SC"/>
                <a:ea typeface="Noto Sans SC"/>
                <a:cs typeface="Noto Sans SC"/>
                <a:sym typeface="Noto Sans SC"/>
              </a:rPr>
              <a:t>汇报人 </a:t>
            </a:r>
            <a:r>
              <a:rPr b="1" i="0" lang="en-US" sz="862" u="none" cap="none" strike="noStrike">
                <a:solidFill>
                  <a:srgbClr val="FFFFFF"/>
                </a:solidFill>
                <a:latin typeface="Noto Sans SC"/>
                <a:ea typeface="Noto Sans SC"/>
                <a:cs typeface="Noto Sans SC"/>
                <a:sym typeface="Noto Sans SC"/>
              </a:rPr>
              <a:t>[ 答辩人姓名 ]</a:t>
            </a:r>
            <a:endParaRPr/>
          </a:p>
        </p:txBody>
      </p:sp>
      <p:sp>
        <p:nvSpPr>
          <p:cNvPr id="90" name="Google Shape;90;p13"/>
          <p:cNvSpPr txBox="1"/>
          <p:nvPr/>
        </p:nvSpPr>
        <p:spPr>
          <a:xfrm>
            <a:off x="3352800" y="6076950"/>
            <a:ext cx="26670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94A3B8"/>
                </a:solidFill>
                <a:latin typeface="Noto Sans SC"/>
                <a:ea typeface="Noto Sans SC"/>
                <a:cs typeface="Noto Sans SC"/>
                <a:sym typeface="Noto Sans SC"/>
              </a:rPr>
              <a:t>指导教师 </a:t>
            </a:r>
            <a:r>
              <a:rPr b="1" i="0" lang="en-US" sz="862" u="none" cap="none" strike="noStrike">
                <a:solidFill>
                  <a:srgbClr val="FFFFFF"/>
                </a:solidFill>
                <a:latin typeface="Noto Sans SC"/>
                <a:ea typeface="Noto Sans SC"/>
                <a:cs typeface="Noto Sans SC"/>
                <a:sym typeface="Noto Sans SC"/>
              </a:rPr>
              <a:t>[ 指导教师姓名 ]</a:t>
            </a:r>
            <a:endParaRPr/>
          </a:p>
        </p:txBody>
      </p:sp>
      <p:sp>
        <p:nvSpPr>
          <p:cNvPr id="91" name="Google Shape;91;p13"/>
          <p:cNvSpPr txBox="1"/>
          <p:nvPr/>
        </p:nvSpPr>
        <p:spPr>
          <a:xfrm>
            <a:off x="6172200" y="6076950"/>
            <a:ext cx="26670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94A3B8"/>
                </a:solidFill>
                <a:latin typeface="Noto Sans SC"/>
                <a:ea typeface="Noto Sans SC"/>
                <a:cs typeface="Noto Sans SC"/>
                <a:sym typeface="Noto Sans SC"/>
              </a:rPr>
              <a:t>学科方向 </a:t>
            </a:r>
            <a:r>
              <a:rPr b="1" i="0" lang="en-US" sz="862" u="none" cap="none" strike="noStrike">
                <a:solidFill>
                  <a:srgbClr val="FFFFFF"/>
                </a:solidFill>
                <a:latin typeface="Noto Sans SC"/>
                <a:ea typeface="Noto Sans SC"/>
                <a:cs typeface="Noto Sans SC"/>
                <a:sym typeface="Noto Sans SC"/>
              </a:rPr>
              <a:t>[ 学科专业名称 ]</a:t>
            </a:r>
            <a:endParaRPr/>
          </a:p>
        </p:txBody>
      </p:sp>
      <p:sp>
        <p:nvSpPr>
          <p:cNvPr id="92" name="Google Shape;92;p13"/>
          <p:cNvSpPr txBox="1"/>
          <p:nvPr/>
        </p:nvSpPr>
        <p:spPr>
          <a:xfrm>
            <a:off x="8991600" y="6076950"/>
            <a:ext cx="2667000"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94A3B8"/>
                </a:solidFill>
                <a:latin typeface="Noto Sans SC"/>
                <a:ea typeface="Noto Sans SC"/>
                <a:cs typeface="Noto Sans SC"/>
                <a:sym typeface="Noto Sans SC"/>
              </a:rPr>
              <a:t>答辩日期 </a:t>
            </a:r>
            <a:r>
              <a:rPr b="1" i="0" lang="en-US" sz="862" u="none" cap="none" strike="noStrike">
                <a:solidFill>
                  <a:srgbClr val="FFFFFF"/>
                </a:solidFill>
                <a:latin typeface="Noto Sans SC"/>
                <a:ea typeface="Noto Sans SC"/>
                <a:cs typeface="Noto Sans SC"/>
                <a:sym typeface="Noto Sans SC"/>
              </a:rPr>
              <a:t>2026 年 09 月</a:t>
            </a:r>
            <a:endParaRPr/>
          </a:p>
        </p:txBody>
      </p:sp>
      <p:pic>
        <p:nvPicPr>
          <p:cNvPr descr="image.png" id="93" name="Google Shape;93;p13"/>
          <p:cNvPicPr preferRelativeResize="0"/>
          <p:nvPr/>
        </p:nvPicPr>
        <p:blipFill rotWithShape="1">
          <a:blip r:embed="rId7">
            <a:alphaModFix/>
          </a:blip>
          <a:srcRect b="0" l="0" r="0" t="0"/>
          <a:stretch/>
        </p:blipFill>
        <p:spPr>
          <a:xfrm>
            <a:off x="533400" y="438150"/>
            <a:ext cx="192732" cy="247650"/>
          </a:xfrm>
          <a:prstGeom prst="rect">
            <a:avLst/>
          </a:prstGeom>
          <a:noFill/>
          <a:ln>
            <a:noFill/>
          </a:ln>
        </p:spPr>
      </p:pic>
      <p:sp>
        <p:nvSpPr>
          <p:cNvPr id="94" name="Google Shape;94;p13"/>
          <p:cNvSpPr txBox="1"/>
          <p:nvPr/>
        </p:nvSpPr>
        <p:spPr>
          <a:xfrm>
            <a:off x="840432" y="447675"/>
            <a:ext cx="13335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FFFFF"/>
                </a:solidFill>
                <a:latin typeface="Noto Sans SC"/>
                <a:ea typeface="Noto Sans SC"/>
                <a:cs typeface="Noto Sans SC"/>
                <a:sym typeface="Noto Sans SC"/>
              </a:rPr>
              <a:t>哈尔滨工业大学</a:t>
            </a:r>
            <a:endParaRPr/>
          </a:p>
        </p:txBody>
      </p:sp>
      <p:pic>
        <p:nvPicPr>
          <p:cNvPr descr="image.png" id="95" name="Google Shape;95;p13"/>
          <p:cNvPicPr preferRelativeResize="0"/>
          <p:nvPr/>
        </p:nvPicPr>
        <p:blipFill rotWithShape="1">
          <a:blip r:embed="rId8">
            <a:alphaModFix/>
          </a:blip>
          <a:srcRect b="0" l="0" r="0" t="0"/>
          <a:stretch/>
        </p:blipFill>
        <p:spPr>
          <a:xfrm>
            <a:off x="10256936" y="509587"/>
            <a:ext cx="85278" cy="109537"/>
          </a:xfrm>
          <a:prstGeom prst="rect">
            <a:avLst/>
          </a:prstGeom>
          <a:noFill/>
          <a:ln>
            <a:noFill/>
          </a:ln>
        </p:spPr>
      </p:pic>
      <p:sp>
        <p:nvSpPr>
          <p:cNvPr id="96" name="Google Shape;96;p13"/>
          <p:cNvSpPr txBox="1"/>
          <p:nvPr/>
        </p:nvSpPr>
        <p:spPr>
          <a:xfrm>
            <a:off x="742950" y="3794670"/>
            <a:ext cx="666750" cy="142875"/>
          </a:xfrm>
          <a:prstGeom prst="rect">
            <a:avLst/>
          </a:prstGeom>
          <a:noFill/>
          <a:ln>
            <a:noFill/>
          </a:ln>
        </p:spPr>
        <p:txBody>
          <a:bodyPr anchorCtr="0" anchor="t" bIns="0" lIns="0" spcFirstLastPara="1" rIns="0" wrap="square" tIns="0">
            <a:spAutoFit/>
          </a:bodyPr>
          <a:lstStyle/>
          <a:p>
            <a:pPr indent="0" lvl="0" marL="0" marR="0" rtl="0" algn="l">
              <a:lnSpc>
                <a:spcPct val="160079"/>
              </a:lnSpc>
              <a:spcBef>
                <a:spcPts val="0"/>
              </a:spcBef>
              <a:spcAft>
                <a:spcPts val="0"/>
              </a:spcAft>
              <a:buNone/>
            </a:pPr>
            <a:r>
              <a:rPr b="1" i="0" lang="en-US" sz="1012" u="none" cap="none" strike="noStrike">
                <a:solidFill>
                  <a:srgbClr val="38BDF8"/>
                </a:solidFill>
                <a:latin typeface="Noto Sans SC"/>
                <a:ea typeface="Noto Sans SC"/>
                <a:cs typeface="Noto Sans SC"/>
                <a:sym typeface="Noto Sans SC"/>
              </a:rPr>
              <a:t>核心命题：</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pic>
        <p:nvPicPr>
          <p:cNvPr descr="image.png" id="101" name="Google Shape;101;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 name="Google Shape;102;p14"/>
          <p:cNvPicPr preferRelativeResize="0"/>
          <p:nvPr/>
        </p:nvPicPr>
        <p:blipFill rotWithShape="1">
          <a:blip r:embed="rId4">
            <a:alphaModFix/>
          </a:blip>
          <a:srcRect b="0" l="0" r="0" t="0"/>
          <a:stretch/>
        </p:blipFill>
        <p:spPr>
          <a:xfrm>
            <a:off x="438150" y="1192410"/>
            <a:ext cx="11315700" cy="590550"/>
          </a:xfrm>
          <a:prstGeom prst="rect">
            <a:avLst/>
          </a:prstGeom>
          <a:noFill/>
          <a:ln>
            <a:noFill/>
          </a:ln>
        </p:spPr>
      </p:pic>
      <p:pic>
        <p:nvPicPr>
          <p:cNvPr descr="image.png" id="103" name="Google Shape;103;p14"/>
          <p:cNvPicPr preferRelativeResize="0"/>
          <p:nvPr/>
        </p:nvPicPr>
        <p:blipFill rotWithShape="1">
          <a:blip r:embed="rId5">
            <a:alphaModFix/>
          </a:blip>
          <a:srcRect b="0" l="0" r="0" t="0"/>
          <a:stretch/>
        </p:blipFill>
        <p:spPr>
          <a:xfrm>
            <a:off x="438150" y="1935360"/>
            <a:ext cx="11315700" cy="704850"/>
          </a:xfrm>
          <a:prstGeom prst="rect">
            <a:avLst/>
          </a:prstGeom>
          <a:noFill/>
          <a:ln>
            <a:noFill/>
          </a:ln>
        </p:spPr>
      </p:pic>
      <p:pic>
        <p:nvPicPr>
          <p:cNvPr descr="image.png" id="104" name="Google Shape;104;p14"/>
          <p:cNvPicPr preferRelativeResize="0"/>
          <p:nvPr/>
        </p:nvPicPr>
        <p:blipFill rotWithShape="1">
          <a:blip r:embed="rId6">
            <a:alphaModFix/>
          </a:blip>
          <a:srcRect b="0" l="0" r="0" t="0"/>
          <a:stretch/>
        </p:blipFill>
        <p:spPr>
          <a:xfrm>
            <a:off x="438150" y="3842146"/>
            <a:ext cx="11315700" cy="628352"/>
          </a:xfrm>
          <a:prstGeom prst="rect">
            <a:avLst/>
          </a:prstGeom>
          <a:noFill/>
          <a:ln>
            <a:noFill/>
          </a:ln>
        </p:spPr>
      </p:pic>
      <p:pic>
        <p:nvPicPr>
          <p:cNvPr descr="image.png" id="105" name="Google Shape;105;p14"/>
          <p:cNvPicPr preferRelativeResize="0"/>
          <p:nvPr/>
        </p:nvPicPr>
        <p:blipFill rotWithShape="1">
          <a:blip r:embed="rId7">
            <a:alphaModFix/>
          </a:blip>
          <a:srcRect b="0" l="0" r="0" t="0"/>
          <a:stretch/>
        </p:blipFill>
        <p:spPr>
          <a:xfrm>
            <a:off x="600075" y="2059185"/>
            <a:ext cx="1993403" cy="457200"/>
          </a:xfrm>
          <a:prstGeom prst="rect">
            <a:avLst/>
          </a:prstGeom>
          <a:noFill/>
          <a:ln>
            <a:noFill/>
          </a:ln>
        </p:spPr>
      </p:pic>
      <p:pic>
        <p:nvPicPr>
          <p:cNvPr descr="image.png" id="106" name="Google Shape;106;p14"/>
          <p:cNvPicPr preferRelativeResize="0"/>
          <p:nvPr/>
        </p:nvPicPr>
        <p:blipFill rotWithShape="1">
          <a:blip r:embed="rId8">
            <a:alphaModFix/>
          </a:blip>
          <a:srcRect b="0" l="0" r="0" t="0"/>
          <a:stretch/>
        </p:blipFill>
        <p:spPr>
          <a:xfrm>
            <a:off x="2849612" y="2059185"/>
            <a:ext cx="1993403" cy="457200"/>
          </a:xfrm>
          <a:prstGeom prst="rect">
            <a:avLst/>
          </a:prstGeom>
          <a:noFill/>
          <a:ln>
            <a:noFill/>
          </a:ln>
        </p:spPr>
      </p:pic>
      <p:pic>
        <p:nvPicPr>
          <p:cNvPr descr="image.png" id="107" name="Google Shape;107;p14"/>
          <p:cNvPicPr preferRelativeResize="0"/>
          <p:nvPr/>
        </p:nvPicPr>
        <p:blipFill rotWithShape="1">
          <a:blip r:embed="rId9">
            <a:alphaModFix/>
          </a:blip>
          <a:srcRect b="0" l="0" r="0" t="0"/>
          <a:stretch/>
        </p:blipFill>
        <p:spPr>
          <a:xfrm>
            <a:off x="5099149" y="2059185"/>
            <a:ext cx="1993403" cy="457200"/>
          </a:xfrm>
          <a:prstGeom prst="rect">
            <a:avLst/>
          </a:prstGeom>
          <a:noFill/>
          <a:ln>
            <a:noFill/>
          </a:ln>
        </p:spPr>
      </p:pic>
      <p:pic>
        <p:nvPicPr>
          <p:cNvPr descr="image.png" id="108" name="Google Shape;108;p14"/>
          <p:cNvPicPr preferRelativeResize="0"/>
          <p:nvPr/>
        </p:nvPicPr>
        <p:blipFill rotWithShape="1">
          <a:blip r:embed="rId10">
            <a:alphaModFix/>
          </a:blip>
          <a:srcRect b="0" l="0" r="0" t="0"/>
          <a:stretch/>
        </p:blipFill>
        <p:spPr>
          <a:xfrm>
            <a:off x="7348686" y="2059185"/>
            <a:ext cx="1993403" cy="457200"/>
          </a:xfrm>
          <a:prstGeom prst="rect">
            <a:avLst/>
          </a:prstGeom>
          <a:noFill/>
          <a:ln>
            <a:noFill/>
          </a:ln>
        </p:spPr>
      </p:pic>
      <p:pic>
        <p:nvPicPr>
          <p:cNvPr descr="image.png" id="109" name="Google Shape;109;p14"/>
          <p:cNvPicPr preferRelativeResize="0"/>
          <p:nvPr/>
        </p:nvPicPr>
        <p:blipFill rotWithShape="1">
          <a:blip r:embed="rId11">
            <a:alphaModFix/>
          </a:blip>
          <a:srcRect b="0" l="0" r="0" t="0"/>
          <a:stretch/>
        </p:blipFill>
        <p:spPr>
          <a:xfrm>
            <a:off x="9598223" y="2059185"/>
            <a:ext cx="1993403" cy="457200"/>
          </a:xfrm>
          <a:prstGeom prst="rect">
            <a:avLst/>
          </a:prstGeom>
          <a:noFill/>
          <a:ln>
            <a:noFill/>
          </a:ln>
        </p:spPr>
      </p:pic>
      <p:pic>
        <p:nvPicPr>
          <p:cNvPr descr="image.png" id="110" name="Google Shape;110;p14"/>
          <p:cNvPicPr preferRelativeResize="0"/>
          <p:nvPr/>
        </p:nvPicPr>
        <p:blipFill rotWithShape="1">
          <a:blip r:embed="rId12">
            <a:alphaModFix/>
          </a:blip>
          <a:srcRect b="0" l="0" r="0" t="0"/>
          <a:stretch/>
        </p:blipFill>
        <p:spPr>
          <a:xfrm>
            <a:off x="438150" y="2792610"/>
            <a:ext cx="3682900" cy="916185"/>
          </a:xfrm>
          <a:prstGeom prst="rect">
            <a:avLst/>
          </a:prstGeom>
          <a:noFill/>
          <a:ln>
            <a:noFill/>
          </a:ln>
        </p:spPr>
      </p:pic>
      <p:pic>
        <p:nvPicPr>
          <p:cNvPr descr="image.png" id="111" name="Google Shape;111;p14"/>
          <p:cNvPicPr preferRelativeResize="0"/>
          <p:nvPr/>
        </p:nvPicPr>
        <p:blipFill rotWithShape="1">
          <a:blip r:embed="rId13">
            <a:alphaModFix/>
          </a:blip>
          <a:srcRect b="0" l="0" r="0" t="0"/>
          <a:stretch/>
        </p:blipFill>
        <p:spPr>
          <a:xfrm>
            <a:off x="4254400" y="2792610"/>
            <a:ext cx="3683049" cy="916185"/>
          </a:xfrm>
          <a:prstGeom prst="rect">
            <a:avLst/>
          </a:prstGeom>
          <a:noFill/>
          <a:ln>
            <a:noFill/>
          </a:ln>
        </p:spPr>
      </p:pic>
      <p:pic>
        <p:nvPicPr>
          <p:cNvPr descr="image.png" id="112" name="Google Shape;112;p14"/>
          <p:cNvPicPr preferRelativeResize="0"/>
          <p:nvPr/>
        </p:nvPicPr>
        <p:blipFill rotWithShape="1">
          <a:blip r:embed="rId14">
            <a:alphaModFix/>
          </a:blip>
          <a:srcRect b="0" l="0" r="0" t="0"/>
          <a:stretch/>
        </p:blipFill>
        <p:spPr>
          <a:xfrm>
            <a:off x="8070800" y="2792610"/>
            <a:ext cx="3682900" cy="916185"/>
          </a:xfrm>
          <a:prstGeom prst="rect">
            <a:avLst/>
          </a:prstGeom>
          <a:noFill/>
          <a:ln>
            <a:noFill/>
          </a:ln>
        </p:spPr>
      </p:pic>
      <p:pic>
        <p:nvPicPr>
          <p:cNvPr descr="image.png" id="113" name="Google Shape;113;p14"/>
          <p:cNvPicPr preferRelativeResize="0"/>
          <p:nvPr/>
        </p:nvPicPr>
        <p:blipFill rotWithShape="1">
          <a:blip r:embed="rId15">
            <a:alphaModFix/>
          </a:blip>
          <a:srcRect b="0" l="0" r="0" t="0"/>
          <a:stretch/>
        </p:blipFill>
        <p:spPr>
          <a:xfrm>
            <a:off x="438150" y="6515100"/>
            <a:ext cx="11315700" cy="228600"/>
          </a:xfrm>
          <a:prstGeom prst="rect">
            <a:avLst/>
          </a:prstGeom>
          <a:noFill/>
          <a:ln>
            <a:noFill/>
          </a:ln>
        </p:spPr>
      </p:pic>
      <p:pic>
        <p:nvPicPr>
          <p:cNvPr descr="image.png" id="114" name="Google Shape;114;p14"/>
          <p:cNvPicPr preferRelativeResize="0"/>
          <p:nvPr/>
        </p:nvPicPr>
        <p:blipFill rotWithShape="1">
          <a:blip r:embed="rId16">
            <a:alphaModFix/>
          </a:blip>
          <a:srcRect b="0" l="0" r="0" t="0"/>
          <a:stretch/>
        </p:blipFill>
        <p:spPr>
          <a:xfrm>
            <a:off x="11060310" y="328612"/>
            <a:ext cx="693539" cy="180975"/>
          </a:xfrm>
          <a:prstGeom prst="rect">
            <a:avLst/>
          </a:prstGeom>
          <a:noFill/>
          <a:ln>
            <a:noFill/>
          </a:ln>
        </p:spPr>
      </p:pic>
      <p:sp>
        <p:nvSpPr>
          <p:cNvPr id="115" name="Google Shape;115;p14"/>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116" name="Google Shape;116;p14"/>
          <p:cNvSpPr txBox="1"/>
          <p:nvPr/>
        </p:nvSpPr>
        <p:spPr>
          <a:xfrm>
            <a:off x="10488513" y="6615112"/>
            <a:ext cx="1265336"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01 / CENTRAL QUESTION</a:t>
            </a:r>
            <a:endParaRPr/>
          </a:p>
        </p:txBody>
      </p:sp>
      <p:pic>
        <p:nvPicPr>
          <p:cNvPr descr="image.png" id="117" name="Google Shape;117;p14"/>
          <p:cNvPicPr preferRelativeResize="0"/>
          <p:nvPr/>
        </p:nvPicPr>
        <p:blipFill rotWithShape="1">
          <a:blip r:embed="rId17">
            <a:alphaModFix/>
          </a:blip>
          <a:srcRect b="0" l="0" r="0" t="0"/>
          <a:stretch/>
        </p:blipFill>
        <p:spPr>
          <a:xfrm>
            <a:off x="438150" y="323850"/>
            <a:ext cx="1856630" cy="190500"/>
          </a:xfrm>
          <a:prstGeom prst="rect">
            <a:avLst/>
          </a:prstGeom>
          <a:noFill/>
          <a:ln>
            <a:noFill/>
          </a:ln>
        </p:spPr>
      </p:pic>
      <p:sp>
        <p:nvSpPr>
          <p:cNvPr id="118" name="Google Shape;118;p14"/>
          <p:cNvSpPr txBox="1"/>
          <p:nvPr/>
        </p:nvSpPr>
        <p:spPr>
          <a:xfrm>
            <a:off x="628650" y="1306710"/>
            <a:ext cx="109728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369A1"/>
                </a:solidFill>
                <a:latin typeface="Noto Sans SC"/>
                <a:ea typeface="Noto Sans SC"/>
                <a:cs typeface="Noto Sans SC"/>
                <a:sym typeface="Noto Sans SC"/>
              </a:rPr>
              <a:t>答辩主线：从物理链追问城市系统的状态跃迁</a:t>
            </a:r>
            <a:endParaRPr/>
          </a:p>
        </p:txBody>
      </p:sp>
      <p:sp>
        <p:nvSpPr>
          <p:cNvPr id="119" name="Google Shape;119;p14"/>
          <p:cNvSpPr txBox="1"/>
          <p:nvPr/>
        </p:nvSpPr>
        <p:spPr>
          <a:xfrm>
            <a:off x="628650" y="1506735"/>
            <a:ext cx="109728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7" u="none" cap="none" strike="noStrike">
                <a:solidFill>
                  <a:srgbClr val="334155"/>
                </a:solidFill>
                <a:latin typeface="Noto Sans SC"/>
                <a:ea typeface="Noto Sans SC"/>
                <a:cs typeface="Noto Sans SC"/>
                <a:sym typeface="Noto Sans SC"/>
              </a:rPr>
              <a:t>设施足迹之后，真正需要回答的是：当AI以连续、高密度负荷进入城市，什么条件会让城市水系统从线性响应进入状态跃迁？</a:t>
            </a:r>
            <a:endParaRPr/>
          </a:p>
        </p:txBody>
      </p:sp>
      <p:sp>
        <p:nvSpPr>
          <p:cNvPr id="120" name="Google Shape;120;p14"/>
          <p:cNvSpPr txBox="1"/>
          <p:nvPr/>
        </p:nvSpPr>
        <p:spPr>
          <a:xfrm>
            <a:off x="600075" y="3965971"/>
            <a:ext cx="10991850" cy="184546"/>
          </a:xfrm>
          <a:prstGeom prst="rect">
            <a:avLst/>
          </a:prstGeom>
          <a:noFill/>
          <a:ln>
            <a:noFill/>
          </a:ln>
        </p:spPr>
        <p:txBody>
          <a:bodyPr anchorCtr="0" anchor="t" bIns="0" lIns="92700" spcFirstLastPara="1" rIns="0" wrap="square" tIns="0">
            <a:spAutoFit/>
          </a:bodyPr>
          <a:lstStyle/>
          <a:p>
            <a:pPr indent="0" lvl="0" marL="0" marR="0" rtl="0" algn="l">
              <a:lnSpc>
                <a:spcPct val="155069"/>
              </a:lnSpc>
              <a:spcBef>
                <a:spcPts val="0"/>
              </a:spcBef>
              <a:spcAft>
                <a:spcPts val="0"/>
              </a:spcAft>
              <a:buNone/>
            </a:pPr>
            <a:r>
              <a:rPr b="1" i="0" lang="en-US" sz="937" u="none" cap="none" strike="noStrike">
                <a:solidFill>
                  <a:srgbClr val="0369A1"/>
                </a:solidFill>
                <a:latin typeface="Noto Sans SC"/>
                <a:ea typeface="Noto Sans SC"/>
                <a:cs typeface="Noto Sans SC"/>
                <a:sym typeface="Noto Sans SC"/>
              </a:rPr>
              <a:t>本研究对象</a:t>
            </a:r>
            <a:endParaRPr/>
          </a:p>
        </p:txBody>
      </p:sp>
      <p:sp>
        <p:nvSpPr>
          <p:cNvPr id="121" name="Google Shape;121;p14"/>
          <p:cNvSpPr txBox="1"/>
          <p:nvPr/>
        </p:nvSpPr>
        <p:spPr>
          <a:xfrm>
            <a:off x="600075" y="4169568"/>
            <a:ext cx="10991850"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AI负荷进入城市人工水系统后的</a:t>
            </a:r>
            <a:r>
              <a:rPr b="1" i="0" lang="en-US" sz="900" u="none" cap="none" strike="noStrike">
                <a:solidFill>
                  <a:srgbClr val="334155"/>
                </a:solidFill>
                <a:latin typeface="Noto Sans SC"/>
                <a:ea typeface="Noto Sans SC"/>
                <a:cs typeface="Noto Sans SC"/>
                <a:sym typeface="Noto Sans SC"/>
              </a:rPr>
              <a:t>结构响应</a:t>
            </a:r>
            <a:r>
              <a:rPr b="0" i="0" lang="en-US" sz="900" u="none" cap="none" strike="noStrike">
                <a:solidFill>
                  <a:srgbClr val="334155"/>
                </a:solidFill>
                <a:latin typeface="Noto Sans SC"/>
                <a:ea typeface="Noto Sans SC"/>
                <a:cs typeface="Noto Sans SC"/>
                <a:sym typeface="Noto Sans SC"/>
              </a:rPr>
              <a:t>、</a:t>
            </a:r>
            <a:r>
              <a:rPr b="1" i="0" lang="en-US" sz="900" u="none" cap="none" strike="noStrike">
                <a:solidFill>
                  <a:srgbClr val="334155"/>
                </a:solidFill>
                <a:latin typeface="Noto Sans SC"/>
                <a:ea typeface="Noto Sans SC"/>
                <a:cs typeface="Noto Sans SC"/>
                <a:sym typeface="Noto Sans SC"/>
              </a:rPr>
              <a:t>时间尺度边界</a:t>
            </a:r>
            <a:r>
              <a:rPr b="0" i="0" lang="en-US" sz="900" u="none" cap="none" strike="noStrike">
                <a:solidFill>
                  <a:srgbClr val="334155"/>
                </a:solidFill>
                <a:latin typeface="Noto Sans SC"/>
                <a:ea typeface="Noto Sans SC"/>
                <a:cs typeface="Noto Sans SC"/>
                <a:sym typeface="Noto Sans SC"/>
              </a:rPr>
              <a:t>与</a:t>
            </a:r>
            <a:r>
              <a:rPr b="1" i="0" lang="en-US" sz="900" u="none" cap="none" strike="noStrike">
                <a:solidFill>
                  <a:srgbClr val="334155"/>
                </a:solidFill>
                <a:latin typeface="Noto Sans SC"/>
                <a:ea typeface="Noto Sans SC"/>
                <a:cs typeface="Noto Sans SC"/>
                <a:sym typeface="Noto Sans SC"/>
              </a:rPr>
              <a:t>瓶颈迁移机制</a:t>
            </a:r>
            <a:r>
              <a:rPr b="0" i="0" lang="en-US" sz="900" u="none" cap="none" strike="noStrike">
                <a:solidFill>
                  <a:srgbClr val="334155"/>
                </a:solidFill>
                <a:latin typeface="Noto Sans SC"/>
                <a:ea typeface="Noto Sans SC"/>
                <a:cs typeface="Noto Sans SC"/>
                <a:sym typeface="Noto Sans SC"/>
              </a:rPr>
              <a:t>。</a:t>
            </a:r>
            <a:endParaRPr/>
          </a:p>
        </p:txBody>
      </p:sp>
      <p:pic>
        <p:nvPicPr>
          <p:cNvPr descr="image.png" id="122" name="Google Shape;122;p14"/>
          <p:cNvPicPr preferRelativeResize="0"/>
          <p:nvPr/>
        </p:nvPicPr>
        <p:blipFill rotWithShape="1">
          <a:blip r:embed="rId18">
            <a:alphaModFix/>
          </a:blip>
          <a:srcRect b="0" l="0" r="0" t="0"/>
          <a:stretch/>
        </p:blipFill>
        <p:spPr>
          <a:xfrm>
            <a:off x="438150" y="6619875"/>
            <a:ext cx="81557" cy="104775"/>
          </a:xfrm>
          <a:prstGeom prst="rect">
            <a:avLst/>
          </a:prstGeom>
          <a:noFill/>
          <a:ln>
            <a:noFill/>
          </a:ln>
        </p:spPr>
      </p:pic>
      <p:pic>
        <p:nvPicPr>
          <p:cNvPr descr="image.png" id="123" name="Google Shape;123;p14"/>
          <p:cNvPicPr preferRelativeResize="0"/>
          <p:nvPr/>
        </p:nvPicPr>
        <p:blipFill rotWithShape="1">
          <a:blip r:embed="rId19">
            <a:alphaModFix/>
          </a:blip>
          <a:srcRect b="0" l="0" r="0" t="0"/>
          <a:stretch/>
        </p:blipFill>
        <p:spPr>
          <a:xfrm>
            <a:off x="542925" y="364331"/>
            <a:ext cx="92868" cy="109537"/>
          </a:xfrm>
          <a:prstGeom prst="rect">
            <a:avLst/>
          </a:prstGeom>
          <a:noFill/>
          <a:ln>
            <a:noFill/>
          </a:ln>
        </p:spPr>
      </p:pic>
      <p:sp>
        <p:nvSpPr>
          <p:cNvPr id="124" name="Google Shape;124;p14"/>
          <p:cNvSpPr txBox="1"/>
          <p:nvPr/>
        </p:nvSpPr>
        <p:spPr>
          <a:xfrm>
            <a:off x="704850" y="2144910"/>
            <a:ext cx="1783853" cy="133350"/>
          </a:xfrm>
          <a:prstGeom prst="rect">
            <a:avLst/>
          </a:prstGeom>
          <a:noFill/>
          <a:ln>
            <a:noFill/>
          </a:ln>
        </p:spPr>
        <p:txBody>
          <a:bodyPr anchorCtr="0" anchor="t" bIns="0" lIns="88975"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AI Workload</a:t>
            </a:r>
            <a:endParaRPr/>
          </a:p>
        </p:txBody>
      </p:sp>
      <p:sp>
        <p:nvSpPr>
          <p:cNvPr id="125" name="Google Shape;125;p14"/>
          <p:cNvSpPr txBox="1"/>
          <p:nvPr/>
        </p:nvSpPr>
        <p:spPr>
          <a:xfrm>
            <a:off x="704850" y="2297310"/>
            <a:ext cx="1783853"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训练 · 推理 · 任务</a:t>
            </a:r>
            <a:endParaRPr/>
          </a:p>
        </p:txBody>
      </p:sp>
      <p:pic>
        <p:nvPicPr>
          <p:cNvPr descr="image.png" id="126" name="Google Shape;126;p14"/>
          <p:cNvPicPr preferRelativeResize="0"/>
          <p:nvPr/>
        </p:nvPicPr>
        <p:blipFill rotWithShape="1">
          <a:blip r:embed="rId20">
            <a:alphaModFix/>
          </a:blip>
          <a:srcRect b="0" l="0" r="0" t="0"/>
          <a:stretch/>
        </p:blipFill>
        <p:spPr>
          <a:xfrm>
            <a:off x="2669678" y="2230635"/>
            <a:ext cx="103733" cy="133350"/>
          </a:xfrm>
          <a:prstGeom prst="rect">
            <a:avLst/>
          </a:prstGeom>
          <a:noFill/>
          <a:ln>
            <a:noFill/>
          </a:ln>
        </p:spPr>
      </p:pic>
      <p:sp>
        <p:nvSpPr>
          <p:cNvPr id="127" name="Google Shape;127;p14"/>
          <p:cNvSpPr txBox="1"/>
          <p:nvPr/>
        </p:nvSpPr>
        <p:spPr>
          <a:xfrm>
            <a:off x="2954387" y="2144910"/>
            <a:ext cx="1783853" cy="133350"/>
          </a:xfrm>
          <a:prstGeom prst="rect">
            <a:avLst/>
          </a:prstGeom>
          <a:noFill/>
          <a:ln>
            <a:noFill/>
          </a:ln>
        </p:spPr>
        <p:txBody>
          <a:bodyPr anchorCtr="0" anchor="t" bIns="0" lIns="88975"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IT Power</a:t>
            </a:r>
            <a:endParaRPr/>
          </a:p>
        </p:txBody>
      </p:sp>
      <p:sp>
        <p:nvSpPr>
          <p:cNvPr id="128" name="Google Shape;128;p14"/>
          <p:cNvSpPr txBox="1"/>
          <p:nvPr/>
        </p:nvSpPr>
        <p:spPr>
          <a:xfrm>
            <a:off x="2954387" y="2297310"/>
            <a:ext cx="1783853"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连续运行 · 高功率</a:t>
            </a:r>
            <a:endParaRPr/>
          </a:p>
        </p:txBody>
      </p:sp>
      <p:pic>
        <p:nvPicPr>
          <p:cNvPr descr="image.png" id="129" name="Google Shape;129;p14"/>
          <p:cNvPicPr preferRelativeResize="0"/>
          <p:nvPr/>
        </p:nvPicPr>
        <p:blipFill rotWithShape="1">
          <a:blip r:embed="rId20">
            <a:alphaModFix/>
          </a:blip>
          <a:srcRect b="0" l="0" r="0" t="0"/>
          <a:stretch/>
        </p:blipFill>
        <p:spPr>
          <a:xfrm>
            <a:off x="4919216" y="2230635"/>
            <a:ext cx="103733" cy="133350"/>
          </a:xfrm>
          <a:prstGeom prst="rect">
            <a:avLst/>
          </a:prstGeom>
          <a:noFill/>
          <a:ln>
            <a:noFill/>
          </a:ln>
        </p:spPr>
      </p:pic>
      <p:sp>
        <p:nvSpPr>
          <p:cNvPr id="130" name="Google Shape;130;p14"/>
          <p:cNvSpPr txBox="1"/>
          <p:nvPr/>
        </p:nvSpPr>
        <p:spPr>
          <a:xfrm>
            <a:off x="5203924" y="2144910"/>
            <a:ext cx="1783853" cy="133350"/>
          </a:xfrm>
          <a:prstGeom prst="rect">
            <a:avLst/>
          </a:prstGeom>
          <a:noFill/>
          <a:ln>
            <a:noFill/>
          </a:ln>
        </p:spPr>
        <p:txBody>
          <a:bodyPr anchorCtr="0" anchor="t" bIns="0" lIns="88975"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Heat Dissipation</a:t>
            </a:r>
            <a:endParaRPr/>
          </a:p>
        </p:txBody>
      </p:sp>
      <p:sp>
        <p:nvSpPr>
          <p:cNvPr id="131" name="Google Shape;131;p14"/>
          <p:cNvSpPr txBox="1"/>
          <p:nvPr/>
        </p:nvSpPr>
        <p:spPr>
          <a:xfrm>
            <a:off x="5203924" y="2297310"/>
            <a:ext cx="1783853"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热流密度上升</a:t>
            </a:r>
            <a:endParaRPr/>
          </a:p>
        </p:txBody>
      </p:sp>
      <p:pic>
        <p:nvPicPr>
          <p:cNvPr descr="image.png" id="132" name="Google Shape;132;p14"/>
          <p:cNvPicPr preferRelativeResize="0"/>
          <p:nvPr/>
        </p:nvPicPr>
        <p:blipFill rotWithShape="1">
          <a:blip r:embed="rId21">
            <a:alphaModFix/>
          </a:blip>
          <a:srcRect b="0" l="0" r="0" t="0"/>
          <a:stretch/>
        </p:blipFill>
        <p:spPr>
          <a:xfrm>
            <a:off x="7168753" y="2230635"/>
            <a:ext cx="103733" cy="133350"/>
          </a:xfrm>
          <a:prstGeom prst="rect">
            <a:avLst/>
          </a:prstGeom>
          <a:noFill/>
          <a:ln>
            <a:noFill/>
          </a:ln>
        </p:spPr>
      </p:pic>
      <p:sp>
        <p:nvSpPr>
          <p:cNvPr id="133" name="Google Shape;133;p14"/>
          <p:cNvSpPr txBox="1"/>
          <p:nvPr/>
        </p:nvSpPr>
        <p:spPr>
          <a:xfrm>
            <a:off x="7453461" y="2144910"/>
            <a:ext cx="1783853" cy="133350"/>
          </a:xfrm>
          <a:prstGeom prst="rect">
            <a:avLst/>
          </a:prstGeom>
          <a:noFill/>
          <a:ln>
            <a:noFill/>
          </a:ln>
        </p:spPr>
        <p:txBody>
          <a:bodyPr anchorCtr="0" anchor="t" bIns="0" lIns="88975"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Cooling Water</a:t>
            </a:r>
            <a:endParaRPr/>
          </a:p>
        </p:txBody>
      </p:sp>
      <p:sp>
        <p:nvSpPr>
          <p:cNvPr id="134" name="Google Shape;134;p14"/>
          <p:cNvSpPr txBox="1"/>
          <p:nvPr/>
        </p:nvSpPr>
        <p:spPr>
          <a:xfrm>
            <a:off x="7453461" y="2297310"/>
            <a:ext cx="1783853"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蒸发 · 补水 · 排污</a:t>
            </a:r>
            <a:endParaRPr/>
          </a:p>
        </p:txBody>
      </p:sp>
      <p:pic>
        <p:nvPicPr>
          <p:cNvPr descr="image.png" id="135" name="Google Shape;135;p14"/>
          <p:cNvPicPr preferRelativeResize="0"/>
          <p:nvPr/>
        </p:nvPicPr>
        <p:blipFill rotWithShape="1">
          <a:blip r:embed="rId21">
            <a:alphaModFix/>
          </a:blip>
          <a:srcRect b="0" l="0" r="0" t="0"/>
          <a:stretch/>
        </p:blipFill>
        <p:spPr>
          <a:xfrm>
            <a:off x="9418290" y="2230635"/>
            <a:ext cx="103733" cy="133350"/>
          </a:xfrm>
          <a:prstGeom prst="rect">
            <a:avLst/>
          </a:prstGeom>
          <a:noFill/>
          <a:ln>
            <a:noFill/>
          </a:ln>
        </p:spPr>
      </p:pic>
      <p:sp>
        <p:nvSpPr>
          <p:cNvPr id="136" name="Google Shape;136;p14"/>
          <p:cNvSpPr txBox="1"/>
          <p:nvPr/>
        </p:nvSpPr>
        <p:spPr>
          <a:xfrm>
            <a:off x="9702998" y="2144910"/>
            <a:ext cx="1783853" cy="133350"/>
          </a:xfrm>
          <a:prstGeom prst="rect">
            <a:avLst/>
          </a:prstGeom>
          <a:noFill/>
          <a:ln>
            <a:noFill/>
          </a:ln>
        </p:spPr>
        <p:txBody>
          <a:bodyPr anchorCtr="0" anchor="t" bIns="0" lIns="88975" spcFirstLastPara="1" rIns="0" wrap="square" tIns="0">
            <a:spAutoFit/>
          </a:bodyPr>
          <a:lstStyle/>
          <a:p>
            <a:pPr indent="0" lvl="0" marL="0" marR="0" rtl="0" algn="ctr">
              <a:spcBef>
                <a:spcPts val="0"/>
              </a:spcBef>
              <a:spcAft>
                <a:spcPts val="0"/>
              </a:spcAft>
              <a:buNone/>
            </a:pPr>
            <a:r>
              <a:rPr b="1" i="0" lang="en-US" sz="900" u="none" cap="none" strike="noStrike">
                <a:solidFill>
                  <a:srgbClr val="0369A1"/>
                </a:solidFill>
                <a:latin typeface="Noto Sans SC"/>
                <a:ea typeface="Noto Sans SC"/>
                <a:cs typeface="Noto Sans SC"/>
                <a:sym typeface="Noto Sans SC"/>
              </a:rPr>
              <a:t>Urban Water Network</a:t>
            </a:r>
            <a:endParaRPr/>
          </a:p>
        </p:txBody>
      </p:sp>
      <p:sp>
        <p:nvSpPr>
          <p:cNvPr id="137" name="Google Shape;137;p14"/>
          <p:cNvSpPr txBox="1"/>
          <p:nvPr/>
        </p:nvSpPr>
        <p:spPr>
          <a:xfrm>
            <a:off x="9702998" y="2297310"/>
            <a:ext cx="1783853"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取-给-排-再生网络</a:t>
            </a:r>
            <a:endParaRPr/>
          </a:p>
        </p:txBody>
      </p:sp>
      <p:sp>
        <p:nvSpPr>
          <p:cNvPr id="138" name="Google Shape;138;p14"/>
          <p:cNvSpPr txBox="1"/>
          <p:nvPr/>
        </p:nvSpPr>
        <p:spPr>
          <a:xfrm>
            <a:off x="806499" y="2954535"/>
            <a:ext cx="3290254"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边界提前多少？</a:t>
            </a:r>
            <a:endParaRPr/>
          </a:p>
        </p:txBody>
      </p:sp>
      <p:sp>
        <p:nvSpPr>
          <p:cNvPr id="139" name="Google Shape;139;p14"/>
          <p:cNvSpPr txBox="1"/>
          <p:nvPr/>
        </p:nvSpPr>
        <p:spPr>
          <a:xfrm>
            <a:off x="619125" y="3192660"/>
            <a:ext cx="3320950" cy="35421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年均评价是否高估了极端高温与峰值同步下的实际水资源承载能力？</a:t>
            </a:r>
            <a:endParaRPr/>
          </a:p>
        </p:txBody>
      </p:sp>
      <p:sp>
        <p:nvSpPr>
          <p:cNvPr id="140" name="Google Shape;140;p14"/>
          <p:cNvSpPr txBox="1"/>
          <p:nvPr/>
        </p:nvSpPr>
        <p:spPr>
          <a:xfrm>
            <a:off x="4622750" y="2954535"/>
            <a:ext cx="3290411"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主导瓶颈何时转换？</a:t>
            </a:r>
            <a:endParaRPr/>
          </a:p>
        </p:txBody>
      </p:sp>
      <p:sp>
        <p:nvSpPr>
          <p:cNvPr id="141" name="Google Shape;141;p14"/>
          <p:cNvSpPr txBox="1"/>
          <p:nvPr/>
        </p:nvSpPr>
        <p:spPr>
          <a:xfrm>
            <a:off x="4435375" y="3192660"/>
            <a:ext cx="3321099" cy="35421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制约算力扩展的主导因素如何从原水水源转移至给水、污水或再生水网络？</a:t>
            </a:r>
            <a:endParaRPr/>
          </a:p>
        </p:txBody>
      </p:sp>
      <p:sp>
        <p:nvSpPr>
          <p:cNvPr id="142" name="Google Shape;142;p14"/>
          <p:cNvSpPr txBox="1"/>
          <p:nvPr/>
        </p:nvSpPr>
        <p:spPr>
          <a:xfrm>
            <a:off x="8439150" y="2954535"/>
            <a:ext cx="3290254"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边际收益何时转折？</a:t>
            </a:r>
            <a:endParaRPr/>
          </a:p>
        </p:txBody>
      </p:sp>
      <p:sp>
        <p:nvSpPr>
          <p:cNvPr id="143" name="Google Shape;143;p14"/>
          <p:cNvSpPr txBox="1"/>
          <p:nvPr/>
        </p:nvSpPr>
        <p:spPr>
          <a:xfrm>
            <a:off x="8251775" y="3192660"/>
            <a:ext cx="3320950" cy="354210"/>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再生水配置与设施扩容等干预措施的边际收益在何种条件下发生拐点？</a:t>
            </a:r>
            <a:endParaRPr/>
          </a:p>
        </p:txBody>
      </p:sp>
      <p:pic>
        <p:nvPicPr>
          <p:cNvPr descr="image.png" id="144" name="Google Shape;144;p14"/>
          <p:cNvPicPr preferRelativeResize="0"/>
          <p:nvPr/>
        </p:nvPicPr>
        <p:blipFill rotWithShape="1">
          <a:blip r:embed="rId22">
            <a:alphaModFix/>
          </a:blip>
          <a:srcRect b="0" l="0" r="0" t="0"/>
          <a:stretch/>
        </p:blipFill>
        <p:spPr>
          <a:xfrm>
            <a:off x="600075" y="3994546"/>
            <a:ext cx="92719" cy="119062"/>
          </a:xfrm>
          <a:prstGeom prst="rect">
            <a:avLst/>
          </a:prstGeom>
          <a:noFill/>
          <a:ln>
            <a:noFill/>
          </a:ln>
        </p:spPr>
      </p:pic>
      <p:pic>
        <p:nvPicPr>
          <p:cNvPr descr="image.png" id="145" name="Google Shape;145;p14"/>
          <p:cNvPicPr preferRelativeResize="0"/>
          <p:nvPr/>
        </p:nvPicPr>
        <p:blipFill rotWithShape="1">
          <a:blip r:embed="rId23">
            <a:alphaModFix/>
          </a:blip>
          <a:srcRect b="0" l="0" r="0" t="0"/>
          <a:stretch/>
        </p:blipFill>
        <p:spPr>
          <a:xfrm>
            <a:off x="1206103" y="2154435"/>
            <a:ext cx="88999" cy="114300"/>
          </a:xfrm>
          <a:prstGeom prst="rect">
            <a:avLst/>
          </a:prstGeom>
          <a:noFill/>
          <a:ln>
            <a:noFill/>
          </a:ln>
        </p:spPr>
      </p:pic>
      <p:pic>
        <p:nvPicPr>
          <p:cNvPr descr="image.png" id="146" name="Google Shape;146;p14"/>
          <p:cNvPicPr preferRelativeResize="0"/>
          <p:nvPr/>
        </p:nvPicPr>
        <p:blipFill rotWithShape="1">
          <a:blip r:embed="rId24">
            <a:alphaModFix/>
          </a:blip>
          <a:srcRect b="0" l="0" r="0" t="0"/>
          <a:stretch/>
        </p:blipFill>
        <p:spPr>
          <a:xfrm>
            <a:off x="3547764" y="2154435"/>
            <a:ext cx="88999" cy="114300"/>
          </a:xfrm>
          <a:prstGeom prst="rect">
            <a:avLst/>
          </a:prstGeom>
          <a:noFill/>
          <a:ln>
            <a:noFill/>
          </a:ln>
        </p:spPr>
      </p:pic>
      <p:pic>
        <p:nvPicPr>
          <p:cNvPr descr="image.png" id="147" name="Google Shape;147;p14"/>
          <p:cNvPicPr preferRelativeResize="0"/>
          <p:nvPr/>
        </p:nvPicPr>
        <p:blipFill rotWithShape="1">
          <a:blip r:embed="rId25">
            <a:alphaModFix/>
          </a:blip>
          <a:srcRect b="0" l="0" r="0" t="0"/>
          <a:stretch/>
        </p:blipFill>
        <p:spPr>
          <a:xfrm>
            <a:off x="5587603" y="2154435"/>
            <a:ext cx="88999" cy="114300"/>
          </a:xfrm>
          <a:prstGeom prst="rect">
            <a:avLst/>
          </a:prstGeom>
          <a:noFill/>
          <a:ln>
            <a:noFill/>
          </a:ln>
        </p:spPr>
      </p:pic>
      <p:pic>
        <p:nvPicPr>
          <p:cNvPr descr="image.png" id="148" name="Google Shape;148;p14"/>
          <p:cNvPicPr preferRelativeResize="0"/>
          <p:nvPr/>
        </p:nvPicPr>
        <p:blipFill rotWithShape="1">
          <a:blip r:embed="rId26">
            <a:alphaModFix/>
          </a:blip>
          <a:srcRect b="0" l="0" r="0" t="0"/>
          <a:stretch/>
        </p:blipFill>
        <p:spPr>
          <a:xfrm>
            <a:off x="7899796" y="2154435"/>
            <a:ext cx="88999" cy="114300"/>
          </a:xfrm>
          <a:prstGeom prst="rect">
            <a:avLst/>
          </a:prstGeom>
          <a:noFill/>
          <a:ln>
            <a:noFill/>
          </a:ln>
        </p:spPr>
      </p:pic>
      <p:pic>
        <p:nvPicPr>
          <p:cNvPr descr="image.png" id="149" name="Google Shape;149;p14"/>
          <p:cNvPicPr preferRelativeResize="0"/>
          <p:nvPr/>
        </p:nvPicPr>
        <p:blipFill rotWithShape="1">
          <a:blip r:embed="rId27">
            <a:alphaModFix/>
          </a:blip>
          <a:srcRect b="0" l="0" r="0" t="0"/>
          <a:stretch/>
        </p:blipFill>
        <p:spPr>
          <a:xfrm>
            <a:off x="9955410" y="2154435"/>
            <a:ext cx="88999" cy="114300"/>
          </a:xfrm>
          <a:prstGeom prst="rect">
            <a:avLst/>
          </a:prstGeom>
          <a:noFill/>
          <a:ln>
            <a:noFill/>
          </a:ln>
        </p:spPr>
      </p:pic>
      <p:pic>
        <p:nvPicPr>
          <p:cNvPr descr="image.png" id="150" name="Google Shape;150;p14"/>
          <p:cNvPicPr preferRelativeResize="0"/>
          <p:nvPr/>
        </p:nvPicPr>
        <p:blipFill rotWithShape="1">
          <a:blip r:embed="rId28">
            <a:alphaModFix/>
          </a:blip>
          <a:srcRect b="0" l="0" r="0" t="0"/>
          <a:stretch/>
        </p:blipFill>
        <p:spPr>
          <a:xfrm>
            <a:off x="619125" y="2973585"/>
            <a:ext cx="111174" cy="142875"/>
          </a:xfrm>
          <a:prstGeom prst="rect">
            <a:avLst/>
          </a:prstGeom>
          <a:noFill/>
          <a:ln>
            <a:noFill/>
          </a:ln>
        </p:spPr>
      </p:pic>
      <p:pic>
        <p:nvPicPr>
          <p:cNvPr descr="image.png" id="151" name="Google Shape;151;p14"/>
          <p:cNvPicPr preferRelativeResize="0"/>
          <p:nvPr/>
        </p:nvPicPr>
        <p:blipFill rotWithShape="1">
          <a:blip r:embed="rId29">
            <a:alphaModFix/>
          </a:blip>
          <a:srcRect b="0" l="0" r="0" t="0"/>
          <a:stretch/>
        </p:blipFill>
        <p:spPr>
          <a:xfrm>
            <a:off x="4435375" y="2973585"/>
            <a:ext cx="111174" cy="142875"/>
          </a:xfrm>
          <a:prstGeom prst="rect">
            <a:avLst/>
          </a:prstGeom>
          <a:noFill/>
          <a:ln>
            <a:noFill/>
          </a:ln>
        </p:spPr>
      </p:pic>
      <p:pic>
        <p:nvPicPr>
          <p:cNvPr descr="image.png" id="152" name="Google Shape;152;p14"/>
          <p:cNvPicPr preferRelativeResize="0"/>
          <p:nvPr/>
        </p:nvPicPr>
        <p:blipFill rotWithShape="1">
          <a:blip r:embed="rId30">
            <a:alphaModFix/>
          </a:blip>
          <a:srcRect b="0" l="0" r="0" t="0"/>
          <a:stretch/>
        </p:blipFill>
        <p:spPr>
          <a:xfrm>
            <a:off x="8251775" y="2973585"/>
            <a:ext cx="111174" cy="142875"/>
          </a:xfrm>
          <a:prstGeom prst="rect">
            <a:avLst/>
          </a:prstGeom>
          <a:noFill/>
          <a:ln>
            <a:noFill/>
          </a:ln>
        </p:spPr>
      </p:pic>
      <p:sp>
        <p:nvSpPr>
          <p:cNvPr id="153" name="Google Shape;153;p14"/>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一个大问题：AI水风险真的由年耗水量决定吗？</a:t>
            </a:r>
            <a:endParaRPr/>
          </a:p>
        </p:txBody>
      </p:sp>
      <p:sp>
        <p:nvSpPr>
          <p:cNvPr id="154" name="Google Shape;154;p14"/>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Rounded Rectangle 154"/>
          <p:cNvSpPr/>
          <p:nvPr/>
        </p:nvSpPr>
        <p:spPr>
          <a:xfrm>
            <a:off x="658368" y="4553712"/>
            <a:ext cx="4709160" cy="85039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896112" y="4745736"/>
            <a:ext cx="914400" cy="201168"/>
          </a:xfrm>
          <a:prstGeom prst="rect">
            <a:avLst/>
          </a:prstGeom>
          <a:noFill/>
        </p:spPr>
        <p:txBody>
          <a:bodyPr wrap="square" lIns="0" rIns="0" tIns="0" bIns="0" anchor="t">
            <a:spAutoFit/>
          </a:bodyPr>
          <a:lstStyle/>
          <a:p>
            <a:pPr algn="l"/>
            <a:r>
              <a:rPr sz="1400" b="1" i="0">
                <a:solidFill>
                  <a:srgbClr val="172B4D"/>
                </a:solidFill>
                <a:latin typeface="Microsoft YaHei"/>
              </a:rPr>
              <a:t>科学目的</a:t>
            </a:r>
          </a:p>
        </p:txBody>
      </p:sp>
      <p:sp>
        <p:nvSpPr>
          <p:cNvPr id="157" name="TextBox 156"/>
          <p:cNvSpPr txBox="1"/>
          <p:nvPr/>
        </p:nvSpPr>
        <p:spPr>
          <a:xfrm>
            <a:off x="1901952" y="4700016"/>
            <a:ext cx="3182112" cy="384048"/>
          </a:xfrm>
          <a:prstGeom prst="rect">
            <a:avLst/>
          </a:prstGeom>
          <a:noFill/>
        </p:spPr>
        <p:txBody>
          <a:bodyPr wrap="square" lIns="0" rIns="0" tIns="0" bIns="0" anchor="t">
            <a:spAutoFit/>
          </a:bodyPr>
          <a:lstStyle/>
          <a:p>
            <a:pPr algn="l"/>
            <a:r>
              <a:rPr sz="1100" b="1" i="0">
                <a:solidFill>
                  <a:srgbClr val="1BA6A6"/>
                </a:solidFill>
                <a:latin typeface="Microsoft YaHei"/>
              </a:rPr>
              <a:t>识别AI负荷进入城市水网后引发结构重构、边界提前与瓶颈转换的条件及机制。</a:t>
            </a:r>
          </a:p>
        </p:txBody>
      </p:sp>
      <p:sp>
        <p:nvSpPr>
          <p:cNvPr id="158" name="Rounded Rectangle 157"/>
          <p:cNvSpPr/>
          <p:nvPr/>
        </p:nvSpPr>
        <p:spPr>
          <a:xfrm>
            <a:off x="5669280" y="4553712"/>
            <a:ext cx="4709160" cy="850392"/>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5907024" y="4745736"/>
            <a:ext cx="914400" cy="201168"/>
          </a:xfrm>
          <a:prstGeom prst="rect">
            <a:avLst/>
          </a:prstGeom>
          <a:noFill/>
        </p:spPr>
        <p:txBody>
          <a:bodyPr wrap="square" lIns="0" rIns="0" tIns="0" bIns="0" anchor="t">
            <a:spAutoFit/>
          </a:bodyPr>
          <a:lstStyle/>
          <a:p>
            <a:pPr algn="l"/>
            <a:r>
              <a:rPr sz="1400" b="1" i="0">
                <a:solidFill>
                  <a:srgbClr val="172B4D"/>
                </a:solidFill>
                <a:latin typeface="Microsoft YaHei"/>
              </a:rPr>
              <a:t>实际意义</a:t>
            </a:r>
          </a:p>
        </p:txBody>
      </p:sp>
      <p:sp>
        <p:nvSpPr>
          <p:cNvPr id="160" name="TextBox 159"/>
          <p:cNvSpPr txBox="1"/>
          <p:nvPr/>
        </p:nvSpPr>
        <p:spPr>
          <a:xfrm>
            <a:off x="6912864" y="4700016"/>
            <a:ext cx="3182112" cy="384048"/>
          </a:xfrm>
          <a:prstGeom prst="rect">
            <a:avLst/>
          </a:prstGeom>
          <a:noFill/>
        </p:spPr>
        <p:txBody>
          <a:bodyPr wrap="square" lIns="0" rIns="0" tIns="0" bIns="0" anchor="t">
            <a:spAutoFit/>
          </a:bodyPr>
          <a:lstStyle/>
          <a:p>
            <a:pPr algn="l"/>
            <a:r>
              <a:rPr sz="1100" b="1" i="0">
                <a:solidFill>
                  <a:srgbClr val="2388C9"/>
                </a:solidFill>
                <a:latin typeface="Microsoft YaHei"/>
              </a:rPr>
              <a:t>为数据中心选址、再生水配置、WTP/WWTP扩容与错峰调度提供可量化边界。</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descr="image.png" id="159" name="Google Shape;159;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0" name="Google Shape;160;p15"/>
          <p:cNvPicPr preferRelativeResize="0"/>
          <p:nvPr/>
        </p:nvPicPr>
        <p:blipFill rotWithShape="1">
          <a:blip r:embed="rId4">
            <a:alphaModFix/>
          </a:blip>
          <a:srcRect b="0" l="0" r="0" t="0"/>
          <a:stretch/>
        </p:blipFill>
        <p:spPr>
          <a:xfrm>
            <a:off x="438150" y="1192410"/>
            <a:ext cx="11315700" cy="616594"/>
          </a:xfrm>
          <a:prstGeom prst="rect">
            <a:avLst/>
          </a:prstGeom>
          <a:noFill/>
          <a:ln>
            <a:noFill/>
          </a:ln>
        </p:spPr>
      </p:pic>
      <p:pic>
        <p:nvPicPr>
          <p:cNvPr descr="image.png" id="161" name="Google Shape;161;p15"/>
          <p:cNvPicPr preferRelativeResize="0"/>
          <p:nvPr/>
        </p:nvPicPr>
        <p:blipFill rotWithShape="1">
          <a:blip r:embed="rId5">
            <a:alphaModFix/>
          </a:blip>
          <a:srcRect b="0" l="0" r="0" t="0"/>
          <a:stretch/>
        </p:blipFill>
        <p:spPr>
          <a:xfrm>
            <a:off x="438150" y="1942355"/>
            <a:ext cx="2743200" cy="996553"/>
          </a:xfrm>
          <a:prstGeom prst="rect">
            <a:avLst/>
          </a:prstGeom>
          <a:noFill/>
          <a:ln>
            <a:noFill/>
          </a:ln>
        </p:spPr>
      </p:pic>
      <p:pic>
        <p:nvPicPr>
          <p:cNvPr descr="image.png" id="162" name="Google Shape;162;p15"/>
          <p:cNvPicPr preferRelativeResize="0"/>
          <p:nvPr/>
        </p:nvPicPr>
        <p:blipFill rotWithShape="1">
          <a:blip r:embed="rId6">
            <a:alphaModFix/>
          </a:blip>
          <a:srcRect b="0" l="0" r="0" t="0"/>
          <a:stretch/>
        </p:blipFill>
        <p:spPr>
          <a:xfrm>
            <a:off x="3295650" y="1942355"/>
            <a:ext cx="2743200" cy="996553"/>
          </a:xfrm>
          <a:prstGeom prst="rect">
            <a:avLst/>
          </a:prstGeom>
          <a:noFill/>
          <a:ln>
            <a:noFill/>
          </a:ln>
        </p:spPr>
      </p:pic>
      <p:pic>
        <p:nvPicPr>
          <p:cNvPr descr="image.png" id="163" name="Google Shape;163;p15"/>
          <p:cNvPicPr preferRelativeResize="0"/>
          <p:nvPr/>
        </p:nvPicPr>
        <p:blipFill rotWithShape="1">
          <a:blip r:embed="rId6">
            <a:alphaModFix/>
          </a:blip>
          <a:srcRect b="0" l="0" r="0" t="0"/>
          <a:stretch/>
        </p:blipFill>
        <p:spPr>
          <a:xfrm>
            <a:off x="6153150" y="1942355"/>
            <a:ext cx="2743200" cy="996553"/>
          </a:xfrm>
          <a:prstGeom prst="rect">
            <a:avLst/>
          </a:prstGeom>
          <a:noFill/>
          <a:ln>
            <a:noFill/>
          </a:ln>
        </p:spPr>
      </p:pic>
      <p:pic>
        <p:nvPicPr>
          <p:cNvPr descr="image.png" id="164" name="Google Shape;164;p15"/>
          <p:cNvPicPr preferRelativeResize="0"/>
          <p:nvPr/>
        </p:nvPicPr>
        <p:blipFill rotWithShape="1">
          <a:blip r:embed="rId7">
            <a:alphaModFix/>
          </a:blip>
          <a:srcRect b="0" l="0" r="0" t="0"/>
          <a:stretch/>
        </p:blipFill>
        <p:spPr>
          <a:xfrm>
            <a:off x="9010650" y="1942355"/>
            <a:ext cx="2743200" cy="996553"/>
          </a:xfrm>
          <a:prstGeom prst="rect">
            <a:avLst/>
          </a:prstGeom>
          <a:noFill/>
          <a:ln>
            <a:noFill/>
          </a:ln>
        </p:spPr>
      </p:pic>
      <p:pic>
        <p:nvPicPr>
          <p:cNvPr descr="image.png" id="165" name="Google Shape;165;p15"/>
          <p:cNvPicPr preferRelativeResize="0"/>
          <p:nvPr/>
        </p:nvPicPr>
        <p:blipFill rotWithShape="1">
          <a:blip r:embed="rId8">
            <a:alphaModFix/>
          </a:blip>
          <a:srcRect b="0" l="0" r="0" t="0"/>
          <a:stretch/>
        </p:blipFill>
        <p:spPr>
          <a:xfrm>
            <a:off x="438150" y="3091308"/>
            <a:ext cx="5572125" cy="931068"/>
          </a:xfrm>
          <a:prstGeom prst="rect">
            <a:avLst/>
          </a:prstGeom>
          <a:noFill/>
          <a:ln>
            <a:noFill/>
          </a:ln>
        </p:spPr>
      </p:pic>
      <p:pic>
        <p:nvPicPr>
          <p:cNvPr descr="image.png" id="166" name="Google Shape;166;p15"/>
          <p:cNvPicPr preferRelativeResize="0"/>
          <p:nvPr/>
        </p:nvPicPr>
        <p:blipFill rotWithShape="1">
          <a:blip r:embed="rId9">
            <a:alphaModFix/>
          </a:blip>
          <a:srcRect b="0" l="0" r="0" t="0"/>
          <a:stretch/>
        </p:blipFill>
        <p:spPr>
          <a:xfrm>
            <a:off x="6181725" y="3091308"/>
            <a:ext cx="5572125" cy="931068"/>
          </a:xfrm>
          <a:prstGeom prst="rect">
            <a:avLst/>
          </a:prstGeom>
          <a:noFill/>
          <a:ln>
            <a:noFill/>
          </a:ln>
        </p:spPr>
      </p:pic>
      <p:pic>
        <p:nvPicPr>
          <p:cNvPr descr="image.png" id="167" name="Google Shape;167;p15"/>
          <p:cNvPicPr preferRelativeResize="0"/>
          <p:nvPr/>
        </p:nvPicPr>
        <p:blipFill rotWithShape="1">
          <a:blip r:embed="rId10">
            <a:alphaModFix/>
          </a:blip>
          <a:srcRect b="0" l="0" r="0" t="0"/>
          <a:stretch/>
        </p:blipFill>
        <p:spPr>
          <a:xfrm>
            <a:off x="438150" y="6515100"/>
            <a:ext cx="11315700" cy="228600"/>
          </a:xfrm>
          <a:prstGeom prst="rect">
            <a:avLst/>
          </a:prstGeom>
          <a:noFill/>
          <a:ln>
            <a:noFill/>
          </a:ln>
        </p:spPr>
      </p:pic>
      <p:pic>
        <p:nvPicPr>
          <p:cNvPr descr="image.png" id="168" name="Google Shape;168;p15"/>
          <p:cNvPicPr preferRelativeResize="0"/>
          <p:nvPr/>
        </p:nvPicPr>
        <p:blipFill rotWithShape="1">
          <a:blip r:embed="rId11">
            <a:alphaModFix/>
          </a:blip>
          <a:srcRect b="0" l="0" r="0" t="0"/>
          <a:stretch/>
        </p:blipFill>
        <p:spPr>
          <a:xfrm>
            <a:off x="11060310" y="328612"/>
            <a:ext cx="693539" cy="180975"/>
          </a:xfrm>
          <a:prstGeom prst="rect">
            <a:avLst/>
          </a:prstGeom>
          <a:noFill/>
          <a:ln>
            <a:noFill/>
          </a:ln>
        </p:spPr>
      </p:pic>
      <p:sp>
        <p:nvSpPr>
          <p:cNvPr id="169" name="Google Shape;169;p15"/>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170" name="Google Shape;170;p15"/>
          <p:cNvSpPr txBox="1"/>
          <p:nvPr/>
        </p:nvSpPr>
        <p:spPr>
          <a:xfrm>
            <a:off x="10798968" y="6615112"/>
            <a:ext cx="954881"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02 / BACKGROUND</a:t>
            </a:r>
            <a:endParaRPr/>
          </a:p>
        </p:txBody>
      </p:sp>
      <p:pic>
        <p:nvPicPr>
          <p:cNvPr descr="image.png" id="171" name="Google Shape;171;p15"/>
          <p:cNvPicPr preferRelativeResize="0"/>
          <p:nvPr/>
        </p:nvPicPr>
        <p:blipFill rotWithShape="1">
          <a:blip r:embed="rId12">
            <a:alphaModFix/>
          </a:blip>
          <a:srcRect b="0" l="0" r="0" t="0"/>
          <a:stretch/>
        </p:blipFill>
        <p:spPr>
          <a:xfrm>
            <a:off x="438150" y="323850"/>
            <a:ext cx="1490364" cy="190500"/>
          </a:xfrm>
          <a:prstGeom prst="rect">
            <a:avLst/>
          </a:prstGeom>
          <a:noFill/>
          <a:ln>
            <a:noFill/>
          </a:ln>
        </p:spPr>
      </p:pic>
      <p:sp>
        <p:nvSpPr>
          <p:cNvPr id="172" name="Google Shape;172;p15"/>
          <p:cNvSpPr txBox="1"/>
          <p:nvPr/>
        </p:nvSpPr>
        <p:spPr>
          <a:xfrm>
            <a:off x="609600" y="1306710"/>
            <a:ext cx="10972800" cy="191839"/>
          </a:xfrm>
          <a:prstGeom prst="rect">
            <a:avLst/>
          </a:prstGeom>
          <a:noFill/>
          <a:ln>
            <a:noFill/>
          </a:ln>
        </p:spPr>
        <p:txBody>
          <a:bodyPr anchorCtr="0" anchor="t" bIns="0" lIns="96425" spcFirstLastPara="1" rIns="0" wrap="square" tIns="0">
            <a:spAutoFit/>
          </a:bodyPr>
          <a:lstStyle/>
          <a:p>
            <a:pPr indent="0" lvl="0" marL="0" marR="0" rtl="0" algn="l">
              <a:lnSpc>
                <a:spcPct val="154974"/>
              </a:lnSpc>
              <a:spcBef>
                <a:spcPts val="0"/>
              </a:spcBef>
              <a:spcAft>
                <a:spcPts val="0"/>
              </a:spcAft>
              <a:buNone/>
            </a:pPr>
            <a:r>
              <a:rPr b="1" i="0" lang="en-US" sz="975" u="none" cap="none" strike="noStrike">
                <a:solidFill>
                  <a:srgbClr val="38BDF8"/>
                </a:solidFill>
                <a:latin typeface="Noto Sans SC"/>
                <a:ea typeface="Noto Sans SC"/>
                <a:cs typeface="Noto Sans SC"/>
                <a:sym typeface="Noto Sans SC"/>
              </a:rPr>
              <a:t>物理基础定律</a:t>
            </a:r>
            <a:endParaRPr/>
          </a:p>
        </p:txBody>
      </p:sp>
      <p:sp>
        <p:nvSpPr>
          <p:cNvPr id="173" name="Google Shape;173;p15"/>
          <p:cNvSpPr txBox="1"/>
          <p:nvPr/>
        </p:nvSpPr>
        <p:spPr>
          <a:xfrm>
            <a:off x="609600" y="1517600"/>
            <a:ext cx="10972800"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CBD5E1"/>
                </a:solidFill>
                <a:latin typeface="Noto Sans SC"/>
                <a:ea typeface="Noto Sans SC"/>
                <a:cs typeface="Noto Sans SC"/>
                <a:sym typeface="Noto Sans SC"/>
              </a:rPr>
              <a:t>几乎全部IT电力最终转化为热；排热方式决定现场补水、排污与再生水需求。</a:t>
            </a:r>
            <a:endParaRPr/>
          </a:p>
        </p:txBody>
      </p:sp>
      <p:pic>
        <p:nvPicPr>
          <p:cNvPr descr="image.png" id="174" name="Google Shape;174;p15"/>
          <p:cNvPicPr preferRelativeResize="0"/>
          <p:nvPr/>
        </p:nvPicPr>
        <p:blipFill rotWithShape="1">
          <a:blip r:embed="rId13">
            <a:alphaModFix/>
          </a:blip>
          <a:srcRect b="0" l="0" r="0" t="0"/>
          <a:stretch/>
        </p:blipFill>
        <p:spPr>
          <a:xfrm>
            <a:off x="438150" y="6619875"/>
            <a:ext cx="81557" cy="104775"/>
          </a:xfrm>
          <a:prstGeom prst="rect">
            <a:avLst/>
          </a:prstGeom>
          <a:noFill/>
          <a:ln>
            <a:noFill/>
          </a:ln>
        </p:spPr>
      </p:pic>
      <p:pic>
        <p:nvPicPr>
          <p:cNvPr descr="image.png" id="175" name="Google Shape;175;p15"/>
          <p:cNvPicPr preferRelativeResize="0"/>
          <p:nvPr/>
        </p:nvPicPr>
        <p:blipFill rotWithShape="1">
          <a:blip r:embed="rId14">
            <a:alphaModFix/>
          </a:blip>
          <a:srcRect b="0" l="0" r="0" t="0"/>
          <a:stretch/>
        </p:blipFill>
        <p:spPr>
          <a:xfrm>
            <a:off x="542925" y="364331"/>
            <a:ext cx="92868" cy="109537"/>
          </a:xfrm>
          <a:prstGeom prst="rect">
            <a:avLst/>
          </a:prstGeom>
          <a:noFill/>
          <a:ln>
            <a:noFill/>
          </a:ln>
        </p:spPr>
      </p:pic>
      <p:pic>
        <p:nvPicPr>
          <p:cNvPr descr="image.png" id="176" name="Google Shape;176;p15"/>
          <p:cNvPicPr preferRelativeResize="0"/>
          <p:nvPr/>
        </p:nvPicPr>
        <p:blipFill rotWithShape="1">
          <a:blip r:embed="rId15">
            <a:alphaModFix/>
          </a:blip>
          <a:srcRect b="0" l="0" r="0" t="0"/>
          <a:stretch/>
        </p:blipFill>
        <p:spPr>
          <a:xfrm>
            <a:off x="609600" y="1335285"/>
            <a:ext cx="96440" cy="123825"/>
          </a:xfrm>
          <a:prstGeom prst="rect">
            <a:avLst/>
          </a:prstGeom>
          <a:noFill/>
          <a:ln>
            <a:noFill/>
          </a:ln>
        </p:spPr>
      </p:pic>
      <p:sp>
        <p:nvSpPr>
          <p:cNvPr id="177" name="Google Shape;177;p15"/>
          <p:cNvSpPr txBox="1"/>
          <p:nvPr/>
        </p:nvSpPr>
        <p:spPr>
          <a:xfrm>
            <a:off x="619125" y="210428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284C7"/>
                </a:solidFill>
                <a:latin typeface="JetBrains Mono ExtraBold"/>
                <a:ea typeface="JetBrains Mono ExtraBold"/>
                <a:cs typeface="JetBrains Mono ExtraBold"/>
                <a:sym typeface="JetBrains Mono ExtraBold"/>
              </a:rPr>
              <a:t>STEP 1</a:t>
            </a:r>
            <a:endParaRPr/>
          </a:p>
        </p:txBody>
      </p:sp>
      <p:sp>
        <p:nvSpPr>
          <p:cNvPr id="178" name="Google Shape;178;p15"/>
          <p:cNvSpPr txBox="1"/>
          <p:nvPr/>
        </p:nvSpPr>
        <p:spPr>
          <a:xfrm>
            <a:off x="619125" y="2237630"/>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F172A"/>
                </a:solidFill>
                <a:latin typeface="Noto Sans SC"/>
                <a:ea typeface="Noto Sans SC"/>
                <a:cs typeface="Noto Sans SC"/>
                <a:sym typeface="Noto Sans SC"/>
              </a:rPr>
              <a:t>AI 负荷</a:t>
            </a:r>
            <a:endParaRPr/>
          </a:p>
        </p:txBody>
      </p:sp>
      <p:sp>
        <p:nvSpPr>
          <p:cNvPr id="179" name="Google Shape;179;p15"/>
          <p:cNvSpPr txBox="1"/>
          <p:nvPr/>
        </p:nvSpPr>
        <p:spPr>
          <a:xfrm>
            <a:off x="619125" y="2437655"/>
            <a:ext cx="2381250" cy="339328"/>
          </a:xfrm>
          <a:prstGeom prst="rect">
            <a:avLst/>
          </a:prstGeom>
          <a:noFill/>
          <a:ln>
            <a:noFill/>
          </a:ln>
        </p:spPr>
        <p:txBody>
          <a:bodyPr anchorCtr="0" anchor="t" bIns="0" lIns="0" spcFirstLastPara="1" rIns="0" wrap="square" tIns="0">
            <a:spAutoFit/>
          </a:bodyPr>
          <a:lstStyle/>
          <a:p>
            <a:pPr indent="0" lvl="0" marL="0" marR="0" rtl="0" algn="l">
              <a:lnSpc>
                <a:spcPct val="74222"/>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连续运行、峰值叠加</a:t>
            </a:r>
            <a:br>
              <a:rPr b="0" i="0" lang="en-US" sz="1800" u="none" cap="none" strike="noStrike">
                <a:solidFill>
                  <a:schemeClr val="dk1"/>
                </a:solidFill>
                <a:latin typeface="Calibri"/>
                <a:ea typeface="Calibri"/>
                <a:cs typeface="Calibri"/>
                <a:sym typeface="Calibri"/>
              </a:rPr>
            </a:br>
            <a:r>
              <a:rPr b="0" i="0" lang="en-US" sz="862" u="none" cap="none" strike="noStrike">
                <a:solidFill>
                  <a:srgbClr val="475569"/>
                </a:solidFill>
                <a:latin typeface="Noto Sans SC"/>
                <a:ea typeface="Noto Sans SC"/>
                <a:cs typeface="Noto Sans SC"/>
                <a:sym typeface="Noto Sans SC"/>
              </a:rPr>
              <a:t> 训练 · 推理 · 生成</a:t>
            </a:r>
            <a:endParaRPr/>
          </a:p>
        </p:txBody>
      </p:sp>
      <p:sp>
        <p:nvSpPr>
          <p:cNvPr id="180" name="Google Shape;180;p15"/>
          <p:cNvSpPr txBox="1"/>
          <p:nvPr/>
        </p:nvSpPr>
        <p:spPr>
          <a:xfrm>
            <a:off x="3476625" y="210428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284C7"/>
                </a:solidFill>
                <a:latin typeface="JetBrains Mono ExtraBold"/>
                <a:ea typeface="JetBrains Mono ExtraBold"/>
                <a:cs typeface="JetBrains Mono ExtraBold"/>
                <a:sym typeface="JetBrains Mono ExtraBold"/>
              </a:rPr>
              <a:t>STEP 2</a:t>
            </a:r>
            <a:endParaRPr/>
          </a:p>
        </p:txBody>
      </p:sp>
      <p:sp>
        <p:nvSpPr>
          <p:cNvPr id="181" name="Google Shape;181;p15"/>
          <p:cNvSpPr txBox="1"/>
          <p:nvPr/>
        </p:nvSpPr>
        <p:spPr>
          <a:xfrm>
            <a:off x="3476625" y="2237630"/>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F172A"/>
                </a:solidFill>
                <a:latin typeface="Noto Sans SC"/>
                <a:ea typeface="Noto Sans SC"/>
                <a:cs typeface="Noto Sans SC"/>
                <a:sym typeface="Noto Sans SC"/>
              </a:rPr>
              <a:t>热排散</a:t>
            </a:r>
            <a:endParaRPr/>
          </a:p>
        </p:txBody>
      </p:sp>
      <p:sp>
        <p:nvSpPr>
          <p:cNvPr id="182" name="Google Shape;182;p15"/>
          <p:cNvSpPr txBox="1"/>
          <p:nvPr/>
        </p:nvSpPr>
        <p:spPr>
          <a:xfrm>
            <a:off x="3476625" y="2437655"/>
            <a:ext cx="2381250" cy="339328"/>
          </a:xfrm>
          <a:prstGeom prst="rect">
            <a:avLst/>
          </a:prstGeom>
          <a:noFill/>
          <a:ln>
            <a:noFill/>
          </a:ln>
        </p:spPr>
        <p:txBody>
          <a:bodyPr anchorCtr="0" anchor="t" bIns="0" lIns="0" spcFirstLastPara="1" rIns="0" wrap="square" tIns="0">
            <a:spAutoFit/>
          </a:bodyPr>
          <a:lstStyle/>
          <a:p>
            <a:pPr indent="0" lvl="0" marL="0" marR="0" rtl="0" algn="l">
              <a:lnSpc>
                <a:spcPct val="74222"/>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服务器功率密度提高</a:t>
            </a:r>
            <a:br>
              <a:rPr b="0" i="0" lang="en-US" sz="1800" u="none" cap="none" strike="noStrike">
                <a:solidFill>
                  <a:schemeClr val="dk1"/>
                </a:solidFill>
                <a:latin typeface="Calibri"/>
                <a:ea typeface="Calibri"/>
                <a:cs typeface="Calibri"/>
                <a:sym typeface="Calibri"/>
              </a:rPr>
            </a:br>
            <a:r>
              <a:rPr b="0" i="0" lang="en-US" sz="862" u="none" cap="none" strike="noStrike">
                <a:solidFill>
                  <a:srgbClr val="475569"/>
                </a:solidFill>
                <a:latin typeface="Noto Sans SC"/>
                <a:ea typeface="Noto Sans SC"/>
                <a:cs typeface="Noto Sans SC"/>
                <a:sym typeface="Noto Sans SC"/>
              </a:rPr>
              <a:t> 热流密度快速上升</a:t>
            </a:r>
            <a:endParaRPr/>
          </a:p>
        </p:txBody>
      </p:sp>
      <p:sp>
        <p:nvSpPr>
          <p:cNvPr id="183" name="Google Shape;183;p15"/>
          <p:cNvSpPr txBox="1"/>
          <p:nvPr/>
        </p:nvSpPr>
        <p:spPr>
          <a:xfrm>
            <a:off x="6334125" y="210428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284C7"/>
                </a:solidFill>
                <a:latin typeface="JetBrains Mono ExtraBold"/>
                <a:ea typeface="JetBrains Mono ExtraBold"/>
                <a:cs typeface="JetBrains Mono ExtraBold"/>
                <a:sym typeface="JetBrains Mono ExtraBold"/>
              </a:rPr>
              <a:t>STEP 3</a:t>
            </a:r>
            <a:endParaRPr/>
          </a:p>
        </p:txBody>
      </p:sp>
      <p:sp>
        <p:nvSpPr>
          <p:cNvPr id="184" name="Google Shape;184;p15"/>
          <p:cNvSpPr txBox="1"/>
          <p:nvPr/>
        </p:nvSpPr>
        <p:spPr>
          <a:xfrm>
            <a:off x="6334125" y="2237630"/>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F172A"/>
                </a:solidFill>
                <a:latin typeface="Noto Sans SC"/>
                <a:ea typeface="Noto Sans SC"/>
                <a:cs typeface="Noto Sans SC"/>
                <a:sym typeface="Noto Sans SC"/>
              </a:rPr>
              <a:t>冷却过程</a:t>
            </a:r>
            <a:endParaRPr/>
          </a:p>
        </p:txBody>
      </p:sp>
      <p:sp>
        <p:nvSpPr>
          <p:cNvPr id="185" name="Google Shape;185;p15"/>
          <p:cNvSpPr txBox="1"/>
          <p:nvPr/>
        </p:nvSpPr>
        <p:spPr>
          <a:xfrm>
            <a:off x="6334125" y="2437655"/>
            <a:ext cx="2381250" cy="339328"/>
          </a:xfrm>
          <a:prstGeom prst="rect">
            <a:avLst/>
          </a:prstGeom>
          <a:noFill/>
          <a:ln>
            <a:noFill/>
          </a:ln>
        </p:spPr>
        <p:txBody>
          <a:bodyPr anchorCtr="0" anchor="t" bIns="0" lIns="0" spcFirstLastPara="1" rIns="0" wrap="square" tIns="0">
            <a:spAutoFit/>
          </a:bodyPr>
          <a:lstStyle/>
          <a:p>
            <a:pPr indent="0" lvl="0" marL="0" marR="0" rtl="0" algn="l">
              <a:lnSpc>
                <a:spcPct val="74222"/>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风冷 / 液冷架构</a:t>
            </a:r>
            <a:br>
              <a:rPr b="0" i="0" lang="en-US" sz="1800" u="none" cap="none" strike="noStrike">
                <a:solidFill>
                  <a:schemeClr val="dk1"/>
                </a:solidFill>
                <a:latin typeface="Calibri"/>
                <a:ea typeface="Calibri"/>
                <a:cs typeface="Calibri"/>
                <a:sym typeface="Calibri"/>
              </a:rPr>
            </a:br>
            <a:r>
              <a:rPr b="0" i="0" lang="en-US" sz="862" u="none" cap="none" strike="noStrike">
                <a:solidFill>
                  <a:srgbClr val="475569"/>
                </a:solidFill>
                <a:latin typeface="Noto Sans SC"/>
                <a:ea typeface="Noto Sans SC"/>
                <a:cs typeface="Noto Sans SC"/>
                <a:sym typeface="Noto Sans SC"/>
              </a:rPr>
              <a:t> 干式 / 湿式 / 混合</a:t>
            </a:r>
            <a:endParaRPr/>
          </a:p>
        </p:txBody>
      </p:sp>
      <p:sp>
        <p:nvSpPr>
          <p:cNvPr id="186" name="Google Shape;186;p15"/>
          <p:cNvSpPr txBox="1"/>
          <p:nvPr/>
        </p:nvSpPr>
        <p:spPr>
          <a:xfrm>
            <a:off x="9191625" y="210428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369A1"/>
                </a:solidFill>
                <a:latin typeface="JetBrains Mono ExtraBold"/>
                <a:ea typeface="JetBrains Mono ExtraBold"/>
                <a:cs typeface="JetBrains Mono ExtraBold"/>
                <a:sym typeface="JetBrains Mono ExtraBold"/>
              </a:rPr>
              <a:t>STEP 4</a:t>
            </a:r>
            <a:endParaRPr/>
          </a:p>
        </p:txBody>
      </p:sp>
      <p:sp>
        <p:nvSpPr>
          <p:cNvPr id="187" name="Google Shape;187;p15"/>
          <p:cNvSpPr txBox="1"/>
          <p:nvPr/>
        </p:nvSpPr>
        <p:spPr>
          <a:xfrm>
            <a:off x="9191625" y="2237630"/>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369A1"/>
                </a:solidFill>
                <a:latin typeface="Noto Sans SC"/>
                <a:ea typeface="Noto Sans SC"/>
                <a:cs typeface="Noto Sans SC"/>
                <a:sym typeface="Noto Sans SC"/>
              </a:rPr>
              <a:t>城市压力</a:t>
            </a:r>
            <a:endParaRPr/>
          </a:p>
        </p:txBody>
      </p:sp>
      <p:sp>
        <p:nvSpPr>
          <p:cNvPr id="188" name="Google Shape;188;p15"/>
          <p:cNvSpPr txBox="1"/>
          <p:nvPr/>
        </p:nvSpPr>
        <p:spPr>
          <a:xfrm>
            <a:off x="9191625" y="2437655"/>
            <a:ext cx="2381250" cy="339328"/>
          </a:xfrm>
          <a:prstGeom prst="rect">
            <a:avLst/>
          </a:prstGeom>
          <a:noFill/>
          <a:ln>
            <a:noFill/>
          </a:ln>
        </p:spPr>
        <p:txBody>
          <a:bodyPr anchorCtr="0" anchor="t" bIns="0" lIns="0" spcFirstLastPara="1" rIns="0" wrap="square" tIns="0">
            <a:spAutoFit/>
          </a:bodyPr>
          <a:lstStyle/>
          <a:p>
            <a:pPr indent="0" lvl="0" marL="0" marR="0" rtl="0" algn="l">
              <a:lnSpc>
                <a:spcPct val="74222"/>
              </a:lnSpc>
              <a:spcBef>
                <a:spcPts val="0"/>
              </a:spcBef>
              <a:spcAft>
                <a:spcPts val="0"/>
              </a:spcAft>
              <a:buNone/>
            </a:pPr>
            <a:r>
              <a:rPr b="0" i="0" lang="en-US" sz="862" u="none" cap="none" strike="noStrike">
                <a:solidFill>
                  <a:srgbClr val="0369A1"/>
                </a:solidFill>
                <a:latin typeface="Noto Sans SC"/>
                <a:ea typeface="Noto Sans SC"/>
                <a:cs typeface="Noto Sans SC"/>
                <a:sym typeface="Noto Sans SC"/>
              </a:rPr>
              <a:t>取水、给水、污水</a:t>
            </a:r>
            <a:br>
              <a:rPr b="0" i="0" lang="en-US" sz="1800" u="none" cap="none" strike="noStrike">
                <a:solidFill>
                  <a:schemeClr val="dk1"/>
                </a:solidFill>
                <a:latin typeface="Calibri"/>
                <a:ea typeface="Calibri"/>
                <a:cs typeface="Calibri"/>
                <a:sym typeface="Calibri"/>
              </a:rPr>
            </a:br>
            <a:r>
              <a:rPr b="0" i="0" lang="en-US" sz="862" u="none" cap="none" strike="noStrike">
                <a:solidFill>
                  <a:srgbClr val="0369A1"/>
                </a:solidFill>
                <a:latin typeface="Noto Sans SC"/>
                <a:ea typeface="Noto Sans SC"/>
                <a:cs typeface="Noto Sans SC"/>
                <a:sym typeface="Noto Sans SC"/>
              </a:rPr>
              <a:t> 再生水与峰值服务</a:t>
            </a:r>
            <a:endParaRPr/>
          </a:p>
        </p:txBody>
      </p:sp>
      <p:sp>
        <p:nvSpPr>
          <p:cNvPr id="189" name="Google Shape;189;p15"/>
          <p:cNvSpPr txBox="1"/>
          <p:nvPr/>
        </p:nvSpPr>
        <p:spPr>
          <a:xfrm>
            <a:off x="835074" y="3253233"/>
            <a:ext cx="5243936"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现有研究局限</a:t>
            </a:r>
            <a:endParaRPr/>
          </a:p>
        </p:txBody>
      </p:sp>
      <p:sp>
        <p:nvSpPr>
          <p:cNvPr id="190" name="Google Shape;190;p15"/>
          <p:cNvSpPr txBox="1"/>
          <p:nvPr/>
        </p:nvSpPr>
        <p:spPr>
          <a:xfrm>
            <a:off x="647700" y="3491358"/>
            <a:ext cx="5181600" cy="369093"/>
          </a:xfrm>
          <a:prstGeom prst="rect">
            <a:avLst/>
          </a:prstGeom>
          <a:noFill/>
          <a:ln>
            <a:noFill/>
          </a:ln>
        </p:spPr>
        <p:txBody>
          <a:bodyPr anchorCtr="0" anchor="t" bIns="0" lIns="0" spcFirstLastPara="1" rIns="0" wrap="square" tIns="0">
            <a:spAutoFit/>
          </a:bodyPr>
          <a:lstStyle/>
          <a:p>
            <a:pPr indent="0" lvl="0" marL="0" marR="0" rtl="0" algn="l">
              <a:lnSpc>
                <a:spcPct val="155069"/>
              </a:lnSpc>
              <a:spcBef>
                <a:spcPts val="0"/>
              </a:spcBef>
              <a:spcAft>
                <a:spcPts val="0"/>
              </a:spcAft>
              <a:buNone/>
            </a:pPr>
            <a:r>
              <a:rPr b="0" i="0" lang="en-US" sz="937" u="none" cap="none" strike="noStrike">
                <a:solidFill>
                  <a:srgbClr val="475569"/>
                </a:solidFill>
                <a:latin typeface="Noto Sans SC"/>
                <a:ea typeface="Noto Sans SC"/>
                <a:cs typeface="Noto Sans SC"/>
                <a:sym typeface="Noto Sans SC"/>
              </a:rPr>
              <a:t>多停留在“一个模型 / 一台服务器 / 一个数据中心消耗多少水”的静态设施足迹核算，忽略了城市网络反馈与时间峰值。</a:t>
            </a:r>
            <a:endParaRPr/>
          </a:p>
        </p:txBody>
      </p:sp>
      <p:sp>
        <p:nvSpPr>
          <p:cNvPr id="191" name="Google Shape;191;p15"/>
          <p:cNvSpPr txBox="1"/>
          <p:nvPr/>
        </p:nvSpPr>
        <p:spPr>
          <a:xfrm>
            <a:off x="6578649" y="3253233"/>
            <a:ext cx="5243936"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本研究切入视角</a:t>
            </a:r>
            <a:endParaRPr/>
          </a:p>
        </p:txBody>
      </p:sp>
      <p:sp>
        <p:nvSpPr>
          <p:cNvPr id="192" name="Google Shape;192;p15"/>
          <p:cNvSpPr txBox="1"/>
          <p:nvPr/>
        </p:nvSpPr>
        <p:spPr>
          <a:xfrm>
            <a:off x="6391275" y="3491358"/>
            <a:ext cx="5181600" cy="369093"/>
          </a:xfrm>
          <a:prstGeom prst="rect">
            <a:avLst/>
          </a:prstGeom>
          <a:noFill/>
          <a:ln>
            <a:noFill/>
          </a:ln>
        </p:spPr>
        <p:txBody>
          <a:bodyPr anchorCtr="0" anchor="t" bIns="0" lIns="0" spcFirstLastPara="1" rIns="0" wrap="square" tIns="0">
            <a:spAutoFit/>
          </a:bodyPr>
          <a:lstStyle/>
          <a:p>
            <a:pPr indent="0" lvl="0" marL="0" marR="0" rtl="0" algn="l">
              <a:lnSpc>
                <a:spcPct val="155069"/>
              </a:lnSpc>
              <a:spcBef>
                <a:spcPts val="0"/>
              </a:spcBef>
              <a:spcAft>
                <a:spcPts val="0"/>
              </a:spcAft>
              <a:buNone/>
            </a:pPr>
            <a:r>
              <a:rPr b="0" i="0" lang="en-US" sz="937" u="none" cap="none" strike="noStrike">
                <a:solidFill>
                  <a:srgbClr val="334155"/>
                </a:solidFill>
                <a:latin typeface="Noto Sans SC"/>
                <a:ea typeface="Noto Sans SC"/>
                <a:cs typeface="Noto Sans SC"/>
                <a:sym typeface="Noto Sans SC"/>
              </a:rPr>
              <a:t>本研究追踪 </a:t>
            </a:r>
            <a:r>
              <a:rPr b="1" i="0" lang="en-US" sz="937" u="none" cap="none" strike="noStrike">
                <a:solidFill>
                  <a:srgbClr val="334155"/>
                </a:solidFill>
                <a:latin typeface="Noto Sans SC"/>
                <a:ea typeface="Noto Sans SC"/>
                <a:cs typeface="Noto Sans SC"/>
                <a:sym typeface="Noto Sans SC"/>
              </a:rPr>
              <a:t>IT capacity → 城市供—排—再生水网络压力</a:t>
            </a:r>
            <a:r>
              <a:rPr b="0" i="0" lang="en-US" sz="937" u="none" cap="none" strike="noStrike">
                <a:solidFill>
                  <a:srgbClr val="334155"/>
                </a:solidFill>
                <a:latin typeface="Noto Sans SC"/>
                <a:ea typeface="Noto Sans SC"/>
                <a:cs typeface="Noto Sans SC"/>
                <a:sym typeface="Noto Sans SC"/>
              </a:rPr>
              <a:t> 的完整接口，揭示动态平衡与系统重构。</a:t>
            </a:r>
            <a:endParaRPr/>
          </a:p>
        </p:txBody>
      </p:sp>
      <p:pic>
        <p:nvPicPr>
          <p:cNvPr descr="image.png" id="193" name="Google Shape;193;p15"/>
          <p:cNvPicPr preferRelativeResize="0"/>
          <p:nvPr/>
        </p:nvPicPr>
        <p:blipFill rotWithShape="1">
          <a:blip r:embed="rId16">
            <a:alphaModFix/>
          </a:blip>
          <a:srcRect b="0" l="0" r="0" t="0"/>
          <a:stretch/>
        </p:blipFill>
        <p:spPr>
          <a:xfrm>
            <a:off x="647700" y="3272283"/>
            <a:ext cx="111174" cy="142875"/>
          </a:xfrm>
          <a:prstGeom prst="rect">
            <a:avLst/>
          </a:prstGeom>
          <a:noFill/>
          <a:ln>
            <a:noFill/>
          </a:ln>
        </p:spPr>
      </p:pic>
      <p:pic>
        <p:nvPicPr>
          <p:cNvPr descr="image.png" id="194" name="Google Shape;194;p15"/>
          <p:cNvPicPr preferRelativeResize="0"/>
          <p:nvPr/>
        </p:nvPicPr>
        <p:blipFill rotWithShape="1">
          <a:blip r:embed="rId17">
            <a:alphaModFix/>
          </a:blip>
          <a:srcRect b="0" l="0" r="0" t="0"/>
          <a:stretch/>
        </p:blipFill>
        <p:spPr>
          <a:xfrm>
            <a:off x="6391275" y="3272283"/>
            <a:ext cx="111174" cy="142875"/>
          </a:xfrm>
          <a:prstGeom prst="rect">
            <a:avLst/>
          </a:prstGeom>
          <a:noFill/>
          <a:ln>
            <a:noFill/>
          </a:ln>
        </p:spPr>
      </p:pic>
      <p:sp>
        <p:nvSpPr>
          <p:cNvPr id="195" name="Google Shape;195;p15"/>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AI水环境问题已从“设施耗水”转向“城市系统压力”</a:t>
            </a:r>
            <a:endParaRPr/>
          </a:p>
        </p:txBody>
      </p:sp>
      <p:sp>
        <p:nvSpPr>
          <p:cNvPr id="196" name="Google Shape;196;p15"/>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pic>
        <p:nvPicPr>
          <p:cNvPr descr="image.png" id="201" name="Google Shape;201;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2" name="Google Shape;202;p16"/>
          <p:cNvPicPr preferRelativeResize="0"/>
          <p:nvPr/>
        </p:nvPicPr>
        <p:blipFill rotWithShape="1">
          <a:blip r:embed="rId4">
            <a:alphaModFix/>
          </a:blip>
          <a:srcRect b="0" l="0" r="0" t="0"/>
          <a:stretch/>
        </p:blipFill>
        <p:spPr>
          <a:xfrm>
            <a:off x="438150" y="3545085"/>
            <a:ext cx="11315700" cy="628352"/>
          </a:xfrm>
          <a:prstGeom prst="rect">
            <a:avLst/>
          </a:prstGeom>
          <a:noFill/>
          <a:ln>
            <a:noFill/>
          </a:ln>
        </p:spPr>
      </p:pic>
      <p:pic>
        <p:nvPicPr>
          <p:cNvPr descr="image.png" id="203" name="Google Shape;203;p16"/>
          <p:cNvPicPr preferRelativeResize="0"/>
          <p:nvPr/>
        </p:nvPicPr>
        <p:blipFill rotWithShape="1">
          <a:blip r:embed="rId5">
            <a:alphaModFix/>
          </a:blip>
          <a:srcRect b="0" l="0" r="0" t="0"/>
          <a:stretch/>
        </p:blipFill>
        <p:spPr>
          <a:xfrm>
            <a:off x="438150" y="6515100"/>
            <a:ext cx="11315700" cy="228600"/>
          </a:xfrm>
          <a:prstGeom prst="rect">
            <a:avLst/>
          </a:prstGeom>
          <a:noFill/>
          <a:ln>
            <a:noFill/>
          </a:ln>
        </p:spPr>
      </p:pic>
      <p:pic>
        <p:nvPicPr>
          <p:cNvPr descr="image.png" id="204" name="Google Shape;204;p16"/>
          <p:cNvPicPr preferRelativeResize="0"/>
          <p:nvPr/>
        </p:nvPicPr>
        <p:blipFill rotWithShape="1">
          <a:blip r:embed="rId6">
            <a:alphaModFix/>
          </a:blip>
          <a:srcRect b="0" l="0" r="0" t="0"/>
          <a:stretch/>
        </p:blipFill>
        <p:spPr>
          <a:xfrm>
            <a:off x="11060310" y="328612"/>
            <a:ext cx="693539" cy="180975"/>
          </a:xfrm>
          <a:prstGeom prst="rect">
            <a:avLst/>
          </a:prstGeom>
          <a:noFill/>
          <a:ln>
            <a:noFill/>
          </a:ln>
        </p:spPr>
      </p:pic>
      <p:sp>
        <p:nvSpPr>
          <p:cNvPr id="205" name="Google Shape;205;p16"/>
          <p:cNvSpPr txBox="1"/>
          <p:nvPr/>
        </p:nvSpPr>
        <p:spPr>
          <a:xfrm>
            <a:off x="438150" y="1192410"/>
            <a:ext cx="113157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7" u="none" cap="none" strike="noStrike">
                <a:solidFill>
                  <a:srgbClr val="64748B"/>
                </a:solidFill>
                <a:latin typeface="Noto Sans SC"/>
                <a:ea typeface="Noto Sans SC"/>
                <a:cs typeface="Noto Sans SC"/>
                <a:sym typeface="Noto Sans SC"/>
              </a:rPr>
              <a:t>用“已解决—未解决”矩阵定位本研究的学术增量与核心突破：</a:t>
            </a:r>
            <a:endParaRPr/>
          </a:p>
        </p:txBody>
      </p:sp>
      <p:graphicFrame>
        <p:nvGraphicFramePr>
          <p:cNvPr id="206" name="Google Shape;206;p16"/>
          <p:cNvGraphicFramePr/>
          <p:nvPr/>
        </p:nvGraphicFramePr>
        <p:xfrm>
          <a:off x="438150" y="1449585"/>
          <a:ext cx="3000000" cy="3000000"/>
        </p:xfrm>
        <a:graphic>
          <a:graphicData uri="http://schemas.openxmlformats.org/drawingml/2006/table">
            <a:tbl>
              <a:tblPr bandRow="1" firstRow="1">
                <a:noFill/>
                <a:tableStyleId>{B4E001E9-BA96-4B7F-91D8-A5F58F78CBA2}</a:tableStyleId>
              </a:tblPr>
              <a:tblGrid>
                <a:gridCol w="2711050"/>
                <a:gridCol w="1581450"/>
                <a:gridCol w="1581450"/>
                <a:gridCol w="1581450"/>
                <a:gridCol w="1581450"/>
                <a:gridCol w="2259800"/>
              </a:tblGrid>
              <a:tr h="327025">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研究类型</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AI水足迹</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城市水网络</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时间峰值</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再生水循环</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多约束边界</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327025">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AI水足迹</a:t>
                      </a:r>
                      <a:r>
                        <a:rPr b="0" i="0" lang="en-US" sz="900" u="none" cap="none" strike="noStrike">
                          <a:solidFill>
                            <a:srgbClr val="334155"/>
                          </a:solidFill>
                          <a:latin typeface="Noto Sans SC"/>
                          <a:ea typeface="Noto Sans SC"/>
                          <a:cs typeface="Noto Sans SC"/>
                          <a:sym typeface="Noto Sans SC"/>
                        </a:rPr>
                        <a:t> </a:t>
                      </a:r>
                      <a:r>
                        <a:rPr b="0" i="0" lang="en-US" sz="900" u="none" cap="none" strike="noStrike">
                          <a:solidFill>
                            <a:srgbClr val="64748B"/>
                          </a:solidFill>
                          <a:latin typeface="Noto Sans SC"/>
                          <a:ea typeface="Noto Sans SC"/>
                          <a:cs typeface="Noto Sans SC"/>
                          <a:sym typeface="Noto Sans SC"/>
                        </a:rPr>
                        <a:t>(Mytton · de Vries)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核心</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缺失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缺失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缺失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27025">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综合城市水模型</a:t>
                      </a:r>
                      <a:r>
                        <a:rPr b="0" i="0" lang="en-US" sz="900" u="none" cap="none" strike="noStrike">
                          <a:solidFill>
                            <a:srgbClr val="334155"/>
                          </a:solidFill>
                          <a:latin typeface="Noto Sans SC"/>
                          <a:ea typeface="Noto Sans SC"/>
                          <a:cs typeface="Noto Sans SC"/>
                          <a:sym typeface="Noto Sans SC"/>
                        </a:rPr>
                        <a:t> </a:t>
                      </a:r>
                      <a:r>
                        <a:rPr b="0" i="0" lang="en-US" sz="900" u="none" cap="none" strike="noStrike">
                          <a:solidFill>
                            <a:srgbClr val="64748B"/>
                          </a:solidFill>
                          <a:latin typeface="Noto Sans SC"/>
                          <a:ea typeface="Noto Sans SC"/>
                          <a:cs typeface="Noto Sans SC"/>
                          <a:sym typeface="Noto Sans SC"/>
                        </a:rPr>
                        <a:t>(WaterMet² · WSIMOD)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缺失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核心</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覆盖</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覆盖</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7025">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水资源承载力</a:t>
                      </a:r>
                      <a:r>
                        <a:rPr b="0" i="0" lang="en-US" sz="900" u="none" cap="none" strike="noStrike">
                          <a:solidFill>
                            <a:srgbClr val="334155"/>
                          </a:solidFill>
                          <a:latin typeface="Noto Sans SC"/>
                          <a:ea typeface="Noto Sans SC"/>
                          <a:cs typeface="Noto Sans SC"/>
                          <a:sym typeface="Noto Sans SC"/>
                        </a:rPr>
                        <a:t> </a:t>
                      </a:r>
                      <a:r>
                        <a:rPr b="0" i="0" lang="en-US" sz="900" u="none" cap="none" strike="noStrike">
                          <a:solidFill>
                            <a:srgbClr val="64748B"/>
                          </a:solidFill>
                          <a:latin typeface="Noto Sans SC"/>
                          <a:ea typeface="Noto Sans SC"/>
                          <a:cs typeface="Noto Sans SC"/>
                          <a:sym typeface="Noto Sans SC"/>
                        </a:rPr>
                        <a:t>(动态承载力研究)</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缺失</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核心</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27025">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冷却 / 再生水工程</a:t>
                      </a:r>
                      <a:r>
                        <a:rPr b="0" i="0" lang="en-US" sz="900" u="none" cap="none" strike="noStrike">
                          <a:solidFill>
                            <a:srgbClr val="334155"/>
                          </a:solidFill>
                          <a:latin typeface="Noto Sans SC"/>
                          <a:ea typeface="Noto Sans SC"/>
                          <a:cs typeface="Noto Sans SC"/>
                          <a:sym typeface="Noto Sans SC"/>
                        </a:rPr>
                        <a:t> </a:t>
                      </a:r>
                      <a:r>
                        <a:rPr b="0" i="0" lang="en-US" sz="900" u="none" cap="none" strike="noStrike">
                          <a:solidFill>
                            <a:srgbClr val="64748B"/>
                          </a:solidFill>
                          <a:latin typeface="Noto Sans SC"/>
                          <a:ea typeface="Noto Sans SC"/>
                          <a:cs typeface="Noto Sans SC"/>
                          <a:sym typeface="Noto Sans SC"/>
                        </a:rPr>
                        <a:t>(Ebrahimi · 水质控制)</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核心</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覆盖</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覆盖</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局部</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7025">
                <a:tc>
                  <a:txBody>
                    <a:bodyPr/>
                    <a:lstStyle/>
                    <a:p>
                      <a:pPr indent="0" lvl="0" marL="0" marR="0" rtl="0" algn="l">
                        <a:spcBef>
                          <a:spcPts val="0"/>
                        </a:spcBef>
                        <a:spcAft>
                          <a:spcPts val="0"/>
                        </a:spcAft>
                        <a:buNone/>
                      </a:pPr>
                      <a:r>
                        <a:rPr b="1" i="0" lang="en-US" sz="900" u="none" cap="none" strike="noStrike">
                          <a:solidFill>
                            <a:srgbClr val="0369A1"/>
                          </a:solidFill>
                          <a:latin typeface="Noto Sans SC"/>
                          <a:ea typeface="Noto Sans SC"/>
                          <a:cs typeface="Noto Sans SC"/>
                          <a:sym typeface="Noto Sans SC"/>
                        </a:rPr>
                        <a:t>本研究（学术增量）</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 融合</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 融合</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 融合</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 融合</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 突破</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207" name="Google Shape;207;p16"/>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208" name="Google Shape;208;p16"/>
          <p:cNvSpPr txBox="1"/>
          <p:nvPr/>
        </p:nvSpPr>
        <p:spPr>
          <a:xfrm>
            <a:off x="10655349" y="6615112"/>
            <a:ext cx="1098500"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03 / LITERATURE GAP</a:t>
            </a:r>
            <a:endParaRPr/>
          </a:p>
        </p:txBody>
      </p:sp>
      <p:pic>
        <p:nvPicPr>
          <p:cNvPr descr="image.png" id="209" name="Google Shape;209;p16"/>
          <p:cNvPicPr preferRelativeResize="0"/>
          <p:nvPr/>
        </p:nvPicPr>
        <p:blipFill rotWithShape="1">
          <a:blip r:embed="rId7">
            <a:alphaModFix/>
          </a:blip>
          <a:srcRect b="0" l="0" r="0" t="0"/>
          <a:stretch/>
        </p:blipFill>
        <p:spPr>
          <a:xfrm>
            <a:off x="438150" y="323850"/>
            <a:ext cx="1670893" cy="190500"/>
          </a:xfrm>
          <a:prstGeom prst="rect">
            <a:avLst/>
          </a:prstGeom>
          <a:noFill/>
          <a:ln>
            <a:noFill/>
          </a:ln>
        </p:spPr>
      </p:pic>
      <p:sp>
        <p:nvSpPr>
          <p:cNvPr id="210" name="Google Shape;210;p16"/>
          <p:cNvSpPr txBox="1"/>
          <p:nvPr/>
        </p:nvSpPr>
        <p:spPr>
          <a:xfrm>
            <a:off x="600075" y="3668910"/>
            <a:ext cx="10991850" cy="184546"/>
          </a:xfrm>
          <a:prstGeom prst="rect">
            <a:avLst/>
          </a:prstGeom>
          <a:noFill/>
          <a:ln>
            <a:noFill/>
          </a:ln>
        </p:spPr>
        <p:txBody>
          <a:bodyPr anchorCtr="0" anchor="t" bIns="0" lIns="92700" spcFirstLastPara="1" rIns="0" wrap="square" tIns="0">
            <a:spAutoFit/>
          </a:bodyPr>
          <a:lstStyle/>
          <a:p>
            <a:pPr indent="0" lvl="0" marL="0" marR="0" rtl="0" algn="l">
              <a:lnSpc>
                <a:spcPct val="155069"/>
              </a:lnSpc>
              <a:spcBef>
                <a:spcPts val="0"/>
              </a:spcBef>
              <a:spcAft>
                <a:spcPts val="0"/>
              </a:spcAft>
              <a:buNone/>
            </a:pPr>
            <a:r>
              <a:rPr b="1" i="0" lang="en-US" sz="937" u="none" cap="none" strike="noStrike">
                <a:solidFill>
                  <a:srgbClr val="0369A1"/>
                </a:solidFill>
                <a:latin typeface="Noto Sans SC"/>
                <a:ea typeface="Noto Sans SC"/>
                <a:cs typeface="Noto Sans SC"/>
                <a:sym typeface="Noto Sans SC"/>
              </a:rPr>
              <a:t>真正的空白 (The Core Gap)</a:t>
            </a:r>
            <a:endParaRPr/>
          </a:p>
        </p:txBody>
      </p:sp>
      <p:sp>
        <p:nvSpPr>
          <p:cNvPr id="211" name="Google Shape;211;p16"/>
          <p:cNvSpPr txBox="1"/>
          <p:nvPr/>
        </p:nvSpPr>
        <p:spPr>
          <a:xfrm>
            <a:off x="600075" y="3872507"/>
            <a:ext cx="10991850"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设施过程 → 城市代谢 → 条件化边界</a:t>
            </a:r>
            <a:r>
              <a:rPr b="0" i="0" lang="en-US" sz="900" u="none" cap="none" strike="noStrike">
                <a:solidFill>
                  <a:srgbClr val="334155"/>
                </a:solidFill>
                <a:latin typeface="Noto Sans SC"/>
                <a:ea typeface="Noto Sans SC"/>
                <a:cs typeface="Noto Sans SC"/>
                <a:sym typeface="Noto Sans SC"/>
              </a:rPr>
              <a:t>，三类知识尚未形成可在日尺度检验的闭环模型与因果解释链条。</a:t>
            </a:r>
            <a:endParaRPr/>
          </a:p>
        </p:txBody>
      </p:sp>
      <p:pic>
        <p:nvPicPr>
          <p:cNvPr descr="image.png" id="212" name="Google Shape;212;p16"/>
          <p:cNvPicPr preferRelativeResize="0"/>
          <p:nvPr/>
        </p:nvPicPr>
        <p:blipFill rotWithShape="1">
          <a:blip r:embed="rId8">
            <a:alphaModFix/>
          </a:blip>
          <a:srcRect b="0" l="0" r="0" t="0"/>
          <a:stretch/>
        </p:blipFill>
        <p:spPr>
          <a:xfrm>
            <a:off x="438150" y="6619875"/>
            <a:ext cx="81557" cy="104775"/>
          </a:xfrm>
          <a:prstGeom prst="rect">
            <a:avLst/>
          </a:prstGeom>
          <a:noFill/>
          <a:ln>
            <a:noFill/>
          </a:ln>
        </p:spPr>
      </p:pic>
      <p:pic>
        <p:nvPicPr>
          <p:cNvPr descr="image.png" id="213" name="Google Shape;213;p16"/>
          <p:cNvPicPr preferRelativeResize="0"/>
          <p:nvPr/>
        </p:nvPicPr>
        <p:blipFill rotWithShape="1">
          <a:blip r:embed="rId9">
            <a:alphaModFix/>
          </a:blip>
          <a:srcRect b="0" l="0" r="0" t="0"/>
          <a:stretch/>
        </p:blipFill>
        <p:spPr>
          <a:xfrm>
            <a:off x="542925" y="364331"/>
            <a:ext cx="92868" cy="109537"/>
          </a:xfrm>
          <a:prstGeom prst="rect">
            <a:avLst/>
          </a:prstGeom>
          <a:noFill/>
          <a:ln>
            <a:noFill/>
          </a:ln>
        </p:spPr>
      </p:pic>
      <p:sp>
        <p:nvSpPr>
          <p:cNvPr id="214" name="Google Shape;214;p16"/>
          <p:cNvSpPr/>
          <p:nvPr/>
        </p:nvSpPr>
        <p:spPr>
          <a:xfrm>
            <a:off x="447675" y="2106810"/>
            <a:ext cx="271105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6"/>
          <p:cNvSpPr/>
          <p:nvPr/>
        </p:nvSpPr>
        <p:spPr>
          <a:xfrm>
            <a:off x="3158728" y="21068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16"/>
          <p:cNvSpPr/>
          <p:nvPr/>
        </p:nvSpPr>
        <p:spPr>
          <a:xfrm>
            <a:off x="4740175" y="21068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6"/>
          <p:cNvSpPr/>
          <p:nvPr/>
        </p:nvSpPr>
        <p:spPr>
          <a:xfrm>
            <a:off x="6321623" y="21068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6"/>
          <p:cNvSpPr/>
          <p:nvPr/>
        </p:nvSpPr>
        <p:spPr>
          <a:xfrm>
            <a:off x="7903071" y="21068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6"/>
          <p:cNvSpPr/>
          <p:nvPr/>
        </p:nvSpPr>
        <p:spPr>
          <a:xfrm>
            <a:off x="9484518" y="2106810"/>
            <a:ext cx="225980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16"/>
          <p:cNvSpPr/>
          <p:nvPr/>
        </p:nvSpPr>
        <p:spPr>
          <a:xfrm>
            <a:off x="447675" y="2430660"/>
            <a:ext cx="271105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6"/>
          <p:cNvSpPr/>
          <p:nvPr/>
        </p:nvSpPr>
        <p:spPr>
          <a:xfrm>
            <a:off x="3158728" y="24306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6"/>
          <p:cNvSpPr/>
          <p:nvPr/>
        </p:nvSpPr>
        <p:spPr>
          <a:xfrm>
            <a:off x="4740175" y="24306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16"/>
          <p:cNvSpPr/>
          <p:nvPr/>
        </p:nvSpPr>
        <p:spPr>
          <a:xfrm>
            <a:off x="6321623" y="24306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16"/>
          <p:cNvSpPr/>
          <p:nvPr/>
        </p:nvSpPr>
        <p:spPr>
          <a:xfrm>
            <a:off x="7903071" y="24306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5" name="Google Shape;225;p16"/>
          <p:cNvSpPr/>
          <p:nvPr/>
        </p:nvSpPr>
        <p:spPr>
          <a:xfrm>
            <a:off x="9484518" y="2430660"/>
            <a:ext cx="225980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16"/>
          <p:cNvSpPr/>
          <p:nvPr/>
        </p:nvSpPr>
        <p:spPr>
          <a:xfrm>
            <a:off x="447675" y="2754510"/>
            <a:ext cx="271105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16"/>
          <p:cNvSpPr/>
          <p:nvPr/>
        </p:nvSpPr>
        <p:spPr>
          <a:xfrm>
            <a:off x="3158728" y="27545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8" name="Google Shape;228;p16"/>
          <p:cNvSpPr/>
          <p:nvPr/>
        </p:nvSpPr>
        <p:spPr>
          <a:xfrm>
            <a:off x="4740175" y="27545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9" name="Google Shape;229;p16"/>
          <p:cNvSpPr/>
          <p:nvPr/>
        </p:nvSpPr>
        <p:spPr>
          <a:xfrm>
            <a:off x="6321623" y="27545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0" name="Google Shape;230;p16"/>
          <p:cNvSpPr/>
          <p:nvPr/>
        </p:nvSpPr>
        <p:spPr>
          <a:xfrm>
            <a:off x="7903071" y="275451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16"/>
          <p:cNvSpPr/>
          <p:nvPr/>
        </p:nvSpPr>
        <p:spPr>
          <a:xfrm>
            <a:off x="9484518" y="2754510"/>
            <a:ext cx="225980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16"/>
          <p:cNvSpPr/>
          <p:nvPr/>
        </p:nvSpPr>
        <p:spPr>
          <a:xfrm>
            <a:off x="447675" y="3078360"/>
            <a:ext cx="271105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16"/>
          <p:cNvSpPr/>
          <p:nvPr/>
        </p:nvSpPr>
        <p:spPr>
          <a:xfrm>
            <a:off x="3158728" y="30783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16"/>
          <p:cNvSpPr/>
          <p:nvPr/>
        </p:nvSpPr>
        <p:spPr>
          <a:xfrm>
            <a:off x="4740175" y="30783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16"/>
          <p:cNvSpPr/>
          <p:nvPr/>
        </p:nvSpPr>
        <p:spPr>
          <a:xfrm>
            <a:off x="6321623" y="30783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16"/>
          <p:cNvSpPr/>
          <p:nvPr/>
        </p:nvSpPr>
        <p:spPr>
          <a:xfrm>
            <a:off x="7903071" y="3078360"/>
            <a:ext cx="1581447"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16"/>
          <p:cNvSpPr/>
          <p:nvPr/>
        </p:nvSpPr>
        <p:spPr>
          <a:xfrm>
            <a:off x="9484518" y="3078360"/>
            <a:ext cx="2259806"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8" name="Google Shape;238;p16"/>
          <p:cNvPicPr preferRelativeResize="0"/>
          <p:nvPr/>
        </p:nvPicPr>
        <p:blipFill rotWithShape="1">
          <a:blip r:embed="rId10">
            <a:alphaModFix/>
          </a:blip>
          <a:srcRect b="0" l="0" r="0" t="0"/>
          <a:stretch/>
        </p:blipFill>
        <p:spPr>
          <a:xfrm>
            <a:off x="600075" y="3697485"/>
            <a:ext cx="92719" cy="119062"/>
          </a:xfrm>
          <a:prstGeom prst="rect">
            <a:avLst/>
          </a:prstGeom>
          <a:noFill/>
          <a:ln>
            <a:noFill/>
          </a:ln>
        </p:spPr>
      </p:pic>
      <p:pic>
        <p:nvPicPr>
          <p:cNvPr descr="image.png" id="239" name="Google Shape;239;p16"/>
          <p:cNvPicPr preferRelativeResize="0"/>
          <p:nvPr/>
        </p:nvPicPr>
        <p:blipFill rotWithShape="1">
          <a:blip r:embed="rId11">
            <a:alphaModFix/>
          </a:blip>
          <a:srcRect b="0" l="0" r="0" t="0"/>
          <a:stretch/>
        </p:blipFill>
        <p:spPr>
          <a:xfrm>
            <a:off x="3273028" y="1868685"/>
            <a:ext cx="475505" cy="152400"/>
          </a:xfrm>
          <a:prstGeom prst="rect">
            <a:avLst/>
          </a:prstGeom>
          <a:noFill/>
          <a:ln>
            <a:noFill/>
          </a:ln>
        </p:spPr>
      </p:pic>
      <p:pic>
        <p:nvPicPr>
          <p:cNvPr descr="image.png" id="240" name="Google Shape;240;p16"/>
          <p:cNvPicPr preferRelativeResize="0"/>
          <p:nvPr/>
        </p:nvPicPr>
        <p:blipFill rotWithShape="1">
          <a:blip r:embed="rId12">
            <a:alphaModFix/>
          </a:blip>
          <a:srcRect b="0" l="0" r="0" t="0"/>
          <a:stretch/>
        </p:blipFill>
        <p:spPr>
          <a:xfrm>
            <a:off x="4854475" y="1868685"/>
            <a:ext cx="475505" cy="152400"/>
          </a:xfrm>
          <a:prstGeom prst="rect">
            <a:avLst/>
          </a:prstGeom>
          <a:noFill/>
          <a:ln>
            <a:noFill/>
          </a:ln>
        </p:spPr>
      </p:pic>
      <p:pic>
        <p:nvPicPr>
          <p:cNvPr descr="image.png" id="241" name="Google Shape;241;p16"/>
          <p:cNvPicPr preferRelativeResize="0"/>
          <p:nvPr/>
        </p:nvPicPr>
        <p:blipFill rotWithShape="1">
          <a:blip r:embed="rId13">
            <a:alphaModFix/>
          </a:blip>
          <a:srcRect b="0" l="0" r="0" t="0"/>
          <a:stretch/>
        </p:blipFill>
        <p:spPr>
          <a:xfrm>
            <a:off x="6435923" y="1868685"/>
            <a:ext cx="475505" cy="152400"/>
          </a:xfrm>
          <a:prstGeom prst="rect">
            <a:avLst/>
          </a:prstGeom>
          <a:noFill/>
          <a:ln>
            <a:noFill/>
          </a:ln>
        </p:spPr>
      </p:pic>
      <p:pic>
        <p:nvPicPr>
          <p:cNvPr descr="image.png" id="242" name="Google Shape;242;p16"/>
          <p:cNvPicPr preferRelativeResize="0"/>
          <p:nvPr/>
        </p:nvPicPr>
        <p:blipFill rotWithShape="1">
          <a:blip r:embed="rId12">
            <a:alphaModFix/>
          </a:blip>
          <a:srcRect b="0" l="0" r="0" t="0"/>
          <a:stretch/>
        </p:blipFill>
        <p:spPr>
          <a:xfrm>
            <a:off x="8017371" y="1868685"/>
            <a:ext cx="475505" cy="152400"/>
          </a:xfrm>
          <a:prstGeom prst="rect">
            <a:avLst/>
          </a:prstGeom>
          <a:noFill/>
          <a:ln>
            <a:noFill/>
          </a:ln>
        </p:spPr>
      </p:pic>
      <p:pic>
        <p:nvPicPr>
          <p:cNvPr descr="image.png" id="243" name="Google Shape;243;p16"/>
          <p:cNvPicPr preferRelativeResize="0"/>
          <p:nvPr/>
        </p:nvPicPr>
        <p:blipFill rotWithShape="1">
          <a:blip r:embed="rId12">
            <a:alphaModFix/>
          </a:blip>
          <a:srcRect b="0" l="0" r="0" t="0"/>
          <a:stretch/>
        </p:blipFill>
        <p:spPr>
          <a:xfrm>
            <a:off x="9598818" y="1868685"/>
            <a:ext cx="475505" cy="152400"/>
          </a:xfrm>
          <a:prstGeom prst="rect">
            <a:avLst/>
          </a:prstGeom>
          <a:noFill/>
          <a:ln>
            <a:noFill/>
          </a:ln>
        </p:spPr>
      </p:pic>
      <p:pic>
        <p:nvPicPr>
          <p:cNvPr descr="image.png" id="244" name="Google Shape;244;p16"/>
          <p:cNvPicPr preferRelativeResize="0"/>
          <p:nvPr/>
        </p:nvPicPr>
        <p:blipFill rotWithShape="1">
          <a:blip r:embed="rId14">
            <a:alphaModFix/>
          </a:blip>
          <a:srcRect b="0" l="0" r="0" t="0"/>
          <a:stretch/>
        </p:blipFill>
        <p:spPr>
          <a:xfrm>
            <a:off x="3273028" y="2192535"/>
            <a:ext cx="475505" cy="152400"/>
          </a:xfrm>
          <a:prstGeom prst="rect">
            <a:avLst/>
          </a:prstGeom>
          <a:noFill/>
          <a:ln>
            <a:noFill/>
          </a:ln>
        </p:spPr>
      </p:pic>
      <p:pic>
        <p:nvPicPr>
          <p:cNvPr descr="image.png" id="245" name="Google Shape;245;p16"/>
          <p:cNvPicPr preferRelativeResize="0"/>
          <p:nvPr/>
        </p:nvPicPr>
        <p:blipFill rotWithShape="1">
          <a:blip r:embed="rId15">
            <a:alphaModFix/>
          </a:blip>
          <a:srcRect b="0" l="0" r="0" t="0"/>
          <a:stretch/>
        </p:blipFill>
        <p:spPr>
          <a:xfrm>
            <a:off x="4854475" y="2192535"/>
            <a:ext cx="475505" cy="152400"/>
          </a:xfrm>
          <a:prstGeom prst="rect">
            <a:avLst/>
          </a:prstGeom>
          <a:noFill/>
          <a:ln>
            <a:noFill/>
          </a:ln>
        </p:spPr>
      </p:pic>
      <p:pic>
        <p:nvPicPr>
          <p:cNvPr descr="image.png" id="246" name="Google Shape;246;p16"/>
          <p:cNvPicPr preferRelativeResize="0"/>
          <p:nvPr/>
        </p:nvPicPr>
        <p:blipFill rotWithShape="1">
          <a:blip r:embed="rId16">
            <a:alphaModFix/>
          </a:blip>
          <a:srcRect b="0" l="0" r="0" t="0"/>
          <a:stretch/>
        </p:blipFill>
        <p:spPr>
          <a:xfrm>
            <a:off x="6435923" y="2192535"/>
            <a:ext cx="475505" cy="152400"/>
          </a:xfrm>
          <a:prstGeom prst="rect">
            <a:avLst/>
          </a:prstGeom>
          <a:noFill/>
          <a:ln>
            <a:noFill/>
          </a:ln>
        </p:spPr>
      </p:pic>
      <p:pic>
        <p:nvPicPr>
          <p:cNvPr descr="image.png" id="247" name="Google Shape;247;p16"/>
          <p:cNvPicPr preferRelativeResize="0"/>
          <p:nvPr/>
        </p:nvPicPr>
        <p:blipFill rotWithShape="1">
          <a:blip r:embed="rId17">
            <a:alphaModFix/>
          </a:blip>
          <a:srcRect b="0" l="0" r="0" t="0"/>
          <a:stretch/>
        </p:blipFill>
        <p:spPr>
          <a:xfrm>
            <a:off x="8017371" y="2192535"/>
            <a:ext cx="475505" cy="152400"/>
          </a:xfrm>
          <a:prstGeom prst="rect">
            <a:avLst/>
          </a:prstGeom>
          <a:noFill/>
          <a:ln>
            <a:noFill/>
          </a:ln>
        </p:spPr>
      </p:pic>
      <p:pic>
        <p:nvPicPr>
          <p:cNvPr descr="image.png" id="248" name="Google Shape;248;p16"/>
          <p:cNvPicPr preferRelativeResize="0"/>
          <p:nvPr/>
        </p:nvPicPr>
        <p:blipFill rotWithShape="1">
          <a:blip r:embed="rId18">
            <a:alphaModFix/>
          </a:blip>
          <a:srcRect b="0" l="0" r="0" t="0"/>
          <a:stretch/>
        </p:blipFill>
        <p:spPr>
          <a:xfrm>
            <a:off x="9598818" y="2192535"/>
            <a:ext cx="475505" cy="152400"/>
          </a:xfrm>
          <a:prstGeom prst="rect">
            <a:avLst/>
          </a:prstGeom>
          <a:noFill/>
          <a:ln>
            <a:noFill/>
          </a:ln>
        </p:spPr>
      </p:pic>
      <p:pic>
        <p:nvPicPr>
          <p:cNvPr descr="image.png" id="249" name="Google Shape;249;p16"/>
          <p:cNvPicPr preferRelativeResize="0"/>
          <p:nvPr/>
        </p:nvPicPr>
        <p:blipFill rotWithShape="1">
          <a:blip r:embed="rId12">
            <a:alphaModFix/>
          </a:blip>
          <a:srcRect b="0" l="0" r="0" t="0"/>
          <a:stretch/>
        </p:blipFill>
        <p:spPr>
          <a:xfrm>
            <a:off x="3273028" y="2516385"/>
            <a:ext cx="475505" cy="152400"/>
          </a:xfrm>
          <a:prstGeom prst="rect">
            <a:avLst/>
          </a:prstGeom>
          <a:noFill/>
          <a:ln>
            <a:noFill/>
          </a:ln>
        </p:spPr>
      </p:pic>
      <p:pic>
        <p:nvPicPr>
          <p:cNvPr descr="image.png" id="250" name="Google Shape;250;p16"/>
          <p:cNvPicPr preferRelativeResize="0"/>
          <p:nvPr/>
        </p:nvPicPr>
        <p:blipFill rotWithShape="1">
          <a:blip r:embed="rId19">
            <a:alphaModFix/>
          </a:blip>
          <a:srcRect b="0" l="0" r="0" t="0"/>
          <a:stretch/>
        </p:blipFill>
        <p:spPr>
          <a:xfrm>
            <a:off x="4854475" y="2516385"/>
            <a:ext cx="475505" cy="152400"/>
          </a:xfrm>
          <a:prstGeom prst="rect">
            <a:avLst/>
          </a:prstGeom>
          <a:noFill/>
          <a:ln>
            <a:noFill/>
          </a:ln>
        </p:spPr>
      </p:pic>
      <p:pic>
        <p:nvPicPr>
          <p:cNvPr descr="image.png" id="251" name="Google Shape;251;p16"/>
          <p:cNvPicPr preferRelativeResize="0"/>
          <p:nvPr/>
        </p:nvPicPr>
        <p:blipFill rotWithShape="1">
          <a:blip r:embed="rId13">
            <a:alphaModFix/>
          </a:blip>
          <a:srcRect b="0" l="0" r="0" t="0"/>
          <a:stretch/>
        </p:blipFill>
        <p:spPr>
          <a:xfrm>
            <a:off x="6435923" y="2516385"/>
            <a:ext cx="475505" cy="152400"/>
          </a:xfrm>
          <a:prstGeom prst="rect">
            <a:avLst/>
          </a:prstGeom>
          <a:noFill/>
          <a:ln>
            <a:noFill/>
          </a:ln>
        </p:spPr>
      </p:pic>
      <p:pic>
        <p:nvPicPr>
          <p:cNvPr descr="image.png" id="252" name="Google Shape;252;p16"/>
          <p:cNvPicPr preferRelativeResize="0"/>
          <p:nvPr/>
        </p:nvPicPr>
        <p:blipFill rotWithShape="1">
          <a:blip r:embed="rId19">
            <a:alphaModFix/>
          </a:blip>
          <a:srcRect b="0" l="0" r="0" t="0"/>
          <a:stretch/>
        </p:blipFill>
        <p:spPr>
          <a:xfrm>
            <a:off x="8017371" y="2516385"/>
            <a:ext cx="475505" cy="152400"/>
          </a:xfrm>
          <a:prstGeom prst="rect">
            <a:avLst/>
          </a:prstGeom>
          <a:noFill/>
          <a:ln>
            <a:noFill/>
          </a:ln>
        </p:spPr>
      </p:pic>
      <p:pic>
        <p:nvPicPr>
          <p:cNvPr descr="image.png" id="253" name="Google Shape;253;p16"/>
          <p:cNvPicPr preferRelativeResize="0"/>
          <p:nvPr/>
        </p:nvPicPr>
        <p:blipFill rotWithShape="1">
          <a:blip r:embed="rId11">
            <a:alphaModFix/>
          </a:blip>
          <a:srcRect b="0" l="0" r="0" t="0"/>
          <a:stretch/>
        </p:blipFill>
        <p:spPr>
          <a:xfrm>
            <a:off x="9598818" y="2516385"/>
            <a:ext cx="475505" cy="152400"/>
          </a:xfrm>
          <a:prstGeom prst="rect">
            <a:avLst/>
          </a:prstGeom>
          <a:noFill/>
          <a:ln>
            <a:noFill/>
          </a:ln>
        </p:spPr>
      </p:pic>
      <p:pic>
        <p:nvPicPr>
          <p:cNvPr descr="image.png" id="254" name="Google Shape;254;p16"/>
          <p:cNvPicPr preferRelativeResize="0"/>
          <p:nvPr/>
        </p:nvPicPr>
        <p:blipFill rotWithShape="1">
          <a:blip r:embed="rId15">
            <a:alphaModFix/>
          </a:blip>
          <a:srcRect b="0" l="0" r="0" t="0"/>
          <a:stretch/>
        </p:blipFill>
        <p:spPr>
          <a:xfrm>
            <a:off x="3273028" y="2840235"/>
            <a:ext cx="475505" cy="152400"/>
          </a:xfrm>
          <a:prstGeom prst="rect">
            <a:avLst/>
          </a:prstGeom>
          <a:noFill/>
          <a:ln>
            <a:noFill/>
          </a:ln>
        </p:spPr>
      </p:pic>
      <p:pic>
        <p:nvPicPr>
          <p:cNvPr descr="image.png" id="255" name="Google Shape;255;p16"/>
          <p:cNvPicPr preferRelativeResize="0"/>
          <p:nvPr/>
        </p:nvPicPr>
        <p:blipFill rotWithShape="1">
          <a:blip r:embed="rId18">
            <a:alphaModFix/>
          </a:blip>
          <a:srcRect b="0" l="0" r="0" t="0"/>
          <a:stretch/>
        </p:blipFill>
        <p:spPr>
          <a:xfrm>
            <a:off x="4854475" y="2840235"/>
            <a:ext cx="475505" cy="152400"/>
          </a:xfrm>
          <a:prstGeom prst="rect">
            <a:avLst/>
          </a:prstGeom>
          <a:noFill/>
          <a:ln>
            <a:noFill/>
          </a:ln>
        </p:spPr>
      </p:pic>
      <p:pic>
        <p:nvPicPr>
          <p:cNvPr descr="image.png" id="256" name="Google Shape;256;p16"/>
          <p:cNvPicPr preferRelativeResize="0"/>
          <p:nvPr/>
        </p:nvPicPr>
        <p:blipFill rotWithShape="1">
          <a:blip r:embed="rId16">
            <a:alphaModFix/>
          </a:blip>
          <a:srcRect b="0" l="0" r="0" t="0"/>
          <a:stretch/>
        </p:blipFill>
        <p:spPr>
          <a:xfrm>
            <a:off x="6435923" y="2840235"/>
            <a:ext cx="475505" cy="152400"/>
          </a:xfrm>
          <a:prstGeom prst="rect">
            <a:avLst/>
          </a:prstGeom>
          <a:noFill/>
          <a:ln>
            <a:noFill/>
          </a:ln>
        </p:spPr>
      </p:pic>
      <p:pic>
        <p:nvPicPr>
          <p:cNvPr descr="image.png" id="257" name="Google Shape;257;p16"/>
          <p:cNvPicPr preferRelativeResize="0"/>
          <p:nvPr/>
        </p:nvPicPr>
        <p:blipFill rotWithShape="1">
          <a:blip r:embed="rId17">
            <a:alphaModFix/>
          </a:blip>
          <a:srcRect b="0" l="0" r="0" t="0"/>
          <a:stretch/>
        </p:blipFill>
        <p:spPr>
          <a:xfrm>
            <a:off x="8017371" y="2840235"/>
            <a:ext cx="475505" cy="152400"/>
          </a:xfrm>
          <a:prstGeom prst="rect">
            <a:avLst/>
          </a:prstGeom>
          <a:noFill/>
          <a:ln>
            <a:noFill/>
          </a:ln>
        </p:spPr>
      </p:pic>
      <p:pic>
        <p:nvPicPr>
          <p:cNvPr descr="image.png" id="258" name="Google Shape;258;p16"/>
          <p:cNvPicPr preferRelativeResize="0"/>
          <p:nvPr/>
        </p:nvPicPr>
        <p:blipFill rotWithShape="1">
          <a:blip r:embed="rId18">
            <a:alphaModFix/>
          </a:blip>
          <a:srcRect b="0" l="0" r="0" t="0"/>
          <a:stretch/>
        </p:blipFill>
        <p:spPr>
          <a:xfrm>
            <a:off x="9598818" y="2840235"/>
            <a:ext cx="475505" cy="152400"/>
          </a:xfrm>
          <a:prstGeom prst="rect">
            <a:avLst/>
          </a:prstGeom>
          <a:noFill/>
          <a:ln>
            <a:noFill/>
          </a:ln>
        </p:spPr>
      </p:pic>
      <p:pic>
        <p:nvPicPr>
          <p:cNvPr descr="image.png" id="259" name="Google Shape;259;p16"/>
          <p:cNvPicPr preferRelativeResize="0"/>
          <p:nvPr/>
        </p:nvPicPr>
        <p:blipFill rotWithShape="1">
          <a:blip r:embed="rId20">
            <a:alphaModFix/>
          </a:blip>
          <a:srcRect b="0" l="0" r="0" t="0"/>
          <a:stretch/>
        </p:blipFill>
        <p:spPr>
          <a:xfrm>
            <a:off x="3273028" y="3164085"/>
            <a:ext cx="475505" cy="152400"/>
          </a:xfrm>
          <a:prstGeom prst="rect">
            <a:avLst/>
          </a:prstGeom>
          <a:noFill/>
          <a:ln>
            <a:noFill/>
          </a:ln>
        </p:spPr>
      </p:pic>
      <p:pic>
        <p:nvPicPr>
          <p:cNvPr descr="image.png" id="260" name="Google Shape;260;p16"/>
          <p:cNvPicPr preferRelativeResize="0"/>
          <p:nvPr/>
        </p:nvPicPr>
        <p:blipFill rotWithShape="1">
          <a:blip r:embed="rId20">
            <a:alphaModFix/>
          </a:blip>
          <a:srcRect b="0" l="0" r="0" t="0"/>
          <a:stretch/>
        </p:blipFill>
        <p:spPr>
          <a:xfrm>
            <a:off x="4854475" y="3164085"/>
            <a:ext cx="475505" cy="152400"/>
          </a:xfrm>
          <a:prstGeom prst="rect">
            <a:avLst/>
          </a:prstGeom>
          <a:noFill/>
          <a:ln>
            <a:noFill/>
          </a:ln>
        </p:spPr>
      </p:pic>
      <p:pic>
        <p:nvPicPr>
          <p:cNvPr descr="image.png" id="261" name="Google Shape;261;p16"/>
          <p:cNvPicPr preferRelativeResize="0"/>
          <p:nvPr/>
        </p:nvPicPr>
        <p:blipFill rotWithShape="1">
          <a:blip r:embed="rId21">
            <a:alphaModFix/>
          </a:blip>
          <a:srcRect b="0" l="0" r="0" t="0"/>
          <a:stretch/>
        </p:blipFill>
        <p:spPr>
          <a:xfrm>
            <a:off x="6435923" y="3164085"/>
            <a:ext cx="475505" cy="152400"/>
          </a:xfrm>
          <a:prstGeom prst="rect">
            <a:avLst/>
          </a:prstGeom>
          <a:noFill/>
          <a:ln>
            <a:noFill/>
          </a:ln>
        </p:spPr>
      </p:pic>
      <p:pic>
        <p:nvPicPr>
          <p:cNvPr descr="image.png" id="262" name="Google Shape;262;p16"/>
          <p:cNvPicPr preferRelativeResize="0"/>
          <p:nvPr/>
        </p:nvPicPr>
        <p:blipFill rotWithShape="1">
          <a:blip r:embed="rId20">
            <a:alphaModFix/>
          </a:blip>
          <a:srcRect b="0" l="0" r="0" t="0"/>
          <a:stretch/>
        </p:blipFill>
        <p:spPr>
          <a:xfrm>
            <a:off x="8017371" y="3164085"/>
            <a:ext cx="475505" cy="152400"/>
          </a:xfrm>
          <a:prstGeom prst="rect">
            <a:avLst/>
          </a:prstGeom>
          <a:noFill/>
          <a:ln>
            <a:noFill/>
          </a:ln>
        </p:spPr>
      </p:pic>
      <p:pic>
        <p:nvPicPr>
          <p:cNvPr descr="image.png" id="263" name="Google Shape;263;p16"/>
          <p:cNvPicPr preferRelativeResize="0"/>
          <p:nvPr/>
        </p:nvPicPr>
        <p:blipFill rotWithShape="1">
          <a:blip r:embed="rId22">
            <a:alphaModFix/>
          </a:blip>
          <a:srcRect b="0" l="0" r="0" t="0"/>
          <a:stretch/>
        </p:blipFill>
        <p:spPr>
          <a:xfrm>
            <a:off x="9598818" y="3164085"/>
            <a:ext cx="475505" cy="152400"/>
          </a:xfrm>
          <a:prstGeom prst="rect">
            <a:avLst/>
          </a:prstGeom>
          <a:noFill/>
          <a:ln>
            <a:noFill/>
          </a:ln>
        </p:spPr>
      </p:pic>
      <p:sp>
        <p:nvSpPr>
          <p:cNvPr id="264" name="Google Shape;264;p16"/>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研究版图：四类研究形成基础，关键接口仍碎片化</a:t>
            </a:r>
            <a:endParaRPr/>
          </a:p>
        </p:txBody>
      </p:sp>
      <p:sp>
        <p:nvSpPr>
          <p:cNvPr id="265" name="Google Shape;265;p16"/>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pic>
        <p:nvPicPr>
          <p:cNvPr descr="image.png" id="270" name="Google Shape;270;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71" name="Google Shape;271;p17"/>
          <p:cNvPicPr preferRelativeResize="0"/>
          <p:nvPr/>
        </p:nvPicPr>
        <p:blipFill rotWithShape="1">
          <a:blip r:embed="rId4">
            <a:alphaModFix/>
          </a:blip>
          <a:srcRect b="0" l="0" r="0" t="0"/>
          <a:stretch/>
        </p:blipFill>
        <p:spPr>
          <a:xfrm>
            <a:off x="438150" y="2666107"/>
            <a:ext cx="11315700" cy="581025"/>
          </a:xfrm>
          <a:prstGeom prst="rect">
            <a:avLst/>
          </a:prstGeom>
          <a:noFill/>
          <a:ln>
            <a:noFill/>
          </a:ln>
        </p:spPr>
      </p:pic>
      <p:pic>
        <p:nvPicPr>
          <p:cNvPr descr="image.png" id="272" name="Google Shape;272;p17"/>
          <p:cNvPicPr preferRelativeResize="0"/>
          <p:nvPr/>
        </p:nvPicPr>
        <p:blipFill rotWithShape="1">
          <a:blip r:embed="rId5">
            <a:alphaModFix/>
          </a:blip>
          <a:srcRect b="0" l="0" r="0" t="0"/>
          <a:stretch/>
        </p:blipFill>
        <p:spPr>
          <a:xfrm>
            <a:off x="438150" y="3380482"/>
            <a:ext cx="11315700" cy="609600"/>
          </a:xfrm>
          <a:prstGeom prst="rect">
            <a:avLst/>
          </a:prstGeom>
          <a:noFill/>
          <a:ln>
            <a:noFill/>
          </a:ln>
        </p:spPr>
      </p:pic>
      <p:pic>
        <p:nvPicPr>
          <p:cNvPr descr="image.png" id="273" name="Google Shape;273;p17"/>
          <p:cNvPicPr preferRelativeResize="0"/>
          <p:nvPr/>
        </p:nvPicPr>
        <p:blipFill rotWithShape="1">
          <a:blip r:embed="rId6">
            <a:alphaModFix/>
          </a:blip>
          <a:srcRect b="0" l="0" r="0" t="0"/>
          <a:stretch/>
        </p:blipFill>
        <p:spPr>
          <a:xfrm>
            <a:off x="438150" y="1468635"/>
            <a:ext cx="3682900" cy="1045071"/>
          </a:xfrm>
          <a:prstGeom prst="rect">
            <a:avLst/>
          </a:prstGeom>
          <a:noFill/>
          <a:ln>
            <a:noFill/>
          </a:ln>
        </p:spPr>
      </p:pic>
      <p:pic>
        <p:nvPicPr>
          <p:cNvPr descr="image.png" id="274" name="Google Shape;274;p17"/>
          <p:cNvPicPr preferRelativeResize="0"/>
          <p:nvPr/>
        </p:nvPicPr>
        <p:blipFill rotWithShape="1">
          <a:blip r:embed="rId7">
            <a:alphaModFix/>
          </a:blip>
          <a:srcRect b="0" l="0" r="0" t="0"/>
          <a:stretch/>
        </p:blipFill>
        <p:spPr>
          <a:xfrm>
            <a:off x="4254400" y="1468635"/>
            <a:ext cx="3683049" cy="1045071"/>
          </a:xfrm>
          <a:prstGeom prst="rect">
            <a:avLst/>
          </a:prstGeom>
          <a:noFill/>
          <a:ln>
            <a:noFill/>
          </a:ln>
        </p:spPr>
      </p:pic>
      <p:pic>
        <p:nvPicPr>
          <p:cNvPr descr="image.png" id="275" name="Google Shape;275;p17"/>
          <p:cNvPicPr preferRelativeResize="0"/>
          <p:nvPr/>
        </p:nvPicPr>
        <p:blipFill rotWithShape="1">
          <a:blip r:embed="rId8">
            <a:alphaModFix/>
          </a:blip>
          <a:srcRect b="0" l="0" r="0" t="0"/>
          <a:stretch/>
        </p:blipFill>
        <p:spPr>
          <a:xfrm>
            <a:off x="8070800" y="1468635"/>
            <a:ext cx="3682900" cy="1045071"/>
          </a:xfrm>
          <a:prstGeom prst="rect">
            <a:avLst/>
          </a:prstGeom>
          <a:noFill/>
          <a:ln>
            <a:noFill/>
          </a:ln>
        </p:spPr>
      </p:pic>
      <p:pic>
        <p:nvPicPr>
          <p:cNvPr descr="image.png" id="276" name="Google Shape;276;p17"/>
          <p:cNvPicPr preferRelativeResize="0"/>
          <p:nvPr/>
        </p:nvPicPr>
        <p:blipFill rotWithShape="1">
          <a:blip r:embed="rId9">
            <a:alphaModFix/>
          </a:blip>
          <a:srcRect b="0" l="0" r="0" t="0"/>
          <a:stretch/>
        </p:blipFill>
        <p:spPr>
          <a:xfrm>
            <a:off x="600075" y="2789932"/>
            <a:ext cx="2555825" cy="333375"/>
          </a:xfrm>
          <a:prstGeom prst="rect">
            <a:avLst/>
          </a:prstGeom>
          <a:noFill/>
          <a:ln>
            <a:noFill/>
          </a:ln>
        </p:spPr>
      </p:pic>
      <p:pic>
        <p:nvPicPr>
          <p:cNvPr descr="image.png" id="277" name="Google Shape;277;p17"/>
          <p:cNvPicPr preferRelativeResize="0"/>
          <p:nvPr/>
        </p:nvPicPr>
        <p:blipFill rotWithShape="1">
          <a:blip r:embed="rId9">
            <a:alphaModFix/>
          </a:blip>
          <a:srcRect b="0" l="0" r="0" t="0"/>
          <a:stretch/>
        </p:blipFill>
        <p:spPr>
          <a:xfrm>
            <a:off x="3412033" y="2789932"/>
            <a:ext cx="2555825" cy="333375"/>
          </a:xfrm>
          <a:prstGeom prst="rect">
            <a:avLst/>
          </a:prstGeom>
          <a:noFill/>
          <a:ln>
            <a:noFill/>
          </a:ln>
        </p:spPr>
      </p:pic>
      <p:pic>
        <p:nvPicPr>
          <p:cNvPr descr="image.png" id="278" name="Google Shape;278;p17"/>
          <p:cNvPicPr preferRelativeResize="0"/>
          <p:nvPr/>
        </p:nvPicPr>
        <p:blipFill rotWithShape="1">
          <a:blip r:embed="rId9">
            <a:alphaModFix/>
          </a:blip>
          <a:srcRect b="0" l="0" r="0" t="0"/>
          <a:stretch/>
        </p:blipFill>
        <p:spPr>
          <a:xfrm>
            <a:off x="6223992" y="2789932"/>
            <a:ext cx="2555825" cy="333375"/>
          </a:xfrm>
          <a:prstGeom prst="rect">
            <a:avLst/>
          </a:prstGeom>
          <a:noFill/>
          <a:ln>
            <a:noFill/>
          </a:ln>
        </p:spPr>
      </p:pic>
      <p:pic>
        <p:nvPicPr>
          <p:cNvPr descr="image.png" id="279" name="Google Shape;279;p17"/>
          <p:cNvPicPr preferRelativeResize="0"/>
          <p:nvPr/>
        </p:nvPicPr>
        <p:blipFill rotWithShape="1">
          <a:blip r:embed="rId10">
            <a:alphaModFix/>
          </a:blip>
          <a:srcRect b="0" l="0" r="0" t="0"/>
          <a:stretch/>
        </p:blipFill>
        <p:spPr>
          <a:xfrm>
            <a:off x="9035950" y="2789932"/>
            <a:ext cx="2555825" cy="333375"/>
          </a:xfrm>
          <a:prstGeom prst="rect">
            <a:avLst/>
          </a:prstGeom>
          <a:noFill/>
          <a:ln>
            <a:noFill/>
          </a:ln>
        </p:spPr>
      </p:pic>
      <p:pic>
        <p:nvPicPr>
          <p:cNvPr descr="image.png" id="280" name="Google Shape;280;p17"/>
          <p:cNvPicPr preferRelativeResize="0"/>
          <p:nvPr/>
        </p:nvPicPr>
        <p:blipFill rotWithShape="1">
          <a:blip r:embed="rId11">
            <a:alphaModFix/>
          </a:blip>
          <a:srcRect b="0" l="0" r="0" t="0"/>
          <a:stretch/>
        </p:blipFill>
        <p:spPr>
          <a:xfrm>
            <a:off x="438150" y="6515100"/>
            <a:ext cx="11315700" cy="228600"/>
          </a:xfrm>
          <a:prstGeom prst="rect">
            <a:avLst/>
          </a:prstGeom>
          <a:noFill/>
          <a:ln>
            <a:noFill/>
          </a:ln>
        </p:spPr>
      </p:pic>
      <p:pic>
        <p:nvPicPr>
          <p:cNvPr descr="image.png" id="281" name="Google Shape;281;p17"/>
          <p:cNvPicPr preferRelativeResize="0"/>
          <p:nvPr/>
        </p:nvPicPr>
        <p:blipFill rotWithShape="1">
          <a:blip r:embed="rId12">
            <a:alphaModFix/>
          </a:blip>
          <a:srcRect b="0" l="0" r="0" t="0"/>
          <a:stretch/>
        </p:blipFill>
        <p:spPr>
          <a:xfrm>
            <a:off x="11060310" y="328612"/>
            <a:ext cx="693539" cy="180975"/>
          </a:xfrm>
          <a:prstGeom prst="rect">
            <a:avLst/>
          </a:prstGeom>
          <a:noFill/>
          <a:ln>
            <a:noFill/>
          </a:ln>
        </p:spPr>
      </p:pic>
      <p:sp>
        <p:nvSpPr>
          <p:cNvPr id="282" name="Google Shape;282;p17"/>
          <p:cNvSpPr txBox="1"/>
          <p:nvPr/>
        </p:nvSpPr>
        <p:spPr>
          <a:xfrm>
            <a:off x="438150" y="1192410"/>
            <a:ext cx="113157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37" u="none" cap="none" strike="noStrike">
                <a:solidFill>
                  <a:srgbClr val="64748B"/>
                </a:solidFill>
                <a:latin typeface="Noto Sans SC"/>
                <a:ea typeface="Noto Sans SC"/>
                <a:cs typeface="Noto Sans SC"/>
                <a:sym typeface="Noto Sans SC"/>
              </a:rPr>
              <a:t>模型、CAWCC、反事实与敏感性分析，都服务于对这条核心命题的检验：</a:t>
            </a:r>
            <a:endParaRPr/>
          </a:p>
        </p:txBody>
      </p:sp>
      <p:sp>
        <p:nvSpPr>
          <p:cNvPr id="283" name="Google Shape;283;p17"/>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284" name="Google Shape;284;p17"/>
          <p:cNvSpPr txBox="1"/>
          <p:nvPr/>
        </p:nvSpPr>
        <p:spPr>
          <a:xfrm>
            <a:off x="10659070" y="6615112"/>
            <a:ext cx="1094779"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04 / CENTRAL THESIS</a:t>
            </a:r>
            <a:endParaRPr/>
          </a:p>
        </p:txBody>
      </p:sp>
      <p:pic>
        <p:nvPicPr>
          <p:cNvPr descr="image.png" id="285" name="Google Shape;285;p17"/>
          <p:cNvPicPr preferRelativeResize="0"/>
          <p:nvPr/>
        </p:nvPicPr>
        <p:blipFill rotWithShape="1">
          <a:blip r:embed="rId13">
            <a:alphaModFix/>
          </a:blip>
          <a:srcRect b="0" l="0" r="0" t="0"/>
          <a:stretch/>
        </p:blipFill>
        <p:spPr>
          <a:xfrm>
            <a:off x="438150" y="323850"/>
            <a:ext cx="1664940" cy="190500"/>
          </a:xfrm>
          <a:prstGeom prst="rect">
            <a:avLst/>
          </a:prstGeom>
          <a:noFill/>
          <a:ln>
            <a:noFill/>
          </a:ln>
        </p:spPr>
      </p:pic>
      <p:sp>
        <p:nvSpPr>
          <p:cNvPr id="286" name="Google Shape;286;p17"/>
          <p:cNvSpPr txBox="1"/>
          <p:nvPr/>
        </p:nvSpPr>
        <p:spPr>
          <a:xfrm>
            <a:off x="628650" y="3485257"/>
            <a:ext cx="109632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JetBrains Mono"/>
                <a:ea typeface="JetBrains Mono"/>
                <a:cs typeface="JetBrains Mono"/>
                <a:sym typeface="JetBrains Mono"/>
              </a:rPr>
              <a:t>M = mink Mk   |   Mk = (Ck,capacity - Qk,baseline) / Ck,capacity</a:t>
            </a:r>
            <a:endParaRPr/>
          </a:p>
        </p:txBody>
      </p:sp>
      <p:sp>
        <p:nvSpPr>
          <p:cNvPr id="287" name="Google Shape;287;p17"/>
          <p:cNvSpPr txBox="1"/>
          <p:nvPr/>
        </p:nvSpPr>
        <p:spPr>
          <a:xfrm>
            <a:off x="628650" y="3751957"/>
            <a:ext cx="3044428"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Noto Sans SC"/>
                <a:ea typeface="Noto Sans SC"/>
                <a:cs typeface="Noto Sans SC"/>
                <a:sym typeface="Noto Sans SC"/>
              </a:rPr>
              <a:t>系统最小归一化剩余裕度公式；瓶颈身份 k 另行独立记录与追踪。</a:t>
            </a:r>
            <a:endParaRPr/>
          </a:p>
        </p:txBody>
      </p:sp>
      <p:pic>
        <p:nvPicPr>
          <p:cNvPr descr="image.png" id="288" name="Google Shape;288;p17"/>
          <p:cNvPicPr preferRelativeResize="0"/>
          <p:nvPr/>
        </p:nvPicPr>
        <p:blipFill rotWithShape="1">
          <a:blip r:embed="rId14">
            <a:alphaModFix/>
          </a:blip>
          <a:srcRect b="0" l="0" r="0" t="0"/>
          <a:stretch/>
        </p:blipFill>
        <p:spPr>
          <a:xfrm>
            <a:off x="438150" y="6619875"/>
            <a:ext cx="81557" cy="104775"/>
          </a:xfrm>
          <a:prstGeom prst="rect">
            <a:avLst/>
          </a:prstGeom>
          <a:noFill/>
          <a:ln>
            <a:noFill/>
          </a:ln>
        </p:spPr>
      </p:pic>
      <p:pic>
        <p:nvPicPr>
          <p:cNvPr descr="image.png" id="289" name="Google Shape;289;p17"/>
          <p:cNvPicPr preferRelativeResize="0"/>
          <p:nvPr/>
        </p:nvPicPr>
        <p:blipFill rotWithShape="1">
          <a:blip r:embed="rId15">
            <a:alphaModFix/>
          </a:blip>
          <a:srcRect b="0" l="0" r="0" t="0"/>
          <a:stretch/>
        </p:blipFill>
        <p:spPr>
          <a:xfrm>
            <a:off x="542925" y="364331"/>
            <a:ext cx="92868" cy="109537"/>
          </a:xfrm>
          <a:prstGeom prst="rect">
            <a:avLst/>
          </a:prstGeom>
          <a:noFill/>
          <a:ln>
            <a:noFill/>
          </a:ln>
        </p:spPr>
      </p:pic>
      <p:sp>
        <p:nvSpPr>
          <p:cNvPr id="290" name="Google Shape;290;p17"/>
          <p:cNvSpPr txBox="1"/>
          <p:nvPr/>
        </p:nvSpPr>
        <p:spPr>
          <a:xfrm>
            <a:off x="600075" y="1611510"/>
            <a:ext cx="3359050" cy="39737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400" u="none" cap="none" strike="noStrike">
                <a:solidFill>
                  <a:srgbClr val="38BDF8"/>
                </a:solidFill>
                <a:latin typeface="Plus Jakarta Sans ExtraBold"/>
                <a:ea typeface="Plus Jakarta Sans ExtraBold"/>
                <a:cs typeface="Plus Jakarta Sans ExtraBold"/>
                <a:sym typeface="Plus Jakarta Sans ExtraBold"/>
              </a:rPr>
              <a:t>ρAI</a:t>
            </a:r>
            <a:endParaRPr/>
          </a:p>
        </p:txBody>
      </p:sp>
      <p:sp>
        <p:nvSpPr>
          <p:cNvPr id="291" name="Google Shape;291;p17"/>
          <p:cNvSpPr txBox="1"/>
          <p:nvPr/>
        </p:nvSpPr>
        <p:spPr>
          <a:xfrm>
            <a:off x="600075" y="2046982"/>
            <a:ext cx="33590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37" u="none" cap="none" strike="noStrike">
                <a:solidFill>
                  <a:srgbClr val="FFFFFF"/>
                </a:solidFill>
                <a:latin typeface="Noto Sans SC"/>
                <a:ea typeface="Noto Sans SC"/>
                <a:cs typeface="Noto Sans SC"/>
                <a:sym typeface="Noto Sans SC"/>
              </a:rPr>
              <a:t>AI 相对负荷</a:t>
            </a:r>
            <a:endParaRPr/>
          </a:p>
        </p:txBody>
      </p:sp>
      <p:sp>
        <p:nvSpPr>
          <p:cNvPr id="292" name="Google Shape;292;p17"/>
          <p:cNvSpPr txBox="1"/>
          <p:nvPr/>
        </p:nvSpPr>
        <p:spPr>
          <a:xfrm>
            <a:off x="600075" y="2227957"/>
            <a:ext cx="335905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93C5FD"/>
                </a:solidFill>
                <a:latin typeface="Noto Sans SC"/>
                <a:ea typeface="Noto Sans SC"/>
                <a:cs typeface="Noto Sans SC"/>
                <a:sym typeface="Noto Sans SC"/>
              </a:rPr>
              <a:t>AI 峰值 / 剩余给水能力</a:t>
            </a:r>
            <a:endParaRPr/>
          </a:p>
        </p:txBody>
      </p:sp>
      <p:sp>
        <p:nvSpPr>
          <p:cNvPr id="293" name="Google Shape;293;p17"/>
          <p:cNvSpPr txBox="1"/>
          <p:nvPr/>
        </p:nvSpPr>
        <p:spPr>
          <a:xfrm>
            <a:off x="4416325" y="1611510"/>
            <a:ext cx="3359199" cy="3351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400" u="none" cap="none" strike="noStrike">
                <a:solidFill>
                  <a:srgbClr val="FFFFFF"/>
                </a:solidFill>
                <a:latin typeface="Plus Jakarta Sans ExtraBold"/>
                <a:ea typeface="Plus Jakarta Sans ExtraBold"/>
                <a:cs typeface="Plus Jakarta Sans ExtraBold"/>
                <a:sym typeface="Plus Jakarta Sans ExtraBold"/>
              </a:rPr>
              <a:t>P</a:t>
            </a:r>
            <a:endParaRPr/>
          </a:p>
        </p:txBody>
      </p:sp>
      <p:sp>
        <p:nvSpPr>
          <p:cNvPr id="294" name="Google Shape;294;p17"/>
          <p:cNvSpPr txBox="1"/>
          <p:nvPr/>
        </p:nvSpPr>
        <p:spPr>
          <a:xfrm>
            <a:off x="4416325" y="1984771"/>
            <a:ext cx="3359199"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37" u="none" cap="none" strike="noStrike">
                <a:solidFill>
                  <a:srgbClr val="FFFFFF"/>
                </a:solidFill>
                <a:latin typeface="Noto Sans SC"/>
                <a:ea typeface="Noto Sans SC"/>
                <a:cs typeface="Noto Sans SC"/>
                <a:sym typeface="Noto Sans SC"/>
              </a:rPr>
              <a:t>峰值同步指数</a:t>
            </a:r>
            <a:endParaRPr/>
          </a:p>
        </p:txBody>
      </p:sp>
      <p:sp>
        <p:nvSpPr>
          <p:cNvPr id="295" name="Google Shape;295;p17"/>
          <p:cNvSpPr txBox="1"/>
          <p:nvPr/>
        </p:nvSpPr>
        <p:spPr>
          <a:xfrm>
            <a:off x="4416325" y="2165746"/>
            <a:ext cx="3359199"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E0F2FE"/>
                </a:solidFill>
                <a:latin typeface="Noto Sans SC"/>
                <a:ea typeface="Noto Sans SC"/>
                <a:cs typeface="Noto Sans SC"/>
                <a:sym typeface="Noto Sans SC"/>
              </a:rPr>
              <a:t>AI 冷却 × 城市需水 × 湿球温度</a:t>
            </a:r>
            <a:endParaRPr/>
          </a:p>
        </p:txBody>
      </p:sp>
      <p:sp>
        <p:nvSpPr>
          <p:cNvPr id="296" name="Google Shape;296;p17"/>
          <p:cNvSpPr txBox="1"/>
          <p:nvPr/>
        </p:nvSpPr>
        <p:spPr>
          <a:xfrm>
            <a:off x="8232725" y="1611510"/>
            <a:ext cx="3359050" cy="3351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400" u="none" cap="none" strike="noStrike">
                <a:solidFill>
                  <a:srgbClr val="38BDF8"/>
                </a:solidFill>
                <a:latin typeface="Plus Jakarta Sans ExtraBold"/>
                <a:ea typeface="Plus Jakarta Sans ExtraBold"/>
                <a:cs typeface="Plus Jakarta Sans ExtraBold"/>
                <a:sym typeface="Plus Jakarta Sans ExtraBold"/>
              </a:rPr>
              <a:t>M</a:t>
            </a:r>
            <a:endParaRPr/>
          </a:p>
        </p:txBody>
      </p:sp>
      <p:sp>
        <p:nvSpPr>
          <p:cNvPr id="297" name="Google Shape;297;p17"/>
          <p:cNvSpPr txBox="1"/>
          <p:nvPr/>
        </p:nvSpPr>
        <p:spPr>
          <a:xfrm>
            <a:off x="8232725" y="1984771"/>
            <a:ext cx="33590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37" u="none" cap="none" strike="noStrike">
                <a:solidFill>
                  <a:srgbClr val="FFFFFF"/>
                </a:solidFill>
                <a:latin typeface="Noto Sans SC"/>
                <a:ea typeface="Noto Sans SC"/>
                <a:cs typeface="Noto Sans SC"/>
                <a:sym typeface="Noto Sans SC"/>
              </a:rPr>
              <a:t>系统裕度</a:t>
            </a:r>
            <a:endParaRPr/>
          </a:p>
        </p:txBody>
      </p:sp>
      <p:sp>
        <p:nvSpPr>
          <p:cNvPr id="298" name="Google Shape;298;p17"/>
          <p:cNvSpPr txBox="1"/>
          <p:nvPr/>
        </p:nvSpPr>
        <p:spPr>
          <a:xfrm>
            <a:off x="8232725" y="2165746"/>
            <a:ext cx="3359050"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25" u="none" cap="none" strike="noStrike">
                <a:solidFill>
                  <a:srgbClr val="CBD5E1"/>
                </a:solidFill>
                <a:latin typeface="Noto Sans SC"/>
                <a:ea typeface="Noto Sans SC"/>
                <a:cs typeface="Noto Sans SC"/>
                <a:sym typeface="Noto Sans SC"/>
              </a:rPr>
              <a:t>水源 · WTP · WWTP · 再生水</a:t>
            </a:r>
            <a:endParaRPr/>
          </a:p>
        </p:txBody>
      </p:sp>
      <p:sp>
        <p:nvSpPr>
          <p:cNvPr id="299" name="Google Shape;299;p17"/>
          <p:cNvSpPr txBox="1"/>
          <p:nvPr/>
        </p:nvSpPr>
        <p:spPr>
          <a:xfrm>
            <a:off x="704850" y="2875657"/>
            <a:ext cx="234627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规模响应</a:t>
            </a:r>
            <a:endParaRPr/>
          </a:p>
        </p:txBody>
      </p:sp>
      <p:pic>
        <p:nvPicPr>
          <p:cNvPr descr="image.png" id="300" name="Google Shape;300;p17"/>
          <p:cNvPicPr preferRelativeResize="0"/>
          <p:nvPr/>
        </p:nvPicPr>
        <p:blipFill rotWithShape="1">
          <a:blip r:embed="rId16">
            <a:alphaModFix/>
          </a:blip>
          <a:srcRect b="0" l="0" r="0" t="0"/>
          <a:stretch/>
        </p:blipFill>
        <p:spPr>
          <a:xfrm>
            <a:off x="3232100" y="2899469"/>
            <a:ext cx="103733" cy="133350"/>
          </a:xfrm>
          <a:prstGeom prst="rect">
            <a:avLst/>
          </a:prstGeom>
          <a:noFill/>
          <a:ln>
            <a:noFill/>
          </a:ln>
        </p:spPr>
      </p:pic>
      <p:sp>
        <p:nvSpPr>
          <p:cNvPr id="301" name="Google Shape;301;p17"/>
          <p:cNvSpPr txBox="1"/>
          <p:nvPr/>
        </p:nvSpPr>
        <p:spPr>
          <a:xfrm>
            <a:off x="3516808" y="2875657"/>
            <a:ext cx="234627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结构重构</a:t>
            </a:r>
            <a:endParaRPr/>
          </a:p>
        </p:txBody>
      </p:sp>
      <p:pic>
        <p:nvPicPr>
          <p:cNvPr descr="image.png" id="302" name="Google Shape;302;p17"/>
          <p:cNvPicPr preferRelativeResize="0"/>
          <p:nvPr/>
        </p:nvPicPr>
        <p:blipFill rotWithShape="1">
          <a:blip r:embed="rId16">
            <a:alphaModFix/>
          </a:blip>
          <a:srcRect b="0" l="0" r="0" t="0"/>
          <a:stretch/>
        </p:blipFill>
        <p:spPr>
          <a:xfrm>
            <a:off x="6044058" y="2899469"/>
            <a:ext cx="103733" cy="133350"/>
          </a:xfrm>
          <a:prstGeom prst="rect">
            <a:avLst/>
          </a:prstGeom>
          <a:noFill/>
          <a:ln>
            <a:noFill/>
          </a:ln>
        </p:spPr>
      </p:pic>
      <p:sp>
        <p:nvSpPr>
          <p:cNvPr id="303" name="Google Shape;303;p17"/>
          <p:cNvSpPr txBox="1"/>
          <p:nvPr/>
        </p:nvSpPr>
        <p:spPr>
          <a:xfrm>
            <a:off x="6328767" y="2875657"/>
            <a:ext cx="234627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多时间尺度边界提前</a:t>
            </a:r>
            <a:endParaRPr/>
          </a:p>
        </p:txBody>
      </p:sp>
      <p:pic>
        <p:nvPicPr>
          <p:cNvPr descr="image.png" id="304" name="Google Shape;304;p17"/>
          <p:cNvPicPr preferRelativeResize="0"/>
          <p:nvPr/>
        </p:nvPicPr>
        <p:blipFill rotWithShape="1">
          <a:blip r:embed="rId16">
            <a:alphaModFix/>
          </a:blip>
          <a:srcRect b="0" l="0" r="0" t="0"/>
          <a:stretch/>
        </p:blipFill>
        <p:spPr>
          <a:xfrm>
            <a:off x="8856017" y="2899469"/>
            <a:ext cx="103733" cy="133350"/>
          </a:xfrm>
          <a:prstGeom prst="rect">
            <a:avLst/>
          </a:prstGeom>
          <a:noFill/>
          <a:ln>
            <a:noFill/>
          </a:ln>
        </p:spPr>
      </p:pic>
      <p:sp>
        <p:nvSpPr>
          <p:cNvPr id="305" name="Google Shape;305;p17"/>
          <p:cNvSpPr txBox="1"/>
          <p:nvPr/>
        </p:nvSpPr>
        <p:spPr>
          <a:xfrm>
            <a:off x="9140725" y="2875657"/>
            <a:ext cx="2346275"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369A1"/>
                </a:solidFill>
                <a:latin typeface="Noto Sans SC"/>
                <a:ea typeface="Noto Sans SC"/>
                <a:cs typeface="Noto Sans SC"/>
                <a:sym typeface="Noto Sans SC"/>
              </a:rPr>
              <a:t>主导瓶颈转换</a:t>
            </a:r>
            <a:endParaRPr/>
          </a:p>
        </p:txBody>
      </p:sp>
      <p:sp>
        <p:nvSpPr>
          <p:cNvPr id="306" name="Google Shape;306;p17"/>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核心判断：相对负荷、峰值同步与系统裕度共同控制状态跃迁</a:t>
            </a:r>
            <a:endParaRPr/>
          </a:p>
        </p:txBody>
      </p:sp>
      <p:sp>
        <p:nvSpPr>
          <p:cNvPr id="307" name="Google Shape;307;p17"/>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pic>
        <p:nvPicPr>
          <p:cNvPr descr="image.png" id="312" name="Google Shape;312;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3" name="Google Shape;313;p18"/>
          <p:cNvPicPr preferRelativeResize="0"/>
          <p:nvPr/>
        </p:nvPicPr>
        <p:blipFill rotWithShape="1">
          <a:blip r:embed="rId4">
            <a:alphaModFix/>
          </a:blip>
          <a:srcRect b="0" l="0" r="0" t="0"/>
          <a:stretch/>
        </p:blipFill>
        <p:spPr>
          <a:xfrm>
            <a:off x="438150" y="3024931"/>
            <a:ext cx="11315700" cy="597544"/>
          </a:xfrm>
          <a:prstGeom prst="rect">
            <a:avLst/>
          </a:prstGeom>
          <a:noFill/>
          <a:ln>
            <a:noFill/>
          </a:ln>
        </p:spPr>
      </p:pic>
      <p:pic>
        <p:nvPicPr>
          <p:cNvPr descr="image.png" id="314" name="Google Shape;314;p18"/>
          <p:cNvPicPr preferRelativeResize="0"/>
          <p:nvPr/>
        </p:nvPicPr>
        <p:blipFill rotWithShape="1">
          <a:blip r:embed="rId5">
            <a:alphaModFix/>
          </a:blip>
          <a:srcRect b="0" l="0" r="0" t="0"/>
          <a:stretch/>
        </p:blipFill>
        <p:spPr>
          <a:xfrm>
            <a:off x="438150" y="6515100"/>
            <a:ext cx="11315700" cy="228600"/>
          </a:xfrm>
          <a:prstGeom prst="rect">
            <a:avLst/>
          </a:prstGeom>
          <a:noFill/>
          <a:ln>
            <a:noFill/>
          </a:ln>
        </p:spPr>
      </p:pic>
      <p:pic>
        <p:nvPicPr>
          <p:cNvPr descr="image.png" id="315" name="Google Shape;315;p18"/>
          <p:cNvPicPr preferRelativeResize="0"/>
          <p:nvPr/>
        </p:nvPicPr>
        <p:blipFill rotWithShape="1">
          <a:blip r:embed="rId6">
            <a:alphaModFix/>
          </a:blip>
          <a:srcRect b="0" l="0" r="0" t="0"/>
          <a:stretch/>
        </p:blipFill>
        <p:spPr>
          <a:xfrm>
            <a:off x="11060310" y="328612"/>
            <a:ext cx="693539" cy="180975"/>
          </a:xfrm>
          <a:prstGeom prst="rect">
            <a:avLst/>
          </a:prstGeom>
          <a:noFill/>
          <a:ln>
            <a:noFill/>
          </a:ln>
        </p:spPr>
      </p:pic>
      <p:graphicFrame>
        <p:nvGraphicFramePr>
          <p:cNvPr id="316" name="Google Shape;316;p18"/>
          <p:cNvGraphicFramePr/>
          <p:nvPr/>
        </p:nvGraphicFramePr>
        <p:xfrm>
          <a:off x="438150" y="1192410"/>
          <a:ext cx="3000000" cy="3000000"/>
        </p:xfrm>
        <a:graphic>
          <a:graphicData uri="http://schemas.openxmlformats.org/drawingml/2006/table">
            <a:tbl>
              <a:tblPr bandRow="1" firstRow="1">
                <a:noFill/>
                <a:tableStyleId>{B4E001E9-BA96-4B7F-91D8-A5F58F78CBA2}</a:tableStyleId>
              </a:tblPr>
              <a:tblGrid>
                <a:gridCol w="2824150"/>
                <a:gridCol w="5083375"/>
                <a:gridCol w="3389125"/>
              </a:tblGrid>
              <a:tr h="429550">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科学问题</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机制假设 (可证伪)</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关键实验检验设计</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429550">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Q1 结构重构何时发生？</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H1：</a:t>
                      </a:r>
                      <a:r>
                        <a:rPr b="0" i="0" lang="en-US" sz="900" u="none" cap="none" strike="noStrike">
                          <a:solidFill>
                            <a:srgbClr val="334155"/>
                          </a:solidFill>
                          <a:latin typeface="Noto Sans SC"/>
                          <a:ea typeface="Noto Sans SC"/>
                          <a:cs typeface="Noto Sans SC"/>
                          <a:sym typeface="Noto Sans SC"/>
                        </a:rPr>
                        <a:t>AI相对负荷接近设施剩余裕度并改变再生水配置后，路径比例出现阈值转折。</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Capacity Gradient</a:t>
                      </a:r>
                      <a:br>
                        <a:rPr lang="en-US" sz="1800" u="none" cap="none" strike="noStrike">
                          <a:solidFill>
                            <a:schemeClr val="dk1"/>
                          </a:solidFill>
                          <a:latin typeface="Calibri"/>
                          <a:ea typeface="Calibri"/>
                          <a:cs typeface="Calibri"/>
                          <a:sym typeface="Calibri"/>
                        </a:rPr>
                      </a:br>
                      <a:br>
                        <a:rPr b="0" i="0" lang="en-US" sz="900" u="none" cap="none" strike="noStrike">
                          <a:solidFill>
                            <a:srgbClr val="334155"/>
                          </a:solidFill>
                          <a:latin typeface="Noto Sans SC"/>
                          <a:ea typeface="Noto Sans SC"/>
                          <a:cs typeface="Noto Sans SC"/>
                          <a:sym typeface="Noto Sans SC"/>
                        </a:rPr>
                      </a:br>
                      <a:r>
                        <a:rPr b="0" i="0" lang="en-US" sz="900" u="none" cap="none" strike="noStrike">
                          <a:solidFill>
                            <a:srgbClr val="334155"/>
                          </a:solidFill>
                          <a:latin typeface="Noto Sans SC"/>
                          <a:ea typeface="Noto Sans SC"/>
                          <a:cs typeface="Noto Sans SC"/>
                          <a:sym typeface="Noto Sans SC"/>
                        </a:rPr>
                        <a:t>        结构距离 Dstructure 检验</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429550">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Q2 边界为何提前？</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H2：</a:t>
                      </a:r>
                      <a:r>
                        <a:rPr b="0" i="0" lang="en-US" sz="900" u="none" cap="none" strike="noStrike">
                          <a:solidFill>
                            <a:srgbClr val="334155"/>
                          </a:solidFill>
                          <a:latin typeface="Noto Sans SC"/>
                          <a:ea typeface="Noto Sans SC"/>
                          <a:cs typeface="Noto Sans SC"/>
                          <a:sym typeface="Noto Sans SC"/>
                        </a:rPr>
                        <a:t>峰值同步 (P) 是年均—日—极端小时边界差异的核心控制量，造成“平均安全而峰值失稳”。</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Phase-Shift / Block-Shift</a:t>
                      </a:r>
                      <a:br>
                        <a:rPr lang="en-US" sz="1800" u="none" cap="none" strike="noStrike">
                          <a:solidFill>
                            <a:schemeClr val="dk1"/>
                          </a:solidFill>
                          <a:latin typeface="Calibri"/>
                          <a:ea typeface="Calibri"/>
                          <a:cs typeface="Calibri"/>
                          <a:sym typeface="Calibri"/>
                        </a:rPr>
                      </a:br>
                      <a:br>
                        <a:rPr b="0" i="0" lang="en-US" sz="900" u="none" cap="none" strike="noStrike">
                          <a:solidFill>
                            <a:srgbClr val="334155"/>
                          </a:solidFill>
                          <a:latin typeface="Noto Sans SC"/>
                          <a:ea typeface="Noto Sans SC"/>
                          <a:cs typeface="Noto Sans SC"/>
                          <a:sym typeface="Noto Sans SC"/>
                        </a:rPr>
                      </a:br>
                      <a:r>
                        <a:rPr b="0" i="0" lang="en-US" sz="900" u="none" cap="none" strike="noStrike">
                          <a:solidFill>
                            <a:srgbClr val="334155"/>
                          </a:solidFill>
                          <a:latin typeface="Noto Sans SC"/>
                          <a:ea typeface="Noto Sans SC"/>
                          <a:cs typeface="Noto Sans SC"/>
                          <a:sym typeface="Noto Sans SC"/>
                        </a:rPr>
                        <a:t>        反事实实验与 Peak Coincidence Index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29550">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Q3 瓶颈为何迁移？</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H3：</a:t>
                      </a:r>
                      <a:r>
                        <a:rPr b="0" i="0" lang="en-US" sz="900" u="none" cap="none" strike="noStrike">
                          <a:solidFill>
                            <a:srgbClr val="334155"/>
                          </a:solidFill>
                          <a:latin typeface="Noto Sans SC"/>
                          <a:ea typeface="Noto Sans SC"/>
                          <a:cs typeface="Noto Sans SC"/>
                          <a:sym typeface="Noto Sans SC"/>
                        </a:rPr>
                        <a:t>干预会移动约束集合中的绑定环节，边际收益在状态切换（相图边界）处发生转折。</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Constraint-Release</a:t>
                      </a:r>
                      <a:br>
                        <a:rPr lang="en-US" sz="1800" u="none" cap="none" strike="noStrike">
                          <a:solidFill>
                            <a:schemeClr val="dk1"/>
                          </a:solidFill>
                          <a:latin typeface="Calibri"/>
                          <a:ea typeface="Calibri"/>
                          <a:cs typeface="Calibri"/>
                          <a:sym typeface="Calibri"/>
                        </a:rPr>
                      </a:br>
                      <a:br>
                        <a:rPr b="0" i="0" lang="en-US" sz="900" u="none" cap="none" strike="noStrike">
                          <a:solidFill>
                            <a:srgbClr val="334155"/>
                          </a:solidFill>
                          <a:latin typeface="Noto Sans SC"/>
                          <a:ea typeface="Noto Sans SC"/>
                          <a:cs typeface="Noto Sans SC"/>
                          <a:sym typeface="Noto Sans SC"/>
                        </a:rPr>
                      </a:br>
                      <a:r>
                        <a:rPr b="0" i="0" lang="en-US" sz="900" u="none" cap="none" strike="noStrike">
                          <a:solidFill>
                            <a:srgbClr val="334155"/>
                          </a:solidFill>
                          <a:latin typeface="Noto Sans SC"/>
                          <a:ea typeface="Noto Sans SC"/>
                          <a:cs typeface="Noto Sans SC"/>
                          <a:sym typeface="Noto Sans SC"/>
                        </a:rPr>
                        <a:t>        约束解除实验与瓶颈相图</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317" name="Google Shape;317;p18"/>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318" name="Google Shape;318;p18"/>
          <p:cNvSpPr txBox="1"/>
          <p:nvPr/>
        </p:nvSpPr>
        <p:spPr>
          <a:xfrm>
            <a:off x="10088612" y="6615112"/>
            <a:ext cx="1665237"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05 / QUESTIONS &amp; HYPOTHESES</a:t>
            </a:r>
            <a:endParaRPr/>
          </a:p>
        </p:txBody>
      </p:sp>
      <p:pic>
        <p:nvPicPr>
          <p:cNvPr descr="image.png" id="319" name="Google Shape;319;p18"/>
          <p:cNvPicPr preferRelativeResize="0"/>
          <p:nvPr/>
        </p:nvPicPr>
        <p:blipFill rotWithShape="1">
          <a:blip r:embed="rId7">
            <a:alphaModFix/>
          </a:blip>
          <a:srcRect b="0" l="0" r="0" t="0"/>
          <a:stretch/>
        </p:blipFill>
        <p:spPr>
          <a:xfrm>
            <a:off x="438150" y="323850"/>
            <a:ext cx="2312342" cy="190500"/>
          </a:xfrm>
          <a:prstGeom prst="rect">
            <a:avLst/>
          </a:prstGeom>
          <a:noFill/>
          <a:ln>
            <a:noFill/>
          </a:ln>
        </p:spPr>
      </p:pic>
      <p:sp>
        <p:nvSpPr>
          <p:cNvPr id="320" name="Google Shape;320;p18"/>
          <p:cNvSpPr txBox="1"/>
          <p:nvPr/>
        </p:nvSpPr>
        <p:spPr>
          <a:xfrm>
            <a:off x="600075" y="3129706"/>
            <a:ext cx="10991850" cy="177105"/>
          </a:xfrm>
          <a:prstGeom prst="rect">
            <a:avLst/>
          </a:prstGeom>
          <a:noFill/>
          <a:ln>
            <a:noFill/>
          </a:ln>
        </p:spPr>
        <p:txBody>
          <a:bodyPr anchorCtr="0" anchor="t" bIns="0" lIns="88975" spcFirstLastPara="1" rIns="0" wrap="square" tIns="0">
            <a:spAutoFit/>
          </a:bodyPr>
          <a:lstStyle/>
          <a:p>
            <a:pPr indent="0" lvl="0" marL="0" marR="0" rtl="0" algn="l">
              <a:lnSpc>
                <a:spcPct val="155000"/>
              </a:lnSpc>
              <a:spcBef>
                <a:spcPts val="0"/>
              </a:spcBef>
              <a:spcAft>
                <a:spcPts val="0"/>
              </a:spcAft>
              <a:buNone/>
            </a:pPr>
            <a:r>
              <a:rPr b="1" i="0" lang="en-US" sz="900" u="none" cap="none" strike="noStrike">
                <a:solidFill>
                  <a:srgbClr val="B91C1C"/>
                </a:solidFill>
                <a:latin typeface="Noto Sans SC"/>
                <a:ea typeface="Noto Sans SC"/>
                <a:cs typeface="Noto Sans SC"/>
                <a:sym typeface="Noto Sans SC"/>
              </a:rPr>
              <a:t>明确证伪门槛 (Falsification Thresholds)</a:t>
            </a:r>
            <a:endParaRPr/>
          </a:p>
        </p:txBody>
      </p:sp>
      <p:sp>
        <p:nvSpPr>
          <p:cNvPr id="321" name="Google Shape;321;p18"/>
          <p:cNvSpPr txBox="1"/>
          <p:nvPr/>
        </p:nvSpPr>
        <p:spPr>
          <a:xfrm>
            <a:off x="600075" y="3325862"/>
            <a:ext cx="10991850" cy="191839"/>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1" i="0" lang="en-US" sz="862" u="none" cap="none" strike="noStrike">
                <a:solidFill>
                  <a:srgbClr val="334155"/>
                </a:solidFill>
                <a:latin typeface="Noto Sans SC"/>
                <a:ea typeface="Noto Sans SC"/>
                <a:cs typeface="Noto Sans SC"/>
                <a:sym typeface="Noto Sans SC"/>
              </a:rPr>
              <a:t>H1证伪：</a:t>
            </a:r>
            <a:r>
              <a:rPr b="0" i="0" lang="en-US" sz="862" u="none" cap="none" strike="noStrike">
                <a:solidFill>
                  <a:srgbClr val="334155"/>
                </a:solidFill>
                <a:latin typeface="Noto Sans SC"/>
                <a:ea typeface="Noto Sans SC"/>
                <a:cs typeface="Noto Sans SC"/>
                <a:sym typeface="Noto Sans SC"/>
              </a:rPr>
              <a:t>若 Dstructure ≤ D* 且路径无偏移；</a:t>
            </a:r>
            <a:r>
              <a:rPr b="1" i="0" lang="en-US" sz="862" u="none" cap="none" strike="noStrike">
                <a:solidFill>
                  <a:srgbClr val="334155"/>
                </a:solidFill>
                <a:latin typeface="Noto Sans SC"/>
                <a:ea typeface="Noto Sans SC"/>
                <a:cs typeface="Noto Sans SC"/>
                <a:sym typeface="Noto Sans SC"/>
              </a:rPr>
              <a:t>H2证伪：</a:t>
            </a:r>
            <a:r>
              <a:rPr b="0" i="0" lang="en-US" sz="862" u="none" cap="none" strike="noStrike">
                <a:solidFill>
                  <a:srgbClr val="334155"/>
                </a:solidFill>
                <a:latin typeface="Noto Sans SC"/>
                <a:ea typeface="Noto Sans SC"/>
                <a:cs typeface="Noto Sans SC"/>
                <a:sym typeface="Noto Sans SC"/>
              </a:rPr>
              <a:t>若相位保持不改变 ΔCAWCC；</a:t>
            </a:r>
            <a:r>
              <a:rPr b="1" i="0" lang="en-US" sz="862" u="none" cap="none" strike="noStrike">
                <a:solidFill>
                  <a:srgbClr val="334155"/>
                </a:solidFill>
                <a:latin typeface="Noto Sans SC"/>
                <a:ea typeface="Noto Sans SC"/>
                <a:cs typeface="Noto Sans SC"/>
                <a:sym typeface="Noto Sans SC"/>
              </a:rPr>
              <a:t>H3证伪：</a:t>
            </a:r>
            <a:r>
              <a:rPr b="0" i="0" lang="en-US" sz="862" u="none" cap="none" strike="noStrike">
                <a:solidFill>
                  <a:srgbClr val="334155"/>
                </a:solidFill>
                <a:latin typeface="Noto Sans SC"/>
                <a:ea typeface="Noto Sans SC"/>
                <a:cs typeface="Noto Sans SC"/>
                <a:sym typeface="Noto Sans SC"/>
              </a:rPr>
              <a:t>若绑定约束不发生迁移。</a:t>
            </a:r>
            <a:endParaRPr/>
          </a:p>
        </p:txBody>
      </p:sp>
      <p:pic>
        <p:nvPicPr>
          <p:cNvPr descr="image.png" id="322" name="Google Shape;322;p18"/>
          <p:cNvPicPr preferRelativeResize="0"/>
          <p:nvPr/>
        </p:nvPicPr>
        <p:blipFill rotWithShape="1">
          <a:blip r:embed="rId8">
            <a:alphaModFix/>
          </a:blip>
          <a:srcRect b="0" l="0" r="0" t="0"/>
          <a:stretch/>
        </p:blipFill>
        <p:spPr>
          <a:xfrm>
            <a:off x="438150" y="6619875"/>
            <a:ext cx="81557" cy="104775"/>
          </a:xfrm>
          <a:prstGeom prst="rect">
            <a:avLst/>
          </a:prstGeom>
          <a:noFill/>
          <a:ln>
            <a:noFill/>
          </a:ln>
        </p:spPr>
      </p:pic>
      <p:pic>
        <p:nvPicPr>
          <p:cNvPr descr="image.png" id="323" name="Google Shape;323;p18"/>
          <p:cNvPicPr preferRelativeResize="0"/>
          <p:nvPr/>
        </p:nvPicPr>
        <p:blipFill rotWithShape="1">
          <a:blip r:embed="rId9">
            <a:alphaModFix/>
          </a:blip>
          <a:srcRect b="0" l="0" r="0" t="0"/>
          <a:stretch/>
        </p:blipFill>
        <p:spPr>
          <a:xfrm>
            <a:off x="542925" y="364331"/>
            <a:ext cx="92868" cy="109537"/>
          </a:xfrm>
          <a:prstGeom prst="rect">
            <a:avLst/>
          </a:prstGeom>
          <a:noFill/>
          <a:ln>
            <a:noFill/>
          </a:ln>
        </p:spPr>
      </p:pic>
      <p:sp>
        <p:nvSpPr>
          <p:cNvPr id="324" name="Google Shape;324;p18"/>
          <p:cNvSpPr/>
          <p:nvPr/>
        </p:nvSpPr>
        <p:spPr>
          <a:xfrm>
            <a:off x="447675" y="1986706"/>
            <a:ext cx="28241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5" name="Google Shape;325;p18"/>
          <p:cNvSpPr/>
          <p:nvPr/>
        </p:nvSpPr>
        <p:spPr>
          <a:xfrm>
            <a:off x="3271837" y="1986706"/>
            <a:ext cx="508337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18"/>
          <p:cNvSpPr/>
          <p:nvPr/>
        </p:nvSpPr>
        <p:spPr>
          <a:xfrm>
            <a:off x="8355210" y="1986706"/>
            <a:ext cx="338911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7" name="Google Shape;327;p18"/>
          <p:cNvSpPr/>
          <p:nvPr/>
        </p:nvSpPr>
        <p:spPr>
          <a:xfrm>
            <a:off x="447675" y="2443906"/>
            <a:ext cx="2824162"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18"/>
          <p:cNvSpPr/>
          <p:nvPr/>
        </p:nvSpPr>
        <p:spPr>
          <a:xfrm>
            <a:off x="3271837" y="2443906"/>
            <a:ext cx="5083373"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18"/>
          <p:cNvSpPr/>
          <p:nvPr/>
        </p:nvSpPr>
        <p:spPr>
          <a:xfrm>
            <a:off x="8355210" y="2443906"/>
            <a:ext cx="338911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30" name="Google Shape;330;p18"/>
          <p:cNvPicPr preferRelativeResize="0"/>
          <p:nvPr/>
        </p:nvPicPr>
        <p:blipFill rotWithShape="1">
          <a:blip r:embed="rId10">
            <a:alphaModFix/>
          </a:blip>
          <a:srcRect b="0" l="0" r="0" t="0"/>
          <a:stretch/>
        </p:blipFill>
        <p:spPr>
          <a:xfrm>
            <a:off x="600075" y="3158281"/>
            <a:ext cx="88999" cy="114300"/>
          </a:xfrm>
          <a:prstGeom prst="rect">
            <a:avLst/>
          </a:prstGeom>
          <a:noFill/>
          <a:ln>
            <a:noFill/>
          </a:ln>
        </p:spPr>
      </p:pic>
      <p:pic>
        <p:nvPicPr>
          <p:cNvPr descr="image.png" id="331" name="Google Shape;331;p18"/>
          <p:cNvPicPr preferRelativeResize="0"/>
          <p:nvPr/>
        </p:nvPicPr>
        <p:blipFill rotWithShape="1">
          <a:blip r:embed="rId11">
            <a:alphaModFix/>
          </a:blip>
          <a:srcRect b="0" l="0" r="0" t="0"/>
          <a:stretch/>
        </p:blipFill>
        <p:spPr>
          <a:xfrm>
            <a:off x="8469510" y="1601985"/>
            <a:ext cx="989409" cy="152400"/>
          </a:xfrm>
          <a:prstGeom prst="rect">
            <a:avLst/>
          </a:prstGeom>
          <a:noFill/>
          <a:ln>
            <a:noFill/>
          </a:ln>
        </p:spPr>
      </p:pic>
      <p:pic>
        <p:nvPicPr>
          <p:cNvPr descr="image.png" id="332" name="Google Shape;332;p18"/>
          <p:cNvPicPr preferRelativeResize="0"/>
          <p:nvPr/>
        </p:nvPicPr>
        <p:blipFill rotWithShape="1">
          <a:blip r:embed="rId12">
            <a:alphaModFix/>
          </a:blip>
          <a:srcRect b="0" l="0" r="0" t="0"/>
          <a:stretch/>
        </p:blipFill>
        <p:spPr>
          <a:xfrm>
            <a:off x="8469510" y="2062906"/>
            <a:ext cx="1294804" cy="152400"/>
          </a:xfrm>
          <a:prstGeom prst="rect">
            <a:avLst/>
          </a:prstGeom>
          <a:noFill/>
          <a:ln>
            <a:noFill/>
          </a:ln>
        </p:spPr>
      </p:pic>
      <p:pic>
        <p:nvPicPr>
          <p:cNvPr descr="image.png" id="333" name="Google Shape;333;p18"/>
          <p:cNvPicPr preferRelativeResize="0"/>
          <p:nvPr/>
        </p:nvPicPr>
        <p:blipFill rotWithShape="1">
          <a:blip r:embed="rId13">
            <a:alphaModFix/>
          </a:blip>
          <a:srcRect b="0" l="0" r="0" t="0"/>
          <a:stretch/>
        </p:blipFill>
        <p:spPr>
          <a:xfrm>
            <a:off x="8469510" y="2520106"/>
            <a:ext cx="1044922" cy="152400"/>
          </a:xfrm>
          <a:prstGeom prst="rect">
            <a:avLst/>
          </a:prstGeom>
          <a:noFill/>
          <a:ln>
            <a:noFill/>
          </a:ln>
        </p:spPr>
      </p:pic>
      <p:sp>
        <p:nvSpPr>
          <p:cNvPr id="334" name="Google Shape;334;p18"/>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三个可证伪命题：问题、假设与关键检验同时出现</a:t>
            </a:r>
            <a:endParaRPr/>
          </a:p>
        </p:txBody>
      </p:sp>
      <p:sp>
        <p:nvSpPr>
          <p:cNvPr id="335" name="Google Shape;335;p18"/>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9" name="Shape 339"/>
        <p:cNvGrpSpPr/>
        <p:nvPr/>
      </p:nvGrpSpPr>
      <p:grpSpPr>
        <a:xfrm>
          <a:off x="0" y="0"/>
          <a:ext cx="0" cy="0"/>
          <a:chOff x="0" y="0"/>
          <a:chExt cx="0" cy="0"/>
        </a:xfrm>
      </p:grpSpPr>
      <p:pic>
        <p:nvPicPr>
          <p:cNvPr descr="image.png" id="340" name="Google Shape;340;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41" name="Google Shape;341;p19"/>
          <p:cNvPicPr preferRelativeResize="0"/>
          <p:nvPr/>
        </p:nvPicPr>
        <p:blipFill rotWithShape="1">
          <a:blip r:embed="rId4">
            <a:alphaModFix/>
          </a:blip>
          <a:srcRect b="0" l="0" r="0" t="0"/>
          <a:stretch/>
        </p:blipFill>
        <p:spPr>
          <a:xfrm>
            <a:off x="438150" y="2888009"/>
            <a:ext cx="11315700" cy="438150"/>
          </a:xfrm>
          <a:prstGeom prst="rect">
            <a:avLst/>
          </a:prstGeom>
          <a:noFill/>
          <a:ln>
            <a:noFill/>
          </a:ln>
        </p:spPr>
      </p:pic>
      <p:pic>
        <p:nvPicPr>
          <p:cNvPr descr="image.png" id="342" name="Google Shape;342;p19"/>
          <p:cNvPicPr preferRelativeResize="0"/>
          <p:nvPr/>
        </p:nvPicPr>
        <p:blipFill rotWithShape="1">
          <a:blip r:embed="rId5">
            <a:alphaModFix/>
          </a:blip>
          <a:srcRect b="0" l="0" r="0" t="0"/>
          <a:stretch/>
        </p:blipFill>
        <p:spPr>
          <a:xfrm>
            <a:off x="438150" y="1192410"/>
            <a:ext cx="5572125" cy="1562248"/>
          </a:xfrm>
          <a:prstGeom prst="rect">
            <a:avLst/>
          </a:prstGeom>
          <a:noFill/>
          <a:ln>
            <a:noFill/>
          </a:ln>
        </p:spPr>
      </p:pic>
      <p:pic>
        <p:nvPicPr>
          <p:cNvPr descr="image.png" id="343" name="Google Shape;343;p19"/>
          <p:cNvPicPr preferRelativeResize="0"/>
          <p:nvPr/>
        </p:nvPicPr>
        <p:blipFill rotWithShape="1">
          <a:blip r:embed="rId6">
            <a:alphaModFix/>
          </a:blip>
          <a:srcRect b="0" l="0" r="0" t="0"/>
          <a:stretch/>
        </p:blipFill>
        <p:spPr>
          <a:xfrm>
            <a:off x="6181725" y="1192410"/>
            <a:ext cx="5572125" cy="1562248"/>
          </a:xfrm>
          <a:prstGeom prst="rect">
            <a:avLst/>
          </a:prstGeom>
          <a:noFill/>
          <a:ln>
            <a:noFill/>
          </a:ln>
        </p:spPr>
      </p:pic>
      <p:pic>
        <p:nvPicPr>
          <p:cNvPr descr="image.png" id="344" name="Google Shape;344;p19"/>
          <p:cNvPicPr preferRelativeResize="0"/>
          <p:nvPr/>
        </p:nvPicPr>
        <p:blipFill rotWithShape="1">
          <a:blip r:embed="rId7">
            <a:alphaModFix/>
          </a:blip>
          <a:srcRect b="0" l="0" r="0" t="0"/>
          <a:stretch/>
        </p:blipFill>
        <p:spPr>
          <a:xfrm>
            <a:off x="619125" y="1845766"/>
            <a:ext cx="5210175" cy="746968"/>
          </a:xfrm>
          <a:prstGeom prst="rect">
            <a:avLst/>
          </a:prstGeom>
          <a:noFill/>
          <a:ln>
            <a:noFill/>
          </a:ln>
        </p:spPr>
      </p:pic>
      <p:pic>
        <p:nvPicPr>
          <p:cNvPr descr="image.png" id="345" name="Google Shape;345;p19"/>
          <p:cNvPicPr preferRelativeResize="0"/>
          <p:nvPr/>
        </p:nvPicPr>
        <p:blipFill rotWithShape="1">
          <a:blip r:embed="rId8">
            <a:alphaModFix/>
          </a:blip>
          <a:srcRect b="0" l="0" r="0" t="0"/>
          <a:stretch/>
        </p:blipFill>
        <p:spPr>
          <a:xfrm>
            <a:off x="6362700" y="2025699"/>
            <a:ext cx="5210175" cy="364777"/>
          </a:xfrm>
          <a:prstGeom prst="rect">
            <a:avLst/>
          </a:prstGeom>
          <a:noFill/>
          <a:ln>
            <a:noFill/>
          </a:ln>
        </p:spPr>
      </p:pic>
      <p:pic>
        <p:nvPicPr>
          <p:cNvPr descr="image.png" id="346" name="Google Shape;346;p19"/>
          <p:cNvPicPr preferRelativeResize="0"/>
          <p:nvPr/>
        </p:nvPicPr>
        <p:blipFill rotWithShape="1">
          <a:blip r:embed="rId9">
            <a:alphaModFix/>
          </a:blip>
          <a:srcRect b="0" l="0" r="0" t="0"/>
          <a:stretch/>
        </p:blipFill>
        <p:spPr>
          <a:xfrm>
            <a:off x="438150" y="6515100"/>
            <a:ext cx="11315700" cy="228600"/>
          </a:xfrm>
          <a:prstGeom prst="rect">
            <a:avLst/>
          </a:prstGeom>
          <a:noFill/>
          <a:ln>
            <a:noFill/>
          </a:ln>
        </p:spPr>
      </p:pic>
      <p:pic>
        <p:nvPicPr>
          <p:cNvPr descr="image.png" id="347" name="Google Shape;347;p19"/>
          <p:cNvPicPr preferRelativeResize="0"/>
          <p:nvPr/>
        </p:nvPicPr>
        <p:blipFill rotWithShape="1">
          <a:blip r:embed="rId10">
            <a:alphaModFix/>
          </a:blip>
          <a:srcRect b="0" l="0" r="0" t="0"/>
          <a:stretch/>
        </p:blipFill>
        <p:spPr>
          <a:xfrm>
            <a:off x="11060310" y="328612"/>
            <a:ext cx="693539" cy="180975"/>
          </a:xfrm>
          <a:prstGeom prst="rect">
            <a:avLst/>
          </a:prstGeom>
          <a:noFill/>
          <a:ln>
            <a:noFill/>
          </a:ln>
        </p:spPr>
      </p:pic>
      <p:sp>
        <p:nvSpPr>
          <p:cNvPr id="348" name="Google Shape;348;p19"/>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349" name="Google Shape;349;p19"/>
          <p:cNvSpPr txBox="1"/>
          <p:nvPr/>
        </p:nvSpPr>
        <p:spPr>
          <a:xfrm>
            <a:off x="10754320" y="6615112"/>
            <a:ext cx="999529"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06 / STUDY OBJECT</a:t>
            </a:r>
            <a:endParaRPr/>
          </a:p>
        </p:txBody>
      </p:sp>
      <p:pic>
        <p:nvPicPr>
          <p:cNvPr descr="image.png" id="350" name="Google Shape;350;p19"/>
          <p:cNvPicPr preferRelativeResize="0"/>
          <p:nvPr/>
        </p:nvPicPr>
        <p:blipFill rotWithShape="1">
          <a:blip r:embed="rId11">
            <a:alphaModFix/>
          </a:blip>
          <a:srcRect b="0" l="0" r="0" t="0"/>
          <a:stretch/>
        </p:blipFill>
        <p:spPr>
          <a:xfrm>
            <a:off x="438150" y="323850"/>
            <a:ext cx="1546324" cy="190500"/>
          </a:xfrm>
          <a:prstGeom prst="rect">
            <a:avLst/>
          </a:prstGeom>
          <a:noFill/>
          <a:ln>
            <a:noFill/>
          </a:ln>
        </p:spPr>
      </p:pic>
      <p:sp>
        <p:nvSpPr>
          <p:cNvPr id="351" name="Google Shape;351;p19"/>
          <p:cNvSpPr txBox="1"/>
          <p:nvPr/>
        </p:nvSpPr>
        <p:spPr>
          <a:xfrm>
            <a:off x="609600" y="3016597"/>
            <a:ext cx="6090791"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8BDF8"/>
                </a:solidFill>
                <a:latin typeface="Noto Sans SC"/>
                <a:ea typeface="Noto Sans SC"/>
                <a:cs typeface="Noto Sans SC"/>
                <a:sym typeface="Noto Sans SC"/>
              </a:rPr>
              <a:t>原型与一般规律的关系：</a:t>
            </a:r>
            <a:r>
              <a:rPr b="0" i="0" lang="en-US" sz="1200" u="none" cap="none" strike="noStrike">
                <a:solidFill>
                  <a:srgbClr val="FFFFFF"/>
                </a:solidFill>
                <a:latin typeface="Noto Sans SC"/>
                <a:ea typeface="Noto Sans SC"/>
                <a:cs typeface="Noto Sans SC"/>
                <a:sym typeface="Noto Sans SC"/>
              </a:rPr>
              <a:t> </a:t>
            </a:r>
            <a:r>
              <a:rPr b="0" i="0" lang="en-US" sz="1200" u="none" cap="none" strike="noStrike">
                <a:solidFill>
                  <a:srgbClr val="CBD5E1"/>
                </a:solidFill>
                <a:latin typeface="Noto Sans SC"/>
                <a:ea typeface="Noto Sans SC"/>
                <a:cs typeface="Noto Sans SC"/>
                <a:sym typeface="Noto Sans SC"/>
              </a:rPr>
              <a:t>典型原型用于解释响应面；跨原型的一般规律来自连续参数空间中的阈值、边界与瓶颈相图。</a:t>
            </a:r>
            <a:endParaRPr/>
          </a:p>
        </p:txBody>
      </p:sp>
      <p:pic>
        <p:nvPicPr>
          <p:cNvPr descr="image.png" id="352" name="Google Shape;352;p19"/>
          <p:cNvPicPr preferRelativeResize="0"/>
          <p:nvPr/>
        </p:nvPicPr>
        <p:blipFill rotWithShape="1">
          <a:blip r:embed="rId12">
            <a:alphaModFix/>
          </a:blip>
          <a:srcRect b="0" l="0" r="0" t="0"/>
          <a:stretch/>
        </p:blipFill>
        <p:spPr>
          <a:xfrm>
            <a:off x="11419284" y="3002309"/>
            <a:ext cx="163115" cy="209550"/>
          </a:xfrm>
          <a:prstGeom prst="rect">
            <a:avLst/>
          </a:prstGeom>
          <a:noFill/>
          <a:ln>
            <a:noFill/>
          </a:ln>
        </p:spPr>
      </p:pic>
      <p:pic>
        <p:nvPicPr>
          <p:cNvPr descr="image.png" id="353" name="Google Shape;353;p19"/>
          <p:cNvPicPr preferRelativeResize="0"/>
          <p:nvPr/>
        </p:nvPicPr>
        <p:blipFill rotWithShape="1">
          <a:blip r:embed="rId13">
            <a:alphaModFix/>
          </a:blip>
          <a:srcRect b="0" l="0" r="0" t="0"/>
          <a:stretch/>
        </p:blipFill>
        <p:spPr>
          <a:xfrm>
            <a:off x="438150" y="6619875"/>
            <a:ext cx="81557" cy="104775"/>
          </a:xfrm>
          <a:prstGeom prst="rect">
            <a:avLst/>
          </a:prstGeom>
          <a:noFill/>
          <a:ln>
            <a:noFill/>
          </a:ln>
        </p:spPr>
      </p:pic>
      <p:pic>
        <p:nvPicPr>
          <p:cNvPr descr="image.png" id="354" name="Google Shape;354;p19"/>
          <p:cNvPicPr preferRelativeResize="0"/>
          <p:nvPr/>
        </p:nvPicPr>
        <p:blipFill rotWithShape="1">
          <a:blip r:embed="rId14">
            <a:alphaModFix/>
          </a:blip>
          <a:srcRect b="0" l="0" r="0" t="0"/>
          <a:stretch/>
        </p:blipFill>
        <p:spPr>
          <a:xfrm>
            <a:off x="542925" y="364331"/>
            <a:ext cx="92868" cy="109537"/>
          </a:xfrm>
          <a:prstGeom prst="rect">
            <a:avLst/>
          </a:prstGeom>
          <a:noFill/>
          <a:ln>
            <a:noFill/>
          </a:ln>
        </p:spPr>
      </p:pic>
      <p:sp>
        <p:nvSpPr>
          <p:cNvPr id="355" name="Google Shape;355;p19"/>
          <p:cNvSpPr txBox="1"/>
          <p:nvPr/>
        </p:nvSpPr>
        <p:spPr>
          <a:xfrm>
            <a:off x="806499" y="1354335"/>
            <a:ext cx="527394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1. 现实证据锚定</a:t>
            </a:r>
            <a:endParaRPr/>
          </a:p>
        </p:txBody>
      </p:sp>
      <p:sp>
        <p:nvSpPr>
          <p:cNvPr id="356" name="Google Shape;356;p19"/>
          <p:cNvSpPr txBox="1"/>
          <p:nvPr/>
        </p:nvSpPr>
        <p:spPr>
          <a:xfrm>
            <a:off x="619125" y="1592460"/>
            <a:ext cx="5210175"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真实城市数据限定可信参数域与工程基准，确保数量级合理。</a:t>
            </a:r>
            <a:endParaRPr/>
          </a:p>
        </p:txBody>
      </p:sp>
      <p:sp>
        <p:nvSpPr>
          <p:cNvPr id="357" name="Google Shape;357;p19"/>
          <p:cNvSpPr txBox="1"/>
          <p:nvPr/>
        </p:nvSpPr>
        <p:spPr>
          <a:xfrm>
            <a:off x="6550074" y="1354335"/>
            <a:ext cx="527394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2. 连续参数空间探查</a:t>
            </a:r>
            <a:endParaRPr/>
          </a:p>
        </p:txBody>
      </p:sp>
      <p:sp>
        <p:nvSpPr>
          <p:cNvPr id="358" name="Google Shape;358;p19"/>
          <p:cNvSpPr txBox="1"/>
          <p:nvPr/>
        </p:nvSpPr>
        <p:spPr>
          <a:xfrm>
            <a:off x="6362700" y="1592460"/>
            <a:ext cx="5210175" cy="376088"/>
          </a:xfrm>
          <a:prstGeom prst="rect">
            <a:avLst/>
          </a:prstGeom>
          <a:noFill/>
          <a:ln>
            <a:noFill/>
          </a:ln>
        </p:spPr>
        <p:txBody>
          <a:bodyPr anchorCtr="0" anchor="t" bIns="0" lIns="0" spcFirstLastPara="1" rIns="0" wrap="square" tIns="0">
            <a:spAutoFit/>
          </a:bodyPr>
          <a:lstStyle/>
          <a:p>
            <a:pPr indent="0" lvl="0" marL="0" marR="0" rtl="0" algn="l">
              <a:lnSpc>
                <a:spcPct val="77500"/>
              </a:lnSpc>
              <a:spcBef>
                <a:spcPts val="0"/>
              </a:spcBef>
              <a:spcAft>
                <a:spcPts val="0"/>
              </a:spcAft>
              <a:buNone/>
            </a:pPr>
            <a:r>
              <a:rPr b="0" i="0" lang="en-US" sz="900" u="none" cap="none" strike="noStrike">
                <a:solidFill>
                  <a:srgbClr val="0369A1"/>
                </a:solidFill>
                <a:latin typeface="Noto Sans SC"/>
                <a:ea typeface="Noto Sans SC"/>
                <a:cs typeface="Noto Sans SC"/>
                <a:sym typeface="Noto Sans SC"/>
              </a:rPr>
              <a:t>参数化城市状态向量：</a:t>
            </a:r>
            <a:br>
              <a:rPr b="0" i="0" lang="en-US" sz="1800" u="none" cap="none" strike="noStrike">
                <a:solidFill>
                  <a:schemeClr val="dk1"/>
                </a:solidFill>
                <a:latin typeface="Calibri"/>
                <a:ea typeface="Calibri"/>
                <a:cs typeface="Calibri"/>
                <a:sym typeface="Calibri"/>
              </a:rPr>
            </a:br>
            <a:r>
              <a:rPr b="1" i="0" lang="en-US" sz="900" u="none" cap="none" strike="noStrike">
                <a:solidFill>
                  <a:srgbClr val="0F172A"/>
                </a:solidFill>
                <a:latin typeface="Noto Sans SC"/>
                <a:ea typeface="Noto Sans SC"/>
                <a:cs typeface="Noto Sans SC"/>
                <a:sym typeface="Noto Sans SC"/>
              </a:rPr>
              <a:t>X = (xwater, xWTP, xWWTP, xreuse, xclimate, ...)</a:t>
            </a:r>
            <a:endParaRPr/>
          </a:p>
        </p:txBody>
      </p:sp>
      <p:pic>
        <p:nvPicPr>
          <p:cNvPr descr="image.png" id="359" name="Google Shape;359;p19"/>
          <p:cNvPicPr preferRelativeResize="0"/>
          <p:nvPr/>
        </p:nvPicPr>
        <p:blipFill rotWithShape="1">
          <a:blip r:embed="rId15">
            <a:alphaModFix/>
          </a:blip>
          <a:srcRect b="0" l="0" r="0" t="0"/>
          <a:stretch/>
        </p:blipFill>
        <p:spPr>
          <a:xfrm>
            <a:off x="619125" y="1373385"/>
            <a:ext cx="111174" cy="142875"/>
          </a:xfrm>
          <a:prstGeom prst="rect">
            <a:avLst/>
          </a:prstGeom>
          <a:noFill/>
          <a:ln>
            <a:noFill/>
          </a:ln>
        </p:spPr>
      </p:pic>
      <p:pic>
        <p:nvPicPr>
          <p:cNvPr descr="image.png" id="360" name="Google Shape;360;p19"/>
          <p:cNvPicPr preferRelativeResize="0"/>
          <p:nvPr/>
        </p:nvPicPr>
        <p:blipFill rotWithShape="1">
          <a:blip r:embed="rId16">
            <a:alphaModFix/>
          </a:blip>
          <a:srcRect b="0" l="0" r="0" t="0"/>
          <a:stretch/>
        </p:blipFill>
        <p:spPr>
          <a:xfrm>
            <a:off x="6362700" y="1373385"/>
            <a:ext cx="111174" cy="142875"/>
          </a:xfrm>
          <a:prstGeom prst="rect">
            <a:avLst/>
          </a:prstGeom>
          <a:noFill/>
          <a:ln>
            <a:noFill/>
          </a:ln>
        </p:spPr>
      </p:pic>
      <p:sp>
        <p:nvSpPr>
          <p:cNvPr id="361" name="Google Shape;361;p19"/>
          <p:cNvSpPr txBox="1"/>
          <p:nvPr/>
        </p:nvSpPr>
        <p:spPr>
          <a:xfrm>
            <a:off x="6515100" y="2149524"/>
            <a:ext cx="3138785" cy="133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62" u="none" cap="none" strike="noStrike">
                <a:solidFill>
                  <a:srgbClr val="0369A1"/>
                </a:solidFill>
                <a:latin typeface="JetBrains Mono SemiBold"/>
                <a:ea typeface="JetBrains Mono SemiBold"/>
                <a:cs typeface="JetBrains Mono SemiBold"/>
                <a:sym typeface="JetBrains Mono SemiBold"/>
              </a:rPr>
              <a:t>维度：ρAI · P · M · 再生水自给率 R · 冷却架构 · 气候</a:t>
            </a:r>
            <a:endParaRPr/>
          </a:p>
        </p:txBody>
      </p:sp>
      <p:sp>
        <p:nvSpPr>
          <p:cNvPr id="362" name="Google Shape;362;p19"/>
          <p:cNvSpPr txBox="1"/>
          <p:nvPr/>
        </p:nvSpPr>
        <p:spPr>
          <a:xfrm>
            <a:off x="828675" y="1932205"/>
            <a:ext cx="476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Noto Sans SC"/>
                <a:ea typeface="Noto Sans SC"/>
                <a:cs typeface="Noto Sans SC"/>
                <a:sym typeface="Noto Sans SC"/>
              </a:rPr>
              <a:t>•</a:t>
            </a:r>
            <a:endParaRPr/>
          </a:p>
        </p:txBody>
      </p:sp>
      <p:sp>
        <p:nvSpPr>
          <p:cNvPr id="363" name="Google Shape;363;p19"/>
          <p:cNvSpPr txBox="1"/>
          <p:nvPr/>
        </p:nvSpPr>
        <p:spPr>
          <a:xfrm>
            <a:off x="876300" y="1931491"/>
            <a:ext cx="4829175" cy="191839"/>
          </a:xfrm>
          <a:prstGeom prst="rect">
            <a:avLst/>
          </a:prstGeom>
          <a:noFill/>
          <a:ln>
            <a:noFill/>
          </a:ln>
        </p:spPr>
        <p:txBody>
          <a:bodyPr anchorCtr="0" anchor="t" bIns="0" lIns="47625" spcFirstLastPara="1" rIns="0" wrap="square" tIns="0">
            <a:spAutoFit/>
          </a:bodyPr>
          <a:lstStyle/>
          <a:p>
            <a:pPr indent="0" lvl="0" marL="0" marR="0" rtl="0" algn="l">
              <a:lnSpc>
                <a:spcPct val="154974"/>
              </a:lnSpc>
              <a:spcBef>
                <a:spcPts val="0"/>
              </a:spcBef>
              <a:spcAft>
                <a:spcPts val="0"/>
              </a:spcAft>
              <a:buNone/>
            </a:pPr>
            <a:r>
              <a:rPr b="0" i="0" lang="en-US" sz="975" u="none" cap="none" strike="noStrike">
                <a:solidFill>
                  <a:srgbClr val="334155"/>
                </a:solidFill>
                <a:latin typeface="Noto Sans SC"/>
                <a:ea typeface="Noto Sans SC"/>
                <a:cs typeface="Noto Sans SC"/>
                <a:sym typeface="Noto Sans SC"/>
              </a:rPr>
              <a:t>公开统计公报 / 水资源公报</a:t>
            </a:r>
            <a:endParaRPr/>
          </a:p>
        </p:txBody>
      </p:sp>
      <p:sp>
        <p:nvSpPr>
          <p:cNvPr id="364" name="Google Shape;364;p19"/>
          <p:cNvSpPr txBox="1"/>
          <p:nvPr/>
        </p:nvSpPr>
        <p:spPr>
          <a:xfrm>
            <a:off x="828675" y="2124045"/>
            <a:ext cx="476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Noto Sans SC"/>
                <a:ea typeface="Noto Sans SC"/>
                <a:cs typeface="Noto Sans SC"/>
                <a:sym typeface="Noto Sans SC"/>
              </a:rPr>
              <a:t>•</a:t>
            </a:r>
            <a:endParaRPr/>
          </a:p>
        </p:txBody>
      </p:sp>
      <p:sp>
        <p:nvSpPr>
          <p:cNvPr id="365" name="Google Shape;365;p19"/>
          <p:cNvSpPr txBox="1"/>
          <p:nvPr/>
        </p:nvSpPr>
        <p:spPr>
          <a:xfrm>
            <a:off x="876300" y="2123330"/>
            <a:ext cx="4829175" cy="191839"/>
          </a:xfrm>
          <a:prstGeom prst="rect">
            <a:avLst/>
          </a:prstGeom>
          <a:noFill/>
          <a:ln>
            <a:noFill/>
          </a:ln>
        </p:spPr>
        <p:txBody>
          <a:bodyPr anchorCtr="0" anchor="t" bIns="0" lIns="47625" spcFirstLastPara="1" rIns="0" wrap="square" tIns="0">
            <a:spAutoFit/>
          </a:bodyPr>
          <a:lstStyle/>
          <a:p>
            <a:pPr indent="0" lvl="0" marL="0" marR="0" rtl="0" algn="l">
              <a:lnSpc>
                <a:spcPct val="154974"/>
              </a:lnSpc>
              <a:spcBef>
                <a:spcPts val="0"/>
              </a:spcBef>
              <a:spcAft>
                <a:spcPts val="0"/>
              </a:spcAft>
              <a:buNone/>
            </a:pPr>
            <a:r>
              <a:rPr b="0" i="0" lang="en-US" sz="975" u="none" cap="none" strike="noStrike">
                <a:solidFill>
                  <a:srgbClr val="334155"/>
                </a:solidFill>
                <a:latin typeface="Noto Sans SC"/>
                <a:ea typeface="Noto Sans SC"/>
                <a:cs typeface="Noto Sans SC"/>
                <a:sym typeface="Noto Sans SC"/>
              </a:rPr>
              <a:t>室外给水/排水设计标准 (GB 50013/50014)</a:t>
            </a:r>
            <a:endParaRPr/>
          </a:p>
        </p:txBody>
      </p:sp>
      <p:sp>
        <p:nvSpPr>
          <p:cNvPr id="366" name="Google Shape;366;p19"/>
          <p:cNvSpPr txBox="1"/>
          <p:nvPr/>
        </p:nvSpPr>
        <p:spPr>
          <a:xfrm>
            <a:off x="828675" y="2315884"/>
            <a:ext cx="4762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Noto Sans SC"/>
                <a:ea typeface="Noto Sans SC"/>
                <a:cs typeface="Noto Sans SC"/>
                <a:sym typeface="Noto Sans SC"/>
              </a:rPr>
              <a:t>•</a:t>
            </a:r>
            <a:endParaRPr/>
          </a:p>
        </p:txBody>
      </p:sp>
      <p:sp>
        <p:nvSpPr>
          <p:cNvPr id="367" name="Google Shape;367;p19"/>
          <p:cNvSpPr txBox="1"/>
          <p:nvPr/>
        </p:nvSpPr>
        <p:spPr>
          <a:xfrm>
            <a:off x="876300" y="2315170"/>
            <a:ext cx="4829175" cy="191839"/>
          </a:xfrm>
          <a:prstGeom prst="rect">
            <a:avLst/>
          </a:prstGeom>
          <a:noFill/>
          <a:ln>
            <a:noFill/>
          </a:ln>
        </p:spPr>
        <p:txBody>
          <a:bodyPr anchorCtr="0" anchor="t" bIns="0" lIns="47625" spcFirstLastPara="1" rIns="0" wrap="square" tIns="0">
            <a:spAutoFit/>
          </a:bodyPr>
          <a:lstStyle/>
          <a:p>
            <a:pPr indent="0" lvl="0" marL="0" marR="0" rtl="0" algn="l">
              <a:lnSpc>
                <a:spcPct val="154974"/>
              </a:lnSpc>
              <a:spcBef>
                <a:spcPts val="0"/>
              </a:spcBef>
              <a:spcAft>
                <a:spcPts val="0"/>
              </a:spcAft>
              <a:buNone/>
            </a:pPr>
            <a:r>
              <a:rPr b="0" i="0" lang="en-US" sz="975" u="none" cap="none" strike="noStrike">
                <a:solidFill>
                  <a:srgbClr val="334155"/>
                </a:solidFill>
                <a:latin typeface="Noto Sans SC"/>
                <a:ea typeface="Noto Sans SC"/>
                <a:cs typeface="Noto Sans SC"/>
                <a:sym typeface="Noto Sans SC"/>
              </a:rPr>
              <a:t>数据中心水效率标准 (GB/T 32910.6)</a:t>
            </a:r>
            <a:endParaRPr/>
          </a:p>
        </p:txBody>
      </p:sp>
      <p:sp>
        <p:nvSpPr>
          <p:cNvPr id="368" name="Google Shape;368;p19"/>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研究对象：现实约束下的参数化城市状态空间</a:t>
            </a:r>
            <a:endParaRPr/>
          </a:p>
        </p:txBody>
      </p:sp>
      <p:sp>
        <p:nvSpPr>
          <p:cNvPr id="369" name="Google Shape;369;p19"/>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Rounded Rectangle 369"/>
          <p:cNvSpPr/>
          <p:nvPr/>
        </p:nvSpPr>
        <p:spPr>
          <a:xfrm>
            <a:off x="658368" y="4224528"/>
            <a:ext cx="9646920" cy="676656"/>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896112" y="4425696"/>
            <a:ext cx="1143000" cy="201168"/>
          </a:xfrm>
          <a:prstGeom prst="rect">
            <a:avLst/>
          </a:prstGeom>
          <a:noFill/>
        </p:spPr>
        <p:txBody>
          <a:bodyPr wrap="square" lIns="0" rIns="0" tIns="0" bIns="0" anchor="t">
            <a:spAutoFit/>
          </a:bodyPr>
          <a:lstStyle/>
          <a:p>
            <a:pPr algn="l"/>
            <a:r>
              <a:rPr sz="1400" b="1" i="0">
                <a:solidFill>
                  <a:srgbClr val="172B4D"/>
                </a:solidFill>
                <a:latin typeface="Microsoft YaHei"/>
              </a:rPr>
              <a:t>学术学位适配</a:t>
            </a:r>
          </a:p>
        </p:txBody>
      </p:sp>
      <p:sp>
        <p:nvSpPr>
          <p:cNvPr id="372" name="TextBox 371"/>
          <p:cNvSpPr txBox="1"/>
          <p:nvPr/>
        </p:nvSpPr>
        <p:spPr>
          <a:xfrm>
            <a:off x="2148840" y="4407408"/>
            <a:ext cx="7818120" cy="246888"/>
          </a:xfrm>
          <a:prstGeom prst="rect">
            <a:avLst/>
          </a:prstGeom>
          <a:noFill/>
        </p:spPr>
        <p:txBody>
          <a:bodyPr wrap="square" lIns="0" rIns="0" tIns="0" bIns="0" anchor="t">
            <a:spAutoFit/>
          </a:bodyPr>
          <a:lstStyle/>
          <a:p>
            <a:pPr algn="l"/>
            <a:r>
              <a:rPr sz="1200" b="1" i="0">
                <a:solidFill>
                  <a:srgbClr val="1BA6A6"/>
                </a:solidFill>
                <a:latin typeface="Microsoft YaHei"/>
              </a:rPr>
              <a:t>以机制假设、可证伪实验与参数空间外推为主线，工程建议作为边界条件下的应用输出。</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3" name="Shape 373"/>
        <p:cNvGrpSpPr/>
        <p:nvPr/>
      </p:nvGrpSpPr>
      <p:grpSpPr>
        <a:xfrm>
          <a:off x="0" y="0"/>
          <a:ext cx="0" cy="0"/>
          <a:chOff x="0" y="0"/>
          <a:chExt cx="0" cy="0"/>
        </a:xfrm>
      </p:grpSpPr>
      <p:pic>
        <p:nvPicPr>
          <p:cNvPr descr="image.png" id="374" name="Google Shape;374;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5" name="Google Shape;375;p20"/>
          <p:cNvPicPr preferRelativeResize="0"/>
          <p:nvPr/>
        </p:nvPicPr>
        <p:blipFill rotWithShape="1">
          <a:blip r:embed="rId4">
            <a:alphaModFix/>
          </a:blip>
          <a:srcRect b="0" l="0" r="0" t="0"/>
          <a:stretch/>
        </p:blipFill>
        <p:spPr>
          <a:xfrm>
            <a:off x="438150" y="1192410"/>
            <a:ext cx="11315700" cy="581025"/>
          </a:xfrm>
          <a:prstGeom prst="rect">
            <a:avLst/>
          </a:prstGeom>
          <a:noFill/>
          <a:ln>
            <a:noFill/>
          </a:ln>
        </p:spPr>
      </p:pic>
      <p:pic>
        <p:nvPicPr>
          <p:cNvPr descr="image.png" id="376" name="Google Shape;376;p20"/>
          <p:cNvPicPr preferRelativeResize="0"/>
          <p:nvPr/>
        </p:nvPicPr>
        <p:blipFill rotWithShape="1">
          <a:blip r:embed="rId5">
            <a:alphaModFix/>
          </a:blip>
          <a:srcRect b="0" l="0" r="0" t="0"/>
          <a:stretch/>
        </p:blipFill>
        <p:spPr>
          <a:xfrm>
            <a:off x="438150" y="2760166"/>
            <a:ext cx="11315700" cy="609600"/>
          </a:xfrm>
          <a:prstGeom prst="rect">
            <a:avLst/>
          </a:prstGeom>
          <a:noFill/>
          <a:ln>
            <a:noFill/>
          </a:ln>
        </p:spPr>
      </p:pic>
      <p:pic>
        <p:nvPicPr>
          <p:cNvPr descr="image.png" id="377" name="Google Shape;377;p20"/>
          <p:cNvPicPr preferRelativeResize="0"/>
          <p:nvPr/>
        </p:nvPicPr>
        <p:blipFill rotWithShape="1">
          <a:blip r:embed="rId6">
            <a:alphaModFix/>
          </a:blip>
          <a:srcRect b="0" l="0" r="0" t="0"/>
          <a:stretch/>
        </p:blipFill>
        <p:spPr>
          <a:xfrm>
            <a:off x="600075" y="1316235"/>
            <a:ext cx="1593800" cy="333375"/>
          </a:xfrm>
          <a:prstGeom prst="rect">
            <a:avLst/>
          </a:prstGeom>
          <a:noFill/>
          <a:ln>
            <a:noFill/>
          </a:ln>
        </p:spPr>
      </p:pic>
      <p:pic>
        <p:nvPicPr>
          <p:cNvPr descr="image.png" id="378" name="Google Shape;378;p20"/>
          <p:cNvPicPr preferRelativeResize="0"/>
          <p:nvPr/>
        </p:nvPicPr>
        <p:blipFill rotWithShape="1">
          <a:blip r:embed="rId7">
            <a:alphaModFix/>
          </a:blip>
          <a:srcRect b="0" l="0" r="0" t="0"/>
          <a:stretch/>
        </p:blipFill>
        <p:spPr>
          <a:xfrm>
            <a:off x="2479625" y="1316235"/>
            <a:ext cx="1593800" cy="333375"/>
          </a:xfrm>
          <a:prstGeom prst="rect">
            <a:avLst/>
          </a:prstGeom>
          <a:noFill/>
          <a:ln>
            <a:noFill/>
          </a:ln>
        </p:spPr>
      </p:pic>
      <p:pic>
        <p:nvPicPr>
          <p:cNvPr descr="image.png" id="379" name="Google Shape;379;p20"/>
          <p:cNvPicPr preferRelativeResize="0"/>
          <p:nvPr/>
        </p:nvPicPr>
        <p:blipFill rotWithShape="1">
          <a:blip r:embed="rId8">
            <a:alphaModFix/>
          </a:blip>
          <a:srcRect b="0" l="0" r="0" t="0"/>
          <a:stretch/>
        </p:blipFill>
        <p:spPr>
          <a:xfrm>
            <a:off x="4359175" y="1316235"/>
            <a:ext cx="1593800" cy="333375"/>
          </a:xfrm>
          <a:prstGeom prst="rect">
            <a:avLst/>
          </a:prstGeom>
          <a:noFill/>
          <a:ln>
            <a:noFill/>
          </a:ln>
        </p:spPr>
      </p:pic>
      <p:pic>
        <p:nvPicPr>
          <p:cNvPr descr="image.png" id="380" name="Google Shape;380;p20"/>
          <p:cNvPicPr preferRelativeResize="0"/>
          <p:nvPr/>
        </p:nvPicPr>
        <p:blipFill rotWithShape="1">
          <a:blip r:embed="rId6">
            <a:alphaModFix/>
          </a:blip>
          <a:srcRect b="0" l="0" r="0" t="0"/>
          <a:stretch/>
        </p:blipFill>
        <p:spPr>
          <a:xfrm>
            <a:off x="6238726" y="1316235"/>
            <a:ext cx="1593800" cy="333375"/>
          </a:xfrm>
          <a:prstGeom prst="rect">
            <a:avLst/>
          </a:prstGeom>
          <a:noFill/>
          <a:ln>
            <a:noFill/>
          </a:ln>
        </p:spPr>
      </p:pic>
      <p:pic>
        <p:nvPicPr>
          <p:cNvPr descr="image.png" id="381" name="Google Shape;381;p20"/>
          <p:cNvPicPr preferRelativeResize="0"/>
          <p:nvPr/>
        </p:nvPicPr>
        <p:blipFill rotWithShape="1">
          <a:blip r:embed="rId9">
            <a:alphaModFix/>
          </a:blip>
          <a:srcRect b="0" l="0" r="0" t="0"/>
          <a:stretch/>
        </p:blipFill>
        <p:spPr>
          <a:xfrm>
            <a:off x="8118276" y="1316235"/>
            <a:ext cx="1593800" cy="333375"/>
          </a:xfrm>
          <a:prstGeom prst="rect">
            <a:avLst/>
          </a:prstGeom>
          <a:noFill/>
          <a:ln>
            <a:noFill/>
          </a:ln>
        </p:spPr>
      </p:pic>
      <p:pic>
        <p:nvPicPr>
          <p:cNvPr descr="image.png" id="382" name="Google Shape;382;p20"/>
          <p:cNvPicPr preferRelativeResize="0"/>
          <p:nvPr/>
        </p:nvPicPr>
        <p:blipFill rotWithShape="1">
          <a:blip r:embed="rId8">
            <a:alphaModFix/>
          </a:blip>
          <a:srcRect b="0" l="0" r="0" t="0"/>
          <a:stretch/>
        </p:blipFill>
        <p:spPr>
          <a:xfrm>
            <a:off x="9997826" y="1316235"/>
            <a:ext cx="1593800" cy="333375"/>
          </a:xfrm>
          <a:prstGeom prst="rect">
            <a:avLst/>
          </a:prstGeom>
          <a:noFill/>
          <a:ln>
            <a:noFill/>
          </a:ln>
        </p:spPr>
      </p:pic>
      <p:pic>
        <p:nvPicPr>
          <p:cNvPr descr="image.png" id="383" name="Google Shape;383;p20"/>
          <p:cNvPicPr preferRelativeResize="0"/>
          <p:nvPr/>
        </p:nvPicPr>
        <p:blipFill rotWithShape="1">
          <a:blip r:embed="rId10">
            <a:alphaModFix/>
          </a:blip>
          <a:srcRect b="0" l="0" r="0" t="0"/>
          <a:stretch/>
        </p:blipFill>
        <p:spPr>
          <a:xfrm>
            <a:off x="438150" y="1906785"/>
            <a:ext cx="5572125" cy="739080"/>
          </a:xfrm>
          <a:prstGeom prst="rect">
            <a:avLst/>
          </a:prstGeom>
          <a:noFill/>
          <a:ln>
            <a:noFill/>
          </a:ln>
        </p:spPr>
      </p:pic>
      <p:pic>
        <p:nvPicPr>
          <p:cNvPr descr="image.png" id="384" name="Google Shape;384;p20"/>
          <p:cNvPicPr preferRelativeResize="0"/>
          <p:nvPr/>
        </p:nvPicPr>
        <p:blipFill rotWithShape="1">
          <a:blip r:embed="rId11">
            <a:alphaModFix/>
          </a:blip>
          <a:srcRect b="0" l="0" r="0" t="0"/>
          <a:stretch/>
        </p:blipFill>
        <p:spPr>
          <a:xfrm>
            <a:off x="6181725" y="1906785"/>
            <a:ext cx="5572125" cy="739080"/>
          </a:xfrm>
          <a:prstGeom prst="rect">
            <a:avLst/>
          </a:prstGeom>
          <a:noFill/>
          <a:ln>
            <a:noFill/>
          </a:ln>
        </p:spPr>
      </p:pic>
      <p:pic>
        <p:nvPicPr>
          <p:cNvPr descr="image.png" id="385" name="Google Shape;385;p20"/>
          <p:cNvPicPr preferRelativeResize="0"/>
          <p:nvPr/>
        </p:nvPicPr>
        <p:blipFill rotWithShape="1">
          <a:blip r:embed="rId12">
            <a:alphaModFix/>
          </a:blip>
          <a:srcRect b="0" l="0" r="0" t="0"/>
          <a:stretch/>
        </p:blipFill>
        <p:spPr>
          <a:xfrm>
            <a:off x="438150" y="6515100"/>
            <a:ext cx="11315700" cy="228600"/>
          </a:xfrm>
          <a:prstGeom prst="rect">
            <a:avLst/>
          </a:prstGeom>
          <a:noFill/>
          <a:ln>
            <a:noFill/>
          </a:ln>
        </p:spPr>
      </p:pic>
      <p:pic>
        <p:nvPicPr>
          <p:cNvPr descr="image.png" id="386" name="Google Shape;386;p20"/>
          <p:cNvPicPr preferRelativeResize="0"/>
          <p:nvPr/>
        </p:nvPicPr>
        <p:blipFill rotWithShape="1">
          <a:blip r:embed="rId13">
            <a:alphaModFix/>
          </a:blip>
          <a:srcRect b="0" l="0" r="0" t="0"/>
          <a:stretch/>
        </p:blipFill>
        <p:spPr>
          <a:xfrm>
            <a:off x="11060310" y="328612"/>
            <a:ext cx="693539" cy="180975"/>
          </a:xfrm>
          <a:prstGeom prst="rect">
            <a:avLst/>
          </a:prstGeom>
          <a:noFill/>
          <a:ln>
            <a:noFill/>
          </a:ln>
        </p:spPr>
      </p:pic>
      <p:sp>
        <p:nvSpPr>
          <p:cNvPr id="387" name="Google Shape;387;p20"/>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388" name="Google Shape;388;p20"/>
          <p:cNvSpPr txBox="1"/>
          <p:nvPr/>
        </p:nvSpPr>
        <p:spPr>
          <a:xfrm>
            <a:off x="10498038" y="6615112"/>
            <a:ext cx="1255811"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07 / SYSTEM BOUNDARY</a:t>
            </a:r>
            <a:endParaRPr/>
          </a:p>
        </p:txBody>
      </p:sp>
      <p:pic>
        <p:nvPicPr>
          <p:cNvPr descr="image.png" id="389" name="Google Shape;389;p20"/>
          <p:cNvPicPr preferRelativeResize="0"/>
          <p:nvPr/>
        </p:nvPicPr>
        <p:blipFill rotWithShape="1">
          <a:blip r:embed="rId14">
            <a:alphaModFix/>
          </a:blip>
          <a:srcRect b="0" l="0" r="0" t="0"/>
          <a:stretch/>
        </p:blipFill>
        <p:spPr>
          <a:xfrm>
            <a:off x="438150" y="323850"/>
            <a:ext cx="1834901" cy="190500"/>
          </a:xfrm>
          <a:prstGeom prst="rect">
            <a:avLst/>
          </a:prstGeom>
          <a:noFill/>
          <a:ln>
            <a:noFill/>
          </a:ln>
        </p:spPr>
      </p:pic>
      <p:sp>
        <p:nvSpPr>
          <p:cNvPr id="390" name="Google Shape;390;p20"/>
          <p:cNvSpPr txBox="1"/>
          <p:nvPr/>
        </p:nvSpPr>
        <p:spPr>
          <a:xfrm>
            <a:off x="2270075" y="14067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391" name="Google Shape;391;p20"/>
          <p:cNvSpPr txBox="1"/>
          <p:nvPr/>
        </p:nvSpPr>
        <p:spPr>
          <a:xfrm>
            <a:off x="4149625" y="14067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392" name="Google Shape;392;p20"/>
          <p:cNvSpPr txBox="1"/>
          <p:nvPr/>
        </p:nvSpPr>
        <p:spPr>
          <a:xfrm>
            <a:off x="6029176" y="14067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393" name="Google Shape;393;p20"/>
          <p:cNvSpPr txBox="1"/>
          <p:nvPr/>
        </p:nvSpPr>
        <p:spPr>
          <a:xfrm>
            <a:off x="7908726" y="14067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394" name="Google Shape;394;p20"/>
          <p:cNvSpPr txBox="1"/>
          <p:nvPr/>
        </p:nvSpPr>
        <p:spPr>
          <a:xfrm>
            <a:off x="9788276" y="14067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395" name="Google Shape;395;p20"/>
          <p:cNvSpPr txBox="1"/>
          <p:nvPr/>
        </p:nvSpPr>
        <p:spPr>
          <a:xfrm>
            <a:off x="628650" y="2864941"/>
            <a:ext cx="109632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JetBrains Mono"/>
                <a:ea typeface="JetBrains Mono"/>
                <a:cs typeface="JetBrains Mono"/>
                <a:sym typeface="JetBrains Mono"/>
              </a:rPr>
              <a:t>It = Et + Ct + ΔSt</a:t>
            </a:r>
            <a:endParaRPr/>
          </a:p>
        </p:txBody>
      </p:sp>
      <p:sp>
        <p:nvSpPr>
          <p:cNvPr id="396" name="Google Shape;396;p20"/>
          <p:cNvSpPr txBox="1"/>
          <p:nvPr/>
        </p:nvSpPr>
        <p:spPr>
          <a:xfrm>
            <a:off x="628650" y="3131641"/>
            <a:ext cx="3920579"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64748B"/>
                </a:solidFill>
                <a:latin typeface="Noto Sans SC"/>
                <a:ea typeface="Noto Sans SC"/>
                <a:cs typeface="Noto Sans SC"/>
                <a:sym typeface="Noto Sans SC"/>
              </a:rPr>
              <a:t>顶层守恒：外部输入 = 最终排放 + 不可恢复消耗 + 储量变化。内部回用不重复计入。</a:t>
            </a:r>
            <a:endParaRPr/>
          </a:p>
        </p:txBody>
      </p:sp>
      <p:pic>
        <p:nvPicPr>
          <p:cNvPr descr="image.png" id="397" name="Google Shape;397;p20"/>
          <p:cNvPicPr preferRelativeResize="0"/>
          <p:nvPr/>
        </p:nvPicPr>
        <p:blipFill rotWithShape="1">
          <a:blip r:embed="rId15">
            <a:alphaModFix/>
          </a:blip>
          <a:srcRect b="0" l="0" r="0" t="0"/>
          <a:stretch/>
        </p:blipFill>
        <p:spPr>
          <a:xfrm>
            <a:off x="438150" y="6619875"/>
            <a:ext cx="81557" cy="104775"/>
          </a:xfrm>
          <a:prstGeom prst="rect">
            <a:avLst/>
          </a:prstGeom>
          <a:noFill/>
          <a:ln>
            <a:noFill/>
          </a:ln>
        </p:spPr>
      </p:pic>
      <p:pic>
        <p:nvPicPr>
          <p:cNvPr descr="image.png" id="398" name="Google Shape;398;p20"/>
          <p:cNvPicPr preferRelativeResize="0"/>
          <p:nvPr/>
        </p:nvPicPr>
        <p:blipFill rotWithShape="1">
          <a:blip r:embed="rId16">
            <a:alphaModFix/>
          </a:blip>
          <a:srcRect b="0" l="0" r="0" t="0"/>
          <a:stretch/>
        </p:blipFill>
        <p:spPr>
          <a:xfrm>
            <a:off x="542925" y="364331"/>
            <a:ext cx="92868" cy="109537"/>
          </a:xfrm>
          <a:prstGeom prst="rect">
            <a:avLst/>
          </a:prstGeom>
          <a:noFill/>
          <a:ln>
            <a:noFill/>
          </a:ln>
        </p:spPr>
      </p:pic>
      <p:sp>
        <p:nvSpPr>
          <p:cNvPr id="399" name="Google Shape;399;p20"/>
          <p:cNvSpPr txBox="1"/>
          <p:nvPr/>
        </p:nvSpPr>
        <p:spPr>
          <a:xfrm>
            <a:off x="704850" y="1401960"/>
            <a:ext cx="13842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外部水源</a:t>
            </a:r>
            <a:endParaRPr/>
          </a:p>
        </p:txBody>
      </p:sp>
      <p:sp>
        <p:nvSpPr>
          <p:cNvPr id="400" name="Google Shape;400;p20"/>
          <p:cNvSpPr txBox="1"/>
          <p:nvPr/>
        </p:nvSpPr>
        <p:spPr>
          <a:xfrm>
            <a:off x="2584400" y="1401960"/>
            <a:ext cx="13842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WTP 给水厂</a:t>
            </a:r>
            <a:endParaRPr/>
          </a:p>
        </p:txBody>
      </p:sp>
      <p:sp>
        <p:nvSpPr>
          <p:cNvPr id="401" name="Google Shape;401;p20"/>
          <p:cNvSpPr txBox="1"/>
          <p:nvPr/>
        </p:nvSpPr>
        <p:spPr>
          <a:xfrm>
            <a:off x="4463950" y="1401960"/>
            <a:ext cx="13842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传统用户 / AI节点</a:t>
            </a:r>
            <a:endParaRPr/>
          </a:p>
        </p:txBody>
      </p:sp>
      <p:sp>
        <p:nvSpPr>
          <p:cNvPr id="402" name="Google Shape;402;p20"/>
          <p:cNvSpPr txBox="1"/>
          <p:nvPr/>
        </p:nvSpPr>
        <p:spPr>
          <a:xfrm>
            <a:off x="6343501" y="1401960"/>
            <a:ext cx="13842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WWTP 污水厂</a:t>
            </a:r>
            <a:endParaRPr/>
          </a:p>
        </p:txBody>
      </p:sp>
      <p:sp>
        <p:nvSpPr>
          <p:cNvPr id="403" name="Google Shape;403;p20"/>
          <p:cNvSpPr txBox="1"/>
          <p:nvPr/>
        </p:nvSpPr>
        <p:spPr>
          <a:xfrm>
            <a:off x="8223051" y="1401960"/>
            <a:ext cx="13842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再生水厂</a:t>
            </a:r>
            <a:endParaRPr/>
          </a:p>
        </p:txBody>
      </p:sp>
      <p:sp>
        <p:nvSpPr>
          <p:cNvPr id="404" name="Google Shape;404;p20"/>
          <p:cNvSpPr txBox="1"/>
          <p:nvPr/>
        </p:nvSpPr>
        <p:spPr>
          <a:xfrm>
            <a:off x="10102601" y="1401960"/>
            <a:ext cx="138425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最终排放 / 回用</a:t>
            </a:r>
            <a:endParaRPr/>
          </a:p>
        </p:txBody>
      </p:sp>
      <p:sp>
        <p:nvSpPr>
          <p:cNvPr id="405" name="Google Shape;405;p20"/>
          <p:cNvSpPr txBox="1"/>
          <p:nvPr/>
        </p:nvSpPr>
        <p:spPr>
          <a:xfrm>
            <a:off x="806499" y="2068710"/>
            <a:ext cx="527394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拓扑架构与流程接口</a:t>
            </a:r>
            <a:endParaRPr/>
          </a:p>
        </p:txBody>
      </p:sp>
      <p:sp>
        <p:nvSpPr>
          <p:cNvPr id="406" name="Google Shape;406;p20"/>
          <p:cNvSpPr txBox="1"/>
          <p:nvPr/>
        </p:nvSpPr>
        <p:spPr>
          <a:xfrm>
            <a:off x="619125" y="2306835"/>
            <a:ext cx="5210175"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AI节点深度嵌入城市“外部水源 → WTP → 传统用户/AI节点 → WWTP → 再生水 → 最终排放”网络。</a:t>
            </a:r>
            <a:endParaRPr/>
          </a:p>
        </p:txBody>
      </p:sp>
      <p:sp>
        <p:nvSpPr>
          <p:cNvPr id="407" name="Google Shape;407;p20"/>
          <p:cNvSpPr txBox="1"/>
          <p:nvPr/>
        </p:nvSpPr>
        <p:spPr>
          <a:xfrm>
            <a:off x="6550074" y="2068710"/>
            <a:ext cx="527394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物理闭合规则</a:t>
            </a:r>
            <a:endParaRPr/>
          </a:p>
        </p:txBody>
      </p:sp>
      <p:sp>
        <p:nvSpPr>
          <p:cNvPr id="408" name="Google Shape;408;p20"/>
          <p:cNvSpPr txBox="1"/>
          <p:nvPr/>
        </p:nvSpPr>
        <p:spPr>
          <a:xfrm>
            <a:off x="6362700" y="2306835"/>
            <a:ext cx="5210175"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冷却排污需经过厂内回收与处理损失判断，严禁在网络中无故消失或重复计数。</a:t>
            </a:r>
            <a:endParaRPr/>
          </a:p>
        </p:txBody>
      </p:sp>
      <p:pic>
        <p:nvPicPr>
          <p:cNvPr descr="image.png" id="409" name="Google Shape;409;p20"/>
          <p:cNvPicPr preferRelativeResize="0"/>
          <p:nvPr/>
        </p:nvPicPr>
        <p:blipFill rotWithShape="1">
          <a:blip r:embed="rId17">
            <a:alphaModFix/>
          </a:blip>
          <a:srcRect b="0" l="0" r="0" t="0"/>
          <a:stretch/>
        </p:blipFill>
        <p:spPr>
          <a:xfrm>
            <a:off x="619125" y="2087760"/>
            <a:ext cx="111174" cy="142875"/>
          </a:xfrm>
          <a:prstGeom prst="rect">
            <a:avLst/>
          </a:prstGeom>
          <a:noFill/>
          <a:ln>
            <a:noFill/>
          </a:ln>
        </p:spPr>
      </p:pic>
      <p:pic>
        <p:nvPicPr>
          <p:cNvPr descr="image.png" id="410" name="Google Shape;410;p20"/>
          <p:cNvPicPr preferRelativeResize="0"/>
          <p:nvPr/>
        </p:nvPicPr>
        <p:blipFill rotWithShape="1">
          <a:blip r:embed="rId18">
            <a:alphaModFix/>
          </a:blip>
          <a:srcRect b="0" l="0" r="0" t="0"/>
          <a:stretch/>
        </p:blipFill>
        <p:spPr>
          <a:xfrm>
            <a:off x="6362700" y="2087760"/>
            <a:ext cx="111174" cy="142875"/>
          </a:xfrm>
          <a:prstGeom prst="rect">
            <a:avLst/>
          </a:prstGeom>
          <a:noFill/>
          <a:ln>
            <a:noFill/>
          </a:ln>
        </p:spPr>
      </p:pic>
      <p:sp>
        <p:nvSpPr>
          <p:cNvPr id="411" name="Google Shape;411;p20"/>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AI-UWM系统边界：从外部水源到最终排放的闭合网络</a:t>
            </a:r>
            <a:endParaRPr/>
          </a:p>
        </p:txBody>
      </p:sp>
      <p:sp>
        <p:nvSpPr>
          <p:cNvPr id="412" name="Google Shape;412;p20"/>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6" name="Shape 416"/>
        <p:cNvGrpSpPr/>
        <p:nvPr/>
      </p:nvGrpSpPr>
      <p:grpSpPr>
        <a:xfrm>
          <a:off x="0" y="0"/>
          <a:ext cx="0" cy="0"/>
          <a:chOff x="0" y="0"/>
          <a:chExt cx="0" cy="0"/>
        </a:xfrm>
      </p:grpSpPr>
      <p:pic>
        <p:nvPicPr>
          <p:cNvPr descr="image.png" id="417" name="Google Shape;417;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18" name="Google Shape;418;p21"/>
          <p:cNvPicPr preferRelativeResize="0"/>
          <p:nvPr/>
        </p:nvPicPr>
        <p:blipFill rotWithShape="1">
          <a:blip r:embed="rId4">
            <a:alphaModFix/>
          </a:blip>
          <a:srcRect b="0" l="0" r="0" t="0"/>
          <a:stretch/>
        </p:blipFill>
        <p:spPr>
          <a:xfrm>
            <a:off x="438150" y="1192410"/>
            <a:ext cx="11315700" cy="733425"/>
          </a:xfrm>
          <a:prstGeom prst="rect">
            <a:avLst/>
          </a:prstGeom>
          <a:noFill/>
          <a:ln>
            <a:noFill/>
          </a:ln>
        </p:spPr>
      </p:pic>
      <p:pic>
        <p:nvPicPr>
          <p:cNvPr descr="image.png" id="419" name="Google Shape;419;p21"/>
          <p:cNvPicPr preferRelativeResize="0"/>
          <p:nvPr/>
        </p:nvPicPr>
        <p:blipFill rotWithShape="1">
          <a:blip r:embed="rId5">
            <a:alphaModFix/>
          </a:blip>
          <a:srcRect b="0" l="0" r="0" t="0"/>
          <a:stretch/>
        </p:blipFill>
        <p:spPr>
          <a:xfrm>
            <a:off x="438150" y="3089671"/>
            <a:ext cx="11315700" cy="609302"/>
          </a:xfrm>
          <a:prstGeom prst="rect">
            <a:avLst/>
          </a:prstGeom>
          <a:noFill/>
          <a:ln>
            <a:noFill/>
          </a:ln>
        </p:spPr>
      </p:pic>
      <p:pic>
        <p:nvPicPr>
          <p:cNvPr descr="image.png" id="420" name="Google Shape;420;p21"/>
          <p:cNvPicPr preferRelativeResize="0"/>
          <p:nvPr/>
        </p:nvPicPr>
        <p:blipFill rotWithShape="1">
          <a:blip r:embed="rId6">
            <a:alphaModFix/>
          </a:blip>
          <a:srcRect b="0" l="0" r="0" t="0"/>
          <a:stretch/>
        </p:blipFill>
        <p:spPr>
          <a:xfrm>
            <a:off x="600075" y="1316235"/>
            <a:ext cx="2533650" cy="485775"/>
          </a:xfrm>
          <a:prstGeom prst="rect">
            <a:avLst/>
          </a:prstGeom>
          <a:noFill/>
          <a:ln>
            <a:noFill/>
          </a:ln>
        </p:spPr>
      </p:pic>
      <p:pic>
        <p:nvPicPr>
          <p:cNvPr descr="image.png" id="421" name="Google Shape;421;p21"/>
          <p:cNvPicPr preferRelativeResize="0"/>
          <p:nvPr/>
        </p:nvPicPr>
        <p:blipFill rotWithShape="1">
          <a:blip r:embed="rId7">
            <a:alphaModFix/>
          </a:blip>
          <a:srcRect b="0" l="0" r="0" t="0"/>
          <a:stretch/>
        </p:blipFill>
        <p:spPr>
          <a:xfrm>
            <a:off x="3419475" y="1316235"/>
            <a:ext cx="2533650" cy="485775"/>
          </a:xfrm>
          <a:prstGeom prst="rect">
            <a:avLst/>
          </a:prstGeom>
          <a:noFill/>
          <a:ln>
            <a:noFill/>
          </a:ln>
        </p:spPr>
      </p:pic>
      <p:pic>
        <p:nvPicPr>
          <p:cNvPr descr="image.png" id="422" name="Google Shape;422;p21"/>
          <p:cNvPicPr preferRelativeResize="0"/>
          <p:nvPr/>
        </p:nvPicPr>
        <p:blipFill rotWithShape="1">
          <a:blip r:embed="rId8">
            <a:alphaModFix/>
          </a:blip>
          <a:srcRect b="0" l="0" r="0" t="0"/>
          <a:stretch/>
        </p:blipFill>
        <p:spPr>
          <a:xfrm>
            <a:off x="6238875" y="1316235"/>
            <a:ext cx="2533650" cy="485775"/>
          </a:xfrm>
          <a:prstGeom prst="rect">
            <a:avLst/>
          </a:prstGeom>
          <a:noFill/>
          <a:ln>
            <a:noFill/>
          </a:ln>
        </p:spPr>
      </p:pic>
      <p:pic>
        <p:nvPicPr>
          <p:cNvPr descr="image.png" id="423" name="Google Shape;423;p21"/>
          <p:cNvPicPr preferRelativeResize="0"/>
          <p:nvPr/>
        </p:nvPicPr>
        <p:blipFill rotWithShape="1">
          <a:blip r:embed="rId9">
            <a:alphaModFix/>
          </a:blip>
          <a:srcRect b="0" l="0" r="0" t="0"/>
          <a:stretch/>
        </p:blipFill>
        <p:spPr>
          <a:xfrm>
            <a:off x="9058275" y="1316235"/>
            <a:ext cx="2533650" cy="485775"/>
          </a:xfrm>
          <a:prstGeom prst="rect">
            <a:avLst/>
          </a:prstGeom>
          <a:noFill/>
          <a:ln>
            <a:noFill/>
          </a:ln>
        </p:spPr>
      </p:pic>
      <p:pic>
        <p:nvPicPr>
          <p:cNvPr descr="image.png" id="424" name="Google Shape;424;p21"/>
          <p:cNvPicPr preferRelativeResize="0"/>
          <p:nvPr/>
        </p:nvPicPr>
        <p:blipFill rotWithShape="1">
          <a:blip r:embed="rId10">
            <a:alphaModFix/>
          </a:blip>
          <a:srcRect b="0" l="0" r="0" t="0"/>
          <a:stretch/>
        </p:blipFill>
        <p:spPr>
          <a:xfrm>
            <a:off x="438150" y="2059185"/>
            <a:ext cx="5572125" cy="916185"/>
          </a:xfrm>
          <a:prstGeom prst="rect">
            <a:avLst/>
          </a:prstGeom>
          <a:noFill/>
          <a:ln>
            <a:noFill/>
          </a:ln>
        </p:spPr>
      </p:pic>
      <p:pic>
        <p:nvPicPr>
          <p:cNvPr descr="image.png" id="425" name="Google Shape;425;p21"/>
          <p:cNvPicPr preferRelativeResize="0"/>
          <p:nvPr/>
        </p:nvPicPr>
        <p:blipFill rotWithShape="1">
          <a:blip r:embed="rId11">
            <a:alphaModFix/>
          </a:blip>
          <a:srcRect b="0" l="0" r="0" t="0"/>
          <a:stretch/>
        </p:blipFill>
        <p:spPr>
          <a:xfrm>
            <a:off x="6181725" y="2059185"/>
            <a:ext cx="5572125" cy="916185"/>
          </a:xfrm>
          <a:prstGeom prst="rect">
            <a:avLst/>
          </a:prstGeom>
          <a:noFill/>
          <a:ln>
            <a:noFill/>
          </a:ln>
        </p:spPr>
      </p:pic>
      <p:pic>
        <p:nvPicPr>
          <p:cNvPr descr="image.png" id="426" name="Google Shape;426;p21"/>
          <p:cNvPicPr preferRelativeResize="0"/>
          <p:nvPr/>
        </p:nvPicPr>
        <p:blipFill rotWithShape="1">
          <a:blip r:embed="rId12">
            <a:alphaModFix/>
          </a:blip>
          <a:srcRect b="0" l="0" r="0" t="0"/>
          <a:stretch/>
        </p:blipFill>
        <p:spPr>
          <a:xfrm>
            <a:off x="438150" y="6515100"/>
            <a:ext cx="11315700" cy="228600"/>
          </a:xfrm>
          <a:prstGeom prst="rect">
            <a:avLst/>
          </a:prstGeom>
          <a:noFill/>
          <a:ln>
            <a:noFill/>
          </a:ln>
        </p:spPr>
      </p:pic>
      <p:pic>
        <p:nvPicPr>
          <p:cNvPr descr="image.png" id="427" name="Google Shape;427;p21"/>
          <p:cNvPicPr preferRelativeResize="0"/>
          <p:nvPr/>
        </p:nvPicPr>
        <p:blipFill rotWithShape="1">
          <a:blip r:embed="rId13">
            <a:alphaModFix/>
          </a:blip>
          <a:srcRect b="0" l="0" r="0" t="0"/>
          <a:stretch/>
        </p:blipFill>
        <p:spPr>
          <a:xfrm>
            <a:off x="11060310" y="328612"/>
            <a:ext cx="693539" cy="180975"/>
          </a:xfrm>
          <a:prstGeom prst="rect">
            <a:avLst/>
          </a:prstGeom>
          <a:noFill/>
          <a:ln>
            <a:noFill/>
          </a:ln>
        </p:spPr>
      </p:pic>
      <p:sp>
        <p:nvSpPr>
          <p:cNvPr id="428" name="Google Shape;428;p21"/>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429" name="Google Shape;429;p21"/>
          <p:cNvSpPr txBox="1"/>
          <p:nvPr/>
        </p:nvSpPr>
        <p:spPr>
          <a:xfrm>
            <a:off x="10309919" y="6615112"/>
            <a:ext cx="1443930"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08 / PROCESS ACCOUNTING</a:t>
            </a:r>
            <a:endParaRPr/>
          </a:p>
        </p:txBody>
      </p:sp>
      <p:pic>
        <p:nvPicPr>
          <p:cNvPr descr="image.png" id="430" name="Google Shape;430;p21"/>
          <p:cNvPicPr preferRelativeResize="0"/>
          <p:nvPr/>
        </p:nvPicPr>
        <p:blipFill rotWithShape="1">
          <a:blip r:embed="rId14">
            <a:alphaModFix/>
          </a:blip>
          <a:srcRect b="0" l="0" r="0" t="0"/>
          <a:stretch/>
        </p:blipFill>
        <p:spPr>
          <a:xfrm>
            <a:off x="438150" y="323850"/>
            <a:ext cx="2052488" cy="190500"/>
          </a:xfrm>
          <a:prstGeom prst="rect">
            <a:avLst/>
          </a:prstGeom>
          <a:noFill/>
          <a:ln>
            <a:noFill/>
          </a:ln>
        </p:spPr>
      </p:pic>
      <p:sp>
        <p:nvSpPr>
          <p:cNvPr id="431" name="Google Shape;431;p21"/>
          <p:cNvSpPr txBox="1"/>
          <p:nvPr/>
        </p:nvSpPr>
        <p:spPr>
          <a:xfrm>
            <a:off x="3209925" y="14829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432" name="Google Shape;432;p21"/>
          <p:cNvSpPr txBox="1"/>
          <p:nvPr/>
        </p:nvSpPr>
        <p:spPr>
          <a:xfrm>
            <a:off x="6029325" y="14829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433" name="Google Shape;433;p21"/>
          <p:cNvSpPr txBox="1"/>
          <p:nvPr/>
        </p:nvSpPr>
        <p:spPr>
          <a:xfrm>
            <a:off x="8848725" y="1482923"/>
            <a:ext cx="1333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Noto Sans SC"/>
                <a:ea typeface="Noto Sans SC"/>
                <a:cs typeface="Noto Sans SC"/>
                <a:sym typeface="Noto Sans SC"/>
              </a:rPr>
              <a:t>→</a:t>
            </a:r>
            <a:endParaRPr/>
          </a:p>
        </p:txBody>
      </p:sp>
      <p:sp>
        <p:nvSpPr>
          <p:cNvPr id="434" name="Google Shape;434;p21"/>
          <p:cNvSpPr txBox="1"/>
          <p:nvPr/>
        </p:nvSpPr>
        <p:spPr>
          <a:xfrm>
            <a:off x="590550" y="3203971"/>
            <a:ext cx="11010900" cy="184546"/>
          </a:xfrm>
          <a:prstGeom prst="rect">
            <a:avLst/>
          </a:prstGeom>
          <a:noFill/>
          <a:ln>
            <a:noFill/>
          </a:ln>
        </p:spPr>
        <p:txBody>
          <a:bodyPr anchorCtr="0" anchor="t" bIns="0" lIns="92700" spcFirstLastPara="1" rIns="0" wrap="square" tIns="0">
            <a:spAutoFit/>
          </a:bodyPr>
          <a:lstStyle/>
          <a:p>
            <a:pPr indent="0" lvl="0" marL="0" marR="0" rtl="0" algn="l">
              <a:lnSpc>
                <a:spcPct val="155069"/>
              </a:lnSpc>
              <a:spcBef>
                <a:spcPts val="0"/>
              </a:spcBef>
              <a:spcAft>
                <a:spcPts val="0"/>
              </a:spcAft>
              <a:buNone/>
            </a:pPr>
            <a:r>
              <a:rPr b="1" i="0" lang="en-US" sz="937" u="none" cap="none" strike="noStrike">
                <a:solidFill>
                  <a:srgbClr val="38BDF8"/>
                </a:solidFill>
                <a:latin typeface="Noto Sans SC"/>
                <a:ea typeface="Noto Sans SC"/>
                <a:cs typeface="Noto Sans SC"/>
                <a:sym typeface="Noto Sans SC"/>
              </a:rPr>
              <a:t>双重并行受纳约束 (Dual Constraints)</a:t>
            </a:r>
            <a:endParaRPr/>
          </a:p>
        </p:txBody>
      </p:sp>
      <p:sp>
        <p:nvSpPr>
          <p:cNvPr id="435" name="Google Shape;435;p21"/>
          <p:cNvSpPr txBox="1"/>
          <p:nvPr/>
        </p:nvSpPr>
        <p:spPr>
          <a:xfrm>
            <a:off x="590550" y="3407568"/>
            <a:ext cx="11010900"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CBD5E1"/>
                </a:solidFill>
                <a:latin typeface="Noto Sans SC"/>
                <a:ea typeface="Noto Sans SC"/>
                <a:cs typeface="Noto Sans SC"/>
                <a:sym typeface="Noto Sans SC"/>
              </a:rPr>
              <a:t>水量约束与水质约束并行，避免</a:t>
            </a:r>
            <a:r>
              <a:rPr b="1" i="0" lang="en-US" sz="900" u="none" cap="none" strike="noStrike">
                <a:solidFill>
                  <a:srgbClr val="CBD5E1"/>
                </a:solidFill>
                <a:latin typeface="Noto Sans SC"/>
                <a:ea typeface="Noto Sans SC"/>
                <a:cs typeface="Noto Sans SC"/>
                <a:sym typeface="Noto Sans SC"/>
              </a:rPr>
              <a:t>“水量有余而水质不可用”</a:t>
            </a:r>
            <a:r>
              <a:rPr b="0" i="0" lang="en-US" sz="900" u="none" cap="none" strike="noStrike">
                <a:solidFill>
                  <a:srgbClr val="CBD5E1"/>
                </a:solidFill>
                <a:latin typeface="Noto Sans SC"/>
                <a:ea typeface="Noto Sans SC"/>
                <a:cs typeface="Noto Sans SC"/>
                <a:sym typeface="Noto Sans SC"/>
              </a:rPr>
              <a:t>被模型掩盖的情况。</a:t>
            </a:r>
            <a:endParaRPr/>
          </a:p>
        </p:txBody>
      </p:sp>
      <p:pic>
        <p:nvPicPr>
          <p:cNvPr descr="image.png" id="436" name="Google Shape;436;p21"/>
          <p:cNvPicPr preferRelativeResize="0"/>
          <p:nvPr/>
        </p:nvPicPr>
        <p:blipFill rotWithShape="1">
          <a:blip r:embed="rId15">
            <a:alphaModFix/>
          </a:blip>
          <a:srcRect b="0" l="0" r="0" t="0"/>
          <a:stretch/>
        </p:blipFill>
        <p:spPr>
          <a:xfrm>
            <a:off x="438150" y="6619875"/>
            <a:ext cx="81557" cy="104775"/>
          </a:xfrm>
          <a:prstGeom prst="rect">
            <a:avLst/>
          </a:prstGeom>
          <a:noFill/>
          <a:ln>
            <a:noFill/>
          </a:ln>
        </p:spPr>
      </p:pic>
      <p:pic>
        <p:nvPicPr>
          <p:cNvPr descr="image.png" id="437" name="Google Shape;437;p21"/>
          <p:cNvPicPr preferRelativeResize="0"/>
          <p:nvPr/>
        </p:nvPicPr>
        <p:blipFill rotWithShape="1">
          <a:blip r:embed="rId16">
            <a:alphaModFix/>
          </a:blip>
          <a:srcRect b="0" l="0" r="0" t="0"/>
          <a:stretch/>
        </p:blipFill>
        <p:spPr>
          <a:xfrm>
            <a:off x="542925" y="364331"/>
            <a:ext cx="92868" cy="109537"/>
          </a:xfrm>
          <a:prstGeom prst="rect">
            <a:avLst/>
          </a:prstGeom>
          <a:noFill/>
          <a:ln>
            <a:noFill/>
          </a:ln>
        </p:spPr>
      </p:pic>
      <p:sp>
        <p:nvSpPr>
          <p:cNvPr id="438" name="Google Shape;438;p21"/>
          <p:cNvSpPr txBox="1"/>
          <p:nvPr/>
        </p:nvSpPr>
        <p:spPr>
          <a:xfrm>
            <a:off x="704850" y="1401960"/>
            <a:ext cx="232410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IT容量 + 负载率</a:t>
            </a:r>
            <a:endParaRPr/>
          </a:p>
        </p:txBody>
      </p:sp>
      <p:sp>
        <p:nvSpPr>
          <p:cNvPr id="439" name="Google Shape;439;p21"/>
          <p:cNvSpPr txBox="1"/>
          <p:nvPr/>
        </p:nvSpPr>
        <p:spPr>
          <a:xfrm>
            <a:off x="704850" y="1582935"/>
            <a:ext cx="2324100"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实际IT负荷</a:t>
            </a:r>
            <a:endParaRPr/>
          </a:p>
        </p:txBody>
      </p:sp>
      <p:sp>
        <p:nvSpPr>
          <p:cNvPr id="440" name="Google Shape;440;p21"/>
          <p:cNvSpPr txBox="1"/>
          <p:nvPr/>
        </p:nvSpPr>
        <p:spPr>
          <a:xfrm>
            <a:off x="3524250" y="1401960"/>
            <a:ext cx="232410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设施总功率 / PUE</a:t>
            </a:r>
            <a:endParaRPr/>
          </a:p>
        </p:txBody>
      </p:sp>
      <p:sp>
        <p:nvSpPr>
          <p:cNvPr id="441" name="Google Shape;441;p21"/>
          <p:cNvSpPr txBox="1"/>
          <p:nvPr/>
        </p:nvSpPr>
        <p:spPr>
          <a:xfrm>
            <a:off x="3524250" y="1582935"/>
            <a:ext cx="2324100"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热排散需求</a:t>
            </a:r>
            <a:endParaRPr/>
          </a:p>
        </p:txBody>
      </p:sp>
      <p:sp>
        <p:nvSpPr>
          <p:cNvPr id="442" name="Google Shape;442;p21"/>
          <p:cNvSpPr txBox="1"/>
          <p:nvPr/>
        </p:nvSpPr>
        <p:spPr>
          <a:xfrm>
            <a:off x="6343650" y="1401960"/>
            <a:ext cx="232410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蒸发 · 漂水 · 排污</a:t>
            </a:r>
            <a:endParaRPr/>
          </a:p>
        </p:txBody>
      </p:sp>
      <p:sp>
        <p:nvSpPr>
          <p:cNvPr id="443" name="Google Shape;443;p21"/>
          <p:cNvSpPr txBox="1"/>
          <p:nvPr/>
        </p:nvSpPr>
        <p:spPr>
          <a:xfrm>
            <a:off x="6343650" y="1582935"/>
            <a:ext cx="2324100"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冷却补水需求</a:t>
            </a:r>
            <a:endParaRPr/>
          </a:p>
        </p:txBody>
      </p:sp>
      <p:sp>
        <p:nvSpPr>
          <p:cNvPr id="444" name="Google Shape;444;p21"/>
          <p:cNvSpPr txBox="1"/>
          <p:nvPr/>
        </p:nvSpPr>
        <p:spPr>
          <a:xfrm>
            <a:off x="9163050" y="1401960"/>
            <a:ext cx="2324100" cy="161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厂内回用 / 处理损失</a:t>
            </a:r>
            <a:endParaRPr/>
          </a:p>
        </p:txBody>
      </p:sp>
      <p:sp>
        <p:nvSpPr>
          <p:cNvPr id="445" name="Google Shape;445;p21"/>
          <p:cNvSpPr txBox="1"/>
          <p:nvPr/>
        </p:nvSpPr>
        <p:spPr>
          <a:xfrm>
            <a:off x="9163050" y="1582935"/>
            <a:ext cx="2324100" cy="1333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64748B"/>
                </a:solidFill>
                <a:latin typeface="Noto Sans SC"/>
                <a:ea typeface="Noto Sans SC"/>
                <a:cs typeface="Noto Sans SC"/>
                <a:sym typeface="Noto Sans SC"/>
              </a:rPr>
              <a:t>污水回流 / 外排</a:t>
            </a:r>
            <a:endParaRPr/>
          </a:p>
        </p:txBody>
      </p:sp>
      <p:sp>
        <p:nvSpPr>
          <p:cNvPr id="446" name="Google Shape;446;p21"/>
          <p:cNvSpPr txBox="1"/>
          <p:nvPr/>
        </p:nvSpPr>
        <p:spPr>
          <a:xfrm>
            <a:off x="806499" y="2221110"/>
            <a:ext cx="527394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水量核算闭护</a:t>
            </a:r>
            <a:endParaRPr/>
          </a:p>
        </p:txBody>
      </p:sp>
      <p:sp>
        <p:nvSpPr>
          <p:cNvPr id="447" name="Google Shape;447;p21"/>
          <p:cNvSpPr txBox="1"/>
          <p:nvPr/>
        </p:nvSpPr>
        <p:spPr>
          <a:xfrm>
            <a:off x="619125" y="2459235"/>
            <a:ext cx="5210175" cy="354210"/>
          </a:xfrm>
          <a:prstGeom prst="rect">
            <a:avLst/>
          </a:prstGeom>
          <a:noFill/>
          <a:ln>
            <a:noFill/>
          </a:ln>
        </p:spPr>
        <p:txBody>
          <a:bodyPr anchorCtr="0" anchor="t" bIns="0" lIns="0" spcFirstLastPara="1" rIns="0" wrap="square" tIns="0">
            <a:spAutoFit/>
          </a:bodyPr>
          <a:lstStyle/>
          <a:p>
            <a:pPr indent="0" lvl="0" marL="0" marR="0" rtl="0" algn="l">
              <a:lnSpc>
                <a:spcPct val="775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外部输入 = 最终排放 + 不可恢复消耗 + 储量变化。</a:t>
            </a:r>
            <a:br>
              <a:rPr b="0" i="0" lang="en-US" sz="1800" u="none" cap="none" strike="noStrike">
                <a:solidFill>
                  <a:schemeClr val="dk1"/>
                </a:solidFill>
                <a:latin typeface="Calibri"/>
                <a:ea typeface="Calibri"/>
                <a:cs typeface="Calibri"/>
                <a:sym typeface="Calibri"/>
              </a:rPr>
            </a:br>
            <a:r>
              <a:rPr b="0" i="0" lang="en-US" sz="900" u="none" cap="none" strike="noStrike">
                <a:solidFill>
                  <a:srgbClr val="475569"/>
                </a:solidFill>
                <a:latin typeface="Noto Sans SC"/>
                <a:ea typeface="Noto Sans SC"/>
                <a:cs typeface="Noto Sans SC"/>
                <a:sym typeface="Noto Sans SC"/>
              </a:rPr>
              <a:t> 显式区分补水来源（淡水 vs 再生水）。</a:t>
            </a:r>
            <a:endParaRPr/>
          </a:p>
        </p:txBody>
      </p:sp>
      <p:sp>
        <p:nvSpPr>
          <p:cNvPr id="448" name="Google Shape;448;p21"/>
          <p:cNvSpPr txBox="1"/>
          <p:nvPr/>
        </p:nvSpPr>
        <p:spPr>
          <a:xfrm>
            <a:off x="6550074" y="2221110"/>
            <a:ext cx="527394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水质核算约束</a:t>
            </a:r>
            <a:endParaRPr/>
          </a:p>
        </p:txBody>
      </p:sp>
      <p:sp>
        <p:nvSpPr>
          <p:cNvPr id="449" name="Google Shape;449;p21"/>
          <p:cNvSpPr txBox="1"/>
          <p:nvPr/>
        </p:nvSpPr>
        <p:spPr>
          <a:xfrm>
            <a:off x="6362700" y="2459235"/>
            <a:ext cx="5210175" cy="354210"/>
          </a:xfrm>
          <a:prstGeom prst="rect">
            <a:avLst/>
          </a:prstGeom>
          <a:noFill/>
          <a:ln>
            <a:noFill/>
          </a:ln>
        </p:spPr>
        <p:txBody>
          <a:bodyPr anchorCtr="0" anchor="t" bIns="0" lIns="0" spcFirstLastPara="1" rIns="0" wrap="square" tIns="0">
            <a:spAutoFit/>
          </a:bodyPr>
          <a:lstStyle/>
          <a:p>
            <a:pPr indent="0" lvl="0" marL="0" marR="0" rtl="0" algn="l">
              <a:lnSpc>
                <a:spcPct val="775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追踪 TDS · 温度 · 药剂负荷 → 污水与再生水受纳约束。</a:t>
            </a:r>
            <a:br>
              <a:rPr b="0" i="0" lang="en-US" sz="1800" u="none" cap="none" strike="noStrike">
                <a:solidFill>
                  <a:schemeClr val="dk1"/>
                </a:solidFill>
                <a:latin typeface="Calibri"/>
                <a:ea typeface="Calibri"/>
                <a:cs typeface="Calibri"/>
                <a:sym typeface="Calibri"/>
              </a:rPr>
            </a:br>
            <a:r>
              <a:rPr b="0" i="0" lang="en-US" sz="900" u="none" cap="none" strike="noStrike">
                <a:solidFill>
                  <a:srgbClr val="475569"/>
                </a:solidFill>
                <a:latin typeface="Noto Sans SC"/>
                <a:ea typeface="Noto Sans SC"/>
                <a:cs typeface="Noto Sans SC"/>
                <a:sym typeface="Noto Sans SC"/>
              </a:rPr>
              <a:t> 防止高浓缩倍数排污损坏管网。</a:t>
            </a:r>
            <a:endParaRPr/>
          </a:p>
        </p:txBody>
      </p:sp>
      <p:pic>
        <p:nvPicPr>
          <p:cNvPr descr="image.png" id="450" name="Google Shape;450;p21"/>
          <p:cNvPicPr preferRelativeResize="0"/>
          <p:nvPr/>
        </p:nvPicPr>
        <p:blipFill rotWithShape="1">
          <a:blip r:embed="rId17">
            <a:alphaModFix/>
          </a:blip>
          <a:srcRect b="0" l="0" r="0" t="0"/>
          <a:stretch/>
        </p:blipFill>
        <p:spPr>
          <a:xfrm>
            <a:off x="590550" y="3232546"/>
            <a:ext cx="92719" cy="119062"/>
          </a:xfrm>
          <a:prstGeom prst="rect">
            <a:avLst/>
          </a:prstGeom>
          <a:noFill/>
          <a:ln>
            <a:noFill/>
          </a:ln>
        </p:spPr>
      </p:pic>
      <p:pic>
        <p:nvPicPr>
          <p:cNvPr descr="image.png" id="451" name="Google Shape;451;p21"/>
          <p:cNvPicPr preferRelativeResize="0"/>
          <p:nvPr/>
        </p:nvPicPr>
        <p:blipFill rotWithShape="1">
          <a:blip r:embed="rId18">
            <a:alphaModFix/>
          </a:blip>
          <a:srcRect b="0" l="0" r="0" t="0"/>
          <a:stretch/>
        </p:blipFill>
        <p:spPr>
          <a:xfrm>
            <a:off x="619125" y="2240160"/>
            <a:ext cx="111174" cy="142875"/>
          </a:xfrm>
          <a:prstGeom prst="rect">
            <a:avLst/>
          </a:prstGeom>
          <a:noFill/>
          <a:ln>
            <a:noFill/>
          </a:ln>
        </p:spPr>
      </p:pic>
      <p:pic>
        <p:nvPicPr>
          <p:cNvPr descr="image.png" id="452" name="Google Shape;452;p21"/>
          <p:cNvPicPr preferRelativeResize="0"/>
          <p:nvPr/>
        </p:nvPicPr>
        <p:blipFill rotWithShape="1">
          <a:blip r:embed="rId19">
            <a:alphaModFix/>
          </a:blip>
          <a:srcRect b="0" l="0" r="0" t="0"/>
          <a:stretch/>
        </p:blipFill>
        <p:spPr>
          <a:xfrm>
            <a:off x="6362700" y="2240160"/>
            <a:ext cx="111174" cy="142875"/>
          </a:xfrm>
          <a:prstGeom prst="rect">
            <a:avLst/>
          </a:prstGeom>
          <a:noFill/>
          <a:ln>
            <a:noFill/>
          </a:ln>
        </p:spPr>
      </p:pic>
      <p:sp>
        <p:nvSpPr>
          <p:cNvPr id="453" name="Google Shape;453;p21"/>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核心过程：AI冷却如何写入城市水网络</a:t>
            </a:r>
            <a:endParaRPr/>
          </a:p>
        </p:txBody>
      </p:sp>
      <p:sp>
        <p:nvSpPr>
          <p:cNvPr id="454" name="Google Shape;454;p21"/>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5" name="Rounded Rectangle 454"/>
          <p:cNvSpPr/>
          <p:nvPr/>
        </p:nvSpPr>
        <p:spPr>
          <a:xfrm>
            <a:off x="658368" y="4160520"/>
            <a:ext cx="9646920" cy="1115568"/>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TextBox 455"/>
          <p:cNvSpPr txBox="1"/>
          <p:nvPr/>
        </p:nvSpPr>
        <p:spPr>
          <a:xfrm>
            <a:off x="896112" y="4370832"/>
            <a:ext cx="914400" cy="210312"/>
          </a:xfrm>
          <a:prstGeom prst="rect">
            <a:avLst/>
          </a:prstGeom>
          <a:noFill/>
        </p:spPr>
        <p:txBody>
          <a:bodyPr wrap="square" lIns="0" rIns="0" tIns="0" bIns="0" anchor="t">
            <a:spAutoFit/>
          </a:bodyPr>
          <a:lstStyle/>
          <a:p>
            <a:pPr algn="l"/>
            <a:r>
              <a:rPr sz="1500" b="1" i="0">
                <a:solidFill>
                  <a:srgbClr val="172B4D"/>
                </a:solidFill>
                <a:latin typeface="Microsoft YaHei"/>
              </a:rPr>
              <a:t>研究路线</a:t>
            </a:r>
          </a:p>
        </p:txBody>
      </p:sp>
      <p:sp>
        <p:nvSpPr>
          <p:cNvPr id="457" name="Rounded Rectangle 456"/>
          <p:cNvSpPr/>
          <p:nvPr/>
        </p:nvSpPr>
        <p:spPr>
          <a:xfrm>
            <a:off x="1920240" y="4315968"/>
            <a:ext cx="141732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TextBox 457"/>
          <p:cNvSpPr txBox="1"/>
          <p:nvPr/>
        </p:nvSpPr>
        <p:spPr>
          <a:xfrm>
            <a:off x="2011680" y="4329683"/>
            <a:ext cx="1234440" cy="201168"/>
          </a:xfrm>
          <a:prstGeom prst="rect">
            <a:avLst/>
          </a:prstGeom>
          <a:noFill/>
        </p:spPr>
        <p:txBody>
          <a:bodyPr wrap="square" lIns="0" rIns="0" tIns="0" bIns="0" anchor="ctr">
            <a:spAutoFit/>
          </a:bodyPr>
          <a:lstStyle/>
          <a:p>
            <a:pPr algn="ctr"/>
            <a:r>
              <a:rPr sz="950" b="1" i="0">
                <a:solidFill>
                  <a:srgbClr val="2388C9"/>
                </a:solidFill>
                <a:latin typeface="Microsoft YaHei"/>
              </a:rPr>
              <a:t>参数校准</a:t>
            </a:r>
          </a:p>
        </p:txBody>
      </p:sp>
      <p:sp>
        <p:nvSpPr>
          <p:cNvPr id="459" name="TextBox 458"/>
          <p:cNvSpPr txBox="1"/>
          <p:nvPr/>
        </p:nvSpPr>
        <p:spPr>
          <a:xfrm>
            <a:off x="1920240" y="4645152"/>
            <a:ext cx="1572768" cy="301752"/>
          </a:xfrm>
          <a:prstGeom prst="rect">
            <a:avLst/>
          </a:prstGeom>
          <a:noFill/>
        </p:spPr>
        <p:txBody>
          <a:bodyPr wrap="square" lIns="0" rIns="0" tIns="0" bIns="0" anchor="t">
            <a:spAutoFit/>
          </a:bodyPr>
          <a:lstStyle/>
          <a:p>
            <a:pPr algn="l"/>
            <a:r>
              <a:rPr sz="1000" b="0" i="0">
                <a:solidFill>
                  <a:srgbClr val="53657A"/>
                </a:solidFill>
                <a:latin typeface="Microsoft YaHei"/>
              </a:rPr>
              <a:t>PUE / CoC / WUE与水网基准</a:t>
            </a:r>
          </a:p>
        </p:txBody>
      </p:sp>
      <p:sp>
        <p:nvSpPr>
          <p:cNvPr id="460" name="TextBox 459"/>
          <p:cNvSpPr txBox="1"/>
          <p:nvPr/>
        </p:nvSpPr>
        <p:spPr>
          <a:xfrm>
            <a:off x="3474720" y="4416552"/>
            <a:ext cx="228600" cy="228600"/>
          </a:xfrm>
          <a:prstGeom prst="rect">
            <a:avLst/>
          </a:prstGeom>
          <a:noFill/>
        </p:spPr>
        <p:txBody>
          <a:bodyPr wrap="square" lIns="0" rIns="0" tIns="0" bIns="0" anchor="t">
            <a:spAutoFit/>
          </a:bodyPr>
          <a:lstStyle/>
          <a:p>
            <a:pPr algn="l"/>
            <a:r>
              <a:rPr sz="1800" b="1" i="0">
                <a:solidFill>
                  <a:srgbClr val="1BA6A6"/>
                </a:solidFill>
                <a:latin typeface="Microsoft YaHei"/>
              </a:rPr>
              <a:t>→</a:t>
            </a:r>
          </a:p>
        </p:txBody>
      </p:sp>
      <p:sp>
        <p:nvSpPr>
          <p:cNvPr id="461" name="Rounded Rectangle 460"/>
          <p:cNvSpPr/>
          <p:nvPr/>
        </p:nvSpPr>
        <p:spPr>
          <a:xfrm>
            <a:off x="3931920" y="4315968"/>
            <a:ext cx="141732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TextBox 461"/>
          <p:cNvSpPr txBox="1"/>
          <p:nvPr/>
        </p:nvSpPr>
        <p:spPr>
          <a:xfrm>
            <a:off x="4023360" y="4329683"/>
            <a:ext cx="1234440" cy="201168"/>
          </a:xfrm>
          <a:prstGeom prst="rect">
            <a:avLst/>
          </a:prstGeom>
          <a:noFill/>
        </p:spPr>
        <p:txBody>
          <a:bodyPr wrap="square" lIns="0" rIns="0" tIns="0" bIns="0" anchor="ctr">
            <a:spAutoFit/>
          </a:bodyPr>
          <a:lstStyle/>
          <a:p>
            <a:pPr algn="ctr"/>
            <a:r>
              <a:rPr sz="950" b="1" i="0">
                <a:solidFill>
                  <a:srgbClr val="2388C9"/>
                </a:solidFill>
                <a:latin typeface="Microsoft YaHei"/>
              </a:rPr>
              <a:t>守恒耦合</a:t>
            </a:r>
          </a:p>
        </p:txBody>
      </p:sp>
      <p:sp>
        <p:nvSpPr>
          <p:cNvPr id="463" name="TextBox 462"/>
          <p:cNvSpPr txBox="1"/>
          <p:nvPr/>
        </p:nvSpPr>
        <p:spPr>
          <a:xfrm>
            <a:off x="3931920" y="4645152"/>
            <a:ext cx="1572768" cy="301752"/>
          </a:xfrm>
          <a:prstGeom prst="rect">
            <a:avLst/>
          </a:prstGeom>
          <a:noFill/>
        </p:spPr>
        <p:txBody>
          <a:bodyPr wrap="square" lIns="0" rIns="0" tIns="0" bIns="0" anchor="t">
            <a:spAutoFit/>
          </a:bodyPr>
          <a:lstStyle/>
          <a:p>
            <a:pPr algn="l"/>
            <a:r>
              <a:rPr sz="1000" b="0" i="0">
                <a:solidFill>
                  <a:srgbClr val="53657A"/>
                </a:solidFill>
                <a:latin typeface="Microsoft YaHei"/>
              </a:rPr>
              <a:t>水量 + 水质双重约束</a:t>
            </a:r>
          </a:p>
        </p:txBody>
      </p:sp>
      <p:sp>
        <p:nvSpPr>
          <p:cNvPr id="464" name="TextBox 463"/>
          <p:cNvSpPr txBox="1"/>
          <p:nvPr/>
        </p:nvSpPr>
        <p:spPr>
          <a:xfrm>
            <a:off x="5486400" y="4416552"/>
            <a:ext cx="228600" cy="228600"/>
          </a:xfrm>
          <a:prstGeom prst="rect">
            <a:avLst/>
          </a:prstGeom>
          <a:noFill/>
        </p:spPr>
        <p:txBody>
          <a:bodyPr wrap="square" lIns="0" rIns="0" tIns="0" bIns="0" anchor="t">
            <a:spAutoFit/>
          </a:bodyPr>
          <a:lstStyle/>
          <a:p>
            <a:pPr algn="l"/>
            <a:r>
              <a:rPr sz="1800" b="1" i="0">
                <a:solidFill>
                  <a:srgbClr val="1BA6A6"/>
                </a:solidFill>
                <a:latin typeface="Microsoft YaHei"/>
              </a:rPr>
              <a:t>→</a:t>
            </a:r>
          </a:p>
        </p:txBody>
      </p:sp>
      <p:sp>
        <p:nvSpPr>
          <p:cNvPr id="465" name="Rounded Rectangle 464"/>
          <p:cNvSpPr/>
          <p:nvPr/>
        </p:nvSpPr>
        <p:spPr>
          <a:xfrm>
            <a:off x="5943600" y="4315968"/>
            <a:ext cx="141732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TextBox 465"/>
          <p:cNvSpPr txBox="1"/>
          <p:nvPr/>
        </p:nvSpPr>
        <p:spPr>
          <a:xfrm>
            <a:off x="6035040" y="4329683"/>
            <a:ext cx="1234440" cy="201168"/>
          </a:xfrm>
          <a:prstGeom prst="rect">
            <a:avLst/>
          </a:prstGeom>
          <a:noFill/>
        </p:spPr>
        <p:txBody>
          <a:bodyPr wrap="square" lIns="0" rIns="0" tIns="0" bIns="0" anchor="ctr">
            <a:spAutoFit/>
          </a:bodyPr>
          <a:lstStyle/>
          <a:p>
            <a:pPr algn="ctr"/>
            <a:r>
              <a:rPr sz="950" b="1" i="0">
                <a:solidFill>
                  <a:srgbClr val="2388C9"/>
                </a:solidFill>
                <a:latin typeface="Microsoft YaHei"/>
              </a:rPr>
              <a:t>边界扫描</a:t>
            </a:r>
          </a:p>
        </p:txBody>
      </p:sp>
      <p:sp>
        <p:nvSpPr>
          <p:cNvPr id="467" name="TextBox 466"/>
          <p:cNvSpPr txBox="1"/>
          <p:nvPr/>
        </p:nvSpPr>
        <p:spPr>
          <a:xfrm>
            <a:off x="5943600" y="4645152"/>
            <a:ext cx="1572768" cy="301752"/>
          </a:xfrm>
          <a:prstGeom prst="rect">
            <a:avLst/>
          </a:prstGeom>
          <a:noFill/>
        </p:spPr>
        <p:txBody>
          <a:bodyPr wrap="square" lIns="0" rIns="0" tIns="0" bIns="0" anchor="t">
            <a:spAutoFit/>
          </a:bodyPr>
          <a:lstStyle/>
          <a:p>
            <a:pPr algn="l"/>
            <a:r>
              <a:rPr sz="1000" b="0" i="0">
                <a:solidFill>
                  <a:srgbClr val="53657A"/>
                </a:solidFill>
                <a:latin typeface="Microsoft YaHei"/>
              </a:rPr>
              <a:t>ρAI × P × M连续状态空间</a:t>
            </a:r>
          </a:p>
        </p:txBody>
      </p:sp>
      <p:sp>
        <p:nvSpPr>
          <p:cNvPr id="468" name="TextBox 467"/>
          <p:cNvSpPr txBox="1"/>
          <p:nvPr/>
        </p:nvSpPr>
        <p:spPr>
          <a:xfrm>
            <a:off x="7498079" y="4416552"/>
            <a:ext cx="228600" cy="228600"/>
          </a:xfrm>
          <a:prstGeom prst="rect">
            <a:avLst/>
          </a:prstGeom>
          <a:noFill/>
        </p:spPr>
        <p:txBody>
          <a:bodyPr wrap="square" lIns="0" rIns="0" tIns="0" bIns="0" anchor="t">
            <a:spAutoFit/>
          </a:bodyPr>
          <a:lstStyle/>
          <a:p>
            <a:pPr algn="l"/>
            <a:r>
              <a:rPr sz="1800" b="1" i="0">
                <a:solidFill>
                  <a:srgbClr val="1BA6A6"/>
                </a:solidFill>
                <a:latin typeface="Microsoft YaHei"/>
              </a:rPr>
              <a:t>→</a:t>
            </a:r>
          </a:p>
        </p:txBody>
      </p:sp>
      <p:sp>
        <p:nvSpPr>
          <p:cNvPr id="469" name="Rounded Rectangle 468"/>
          <p:cNvSpPr/>
          <p:nvPr/>
        </p:nvSpPr>
        <p:spPr>
          <a:xfrm>
            <a:off x="7955280" y="4315968"/>
            <a:ext cx="141732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TextBox 469"/>
          <p:cNvSpPr txBox="1"/>
          <p:nvPr/>
        </p:nvSpPr>
        <p:spPr>
          <a:xfrm>
            <a:off x="8046720" y="4329683"/>
            <a:ext cx="1234440" cy="201168"/>
          </a:xfrm>
          <a:prstGeom prst="rect">
            <a:avLst/>
          </a:prstGeom>
          <a:noFill/>
        </p:spPr>
        <p:txBody>
          <a:bodyPr wrap="square" lIns="0" rIns="0" tIns="0" bIns="0" anchor="ctr">
            <a:spAutoFit/>
          </a:bodyPr>
          <a:lstStyle/>
          <a:p>
            <a:pPr algn="ctr"/>
            <a:r>
              <a:rPr sz="950" b="1" i="0">
                <a:solidFill>
                  <a:srgbClr val="2388C9"/>
                </a:solidFill>
                <a:latin typeface="Microsoft YaHei"/>
              </a:rPr>
              <a:t>结果表达</a:t>
            </a:r>
          </a:p>
        </p:txBody>
      </p:sp>
      <p:sp>
        <p:nvSpPr>
          <p:cNvPr id="471" name="TextBox 470"/>
          <p:cNvSpPr txBox="1"/>
          <p:nvPr/>
        </p:nvSpPr>
        <p:spPr>
          <a:xfrm>
            <a:off x="7955280" y="4645152"/>
            <a:ext cx="1572768" cy="301752"/>
          </a:xfrm>
          <a:prstGeom prst="rect">
            <a:avLst/>
          </a:prstGeom>
          <a:noFill/>
        </p:spPr>
        <p:txBody>
          <a:bodyPr wrap="square" lIns="0" rIns="0" tIns="0" bIns="0" anchor="t">
            <a:spAutoFit/>
          </a:bodyPr>
          <a:lstStyle/>
          <a:p>
            <a:pPr algn="l"/>
            <a:r>
              <a:rPr sz="1000" b="0" i="0">
                <a:solidFill>
                  <a:srgbClr val="53657A"/>
                </a:solidFill>
                <a:latin typeface="Microsoft YaHei"/>
              </a:rPr>
              <a:t>阈值、相图与干预转折</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pic>
        <p:nvPicPr>
          <p:cNvPr descr="image.png" id="459" name="Google Shape;459;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60" name="Google Shape;460;p22"/>
          <p:cNvPicPr preferRelativeResize="0"/>
          <p:nvPr/>
        </p:nvPicPr>
        <p:blipFill rotWithShape="1">
          <a:blip r:embed="rId4">
            <a:alphaModFix/>
          </a:blip>
          <a:srcRect b="0" l="0" r="0" t="0"/>
          <a:stretch/>
        </p:blipFill>
        <p:spPr>
          <a:xfrm>
            <a:off x="438150" y="1192410"/>
            <a:ext cx="2743200" cy="1029592"/>
          </a:xfrm>
          <a:prstGeom prst="rect">
            <a:avLst/>
          </a:prstGeom>
          <a:noFill/>
          <a:ln>
            <a:noFill/>
          </a:ln>
        </p:spPr>
      </p:pic>
      <p:pic>
        <p:nvPicPr>
          <p:cNvPr descr="image.png" id="461" name="Google Shape;461;p22"/>
          <p:cNvPicPr preferRelativeResize="0"/>
          <p:nvPr/>
        </p:nvPicPr>
        <p:blipFill rotWithShape="1">
          <a:blip r:embed="rId5">
            <a:alphaModFix/>
          </a:blip>
          <a:srcRect b="0" l="0" r="0" t="0"/>
          <a:stretch/>
        </p:blipFill>
        <p:spPr>
          <a:xfrm>
            <a:off x="3295650" y="1192410"/>
            <a:ext cx="2743200" cy="1029592"/>
          </a:xfrm>
          <a:prstGeom prst="rect">
            <a:avLst/>
          </a:prstGeom>
          <a:noFill/>
          <a:ln>
            <a:noFill/>
          </a:ln>
        </p:spPr>
      </p:pic>
      <p:pic>
        <p:nvPicPr>
          <p:cNvPr descr="image.png" id="462" name="Google Shape;462;p22"/>
          <p:cNvPicPr preferRelativeResize="0"/>
          <p:nvPr/>
        </p:nvPicPr>
        <p:blipFill rotWithShape="1">
          <a:blip r:embed="rId6">
            <a:alphaModFix/>
          </a:blip>
          <a:srcRect b="0" l="0" r="0" t="0"/>
          <a:stretch/>
        </p:blipFill>
        <p:spPr>
          <a:xfrm>
            <a:off x="6153150" y="1192410"/>
            <a:ext cx="2743200" cy="1029592"/>
          </a:xfrm>
          <a:prstGeom prst="rect">
            <a:avLst/>
          </a:prstGeom>
          <a:noFill/>
          <a:ln>
            <a:noFill/>
          </a:ln>
        </p:spPr>
      </p:pic>
      <p:pic>
        <p:nvPicPr>
          <p:cNvPr descr="image.png" id="463" name="Google Shape;463;p22"/>
          <p:cNvPicPr preferRelativeResize="0"/>
          <p:nvPr/>
        </p:nvPicPr>
        <p:blipFill rotWithShape="1">
          <a:blip r:embed="rId7">
            <a:alphaModFix/>
          </a:blip>
          <a:srcRect b="0" l="0" r="0" t="0"/>
          <a:stretch/>
        </p:blipFill>
        <p:spPr>
          <a:xfrm>
            <a:off x="9010650" y="1192410"/>
            <a:ext cx="2743200" cy="1029592"/>
          </a:xfrm>
          <a:prstGeom prst="rect">
            <a:avLst/>
          </a:prstGeom>
          <a:noFill/>
          <a:ln>
            <a:noFill/>
          </a:ln>
        </p:spPr>
      </p:pic>
      <p:pic>
        <p:nvPicPr>
          <p:cNvPr descr="image.png" id="464" name="Google Shape;464;p22"/>
          <p:cNvPicPr preferRelativeResize="0"/>
          <p:nvPr/>
        </p:nvPicPr>
        <p:blipFill rotWithShape="1">
          <a:blip r:embed="rId8">
            <a:alphaModFix/>
          </a:blip>
          <a:srcRect b="0" l="0" r="0" t="0"/>
          <a:stretch/>
        </p:blipFill>
        <p:spPr>
          <a:xfrm>
            <a:off x="438150" y="6515100"/>
            <a:ext cx="11315700" cy="228600"/>
          </a:xfrm>
          <a:prstGeom prst="rect">
            <a:avLst/>
          </a:prstGeom>
          <a:noFill/>
          <a:ln>
            <a:noFill/>
          </a:ln>
        </p:spPr>
      </p:pic>
      <p:pic>
        <p:nvPicPr>
          <p:cNvPr descr="image.png" id="465" name="Google Shape;465;p22"/>
          <p:cNvPicPr preferRelativeResize="0"/>
          <p:nvPr/>
        </p:nvPicPr>
        <p:blipFill rotWithShape="1">
          <a:blip r:embed="rId9">
            <a:alphaModFix/>
          </a:blip>
          <a:srcRect b="0" l="0" r="0" t="0"/>
          <a:stretch/>
        </p:blipFill>
        <p:spPr>
          <a:xfrm>
            <a:off x="11060310" y="328612"/>
            <a:ext cx="693539" cy="180975"/>
          </a:xfrm>
          <a:prstGeom prst="rect">
            <a:avLst/>
          </a:prstGeom>
          <a:noFill/>
          <a:ln>
            <a:noFill/>
          </a:ln>
        </p:spPr>
      </p:pic>
      <p:sp>
        <p:nvSpPr>
          <p:cNvPr id="466" name="Google Shape;466;p22"/>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467" name="Google Shape;467;p22"/>
          <p:cNvSpPr txBox="1"/>
          <p:nvPr/>
        </p:nvSpPr>
        <p:spPr>
          <a:xfrm>
            <a:off x="10278814" y="6615112"/>
            <a:ext cx="1475035"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09 / EVIDENCE &amp; VALIDATION</a:t>
            </a:r>
            <a:endParaRPr/>
          </a:p>
        </p:txBody>
      </p:sp>
      <p:pic>
        <p:nvPicPr>
          <p:cNvPr descr="image.png" id="468" name="Google Shape;468;p22"/>
          <p:cNvPicPr preferRelativeResize="0"/>
          <p:nvPr/>
        </p:nvPicPr>
        <p:blipFill rotWithShape="1">
          <a:blip r:embed="rId10">
            <a:alphaModFix/>
          </a:blip>
          <a:srcRect b="0" l="0" r="0" t="0"/>
          <a:stretch/>
        </p:blipFill>
        <p:spPr>
          <a:xfrm>
            <a:off x="438150" y="323850"/>
            <a:ext cx="2123926" cy="190500"/>
          </a:xfrm>
          <a:prstGeom prst="rect">
            <a:avLst/>
          </a:prstGeom>
          <a:noFill/>
          <a:ln>
            <a:noFill/>
          </a:ln>
        </p:spPr>
      </p:pic>
      <p:pic>
        <p:nvPicPr>
          <p:cNvPr descr="image.png" id="469" name="Google Shape;469;p22"/>
          <p:cNvPicPr preferRelativeResize="0"/>
          <p:nvPr/>
        </p:nvPicPr>
        <p:blipFill rotWithShape="1">
          <a:blip r:embed="rId11">
            <a:alphaModFix/>
          </a:blip>
          <a:srcRect b="0" l="0" r="0" t="0"/>
          <a:stretch/>
        </p:blipFill>
        <p:spPr>
          <a:xfrm>
            <a:off x="619125" y="2479178"/>
            <a:ext cx="148232" cy="190500"/>
          </a:xfrm>
          <a:prstGeom prst="rect">
            <a:avLst/>
          </a:prstGeom>
          <a:noFill/>
          <a:ln>
            <a:noFill/>
          </a:ln>
        </p:spPr>
      </p:pic>
      <p:sp>
        <p:nvSpPr>
          <p:cNvPr id="470" name="Google Shape;470;p22"/>
          <p:cNvSpPr txBox="1"/>
          <p:nvPr/>
        </p:nvSpPr>
        <p:spPr>
          <a:xfrm>
            <a:off x="881657" y="2493466"/>
            <a:ext cx="46863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0369A1"/>
                </a:solidFill>
                <a:latin typeface="Noto Sans SC"/>
                <a:ea typeface="Noto Sans SC"/>
                <a:cs typeface="Noto Sans SC"/>
                <a:sym typeface="Noto Sans SC"/>
              </a:rPr>
              <a:t>现实锚定保证数量级与参数域可信，连续参数空间保证结论能够比较、复核并外推到适用域。</a:t>
            </a:r>
            <a:endParaRPr/>
          </a:p>
        </p:txBody>
      </p:sp>
      <p:pic>
        <p:nvPicPr>
          <p:cNvPr descr="image.png" id="471" name="Google Shape;471;p22"/>
          <p:cNvPicPr preferRelativeResize="0"/>
          <p:nvPr/>
        </p:nvPicPr>
        <p:blipFill rotWithShape="1">
          <a:blip r:embed="rId12">
            <a:alphaModFix/>
          </a:blip>
          <a:srcRect b="0" l="0" r="0" t="0"/>
          <a:stretch/>
        </p:blipFill>
        <p:spPr>
          <a:xfrm>
            <a:off x="438150" y="6619875"/>
            <a:ext cx="81557" cy="104775"/>
          </a:xfrm>
          <a:prstGeom prst="rect">
            <a:avLst/>
          </a:prstGeom>
          <a:noFill/>
          <a:ln>
            <a:noFill/>
          </a:ln>
        </p:spPr>
      </p:pic>
      <p:pic>
        <p:nvPicPr>
          <p:cNvPr descr="image.png" id="472" name="Google Shape;472;p22"/>
          <p:cNvPicPr preferRelativeResize="0"/>
          <p:nvPr/>
        </p:nvPicPr>
        <p:blipFill rotWithShape="1">
          <a:blip r:embed="rId13">
            <a:alphaModFix/>
          </a:blip>
          <a:srcRect b="0" l="0" r="0" t="0"/>
          <a:stretch/>
        </p:blipFill>
        <p:spPr>
          <a:xfrm>
            <a:off x="542925" y="364331"/>
            <a:ext cx="92868" cy="109537"/>
          </a:xfrm>
          <a:prstGeom prst="rect">
            <a:avLst/>
          </a:prstGeom>
          <a:noFill/>
          <a:ln>
            <a:noFill/>
          </a:ln>
        </p:spPr>
      </p:pic>
      <p:sp>
        <p:nvSpPr>
          <p:cNvPr id="473" name="Google Shape;473;p22"/>
          <p:cNvSpPr txBox="1"/>
          <p:nvPr/>
        </p:nvSpPr>
        <p:spPr>
          <a:xfrm>
            <a:off x="619125" y="138291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64748B"/>
                </a:solidFill>
                <a:latin typeface="JetBrains Mono ExtraBold"/>
                <a:ea typeface="JetBrains Mono ExtraBold"/>
                <a:cs typeface="JetBrains Mono ExtraBold"/>
                <a:sym typeface="JetBrains Mono ExtraBold"/>
              </a:rPr>
              <a:t>LAYER 1</a:t>
            </a:r>
            <a:endParaRPr/>
          </a:p>
        </p:txBody>
      </p:sp>
      <p:sp>
        <p:nvSpPr>
          <p:cNvPr id="474" name="Google Shape;474;p22"/>
          <p:cNvSpPr txBox="1"/>
          <p:nvPr/>
        </p:nvSpPr>
        <p:spPr>
          <a:xfrm>
            <a:off x="619125" y="1525785"/>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F172A"/>
                </a:solidFill>
                <a:latin typeface="Noto Sans SC"/>
                <a:ea typeface="Noto Sans SC"/>
                <a:cs typeface="Noto Sans SC"/>
                <a:sym typeface="Noto Sans SC"/>
              </a:rPr>
              <a:t>过程级</a:t>
            </a:r>
            <a:endParaRPr/>
          </a:p>
        </p:txBody>
      </p:sp>
      <p:sp>
        <p:nvSpPr>
          <p:cNvPr id="475" name="Google Shape;475;p22"/>
          <p:cNvSpPr txBox="1"/>
          <p:nvPr/>
        </p:nvSpPr>
        <p:spPr>
          <a:xfrm>
            <a:off x="619125" y="1735335"/>
            <a:ext cx="23812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64748B"/>
                </a:solidFill>
                <a:latin typeface="Noto Sans SC"/>
                <a:ea typeface="Noto Sans SC"/>
                <a:cs typeface="Noto Sans SC"/>
                <a:sym typeface="Noto Sans SC"/>
              </a:rPr>
              <a:t>工程公式、CoC/WUE、冷却与再生水 Benchmark</a:t>
            </a:r>
            <a:endParaRPr/>
          </a:p>
        </p:txBody>
      </p:sp>
      <p:sp>
        <p:nvSpPr>
          <p:cNvPr id="476" name="Google Shape;476;p22"/>
          <p:cNvSpPr txBox="1"/>
          <p:nvPr/>
        </p:nvSpPr>
        <p:spPr>
          <a:xfrm>
            <a:off x="3476625" y="138291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284C7"/>
                </a:solidFill>
                <a:latin typeface="JetBrains Mono ExtraBold"/>
                <a:ea typeface="JetBrains Mono ExtraBold"/>
                <a:cs typeface="JetBrains Mono ExtraBold"/>
                <a:sym typeface="JetBrains Mono ExtraBold"/>
              </a:rPr>
              <a:t>LAYER 2</a:t>
            </a:r>
            <a:endParaRPr/>
          </a:p>
        </p:txBody>
      </p:sp>
      <p:sp>
        <p:nvSpPr>
          <p:cNvPr id="477" name="Google Shape;477;p22"/>
          <p:cNvSpPr txBox="1"/>
          <p:nvPr/>
        </p:nvSpPr>
        <p:spPr>
          <a:xfrm>
            <a:off x="3476625" y="1525785"/>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369A1"/>
                </a:solidFill>
                <a:latin typeface="Noto Sans SC"/>
                <a:ea typeface="Noto Sans SC"/>
                <a:cs typeface="Noto Sans SC"/>
                <a:sym typeface="Noto Sans SC"/>
              </a:rPr>
              <a:t>城市锚点</a:t>
            </a:r>
            <a:endParaRPr/>
          </a:p>
        </p:txBody>
      </p:sp>
      <p:sp>
        <p:nvSpPr>
          <p:cNvPr id="478" name="Google Shape;478;p22"/>
          <p:cNvSpPr txBox="1"/>
          <p:nvPr/>
        </p:nvSpPr>
        <p:spPr>
          <a:xfrm>
            <a:off x="3476625" y="1735335"/>
            <a:ext cx="2381250" cy="324742"/>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0369A1"/>
                </a:solidFill>
                <a:latin typeface="Noto Sans SC"/>
                <a:ea typeface="Noto Sans SC"/>
                <a:cs typeface="Noto Sans SC"/>
                <a:sym typeface="Noto Sans SC"/>
              </a:rPr>
              <a:t>1个主案例：日尺度供水—污水—再生水数量级，独立时间留出</a:t>
            </a:r>
            <a:endParaRPr/>
          </a:p>
        </p:txBody>
      </p:sp>
      <p:sp>
        <p:nvSpPr>
          <p:cNvPr id="479" name="Google Shape;479;p22"/>
          <p:cNvSpPr txBox="1"/>
          <p:nvPr/>
        </p:nvSpPr>
        <p:spPr>
          <a:xfrm>
            <a:off x="6334125" y="1382910"/>
            <a:ext cx="23812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F172A"/>
                </a:solidFill>
                <a:latin typeface="JetBrains Mono ExtraBold"/>
                <a:ea typeface="JetBrains Mono ExtraBold"/>
                <a:cs typeface="JetBrains Mono ExtraBold"/>
                <a:sym typeface="JetBrains Mono ExtraBold"/>
              </a:rPr>
              <a:t>LAYER 3</a:t>
            </a:r>
            <a:endParaRPr/>
          </a:p>
        </p:txBody>
      </p:sp>
      <p:sp>
        <p:nvSpPr>
          <p:cNvPr id="480" name="Google Shape;480;p22"/>
          <p:cNvSpPr txBox="1"/>
          <p:nvPr/>
        </p:nvSpPr>
        <p:spPr>
          <a:xfrm>
            <a:off x="6334125" y="1525785"/>
            <a:ext cx="2500312"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0F172A"/>
                </a:solidFill>
                <a:latin typeface="Noto Sans SC"/>
                <a:ea typeface="Noto Sans SC"/>
                <a:cs typeface="Noto Sans SC"/>
                <a:sym typeface="Noto Sans SC"/>
              </a:rPr>
              <a:t>外部核验</a:t>
            </a:r>
            <a:endParaRPr/>
          </a:p>
        </p:txBody>
      </p:sp>
      <p:sp>
        <p:nvSpPr>
          <p:cNvPr id="481" name="Google Shape;481;p22"/>
          <p:cNvSpPr txBox="1"/>
          <p:nvPr/>
        </p:nvSpPr>
        <p:spPr>
          <a:xfrm>
            <a:off x="6334125" y="1735335"/>
            <a:ext cx="2381250" cy="324742"/>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64748B"/>
                </a:solidFill>
                <a:latin typeface="Noto Sans SC"/>
                <a:ea typeface="Noto Sans SC"/>
                <a:cs typeface="Noto Sans SC"/>
                <a:sym typeface="Noto Sans SC"/>
              </a:rPr>
              <a:t>2–4个差异城市：只核验参数区间、响应方向与瓶颈类型</a:t>
            </a:r>
            <a:endParaRPr/>
          </a:p>
        </p:txBody>
      </p:sp>
      <p:sp>
        <p:nvSpPr>
          <p:cNvPr id="482" name="Google Shape;482;p22"/>
          <p:cNvSpPr txBox="1"/>
          <p:nvPr/>
        </p:nvSpPr>
        <p:spPr>
          <a:xfrm>
            <a:off x="9182100" y="1382910"/>
            <a:ext cx="240030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38BDF8"/>
                </a:solidFill>
                <a:latin typeface="JetBrains Mono ExtraBold"/>
                <a:ea typeface="JetBrains Mono ExtraBold"/>
                <a:cs typeface="JetBrains Mono ExtraBold"/>
                <a:sym typeface="JetBrains Mono ExtraBold"/>
              </a:rPr>
              <a:t>LAYER 4</a:t>
            </a:r>
            <a:endParaRPr/>
          </a:p>
        </p:txBody>
      </p:sp>
      <p:sp>
        <p:nvSpPr>
          <p:cNvPr id="483" name="Google Shape;483;p22"/>
          <p:cNvSpPr txBox="1"/>
          <p:nvPr/>
        </p:nvSpPr>
        <p:spPr>
          <a:xfrm>
            <a:off x="9182100" y="1525785"/>
            <a:ext cx="2520315"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012" u="none" cap="none" strike="noStrike">
                <a:solidFill>
                  <a:srgbClr val="FFFFFF"/>
                </a:solidFill>
                <a:latin typeface="Noto Sans SC"/>
                <a:ea typeface="Noto Sans SC"/>
                <a:cs typeface="Noto Sans SC"/>
                <a:sym typeface="Noto Sans SC"/>
              </a:rPr>
              <a:t>连续空间</a:t>
            </a:r>
            <a:endParaRPr/>
          </a:p>
        </p:txBody>
      </p:sp>
      <p:sp>
        <p:nvSpPr>
          <p:cNvPr id="484" name="Google Shape;484;p22"/>
          <p:cNvSpPr txBox="1"/>
          <p:nvPr/>
        </p:nvSpPr>
        <p:spPr>
          <a:xfrm>
            <a:off x="9182100" y="1735335"/>
            <a:ext cx="240030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CBD5E1"/>
                </a:solidFill>
                <a:latin typeface="Noto Sans SC"/>
                <a:ea typeface="Noto Sans SC"/>
                <a:cs typeface="Noto Sans SC"/>
                <a:sym typeface="Noto Sans SC"/>
              </a:rPr>
              <a:t>参数化城市 + 合成压力序列 → 响应面、边界与相图</a:t>
            </a:r>
            <a:endParaRPr/>
          </a:p>
        </p:txBody>
      </p:sp>
      <p:sp>
        <p:nvSpPr>
          <p:cNvPr id="485" name="Google Shape;485;p22"/>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证据层级：现实证据限定模型，验证链条约束结论</a:t>
            </a:r>
            <a:endParaRPr/>
          </a:p>
        </p:txBody>
      </p:sp>
      <p:sp>
        <p:nvSpPr>
          <p:cNvPr id="486" name="Google Shape;486;p22"/>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Rounded Rectangle 486"/>
          <p:cNvSpPr/>
          <p:nvPr/>
        </p:nvSpPr>
        <p:spPr>
          <a:xfrm>
            <a:off x="658368" y="3438144"/>
            <a:ext cx="9646920" cy="162763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TextBox 487"/>
          <p:cNvSpPr txBox="1"/>
          <p:nvPr/>
        </p:nvSpPr>
        <p:spPr>
          <a:xfrm>
            <a:off x="896112" y="3657600"/>
            <a:ext cx="1143000" cy="210312"/>
          </a:xfrm>
          <a:prstGeom prst="rect">
            <a:avLst/>
          </a:prstGeom>
          <a:noFill/>
        </p:spPr>
        <p:txBody>
          <a:bodyPr wrap="square" lIns="0" rIns="0" tIns="0" bIns="0" anchor="t">
            <a:spAutoFit/>
          </a:bodyPr>
          <a:lstStyle/>
          <a:p>
            <a:pPr algn="l"/>
            <a:r>
              <a:rPr sz="1500" b="1" i="0">
                <a:solidFill>
                  <a:srgbClr val="172B4D"/>
                </a:solidFill>
                <a:latin typeface="Microsoft YaHei"/>
              </a:rPr>
              <a:t>可行性论证</a:t>
            </a:r>
          </a:p>
        </p:txBody>
      </p:sp>
      <p:sp>
        <p:nvSpPr>
          <p:cNvPr id="489" name="Rounded Rectangle 488"/>
          <p:cNvSpPr/>
          <p:nvPr/>
        </p:nvSpPr>
        <p:spPr>
          <a:xfrm>
            <a:off x="2240280" y="3639312"/>
            <a:ext cx="82296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TextBox 489"/>
          <p:cNvSpPr txBox="1"/>
          <p:nvPr/>
        </p:nvSpPr>
        <p:spPr>
          <a:xfrm>
            <a:off x="2331720" y="3653028"/>
            <a:ext cx="640080" cy="201168"/>
          </a:xfrm>
          <a:prstGeom prst="rect">
            <a:avLst/>
          </a:prstGeom>
          <a:noFill/>
        </p:spPr>
        <p:txBody>
          <a:bodyPr wrap="square" lIns="0" rIns="0" tIns="0" bIns="0" anchor="ctr">
            <a:spAutoFit/>
          </a:bodyPr>
          <a:lstStyle/>
          <a:p>
            <a:pPr algn="ctr"/>
            <a:r>
              <a:rPr sz="950" b="1" i="0">
                <a:solidFill>
                  <a:srgbClr val="2388C9"/>
                </a:solidFill>
                <a:latin typeface="Microsoft YaHei"/>
              </a:rPr>
              <a:t>数据</a:t>
            </a:r>
          </a:p>
        </p:txBody>
      </p:sp>
      <p:sp>
        <p:nvSpPr>
          <p:cNvPr id="491" name="TextBox 490"/>
          <p:cNvSpPr txBox="1"/>
          <p:nvPr/>
        </p:nvSpPr>
        <p:spPr>
          <a:xfrm>
            <a:off x="2240280" y="3995928"/>
            <a:ext cx="2148840" cy="502920"/>
          </a:xfrm>
          <a:prstGeom prst="rect">
            <a:avLst/>
          </a:prstGeom>
          <a:noFill/>
        </p:spPr>
        <p:txBody>
          <a:bodyPr wrap="square" lIns="0" rIns="0" tIns="0" bIns="0" anchor="t">
            <a:spAutoFit/>
          </a:bodyPr>
          <a:lstStyle/>
          <a:p>
            <a:pPr algn="l"/>
            <a:r>
              <a:rPr sz="1100" b="0" i="0">
                <a:solidFill>
                  <a:srgbClr val="53657A"/>
                </a:solidFill>
                <a:latin typeface="Microsoft YaHei"/>
              </a:rPr>
              <a:t>公报、标准与主案例日尺度序列</a:t>
            </a:r>
          </a:p>
        </p:txBody>
      </p:sp>
      <p:sp>
        <p:nvSpPr>
          <p:cNvPr id="492" name="TextBox 491"/>
          <p:cNvSpPr txBox="1"/>
          <p:nvPr/>
        </p:nvSpPr>
        <p:spPr>
          <a:xfrm>
            <a:off x="2240280" y="4599432"/>
            <a:ext cx="228600" cy="228600"/>
          </a:xfrm>
          <a:prstGeom prst="rect">
            <a:avLst/>
          </a:prstGeom>
          <a:noFill/>
        </p:spPr>
        <p:txBody>
          <a:bodyPr wrap="square" lIns="0" rIns="0" tIns="0" bIns="0" anchor="t">
            <a:spAutoFit/>
          </a:bodyPr>
          <a:lstStyle/>
          <a:p>
            <a:pPr algn="l"/>
            <a:r>
              <a:rPr sz="1500" b="1" i="0">
                <a:solidFill>
                  <a:srgbClr val="2388C9"/>
                </a:solidFill>
                <a:latin typeface="Microsoft YaHei"/>
              </a:rPr>
              <a:t>✓</a:t>
            </a:r>
          </a:p>
        </p:txBody>
      </p:sp>
      <p:sp>
        <p:nvSpPr>
          <p:cNvPr id="493" name="TextBox 492"/>
          <p:cNvSpPr txBox="1"/>
          <p:nvPr/>
        </p:nvSpPr>
        <p:spPr>
          <a:xfrm>
            <a:off x="2514600" y="4608576"/>
            <a:ext cx="1691640" cy="182880"/>
          </a:xfrm>
          <a:prstGeom prst="rect">
            <a:avLst/>
          </a:prstGeom>
          <a:noFill/>
        </p:spPr>
        <p:txBody>
          <a:bodyPr wrap="square" lIns="0" rIns="0" tIns="0" bIns="0" anchor="t">
            <a:spAutoFit/>
          </a:bodyPr>
          <a:lstStyle/>
          <a:p>
            <a:pPr algn="l"/>
            <a:r>
              <a:rPr sz="1000" b="1" i="0">
                <a:solidFill>
                  <a:srgbClr val="2388C9"/>
                </a:solidFill>
                <a:latin typeface="Microsoft YaHei"/>
              </a:rPr>
              <a:t>对应阶段可独立验收</a:t>
            </a:r>
          </a:p>
        </p:txBody>
      </p:sp>
      <p:sp>
        <p:nvSpPr>
          <p:cNvPr id="494" name="Rounded Rectangle 493"/>
          <p:cNvSpPr/>
          <p:nvPr/>
        </p:nvSpPr>
        <p:spPr>
          <a:xfrm>
            <a:off x="4828032" y="3639312"/>
            <a:ext cx="82296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TextBox 494"/>
          <p:cNvSpPr txBox="1"/>
          <p:nvPr/>
        </p:nvSpPr>
        <p:spPr>
          <a:xfrm>
            <a:off x="4919472" y="3653028"/>
            <a:ext cx="640080" cy="201168"/>
          </a:xfrm>
          <a:prstGeom prst="rect">
            <a:avLst/>
          </a:prstGeom>
          <a:noFill/>
        </p:spPr>
        <p:txBody>
          <a:bodyPr wrap="square" lIns="0" rIns="0" tIns="0" bIns="0" anchor="ctr">
            <a:spAutoFit/>
          </a:bodyPr>
          <a:lstStyle/>
          <a:p>
            <a:pPr algn="ctr"/>
            <a:r>
              <a:rPr sz="950" b="1" i="0">
                <a:solidFill>
                  <a:srgbClr val="2388C9"/>
                </a:solidFill>
                <a:latin typeface="Microsoft YaHei"/>
              </a:rPr>
              <a:t>模型</a:t>
            </a:r>
          </a:p>
        </p:txBody>
      </p:sp>
      <p:sp>
        <p:nvSpPr>
          <p:cNvPr id="496" name="TextBox 495"/>
          <p:cNvSpPr txBox="1"/>
          <p:nvPr/>
        </p:nvSpPr>
        <p:spPr>
          <a:xfrm>
            <a:off x="4828032" y="3995928"/>
            <a:ext cx="2148840" cy="502920"/>
          </a:xfrm>
          <a:prstGeom prst="rect">
            <a:avLst/>
          </a:prstGeom>
          <a:noFill/>
        </p:spPr>
        <p:txBody>
          <a:bodyPr wrap="square" lIns="0" rIns="0" tIns="0" bIns="0" anchor="t">
            <a:spAutoFit/>
          </a:bodyPr>
          <a:lstStyle/>
          <a:p>
            <a:pPr algn="l"/>
            <a:r>
              <a:rPr sz="1100" b="0" i="0">
                <a:solidFill>
                  <a:srgbClr val="53657A"/>
                </a:solidFill>
                <a:latin typeface="Microsoft YaHei"/>
              </a:rPr>
              <a:t>守恒方程、约束集合与参数化状态空间</a:t>
            </a:r>
          </a:p>
        </p:txBody>
      </p:sp>
      <p:sp>
        <p:nvSpPr>
          <p:cNvPr id="497" name="TextBox 496"/>
          <p:cNvSpPr txBox="1"/>
          <p:nvPr/>
        </p:nvSpPr>
        <p:spPr>
          <a:xfrm>
            <a:off x="4828032" y="4599432"/>
            <a:ext cx="228600" cy="228600"/>
          </a:xfrm>
          <a:prstGeom prst="rect">
            <a:avLst/>
          </a:prstGeom>
          <a:noFill/>
        </p:spPr>
        <p:txBody>
          <a:bodyPr wrap="square" lIns="0" rIns="0" tIns="0" bIns="0" anchor="t">
            <a:spAutoFit/>
          </a:bodyPr>
          <a:lstStyle/>
          <a:p>
            <a:pPr algn="l"/>
            <a:r>
              <a:rPr sz="1500" b="1" i="0">
                <a:solidFill>
                  <a:srgbClr val="1BA6A6"/>
                </a:solidFill>
                <a:latin typeface="Microsoft YaHei"/>
              </a:rPr>
              <a:t>✓</a:t>
            </a:r>
          </a:p>
        </p:txBody>
      </p:sp>
      <p:sp>
        <p:nvSpPr>
          <p:cNvPr id="498" name="TextBox 497"/>
          <p:cNvSpPr txBox="1"/>
          <p:nvPr/>
        </p:nvSpPr>
        <p:spPr>
          <a:xfrm>
            <a:off x="5102352" y="4608576"/>
            <a:ext cx="1691640" cy="182880"/>
          </a:xfrm>
          <a:prstGeom prst="rect">
            <a:avLst/>
          </a:prstGeom>
          <a:noFill/>
        </p:spPr>
        <p:txBody>
          <a:bodyPr wrap="square" lIns="0" rIns="0" tIns="0" bIns="0" anchor="t">
            <a:spAutoFit/>
          </a:bodyPr>
          <a:lstStyle/>
          <a:p>
            <a:pPr algn="l"/>
            <a:r>
              <a:rPr sz="1000" b="1" i="0">
                <a:solidFill>
                  <a:srgbClr val="1BA6A6"/>
                </a:solidFill>
                <a:latin typeface="Microsoft YaHei"/>
              </a:rPr>
              <a:t>对应阶段可独立验收</a:t>
            </a:r>
          </a:p>
        </p:txBody>
      </p:sp>
      <p:sp>
        <p:nvSpPr>
          <p:cNvPr id="499" name="Rounded Rectangle 498"/>
          <p:cNvSpPr/>
          <p:nvPr/>
        </p:nvSpPr>
        <p:spPr>
          <a:xfrm>
            <a:off x="7415783" y="3639312"/>
            <a:ext cx="82296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TextBox 499"/>
          <p:cNvSpPr txBox="1"/>
          <p:nvPr/>
        </p:nvSpPr>
        <p:spPr>
          <a:xfrm>
            <a:off x="7507223" y="3653028"/>
            <a:ext cx="640080" cy="201168"/>
          </a:xfrm>
          <a:prstGeom prst="rect">
            <a:avLst/>
          </a:prstGeom>
          <a:noFill/>
        </p:spPr>
        <p:txBody>
          <a:bodyPr wrap="square" lIns="0" rIns="0" tIns="0" bIns="0" anchor="ctr">
            <a:spAutoFit/>
          </a:bodyPr>
          <a:lstStyle/>
          <a:p>
            <a:pPr algn="ctr"/>
            <a:r>
              <a:rPr sz="950" b="1" i="0">
                <a:solidFill>
                  <a:srgbClr val="2388C9"/>
                </a:solidFill>
                <a:latin typeface="Microsoft YaHei"/>
              </a:rPr>
              <a:t>验证</a:t>
            </a:r>
          </a:p>
        </p:txBody>
      </p:sp>
      <p:sp>
        <p:nvSpPr>
          <p:cNvPr id="501" name="TextBox 500"/>
          <p:cNvSpPr txBox="1"/>
          <p:nvPr/>
        </p:nvSpPr>
        <p:spPr>
          <a:xfrm>
            <a:off x="7415783" y="3995928"/>
            <a:ext cx="2148840" cy="502920"/>
          </a:xfrm>
          <a:prstGeom prst="rect">
            <a:avLst/>
          </a:prstGeom>
          <a:noFill/>
        </p:spPr>
        <p:txBody>
          <a:bodyPr wrap="square" lIns="0" rIns="0" tIns="0" bIns="0" anchor="t">
            <a:spAutoFit/>
          </a:bodyPr>
          <a:lstStyle/>
          <a:p>
            <a:pPr algn="l"/>
            <a:r>
              <a:rPr sz="1100" b="0" i="0">
                <a:solidFill>
                  <a:srgbClr val="53657A"/>
                </a:solidFill>
                <a:latin typeface="Microsoft YaHei"/>
              </a:rPr>
              <a:t>时间留出、外部城市与敏感性分析</a:t>
            </a:r>
          </a:p>
        </p:txBody>
      </p:sp>
      <p:sp>
        <p:nvSpPr>
          <p:cNvPr id="502" name="TextBox 501"/>
          <p:cNvSpPr txBox="1"/>
          <p:nvPr/>
        </p:nvSpPr>
        <p:spPr>
          <a:xfrm>
            <a:off x="7415783" y="4599432"/>
            <a:ext cx="228600" cy="228600"/>
          </a:xfrm>
          <a:prstGeom prst="rect">
            <a:avLst/>
          </a:prstGeom>
          <a:noFill/>
        </p:spPr>
        <p:txBody>
          <a:bodyPr wrap="square" lIns="0" rIns="0" tIns="0" bIns="0" anchor="t">
            <a:spAutoFit/>
          </a:bodyPr>
          <a:lstStyle/>
          <a:p>
            <a:pPr algn="l"/>
            <a:r>
              <a:rPr sz="1500" b="1" i="0">
                <a:solidFill>
                  <a:srgbClr val="C9973E"/>
                </a:solidFill>
                <a:latin typeface="Microsoft YaHei"/>
              </a:rPr>
              <a:t>✓</a:t>
            </a:r>
          </a:p>
        </p:txBody>
      </p:sp>
      <p:sp>
        <p:nvSpPr>
          <p:cNvPr id="503" name="TextBox 502"/>
          <p:cNvSpPr txBox="1"/>
          <p:nvPr/>
        </p:nvSpPr>
        <p:spPr>
          <a:xfrm>
            <a:off x="7690104" y="4608576"/>
            <a:ext cx="1691640" cy="182880"/>
          </a:xfrm>
          <a:prstGeom prst="rect">
            <a:avLst/>
          </a:prstGeom>
          <a:noFill/>
        </p:spPr>
        <p:txBody>
          <a:bodyPr wrap="square" lIns="0" rIns="0" tIns="0" bIns="0" anchor="t">
            <a:spAutoFit/>
          </a:bodyPr>
          <a:lstStyle/>
          <a:p>
            <a:pPr algn="l"/>
            <a:r>
              <a:rPr sz="1000" b="1" i="0">
                <a:solidFill>
                  <a:srgbClr val="C9973E"/>
                </a:solidFill>
                <a:latin typeface="Microsoft YaHei"/>
              </a:rPr>
              <a:t>对应阶段可独立验收</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0" name="Shape 490"/>
        <p:cNvGrpSpPr/>
        <p:nvPr/>
      </p:nvGrpSpPr>
      <p:grpSpPr>
        <a:xfrm>
          <a:off x="0" y="0"/>
          <a:ext cx="0" cy="0"/>
          <a:chOff x="0" y="0"/>
          <a:chExt cx="0" cy="0"/>
        </a:xfrm>
      </p:grpSpPr>
      <p:pic>
        <p:nvPicPr>
          <p:cNvPr descr="image.png" id="491" name="Google Shape;491;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492" name="Google Shape;492;p23"/>
          <p:cNvPicPr preferRelativeResize="0"/>
          <p:nvPr/>
        </p:nvPicPr>
        <p:blipFill rotWithShape="1">
          <a:blip r:embed="rId4">
            <a:alphaModFix/>
          </a:blip>
          <a:srcRect b="0" l="0" r="0" t="0"/>
          <a:stretch/>
        </p:blipFill>
        <p:spPr>
          <a:xfrm>
            <a:off x="438150" y="2945010"/>
            <a:ext cx="11315700" cy="575369"/>
          </a:xfrm>
          <a:prstGeom prst="rect">
            <a:avLst/>
          </a:prstGeom>
          <a:noFill/>
          <a:ln>
            <a:noFill/>
          </a:ln>
        </p:spPr>
      </p:pic>
      <p:pic>
        <p:nvPicPr>
          <p:cNvPr descr="image.png" id="493" name="Google Shape;493;p23"/>
          <p:cNvPicPr preferRelativeResize="0"/>
          <p:nvPr/>
        </p:nvPicPr>
        <p:blipFill rotWithShape="1">
          <a:blip r:embed="rId5">
            <a:alphaModFix/>
          </a:blip>
          <a:srcRect b="0" l="0" r="0" t="0"/>
          <a:stretch/>
        </p:blipFill>
        <p:spPr>
          <a:xfrm>
            <a:off x="438150" y="6515100"/>
            <a:ext cx="11315700" cy="228600"/>
          </a:xfrm>
          <a:prstGeom prst="rect">
            <a:avLst/>
          </a:prstGeom>
          <a:noFill/>
          <a:ln>
            <a:noFill/>
          </a:ln>
        </p:spPr>
      </p:pic>
      <p:pic>
        <p:nvPicPr>
          <p:cNvPr descr="image.png" id="494" name="Google Shape;494;p23"/>
          <p:cNvPicPr preferRelativeResize="0"/>
          <p:nvPr/>
        </p:nvPicPr>
        <p:blipFill rotWithShape="1">
          <a:blip r:embed="rId6">
            <a:alphaModFix/>
          </a:blip>
          <a:srcRect b="0" l="0" r="0" t="0"/>
          <a:stretch/>
        </p:blipFill>
        <p:spPr>
          <a:xfrm>
            <a:off x="11060310" y="328612"/>
            <a:ext cx="693539" cy="180975"/>
          </a:xfrm>
          <a:prstGeom prst="rect">
            <a:avLst/>
          </a:prstGeom>
          <a:noFill/>
          <a:ln>
            <a:noFill/>
          </a:ln>
        </p:spPr>
      </p:pic>
      <p:graphicFrame>
        <p:nvGraphicFramePr>
          <p:cNvPr id="495" name="Google Shape;495;p23"/>
          <p:cNvGraphicFramePr/>
          <p:nvPr/>
        </p:nvGraphicFramePr>
        <p:xfrm>
          <a:off x="438150" y="1192410"/>
          <a:ext cx="3000000" cy="3000000"/>
        </p:xfrm>
        <a:graphic>
          <a:graphicData uri="http://schemas.openxmlformats.org/drawingml/2006/table">
            <a:tbl>
              <a:tblPr bandRow="1" firstRow="1">
                <a:noFill/>
                <a:tableStyleId>{B4E001E9-BA96-4B7F-91D8-A5F58F78CBA2}</a:tableStyleId>
              </a:tblPr>
              <a:tblGrid>
                <a:gridCol w="2033300"/>
                <a:gridCol w="5309300"/>
                <a:gridCol w="3954075"/>
              </a:tblGrid>
              <a:tr h="327650">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阶段状态</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已建成的核心模块 / 接口</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下阶段部署计划</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327650">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已实现</a:t>
                      </a:r>
                      <a:endParaRPr/>
                    </a:p>
                  </a:txBody>
                  <a:tcPr marT="25400" marB="25400" marR="63500" marL="1921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城市水网络骨架：</a:t>
                      </a:r>
                      <a:r>
                        <a:rPr b="0" i="0" lang="en-US" sz="900" u="none" cap="none" strike="noStrike">
                          <a:solidFill>
                            <a:srgbClr val="334155"/>
                          </a:solidFill>
                          <a:latin typeface="Noto Sans SC"/>
                          <a:ea typeface="Noto Sans SC"/>
                          <a:cs typeface="Noto Sans SC"/>
                          <a:sym typeface="Noto Sans SC"/>
                        </a:rPr>
                        <a:t>水源、WTP、终端需求、WWTP、再生水节点守恒与节点记录。</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完成单元测试与边界守恒检查</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27650">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已验证</a:t>
                      </a:r>
                      <a:endParaRPr/>
                    </a:p>
                  </a:txBody>
                  <a:tcPr marT="25400" marB="25400" marR="63500" marL="1921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平衡方程：</a:t>
                      </a:r>
                      <a:r>
                        <a:rPr b="0" i="0" lang="en-US" sz="900" u="none" cap="none" strike="noStrike">
                          <a:solidFill>
                            <a:srgbClr val="334155"/>
                          </a:solidFill>
                          <a:latin typeface="Noto Sans SC"/>
                          <a:ea typeface="Noto Sans SC"/>
                          <a:cs typeface="Noto Sans SC"/>
                          <a:sym typeface="Noto Sans SC"/>
                        </a:rPr>
                        <a:t>外部输入、内部回用、最终排放、储量变化物理闭合。</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形成基础数据集校验库</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7650">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开发中</a:t>
                      </a:r>
                      <a:endParaRPr/>
                    </a:p>
                  </a:txBody>
                  <a:tcPr marT="25400" marB="25400" marR="63500" marL="1921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AI冷却接口：</a:t>
                      </a:r>
                      <a:r>
                        <a:rPr b="0" i="0" lang="en-US" sz="900" u="none" cap="none" strike="noStrike">
                          <a:solidFill>
                            <a:srgbClr val="334155"/>
                          </a:solidFill>
                          <a:latin typeface="Noto Sans SC"/>
                          <a:ea typeface="Noto Sans SC"/>
                          <a:cs typeface="Noto Sans SC"/>
                          <a:sym typeface="Noto Sans SC"/>
                        </a:rPr>
                        <a:t>PUE、热排散、蒸发、漂水、排污初步接入。</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开展 Pilot simulation 单元测试</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27650">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 待开展</a:t>
                      </a:r>
                      <a:endParaRPr/>
                    </a:p>
                  </a:txBody>
                  <a:tcPr marT="25400" marB="25400" marR="63500" marL="19212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参数空间实验：</a:t>
                      </a:r>
                      <a:r>
                        <a:rPr b="0" i="0" lang="en-US" sz="900" u="none" cap="none" strike="noStrike">
                          <a:solidFill>
                            <a:srgbClr val="334155"/>
                          </a:solidFill>
                          <a:latin typeface="Noto Sans SC"/>
                          <a:ea typeface="Noto Sans SC"/>
                          <a:cs typeface="Noto Sans SC"/>
                          <a:sym typeface="Noto Sans SC"/>
                        </a:rPr>
                        <a:t>连续参数域、原型剖面与压力序列扫描。</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开展 CAWCC 容量全域扫描</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496" name="Google Shape;496;p23"/>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497" name="Google Shape;497;p23"/>
          <p:cNvSpPr txBox="1"/>
          <p:nvPr/>
        </p:nvSpPr>
        <p:spPr>
          <a:xfrm>
            <a:off x="10488364" y="6615112"/>
            <a:ext cx="1265485"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10 / PRELIMINARY WORK</a:t>
            </a:r>
            <a:endParaRPr/>
          </a:p>
        </p:txBody>
      </p:sp>
      <p:pic>
        <p:nvPicPr>
          <p:cNvPr descr="image.png" id="498" name="Google Shape;498;p23"/>
          <p:cNvPicPr preferRelativeResize="0"/>
          <p:nvPr/>
        </p:nvPicPr>
        <p:blipFill rotWithShape="1">
          <a:blip r:embed="rId7">
            <a:alphaModFix/>
          </a:blip>
          <a:srcRect b="0" l="0" r="0" t="0"/>
          <a:stretch/>
        </p:blipFill>
        <p:spPr>
          <a:xfrm>
            <a:off x="438150" y="323850"/>
            <a:ext cx="1858565" cy="190500"/>
          </a:xfrm>
          <a:prstGeom prst="rect">
            <a:avLst/>
          </a:prstGeom>
          <a:noFill/>
          <a:ln>
            <a:noFill/>
          </a:ln>
        </p:spPr>
      </p:pic>
      <p:sp>
        <p:nvSpPr>
          <p:cNvPr id="499" name="Google Shape;499;p23"/>
          <p:cNvSpPr txBox="1"/>
          <p:nvPr/>
        </p:nvSpPr>
        <p:spPr>
          <a:xfrm>
            <a:off x="600075" y="3049785"/>
            <a:ext cx="10991850" cy="177105"/>
          </a:xfrm>
          <a:prstGeom prst="rect">
            <a:avLst/>
          </a:prstGeom>
          <a:noFill/>
          <a:ln>
            <a:noFill/>
          </a:ln>
        </p:spPr>
        <p:txBody>
          <a:bodyPr anchorCtr="0" anchor="t" bIns="0" lIns="88975" spcFirstLastPara="1" rIns="0" wrap="square" tIns="0">
            <a:spAutoFit/>
          </a:bodyPr>
          <a:lstStyle/>
          <a:p>
            <a:pPr indent="0" lvl="0" marL="0" marR="0" rtl="0" algn="l">
              <a:lnSpc>
                <a:spcPct val="155000"/>
              </a:lnSpc>
              <a:spcBef>
                <a:spcPts val="0"/>
              </a:spcBef>
              <a:spcAft>
                <a:spcPts val="0"/>
              </a:spcAft>
              <a:buNone/>
            </a:pPr>
            <a:r>
              <a:rPr b="1" i="0" lang="en-US" sz="900" u="none" cap="none" strike="noStrike">
                <a:solidFill>
                  <a:srgbClr val="0369A1"/>
                </a:solidFill>
                <a:latin typeface="Noto Sans SC"/>
                <a:ea typeface="Noto Sans SC"/>
                <a:cs typeface="Noto Sans SC"/>
                <a:sym typeface="Noto Sans SC"/>
              </a:rPr>
              <a:t>下一步工作重点</a:t>
            </a:r>
            <a:endParaRPr/>
          </a:p>
        </p:txBody>
      </p:sp>
      <p:sp>
        <p:nvSpPr>
          <p:cNvPr id="500" name="Google Shape;500;p23"/>
          <p:cNvSpPr txBox="1"/>
          <p:nvPr/>
        </p:nvSpPr>
        <p:spPr>
          <a:xfrm>
            <a:off x="600075" y="3245941"/>
            <a:ext cx="10991850"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334155"/>
                </a:solidFill>
                <a:latin typeface="Noto Sans SC"/>
                <a:ea typeface="Noto Sans SC"/>
                <a:cs typeface="Noto Sans SC"/>
                <a:sym typeface="Noto Sans SC"/>
              </a:rPr>
              <a:t>完成 AI 冷却接口单元测试，开展 Pilot simulation 与 CAWCC 容量全域扫描。</a:t>
            </a:r>
            <a:endParaRPr/>
          </a:p>
        </p:txBody>
      </p:sp>
      <p:pic>
        <p:nvPicPr>
          <p:cNvPr descr="image.png" id="501" name="Google Shape;501;p23"/>
          <p:cNvPicPr preferRelativeResize="0"/>
          <p:nvPr/>
        </p:nvPicPr>
        <p:blipFill rotWithShape="1">
          <a:blip r:embed="rId8">
            <a:alphaModFix/>
          </a:blip>
          <a:srcRect b="0" l="0" r="0" t="0"/>
          <a:stretch/>
        </p:blipFill>
        <p:spPr>
          <a:xfrm>
            <a:off x="438150" y="6619875"/>
            <a:ext cx="81557" cy="104775"/>
          </a:xfrm>
          <a:prstGeom prst="rect">
            <a:avLst/>
          </a:prstGeom>
          <a:noFill/>
          <a:ln>
            <a:noFill/>
          </a:ln>
        </p:spPr>
      </p:pic>
      <p:pic>
        <p:nvPicPr>
          <p:cNvPr descr="image.png" id="502" name="Google Shape;502;p23"/>
          <p:cNvPicPr preferRelativeResize="0"/>
          <p:nvPr/>
        </p:nvPicPr>
        <p:blipFill rotWithShape="1">
          <a:blip r:embed="rId9">
            <a:alphaModFix/>
          </a:blip>
          <a:srcRect b="0" l="0" r="0" t="0"/>
          <a:stretch/>
        </p:blipFill>
        <p:spPr>
          <a:xfrm>
            <a:off x="542925" y="364331"/>
            <a:ext cx="92868" cy="109537"/>
          </a:xfrm>
          <a:prstGeom prst="rect">
            <a:avLst/>
          </a:prstGeom>
          <a:noFill/>
          <a:ln>
            <a:noFill/>
          </a:ln>
        </p:spPr>
      </p:pic>
      <p:sp>
        <p:nvSpPr>
          <p:cNvPr id="503" name="Google Shape;503;p23"/>
          <p:cNvSpPr/>
          <p:nvPr/>
        </p:nvSpPr>
        <p:spPr>
          <a:xfrm>
            <a:off x="447675" y="1849635"/>
            <a:ext cx="20332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23"/>
          <p:cNvSpPr/>
          <p:nvPr/>
        </p:nvSpPr>
        <p:spPr>
          <a:xfrm>
            <a:off x="2480964" y="1849635"/>
            <a:ext cx="530929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5" name="Google Shape;505;p23"/>
          <p:cNvSpPr/>
          <p:nvPr/>
        </p:nvSpPr>
        <p:spPr>
          <a:xfrm>
            <a:off x="7790259" y="1849635"/>
            <a:ext cx="395406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6" name="Google Shape;506;p23"/>
          <p:cNvSpPr/>
          <p:nvPr/>
        </p:nvSpPr>
        <p:spPr>
          <a:xfrm>
            <a:off x="447675" y="2173485"/>
            <a:ext cx="20332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7" name="Google Shape;507;p23"/>
          <p:cNvSpPr/>
          <p:nvPr/>
        </p:nvSpPr>
        <p:spPr>
          <a:xfrm>
            <a:off x="2480964" y="2173485"/>
            <a:ext cx="530929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8" name="Google Shape;508;p23"/>
          <p:cNvSpPr/>
          <p:nvPr/>
        </p:nvSpPr>
        <p:spPr>
          <a:xfrm>
            <a:off x="7790259" y="2173485"/>
            <a:ext cx="395406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9" name="Google Shape;509;p23"/>
          <p:cNvSpPr/>
          <p:nvPr/>
        </p:nvSpPr>
        <p:spPr>
          <a:xfrm>
            <a:off x="447675" y="2497335"/>
            <a:ext cx="203328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0" name="Google Shape;510;p23"/>
          <p:cNvSpPr/>
          <p:nvPr/>
        </p:nvSpPr>
        <p:spPr>
          <a:xfrm>
            <a:off x="2480964" y="2497335"/>
            <a:ext cx="5309294"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1" name="Google Shape;511;p23"/>
          <p:cNvSpPr/>
          <p:nvPr/>
        </p:nvSpPr>
        <p:spPr>
          <a:xfrm>
            <a:off x="7790259" y="2497335"/>
            <a:ext cx="3954065"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12" name="Google Shape;512;p23"/>
          <p:cNvPicPr preferRelativeResize="0"/>
          <p:nvPr/>
        </p:nvPicPr>
        <p:blipFill rotWithShape="1">
          <a:blip r:embed="rId10">
            <a:alphaModFix/>
          </a:blip>
          <a:srcRect b="0" l="0" r="0" t="0"/>
          <a:stretch/>
        </p:blipFill>
        <p:spPr>
          <a:xfrm>
            <a:off x="600075" y="3078360"/>
            <a:ext cx="88999" cy="114300"/>
          </a:xfrm>
          <a:prstGeom prst="rect">
            <a:avLst/>
          </a:prstGeom>
          <a:noFill/>
          <a:ln>
            <a:noFill/>
          </a:ln>
        </p:spPr>
      </p:pic>
      <p:pic>
        <p:nvPicPr>
          <p:cNvPr descr="image.png" id="513" name="Google Shape;513;p23"/>
          <p:cNvPicPr preferRelativeResize="0"/>
          <p:nvPr/>
        </p:nvPicPr>
        <p:blipFill rotWithShape="1">
          <a:blip r:embed="rId11">
            <a:alphaModFix/>
          </a:blip>
          <a:srcRect b="0" l="0" r="0" t="0"/>
          <a:stretch/>
        </p:blipFill>
        <p:spPr>
          <a:xfrm>
            <a:off x="561975" y="1611510"/>
            <a:ext cx="553342" cy="152400"/>
          </a:xfrm>
          <a:prstGeom prst="rect">
            <a:avLst/>
          </a:prstGeom>
          <a:noFill/>
          <a:ln>
            <a:noFill/>
          </a:ln>
        </p:spPr>
      </p:pic>
      <p:pic>
        <p:nvPicPr>
          <p:cNvPr descr="image.png" id="514" name="Google Shape;514;p23"/>
          <p:cNvPicPr preferRelativeResize="0"/>
          <p:nvPr/>
        </p:nvPicPr>
        <p:blipFill rotWithShape="1">
          <a:blip r:embed="rId12">
            <a:alphaModFix/>
          </a:blip>
          <a:srcRect b="0" l="0" r="0" t="0"/>
          <a:stretch/>
        </p:blipFill>
        <p:spPr>
          <a:xfrm>
            <a:off x="561975" y="1935360"/>
            <a:ext cx="553342" cy="152400"/>
          </a:xfrm>
          <a:prstGeom prst="rect">
            <a:avLst/>
          </a:prstGeom>
          <a:noFill/>
          <a:ln>
            <a:noFill/>
          </a:ln>
        </p:spPr>
      </p:pic>
      <p:pic>
        <p:nvPicPr>
          <p:cNvPr descr="image.png" id="515" name="Google Shape;515;p23"/>
          <p:cNvPicPr preferRelativeResize="0"/>
          <p:nvPr/>
        </p:nvPicPr>
        <p:blipFill rotWithShape="1">
          <a:blip r:embed="rId13">
            <a:alphaModFix/>
          </a:blip>
          <a:srcRect b="0" l="0" r="0" t="0"/>
          <a:stretch/>
        </p:blipFill>
        <p:spPr>
          <a:xfrm>
            <a:off x="561975" y="2259210"/>
            <a:ext cx="553342" cy="152400"/>
          </a:xfrm>
          <a:prstGeom prst="rect">
            <a:avLst/>
          </a:prstGeom>
          <a:noFill/>
          <a:ln>
            <a:noFill/>
          </a:ln>
        </p:spPr>
      </p:pic>
      <p:pic>
        <p:nvPicPr>
          <p:cNvPr descr="image.png" id="516" name="Google Shape;516;p23"/>
          <p:cNvPicPr preferRelativeResize="0"/>
          <p:nvPr/>
        </p:nvPicPr>
        <p:blipFill rotWithShape="1">
          <a:blip r:embed="rId14">
            <a:alphaModFix/>
          </a:blip>
          <a:srcRect b="0" l="0" r="0" t="0"/>
          <a:stretch/>
        </p:blipFill>
        <p:spPr>
          <a:xfrm>
            <a:off x="561975" y="2583060"/>
            <a:ext cx="553342" cy="152400"/>
          </a:xfrm>
          <a:prstGeom prst="rect">
            <a:avLst/>
          </a:prstGeom>
          <a:noFill/>
          <a:ln>
            <a:noFill/>
          </a:ln>
        </p:spPr>
      </p:pic>
      <p:pic>
        <p:nvPicPr>
          <p:cNvPr descr="image.png" id="517" name="Google Shape;517;p23"/>
          <p:cNvPicPr preferRelativeResize="0"/>
          <p:nvPr/>
        </p:nvPicPr>
        <p:blipFill rotWithShape="1">
          <a:blip r:embed="rId15">
            <a:alphaModFix/>
          </a:blip>
          <a:srcRect b="0" l="0" r="0" t="0"/>
          <a:stretch/>
        </p:blipFill>
        <p:spPr>
          <a:xfrm>
            <a:off x="628650" y="1973460"/>
            <a:ext cx="77837" cy="100012"/>
          </a:xfrm>
          <a:prstGeom prst="rect">
            <a:avLst/>
          </a:prstGeom>
          <a:noFill/>
          <a:ln>
            <a:noFill/>
          </a:ln>
        </p:spPr>
      </p:pic>
      <p:pic>
        <p:nvPicPr>
          <p:cNvPr descr="image.png" id="518" name="Google Shape;518;p23"/>
          <p:cNvPicPr preferRelativeResize="0"/>
          <p:nvPr/>
        </p:nvPicPr>
        <p:blipFill rotWithShape="1">
          <a:blip r:embed="rId16">
            <a:alphaModFix/>
          </a:blip>
          <a:srcRect b="0" l="0" r="0" t="0"/>
          <a:stretch/>
        </p:blipFill>
        <p:spPr>
          <a:xfrm>
            <a:off x="628650" y="1649610"/>
            <a:ext cx="77837" cy="100012"/>
          </a:xfrm>
          <a:prstGeom prst="rect">
            <a:avLst/>
          </a:prstGeom>
          <a:noFill/>
          <a:ln>
            <a:noFill/>
          </a:ln>
        </p:spPr>
      </p:pic>
      <p:pic>
        <p:nvPicPr>
          <p:cNvPr descr="image.png" id="519" name="Google Shape;519;p23"/>
          <p:cNvPicPr preferRelativeResize="0"/>
          <p:nvPr/>
        </p:nvPicPr>
        <p:blipFill rotWithShape="1">
          <a:blip r:embed="rId17">
            <a:alphaModFix/>
          </a:blip>
          <a:srcRect b="0" l="0" r="0" t="0"/>
          <a:stretch/>
        </p:blipFill>
        <p:spPr>
          <a:xfrm>
            <a:off x="628650" y="2621160"/>
            <a:ext cx="77837" cy="100012"/>
          </a:xfrm>
          <a:prstGeom prst="rect">
            <a:avLst/>
          </a:prstGeom>
          <a:noFill/>
          <a:ln>
            <a:noFill/>
          </a:ln>
        </p:spPr>
      </p:pic>
      <p:pic>
        <p:nvPicPr>
          <p:cNvPr descr="image.png" id="520" name="Google Shape;520;p23"/>
          <p:cNvPicPr preferRelativeResize="0"/>
          <p:nvPr/>
        </p:nvPicPr>
        <p:blipFill rotWithShape="1">
          <a:blip r:embed="rId18">
            <a:alphaModFix/>
          </a:blip>
          <a:srcRect b="0" l="0" r="0" t="0"/>
          <a:stretch/>
        </p:blipFill>
        <p:spPr>
          <a:xfrm>
            <a:off x="628650" y="2297310"/>
            <a:ext cx="77837" cy="100012"/>
          </a:xfrm>
          <a:prstGeom prst="rect">
            <a:avLst/>
          </a:prstGeom>
          <a:noFill/>
          <a:ln>
            <a:noFill/>
          </a:ln>
        </p:spPr>
      </p:pic>
      <p:pic>
        <p:nvPicPr>
          <p:cNvPr descr="image.png" id="521" name="Google Shape;521;p23"/>
          <p:cNvPicPr preferRelativeResize="0"/>
          <p:nvPr/>
        </p:nvPicPr>
        <p:blipFill rotWithShape="1">
          <a:blip r:embed="rId16">
            <a:alphaModFix/>
          </a:blip>
          <a:srcRect b="0" l="0" r="0" t="0"/>
          <a:stretch/>
        </p:blipFill>
        <p:spPr>
          <a:xfrm>
            <a:off x="628650" y="1649610"/>
            <a:ext cx="77837" cy="100012"/>
          </a:xfrm>
          <a:prstGeom prst="rect">
            <a:avLst/>
          </a:prstGeom>
          <a:noFill/>
          <a:ln>
            <a:noFill/>
          </a:ln>
        </p:spPr>
      </p:pic>
      <p:pic>
        <p:nvPicPr>
          <p:cNvPr descr="image.png" id="522" name="Google Shape;522;p23"/>
          <p:cNvPicPr preferRelativeResize="0"/>
          <p:nvPr/>
        </p:nvPicPr>
        <p:blipFill rotWithShape="1">
          <a:blip r:embed="rId15">
            <a:alphaModFix/>
          </a:blip>
          <a:srcRect b="0" l="0" r="0" t="0"/>
          <a:stretch/>
        </p:blipFill>
        <p:spPr>
          <a:xfrm>
            <a:off x="628650" y="1973460"/>
            <a:ext cx="77837" cy="100012"/>
          </a:xfrm>
          <a:prstGeom prst="rect">
            <a:avLst/>
          </a:prstGeom>
          <a:noFill/>
          <a:ln>
            <a:noFill/>
          </a:ln>
        </p:spPr>
      </p:pic>
      <p:pic>
        <p:nvPicPr>
          <p:cNvPr descr="image.png" id="523" name="Google Shape;523;p23"/>
          <p:cNvPicPr preferRelativeResize="0"/>
          <p:nvPr/>
        </p:nvPicPr>
        <p:blipFill rotWithShape="1">
          <a:blip r:embed="rId18">
            <a:alphaModFix/>
          </a:blip>
          <a:srcRect b="0" l="0" r="0" t="0"/>
          <a:stretch/>
        </p:blipFill>
        <p:spPr>
          <a:xfrm>
            <a:off x="628650" y="2297310"/>
            <a:ext cx="77837" cy="100012"/>
          </a:xfrm>
          <a:prstGeom prst="rect">
            <a:avLst/>
          </a:prstGeom>
          <a:noFill/>
          <a:ln>
            <a:noFill/>
          </a:ln>
        </p:spPr>
      </p:pic>
      <p:pic>
        <p:nvPicPr>
          <p:cNvPr descr="image.png" id="524" name="Google Shape;524;p23"/>
          <p:cNvPicPr preferRelativeResize="0"/>
          <p:nvPr/>
        </p:nvPicPr>
        <p:blipFill rotWithShape="1">
          <a:blip r:embed="rId17">
            <a:alphaModFix/>
          </a:blip>
          <a:srcRect b="0" l="0" r="0" t="0"/>
          <a:stretch/>
        </p:blipFill>
        <p:spPr>
          <a:xfrm>
            <a:off x="628650" y="2621160"/>
            <a:ext cx="77837" cy="100012"/>
          </a:xfrm>
          <a:prstGeom prst="rect">
            <a:avLst/>
          </a:prstGeom>
          <a:noFill/>
          <a:ln>
            <a:noFill/>
          </a:ln>
        </p:spPr>
      </p:pic>
      <p:sp>
        <p:nvSpPr>
          <p:cNvPr id="525" name="Google Shape;525;p23"/>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预研究结果 I：城市水网络骨架已形成，AI接口进入初步接入</a:t>
            </a:r>
            <a:endParaRPr/>
          </a:p>
        </p:txBody>
      </p:sp>
      <p:sp>
        <p:nvSpPr>
          <p:cNvPr id="526" name="Google Shape;526;p23"/>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7" name="Rounded Rectangle 526"/>
          <p:cNvSpPr/>
          <p:nvPr/>
        </p:nvSpPr>
        <p:spPr>
          <a:xfrm>
            <a:off x="658368" y="3913632"/>
            <a:ext cx="9646920" cy="1005840"/>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TextBox 527"/>
          <p:cNvSpPr txBox="1"/>
          <p:nvPr/>
        </p:nvSpPr>
        <p:spPr>
          <a:xfrm>
            <a:off x="896112" y="4142232"/>
            <a:ext cx="1143000" cy="210312"/>
          </a:xfrm>
          <a:prstGeom prst="rect">
            <a:avLst/>
          </a:prstGeom>
          <a:noFill/>
        </p:spPr>
        <p:txBody>
          <a:bodyPr wrap="square" lIns="0" rIns="0" tIns="0" bIns="0" anchor="t">
            <a:spAutoFit/>
          </a:bodyPr>
          <a:lstStyle/>
          <a:p>
            <a:pPr algn="l"/>
            <a:r>
              <a:rPr sz="1500" b="1" i="0">
                <a:solidFill>
                  <a:srgbClr val="172B4D"/>
                </a:solidFill>
                <a:latin typeface="Microsoft YaHei"/>
              </a:rPr>
              <a:t>阶段性产物</a:t>
            </a:r>
          </a:p>
        </p:txBody>
      </p:sp>
      <p:sp>
        <p:nvSpPr>
          <p:cNvPr id="529" name="Rounded Rectangle 528"/>
          <p:cNvSpPr/>
          <p:nvPr/>
        </p:nvSpPr>
        <p:spPr>
          <a:xfrm>
            <a:off x="2267712" y="4096512"/>
            <a:ext cx="1170432"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TextBox 529"/>
          <p:cNvSpPr txBox="1"/>
          <p:nvPr/>
        </p:nvSpPr>
        <p:spPr>
          <a:xfrm>
            <a:off x="2359152" y="4110228"/>
            <a:ext cx="987552" cy="201168"/>
          </a:xfrm>
          <a:prstGeom prst="rect">
            <a:avLst/>
          </a:prstGeom>
          <a:noFill/>
        </p:spPr>
        <p:txBody>
          <a:bodyPr wrap="square" lIns="0" rIns="0" tIns="0" bIns="0" anchor="ctr">
            <a:spAutoFit/>
          </a:bodyPr>
          <a:lstStyle/>
          <a:p>
            <a:pPr algn="ctr"/>
            <a:r>
              <a:rPr sz="950" b="1" i="0">
                <a:solidFill>
                  <a:srgbClr val="2388C9"/>
                </a:solidFill>
                <a:latin typeface="Microsoft YaHei"/>
              </a:rPr>
              <a:t>水网络骨架</a:t>
            </a:r>
          </a:p>
        </p:txBody>
      </p:sp>
      <p:sp>
        <p:nvSpPr>
          <p:cNvPr id="531" name="TextBox 530"/>
          <p:cNvSpPr txBox="1"/>
          <p:nvPr/>
        </p:nvSpPr>
        <p:spPr>
          <a:xfrm>
            <a:off x="2267712" y="4443984"/>
            <a:ext cx="1920240" cy="210312"/>
          </a:xfrm>
          <a:prstGeom prst="rect">
            <a:avLst/>
          </a:prstGeom>
          <a:noFill/>
        </p:spPr>
        <p:txBody>
          <a:bodyPr wrap="square" lIns="0" rIns="0" tIns="0" bIns="0" anchor="t">
            <a:spAutoFit/>
          </a:bodyPr>
          <a:lstStyle/>
          <a:p>
            <a:pPr algn="l"/>
            <a:r>
              <a:rPr sz="1100" b="1" i="0">
                <a:solidFill>
                  <a:srgbClr val="2388C9"/>
                </a:solidFill>
                <a:latin typeface="Microsoft YaHei"/>
              </a:rPr>
              <a:t>节点—边—守恒记录</a:t>
            </a:r>
          </a:p>
        </p:txBody>
      </p:sp>
      <p:sp>
        <p:nvSpPr>
          <p:cNvPr id="532" name="Rounded Rectangle 531"/>
          <p:cNvSpPr/>
          <p:nvPr/>
        </p:nvSpPr>
        <p:spPr>
          <a:xfrm>
            <a:off x="4782312" y="4096512"/>
            <a:ext cx="1170432"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TextBox 532"/>
          <p:cNvSpPr txBox="1"/>
          <p:nvPr/>
        </p:nvSpPr>
        <p:spPr>
          <a:xfrm>
            <a:off x="4873752" y="4110228"/>
            <a:ext cx="987552" cy="201168"/>
          </a:xfrm>
          <a:prstGeom prst="rect">
            <a:avLst/>
          </a:prstGeom>
          <a:noFill/>
        </p:spPr>
        <p:txBody>
          <a:bodyPr wrap="square" lIns="0" rIns="0" tIns="0" bIns="0" anchor="ctr">
            <a:spAutoFit/>
          </a:bodyPr>
          <a:lstStyle/>
          <a:p>
            <a:pPr algn="ctr"/>
            <a:r>
              <a:rPr sz="950" b="1" i="0">
                <a:solidFill>
                  <a:srgbClr val="2388C9"/>
                </a:solidFill>
                <a:latin typeface="Microsoft YaHei"/>
              </a:rPr>
              <a:t>接口方程集</a:t>
            </a:r>
          </a:p>
        </p:txBody>
      </p:sp>
      <p:sp>
        <p:nvSpPr>
          <p:cNvPr id="534" name="TextBox 533"/>
          <p:cNvSpPr txBox="1"/>
          <p:nvPr/>
        </p:nvSpPr>
        <p:spPr>
          <a:xfrm>
            <a:off x="4782312" y="4443984"/>
            <a:ext cx="1920240" cy="210312"/>
          </a:xfrm>
          <a:prstGeom prst="rect">
            <a:avLst/>
          </a:prstGeom>
          <a:noFill/>
        </p:spPr>
        <p:txBody>
          <a:bodyPr wrap="square" lIns="0" rIns="0" tIns="0" bIns="0" anchor="t">
            <a:spAutoFit/>
          </a:bodyPr>
          <a:lstStyle/>
          <a:p>
            <a:pPr algn="l"/>
            <a:r>
              <a:rPr sz="1100" b="1" i="0">
                <a:solidFill>
                  <a:srgbClr val="1BA6A6"/>
                </a:solidFill>
                <a:latin typeface="Microsoft YaHei"/>
              </a:rPr>
              <a:t>补水 / 排污 / 回用</a:t>
            </a:r>
          </a:p>
        </p:txBody>
      </p:sp>
      <p:sp>
        <p:nvSpPr>
          <p:cNvPr id="535" name="Rounded Rectangle 534"/>
          <p:cNvSpPr/>
          <p:nvPr/>
        </p:nvSpPr>
        <p:spPr>
          <a:xfrm>
            <a:off x="7296912" y="4096512"/>
            <a:ext cx="1170432"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TextBox 535"/>
          <p:cNvSpPr txBox="1"/>
          <p:nvPr/>
        </p:nvSpPr>
        <p:spPr>
          <a:xfrm>
            <a:off x="7388352" y="4110228"/>
            <a:ext cx="987552" cy="201168"/>
          </a:xfrm>
          <a:prstGeom prst="rect">
            <a:avLst/>
          </a:prstGeom>
          <a:noFill/>
        </p:spPr>
        <p:txBody>
          <a:bodyPr wrap="square" lIns="0" rIns="0" tIns="0" bIns="0" anchor="ctr">
            <a:spAutoFit/>
          </a:bodyPr>
          <a:lstStyle/>
          <a:p>
            <a:pPr algn="ctr"/>
            <a:r>
              <a:rPr sz="950" b="1" i="0">
                <a:solidFill>
                  <a:srgbClr val="2388C9"/>
                </a:solidFill>
                <a:latin typeface="Microsoft YaHei"/>
              </a:rPr>
              <a:t>Pilot输出</a:t>
            </a:r>
          </a:p>
        </p:txBody>
      </p:sp>
      <p:sp>
        <p:nvSpPr>
          <p:cNvPr id="537" name="TextBox 536"/>
          <p:cNvSpPr txBox="1"/>
          <p:nvPr/>
        </p:nvSpPr>
        <p:spPr>
          <a:xfrm>
            <a:off x="7296912" y="4443984"/>
            <a:ext cx="1920240" cy="210312"/>
          </a:xfrm>
          <a:prstGeom prst="rect">
            <a:avLst/>
          </a:prstGeom>
          <a:noFill/>
        </p:spPr>
        <p:txBody>
          <a:bodyPr wrap="square" lIns="0" rIns="0" tIns="0" bIns="0" anchor="t">
            <a:spAutoFit/>
          </a:bodyPr>
          <a:lstStyle/>
          <a:p>
            <a:pPr algn="l"/>
            <a:r>
              <a:rPr sz="1100" b="1" i="0">
                <a:solidFill>
                  <a:srgbClr val="C9973E"/>
                </a:solidFill>
                <a:latin typeface="Microsoft YaHei"/>
              </a:rPr>
              <a:t>pilot_output.csv</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530" name="Shape 530"/>
        <p:cNvGrpSpPr/>
        <p:nvPr/>
      </p:nvGrpSpPr>
      <p:grpSpPr>
        <a:xfrm>
          <a:off x="0" y="0"/>
          <a:ext cx="0" cy="0"/>
          <a:chOff x="0" y="0"/>
          <a:chExt cx="0" cy="0"/>
        </a:xfrm>
      </p:grpSpPr>
      <p:sp>
        <p:nvSpPr>
          <p:cNvPr id="531" name="Rounded Rectangle 530"/>
          <p:cNvSpPr/>
          <p:nvPr/>
        </p:nvSpPr>
        <p:spPr>
          <a:xfrm>
            <a:off x="502920" y="301752"/>
            <a:ext cx="214884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TextBox 531"/>
          <p:cNvSpPr txBox="1"/>
          <p:nvPr/>
        </p:nvSpPr>
        <p:spPr>
          <a:xfrm>
            <a:off x="594360" y="315468"/>
            <a:ext cx="1965960" cy="201168"/>
          </a:xfrm>
          <a:prstGeom prst="rect">
            <a:avLst/>
          </a:prstGeom>
          <a:noFill/>
        </p:spPr>
        <p:txBody>
          <a:bodyPr wrap="square" lIns="0" rIns="0" tIns="0" bIns="0" anchor="ctr">
            <a:spAutoFit/>
          </a:bodyPr>
          <a:lstStyle/>
          <a:p>
            <a:pPr algn="ctr"/>
            <a:r>
              <a:rPr sz="950" b="1" i="0">
                <a:solidFill>
                  <a:srgbClr val="2388C9"/>
                </a:solidFill>
                <a:latin typeface="Microsoft YaHei"/>
              </a:rPr>
              <a:t>11 / PRELIMINARY PILOT</a:t>
            </a:r>
          </a:p>
        </p:txBody>
      </p:sp>
      <p:sp>
        <p:nvSpPr>
          <p:cNvPr id="533" name="TextBox 532"/>
          <p:cNvSpPr txBox="1"/>
          <p:nvPr/>
        </p:nvSpPr>
        <p:spPr>
          <a:xfrm>
            <a:off x="502920" y="713232"/>
            <a:ext cx="9784080" cy="457200"/>
          </a:xfrm>
          <a:prstGeom prst="rect">
            <a:avLst/>
          </a:prstGeom>
          <a:noFill/>
        </p:spPr>
        <p:txBody>
          <a:bodyPr wrap="square" lIns="0" rIns="0" tIns="0" bIns="0" anchor="t">
            <a:spAutoFit/>
          </a:bodyPr>
          <a:lstStyle/>
          <a:p>
            <a:pPr algn="l"/>
            <a:r>
              <a:rPr sz="2500" b="1" i="0">
                <a:solidFill>
                  <a:srgbClr val="172B4D"/>
                </a:solidFill>
                <a:latin typeface="Microsoft YaHei"/>
              </a:rPr>
              <a:t>Pilot simulation：低裕度状态会放大淡水依赖</a:t>
            </a:r>
          </a:p>
        </p:txBody>
      </p:sp>
      <p:sp>
        <p:nvSpPr>
          <p:cNvPr id="534" name="TextBox 533"/>
          <p:cNvSpPr txBox="1"/>
          <p:nvPr/>
        </p:nvSpPr>
        <p:spPr>
          <a:xfrm>
            <a:off x="530352" y="1188720"/>
            <a:ext cx="9875520" cy="256032"/>
          </a:xfrm>
          <a:prstGeom prst="rect">
            <a:avLst/>
          </a:prstGeom>
          <a:noFill/>
        </p:spPr>
        <p:txBody>
          <a:bodyPr wrap="square" lIns="0" rIns="0" tIns="0" bIns="0" anchor="t">
            <a:spAutoFit/>
          </a:bodyPr>
          <a:lstStyle/>
          <a:p>
            <a:pPr algn="l"/>
            <a:r>
              <a:rPr sz="1200" b="0" i="0">
                <a:solidFill>
                  <a:srgbClr val="68788C"/>
                </a:solidFill>
                <a:latin typeface="Microsoft YaHei"/>
              </a:rPr>
              <a:t>Synthetic model output v0.1；参数集用于检查接口与量纲，后续由真实城市锚点校准。</a:t>
            </a:r>
          </a:p>
        </p:txBody>
      </p:sp>
      <p:sp>
        <p:nvSpPr>
          <p:cNvPr id="535" name="Rounded Rectangle 534"/>
          <p:cNvSpPr/>
          <p:nvPr/>
        </p:nvSpPr>
        <p:spPr>
          <a:xfrm>
            <a:off x="530352" y="1572768"/>
            <a:ext cx="6812280" cy="3794760"/>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Connector 535"/>
          <p:cNvCxnSpPr/>
          <p:nvPr/>
        </p:nvCxnSpPr>
        <p:spPr>
          <a:xfrm>
            <a:off x="1170432" y="1975104"/>
            <a:ext cx="576072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1170432" y="2644902"/>
            <a:ext cx="576072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a:off x="1170432" y="3314700"/>
            <a:ext cx="576072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1170432" y="3984498"/>
            <a:ext cx="576072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a:off x="1170432" y="4654296"/>
            <a:ext cx="576072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a:off x="1170432" y="1975104"/>
            <a:ext cx="0" cy="2679192"/>
          </a:xfrm>
          <a:prstGeom prst="line">
            <a:avLst/>
          </a:prstGeom>
          <a:ln w="1651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a:off x="1170432" y="4654296"/>
            <a:ext cx="5760720" cy="0"/>
          </a:xfrm>
          <a:prstGeom prst="line">
            <a:avLst/>
          </a:prstGeom>
          <a:ln w="16510">
            <a:solidFill>
              <a:srgbClr val="172B4D"/>
            </a:solidFill>
          </a:ln>
        </p:spPr>
        <p:style>
          <a:lnRef idx="2">
            <a:schemeClr val="accent1"/>
          </a:lnRef>
          <a:fillRef idx="0">
            <a:schemeClr val="accent1"/>
          </a:fillRef>
          <a:effectRef idx="1">
            <a:schemeClr val="accent1"/>
          </a:effectRef>
          <a:fontRef idx="minor">
            <a:schemeClr val="tx1"/>
          </a:fontRef>
        </p:style>
      </p:cxnSp>
      <p:sp>
        <p:nvSpPr>
          <p:cNvPr id="543" name="TextBox 542"/>
          <p:cNvSpPr txBox="1"/>
          <p:nvPr/>
        </p:nvSpPr>
        <p:spPr>
          <a:xfrm>
            <a:off x="685800" y="1901952"/>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1.00</a:t>
            </a:r>
          </a:p>
        </p:txBody>
      </p:sp>
      <p:sp>
        <p:nvSpPr>
          <p:cNvPr id="544" name="TextBox 543"/>
          <p:cNvSpPr txBox="1"/>
          <p:nvPr/>
        </p:nvSpPr>
        <p:spPr>
          <a:xfrm>
            <a:off x="685800" y="2571750"/>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0.75</a:t>
            </a:r>
          </a:p>
        </p:txBody>
      </p:sp>
      <p:sp>
        <p:nvSpPr>
          <p:cNvPr id="545" name="TextBox 544"/>
          <p:cNvSpPr txBox="1"/>
          <p:nvPr/>
        </p:nvSpPr>
        <p:spPr>
          <a:xfrm>
            <a:off x="685800" y="3241548"/>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0.50</a:t>
            </a:r>
          </a:p>
        </p:txBody>
      </p:sp>
      <p:sp>
        <p:nvSpPr>
          <p:cNvPr id="546" name="TextBox 545"/>
          <p:cNvSpPr txBox="1"/>
          <p:nvPr/>
        </p:nvSpPr>
        <p:spPr>
          <a:xfrm>
            <a:off x="685800" y="3911346"/>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0.25</a:t>
            </a:r>
          </a:p>
        </p:txBody>
      </p:sp>
      <p:sp>
        <p:nvSpPr>
          <p:cNvPr id="547" name="TextBox 546"/>
          <p:cNvSpPr txBox="1"/>
          <p:nvPr/>
        </p:nvSpPr>
        <p:spPr>
          <a:xfrm>
            <a:off x="685800" y="4581144"/>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0.00</a:t>
            </a:r>
          </a:p>
        </p:txBody>
      </p:sp>
      <p:sp>
        <p:nvSpPr>
          <p:cNvPr id="548" name="TextBox 547"/>
          <p:cNvSpPr txBox="1"/>
          <p:nvPr/>
        </p:nvSpPr>
        <p:spPr>
          <a:xfrm>
            <a:off x="941832" y="4727448"/>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0</a:t>
            </a:r>
          </a:p>
        </p:txBody>
      </p:sp>
      <p:sp>
        <p:nvSpPr>
          <p:cNvPr id="549" name="TextBox 548"/>
          <p:cNvSpPr txBox="1"/>
          <p:nvPr/>
        </p:nvSpPr>
        <p:spPr>
          <a:xfrm>
            <a:off x="2382012" y="4727448"/>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0.25</a:t>
            </a:r>
          </a:p>
        </p:txBody>
      </p:sp>
      <p:sp>
        <p:nvSpPr>
          <p:cNvPr id="550" name="TextBox 549"/>
          <p:cNvSpPr txBox="1"/>
          <p:nvPr/>
        </p:nvSpPr>
        <p:spPr>
          <a:xfrm>
            <a:off x="3822191" y="4727448"/>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0.50</a:t>
            </a:r>
          </a:p>
        </p:txBody>
      </p:sp>
      <p:sp>
        <p:nvSpPr>
          <p:cNvPr id="551" name="TextBox 550"/>
          <p:cNvSpPr txBox="1"/>
          <p:nvPr/>
        </p:nvSpPr>
        <p:spPr>
          <a:xfrm>
            <a:off x="5262372" y="4727448"/>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0.75</a:t>
            </a:r>
          </a:p>
        </p:txBody>
      </p:sp>
      <p:sp>
        <p:nvSpPr>
          <p:cNvPr id="552" name="TextBox 551"/>
          <p:cNvSpPr txBox="1"/>
          <p:nvPr/>
        </p:nvSpPr>
        <p:spPr>
          <a:xfrm>
            <a:off x="6702552" y="4727448"/>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1.00</a:t>
            </a:r>
          </a:p>
        </p:txBody>
      </p:sp>
      <p:sp>
        <p:nvSpPr>
          <p:cNvPr id="553" name="TextBox 552"/>
          <p:cNvSpPr txBox="1"/>
          <p:nvPr/>
        </p:nvSpPr>
        <p:spPr>
          <a:xfrm rot="16200000">
            <a:off x="685800" y="2871215"/>
            <a:ext cx="1097280" cy="228600"/>
          </a:xfrm>
          <a:prstGeom prst="rect">
            <a:avLst/>
          </a:prstGeom>
          <a:noFill/>
        </p:spPr>
        <p:txBody>
          <a:bodyPr wrap="square" lIns="0" rIns="0" tIns="0" bIns="0" anchor="t">
            <a:spAutoFit/>
          </a:bodyPr>
          <a:lstStyle/>
          <a:p>
            <a:pPr algn="ctr"/>
            <a:r>
              <a:rPr sz="1000" b="0" i="0">
                <a:solidFill>
                  <a:srgbClr val="68788C"/>
                </a:solidFill>
                <a:latin typeface="Microsoft YaHei"/>
              </a:rPr>
              <a:t>淡水依赖</a:t>
            </a:r>
          </a:p>
        </p:txBody>
      </p:sp>
      <p:sp>
        <p:nvSpPr>
          <p:cNvPr id="554" name="TextBox 553"/>
          <p:cNvSpPr txBox="1"/>
          <p:nvPr/>
        </p:nvSpPr>
        <p:spPr>
          <a:xfrm>
            <a:off x="2679191" y="4837176"/>
            <a:ext cx="2743200" cy="182880"/>
          </a:xfrm>
          <a:prstGeom prst="rect">
            <a:avLst/>
          </a:prstGeom>
          <a:noFill/>
        </p:spPr>
        <p:txBody>
          <a:bodyPr wrap="square" lIns="0" rIns="0" tIns="0" bIns="0" anchor="t">
            <a:spAutoFit/>
          </a:bodyPr>
          <a:lstStyle/>
          <a:p>
            <a:pPr algn="ctr"/>
            <a:r>
              <a:rPr sz="1000" b="0" i="0">
                <a:solidFill>
                  <a:srgbClr val="68788C"/>
                </a:solidFill>
                <a:latin typeface="Microsoft YaHei"/>
              </a:rPr>
              <a:t>AI IT容量 / C_ref →</a:t>
            </a:r>
          </a:p>
        </p:txBody>
      </p:sp>
      <p:cxnSp>
        <p:nvCxnSpPr>
          <p:cNvPr id="555" name="Connector 554"/>
          <p:cNvCxnSpPr/>
          <p:nvPr/>
        </p:nvCxnSpPr>
        <p:spPr>
          <a:xfrm flipV="1">
            <a:off x="1170432" y="3984498"/>
            <a:ext cx="1440180" cy="80375"/>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flipV="1">
            <a:off x="2610612" y="3823746"/>
            <a:ext cx="1440179" cy="160752"/>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flipV="1">
            <a:off x="4050791" y="3555827"/>
            <a:ext cx="1440181" cy="267919"/>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V="1">
            <a:off x="5490972" y="3180740"/>
            <a:ext cx="1440180" cy="375087"/>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sp>
        <p:nvSpPr>
          <p:cNvPr id="559" name="TextBox 558"/>
          <p:cNvSpPr txBox="1"/>
          <p:nvPr/>
        </p:nvSpPr>
        <p:spPr>
          <a:xfrm>
            <a:off x="7004304" y="3071012"/>
            <a:ext cx="1005840" cy="201168"/>
          </a:xfrm>
          <a:prstGeom prst="rect">
            <a:avLst/>
          </a:prstGeom>
          <a:noFill/>
        </p:spPr>
        <p:txBody>
          <a:bodyPr wrap="square" lIns="0" rIns="0" tIns="0" bIns="0" anchor="t">
            <a:spAutoFit/>
          </a:bodyPr>
          <a:lstStyle/>
          <a:p>
            <a:pPr algn="l"/>
            <a:r>
              <a:rPr sz="1000" b="1" i="0">
                <a:solidFill>
                  <a:srgbClr val="2388C9"/>
                </a:solidFill>
                <a:latin typeface="Microsoft YaHei"/>
              </a:rPr>
              <a:t>高裕度</a:t>
            </a:r>
          </a:p>
        </p:txBody>
      </p:sp>
      <p:cxnSp>
        <p:nvCxnSpPr>
          <p:cNvPr id="560" name="Connector 559"/>
          <p:cNvCxnSpPr/>
          <p:nvPr/>
        </p:nvCxnSpPr>
        <p:spPr>
          <a:xfrm flipV="1">
            <a:off x="1170432" y="3877330"/>
            <a:ext cx="1440180" cy="187543"/>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flipV="1">
            <a:off x="2610612" y="3502243"/>
            <a:ext cx="1440179" cy="375087"/>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flipV="1">
            <a:off x="4050791" y="2939613"/>
            <a:ext cx="1440181" cy="562630"/>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flipV="1">
            <a:off x="5490972" y="2350190"/>
            <a:ext cx="1440180" cy="589423"/>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sp>
        <p:nvSpPr>
          <p:cNvPr id="564" name="TextBox 563"/>
          <p:cNvSpPr txBox="1"/>
          <p:nvPr/>
        </p:nvSpPr>
        <p:spPr>
          <a:xfrm>
            <a:off x="7004304" y="2240462"/>
            <a:ext cx="1005840" cy="201168"/>
          </a:xfrm>
          <a:prstGeom prst="rect">
            <a:avLst/>
          </a:prstGeom>
          <a:noFill/>
        </p:spPr>
        <p:txBody>
          <a:bodyPr wrap="square" lIns="0" rIns="0" tIns="0" bIns="0" anchor="t">
            <a:spAutoFit/>
          </a:bodyPr>
          <a:lstStyle/>
          <a:p>
            <a:pPr algn="l"/>
            <a:r>
              <a:rPr sz="1000" b="1" i="0">
                <a:solidFill>
                  <a:srgbClr val="1BA6A6"/>
                </a:solidFill>
                <a:latin typeface="Microsoft YaHei"/>
              </a:rPr>
              <a:t>中裕度</a:t>
            </a:r>
          </a:p>
        </p:txBody>
      </p:sp>
      <p:cxnSp>
        <p:nvCxnSpPr>
          <p:cNvPr id="565" name="Connector 564"/>
          <p:cNvCxnSpPr/>
          <p:nvPr/>
        </p:nvCxnSpPr>
        <p:spPr>
          <a:xfrm flipV="1">
            <a:off x="1170432" y="3662994"/>
            <a:ext cx="1440180" cy="401879"/>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flipV="1">
            <a:off x="2610612" y="3019988"/>
            <a:ext cx="1440179" cy="643006"/>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V="1">
            <a:off x="4050791" y="2243023"/>
            <a:ext cx="1440181" cy="776965"/>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flipV="1">
            <a:off x="5490972" y="1975104"/>
            <a:ext cx="1440180" cy="267919"/>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sp>
        <p:nvSpPr>
          <p:cNvPr id="569" name="TextBox 568"/>
          <p:cNvSpPr txBox="1"/>
          <p:nvPr/>
        </p:nvSpPr>
        <p:spPr>
          <a:xfrm>
            <a:off x="7004304" y="1865376"/>
            <a:ext cx="1005840" cy="201168"/>
          </a:xfrm>
          <a:prstGeom prst="rect">
            <a:avLst/>
          </a:prstGeom>
          <a:noFill/>
        </p:spPr>
        <p:txBody>
          <a:bodyPr wrap="square" lIns="0" rIns="0" tIns="0" bIns="0" anchor="t">
            <a:spAutoFit/>
          </a:bodyPr>
          <a:lstStyle/>
          <a:p>
            <a:pPr algn="l"/>
            <a:r>
              <a:rPr sz="1000" b="1" i="0">
                <a:solidFill>
                  <a:srgbClr val="172B4D"/>
                </a:solidFill>
                <a:latin typeface="Microsoft YaHei"/>
              </a:rPr>
              <a:t>低裕度</a:t>
            </a:r>
          </a:p>
        </p:txBody>
      </p:sp>
      <p:sp>
        <p:nvSpPr>
          <p:cNvPr id="570" name="Rounded Rectangle 569"/>
          <p:cNvSpPr/>
          <p:nvPr/>
        </p:nvSpPr>
        <p:spPr>
          <a:xfrm>
            <a:off x="7644383" y="1572768"/>
            <a:ext cx="2971800" cy="1664208"/>
          </a:xfrm>
          <a:prstGeom prst="roundRect">
            <a:avLst/>
          </a:prstGeom>
          <a:solidFill>
            <a:srgbClr val="E9F2FA"/>
          </a:solidFill>
          <a:ln w="11430">
            <a:solidFill>
              <a:srgbClr val="C5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7891272" y="1801368"/>
            <a:ext cx="2286000" cy="228600"/>
          </a:xfrm>
          <a:prstGeom prst="rect">
            <a:avLst/>
          </a:prstGeom>
          <a:noFill/>
        </p:spPr>
        <p:txBody>
          <a:bodyPr wrap="square" lIns="0" rIns="0" tIns="0" bIns="0" anchor="t">
            <a:spAutoFit/>
          </a:bodyPr>
          <a:lstStyle/>
          <a:p>
            <a:pPr algn="l"/>
            <a:r>
              <a:rPr sz="1500" b="1" i="0">
                <a:solidFill>
                  <a:srgbClr val="172B4D"/>
                </a:solidFill>
                <a:latin typeface="Microsoft YaHei"/>
              </a:rPr>
              <a:t>Pilot 参数集</a:t>
            </a:r>
          </a:p>
        </p:txBody>
      </p:sp>
      <p:sp>
        <p:nvSpPr>
          <p:cNvPr id="572" name="TextBox 571"/>
          <p:cNvSpPr txBox="1"/>
          <p:nvPr/>
        </p:nvSpPr>
        <p:spPr>
          <a:xfrm>
            <a:off x="7891272" y="2157984"/>
            <a:ext cx="2423160" cy="822960"/>
          </a:xfrm>
          <a:prstGeom prst="rect">
            <a:avLst/>
          </a:prstGeom>
          <a:noFill/>
        </p:spPr>
        <p:txBody>
          <a:bodyPr wrap="square" lIns="0" rIns="0" tIns="0" bIns="0" anchor="t">
            <a:spAutoFit/>
          </a:bodyPr>
          <a:lstStyle/>
          <a:p>
            <a:pPr algn="l"/>
            <a:r>
              <a:rPr sz="1200" b="0" i="0">
                <a:solidFill>
                  <a:srgbClr val="53657A"/>
                </a:solidFill>
                <a:latin typeface="Microsoft YaHei"/>
              </a:rPr>
              <a:t>PUE = 1.30
CoC = 4.0 · R = 0.35
T_wb = 24 °C · C_ref = 100</a:t>
            </a:r>
          </a:p>
        </p:txBody>
      </p:sp>
      <p:sp>
        <p:nvSpPr>
          <p:cNvPr id="573" name="Rounded Rectangle 572"/>
          <p:cNvSpPr/>
          <p:nvPr/>
        </p:nvSpPr>
        <p:spPr>
          <a:xfrm>
            <a:off x="7644383" y="3456432"/>
            <a:ext cx="2971800" cy="1911095"/>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TextBox 573"/>
          <p:cNvSpPr txBox="1"/>
          <p:nvPr/>
        </p:nvSpPr>
        <p:spPr>
          <a:xfrm>
            <a:off x="7891272" y="3685032"/>
            <a:ext cx="2286000" cy="228600"/>
          </a:xfrm>
          <a:prstGeom prst="rect">
            <a:avLst/>
          </a:prstGeom>
          <a:noFill/>
        </p:spPr>
        <p:txBody>
          <a:bodyPr wrap="square" lIns="0" rIns="0" tIns="0" bIns="0" anchor="t">
            <a:spAutoFit/>
          </a:bodyPr>
          <a:lstStyle/>
          <a:p>
            <a:pPr algn="l"/>
            <a:r>
              <a:rPr sz="1500" b="1" i="0">
                <a:solidFill>
                  <a:srgbClr val="172B4D"/>
                </a:solidFill>
                <a:latin typeface="Microsoft YaHei"/>
              </a:rPr>
              <a:t>运行读数</a:t>
            </a:r>
          </a:p>
        </p:txBody>
      </p:sp>
      <p:sp>
        <p:nvSpPr>
          <p:cNvPr id="575" name="TextBox 574"/>
          <p:cNvSpPr txBox="1"/>
          <p:nvPr/>
        </p:nvSpPr>
        <p:spPr>
          <a:xfrm>
            <a:off x="7891272" y="4041648"/>
            <a:ext cx="2404872" cy="777240"/>
          </a:xfrm>
          <a:prstGeom prst="rect">
            <a:avLst/>
          </a:prstGeom>
          <a:noFill/>
        </p:spPr>
        <p:txBody>
          <a:bodyPr wrap="square" lIns="0" rIns="0" tIns="0" bIns="0" anchor="t">
            <a:spAutoFit/>
          </a:bodyPr>
          <a:lstStyle/>
          <a:p>
            <a:pPr algn="l"/>
            <a:r>
              <a:rPr sz="1200" b="0" i="0">
                <a:solidFill>
                  <a:srgbClr val="53657A"/>
                </a:solidFill>
                <a:latin typeface="Microsoft YaHei"/>
              </a:rPr>
              <a:t>低裕度曲线在 q_AI/C_ref≈0.5 后斜率上升；该输出进入下一页 D_structure 阈值检验。</a:t>
            </a:r>
          </a:p>
        </p:txBody>
      </p:sp>
      <p:sp>
        <p:nvSpPr>
          <p:cNvPr id="576" name="TextBox 575"/>
          <p:cNvSpPr txBox="1"/>
          <p:nvPr/>
        </p:nvSpPr>
        <p:spPr>
          <a:xfrm>
            <a:off x="548640" y="5504688"/>
            <a:ext cx="7589520" cy="201168"/>
          </a:xfrm>
          <a:prstGeom prst="rect">
            <a:avLst/>
          </a:prstGeom>
          <a:noFill/>
        </p:spPr>
        <p:txBody>
          <a:bodyPr wrap="square" lIns="0" rIns="0" tIns="0" bIns="0" anchor="t">
            <a:spAutoFit/>
          </a:bodyPr>
          <a:lstStyle/>
          <a:p>
            <a:pPr algn="l"/>
            <a:r>
              <a:rPr sz="1000" b="1" i="0">
                <a:solidFill>
                  <a:srgbClr val="1BA6A6"/>
                </a:solidFill>
                <a:latin typeface="Microsoft YaHei"/>
              </a:rPr>
              <a:t>输出保存：work/pilot_output.csv（参数、容量网格、淡水依赖与WTP加载）。</a:t>
            </a:r>
          </a:p>
        </p:txBody>
      </p:sp>
      <p:sp>
        <p:nvSpPr>
          <p:cNvPr id="577" name="TextBox 576"/>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68788C"/>
                </a:solidFill>
                <a:latin typeface="Microsoft YaHei"/>
              </a:rPr>
              <a:t>哈尔滨工业大学 · 硕士学位论文开题答辩</a:t>
            </a:r>
          </a:p>
        </p:txBody>
      </p:sp>
      <p:sp>
        <p:nvSpPr>
          <p:cNvPr id="578" name="TextBox 577"/>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68788C"/>
                </a:solidFill>
                <a:latin typeface="Microsoft YaHei"/>
              </a:rPr>
              <a:t>12 / PRELIMINARY PILOT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pic>
        <p:nvPicPr>
          <p:cNvPr descr="image.png" id="535" name="Google Shape;535;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36" name="Google Shape;536;p25"/>
          <p:cNvPicPr preferRelativeResize="0"/>
          <p:nvPr/>
        </p:nvPicPr>
        <p:blipFill rotWithShape="1">
          <a:blip r:embed="rId4">
            <a:alphaModFix/>
          </a:blip>
          <a:srcRect b="0" l="0" r="0" t="0"/>
          <a:stretch/>
        </p:blipFill>
        <p:spPr>
          <a:xfrm>
            <a:off x="438150" y="2368599"/>
            <a:ext cx="11315700" cy="645169"/>
          </a:xfrm>
          <a:prstGeom prst="rect">
            <a:avLst/>
          </a:prstGeom>
          <a:noFill/>
          <a:ln>
            <a:noFill/>
          </a:ln>
        </p:spPr>
      </p:pic>
      <p:pic>
        <p:nvPicPr>
          <p:cNvPr descr="image.png" id="537" name="Google Shape;537;p25"/>
          <p:cNvPicPr preferRelativeResize="0"/>
          <p:nvPr/>
        </p:nvPicPr>
        <p:blipFill rotWithShape="1">
          <a:blip r:embed="rId5">
            <a:alphaModFix/>
          </a:blip>
          <a:srcRect b="0" l="0" r="0" t="0"/>
          <a:stretch/>
        </p:blipFill>
        <p:spPr>
          <a:xfrm>
            <a:off x="438150" y="1192410"/>
            <a:ext cx="3682900" cy="1042838"/>
          </a:xfrm>
          <a:prstGeom prst="rect">
            <a:avLst/>
          </a:prstGeom>
          <a:noFill/>
          <a:ln>
            <a:noFill/>
          </a:ln>
        </p:spPr>
      </p:pic>
      <p:pic>
        <p:nvPicPr>
          <p:cNvPr descr="image.png" id="538" name="Google Shape;538;p25"/>
          <p:cNvPicPr preferRelativeResize="0"/>
          <p:nvPr/>
        </p:nvPicPr>
        <p:blipFill rotWithShape="1">
          <a:blip r:embed="rId6">
            <a:alphaModFix/>
          </a:blip>
          <a:srcRect b="0" l="0" r="0" t="0"/>
          <a:stretch/>
        </p:blipFill>
        <p:spPr>
          <a:xfrm>
            <a:off x="4254400" y="1192410"/>
            <a:ext cx="3683049" cy="1042838"/>
          </a:xfrm>
          <a:prstGeom prst="rect">
            <a:avLst/>
          </a:prstGeom>
          <a:noFill/>
          <a:ln>
            <a:noFill/>
          </a:ln>
        </p:spPr>
      </p:pic>
      <p:pic>
        <p:nvPicPr>
          <p:cNvPr descr="image.png" id="539" name="Google Shape;539;p25"/>
          <p:cNvPicPr preferRelativeResize="0"/>
          <p:nvPr/>
        </p:nvPicPr>
        <p:blipFill rotWithShape="1">
          <a:blip r:embed="rId7">
            <a:alphaModFix/>
          </a:blip>
          <a:srcRect b="0" l="0" r="0" t="0"/>
          <a:stretch/>
        </p:blipFill>
        <p:spPr>
          <a:xfrm>
            <a:off x="8070800" y="1192410"/>
            <a:ext cx="3682900" cy="1042838"/>
          </a:xfrm>
          <a:prstGeom prst="rect">
            <a:avLst/>
          </a:prstGeom>
          <a:noFill/>
          <a:ln>
            <a:noFill/>
          </a:ln>
        </p:spPr>
      </p:pic>
      <p:pic>
        <p:nvPicPr>
          <p:cNvPr descr="image.png" id="540" name="Google Shape;540;p25"/>
          <p:cNvPicPr preferRelativeResize="0"/>
          <p:nvPr/>
        </p:nvPicPr>
        <p:blipFill rotWithShape="1">
          <a:blip r:embed="rId8">
            <a:alphaModFix/>
          </a:blip>
          <a:srcRect b="0" l="0" r="0" t="0"/>
          <a:stretch/>
        </p:blipFill>
        <p:spPr>
          <a:xfrm>
            <a:off x="438150" y="6515100"/>
            <a:ext cx="11315700" cy="228600"/>
          </a:xfrm>
          <a:prstGeom prst="rect">
            <a:avLst/>
          </a:prstGeom>
          <a:noFill/>
          <a:ln>
            <a:noFill/>
          </a:ln>
        </p:spPr>
      </p:pic>
      <p:pic>
        <p:nvPicPr>
          <p:cNvPr descr="image.png" id="541" name="Google Shape;541;p25"/>
          <p:cNvPicPr preferRelativeResize="0"/>
          <p:nvPr/>
        </p:nvPicPr>
        <p:blipFill rotWithShape="1">
          <a:blip r:embed="rId9">
            <a:alphaModFix/>
          </a:blip>
          <a:srcRect b="0" l="0" r="0" t="0"/>
          <a:stretch/>
        </p:blipFill>
        <p:spPr>
          <a:xfrm>
            <a:off x="11060310" y="328612"/>
            <a:ext cx="693539" cy="180975"/>
          </a:xfrm>
          <a:prstGeom prst="rect">
            <a:avLst/>
          </a:prstGeom>
          <a:noFill/>
          <a:ln>
            <a:noFill/>
          </a:ln>
        </p:spPr>
      </p:pic>
      <p:sp>
        <p:nvSpPr>
          <p:cNvPr id="542" name="Google Shape;542;p25"/>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543" name="Google Shape;543;p25"/>
          <p:cNvSpPr txBox="1"/>
          <p:nvPr/>
        </p:nvSpPr>
        <p:spPr>
          <a:xfrm>
            <a:off x="10783341" y="6615112"/>
            <a:ext cx="970508"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12 / EXPERIMENT 1</a:t>
            </a:r>
            <a:endParaRPr/>
          </a:p>
        </p:txBody>
      </p:sp>
      <p:pic>
        <p:nvPicPr>
          <p:cNvPr descr="image.png" id="544" name="Google Shape;544;p25"/>
          <p:cNvPicPr preferRelativeResize="0"/>
          <p:nvPr/>
        </p:nvPicPr>
        <p:blipFill rotWithShape="1">
          <a:blip r:embed="rId10">
            <a:alphaModFix/>
          </a:blip>
          <a:srcRect b="0" l="0" r="0" t="0"/>
          <a:stretch/>
        </p:blipFill>
        <p:spPr>
          <a:xfrm>
            <a:off x="438150" y="323850"/>
            <a:ext cx="1505842" cy="190500"/>
          </a:xfrm>
          <a:prstGeom prst="rect">
            <a:avLst/>
          </a:prstGeom>
          <a:noFill/>
          <a:ln>
            <a:noFill/>
          </a:ln>
        </p:spPr>
      </p:pic>
      <p:sp>
        <p:nvSpPr>
          <p:cNvPr id="545" name="Google Shape;545;p25"/>
          <p:cNvSpPr txBox="1"/>
          <p:nvPr/>
        </p:nvSpPr>
        <p:spPr>
          <a:xfrm>
            <a:off x="600075" y="2492424"/>
            <a:ext cx="10991850" cy="177105"/>
          </a:xfrm>
          <a:prstGeom prst="rect">
            <a:avLst/>
          </a:prstGeom>
          <a:noFill/>
          <a:ln>
            <a:noFill/>
          </a:ln>
        </p:spPr>
        <p:txBody>
          <a:bodyPr anchorCtr="0" anchor="t" bIns="0" lIns="88975" spcFirstLastPara="1" rIns="0" wrap="square" tIns="0">
            <a:spAutoFit/>
          </a:bodyPr>
          <a:lstStyle/>
          <a:p>
            <a:pPr indent="0" lvl="0" marL="0" marR="0" rtl="0" algn="l">
              <a:lnSpc>
                <a:spcPct val="155000"/>
              </a:lnSpc>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关键实验设计 (Capacity Gradient + 等年用水量普通工业对照)</a:t>
            </a:r>
            <a:endParaRPr/>
          </a:p>
        </p:txBody>
      </p:sp>
      <p:sp>
        <p:nvSpPr>
          <p:cNvPr id="546" name="Google Shape;546;p25"/>
          <p:cNvSpPr txBox="1"/>
          <p:nvPr/>
        </p:nvSpPr>
        <p:spPr>
          <a:xfrm>
            <a:off x="600075" y="2698105"/>
            <a:ext cx="10991850" cy="191839"/>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逐项区分规模放大、结构重构与机械性截断。输出：结构重构阈值的条件域 (ρAI, 再生水自给率 R, 设施裕度 M)。</a:t>
            </a:r>
            <a:endParaRPr/>
          </a:p>
        </p:txBody>
      </p:sp>
      <p:pic>
        <p:nvPicPr>
          <p:cNvPr descr="image.png" id="547" name="Google Shape;547;p25"/>
          <p:cNvPicPr preferRelativeResize="0"/>
          <p:nvPr/>
        </p:nvPicPr>
        <p:blipFill rotWithShape="1">
          <a:blip r:embed="rId11">
            <a:alphaModFix/>
          </a:blip>
          <a:srcRect b="0" l="0" r="0" t="0"/>
          <a:stretch/>
        </p:blipFill>
        <p:spPr>
          <a:xfrm>
            <a:off x="438150" y="6619875"/>
            <a:ext cx="81557" cy="104775"/>
          </a:xfrm>
          <a:prstGeom prst="rect">
            <a:avLst/>
          </a:prstGeom>
          <a:noFill/>
          <a:ln>
            <a:noFill/>
          </a:ln>
        </p:spPr>
      </p:pic>
      <p:pic>
        <p:nvPicPr>
          <p:cNvPr descr="image.png" id="548" name="Google Shape;548;p25"/>
          <p:cNvPicPr preferRelativeResize="0"/>
          <p:nvPr/>
        </p:nvPicPr>
        <p:blipFill rotWithShape="1">
          <a:blip r:embed="rId12">
            <a:alphaModFix/>
          </a:blip>
          <a:srcRect b="0" l="0" r="0" t="0"/>
          <a:stretch/>
        </p:blipFill>
        <p:spPr>
          <a:xfrm>
            <a:off x="542925" y="364331"/>
            <a:ext cx="92868" cy="109537"/>
          </a:xfrm>
          <a:prstGeom prst="rect">
            <a:avLst/>
          </a:prstGeom>
          <a:noFill/>
          <a:ln>
            <a:noFill/>
          </a:ln>
        </p:spPr>
      </p:pic>
      <p:sp>
        <p:nvSpPr>
          <p:cNvPr id="549" name="Google Shape;549;p25"/>
          <p:cNvSpPr txBox="1"/>
          <p:nvPr/>
        </p:nvSpPr>
        <p:spPr>
          <a:xfrm>
            <a:off x="619125" y="1354335"/>
            <a:ext cx="332095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64748B"/>
                </a:solidFill>
                <a:latin typeface="JetBrains Mono ExtraBold"/>
                <a:ea typeface="JetBrains Mono ExtraBold"/>
                <a:cs typeface="JetBrains Mono ExtraBold"/>
                <a:sym typeface="JetBrains Mono ExtraBold"/>
              </a:rPr>
              <a:t>STAGE I</a:t>
            </a:r>
            <a:endParaRPr/>
          </a:p>
        </p:txBody>
      </p:sp>
      <p:sp>
        <p:nvSpPr>
          <p:cNvPr id="550" name="Google Shape;550;p25"/>
          <p:cNvSpPr txBox="1"/>
          <p:nvPr/>
        </p:nvSpPr>
        <p:spPr>
          <a:xfrm>
            <a:off x="619125" y="1459110"/>
            <a:ext cx="3486998"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规模响应</a:t>
            </a:r>
            <a:endParaRPr/>
          </a:p>
        </p:txBody>
      </p:sp>
      <p:sp>
        <p:nvSpPr>
          <p:cNvPr id="551" name="Google Shape;551;p25"/>
          <p:cNvSpPr txBox="1"/>
          <p:nvPr/>
        </p:nvSpPr>
        <p:spPr>
          <a:xfrm>
            <a:off x="619125" y="1697235"/>
            <a:ext cx="3320950" cy="376088"/>
          </a:xfrm>
          <a:prstGeom prst="rect">
            <a:avLst/>
          </a:prstGeom>
          <a:noFill/>
          <a:ln>
            <a:noFill/>
          </a:ln>
        </p:spPr>
        <p:txBody>
          <a:bodyPr anchorCtr="0" anchor="t" bIns="0" lIns="0" spcFirstLastPara="1" rIns="0" wrap="square" tIns="0">
            <a:spAutoFit/>
          </a:bodyPr>
          <a:lstStyle/>
          <a:p>
            <a:pPr indent="0" lvl="0" marL="0" marR="0" rtl="0" algn="l">
              <a:lnSpc>
                <a:spcPct val="775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Δpi ≈ 0</a:t>
            </a:r>
            <a:br>
              <a:rPr b="0" i="0" lang="en-US" sz="1800" u="none" cap="none" strike="noStrike">
                <a:solidFill>
                  <a:schemeClr val="dk1"/>
                </a:solidFill>
                <a:latin typeface="Calibri"/>
                <a:ea typeface="Calibri"/>
                <a:cs typeface="Calibri"/>
                <a:sym typeface="Calibri"/>
              </a:rPr>
            </a:br>
            <a:r>
              <a:rPr b="0" i="0" lang="en-US" sz="900" u="none" cap="none" strike="noStrike">
                <a:solidFill>
                  <a:srgbClr val="475569"/>
                </a:solidFill>
                <a:latin typeface="Noto Sans SC"/>
                <a:ea typeface="Noto Sans SC"/>
                <a:cs typeface="Noto Sans SC"/>
                <a:sym typeface="Noto Sans SC"/>
              </a:rPr>
              <a:t> 水流路径比例基本稳定，总量同比例放大。</a:t>
            </a:r>
            <a:endParaRPr/>
          </a:p>
        </p:txBody>
      </p:sp>
      <p:sp>
        <p:nvSpPr>
          <p:cNvPr id="552" name="Google Shape;552;p25"/>
          <p:cNvSpPr txBox="1"/>
          <p:nvPr/>
        </p:nvSpPr>
        <p:spPr>
          <a:xfrm>
            <a:off x="4435375" y="1354335"/>
            <a:ext cx="3321099"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0284C7"/>
                </a:solidFill>
                <a:latin typeface="JetBrains Mono ExtraBold"/>
                <a:ea typeface="JetBrains Mono ExtraBold"/>
                <a:cs typeface="JetBrains Mono ExtraBold"/>
                <a:sym typeface="JetBrains Mono ExtraBold"/>
              </a:rPr>
              <a:t>STAGE II</a:t>
            </a:r>
            <a:endParaRPr/>
          </a:p>
        </p:txBody>
      </p:sp>
      <p:sp>
        <p:nvSpPr>
          <p:cNvPr id="553" name="Google Shape;553;p25"/>
          <p:cNvSpPr txBox="1"/>
          <p:nvPr/>
        </p:nvSpPr>
        <p:spPr>
          <a:xfrm>
            <a:off x="4435375" y="1459110"/>
            <a:ext cx="3487154"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结构响应</a:t>
            </a:r>
            <a:endParaRPr/>
          </a:p>
        </p:txBody>
      </p:sp>
      <p:sp>
        <p:nvSpPr>
          <p:cNvPr id="554" name="Google Shape;554;p25"/>
          <p:cNvSpPr txBox="1"/>
          <p:nvPr/>
        </p:nvSpPr>
        <p:spPr>
          <a:xfrm>
            <a:off x="4435375" y="1697235"/>
            <a:ext cx="3321099" cy="376088"/>
          </a:xfrm>
          <a:prstGeom prst="rect">
            <a:avLst/>
          </a:prstGeom>
          <a:noFill/>
          <a:ln>
            <a:noFill/>
          </a:ln>
        </p:spPr>
        <p:txBody>
          <a:bodyPr anchorCtr="0" anchor="t" bIns="0" lIns="0" spcFirstLastPara="1" rIns="0" wrap="square" tIns="0">
            <a:spAutoFit/>
          </a:bodyPr>
          <a:lstStyle/>
          <a:p>
            <a:pPr indent="0" lvl="0" marL="0" marR="0" rtl="0" algn="l">
              <a:lnSpc>
                <a:spcPct val="77500"/>
              </a:lnSpc>
              <a:spcBef>
                <a:spcPts val="0"/>
              </a:spcBef>
              <a:spcAft>
                <a:spcPts val="0"/>
              </a:spcAft>
              <a:buNone/>
            </a:pPr>
            <a:r>
              <a:rPr b="0" i="0" lang="en-US" sz="900" u="none" cap="none" strike="noStrike">
                <a:solidFill>
                  <a:srgbClr val="0369A1"/>
                </a:solidFill>
                <a:latin typeface="Noto Sans SC"/>
                <a:ea typeface="Noto Sans SC"/>
                <a:cs typeface="Noto Sans SC"/>
                <a:sym typeface="Noto Sans SC"/>
              </a:rPr>
              <a:t>Dstructure &gt; D*</a:t>
            </a:r>
            <a:br>
              <a:rPr b="0" i="0" lang="en-US" sz="1800" u="none" cap="none" strike="noStrike">
                <a:solidFill>
                  <a:schemeClr val="dk1"/>
                </a:solidFill>
                <a:latin typeface="Calibri"/>
                <a:ea typeface="Calibri"/>
                <a:cs typeface="Calibri"/>
                <a:sym typeface="Calibri"/>
              </a:rPr>
            </a:br>
            <a:r>
              <a:rPr b="0" i="0" lang="en-US" sz="900" u="none" cap="none" strike="noStrike">
                <a:solidFill>
                  <a:srgbClr val="0369A1"/>
                </a:solidFill>
                <a:latin typeface="Noto Sans SC"/>
                <a:ea typeface="Noto Sans SC"/>
                <a:cs typeface="Noto Sans SC"/>
                <a:sym typeface="Noto Sans SC"/>
              </a:rPr>
              <a:t> 水源 / 消耗 / 回流比例发生持续系统偏移。</a:t>
            </a:r>
            <a:endParaRPr/>
          </a:p>
        </p:txBody>
      </p:sp>
      <p:sp>
        <p:nvSpPr>
          <p:cNvPr id="555" name="Google Shape;555;p25"/>
          <p:cNvSpPr txBox="1"/>
          <p:nvPr/>
        </p:nvSpPr>
        <p:spPr>
          <a:xfrm>
            <a:off x="8242250" y="1344810"/>
            <a:ext cx="3340000" cy="104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50" u="none" cap="none" strike="noStrike">
                <a:solidFill>
                  <a:srgbClr val="38BDF8"/>
                </a:solidFill>
                <a:latin typeface="JetBrains Mono ExtraBold"/>
                <a:ea typeface="JetBrains Mono ExtraBold"/>
                <a:cs typeface="JetBrains Mono ExtraBold"/>
                <a:sym typeface="JetBrains Mono ExtraBold"/>
              </a:rPr>
              <a:t>STAGE III</a:t>
            </a:r>
            <a:endParaRPr/>
          </a:p>
        </p:txBody>
      </p:sp>
      <p:sp>
        <p:nvSpPr>
          <p:cNvPr id="556" name="Google Shape;556;p25"/>
          <p:cNvSpPr txBox="1"/>
          <p:nvPr/>
        </p:nvSpPr>
        <p:spPr>
          <a:xfrm>
            <a:off x="8242250" y="1449585"/>
            <a:ext cx="3507000"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FFFFFF"/>
                </a:solidFill>
                <a:latin typeface="Noto Sans SC"/>
                <a:ea typeface="Noto Sans SC"/>
                <a:cs typeface="Noto Sans SC"/>
                <a:sym typeface="Noto Sans SC"/>
              </a:rPr>
              <a:t>约束转换</a:t>
            </a:r>
            <a:endParaRPr/>
          </a:p>
        </p:txBody>
      </p:sp>
      <p:sp>
        <p:nvSpPr>
          <p:cNvPr id="557" name="Google Shape;557;p25"/>
          <p:cNvSpPr txBox="1"/>
          <p:nvPr/>
        </p:nvSpPr>
        <p:spPr>
          <a:xfrm>
            <a:off x="8242250" y="1687710"/>
            <a:ext cx="3340000" cy="354210"/>
          </a:xfrm>
          <a:prstGeom prst="rect">
            <a:avLst/>
          </a:prstGeom>
          <a:noFill/>
          <a:ln>
            <a:noFill/>
          </a:ln>
        </p:spPr>
        <p:txBody>
          <a:bodyPr anchorCtr="0" anchor="t" bIns="0" lIns="0" spcFirstLastPara="1" rIns="0" wrap="square" tIns="0">
            <a:spAutoFit/>
          </a:bodyPr>
          <a:lstStyle/>
          <a:p>
            <a:pPr indent="0" lvl="0" marL="0" marR="0" rtl="0" algn="l">
              <a:lnSpc>
                <a:spcPct val="77500"/>
              </a:lnSpc>
              <a:spcBef>
                <a:spcPts val="0"/>
              </a:spcBef>
              <a:spcAft>
                <a:spcPts val="0"/>
              </a:spcAft>
              <a:buNone/>
            </a:pPr>
            <a:r>
              <a:rPr b="0" i="0" lang="en-US" sz="900" u="none" cap="none" strike="noStrike">
                <a:solidFill>
                  <a:srgbClr val="CBD5E1"/>
                </a:solidFill>
                <a:latin typeface="Noto Sans SC"/>
                <a:ea typeface="Noto Sans SC"/>
                <a:cs typeface="Noto Sans SC"/>
                <a:sym typeface="Noto Sans SC"/>
              </a:rPr>
              <a:t>Water → WTP → Reuse</a:t>
            </a:r>
            <a:br>
              <a:rPr b="0" i="0" lang="en-US" sz="1800" u="none" cap="none" strike="noStrike">
                <a:solidFill>
                  <a:schemeClr val="dk1"/>
                </a:solidFill>
                <a:latin typeface="Calibri"/>
                <a:ea typeface="Calibri"/>
                <a:cs typeface="Calibri"/>
                <a:sym typeface="Calibri"/>
              </a:rPr>
            </a:br>
            <a:r>
              <a:rPr b="0" i="0" lang="en-US" sz="900" u="none" cap="none" strike="noStrike">
                <a:solidFill>
                  <a:srgbClr val="CBD5E1"/>
                </a:solidFill>
                <a:latin typeface="Noto Sans SC"/>
                <a:ea typeface="Noto Sans SC"/>
                <a:cs typeface="Noto Sans SC"/>
                <a:sym typeface="Noto Sans SC"/>
              </a:rPr>
              <a:t> 主导瓶颈发生跃迁与替换。</a:t>
            </a:r>
            <a:endParaRPr/>
          </a:p>
        </p:txBody>
      </p:sp>
      <p:pic>
        <p:nvPicPr>
          <p:cNvPr descr="image.png" id="558" name="Google Shape;558;p25"/>
          <p:cNvPicPr preferRelativeResize="0"/>
          <p:nvPr/>
        </p:nvPicPr>
        <p:blipFill rotWithShape="1">
          <a:blip r:embed="rId13">
            <a:alphaModFix/>
          </a:blip>
          <a:srcRect b="0" l="0" r="0" t="0"/>
          <a:stretch/>
        </p:blipFill>
        <p:spPr>
          <a:xfrm>
            <a:off x="600075" y="2520999"/>
            <a:ext cx="88999" cy="114300"/>
          </a:xfrm>
          <a:prstGeom prst="rect">
            <a:avLst/>
          </a:prstGeom>
          <a:noFill/>
          <a:ln>
            <a:noFill/>
          </a:ln>
        </p:spPr>
      </p:pic>
      <p:sp>
        <p:nvSpPr>
          <p:cNvPr id="559" name="Google Shape;559;p25"/>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Experiment 1：识别代谢结构重构阈值</a:t>
            </a:r>
            <a:endParaRPr/>
          </a:p>
        </p:txBody>
      </p:sp>
      <p:sp>
        <p:nvSpPr>
          <p:cNvPr id="560" name="Google Shape;560;p25"/>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1" name="Rounded Rectangle 560"/>
          <p:cNvSpPr/>
          <p:nvPr/>
        </p:nvSpPr>
        <p:spPr>
          <a:xfrm>
            <a:off x="658368" y="3529584"/>
            <a:ext cx="9646920" cy="1115568"/>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896112" y="3749039"/>
            <a:ext cx="1143000" cy="210312"/>
          </a:xfrm>
          <a:prstGeom prst="rect">
            <a:avLst/>
          </a:prstGeom>
          <a:noFill/>
        </p:spPr>
        <p:txBody>
          <a:bodyPr wrap="square" lIns="0" rIns="0" tIns="0" bIns="0" anchor="t">
            <a:spAutoFit/>
          </a:bodyPr>
          <a:lstStyle/>
          <a:p>
            <a:pPr algn="l"/>
            <a:r>
              <a:rPr sz="1500" b="1" i="0">
                <a:solidFill>
                  <a:srgbClr val="172B4D"/>
                </a:solidFill>
                <a:latin typeface="Microsoft YaHei"/>
              </a:rPr>
              <a:t>输出与判定</a:t>
            </a:r>
          </a:p>
        </p:txBody>
      </p:sp>
      <p:sp>
        <p:nvSpPr>
          <p:cNvPr id="563" name="TextBox 562"/>
          <p:cNvSpPr txBox="1"/>
          <p:nvPr/>
        </p:nvSpPr>
        <p:spPr>
          <a:xfrm>
            <a:off x="2267712" y="3712463"/>
            <a:ext cx="2240280" cy="228600"/>
          </a:xfrm>
          <a:prstGeom prst="rect">
            <a:avLst/>
          </a:prstGeom>
          <a:noFill/>
        </p:spPr>
        <p:txBody>
          <a:bodyPr wrap="square" lIns="0" rIns="0" tIns="0" bIns="0" anchor="t">
            <a:spAutoFit/>
          </a:bodyPr>
          <a:lstStyle/>
          <a:p>
            <a:pPr algn="l"/>
            <a:r>
              <a:rPr sz="1200" b="1" i="0">
                <a:solidFill>
                  <a:srgbClr val="2388C9"/>
                </a:solidFill>
                <a:latin typeface="Microsoft YaHei"/>
              </a:rPr>
              <a:t>D_structure：组成数据距离</a:t>
            </a:r>
          </a:p>
        </p:txBody>
      </p:sp>
      <p:sp>
        <p:nvSpPr>
          <p:cNvPr id="564" name="TextBox 563"/>
          <p:cNvSpPr txBox="1"/>
          <p:nvPr/>
        </p:nvSpPr>
        <p:spPr>
          <a:xfrm>
            <a:off x="4736592" y="3712463"/>
            <a:ext cx="2423160" cy="228600"/>
          </a:xfrm>
          <a:prstGeom prst="rect">
            <a:avLst/>
          </a:prstGeom>
          <a:noFill/>
        </p:spPr>
        <p:txBody>
          <a:bodyPr wrap="square" lIns="0" rIns="0" tIns="0" bIns="0" anchor="t">
            <a:spAutoFit/>
          </a:bodyPr>
          <a:lstStyle/>
          <a:p>
            <a:pPr algn="l"/>
            <a:r>
              <a:rPr sz="1200" b="1" i="0">
                <a:solidFill>
                  <a:srgbClr val="1BA6A6"/>
                </a:solidFill>
                <a:latin typeface="Microsoft YaHei"/>
              </a:rPr>
              <a:t>D*：baseline-null分布95%分位</a:t>
            </a:r>
          </a:p>
        </p:txBody>
      </p:sp>
      <p:sp>
        <p:nvSpPr>
          <p:cNvPr id="565" name="TextBox 564"/>
          <p:cNvSpPr txBox="1"/>
          <p:nvPr/>
        </p:nvSpPr>
        <p:spPr>
          <a:xfrm>
            <a:off x="7406640" y="3712463"/>
            <a:ext cx="2240280" cy="228600"/>
          </a:xfrm>
          <a:prstGeom prst="rect">
            <a:avLst/>
          </a:prstGeom>
          <a:noFill/>
        </p:spPr>
        <p:txBody>
          <a:bodyPr wrap="square" lIns="0" rIns="0" tIns="0" bIns="0" anchor="t">
            <a:spAutoFit/>
          </a:bodyPr>
          <a:lstStyle/>
          <a:p>
            <a:pPr algn="l"/>
            <a:r>
              <a:rPr sz="1200" b="1" i="0">
                <a:solidFill>
                  <a:srgbClr val="C9973E"/>
                </a:solidFill>
                <a:latin typeface="Microsoft YaHei"/>
              </a:rPr>
              <a:t>阈值条件域：ρAI × R × M</a:t>
            </a:r>
          </a:p>
        </p:txBody>
      </p:sp>
      <p:sp>
        <p:nvSpPr>
          <p:cNvPr id="566" name="TextBox 565"/>
          <p:cNvSpPr txBox="1"/>
          <p:nvPr/>
        </p:nvSpPr>
        <p:spPr>
          <a:xfrm>
            <a:off x="2267712" y="4114800"/>
            <a:ext cx="7589520" cy="246888"/>
          </a:xfrm>
          <a:prstGeom prst="rect">
            <a:avLst/>
          </a:prstGeom>
          <a:noFill/>
        </p:spPr>
        <p:txBody>
          <a:bodyPr wrap="square" lIns="0" rIns="0" tIns="0" bIns="0" anchor="t">
            <a:spAutoFit/>
          </a:bodyPr>
          <a:lstStyle/>
          <a:p>
            <a:pPr algn="l"/>
            <a:r>
              <a:rPr sz="1100" b="0" i="0">
                <a:solidFill>
                  <a:srgbClr val="53657A"/>
                </a:solidFill>
                <a:latin typeface="Microsoft YaHei"/>
              </a:rPr>
              <a:t>当D_structure&gt;D*且瓶颈身份发生持续偏移，记录为代谢结构重构；等年用水量对照用于排除机械性截断。</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564" name="Shape 564"/>
        <p:cNvGrpSpPr/>
        <p:nvPr/>
      </p:nvGrpSpPr>
      <p:grpSpPr>
        <a:xfrm>
          <a:off x="0" y="0"/>
          <a:ext cx="0" cy="0"/>
          <a:chOff x="0" y="0"/>
          <a:chExt cx="0" cy="0"/>
        </a:xfrm>
      </p:grpSpPr>
      <p:sp>
        <p:nvSpPr>
          <p:cNvPr id="565" name="Rounded Rectangle 564"/>
          <p:cNvSpPr/>
          <p:nvPr/>
        </p:nvSpPr>
        <p:spPr>
          <a:xfrm>
            <a:off x="502920" y="301752"/>
            <a:ext cx="169164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594360" y="315468"/>
            <a:ext cx="1508760" cy="201168"/>
          </a:xfrm>
          <a:prstGeom prst="rect">
            <a:avLst/>
          </a:prstGeom>
          <a:noFill/>
        </p:spPr>
        <p:txBody>
          <a:bodyPr wrap="square" lIns="0" rIns="0" tIns="0" bIns="0" anchor="ctr">
            <a:spAutoFit/>
          </a:bodyPr>
          <a:lstStyle/>
          <a:p>
            <a:pPr algn="ctr"/>
            <a:r>
              <a:rPr sz="950" b="1" i="0">
                <a:solidFill>
                  <a:srgbClr val="2388C9"/>
                </a:solidFill>
                <a:latin typeface="Microsoft YaHei"/>
              </a:rPr>
              <a:t>13 / EXPERIMENT 2</a:t>
            </a:r>
          </a:p>
        </p:txBody>
      </p:sp>
      <p:sp>
        <p:nvSpPr>
          <p:cNvPr id="567" name="TextBox 566"/>
          <p:cNvSpPr txBox="1"/>
          <p:nvPr/>
        </p:nvSpPr>
        <p:spPr>
          <a:xfrm>
            <a:off x="502920" y="713232"/>
            <a:ext cx="9875520" cy="457200"/>
          </a:xfrm>
          <a:prstGeom prst="rect">
            <a:avLst/>
          </a:prstGeom>
          <a:noFill/>
        </p:spPr>
        <p:txBody>
          <a:bodyPr wrap="square" lIns="0" rIns="0" tIns="0" bIns="0" anchor="t">
            <a:spAutoFit/>
          </a:bodyPr>
          <a:lstStyle/>
          <a:p>
            <a:pPr algn="l"/>
            <a:r>
              <a:rPr sz="2500" b="1" i="0">
                <a:solidFill>
                  <a:srgbClr val="172B4D"/>
                </a:solidFill>
                <a:latin typeface="Microsoft YaHei"/>
              </a:rPr>
              <a:t>Experiment 2：峰值相位改变会提前动态边界</a:t>
            </a:r>
          </a:p>
        </p:txBody>
      </p:sp>
      <p:sp>
        <p:nvSpPr>
          <p:cNvPr id="568" name="TextBox 567"/>
          <p:cNvSpPr txBox="1"/>
          <p:nvPr/>
        </p:nvSpPr>
        <p:spPr>
          <a:xfrm>
            <a:off x="530352" y="1188720"/>
            <a:ext cx="9875520" cy="256032"/>
          </a:xfrm>
          <a:prstGeom prst="rect">
            <a:avLst/>
          </a:prstGeom>
          <a:noFill/>
        </p:spPr>
        <p:txBody>
          <a:bodyPr wrap="square" lIns="0" rIns="0" tIns="0" bIns="0" anchor="t">
            <a:spAutoFit/>
          </a:bodyPr>
          <a:lstStyle/>
          <a:p>
            <a:pPr algn="l"/>
            <a:r>
              <a:rPr sz="1200" b="0" i="0">
                <a:solidFill>
                  <a:srgbClr val="68788C"/>
                </a:solidFill>
                <a:latin typeface="Microsoft YaHei"/>
              </a:rPr>
              <a:t>保持边际分布与自相关结构，仅调整AI冷却、城市需水和湿球温度的相对相位。</a:t>
            </a:r>
          </a:p>
        </p:txBody>
      </p:sp>
      <p:sp>
        <p:nvSpPr>
          <p:cNvPr id="569" name="Rounded Rectangle 568"/>
          <p:cNvSpPr/>
          <p:nvPr/>
        </p:nvSpPr>
        <p:spPr>
          <a:xfrm>
            <a:off x="530352" y="1572768"/>
            <a:ext cx="6492240" cy="3977639"/>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Connector 569"/>
          <p:cNvCxnSpPr/>
          <p:nvPr/>
        </p:nvCxnSpPr>
        <p:spPr>
          <a:xfrm>
            <a:off x="1179576" y="1993392"/>
            <a:ext cx="544068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a:off x="1179576" y="2686050"/>
            <a:ext cx="544068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a:off x="1179576" y="3378708"/>
            <a:ext cx="544068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a:off x="1179576" y="4071366"/>
            <a:ext cx="544068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a:off x="1179576" y="4764024"/>
            <a:ext cx="5440680" cy="0"/>
          </a:xfrm>
          <a:prstGeom prst="line">
            <a:avLst/>
          </a:prstGeom>
          <a:ln w="10160">
            <a:solidFill>
              <a:srgbClr val="D9E4EE"/>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a:off x="1179576" y="1993392"/>
            <a:ext cx="0" cy="2770632"/>
          </a:xfrm>
          <a:prstGeom prst="line">
            <a:avLst/>
          </a:prstGeom>
          <a:ln w="1651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a:off x="1179576" y="4764024"/>
            <a:ext cx="5440680" cy="0"/>
          </a:xfrm>
          <a:prstGeom prst="line">
            <a:avLst/>
          </a:prstGeom>
          <a:ln w="16510">
            <a:solidFill>
              <a:srgbClr val="172B4D"/>
            </a:solidFill>
          </a:ln>
        </p:spPr>
        <p:style>
          <a:lnRef idx="2">
            <a:schemeClr val="accent1"/>
          </a:lnRef>
          <a:fillRef idx="0">
            <a:schemeClr val="accent1"/>
          </a:fillRef>
          <a:effectRef idx="1">
            <a:schemeClr val="accent1"/>
          </a:effectRef>
          <a:fontRef idx="minor">
            <a:schemeClr val="tx1"/>
          </a:fontRef>
        </p:style>
      </p:cxnSp>
      <p:sp>
        <p:nvSpPr>
          <p:cNvPr id="577" name="TextBox 576"/>
          <p:cNvSpPr txBox="1"/>
          <p:nvPr/>
        </p:nvSpPr>
        <p:spPr>
          <a:xfrm>
            <a:off x="694944" y="1920240"/>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1.00</a:t>
            </a:r>
          </a:p>
        </p:txBody>
      </p:sp>
      <p:sp>
        <p:nvSpPr>
          <p:cNvPr id="578" name="TextBox 577"/>
          <p:cNvSpPr txBox="1"/>
          <p:nvPr/>
        </p:nvSpPr>
        <p:spPr>
          <a:xfrm>
            <a:off x="694944" y="2612898"/>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0.75</a:t>
            </a:r>
          </a:p>
        </p:txBody>
      </p:sp>
      <p:sp>
        <p:nvSpPr>
          <p:cNvPr id="579" name="TextBox 578"/>
          <p:cNvSpPr txBox="1"/>
          <p:nvPr/>
        </p:nvSpPr>
        <p:spPr>
          <a:xfrm>
            <a:off x="694944" y="3305556"/>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0.50</a:t>
            </a:r>
          </a:p>
        </p:txBody>
      </p:sp>
      <p:sp>
        <p:nvSpPr>
          <p:cNvPr id="580" name="TextBox 579"/>
          <p:cNvSpPr txBox="1"/>
          <p:nvPr/>
        </p:nvSpPr>
        <p:spPr>
          <a:xfrm>
            <a:off x="694944" y="3998214"/>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0.25</a:t>
            </a:r>
          </a:p>
        </p:txBody>
      </p:sp>
      <p:sp>
        <p:nvSpPr>
          <p:cNvPr id="581" name="TextBox 580"/>
          <p:cNvSpPr txBox="1"/>
          <p:nvPr/>
        </p:nvSpPr>
        <p:spPr>
          <a:xfrm>
            <a:off x="694944" y="4690872"/>
            <a:ext cx="411480" cy="164592"/>
          </a:xfrm>
          <a:prstGeom prst="rect">
            <a:avLst/>
          </a:prstGeom>
          <a:noFill/>
        </p:spPr>
        <p:txBody>
          <a:bodyPr wrap="square" lIns="0" rIns="0" tIns="0" bIns="0" anchor="t">
            <a:spAutoFit/>
          </a:bodyPr>
          <a:lstStyle/>
          <a:p>
            <a:pPr algn="r"/>
            <a:r>
              <a:rPr sz="900" b="0" i="0">
                <a:solidFill>
                  <a:srgbClr val="68788C"/>
                </a:solidFill>
                <a:latin typeface="Microsoft YaHei"/>
              </a:rPr>
              <a:t>0.00</a:t>
            </a:r>
          </a:p>
        </p:txBody>
      </p:sp>
      <p:sp>
        <p:nvSpPr>
          <p:cNvPr id="582" name="TextBox 581"/>
          <p:cNvSpPr txBox="1"/>
          <p:nvPr/>
        </p:nvSpPr>
        <p:spPr>
          <a:xfrm>
            <a:off x="950976" y="4837176"/>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0 h</a:t>
            </a:r>
          </a:p>
        </p:txBody>
      </p:sp>
      <p:sp>
        <p:nvSpPr>
          <p:cNvPr id="583" name="TextBox 582"/>
          <p:cNvSpPr txBox="1"/>
          <p:nvPr/>
        </p:nvSpPr>
        <p:spPr>
          <a:xfrm>
            <a:off x="2311146" y="4837176"/>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2 h</a:t>
            </a:r>
          </a:p>
        </p:txBody>
      </p:sp>
      <p:sp>
        <p:nvSpPr>
          <p:cNvPr id="584" name="TextBox 583"/>
          <p:cNvSpPr txBox="1"/>
          <p:nvPr/>
        </p:nvSpPr>
        <p:spPr>
          <a:xfrm>
            <a:off x="3671316" y="4837176"/>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4 h</a:t>
            </a:r>
          </a:p>
        </p:txBody>
      </p:sp>
      <p:sp>
        <p:nvSpPr>
          <p:cNvPr id="585" name="TextBox 584"/>
          <p:cNvSpPr txBox="1"/>
          <p:nvPr/>
        </p:nvSpPr>
        <p:spPr>
          <a:xfrm>
            <a:off x="5031486" y="4837176"/>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8 h</a:t>
            </a:r>
          </a:p>
        </p:txBody>
      </p:sp>
      <p:sp>
        <p:nvSpPr>
          <p:cNvPr id="586" name="TextBox 585"/>
          <p:cNvSpPr txBox="1"/>
          <p:nvPr/>
        </p:nvSpPr>
        <p:spPr>
          <a:xfrm>
            <a:off x="6391656" y="4837176"/>
            <a:ext cx="457200" cy="164592"/>
          </a:xfrm>
          <a:prstGeom prst="rect">
            <a:avLst/>
          </a:prstGeom>
          <a:noFill/>
        </p:spPr>
        <p:txBody>
          <a:bodyPr wrap="square" lIns="0" rIns="0" tIns="0" bIns="0" anchor="t">
            <a:spAutoFit/>
          </a:bodyPr>
          <a:lstStyle/>
          <a:p>
            <a:pPr algn="ctr"/>
            <a:r>
              <a:rPr sz="900" b="0" i="0">
                <a:solidFill>
                  <a:srgbClr val="68788C"/>
                </a:solidFill>
                <a:latin typeface="Microsoft YaHei"/>
              </a:rPr>
              <a:t>12 h</a:t>
            </a:r>
          </a:p>
        </p:txBody>
      </p:sp>
      <p:sp>
        <p:nvSpPr>
          <p:cNvPr id="587" name="TextBox 586"/>
          <p:cNvSpPr txBox="1"/>
          <p:nvPr/>
        </p:nvSpPr>
        <p:spPr>
          <a:xfrm rot="16200000">
            <a:off x="694944" y="2889504"/>
            <a:ext cx="1097280" cy="228600"/>
          </a:xfrm>
          <a:prstGeom prst="rect">
            <a:avLst/>
          </a:prstGeom>
          <a:noFill/>
        </p:spPr>
        <p:txBody>
          <a:bodyPr wrap="square" lIns="0" rIns="0" tIns="0" bIns="0" anchor="t">
            <a:spAutoFit/>
          </a:bodyPr>
          <a:lstStyle/>
          <a:p>
            <a:pPr algn="ctr"/>
            <a:r>
              <a:rPr sz="1000" b="0" i="0">
                <a:solidFill>
                  <a:srgbClr val="68788C"/>
                </a:solidFill>
                <a:latin typeface="Microsoft YaHei"/>
              </a:rPr>
              <a:t>CAWCC_safe / 基准</a:t>
            </a:r>
          </a:p>
        </p:txBody>
      </p:sp>
      <p:sp>
        <p:nvSpPr>
          <p:cNvPr id="588" name="TextBox 587"/>
          <p:cNvSpPr txBox="1"/>
          <p:nvPr/>
        </p:nvSpPr>
        <p:spPr>
          <a:xfrm>
            <a:off x="2528316" y="4946904"/>
            <a:ext cx="2743200" cy="182880"/>
          </a:xfrm>
          <a:prstGeom prst="rect">
            <a:avLst/>
          </a:prstGeom>
          <a:noFill/>
        </p:spPr>
        <p:txBody>
          <a:bodyPr wrap="square" lIns="0" rIns="0" tIns="0" bIns="0" anchor="t">
            <a:spAutoFit/>
          </a:bodyPr>
          <a:lstStyle/>
          <a:p>
            <a:pPr algn="ctr"/>
            <a:r>
              <a:rPr sz="1000" b="0" i="0">
                <a:solidFill>
                  <a:srgbClr val="68788C"/>
                </a:solidFill>
                <a:latin typeface="Microsoft YaHei"/>
              </a:rPr>
              <a:t>相位偏移 →</a:t>
            </a:r>
          </a:p>
        </p:txBody>
      </p:sp>
      <p:cxnSp>
        <p:nvCxnSpPr>
          <p:cNvPr id="589" name="Connector 588"/>
          <p:cNvCxnSpPr/>
          <p:nvPr/>
        </p:nvCxnSpPr>
        <p:spPr>
          <a:xfrm>
            <a:off x="1179576" y="2215042"/>
            <a:ext cx="1360170" cy="277063"/>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a:off x="2539746" y="2492105"/>
            <a:ext cx="1360170" cy="332476"/>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a:off x="3899916" y="2824581"/>
            <a:ext cx="1360170" cy="304770"/>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a:off x="5260086" y="3129351"/>
            <a:ext cx="1360170" cy="304769"/>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a:off x="1179576" y="2492105"/>
            <a:ext cx="1360170" cy="221651"/>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a:off x="2539746" y="2713756"/>
            <a:ext cx="1360170" cy="277063"/>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a:off x="3899916" y="2990819"/>
            <a:ext cx="1360170" cy="277063"/>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a:off x="5260086" y="3267882"/>
            <a:ext cx="1360170" cy="249357"/>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a:off x="1179576" y="2824581"/>
            <a:ext cx="1360170" cy="138532"/>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a:off x="2539746" y="2963113"/>
            <a:ext cx="1360170" cy="193944"/>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a:off x="3899916" y="3157057"/>
            <a:ext cx="1360170" cy="166238"/>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a:off x="5260086" y="3323295"/>
            <a:ext cx="1360170" cy="166238"/>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a:off x="1316736" y="2103120"/>
            <a:ext cx="274320" cy="0"/>
          </a:xfrm>
          <a:prstGeom prst="line">
            <a:avLst/>
          </a:prstGeom>
          <a:ln w="27940">
            <a:solidFill>
              <a:srgbClr val="172B4D"/>
            </a:solidFill>
          </a:ln>
        </p:spPr>
        <p:style>
          <a:lnRef idx="2">
            <a:schemeClr val="accent1"/>
          </a:lnRef>
          <a:fillRef idx="0">
            <a:schemeClr val="accent1"/>
          </a:fillRef>
          <a:effectRef idx="1">
            <a:schemeClr val="accent1"/>
          </a:effectRef>
          <a:fontRef idx="minor">
            <a:schemeClr val="tx1"/>
          </a:fontRef>
        </p:style>
      </p:cxnSp>
      <p:sp>
        <p:nvSpPr>
          <p:cNvPr id="602" name="TextBox 601"/>
          <p:cNvSpPr txBox="1"/>
          <p:nvPr/>
        </p:nvSpPr>
        <p:spPr>
          <a:xfrm>
            <a:off x="1655064" y="2011680"/>
            <a:ext cx="960120" cy="182880"/>
          </a:xfrm>
          <a:prstGeom prst="rect">
            <a:avLst/>
          </a:prstGeom>
          <a:noFill/>
        </p:spPr>
        <p:txBody>
          <a:bodyPr wrap="square" lIns="0" rIns="0" tIns="0" bIns="0" anchor="t">
            <a:spAutoFit/>
          </a:bodyPr>
          <a:lstStyle/>
          <a:p>
            <a:pPr algn="l"/>
            <a:r>
              <a:rPr sz="1000" b="1" i="0">
                <a:solidFill>
                  <a:srgbClr val="172B4D"/>
                </a:solidFill>
                <a:latin typeface="Microsoft YaHei"/>
              </a:rPr>
              <a:t>同步增强</a:t>
            </a:r>
          </a:p>
        </p:txBody>
      </p:sp>
      <p:cxnSp>
        <p:nvCxnSpPr>
          <p:cNvPr id="603" name="Connector 602"/>
          <p:cNvCxnSpPr/>
          <p:nvPr/>
        </p:nvCxnSpPr>
        <p:spPr>
          <a:xfrm>
            <a:off x="1316736" y="2331720"/>
            <a:ext cx="274320" cy="0"/>
          </a:xfrm>
          <a:prstGeom prst="line">
            <a:avLst/>
          </a:prstGeom>
          <a:ln w="27940">
            <a:solidFill>
              <a:srgbClr val="1BA6A6"/>
            </a:solidFill>
          </a:ln>
        </p:spPr>
        <p:style>
          <a:lnRef idx="2">
            <a:schemeClr val="accent1"/>
          </a:lnRef>
          <a:fillRef idx="0">
            <a:schemeClr val="accent1"/>
          </a:fillRef>
          <a:effectRef idx="1">
            <a:schemeClr val="accent1"/>
          </a:effectRef>
          <a:fontRef idx="minor">
            <a:schemeClr val="tx1"/>
          </a:fontRef>
        </p:style>
      </p:cxnSp>
      <p:sp>
        <p:nvSpPr>
          <p:cNvPr id="604" name="TextBox 603"/>
          <p:cNvSpPr txBox="1"/>
          <p:nvPr/>
        </p:nvSpPr>
        <p:spPr>
          <a:xfrm>
            <a:off x="1655064" y="2240280"/>
            <a:ext cx="960120" cy="182880"/>
          </a:xfrm>
          <a:prstGeom prst="rect">
            <a:avLst/>
          </a:prstGeom>
          <a:noFill/>
        </p:spPr>
        <p:txBody>
          <a:bodyPr wrap="square" lIns="0" rIns="0" tIns="0" bIns="0" anchor="t">
            <a:spAutoFit/>
          </a:bodyPr>
          <a:lstStyle/>
          <a:p>
            <a:pPr algn="l"/>
            <a:r>
              <a:rPr sz="1000" b="1" i="0">
                <a:solidFill>
                  <a:srgbClr val="1BA6A6"/>
                </a:solidFill>
                <a:latin typeface="Microsoft YaHei"/>
              </a:rPr>
              <a:t>中等同步</a:t>
            </a:r>
          </a:p>
        </p:txBody>
      </p:sp>
      <p:cxnSp>
        <p:nvCxnSpPr>
          <p:cNvPr id="605" name="Connector 604"/>
          <p:cNvCxnSpPr/>
          <p:nvPr/>
        </p:nvCxnSpPr>
        <p:spPr>
          <a:xfrm>
            <a:off x="1316736" y="2560320"/>
            <a:ext cx="274320" cy="0"/>
          </a:xfrm>
          <a:prstGeom prst="line">
            <a:avLst/>
          </a:prstGeom>
          <a:ln w="27940">
            <a:solidFill>
              <a:srgbClr val="2388C9"/>
            </a:solidFill>
          </a:ln>
        </p:spPr>
        <p:style>
          <a:lnRef idx="2">
            <a:schemeClr val="accent1"/>
          </a:lnRef>
          <a:fillRef idx="0">
            <a:schemeClr val="accent1"/>
          </a:fillRef>
          <a:effectRef idx="1">
            <a:schemeClr val="accent1"/>
          </a:effectRef>
          <a:fontRef idx="minor">
            <a:schemeClr val="tx1"/>
          </a:fontRef>
        </p:style>
      </p:cxnSp>
      <p:sp>
        <p:nvSpPr>
          <p:cNvPr id="606" name="TextBox 605"/>
          <p:cNvSpPr txBox="1"/>
          <p:nvPr/>
        </p:nvSpPr>
        <p:spPr>
          <a:xfrm>
            <a:off x="1655064" y="2468880"/>
            <a:ext cx="960120" cy="182880"/>
          </a:xfrm>
          <a:prstGeom prst="rect">
            <a:avLst/>
          </a:prstGeom>
          <a:noFill/>
        </p:spPr>
        <p:txBody>
          <a:bodyPr wrap="square" lIns="0" rIns="0" tIns="0" bIns="0" anchor="t">
            <a:spAutoFit/>
          </a:bodyPr>
          <a:lstStyle/>
          <a:p>
            <a:pPr algn="l"/>
            <a:r>
              <a:rPr sz="1000" b="1" i="0">
                <a:solidFill>
                  <a:srgbClr val="2388C9"/>
                </a:solidFill>
                <a:latin typeface="Microsoft YaHei"/>
              </a:rPr>
              <a:t>错峰</a:t>
            </a:r>
          </a:p>
        </p:txBody>
      </p:sp>
      <p:sp>
        <p:nvSpPr>
          <p:cNvPr id="607" name="Rounded Rectangle 606"/>
          <p:cNvSpPr/>
          <p:nvPr/>
        </p:nvSpPr>
        <p:spPr>
          <a:xfrm>
            <a:off x="7296912" y="1572768"/>
            <a:ext cx="3319272" cy="1170432"/>
          </a:xfrm>
          <a:prstGeom prst="roundRect">
            <a:avLst/>
          </a:prstGeom>
          <a:solidFill>
            <a:srgbClr val="E9F2FA"/>
          </a:solidFill>
          <a:ln w="11430">
            <a:solidFill>
              <a:srgbClr val="C5DC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TextBox 607"/>
          <p:cNvSpPr txBox="1"/>
          <p:nvPr/>
        </p:nvSpPr>
        <p:spPr>
          <a:xfrm>
            <a:off x="7525512" y="1773936"/>
            <a:ext cx="2743200" cy="210312"/>
          </a:xfrm>
          <a:prstGeom prst="rect">
            <a:avLst/>
          </a:prstGeom>
          <a:noFill/>
        </p:spPr>
        <p:txBody>
          <a:bodyPr wrap="square" lIns="0" rIns="0" tIns="0" bIns="0" anchor="t">
            <a:spAutoFit/>
          </a:bodyPr>
          <a:lstStyle/>
          <a:p>
            <a:pPr algn="l"/>
            <a:r>
              <a:rPr sz="1500" b="1" i="0">
                <a:solidFill>
                  <a:srgbClr val="172B4D"/>
                </a:solidFill>
                <a:latin typeface="Microsoft YaHei"/>
              </a:rPr>
              <a:t>Counterfactual</a:t>
            </a:r>
          </a:p>
        </p:txBody>
      </p:sp>
      <p:sp>
        <p:nvSpPr>
          <p:cNvPr id="609" name="TextBox 608"/>
          <p:cNvSpPr txBox="1"/>
          <p:nvPr/>
        </p:nvSpPr>
        <p:spPr>
          <a:xfrm>
            <a:off x="7525512" y="2084831"/>
            <a:ext cx="2743200" cy="411480"/>
          </a:xfrm>
          <a:prstGeom prst="rect">
            <a:avLst/>
          </a:prstGeom>
          <a:noFill/>
        </p:spPr>
        <p:txBody>
          <a:bodyPr wrap="square" lIns="0" rIns="0" tIns="0" bIns="0" anchor="t">
            <a:spAutoFit/>
          </a:bodyPr>
          <a:lstStyle/>
          <a:p>
            <a:pPr algn="l"/>
            <a:r>
              <a:rPr sz="1100" b="0" i="0">
                <a:solidFill>
                  <a:srgbClr val="53657A"/>
                </a:solidFill>
                <a:latin typeface="Microsoft YaHei"/>
              </a:rPr>
              <a:t>circular phase-shift / block-shift；只改变相对相位，不重排边际分布。</a:t>
            </a:r>
          </a:p>
        </p:txBody>
      </p:sp>
      <p:sp>
        <p:nvSpPr>
          <p:cNvPr id="610" name="Rounded Rectangle 609"/>
          <p:cNvSpPr/>
          <p:nvPr/>
        </p:nvSpPr>
        <p:spPr>
          <a:xfrm>
            <a:off x="7296912" y="2907792"/>
            <a:ext cx="3319272" cy="1243584"/>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TextBox 610"/>
          <p:cNvSpPr txBox="1"/>
          <p:nvPr/>
        </p:nvSpPr>
        <p:spPr>
          <a:xfrm>
            <a:off x="7525512" y="3108960"/>
            <a:ext cx="2743200" cy="210312"/>
          </a:xfrm>
          <a:prstGeom prst="rect">
            <a:avLst/>
          </a:prstGeom>
          <a:noFill/>
        </p:spPr>
        <p:txBody>
          <a:bodyPr wrap="square" lIns="0" rIns="0" tIns="0" bIns="0" anchor="t">
            <a:spAutoFit/>
          </a:bodyPr>
          <a:lstStyle/>
          <a:p>
            <a:pPr algn="l"/>
            <a:r>
              <a:rPr sz="1500" b="1" i="0">
                <a:solidFill>
                  <a:srgbClr val="172B4D"/>
                </a:solidFill>
                <a:latin typeface="Microsoft YaHei"/>
              </a:rPr>
              <a:t>指标 P</a:t>
            </a:r>
          </a:p>
        </p:txBody>
      </p:sp>
      <p:sp>
        <p:nvSpPr>
          <p:cNvPr id="612" name="TextBox 611"/>
          <p:cNvSpPr txBox="1"/>
          <p:nvPr/>
        </p:nvSpPr>
        <p:spPr>
          <a:xfrm>
            <a:off x="7525512" y="3410712"/>
            <a:ext cx="2743200" cy="475488"/>
          </a:xfrm>
          <a:prstGeom prst="rect">
            <a:avLst/>
          </a:prstGeom>
          <a:noFill/>
        </p:spPr>
        <p:txBody>
          <a:bodyPr wrap="square" lIns="0" rIns="0" tIns="0" bIns="0" anchor="t">
            <a:spAutoFit/>
          </a:bodyPr>
          <a:lstStyle/>
          <a:p>
            <a:pPr algn="l"/>
            <a:r>
              <a:rPr sz="1100" b="0" i="0">
                <a:solidFill>
                  <a:srgbClr val="53657A"/>
                </a:solidFill>
                <a:latin typeface="Microsoft YaHei"/>
              </a:rPr>
              <a:t>Pr(q_AI&gt;q*, q_urban&gt;q*, T_wb&gt;T*)
联合超阈值概率（加权窗口）</a:t>
            </a:r>
          </a:p>
        </p:txBody>
      </p:sp>
      <p:sp>
        <p:nvSpPr>
          <p:cNvPr id="613" name="Rounded Rectangle 612"/>
          <p:cNvSpPr/>
          <p:nvPr/>
        </p:nvSpPr>
        <p:spPr>
          <a:xfrm>
            <a:off x="7296912" y="4315968"/>
            <a:ext cx="3319272" cy="1234440"/>
          </a:xfrm>
          <a:prstGeom prst="roundRect">
            <a:avLst/>
          </a:prstGeom>
          <a:solidFill>
            <a:srgbClr val="FFF7F3"/>
          </a:solidFill>
          <a:ln w="11430">
            <a:solidFill>
              <a:srgbClr val="E6C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TextBox 613"/>
          <p:cNvSpPr txBox="1"/>
          <p:nvPr/>
        </p:nvSpPr>
        <p:spPr>
          <a:xfrm>
            <a:off x="7525512" y="4517136"/>
            <a:ext cx="2743200" cy="210312"/>
          </a:xfrm>
          <a:prstGeom prst="rect">
            <a:avLst/>
          </a:prstGeom>
          <a:noFill/>
        </p:spPr>
        <p:txBody>
          <a:bodyPr wrap="square" lIns="0" rIns="0" tIns="0" bIns="0" anchor="t">
            <a:spAutoFit/>
          </a:bodyPr>
          <a:lstStyle/>
          <a:p>
            <a:pPr algn="l"/>
            <a:r>
              <a:rPr sz="1500" b="1" i="0">
                <a:solidFill>
                  <a:srgbClr val="C64B55"/>
                </a:solidFill>
                <a:latin typeface="Microsoft YaHei"/>
              </a:rPr>
              <a:t>判别标准</a:t>
            </a:r>
          </a:p>
        </p:txBody>
      </p:sp>
      <p:sp>
        <p:nvSpPr>
          <p:cNvPr id="615" name="TextBox 614"/>
          <p:cNvSpPr txBox="1"/>
          <p:nvPr/>
        </p:nvSpPr>
        <p:spPr>
          <a:xfrm>
            <a:off x="7525512" y="4818888"/>
            <a:ext cx="2743200" cy="502920"/>
          </a:xfrm>
          <a:prstGeom prst="rect">
            <a:avLst/>
          </a:prstGeom>
          <a:noFill/>
        </p:spPr>
        <p:txBody>
          <a:bodyPr wrap="square" lIns="0" rIns="0" tIns="0" bIns="0" anchor="t">
            <a:spAutoFit/>
          </a:bodyPr>
          <a:lstStyle/>
          <a:p>
            <a:pPr algn="l"/>
            <a:r>
              <a:rPr sz="1100" b="0" i="0">
                <a:solidFill>
                  <a:srgbClr val="53657A"/>
                </a:solidFill>
                <a:latin typeface="Microsoft YaHei"/>
              </a:rPr>
              <a:t>若相位保持不改变 ΔCAWCC，H2不成立；若P升高伴随安全边界下降，则支持多时间尺度边界提前。</a:t>
            </a:r>
          </a:p>
        </p:txBody>
      </p:sp>
      <p:sp>
        <p:nvSpPr>
          <p:cNvPr id="616" name="TextBox 615"/>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68788C"/>
                </a:solidFill>
                <a:latin typeface="Microsoft YaHei"/>
              </a:rPr>
              <a:t>哈尔滨工业大学 · 硕士学位论文开题答辩</a:t>
            </a:r>
          </a:p>
        </p:txBody>
      </p:sp>
      <p:sp>
        <p:nvSpPr>
          <p:cNvPr id="617" name="TextBox 616"/>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68788C"/>
                </a:solidFill>
                <a:latin typeface="Microsoft YaHei"/>
              </a:rPr>
              <a:t>14 / EXPERIMENT 2</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8" name="Shape 568"/>
        <p:cNvGrpSpPr/>
        <p:nvPr/>
      </p:nvGrpSpPr>
      <p:grpSpPr>
        <a:xfrm>
          <a:off x="0" y="0"/>
          <a:ext cx="0" cy="0"/>
          <a:chOff x="0" y="0"/>
          <a:chExt cx="0" cy="0"/>
        </a:xfrm>
      </p:grpSpPr>
      <p:pic>
        <p:nvPicPr>
          <p:cNvPr descr="image.png" id="569" name="Google Shape;569;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570" name="Google Shape;570;p27"/>
          <p:cNvPicPr preferRelativeResize="0"/>
          <p:nvPr/>
        </p:nvPicPr>
        <p:blipFill rotWithShape="1">
          <a:blip r:embed="rId4">
            <a:alphaModFix/>
          </a:blip>
          <a:srcRect b="0" l="0" r="0" t="0"/>
          <a:stretch/>
        </p:blipFill>
        <p:spPr>
          <a:xfrm>
            <a:off x="438150" y="2621160"/>
            <a:ext cx="11315700" cy="575369"/>
          </a:xfrm>
          <a:prstGeom prst="rect">
            <a:avLst/>
          </a:prstGeom>
          <a:noFill/>
          <a:ln>
            <a:noFill/>
          </a:ln>
        </p:spPr>
      </p:pic>
      <p:pic>
        <p:nvPicPr>
          <p:cNvPr descr="image.png" id="571" name="Google Shape;571;p27"/>
          <p:cNvPicPr preferRelativeResize="0"/>
          <p:nvPr/>
        </p:nvPicPr>
        <p:blipFill rotWithShape="1">
          <a:blip r:embed="rId5">
            <a:alphaModFix/>
          </a:blip>
          <a:srcRect b="0" l="0" r="0" t="0"/>
          <a:stretch/>
        </p:blipFill>
        <p:spPr>
          <a:xfrm>
            <a:off x="438150" y="6515100"/>
            <a:ext cx="11315700" cy="228600"/>
          </a:xfrm>
          <a:prstGeom prst="rect">
            <a:avLst/>
          </a:prstGeom>
          <a:noFill/>
          <a:ln>
            <a:noFill/>
          </a:ln>
        </p:spPr>
      </p:pic>
      <p:pic>
        <p:nvPicPr>
          <p:cNvPr descr="image.png" id="572" name="Google Shape;572;p27"/>
          <p:cNvPicPr preferRelativeResize="0"/>
          <p:nvPr/>
        </p:nvPicPr>
        <p:blipFill rotWithShape="1">
          <a:blip r:embed="rId6">
            <a:alphaModFix/>
          </a:blip>
          <a:srcRect b="0" l="0" r="0" t="0"/>
          <a:stretch/>
        </p:blipFill>
        <p:spPr>
          <a:xfrm>
            <a:off x="11060310" y="328612"/>
            <a:ext cx="693539" cy="180975"/>
          </a:xfrm>
          <a:prstGeom prst="rect">
            <a:avLst/>
          </a:prstGeom>
          <a:noFill/>
          <a:ln>
            <a:noFill/>
          </a:ln>
        </p:spPr>
      </p:pic>
      <p:graphicFrame>
        <p:nvGraphicFramePr>
          <p:cNvPr id="573" name="Google Shape;573;p27"/>
          <p:cNvGraphicFramePr/>
          <p:nvPr/>
        </p:nvGraphicFramePr>
        <p:xfrm>
          <a:off x="438150" y="1192410"/>
          <a:ext cx="3000000" cy="3000000"/>
        </p:xfrm>
        <a:graphic>
          <a:graphicData uri="http://schemas.openxmlformats.org/drawingml/2006/table">
            <a:tbl>
              <a:tblPr bandRow="1" firstRow="1">
                <a:noFill/>
                <a:tableStyleId>{B4E001E9-BA96-4B7F-91D8-A5F58F78CBA2}</a:tableStyleId>
              </a:tblPr>
              <a:tblGrid>
                <a:gridCol w="2412800"/>
                <a:gridCol w="2941450"/>
                <a:gridCol w="2941450"/>
                <a:gridCol w="3000975"/>
              </a:tblGrid>
              <a:tr h="328600">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系统裕度 / 再生水</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低再生水自给 (Low 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中再生水自给 (Med 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c>
                  <a:txBody>
                    <a:bodyPr/>
                    <a:lstStyle/>
                    <a:p>
                      <a:pPr indent="0" lvl="0" marL="0" marR="0" rtl="0" algn="l">
                        <a:spcBef>
                          <a:spcPts val="0"/>
                        </a:spcBef>
                        <a:spcAft>
                          <a:spcPts val="0"/>
                        </a:spcAft>
                        <a:buNone/>
                      </a:pPr>
                      <a:r>
                        <a:rPr b="1" i="0" lang="en-US" sz="900" u="none" cap="none" strike="noStrike">
                          <a:solidFill>
                            <a:srgbClr val="F8FAFC"/>
                          </a:solidFill>
                          <a:latin typeface="Noto Sans SC"/>
                          <a:ea typeface="Noto Sans SC"/>
                          <a:cs typeface="Noto Sans SC"/>
                          <a:sym typeface="Noto Sans SC"/>
                        </a:rPr>
                        <a:t>高再生水自给 (High 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F172A"/>
                    </a:solidFill>
                  </a:tcPr>
                </a:tc>
              </a:tr>
              <a:tr h="328600">
                <a:tc>
                  <a:txBody>
                    <a:bodyPr/>
                    <a:lstStyle/>
                    <a:p>
                      <a:pPr indent="0" lvl="0" marL="0" marR="0" rtl="0" algn="ctr">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低裕度 (Low 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水源受限 (Water)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WTP受限 (WTP)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接入受限 (Access)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328600">
                <a:tc>
                  <a:txBody>
                    <a:bodyPr/>
                    <a:lstStyle/>
                    <a:p>
                      <a:pPr indent="0" lvl="0" marL="0" marR="0" rtl="0" algn="ctr">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中裕度 (Med 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水源受限 (Water)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再生水受限 (Reuse)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水质受限 (Quality)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328625">
                <a:tc>
                  <a:txBody>
                    <a:bodyPr/>
                    <a:lstStyle/>
                    <a:p>
                      <a:pPr indent="0" lvl="0" marL="0" marR="0" rtl="0" algn="ctr">
                        <a:spcBef>
                          <a:spcPts val="0"/>
                        </a:spcBef>
                        <a:spcAft>
                          <a:spcPts val="0"/>
                        </a:spcAft>
                        <a:buNone/>
                      </a:pPr>
                      <a:r>
                        <a:rPr b="1" i="0" lang="en-US" sz="900" u="none" cap="none" strike="noStrike">
                          <a:solidFill>
                            <a:srgbClr val="334155"/>
                          </a:solidFill>
                          <a:latin typeface="Noto Sans SC"/>
                          <a:ea typeface="Noto Sans SC"/>
                          <a:cs typeface="Noto Sans SC"/>
                          <a:sym typeface="Noto Sans SC"/>
                        </a:rPr>
                        <a:t>高裕度 (High 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水源受限 (Water)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接入受限 (Access)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None/>
                      </a:pPr>
                      <a:r>
                        <a:rPr b="0" i="0" lang="en-US" sz="900" u="none" cap="none" strike="noStrike">
                          <a:solidFill>
                            <a:srgbClr val="334155"/>
                          </a:solidFill>
                          <a:latin typeface="Noto Sans SC"/>
                          <a:ea typeface="Noto Sans SC"/>
                          <a:cs typeface="Noto Sans SC"/>
                          <a:sym typeface="Noto Sans SC"/>
                        </a:rPr>
                        <a:t>峰值受限 (Peak)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bl>
          </a:graphicData>
        </a:graphic>
      </p:graphicFrame>
      <p:sp>
        <p:nvSpPr>
          <p:cNvPr id="574" name="Google Shape;574;p27"/>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575" name="Google Shape;575;p27"/>
          <p:cNvSpPr txBox="1"/>
          <p:nvPr/>
        </p:nvSpPr>
        <p:spPr>
          <a:xfrm>
            <a:off x="10783341" y="6615112"/>
            <a:ext cx="970508"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15 / EXPERIMENT 3</a:t>
            </a:r>
            <a:endParaRPr/>
          </a:p>
        </p:txBody>
      </p:sp>
      <p:pic>
        <p:nvPicPr>
          <p:cNvPr descr="image.png" id="576" name="Google Shape;576;p27"/>
          <p:cNvPicPr preferRelativeResize="0"/>
          <p:nvPr/>
        </p:nvPicPr>
        <p:blipFill rotWithShape="1">
          <a:blip r:embed="rId7">
            <a:alphaModFix/>
          </a:blip>
          <a:srcRect b="0" l="0" r="0" t="0"/>
          <a:stretch/>
        </p:blipFill>
        <p:spPr>
          <a:xfrm>
            <a:off x="438150" y="323850"/>
            <a:ext cx="1505842" cy="190500"/>
          </a:xfrm>
          <a:prstGeom prst="rect">
            <a:avLst/>
          </a:prstGeom>
          <a:noFill/>
          <a:ln>
            <a:noFill/>
          </a:ln>
        </p:spPr>
      </p:pic>
      <p:sp>
        <p:nvSpPr>
          <p:cNvPr id="577" name="Google Shape;577;p27"/>
          <p:cNvSpPr txBox="1"/>
          <p:nvPr/>
        </p:nvSpPr>
        <p:spPr>
          <a:xfrm>
            <a:off x="600075" y="2725935"/>
            <a:ext cx="10991850" cy="177105"/>
          </a:xfrm>
          <a:prstGeom prst="rect">
            <a:avLst/>
          </a:prstGeom>
          <a:noFill/>
          <a:ln>
            <a:noFill/>
          </a:ln>
        </p:spPr>
        <p:txBody>
          <a:bodyPr anchorCtr="0" anchor="t" bIns="0" lIns="88975" spcFirstLastPara="1" rIns="0" wrap="square" tIns="0">
            <a:spAutoFit/>
          </a:bodyPr>
          <a:lstStyle/>
          <a:p>
            <a:pPr indent="0" lvl="0" marL="0" marR="0" rtl="0" algn="l">
              <a:lnSpc>
                <a:spcPct val="155000"/>
              </a:lnSpc>
              <a:spcBef>
                <a:spcPts val="0"/>
              </a:spcBef>
              <a:spcAft>
                <a:spcPts val="0"/>
              </a:spcAft>
              <a:buNone/>
            </a:pPr>
            <a:r>
              <a:rPr b="1" i="0" lang="en-US" sz="900" u="none" cap="none" strike="noStrike">
                <a:solidFill>
                  <a:srgbClr val="0369A1"/>
                </a:solidFill>
                <a:latin typeface="Noto Sans SC"/>
                <a:ea typeface="Noto Sans SC"/>
                <a:cs typeface="Noto Sans SC"/>
                <a:sym typeface="Noto Sans SC"/>
              </a:rPr>
              <a:t>逐项解除约束实验 (Constraint-Release Experiment)</a:t>
            </a:r>
            <a:endParaRPr/>
          </a:p>
        </p:txBody>
      </p:sp>
      <p:sp>
        <p:nvSpPr>
          <p:cNvPr id="578" name="Google Shape;578;p27"/>
          <p:cNvSpPr txBox="1"/>
          <p:nvPr/>
        </p:nvSpPr>
        <p:spPr>
          <a:xfrm>
            <a:off x="600075" y="2922091"/>
            <a:ext cx="10991850"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334155"/>
                </a:solidFill>
                <a:latin typeface="Noto Sans SC"/>
                <a:ea typeface="Noto Sans SC"/>
                <a:cs typeface="Noto Sans SC"/>
                <a:sym typeface="Noto Sans SC"/>
              </a:rPr>
              <a:t>依次释放水源、WTP、WWTP、再生水与水质约束，绘制瓶颈相图，确定设施扩容的边际收益转折点。</a:t>
            </a:r>
            <a:endParaRPr/>
          </a:p>
        </p:txBody>
      </p:sp>
      <p:pic>
        <p:nvPicPr>
          <p:cNvPr descr="image.png" id="579" name="Google Shape;579;p27"/>
          <p:cNvPicPr preferRelativeResize="0"/>
          <p:nvPr/>
        </p:nvPicPr>
        <p:blipFill rotWithShape="1">
          <a:blip r:embed="rId8">
            <a:alphaModFix/>
          </a:blip>
          <a:srcRect b="0" l="0" r="0" t="0"/>
          <a:stretch/>
        </p:blipFill>
        <p:spPr>
          <a:xfrm>
            <a:off x="438150" y="6619875"/>
            <a:ext cx="81557" cy="104775"/>
          </a:xfrm>
          <a:prstGeom prst="rect">
            <a:avLst/>
          </a:prstGeom>
          <a:noFill/>
          <a:ln>
            <a:noFill/>
          </a:ln>
        </p:spPr>
      </p:pic>
      <p:pic>
        <p:nvPicPr>
          <p:cNvPr descr="image.png" id="580" name="Google Shape;580;p27"/>
          <p:cNvPicPr preferRelativeResize="0"/>
          <p:nvPr/>
        </p:nvPicPr>
        <p:blipFill rotWithShape="1">
          <a:blip r:embed="rId9">
            <a:alphaModFix/>
          </a:blip>
          <a:srcRect b="0" l="0" r="0" t="0"/>
          <a:stretch/>
        </p:blipFill>
        <p:spPr>
          <a:xfrm>
            <a:off x="542925" y="364331"/>
            <a:ext cx="92868" cy="109537"/>
          </a:xfrm>
          <a:prstGeom prst="rect">
            <a:avLst/>
          </a:prstGeom>
          <a:noFill/>
          <a:ln>
            <a:noFill/>
          </a:ln>
        </p:spPr>
      </p:pic>
      <p:sp>
        <p:nvSpPr>
          <p:cNvPr id="581" name="Google Shape;581;p27"/>
          <p:cNvSpPr/>
          <p:nvPr/>
        </p:nvSpPr>
        <p:spPr>
          <a:xfrm>
            <a:off x="447675" y="1849635"/>
            <a:ext cx="2412801"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2" name="Google Shape;582;p27"/>
          <p:cNvSpPr/>
          <p:nvPr/>
        </p:nvSpPr>
        <p:spPr>
          <a:xfrm>
            <a:off x="2860476" y="1849635"/>
            <a:ext cx="294143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3" name="Google Shape;583;p27"/>
          <p:cNvSpPr/>
          <p:nvPr/>
        </p:nvSpPr>
        <p:spPr>
          <a:xfrm>
            <a:off x="5801915" y="1849635"/>
            <a:ext cx="294143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4" name="Google Shape;584;p27"/>
          <p:cNvSpPr/>
          <p:nvPr/>
        </p:nvSpPr>
        <p:spPr>
          <a:xfrm>
            <a:off x="8743354" y="1849635"/>
            <a:ext cx="300097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5" name="Google Shape;585;p27"/>
          <p:cNvSpPr/>
          <p:nvPr/>
        </p:nvSpPr>
        <p:spPr>
          <a:xfrm>
            <a:off x="447675" y="2173485"/>
            <a:ext cx="2412801"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6" name="Google Shape;586;p27"/>
          <p:cNvSpPr/>
          <p:nvPr/>
        </p:nvSpPr>
        <p:spPr>
          <a:xfrm>
            <a:off x="2860476" y="2173485"/>
            <a:ext cx="294143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7" name="Google Shape;587;p27"/>
          <p:cNvSpPr/>
          <p:nvPr/>
        </p:nvSpPr>
        <p:spPr>
          <a:xfrm>
            <a:off x="5801915" y="2173485"/>
            <a:ext cx="2941439"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88" name="Google Shape;588;p27"/>
          <p:cNvSpPr/>
          <p:nvPr/>
        </p:nvSpPr>
        <p:spPr>
          <a:xfrm>
            <a:off x="8743354" y="2173485"/>
            <a:ext cx="3000970" cy="9525"/>
          </a:xfrm>
          <a:prstGeom prst="rect">
            <a:avLst/>
          </a:prstGeom>
          <a:solidFill>
            <a:srgbClr val="F1F5F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89" name="Google Shape;589;p27"/>
          <p:cNvPicPr preferRelativeResize="0"/>
          <p:nvPr/>
        </p:nvPicPr>
        <p:blipFill rotWithShape="1">
          <a:blip r:embed="rId10">
            <a:alphaModFix/>
          </a:blip>
          <a:srcRect b="0" l="0" r="0" t="0"/>
          <a:stretch/>
        </p:blipFill>
        <p:spPr>
          <a:xfrm>
            <a:off x="600075" y="2754510"/>
            <a:ext cx="88999" cy="114300"/>
          </a:xfrm>
          <a:prstGeom prst="rect">
            <a:avLst/>
          </a:prstGeom>
          <a:noFill/>
          <a:ln>
            <a:noFill/>
          </a:ln>
        </p:spPr>
      </p:pic>
      <p:pic>
        <p:nvPicPr>
          <p:cNvPr descr="image.png" id="590" name="Google Shape;590;p27"/>
          <p:cNvPicPr preferRelativeResize="0"/>
          <p:nvPr/>
        </p:nvPicPr>
        <p:blipFill rotWithShape="1">
          <a:blip r:embed="rId11">
            <a:alphaModFix/>
          </a:blip>
          <a:srcRect b="0" l="0" r="0" t="0"/>
          <a:stretch/>
        </p:blipFill>
        <p:spPr>
          <a:xfrm>
            <a:off x="3870573" y="1611510"/>
            <a:ext cx="921097" cy="152400"/>
          </a:xfrm>
          <a:prstGeom prst="rect">
            <a:avLst/>
          </a:prstGeom>
          <a:noFill/>
          <a:ln>
            <a:noFill/>
          </a:ln>
        </p:spPr>
      </p:pic>
      <p:pic>
        <p:nvPicPr>
          <p:cNvPr descr="image.png" id="591" name="Google Shape;591;p27"/>
          <p:cNvPicPr preferRelativeResize="0"/>
          <p:nvPr/>
        </p:nvPicPr>
        <p:blipFill rotWithShape="1">
          <a:blip r:embed="rId12">
            <a:alphaModFix/>
          </a:blip>
          <a:srcRect b="0" l="0" r="0" t="0"/>
          <a:stretch/>
        </p:blipFill>
        <p:spPr>
          <a:xfrm>
            <a:off x="6831657" y="1611510"/>
            <a:ext cx="881806" cy="152400"/>
          </a:xfrm>
          <a:prstGeom prst="rect">
            <a:avLst/>
          </a:prstGeom>
          <a:noFill/>
          <a:ln>
            <a:noFill/>
          </a:ln>
        </p:spPr>
      </p:pic>
      <p:pic>
        <p:nvPicPr>
          <p:cNvPr descr="image.png" id="592" name="Google Shape;592;p27"/>
          <p:cNvPicPr preferRelativeResize="0"/>
          <p:nvPr/>
        </p:nvPicPr>
        <p:blipFill rotWithShape="1">
          <a:blip r:embed="rId13">
            <a:alphaModFix/>
          </a:blip>
          <a:srcRect b="0" l="0" r="0" t="0"/>
          <a:stretch/>
        </p:blipFill>
        <p:spPr>
          <a:xfrm>
            <a:off x="9745116" y="1611510"/>
            <a:ext cx="997297" cy="152400"/>
          </a:xfrm>
          <a:prstGeom prst="rect">
            <a:avLst/>
          </a:prstGeom>
          <a:noFill/>
          <a:ln>
            <a:noFill/>
          </a:ln>
        </p:spPr>
      </p:pic>
      <p:pic>
        <p:nvPicPr>
          <p:cNvPr descr="image.png" id="593" name="Google Shape;593;p27"/>
          <p:cNvPicPr preferRelativeResize="0"/>
          <p:nvPr/>
        </p:nvPicPr>
        <p:blipFill rotWithShape="1">
          <a:blip r:embed="rId14">
            <a:alphaModFix/>
          </a:blip>
          <a:srcRect b="0" l="0" r="0" t="0"/>
          <a:stretch/>
        </p:blipFill>
        <p:spPr>
          <a:xfrm>
            <a:off x="3870573" y="1935360"/>
            <a:ext cx="921097" cy="152400"/>
          </a:xfrm>
          <a:prstGeom prst="rect">
            <a:avLst/>
          </a:prstGeom>
          <a:noFill/>
          <a:ln>
            <a:noFill/>
          </a:ln>
        </p:spPr>
      </p:pic>
      <p:pic>
        <p:nvPicPr>
          <p:cNvPr descr="image.png" id="594" name="Google Shape;594;p27"/>
          <p:cNvPicPr preferRelativeResize="0"/>
          <p:nvPr/>
        </p:nvPicPr>
        <p:blipFill rotWithShape="1">
          <a:blip r:embed="rId15">
            <a:alphaModFix/>
          </a:blip>
          <a:srcRect b="0" l="0" r="0" t="0"/>
          <a:stretch/>
        </p:blipFill>
        <p:spPr>
          <a:xfrm>
            <a:off x="6746676" y="1935360"/>
            <a:ext cx="1051917" cy="152400"/>
          </a:xfrm>
          <a:prstGeom prst="rect">
            <a:avLst/>
          </a:prstGeom>
          <a:noFill/>
          <a:ln>
            <a:noFill/>
          </a:ln>
        </p:spPr>
      </p:pic>
      <p:pic>
        <p:nvPicPr>
          <p:cNvPr descr="image.png" id="595" name="Google Shape;595;p27"/>
          <p:cNvPicPr preferRelativeResize="0"/>
          <p:nvPr/>
        </p:nvPicPr>
        <p:blipFill rotWithShape="1">
          <a:blip r:embed="rId16">
            <a:alphaModFix/>
          </a:blip>
          <a:srcRect b="0" l="0" r="0" t="0"/>
          <a:stretch/>
        </p:blipFill>
        <p:spPr>
          <a:xfrm>
            <a:off x="9750772" y="1935360"/>
            <a:ext cx="985986" cy="152400"/>
          </a:xfrm>
          <a:prstGeom prst="rect">
            <a:avLst/>
          </a:prstGeom>
          <a:noFill/>
          <a:ln>
            <a:noFill/>
          </a:ln>
        </p:spPr>
      </p:pic>
      <p:pic>
        <p:nvPicPr>
          <p:cNvPr descr="image.png" id="596" name="Google Shape;596;p27"/>
          <p:cNvPicPr preferRelativeResize="0"/>
          <p:nvPr/>
        </p:nvPicPr>
        <p:blipFill rotWithShape="1">
          <a:blip r:embed="rId17">
            <a:alphaModFix/>
          </a:blip>
          <a:srcRect b="0" l="0" r="0" t="0"/>
          <a:stretch/>
        </p:blipFill>
        <p:spPr>
          <a:xfrm>
            <a:off x="3870573" y="2259210"/>
            <a:ext cx="921097" cy="152400"/>
          </a:xfrm>
          <a:prstGeom prst="rect">
            <a:avLst/>
          </a:prstGeom>
          <a:noFill/>
          <a:ln>
            <a:noFill/>
          </a:ln>
        </p:spPr>
      </p:pic>
      <p:pic>
        <p:nvPicPr>
          <p:cNvPr descr="image.png" id="597" name="Google Shape;597;p27"/>
          <p:cNvPicPr preferRelativeResize="0"/>
          <p:nvPr/>
        </p:nvPicPr>
        <p:blipFill rotWithShape="1">
          <a:blip r:embed="rId18">
            <a:alphaModFix/>
          </a:blip>
          <a:srcRect b="0" l="0" r="0" t="0"/>
          <a:stretch/>
        </p:blipFill>
        <p:spPr>
          <a:xfrm>
            <a:off x="6773912" y="2259210"/>
            <a:ext cx="997297" cy="152400"/>
          </a:xfrm>
          <a:prstGeom prst="rect">
            <a:avLst/>
          </a:prstGeom>
          <a:noFill/>
          <a:ln>
            <a:noFill/>
          </a:ln>
        </p:spPr>
      </p:pic>
      <p:pic>
        <p:nvPicPr>
          <p:cNvPr descr="image.png" id="598" name="Google Shape;598;p27"/>
          <p:cNvPicPr preferRelativeResize="0"/>
          <p:nvPr/>
        </p:nvPicPr>
        <p:blipFill rotWithShape="1">
          <a:blip r:embed="rId19">
            <a:alphaModFix/>
          </a:blip>
          <a:srcRect b="0" l="0" r="0" t="0"/>
          <a:stretch/>
        </p:blipFill>
        <p:spPr>
          <a:xfrm>
            <a:off x="9803606" y="2259210"/>
            <a:ext cx="880467" cy="152400"/>
          </a:xfrm>
          <a:prstGeom prst="rect">
            <a:avLst/>
          </a:prstGeom>
          <a:noFill/>
          <a:ln>
            <a:noFill/>
          </a:ln>
        </p:spPr>
      </p:pic>
      <p:sp>
        <p:nvSpPr>
          <p:cNvPr id="599" name="Google Shape;599;p27"/>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Experiment 3：瓶颈相图揭示主导约束的状态转换</a:t>
            </a:r>
            <a:endParaRPr/>
          </a:p>
        </p:txBody>
      </p:sp>
      <p:sp>
        <p:nvSpPr>
          <p:cNvPr id="600" name="Google Shape;600;p27"/>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1" name="Rounded Rectangle 600"/>
          <p:cNvSpPr/>
          <p:nvPr/>
        </p:nvSpPr>
        <p:spPr>
          <a:xfrm>
            <a:off x="658368" y="3584448"/>
            <a:ext cx="9646920" cy="107899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TextBox 601"/>
          <p:cNvSpPr txBox="1"/>
          <p:nvPr/>
        </p:nvSpPr>
        <p:spPr>
          <a:xfrm>
            <a:off x="896112" y="3813048"/>
            <a:ext cx="1051560" cy="210312"/>
          </a:xfrm>
          <a:prstGeom prst="rect">
            <a:avLst/>
          </a:prstGeom>
          <a:noFill/>
        </p:spPr>
        <p:txBody>
          <a:bodyPr wrap="square" lIns="0" rIns="0" tIns="0" bIns="0" anchor="t">
            <a:spAutoFit/>
          </a:bodyPr>
          <a:lstStyle/>
          <a:p>
            <a:pPr algn="l"/>
            <a:r>
              <a:rPr sz="1500" b="1" i="0">
                <a:solidFill>
                  <a:srgbClr val="172B4D"/>
                </a:solidFill>
                <a:latin typeface="Microsoft YaHei"/>
              </a:rPr>
              <a:t>工程解释</a:t>
            </a:r>
          </a:p>
        </p:txBody>
      </p:sp>
      <p:sp>
        <p:nvSpPr>
          <p:cNvPr id="603" name="TextBox 602"/>
          <p:cNvSpPr txBox="1"/>
          <p:nvPr/>
        </p:nvSpPr>
        <p:spPr>
          <a:xfrm>
            <a:off x="2267712" y="3776472"/>
            <a:ext cx="2331720" cy="219456"/>
          </a:xfrm>
          <a:prstGeom prst="rect">
            <a:avLst/>
          </a:prstGeom>
          <a:noFill/>
        </p:spPr>
        <p:txBody>
          <a:bodyPr wrap="square" lIns="0" rIns="0" tIns="0" bIns="0" anchor="t">
            <a:spAutoFit/>
          </a:bodyPr>
          <a:lstStyle/>
          <a:p>
            <a:pPr algn="l"/>
            <a:r>
              <a:rPr sz="1200" b="1" i="0">
                <a:solidFill>
                  <a:srgbClr val="2388C9"/>
                </a:solidFill>
                <a:latin typeface="Microsoft YaHei"/>
              </a:rPr>
              <a:t>低裕度优先稳住水源与给水余量</a:t>
            </a:r>
          </a:p>
        </p:txBody>
      </p:sp>
      <p:sp>
        <p:nvSpPr>
          <p:cNvPr id="604" name="TextBox 603"/>
          <p:cNvSpPr txBox="1"/>
          <p:nvPr/>
        </p:nvSpPr>
        <p:spPr>
          <a:xfrm>
            <a:off x="4846320" y="3776472"/>
            <a:ext cx="2240280" cy="219456"/>
          </a:xfrm>
          <a:prstGeom prst="rect">
            <a:avLst/>
          </a:prstGeom>
          <a:noFill/>
        </p:spPr>
        <p:txBody>
          <a:bodyPr wrap="square" lIns="0" rIns="0" tIns="0" bIns="0" anchor="t">
            <a:spAutoFit/>
          </a:bodyPr>
          <a:lstStyle/>
          <a:p>
            <a:pPr algn="l"/>
            <a:r>
              <a:rPr sz="1200" b="1" i="0">
                <a:solidFill>
                  <a:srgbClr val="1BA6A6"/>
                </a:solidFill>
                <a:latin typeface="Microsoft YaHei"/>
              </a:rPr>
              <a:t>中裕度关注再生水与水质受纳</a:t>
            </a:r>
          </a:p>
        </p:txBody>
      </p:sp>
      <p:sp>
        <p:nvSpPr>
          <p:cNvPr id="605" name="TextBox 604"/>
          <p:cNvSpPr txBox="1"/>
          <p:nvPr/>
        </p:nvSpPr>
        <p:spPr>
          <a:xfrm>
            <a:off x="7315200" y="3776472"/>
            <a:ext cx="2240280" cy="219456"/>
          </a:xfrm>
          <a:prstGeom prst="rect">
            <a:avLst/>
          </a:prstGeom>
          <a:noFill/>
        </p:spPr>
        <p:txBody>
          <a:bodyPr wrap="square" lIns="0" rIns="0" tIns="0" bIns="0" anchor="t">
            <a:spAutoFit/>
          </a:bodyPr>
          <a:lstStyle/>
          <a:p>
            <a:pPr algn="l"/>
            <a:r>
              <a:rPr sz="1200" b="1" i="0">
                <a:solidFill>
                  <a:srgbClr val="C9973E"/>
                </a:solidFill>
                <a:latin typeface="Microsoft YaHei"/>
              </a:rPr>
              <a:t>高裕度检验局部接入与峰值调度</a:t>
            </a:r>
          </a:p>
        </p:txBody>
      </p:sp>
      <p:sp>
        <p:nvSpPr>
          <p:cNvPr id="606" name="TextBox 605"/>
          <p:cNvSpPr txBox="1"/>
          <p:nvPr/>
        </p:nvSpPr>
        <p:spPr>
          <a:xfrm>
            <a:off x="2267712" y="4169663"/>
            <a:ext cx="7635240" cy="228600"/>
          </a:xfrm>
          <a:prstGeom prst="rect">
            <a:avLst/>
          </a:prstGeom>
          <a:noFill/>
        </p:spPr>
        <p:txBody>
          <a:bodyPr wrap="square" lIns="0" rIns="0" tIns="0" bIns="0" anchor="t">
            <a:spAutoFit/>
          </a:bodyPr>
          <a:lstStyle/>
          <a:p>
            <a:pPr algn="l"/>
            <a:r>
              <a:rPr sz="1100" b="0" i="0">
                <a:solidFill>
                  <a:srgbClr val="53657A"/>
                </a:solidFill>
                <a:latin typeface="Microsoft YaHei"/>
              </a:rPr>
              <a:t>约束释放实验把“扩哪一项、何时扩、扩到何处”转化为可比较的边际收益曲线。</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604" name="Shape 604"/>
        <p:cNvGrpSpPr/>
        <p:nvPr/>
      </p:nvGrpSpPr>
      <p:grpSpPr>
        <a:xfrm>
          <a:off x="0" y="0"/>
          <a:ext cx="0" cy="0"/>
          <a:chOff x="0" y="0"/>
          <a:chExt cx="0" cy="0"/>
        </a:xfrm>
      </p:grpSpPr>
      <p:sp>
        <p:nvSpPr>
          <p:cNvPr id="605" name="Rounded Rectangle 604"/>
          <p:cNvSpPr/>
          <p:nvPr/>
        </p:nvSpPr>
        <p:spPr>
          <a:xfrm>
            <a:off x="502920" y="301752"/>
            <a:ext cx="182880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TextBox 605"/>
          <p:cNvSpPr txBox="1"/>
          <p:nvPr/>
        </p:nvSpPr>
        <p:spPr>
          <a:xfrm>
            <a:off x="594360" y="315468"/>
            <a:ext cx="1645920" cy="201168"/>
          </a:xfrm>
          <a:prstGeom prst="rect">
            <a:avLst/>
          </a:prstGeom>
          <a:noFill/>
        </p:spPr>
        <p:txBody>
          <a:bodyPr wrap="square" lIns="0" rIns="0" tIns="0" bIns="0" anchor="ctr">
            <a:spAutoFit/>
          </a:bodyPr>
          <a:lstStyle/>
          <a:p>
            <a:pPr algn="ctr"/>
            <a:r>
              <a:rPr sz="950" b="1" i="0">
                <a:solidFill>
                  <a:srgbClr val="2388C9"/>
                </a:solidFill>
                <a:latin typeface="Microsoft YaHei"/>
              </a:rPr>
              <a:t>15 / BOUNDARY METRIC</a:t>
            </a:r>
          </a:p>
        </p:txBody>
      </p:sp>
      <p:sp>
        <p:nvSpPr>
          <p:cNvPr id="607" name="TextBox 606"/>
          <p:cNvSpPr txBox="1"/>
          <p:nvPr/>
        </p:nvSpPr>
        <p:spPr>
          <a:xfrm>
            <a:off x="502920" y="713232"/>
            <a:ext cx="9875520" cy="457200"/>
          </a:xfrm>
          <a:prstGeom prst="rect">
            <a:avLst/>
          </a:prstGeom>
          <a:noFill/>
        </p:spPr>
        <p:txBody>
          <a:bodyPr wrap="square" lIns="0" rIns="0" tIns="0" bIns="0" anchor="t">
            <a:spAutoFit/>
          </a:bodyPr>
          <a:lstStyle/>
          <a:p>
            <a:pPr algn="l"/>
            <a:r>
              <a:rPr sz="2500" b="1" i="0">
                <a:solidFill>
                  <a:srgbClr val="172B4D"/>
                </a:solidFill>
                <a:latin typeface="Microsoft YaHei"/>
              </a:rPr>
              <a:t>CAWCC：把AI容量写成多约束可行域的边界</a:t>
            </a:r>
          </a:p>
        </p:txBody>
      </p:sp>
      <p:sp>
        <p:nvSpPr>
          <p:cNvPr id="608" name="TextBox 607"/>
          <p:cNvSpPr txBox="1"/>
          <p:nvPr/>
        </p:nvSpPr>
        <p:spPr>
          <a:xfrm>
            <a:off x="530352" y="1188720"/>
            <a:ext cx="9875520" cy="256032"/>
          </a:xfrm>
          <a:prstGeom prst="rect">
            <a:avLst/>
          </a:prstGeom>
          <a:noFill/>
        </p:spPr>
        <p:txBody>
          <a:bodyPr wrap="square" lIns="0" rIns="0" tIns="0" bIns="0" anchor="t">
            <a:spAutoFit/>
          </a:bodyPr>
          <a:lstStyle/>
          <a:p>
            <a:pPr algn="l"/>
            <a:r>
              <a:rPr sz="1200" b="0" i="0">
                <a:solidFill>
                  <a:srgbClr val="68788C"/>
                </a:solidFill>
                <a:latin typeface="Microsoft YaHei"/>
              </a:rPr>
              <a:t>边界位置随城市状态、技术架构、气候与服务约束移动，报告安全边界与最终可行边界。</a:t>
            </a:r>
          </a:p>
        </p:txBody>
      </p:sp>
      <p:sp>
        <p:nvSpPr>
          <p:cNvPr id="609" name="Rounded Rectangle 608"/>
          <p:cNvSpPr/>
          <p:nvPr/>
        </p:nvSpPr>
        <p:spPr>
          <a:xfrm>
            <a:off x="530352" y="1572768"/>
            <a:ext cx="6309360" cy="1060704"/>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TextBox 609"/>
          <p:cNvSpPr txBox="1"/>
          <p:nvPr/>
        </p:nvSpPr>
        <p:spPr>
          <a:xfrm>
            <a:off x="822960" y="1847088"/>
            <a:ext cx="5715000" cy="329184"/>
          </a:xfrm>
          <a:prstGeom prst="rect">
            <a:avLst/>
          </a:prstGeom>
          <a:noFill/>
        </p:spPr>
        <p:txBody>
          <a:bodyPr wrap="square" lIns="0" rIns="0" tIns="0" bIns="0" anchor="t">
            <a:spAutoFit/>
          </a:bodyPr>
          <a:lstStyle/>
          <a:p>
            <a:pPr algn="l"/>
            <a:r>
              <a:rPr sz="1900" b="1" i="0">
                <a:solidFill>
                  <a:srgbClr val="172B4D"/>
                </a:solidFill>
                <a:latin typeface="Microsoft YaHei"/>
              </a:rPr>
              <a:t>F(θ) = { c ≥ 0 | g_k(c,θ) ≤ 0,  ∀k }</a:t>
            </a:r>
          </a:p>
        </p:txBody>
      </p:sp>
      <p:sp>
        <p:nvSpPr>
          <p:cNvPr id="611" name="TextBox 610"/>
          <p:cNvSpPr txBox="1"/>
          <p:nvPr/>
        </p:nvSpPr>
        <p:spPr>
          <a:xfrm>
            <a:off x="841248" y="2267712"/>
            <a:ext cx="5577840" cy="182880"/>
          </a:xfrm>
          <a:prstGeom prst="rect">
            <a:avLst/>
          </a:prstGeom>
          <a:noFill/>
        </p:spPr>
        <p:txBody>
          <a:bodyPr wrap="square" lIns="0" rIns="0" tIns="0" bIns="0" anchor="t">
            <a:spAutoFit/>
          </a:bodyPr>
          <a:lstStyle/>
          <a:p>
            <a:pPr algn="l"/>
            <a:r>
              <a:rPr sz="1000" b="0" i="0">
                <a:solidFill>
                  <a:srgbClr val="68788C"/>
                </a:solidFill>
                <a:latin typeface="Microsoft YaHei"/>
              </a:rPr>
              <a:t>θ：城市状态、气候、冷却架构与服务优先级；c：AI IT容量。</a:t>
            </a:r>
          </a:p>
        </p:txBody>
      </p:sp>
      <p:sp>
        <p:nvSpPr>
          <p:cNvPr id="612" name="Rounded Rectangle 611"/>
          <p:cNvSpPr/>
          <p:nvPr/>
        </p:nvSpPr>
        <p:spPr>
          <a:xfrm>
            <a:off x="530352" y="2798064"/>
            <a:ext cx="6309360" cy="1060704"/>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TextBox 612"/>
          <p:cNvSpPr txBox="1"/>
          <p:nvPr/>
        </p:nvSpPr>
        <p:spPr>
          <a:xfrm>
            <a:off x="822960" y="3081528"/>
            <a:ext cx="5715000" cy="329184"/>
          </a:xfrm>
          <a:prstGeom prst="rect">
            <a:avLst/>
          </a:prstGeom>
          <a:noFill/>
        </p:spPr>
        <p:txBody>
          <a:bodyPr wrap="square" lIns="0" rIns="0" tIns="0" bIns="0" anchor="t">
            <a:spAutoFit/>
          </a:bodyPr>
          <a:lstStyle/>
          <a:p>
            <a:pPr algn="l"/>
            <a:r>
              <a:rPr sz="1800" b="1" i="0">
                <a:solidFill>
                  <a:srgbClr val="2388C9"/>
                </a:solidFill>
                <a:latin typeface="Microsoft YaHei"/>
              </a:rPr>
              <a:t>CAWCC_safe(θ) = sup { c : [0,c] ⊆ F(θ) }</a:t>
            </a:r>
          </a:p>
        </p:txBody>
      </p:sp>
      <p:sp>
        <p:nvSpPr>
          <p:cNvPr id="614" name="TextBox 613"/>
          <p:cNvSpPr txBox="1"/>
          <p:nvPr/>
        </p:nvSpPr>
        <p:spPr>
          <a:xfrm>
            <a:off x="841248" y="3502152"/>
            <a:ext cx="5577840" cy="182880"/>
          </a:xfrm>
          <a:prstGeom prst="rect">
            <a:avLst/>
          </a:prstGeom>
          <a:noFill/>
        </p:spPr>
        <p:txBody>
          <a:bodyPr wrap="square" lIns="0" rIns="0" tIns="0" bIns="0" anchor="t">
            <a:spAutoFit/>
          </a:bodyPr>
          <a:lstStyle/>
          <a:p>
            <a:pPr algn="l"/>
            <a:r>
              <a:rPr sz="1000" b="0" i="0">
                <a:solidFill>
                  <a:srgbClr val="68788C"/>
                </a:solidFill>
                <a:latin typeface="Microsoft YaHei"/>
              </a:rPr>
              <a:t>连续增容过程中的首次失效边界，适用于安全扩展决策。</a:t>
            </a:r>
          </a:p>
        </p:txBody>
      </p:sp>
      <p:sp>
        <p:nvSpPr>
          <p:cNvPr id="615" name="Rounded Rectangle 614"/>
          <p:cNvSpPr/>
          <p:nvPr/>
        </p:nvSpPr>
        <p:spPr>
          <a:xfrm>
            <a:off x="530352" y="4023360"/>
            <a:ext cx="6309360" cy="1060704"/>
          </a:xfrm>
          <a:prstGeom prst="roundRect">
            <a:avLst/>
          </a:prstGeom>
          <a:solidFill>
            <a:srgbClr val="FFF7F3"/>
          </a:solidFill>
          <a:ln w="11430">
            <a:solidFill>
              <a:srgbClr val="E6C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TextBox 615"/>
          <p:cNvSpPr txBox="1"/>
          <p:nvPr/>
        </p:nvSpPr>
        <p:spPr>
          <a:xfrm>
            <a:off x="822960" y="4306824"/>
            <a:ext cx="5715000" cy="329184"/>
          </a:xfrm>
          <a:prstGeom prst="rect">
            <a:avLst/>
          </a:prstGeom>
          <a:noFill/>
        </p:spPr>
        <p:txBody>
          <a:bodyPr wrap="square" lIns="0" rIns="0" tIns="0" bIns="0" anchor="t">
            <a:spAutoFit/>
          </a:bodyPr>
          <a:lstStyle/>
          <a:p>
            <a:pPr algn="l"/>
            <a:r>
              <a:rPr sz="1800" b="1" i="0">
                <a:solidFill>
                  <a:srgbClr val="C64B55"/>
                </a:solidFill>
                <a:latin typeface="Microsoft YaHei"/>
              </a:rPr>
              <a:t>CAWCC_max(θ) = sup F(θ)</a:t>
            </a:r>
          </a:p>
        </p:txBody>
      </p:sp>
      <p:sp>
        <p:nvSpPr>
          <p:cNvPr id="617" name="TextBox 616"/>
          <p:cNvSpPr txBox="1"/>
          <p:nvPr/>
        </p:nvSpPr>
        <p:spPr>
          <a:xfrm>
            <a:off x="841248" y="4727448"/>
            <a:ext cx="5577840" cy="182880"/>
          </a:xfrm>
          <a:prstGeom prst="rect">
            <a:avLst/>
          </a:prstGeom>
          <a:noFill/>
        </p:spPr>
        <p:txBody>
          <a:bodyPr wrap="square" lIns="0" rIns="0" tIns="0" bIns="0" anchor="t">
            <a:spAutoFit/>
          </a:bodyPr>
          <a:lstStyle/>
          <a:p>
            <a:pPr algn="l"/>
            <a:r>
              <a:rPr sz="1000" b="0" i="0">
                <a:solidFill>
                  <a:srgbClr val="68788C"/>
                </a:solidFill>
                <a:latin typeface="Microsoft YaHei"/>
              </a:rPr>
              <a:t>可行域中的最终可行容量；与首次失效边界分别报告。</a:t>
            </a:r>
          </a:p>
        </p:txBody>
      </p:sp>
      <p:sp>
        <p:nvSpPr>
          <p:cNvPr id="618" name="Rounded Rectangle 617"/>
          <p:cNvSpPr/>
          <p:nvPr/>
        </p:nvSpPr>
        <p:spPr>
          <a:xfrm>
            <a:off x="7114032" y="1572768"/>
            <a:ext cx="3511296" cy="3511296"/>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TextBox 618"/>
          <p:cNvSpPr txBox="1"/>
          <p:nvPr/>
        </p:nvSpPr>
        <p:spPr>
          <a:xfrm>
            <a:off x="7388352" y="1810512"/>
            <a:ext cx="2926080" cy="246888"/>
          </a:xfrm>
          <a:prstGeom prst="rect">
            <a:avLst/>
          </a:prstGeom>
          <a:noFill/>
        </p:spPr>
        <p:txBody>
          <a:bodyPr wrap="square" lIns="0" rIns="0" tIns="0" bIns="0" anchor="t">
            <a:spAutoFit/>
          </a:bodyPr>
          <a:lstStyle/>
          <a:p>
            <a:pPr algn="l"/>
            <a:r>
              <a:rPr sz="1600" b="1" i="0">
                <a:solidFill>
                  <a:srgbClr val="172B4D"/>
                </a:solidFill>
                <a:latin typeface="Microsoft YaHei"/>
              </a:rPr>
              <a:t>约束集合与边界报告</a:t>
            </a:r>
          </a:p>
        </p:txBody>
      </p:sp>
      <p:sp>
        <p:nvSpPr>
          <p:cNvPr id="620" name="Oval 619"/>
          <p:cNvSpPr/>
          <p:nvPr/>
        </p:nvSpPr>
        <p:spPr>
          <a:xfrm>
            <a:off x="7388352" y="2240280"/>
            <a:ext cx="164592" cy="164592"/>
          </a:xfrm>
          <a:prstGeom prst="ellipse">
            <a:avLst/>
          </a:prstGeom>
          <a:solidFill>
            <a:srgbClr val="2388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TextBox 620"/>
          <p:cNvSpPr txBox="1"/>
          <p:nvPr/>
        </p:nvSpPr>
        <p:spPr>
          <a:xfrm>
            <a:off x="7662672" y="2221992"/>
            <a:ext cx="2286000" cy="201168"/>
          </a:xfrm>
          <a:prstGeom prst="rect">
            <a:avLst/>
          </a:prstGeom>
          <a:noFill/>
        </p:spPr>
        <p:txBody>
          <a:bodyPr wrap="square" lIns="0" rIns="0" tIns="0" bIns="0" anchor="t">
            <a:spAutoFit/>
          </a:bodyPr>
          <a:lstStyle/>
          <a:p>
            <a:pPr algn="l"/>
            <a:r>
              <a:rPr sz="1200" b="1" i="0">
                <a:solidFill>
                  <a:srgbClr val="53657A"/>
                </a:solidFill>
                <a:latin typeface="Microsoft YaHei"/>
              </a:rPr>
              <a:t>水源</a:t>
            </a:r>
          </a:p>
        </p:txBody>
      </p:sp>
      <p:sp>
        <p:nvSpPr>
          <p:cNvPr id="622" name="Oval 621"/>
          <p:cNvSpPr/>
          <p:nvPr/>
        </p:nvSpPr>
        <p:spPr>
          <a:xfrm>
            <a:off x="7388352" y="2624328"/>
            <a:ext cx="164592" cy="164592"/>
          </a:xfrm>
          <a:prstGeom prst="ellipse">
            <a:avLst/>
          </a:prstGeom>
          <a:solidFill>
            <a:srgbClr val="1B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TextBox 622"/>
          <p:cNvSpPr txBox="1"/>
          <p:nvPr/>
        </p:nvSpPr>
        <p:spPr>
          <a:xfrm>
            <a:off x="7662672" y="2606040"/>
            <a:ext cx="2286000" cy="201168"/>
          </a:xfrm>
          <a:prstGeom prst="rect">
            <a:avLst/>
          </a:prstGeom>
          <a:noFill/>
        </p:spPr>
        <p:txBody>
          <a:bodyPr wrap="square" lIns="0" rIns="0" tIns="0" bIns="0" anchor="t">
            <a:spAutoFit/>
          </a:bodyPr>
          <a:lstStyle/>
          <a:p>
            <a:pPr algn="l"/>
            <a:r>
              <a:rPr sz="1200" b="1" i="0">
                <a:solidFill>
                  <a:srgbClr val="53657A"/>
                </a:solidFill>
                <a:latin typeface="Microsoft YaHei"/>
              </a:rPr>
              <a:t>给水 / WTP</a:t>
            </a:r>
          </a:p>
        </p:txBody>
      </p:sp>
      <p:sp>
        <p:nvSpPr>
          <p:cNvPr id="624" name="Oval 623"/>
          <p:cNvSpPr/>
          <p:nvPr/>
        </p:nvSpPr>
        <p:spPr>
          <a:xfrm>
            <a:off x="7388352" y="3008376"/>
            <a:ext cx="164592" cy="164592"/>
          </a:xfrm>
          <a:prstGeom prst="ellipse">
            <a:avLst/>
          </a:prstGeom>
          <a:solidFill>
            <a:srgbClr val="2EA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TextBox 624"/>
          <p:cNvSpPr txBox="1"/>
          <p:nvPr/>
        </p:nvSpPr>
        <p:spPr>
          <a:xfrm>
            <a:off x="7662672" y="2990088"/>
            <a:ext cx="2286000" cy="201168"/>
          </a:xfrm>
          <a:prstGeom prst="rect">
            <a:avLst/>
          </a:prstGeom>
          <a:noFill/>
        </p:spPr>
        <p:txBody>
          <a:bodyPr wrap="square" lIns="0" rIns="0" tIns="0" bIns="0" anchor="t">
            <a:spAutoFit/>
          </a:bodyPr>
          <a:lstStyle/>
          <a:p>
            <a:pPr algn="l"/>
            <a:r>
              <a:rPr sz="1200" b="1" i="0">
                <a:solidFill>
                  <a:srgbClr val="53657A"/>
                </a:solidFill>
                <a:latin typeface="Microsoft YaHei"/>
              </a:rPr>
              <a:t>污水 / WWTP</a:t>
            </a:r>
          </a:p>
        </p:txBody>
      </p:sp>
      <p:sp>
        <p:nvSpPr>
          <p:cNvPr id="626" name="Oval 625"/>
          <p:cNvSpPr/>
          <p:nvPr/>
        </p:nvSpPr>
        <p:spPr>
          <a:xfrm>
            <a:off x="7388352" y="3392424"/>
            <a:ext cx="164592" cy="164592"/>
          </a:xfrm>
          <a:prstGeom prst="ellipse">
            <a:avLst/>
          </a:prstGeom>
          <a:solidFill>
            <a:srgbClr val="172B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TextBox 626"/>
          <p:cNvSpPr txBox="1"/>
          <p:nvPr/>
        </p:nvSpPr>
        <p:spPr>
          <a:xfrm>
            <a:off x="7662672" y="3374136"/>
            <a:ext cx="2286000" cy="201168"/>
          </a:xfrm>
          <a:prstGeom prst="rect">
            <a:avLst/>
          </a:prstGeom>
          <a:noFill/>
        </p:spPr>
        <p:txBody>
          <a:bodyPr wrap="square" lIns="0" rIns="0" tIns="0" bIns="0" anchor="t">
            <a:spAutoFit/>
          </a:bodyPr>
          <a:lstStyle/>
          <a:p>
            <a:pPr algn="l"/>
            <a:r>
              <a:rPr sz="1200" b="1" i="0">
                <a:solidFill>
                  <a:srgbClr val="53657A"/>
                </a:solidFill>
                <a:latin typeface="Microsoft YaHei"/>
              </a:rPr>
              <a:t>再生水</a:t>
            </a:r>
          </a:p>
        </p:txBody>
      </p:sp>
      <p:sp>
        <p:nvSpPr>
          <p:cNvPr id="628" name="Oval 627"/>
          <p:cNvSpPr/>
          <p:nvPr/>
        </p:nvSpPr>
        <p:spPr>
          <a:xfrm>
            <a:off x="7388352" y="3776472"/>
            <a:ext cx="164592" cy="164592"/>
          </a:xfrm>
          <a:prstGeom prst="ellipse">
            <a:avLst/>
          </a:prstGeom>
          <a:solidFill>
            <a:srgbClr val="C997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TextBox 628"/>
          <p:cNvSpPr txBox="1"/>
          <p:nvPr/>
        </p:nvSpPr>
        <p:spPr>
          <a:xfrm>
            <a:off x="7662672" y="3758184"/>
            <a:ext cx="2286000" cy="201168"/>
          </a:xfrm>
          <a:prstGeom prst="rect">
            <a:avLst/>
          </a:prstGeom>
          <a:noFill/>
        </p:spPr>
        <p:txBody>
          <a:bodyPr wrap="square" lIns="0" rIns="0" tIns="0" bIns="0" anchor="t">
            <a:spAutoFit/>
          </a:bodyPr>
          <a:lstStyle/>
          <a:p>
            <a:pPr algn="l"/>
            <a:r>
              <a:rPr sz="1200" b="1" i="0">
                <a:solidFill>
                  <a:srgbClr val="53657A"/>
                </a:solidFill>
                <a:latin typeface="Microsoft YaHei"/>
              </a:rPr>
              <a:t>局部接入</a:t>
            </a:r>
          </a:p>
        </p:txBody>
      </p:sp>
      <p:sp>
        <p:nvSpPr>
          <p:cNvPr id="630" name="Oval 629"/>
          <p:cNvSpPr/>
          <p:nvPr/>
        </p:nvSpPr>
        <p:spPr>
          <a:xfrm>
            <a:off x="7388352" y="4160520"/>
            <a:ext cx="164592" cy="164592"/>
          </a:xfrm>
          <a:prstGeom prst="ellipse">
            <a:avLst/>
          </a:prstGeom>
          <a:solidFill>
            <a:srgbClr val="C64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TextBox 630"/>
          <p:cNvSpPr txBox="1"/>
          <p:nvPr/>
        </p:nvSpPr>
        <p:spPr>
          <a:xfrm>
            <a:off x="7662672" y="4142232"/>
            <a:ext cx="2286000" cy="201168"/>
          </a:xfrm>
          <a:prstGeom prst="rect">
            <a:avLst/>
          </a:prstGeom>
          <a:noFill/>
        </p:spPr>
        <p:txBody>
          <a:bodyPr wrap="square" lIns="0" rIns="0" tIns="0" bIns="0" anchor="t">
            <a:spAutoFit/>
          </a:bodyPr>
          <a:lstStyle/>
          <a:p>
            <a:pPr algn="l"/>
            <a:r>
              <a:rPr sz="1200" b="1" i="0">
                <a:solidFill>
                  <a:srgbClr val="53657A"/>
                </a:solidFill>
                <a:latin typeface="Microsoft YaHei"/>
              </a:rPr>
              <a:t>水质 / 可靠性</a:t>
            </a:r>
          </a:p>
        </p:txBody>
      </p:sp>
      <p:sp>
        <p:nvSpPr>
          <p:cNvPr id="632" name="TextBox 631"/>
          <p:cNvSpPr txBox="1"/>
          <p:nvPr/>
        </p:nvSpPr>
        <p:spPr>
          <a:xfrm>
            <a:off x="7388352" y="4645152"/>
            <a:ext cx="2834640" cy="384048"/>
          </a:xfrm>
          <a:prstGeom prst="rect">
            <a:avLst/>
          </a:prstGeom>
          <a:noFill/>
        </p:spPr>
        <p:txBody>
          <a:bodyPr wrap="square" lIns="0" rIns="0" tIns="0" bIns="0" anchor="t">
            <a:spAutoFit/>
          </a:bodyPr>
          <a:lstStyle/>
          <a:p>
            <a:pPr algn="l"/>
            <a:r>
              <a:rPr sz="1100" b="1" i="0">
                <a:solidFill>
                  <a:srgbClr val="1BA6A6"/>
                </a:solidFill>
                <a:latin typeface="Microsoft YaHei"/>
              </a:rPr>
              <a:t>报告项：safe、max、首次失效、最终失效与主导瓶颈。非单调可行域保留完整区间。</a:t>
            </a:r>
          </a:p>
        </p:txBody>
      </p:sp>
      <p:sp>
        <p:nvSpPr>
          <p:cNvPr id="633" name="TextBox 632"/>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68788C"/>
                </a:solidFill>
                <a:latin typeface="Microsoft YaHei"/>
              </a:rPr>
              <a:t>哈尔滨工业大学 · 硕士学位论文开题答辩</a:t>
            </a:r>
          </a:p>
        </p:txBody>
      </p:sp>
      <p:sp>
        <p:nvSpPr>
          <p:cNvPr id="634" name="TextBox 633"/>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68788C"/>
                </a:solidFill>
                <a:latin typeface="Microsoft YaHei"/>
              </a:rPr>
              <a:t>16 / BOUNDARY METRIC</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8" name="Shape 608"/>
        <p:cNvGrpSpPr/>
        <p:nvPr/>
      </p:nvGrpSpPr>
      <p:grpSpPr>
        <a:xfrm>
          <a:off x="0" y="0"/>
          <a:ext cx="0" cy="0"/>
          <a:chOff x="0" y="0"/>
          <a:chExt cx="0" cy="0"/>
        </a:xfrm>
      </p:grpSpPr>
      <p:pic>
        <p:nvPicPr>
          <p:cNvPr descr="image.png" id="609" name="Google Shape;609;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10" name="Google Shape;610;p29"/>
          <p:cNvPicPr preferRelativeResize="0"/>
          <p:nvPr/>
        </p:nvPicPr>
        <p:blipFill rotWithShape="1">
          <a:blip r:embed="rId4">
            <a:alphaModFix/>
          </a:blip>
          <a:srcRect b="0" l="0" r="0" t="0"/>
          <a:stretch/>
        </p:blipFill>
        <p:spPr>
          <a:xfrm>
            <a:off x="438150" y="2015579"/>
            <a:ext cx="11315700" cy="676275"/>
          </a:xfrm>
          <a:prstGeom prst="rect">
            <a:avLst/>
          </a:prstGeom>
          <a:noFill/>
          <a:ln>
            <a:noFill/>
          </a:ln>
        </p:spPr>
      </p:pic>
      <p:pic>
        <p:nvPicPr>
          <p:cNvPr descr="image.png" id="611" name="Google Shape;611;p29"/>
          <p:cNvPicPr preferRelativeResize="0"/>
          <p:nvPr/>
        </p:nvPicPr>
        <p:blipFill rotWithShape="1">
          <a:blip r:embed="rId5">
            <a:alphaModFix/>
          </a:blip>
          <a:srcRect b="0" l="0" r="0" t="0"/>
          <a:stretch/>
        </p:blipFill>
        <p:spPr>
          <a:xfrm>
            <a:off x="438150" y="1192410"/>
            <a:ext cx="3682900" cy="689818"/>
          </a:xfrm>
          <a:prstGeom prst="rect">
            <a:avLst/>
          </a:prstGeom>
          <a:noFill/>
          <a:ln>
            <a:noFill/>
          </a:ln>
        </p:spPr>
      </p:pic>
      <p:pic>
        <p:nvPicPr>
          <p:cNvPr descr="image.png" id="612" name="Google Shape;612;p29"/>
          <p:cNvPicPr preferRelativeResize="0"/>
          <p:nvPr/>
        </p:nvPicPr>
        <p:blipFill rotWithShape="1">
          <a:blip r:embed="rId6">
            <a:alphaModFix/>
          </a:blip>
          <a:srcRect b="0" l="0" r="0" t="0"/>
          <a:stretch/>
        </p:blipFill>
        <p:spPr>
          <a:xfrm>
            <a:off x="4254400" y="1192410"/>
            <a:ext cx="3683049" cy="689818"/>
          </a:xfrm>
          <a:prstGeom prst="rect">
            <a:avLst/>
          </a:prstGeom>
          <a:noFill/>
          <a:ln>
            <a:noFill/>
          </a:ln>
        </p:spPr>
      </p:pic>
      <p:pic>
        <p:nvPicPr>
          <p:cNvPr descr="image.png" id="613" name="Google Shape;613;p29"/>
          <p:cNvPicPr preferRelativeResize="0"/>
          <p:nvPr/>
        </p:nvPicPr>
        <p:blipFill rotWithShape="1">
          <a:blip r:embed="rId7">
            <a:alphaModFix/>
          </a:blip>
          <a:srcRect b="0" l="0" r="0" t="0"/>
          <a:stretch/>
        </p:blipFill>
        <p:spPr>
          <a:xfrm>
            <a:off x="8070800" y="1192410"/>
            <a:ext cx="3682900" cy="689818"/>
          </a:xfrm>
          <a:prstGeom prst="rect">
            <a:avLst/>
          </a:prstGeom>
          <a:noFill/>
          <a:ln>
            <a:noFill/>
          </a:ln>
        </p:spPr>
      </p:pic>
      <p:pic>
        <p:nvPicPr>
          <p:cNvPr descr="image.png" id="614" name="Google Shape;614;p29"/>
          <p:cNvPicPr preferRelativeResize="0"/>
          <p:nvPr/>
        </p:nvPicPr>
        <p:blipFill rotWithShape="1">
          <a:blip r:embed="rId8">
            <a:alphaModFix/>
          </a:blip>
          <a:srcRect b="0" l="0" r="0" t="0"/>
          <a:stretch/>
        </p:blipFill>
        <p:spPr>
          <a:xfrm>
            <a:off x="438150" y="6515100"/>
            <a:ext cx="11315700" cy="228600"/>
          </a:xfrm>
          <a:prstGeom prst="rect">
            <a:avLst/>
          </a:prstGeom>
          <a:noFill/>
          <a:ln>
            <a:noFill/>
          </a:ln>
        </p:spPr>
      </p:pic>
      <p:pic>
        <p:nvPicPr>
          <p:cNvPr descr="image.png" id="615" name="Google Shape;615;p29"/>
          <p:cNvPicPr preferRelativeResize="0"/>
          <p:nvPr/>
        </p:nvPicPr>
        <p:blipFill rotWithShape="1">
          <a:blip r:embed="rId9">
            <a:alphaModFix/>
          </a:blip>
          <a:srcRect b="0" l="0" r="0" t="0"/>
          <a:stretch/>
        </p:blipFill>
        <p:spPr>
          <a:xfrm>
            <a:off x="11060310" y="328612"/>
            <a:ext cx="693539" cy="180975"/>
          </a:xfrm>
          <a:prstGeom prst="rect">
            <a:avLst/>
          </a:prstGeom>
          <a:noFill/>
          <a:ln>
            <a:noFill/>
          </a:ln>
        </p:spPr>
      </p:pic>
      <p:sp>
        <p:nvSpPr>
          <p:cNvPr id="616" name="Google Shape;616;p29"/>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617" name="Google Shape;617;p29"/>
          <p:cNvSpPr txBox="1"/>
          <p:nvPr/>
        </p:nvSpPr>
        <p:spPr>
          <a:xfrm>
            <a:off x="9739312" y="6615112"/>
            <a:ext cx="2014537"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18 &amp; 19 / CONTRIBUTIONS &amp; SCHEDULE</a:t>
            </a:r>
            <a:endParaRPr/>
          </a:p>
        </p:txBody>
      </p:sp>
      <p:pic>
        <p:nvPicPr>
          <p:cNvPr descr="image.png" id="618" name="Google Shape;618;p29"/>
          <p:cNvPicPr preferRelativeResize="0"/>
          <p:nvPr/>
        </p:nvPicPr>
        <p:blipFill rotWithShape="1">
          <a:blip r:embed="rId10">
            <a:alphaModFix/>
          </a:blip>
          <a:srcRect b="0" l="0" r="0" t="0"/>
          <a:stretch/>
        </p:blipFill>
        <p:spPr>
          <a:xfrm>
            <a:off x="438150" y="323850"/>
            <a:ext cx="2748855" cy="190500"/>
          </a:xfrm>
          <a:prstGeom prst="rect">
            <a:avLst/>
          </a:prstGeom>
          <a:noFill/>
          <a:ln>
            <a:noFill/>
          </a:ln>
        </p:spPr>
      </p:pic>
      <p:sp>
        <p:nvSpPr>
          <p:cNvPr id="619" name="Google Shape;619;p29"/>
          <p:cNvSpPr txBox="1"/>
          <p:nvPr/>
        </p:nvSpPr>
        <p:spPr>
          <a:xfrm>
            <a:off x="581025" y="2120354"/>
            <a:ext cx="1102995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0F172A"/>
                </a:solidFill>
                <a:latin typeface="Noto Sans SC"/>
                <a:ea typeface="Noto Sans SC"/>
                <a:cs typeface="Noto Sans SC"/>
                <a:sym typeface="Noto Sans SC"/>
              </a:rPr>
              <a:t>五阶段推进计划 (Schedule Timeline)</a:t>
            </a:r>
            <a:endParaRPr/>
          </a:p>
        </p:txBody>
      </p:sp>
      <p:pic>
        <p:nvPicPr>
          <p:cNvPr descr="image.png" id="620" name="Google Shape;620;p29"/>
          <p:cNvPicPr preferRelativeResize="0"/>
          <p:nvPr/>
        </p:nvPicPr>
        <p:blipFill rotWithShape="1">
          <a:blip r:embed="rId11">
            <a:alphaModFix/>
          </a:blip>
          <a:srcRect b="0" l="0" r="0" t="0"/>
          <a:stretch/>
        </p:blipFill>
        <p:spPr>
          <a:xfrm>
            <a:off x="438150" y="6619875"/>
            <a:ext cx="81557" cy="104775"/>
          </a:xfrm>
          <a:prstGeom prst="rect">
            <a:avLst/>
          </a:prstGeom>
          <a:noFill/>
          <a:ln>
            <a:noFill/>
          </a:ln>
        </p:spPr>
      </p:pic>
      <p:pic>
        <p:nvPicPr>
          <p:cNvPr descr="image.png" id="621" name="Google Shape;621;p29"/>
          <p:cNvPicPr preferRelativeResize="0"/>
          <p:nvPr/>
        </p:nvPicPr>
        <p:blipFill rotWithShape="1">
          <a:blip r:embed="rId12">
            <a:alphaModFix/>
          </a:blip>
          <a:srcRect b="0" l="0" r="0" t="0"/>
          <a:stretch/>
        </p:blipFill>
        <p:spPr>
          <a:xfrm>
            <a:off x="542925" y="364331"/>
            <a:ext cx="92868" cy="109537"/>
          </a:xfrm>
          <a:prstGeom prst="rect">
            <a:avLst/>
          </a:prstGeom>
          <a:noFill/>
          <a:ln>
            <a:noFill/>
          </a:ln>
        </p:spPr>
      </p:pic>
      <p:sp>
        <p:nvSpPr>
          <p:cNvPr id="622" name="Google Shape;622;p29"/>
          <p:cNvSpPr txBox="1"/>
          <p:nvPr/>
        </p:nvSpPr>
        <p:spPr>
          <a:xfrm>
            <a:off x="581025" y="1297185"/>
            <a:ext cx="3397150" cy="95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12" u="none" cap="none" strike="noStrike">
                <a:solidFill>
                  <a:srgbClr val="0284C7"/>
                </a:solidFill>
                <a:latin typeface="JetBrains Mono ExtraBold"/>
                <a:ea typeface="JetBrains Mono ExtraBold"/>
                <a:cs typeface="JetBrains Mono ExtraBold"/>
                <a:sym typeface="JetBrains Mono ExtraBold"/>
              </a:rPr>
              <a:t>CONTRIBUTION 1</a:t>
            </a:r>
            <a:endParaRPr/>
          </a:p>
        </p:txBody>
      </p:sp>
      <p:sp>
        <p:nvSpPr>
          <p:cNvPr id="623" name="Google Shape;623;p29"/>
          <p:cNvSpPr txBox="1"/>
          <p:nvPr/>
        </p:nvSpPr>
        <p:spPr>
          <a:xfrm>
            <a:off x="581025" y="1411485"/>
            <a:ext cx="3397150" cy="184546"/>
          </a:xfrm>
          <a:prstGeom prst="rect">
            <a:avLst/>
          </a:prstGeom>
          <a:noFill/>
          <a:ln>
            <a:noFill/>
          </a:ln>
        </p:spPr>
        <p:txBody>
          <a:bodyPr anchorCtr="0" anchor="t" bIns="0" lIns="0" spcFirstLastPara="1" rIns="0" wrap="square" tIns="0">
            <a:spAutoFit/>
          </a:bodyPr>
          <a:lstStyle/>
          <a:p>
            <a:pPr indent="0" lvl="0" marL="0" marR="0" rtl="0" algn="l">
              <a:lnSpc>
                <a:spcPct val="155069"/>
              </a:lnSpc>
              <a:spcBef>
                <a:spcPts val="0"/>
              </a:spcBef>
              <a:spcAft>
                <a:spcPts val="0"/>
              </a:spcAft>
              <a:buNone/>
            </a:pPr>
            <a:r>
              <a:rPr b="1" i="0" lang="en-US" sz="937" u="none" cap="none" strike="noStrike">
                <a:solidFill>
                  <a:srgbClr val="0369A1"/>
                </a:solidFill>
                <a:latin typeface="Noto Sans SC"/>
                <a:ea typeface="Noto Sans SC"/>
                <a:cs typeface="Noto Sans SC"/>
                <a:sym typeface="Noto Sans SC"/>
              </a:rPr>
              <a:t>重构阈值</a:t>
            </a:r>
            <a:endParaRPr/>
          </a:p>
        </p:txBody>
      </p:sp>
      <p:sp>
        <p:nvSpPr>
          <p:cNvPr id="624" name="Google Shape;624;p29"/>
          <p:cNvSpPr txBox="1"/>
          <p:nvPr/>
        </p:nvSpPr>
        <p:spPr>
          <a:xfrm>
            <a:off x="581025" y="1615082"/>
            <a:ext cx="33971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识别AI引发的城市水系统代谢结构非线性重构阈值。</a:t>
            </a:r>
            <a:endParaRPr/>
          </a:p>
        </p:txBody>
      </p:sp>
      <p:sp>
        <p:nvSpPr>
          <p:cNvPr id="625" name="Google Shape;625;p29"/>
          <p:cNvSpPr txBox="1"/>
          <p:nvPr/>
        </p:nvSpPr>
        <p:spPr>
          <a:xfrm>
            <a:off x="4397275" y="1297185"/>
            <a:ext cx="3397299" cy="95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12" u="none" cap="none" strike="noStrike">
                <a:solidFill>
                  <a:srgbClr val="0284C7"/>
                </a:solidFill>
                <a:latin typeface="JetBrains Mono ExtraBold"/>
                <a:ea typeface="JetBrains Mono ExtraBold"/>
                <a:cs typeface="JetBrains Mono ExtraBold"/>
                <a:sym typeface="JetBrains Mono ExtraBold"/>
              </a:rPr>
              <a:t>CONTRIBUTION 2</a:t>
            </a:r>
            <a:endParaRPr/>
          </a:p>
        </p:txBody>
      </p:sp>
      <p:sp>
        <p:nvSpPr>
          <p:cNvPr id="626" name="Google Shape;626;p29"/>
          <p:cNvSpPr txBox="1"/>
          <p:nvPr/>
        </p:nvSpPr>
        <p:spPr>
          <a:xfrm>
            <a:off x="4397275" y="1411485"/>
            <a:ext cx="3397299" cy="184546"/>
          </a:xfrm>
          <a:prstGeom prst="rect">
            <a:avLst/>
          </a:prstGeom>
          <a:noFill/>
          <a:ln>
            <a:noFill/>
          </a:ln>
        </p:spPr>
        <p:txBody>
          <a:bodyPr anchorCtr="0" anchor="t" bIns="0" lIns="0" spcFirstLastPara="1" rIns="0" wrap="square" tIns="0">
            <a:spAutoFit/>
          </a:bodyPr>
          <a:lstStyle/>
          <a:p>
            <a:pPr indent="0" lvl="0" marL="0" marR="0" rtl="0" algn="l">
              <a:lnSpc>
                <a:spcPct val="155069"/>
              </a:lnSpc>
              <a:spcBef>
                <a:spcPts val="0"/>
              </a:spcBef>
              <a:spcAft>
                <a:spcPts val="0"/>
              </a:spcAft>
              <a:buNone/>
            </a:pPr>
            <a:r>
              <a:rPr b="1" i="0" lang="en-US" sz="937" u="none" cap="none" strike="noStrike">
                <a:solidFill>
                  <a:srgbClr val="0369A1"/>
                </a:solidFill>
                <a:latin typeface="Noto Sans SC"/>
                <a:ea typeface="Noto Sans SC"/>
                <a:cs typeface="Noto Sans SC"/>
                <a:sym typeface="Noto Sans SC"/>
              </a:rPr>
              <a:t>边界提前</a:t>
            </a:r>
            <a:endParaRPr/>
          </a:p>
        </p:txBody>
      </p:sp>
      <p:sp>
        <p:nvSpPr>
          <p:cNvPr id="627" name="Google Shape;627;p29"/>
          <p:cNvSpPr txBox="1"/>
          <p:nvPr/>
        </p:nvSpPr>
        <p:spPr>
          <a:xfrm>
            <a:off x="4397275" y="1615082"/>
            <a:ext cx="3397299"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阐明峰值同步与多时间尺度下动态边界提前机制。</a:t>
            </a:r>
            <a:endParaRPr/>
          </a:p>
        </p:txBody>
      </p:sp>
      <p:sp>
        <p:nvSpPr>
          <p:cNvPr id="628" name="Google Shape;628;p29"/>
          <p:cNvSpPr txBox="1"/>
          <p:nvPr/>
        </p:nvSpPr>
        <p:spPr>
          <a:xfrm>
            <a:off x="8213675" y="1297185"/>
            <a:ext cx="3397150" cy="952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712" u="none" cap="none" strike="noStrike">
                <a:solidFill>
                  <a:srgbClr val="0284C7"/>
                </a:solidFill>
                <a:latin typeface="JetBrains Mono ExtraBold"/>
                <a:ea typeface="JetBrains Mono ExtraBold"/>
                <a:cs typeface="JetBrains Mono ExtraBold"/>
                <a:sym typeface="JetBrains Mono ExtraBold"/>
              </a:rPr>
              <a:t>CONTRIBUTION 3</a:t>
            </a:r>
            <a:endParaRPr/>
          </a:p>
        </p:txBody>
      </p:sp>
      <p:sp>
        <p:nvSpPr>
          <p:cNvPr id="629" name="Google Shape;629;p29"/>
          <p:cNvSpPr txBox="1"/>
          <p:nvPr/>
        </p:nvSpPr>
        <p:spPr>
          <a:xfrm>
            <a:off x="8213675" y="1411485"/>
            <a:ext cx="3397150" cy="184546"/>
          </a:xfrm>
          <a:prstGeom prst="rect">
            <a:avLst/>
          </a:prstGeom>
          <a:noFill/>
          <a:ln>
            <a:noFill/>
          </a:ln>
        </p:spPr>
        <p:txBody>
          <a:bodyPr anchorCtr="0" anchor="t" bIns="0" lIns="0" spcFirstLastPara="1" rIns="0" wrap="square" tIns="0">
            <a:spAutoFit/>
          </a:bodyPr>
          <a:lstStyle/>
          <a:p>
            <a:pPr indent="0" lvl="0" marL="0" marR="0" rtl="0" algn="l">
              <a:lnSpc>
                <a:spcPct val="155069"/>
              </a:lnSpc>
              <a:spcBef>
                <a:spcPts val="0"/>
              </a:spcBef>
              <a:spcAft>
                <a:spcPts val="0"/>
              </a:spcAft>
              <a:buNone/>
            </a:pPr>
            <a:r>
              <a:rPr b="1" i="0" lang="en-US" sz="937" u="none" cap="none" strike="noStrike">
                <a:solidFill>
                  <a:srgbClr val="0369A1"/>
                </a:solidFill>
                <a:latin typeface="Noto Sans SC"/>
                <a:ea typeface="Noto Sans SC"/>
                <a:cs typeface="Noto Sans SC"/>
                <a:sym typeface="Noto Sans SC"/>
              </a:rPr>
              <a:t>瓶颈转换</a:t>
            </a:r>
            <a:endParaRPr/>
          </a:p>
        </p:txBody>
      </p:sp>
      <p:sp>
        <p:nvSpPr>
          <p:cNvPr id="630" name="Google Shape;630;p29"/>
          <p:cNvSpPr txBox="1"/>
          <p:nvPr/>
        </p:nvSpPr>
        <p:spPr>
          <a:xfrm>
            <a:off x="8213675" y="1615082"/>
            <a:ext cx="33971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揭示多约束可行域中的瓶颈状态转移与干预转折。</a:t>
            </a:r>
            <a:endParaRPr/>
          </a:p>
        </p:txBody>
      </p:sp>
      <p:sp>
        <p:nvSpPr>
          <p:cNvPr id="631" name="Google Shape;631;p29"/>
          <p:cNvSpPr txBox="1"/>
          <p:nvPr/>
        </p:nvSpPr>
        <p:spPr>
          <a:xfrm>
            <a:off x="581025" y="2339429"/>
            <a:ext cx="8120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475569"/>
                </a:solidFill>
                <a:latin typeface="Noto Sans SC"/>
                <a:ea typeface="Noto Sans SC"/>
                <a:cs typeface="Noto Sans SC"/>
                <a:sym typeface="Noto Sans SC"/>
              </a:rPr>
              <a:t>Ⅰ. 最小闭环</a:t>
            </a:r>
            <a:br>
              <a:rPr b="0" i="0" lang="en-US" sz="1800" u="none" cap="none" strike="noStrike">
                <a:solidFill>
                  <a:schemeClr val="dk1"/>
                </a:solidFill>
                <a:latin typeface="Calibri"/>
                <a:ea typeface="Calibri"/>
                <a:cs typeface="Calibri"/>
                <a:sym typeface="Calibri"/>
              </a:rPr>
            </a:br>
            <a:r>
              <a:rPr b="0" i="0" lang="en-US" sz="787" u="none" cap="none" strike="noStrike">
                <a:solidFill>
                  <a:srgbClr val="475569"/>
                </a:solidFill>
                <a:latin typeface="Noto Sans SC"/>
                <a:ea typeface="Noto Sans SC"/>
                <a:cs typeface="Noto Sans SC"/>
                <a:sym typeface="Noto Sans SC"/>
              </a:rPr>
              <a:t> 2026.09 - 2027.06</a:t>
            </a:r>
            <a:endParaRPr/>
          </a:p>
        </p:txBody>
      </p:sp>
      <p:sp>
        <p:nvSpPr>
          <p:cNvPr id="632" name="Google Shape;632;p29"/>
          <p:cNvSpPr txBox="1"/>
          <p:nvPr/>
        </p:nvSpPr>
        <p:spPr>
          <a:xfrm>
            <a:off x="2214264" y="2339429"/>
            <a:ext cx="10001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0284C7"/>
                </a:solidFill>
                <a:latin typeface="Noto Sans SC"/>
                <a:ea typeface="Noto Sans SC"/>
                <a:cs typeface="Noto Sans SC"/>
                <a:sym typeface="Noto Sans SC"/>
              </a:rPr>
              <a:t>→</a:t>
            </a:r>
            <a:endParaRPr/>
          </a:p>
        </p:txBody>
      </p:sp>
      <p:sp>
        <p:nvSpPr>
          <p:cNvPr id="633" name="Google Shape;633;p29"/>
          <p:cNvSpPr txBox="1"/>
          <p:nvPr/>
        </p:nvSpPr>
        <p:spPr>
          <a:xfrm>
            <a:off x="3135510" y="2339429"/>
            <a:ext cx="8120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475569"/>
                </a:solidFill>
                <a:latin typeface="Noto Sans SC"/>
                <a:ea typeface="Noto Sans SC"/>
                <a:cs typeface="Noto Sans SC"/>
                <a:sym typeface="Noto Sans SC"/>
              </a:rPr>
              <a:t>Ⅱ. 深度案例</a:t>
            </a:r>
            <a:br>
              <a:rPr b="0" i="0" lang="en-US" sz="1800" u="none" cap="none" strike="noStrike">
                <a:solidFill>
                  <a:schemeClr val="dk1"/>
                </a:solidFill>
                <a:latin typeface="Calibri"/>
                <a:ea typeface="Calibri"/>
                <a:cs typeface="Calibri"/>
                <a:sym typeface="Calibri"/>
              </a:rPr>
            </a:br>
            <a:r>
              <a:rPr b="0" i="0" lang="en-US" sz="787" u="none" cap="none" strike="noStrike">
                <a:solidFill>
                  <a:srgbClr val="475569"/>
                </a:solidFill>
                <a:latin typeface="Noto Sans SC"/>
                <a:ea typeface="Noto Sans SC"/>
                <a:cs typeface="Noto Sans SC"/>
                <a:sym typeface="Noto Sans SC"/>
              </a:rPr>
              <a:t> 2027.07 - 2028.03</a:t>
            </a:r>
            <a:endParaRPr/>
          </a:p>
        </p:txBody>
      </p:sp>
      <p:sp>
        <p:nvSpPr>
          <p:cNvPr id="634" name="Google Shape;634;p29"/>
          <p:cNvSpPr txBox="1"/>
          <p:nvPr/>
        </p:nvSpPr>
        <p:spPr>
          <a:xfrm>
            <a:off x="4768750" y="2339429"/>
            <a:ext cx="10001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0284C7"/>
                </a:solidFill>
                <a:latin typeface="Noto Sans SC"/>
                <a:ea typeface="Noto Sans SC"/>
                <a:cs typeface="Noto Sans SC"/>
                <a:sym typeface="Noto Sans SC"/>
              </a:rPr>
              <a:t>→</a:t>
            </a:r>
            <a:endParaRPr/>
          </a:p>
        </p:txBody>
      </p:sp>
      <p:sp>
        <p:nvSpPr>
          <p:cNvPr id="635" name="Google Shape;635;p29"/>
          <p:cNvSpPr txBox="1"/>
          <p:nvPr/>
        </p:nvSpPr>
        <p:spPr>
          <a:xfrm>
            <a:off x="5689996" y="2339429"/>
            <a:ext cx="8120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475569"/>
                </a:solidFill>
                <a:latin typeface="Noto Sans SC"/>
                <a:ea typeface="Noto Sans SC"/>
                <a:cs typeface="Noto Sans SC"/>
                <a:sym typeface="Noto Sans SC"/>
              </a:rPr>
              <a:t>Ⅲ. 时间边界</a:t>
            </a:r>
            <a:br>
              <a:rPr b="0" i="0" lang="en-US" sz="1800" u="none" cap="none" strike="noStrike">
                <a:solidFill>
                  <a:schemeClr val="dk1"/>
                </a:solidFill>
                <a:latin typeface="Calibri"/>
                <a:ea typeface="Calibri"/>
                <a:cs typeface="Calibri"/>
                <a:sym typeface="Calibri"/>
              </a:rPr>
            </a:br>
            <a:r>
              <a:rPr b="0" i="0" lang="en-US" sz="787" u="none" cap="none" strike="noStrike">
                <a:solidFill>
                  <a:srgbClr val="475569"/>
                </a:solidFill>
                <a:latin typeface="Noto Sans SC"/>
                <a:ea typeface="Noto Sans SC"/>
                <a:cs typeface="Noto Sans SC"/>
                <a:sym typeface="Noto Sans SC"/>
              </a:rPr>
              <a:t> 2028.04 - 2028.12</a:t>
            </a:r>
            <a:endParaRPr/>
          </a:p>
        </p:txBody>
      </p:sp>
      <p:sp>
        <p:nvSpPr>
          <p:cNvPr id="636" name="Google Shape;636;p29"/>
          <p:cNvSpPr txBox="1"/>
          <p:nvPr/>
        </p:nvSpPr>
        <p:spPr>
          <a:xfrm>
            <a:off x="7323236" y="2339429"/>
            <a:ext cx="10001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0284C7"/>
                </a:solidFill>
                <a:latin typeface="Noto Sans SC"/>
                <a:ea typeface="Noto Sans SC"/>
                <a:cs typeface="Noto Sans SC"/>
                <a:sym typeface="Noto Sans SC"/>
              </a:rPr>
              <a:t>→</a:t>
            </a:r>
            <a:endParaRPr/>
          </a:p>
        </p:txBody>
      </p:sp>
      <p:sp>
        <p:nvSpPr>
          <p:cNvPr id="637" name="Google Shape;637;p29"/>
          <p:cNvSpPr txBox="1"/>
          <p:nvPr/>
        </p:nvSpPr>
        <p:spPr>
          <a:xfrm>
            <a:off x="8244482" y="2339429"/>
            <a:ext cx="8120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475569"/>
                </a:solidFill>
                <a:latin typeface="Noto Sans SC"/>
                <a:ea typeface="Noto Sans SC"/>
                <a:cs typeface="Noto Sans SC"/>
                <a:sym typeface="Noto Sans SC"/>
              </a:rPr>
              <a:t>Ⅳ. 瓶颈相图</a:t>
            </a:r>
            <a:br>
              <a:rPr b="0" i="0" lang="en-US" sz="1800" u="none" cap="none" strike="noStrike">
                <a:solidFill>
                  <a:schemeClr val="dk1"/>
                </a:solidFill>
                <a:latin typeface="Calibri"/>
                <a:ea typeface="Calibri"/>
                <a:cs typeface="Calibri"/>
                <a:sym typeface="Calibri"/>
              </a:rPr>
            </a:br>
            <a:r>
              <a:rPr b="0" i="0" lang="en-US" sz="787" u="none" cap="none" strike="noStrike">
                <a:solidFill>
                  <a:srgbClr val="475569"/>
                </a:solidFill>
                <a:latin typeface="Noto Sans SC"/>
                <a:ea typeface="Noto Sans SC"/>
                <a:cs typeface="Noto Sans SC"/>
                <a:sym typeface="Noto Sans SC"/>
              </a:rPr>
              <a:t> 2029.01 - 2029.09</a:t>
            </a:r>
            <a:endParaRPr/>
          </a:p>
        </p:txBody>
      </p:sp>
      <p:sp>
        <p:nvSpPr>
          <p:cNvPr id="638" name="Google Shape;638;p29"/>
          <p:cNvSpPr txBox="1"/>
          <p:nvPr/>
        </p:nvSpPr>
        <p:spPr>
          <a:xfrm>
            <a:off x="9877722" y="2339429"/>
            <a:ext cx="100012"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787" u="none" cap="none" strike="noStrike">
                <a:solidFill>
                  <a:srgbClr val="0284C7"/>
                </a:solidFill>
                <a:latin typeface="Noto Sans SC"/>
                <a:ea typeface="Noto Sans SC"/>
                <a:cs typeface="Noto Sans SC"/>
                <a:sym typeface="Noto Sans SC"/>
              </a:rPr>
              <a:t>→</a:t>
            </a:r>
            <a:endParaRPr/>
          </a:p>
        </p:txBody>
      </p:sp>
      <p:sp>
        <p:nvSpPr>
          <p:cNvPr id="639" name="Google Shape;639;p29"/>
          <p:cNvSpPr txBox="1"/>
          <p:nvPr/>
        </p:nvSpPr>
        <p:spPr>
          <a:xfrm>
            <a:off x="10798968" y="2339429"/>
            <a:ext cx="812006"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87" u="none" cap="none" strike="noStrike">
                <a:solidFill>
                  <a:srgbClr val="475569"/>
                </a:solidFill>
                <a:latin typeface="Noto Sans SC"/>
                <a:ea typeface="Noto Sans SC"/>
                <a:cs typeface="Noto Sans SC"/>
                <a:sym typeface="Noto Sans SC"/>
              </a:rPr>
              <a:t>Ⅴ. 论文整合</a:t>
            </a:r>
            <a:br>
              <a:rPr b="0" i="0" lang="en-US" sz="1800" u="none" cap="none" strike="noStrike">
                <a:solidFill>
                  <a:schemeClr val="dk1"/>
                </a:solidFill>
                <a:latin typeface="Calibri"/>
                <a:ea typeface="Calibri"/>
                <a:cs typeface="Calibri"/>
                <a:sym typeface="Calibri"/>
              </a:rPr>
            </a:br>
            <a:r>
              <a:rPr b="0" i="0" lang="en-US" sz="787" u="none" cap="none" strike="noStrike">
                <a:solidFill>
                  <a:srgbClr val="475569"/>
                </a:solidFill>
                <a:latin typeface="Noto Sans SC"/>
                <a:ea typeface="Noto Sans SC"/>
                <a:cs typeface="Noto Sans SC"/>
                <a:sym typeface="Noto Sans SC"/>
              </a:rPr>
              <a:t> 2029.10 - 2030.06</a:t>
            </a:r>
            <a:endParaRPr/>
          </a:p>
        </p:txBody>
      </p:sp>
      <p:sp>
        <p:nvSpPr>
          <p:cNvPr id="640" name="Google Shape;640;p29"/>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三条预期科学贡献与五阶段研究计划</a:t>
            </a:r>
            <a:endParaRPr/>
          </a:p>
        </p:txBody>
      </p:sp>
      <p:sp>
        <p:nvSpPr>
          <p:cNvPr id="641" name="Google Shape;641;p29"/>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2" name="Rounded Rectangle 641"/>
          <p:cNvSpPr/>
          <p:nvPr/>
        </p:nvSpPr>
        <p:spPr>
          <a:xfrm>
            <a:off x="658368" y="3520440"/>
            <a:ext cx="9646920" cy="1097280"/>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TextBox 642"/>
          <p:cNvSpPr txBox="1"/>
          <p:nvPr/>
        </p:nvSpPr>
        <p:spPr>
          <a:xfrm>
            <a:off x="896112" y="3749039"/>
            <a:ext cx="1325880" cy="219456"/>
          </a:xfrm>
          <a:prstGeom prst="rect">
            <a:avLst/>
          </a:prstGeom>
          <a:noFill/>
        </p:spPr>
        <p:txBody>
          <a:bodyPr wrap="square" lIns="0" rIns="0" tIns="0" bIns="0" anchor="t">
            <a:spAutoFit/>
          </a:bodyPr>
          <a:lstStyle/>
          <a:p>
            <a:pPr algn="l"/>
            <a:r>
              <a:rPr sz="1500" b="1" i="0">
                <a:solidFill>
                  <a:srgbClr val="172B4D"/>
                </a:solidFill>
                <a:latin typeface="Microsoft YaHei"/>
              </a:rPr>
              <a:t>答辩评价落点</a:t>
            </a:r>
          </a:p>
        </p:txBody>
      </p:sp>
      <p:sp>
        <p:nvSpPr>
          <p:cNvPr id="644" name="TextBox 643"/>
          <p:cNvSpPr txBox="1"/>
          <p:nvPr/>
        </p:nvSpPr>
        <p:spPr>
          <a:xfrm>
            <a:off x="2331720" y="3685032"/>
            <a:ext cx="2148840" cy="219456"/>
          </a:xfrm>
          <a:prstGeom prst="rect">
            <a:avLst/>
          </a:prstGeom>
          <a:noFill/>
        </p:spPr>
        <p:txBody>
          <a:bodyPr wrap="square" lIns="0" rIns="0" tIns="0" bIns="0" anchor="t">
            <a:spAutoFit/>
          </a:bodyPr>
          <a:lstStyle/>
          <a:p>
            <a:pPr algn="l"/>
            <a:r>
              <a:rPr sz="1300" b="1" i="0">
                <a:solidFill>
                  <a:srgbClr val="2388C9"/>
                </a:solidFill>
                <a:latin typeface="Microsoft YaHei"/>
              </a:rPr>
              <a:t>选题先进性与学位适配</a:t>
            </a:r>
          </a:p>
        </p:txBody>
      </p:sp>
      <p:sp>
        <p:nvSpPr>
          <p:cNvPr id="645" name="TextBox 644"/>
          <p:cNvSpPr txBox="1"/>
          <p:nvPr/>
        </p:nvSpPr>
        <p:spPr>
          <a:xfrm>
            <a:off x="4590288" y="3685032"/>
            <a:ext cx="1965960" cy="219456"/>
          </a:xfrm>
          <a:prstGeom prst="rect">
            <a:avLst/>
          </a:prstGeom>
          <a:noFill/>
        </p:spPr>
        <p:txBody>
          <a:bodyPr wrap="square" lIns="0" rIns="0" tIns="0" bIns="0" anchor="t">
            <a:spAutoFit/>
          </a:bodyPr>
          <a:lstStyle/>
          <a:p>
            <a:pPr algn="l"/>
            <a:r>
              <a:rPr sz="1300" b="1" i="0">
                <a:solidFill>
                  <a:srgbClr val="1BA6A6"/>
                </a:solidFill>
                <a:latin typeface="Microsoft YaHei"/>
              </a:rPr>
              <a:t>文献缺口与科学问题</a:t>
            </a:r>
          </a:p>
        </p:txBody>
      </p:sp>
      <p:sp>
        <p:nvSpPr>
          <p:cNvPr id="646" name="TextBox 645"/>
          <p:cNvSpPr txBox="1"/>
          <p:nvPr/>
        </p:nvSpPr>
        <p:spPr>
          <a:xfrm>
            <a:off x="6675120" y="3685032"/>
            <a:ext cx="2514600" cy="219456"/>
          </a:xfrm>
          <a:prstGeom prst="rect">
            <a:avLst/>
          </a:prstGeom>
          <a:noFill/>
        </p:spPr>
        <p:txBody>
          <a:bodyPr wrap="square" lIns="0" rIns="0" tIns="0" bIns="0" anchor="t">
            <a:spAutoFit/>
          </a:bodyPr>
          <a:lstStyle/>
          <a:p>
            <a:pPr algn="l"/>
            <a:r>
              <a:rPr sz="1300" b="1" i="0">
                <a:solidFill>
                  <a:srgbClr val="C9973E"/>
                </a:solidFill>
                <a:latin typeface="Microsoft YaHei"/>
              </a:rPr>
              <a:t>研究方案、前期工作与进度</a:t>
            </a:r>
          </a:p>
        </p:txBody>
      </p:sp>
      <p:sp>
        <p:nvSpPr>
          <p:cNvPr id="647" name="TextBox 646"/>
          <p:cNvSpPr txBox="1"/>
          <p:nvPr/>
        </p:nvSpPr>
        <p:spPr>
          <a:xfrm>
            <a:off x="2331720" y="4078224"/>
            <a:ext cx="6720840" cy="228600"/>
          </a:xfrm>
          <a:prstGeom prst="rect">
            <a:avLst/>
          </a:prstGeom>
          <a:noFill/>
        </p:spPr>
        <p:txBody>
          <a:bodyPr wrap="square" lIns="0" rIns="0" tIns="0" bIns="0" anchor="t">
            <a:spAutoFit/>
          </a:bodyPr>
          <a:lstStyle/>
          <a:p>
            <a:pPr algn="l"/>
            <a:r>
              <a:rPr sz="1200" b="0" i="0">
                <a:solidFill>
                  <a:srgbClr val="53657A"/>
                </a:solidFill>
                <a:latin typeface="Microsoft YaHei"/>
              </a:rPr>
              <a:t>每一项均落到可计算变量、可复现实验或阶段性交付物。</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5" name="Shape 645"/>
        <p:cNvGrpSpPr/>
        <p:nvPr/>
      </p:nvGrpSpPr>
      <p:grpSpPr>
        <a:xfrm>
          <a:off x="0" y="0"/>
          <a:ext cx="0" cy="0"/>
          <a:chOff x="0" y="0"/>
          <a:chExt cx="0" cy="0"/>
        </a:xfrm>
      </p:grpSpPr>
      <p:pic>
        <p:nvPicPr>
          <p:cNvPr descr="image.png" id="646" name="Google Shape;646;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47" name="Google Shape;647;p30"/>
          <p:cNvPicPr preferRelativeResize="0"/>
          <p:nvPr/>
        </p:nvPicPr>
        <p:blipFill rotWithShape="1">
          <a:blip r:embed="rId4">
            <a:alphaModFix/>
          </a:blip>
          <a:srcRect b="0" l="0" r="0" t="0"/>
          <a:stretch/>
        </p:blipFill>
        <p:spPr>
          <a:xfrm>
            <a:off x="438150" y="1192410"/>
            <a:ext cx="11315700" cy="963810"/>
          </a:xfrm>
          <a:prstGeom prst="rect">
            <a:avLst/>
          </a:prstGeom>
          <a:noFill/>
          <a:ln>
            <a:noFill/>
          </a:ln>
        </p:spPr>
      </p:pic>
      <p:pic>
        <p:nvPicPr>
          <p:cNvPr descr="image.png" id="648" name="Google Shape;648;p30"/>
          <p:cNvPicPr preferRelativeResize="0"/>
          <p:nvPr/>
        </p:nvPicPr>
        <p:blipFill rotWithShape="1">
          <a:blip r:embed="rId5">
            <a:alphaModFix/>
          </a:blip>
          <a:srcRect b="0" l="0" r="0" t="0"/>
          <a:stretch/>
        </p:blipFill>
        <p:spPr>
          <a:xfrm>
            <a:off x="438150" y="2289571"/>
            <a:ext cx="3682900" cy="739080"/>
          </a:xfrm>
          <a:prstGeom prst="rect">
            <a:avLst/>
          </a:prstGeom>
          <a:noFill/>
          <a:ln>
            <a:noFill/>
          </a:ln>
        </p:spPr>
      </p:pic>
      <p:pic>
        <p:nvPicPr>
          <p:cNvPr descr="image.png" id="649" name="Google Shape;649;p30"/>
          <p:cNvPicPr preferRelativeResize="0"/>
          <p:nvPr/>
        </p:nvPicPr>
        <p:blipFill rotWithShape="1">
          <a:blip r:embed="rId6">
            <a:alphaModFix/>
          </a:blip>
          <a:srcRect b="0" l="0" r="0" t="0"/>
          <a:stretch/>
        </p:blipFill>
        <p:spPr>
          <a:xfrm>
            <a:off x="4254400" y="2289571"/>
            <a:ext cx="3683049" cy="739080"/>
          </a:xfrm>
          <a:prstGeom prst="rect">
            <a:avLst/>
          </a:prstGeom>
          <a:noFill/>
          <a:ln>
            <a:noFill/>
          </a:ln>
        </p:spPr>
      </p:pic>
      <p:pic>
        <p:nvPicPr>
          <p:cNvPr descr="image.png" id="650" name="Google Shape;650;p30"/>
          <p:cNvPicPr preferRelativeResize="0"/>
          <p:nvPr/>
        </p:nvPicPr>
        <p:blipFill rotWithShape="1">
          <a:blip r:embed="rId7">
            <a:alphaModFix/>
          </a:blip>
          <a:srcRect b="0" l="0" r="0" t="0"/>
          <a:stretch/>
        </p:blipFill>
        <p:spPr>
          <a:xfrm>
            <a:off x="8070800" y="2289571"/>
            <a:ext cx="3682900" cy="739080"/>
          </a:xfrm>
          <a:prstGeom prst="rect">
            <a:avLst/>
          </a:prstGeom>
          <a:noFill/>
          <a:ln>
            <a:noFill/>
          </a:ln>
        </p:spPr>
      </p:pic>
      <p:pic>
        <p:nvPicPr>
          <p:cNvPr descr="image.png" id="651" name="Google Shape;651;p30"/>
          <p:cNvPicPr preferRelativeResize="0"/>
          <p:nvPr/>
        </p:nvPicPr>
        <p:blipFill rotWithShape="1">
          <a:blip r:embed="rId8">
            <a:alphaModFix/>
          </a:blip>
          <a:srcRect b="0" l="0" r="0" t="0"/>
          <a:stretch/>
        </p:blipFill>
        <p:spPr>
          <a:xfrm>
            <a:off x="438150" y="6515100"/>
            <a:ext cx="11315700" cy="228600"/>
          </a:xfrm>
          <a:prstGeom prst="rect">
            <a:avLst/>
          </a:prstGeom>
          <a:noFill/>
          <a:ln>
            <a:noFill/>
          </a:ln>
        </p:spPr>
      </p:pic>
      <p:pic>
        <p:nvPicPr>
          <p:cNvPr descr="image.png" id="652" name="Google Shape;652;p30"/>
          <p:cNvPicPr preferRelativeResize="0"/>
          <p:nvPr/>
        </p:nvPicPr>
        <p:blipFill rotWithShape="1">
          <a:blip r:embed="rId9">
            <a:alphaModFix/>
          </a:blip>
          <a:srcRect b="0" l="0" r="0" t="0"/>
          <a:stretch/>
        </p:blipFill>
        <p:spPr>
          <a:xfrm>
            <a:off x="11060310" y="328612"/>
            <a:ext cx="693539" cy="180975"/>
          </a:xfrm>
          <a:prstGeom prst="rect">
            <a:avLst/>
          </a:prstGeom>
          <a:noFill/>
          <a:ln>
            <a:noFill/>
          </a:ln>
        </p:spPr>
      </p:pic>
      <p:sp>
        <p:nvSpPr>
          <p:cNvPr id="653" name="Google Shape;653;p30"/>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654" name="Google Shape;654;p30"/>
          <p:cNvSpPr txBox="1"/>
          <p:nvPr/>
        </p:nvSpPr>
        <p:spPr>
          <a:xfrm>
            <a:off x="10389393" y="6615112"/>
            <a:ext cx="1364456"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20 / TAKE-HOME MESSAGE</a:t>
            </a:r>
            <a:endParaRPr/>
          </a:p>
        </p:txBody>
      </p:sp>
      <p:pic>
        <p:nvPicPr>
          <p:cNvPr descr="image.png" id="655" name="Google Shape;655;p30"/>
          <p:cNvPicPr preferRelativeResize="0"/>
          <p:nvPr/>
        </p:nvPicPr>
        <p:blipFill rotWithShape="1">
          <a:blip r:embed="rId10">
            <a:alphaModFix/>
          </a:blip>
          <a:srcRect b="0" l="0" r="0" t="0"/>
          <a:stretch/>
        </p:blipFill>
        <p:spPr>
          <a:xfrm>
            <a:off x="438150" y="323850"/>
            <a:ext cx="1973758" cy="190500"/>
          </a:xfrm>
          <a:prstGeom prst="rect">
            <a:avLst/>
          </a:prstGeom>
          <a:noFill/>
          <a:ln>
            <a:noFill/>
          </a:ln>
        </p:spPr>
      </p:pic>
      <p:sp>
        <p:nvSpPr>
          <p:cNvPr id="656" name="Google Shape;656;p30"/>
          <p:cNvSpPr txBox="1"/>
          <p:nvPr/>
        </p:nvSpPr>
        <p:spPr>
          <a:xfrm>
            <a:off x="823466" y="1344810"/>
            <a:ext cx="11276878" cy="17145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8BDF8"/>
                </a:solidFill>
                <a:latin typeface="Noto Sans SC"/>
                <a:ea typeface="Noto Sans SC"/>
                <a:cs typeface="Noto Sans SC"/>
                <a:sym typeface="Noto Sans SC"/>
              </a:rPr>
              <a:t>Take-home Core Insight</a:t>
            </a:r>
            <a:endParaRPr/>
          </a:p>
        </p:txBody>
      </p:sp>
      <p:sp>
        <p:nvSpPr>
          <p:cNvPr id="657" name="Google Shape;657;p30"/>
          <p:cNvSpPr txBox="1"/>
          <p:nvPr/>
        </p:nvSpPr>
        <p:spPr>
          <a:xfrm>
            <a:off x="628650" y="1592460"/>
            <a:ext cx="10934700" cy="411360"/>
          </a:xfrm>
          <a:prstGeom prst="rect">
            <a:avLst/>
          </a:prstGeom>
          <a:noFill/>
          <a:ln>
            <a:noFill/>
          </a:ln>
        </p:spPr>
        <p:txBody>
          <a:bodyPr anchorCtr="0" anchor="t" bIns="0" lIns="0" spcFirstLastPara="1" rIns="0" wrap="square" tIns="0">
            <a:spAutoFit/>
          </a:bodyPr>
          <a:lstStyle/>
          <a:p>
            <a:pPr indent="0" lvl="0" marL="0" marR="0" rtl="0" algn="l">
              <a:lnSpc>
                <a:spcPct val="160079"/>
              </a:lnSpc>
              <a:spcBef>
                <a:spcPts val="0"/>
              </a:spcBef>
              <a:spcAft>
                <a:spcPts val="0"/>
              </a:spcAft>
              <a:buNone/>
            </a:pPr>
            <a:r>
              <a:rPr b="0" i="0" lang="en-US" sz="1012" u="none" cap="none" strike="noStrike">
                <a:solidFill>
                  <a:srgbClr val="F8FAFC"/>
                </a:solidFill>
                <a:latin typeface="Noto Sans SC"/>
                <a:ea typeface="Noto Sans SC"/>
                <a:cs typeface="Noto Sans SC"/>
                <a:sym typeface="Noto Sans SC"/>
              </a:rPr>
              <a:t>AI城市水风险由</a:t>
            </a:r>
            <a:r>
              <a:rPr b="1" i="0" lang="en-US" sz="1012" u="none" cap="none" strike="noStrike">
                <a:solidFill>
                  <a:srgbClr val="F8FAFC"/>
                </a:solidFill>
                <a:latin typeface="Noto Sans SC"/>
                <a:ea typeface="Noto Sans SC"/>
                <a:cs typeface="Noto Sans SC"/>
                <a:sym typeface="Noto Sans SC"/>
              </a:rPr>
              <a:t>相对负荷</a:t>
            </a:r>
            <a:r>
              <a:rPr b="0" i="0" lang="en-US" sz="1012" u="none" cap="none" strike="noStrike">
                <a:solidFill>
                  <a:srgbClr val="F8FAFC"/>
                </a:solidFill>
                <a:latin typeface="Noto Sans SC"/>
                <a:ea typeface="Noto Sans SC"/>
                <a:cs typeface="Noto Sans SC"/>
                <a:sym typeface="Noto Sans SC"/>
              </a:rPr>
              <a:t>、</a:t>
            </a:r>
            <a:r>
              <a:rPr b="1" i="0" lang="en-US" sz="1012" u="none" cap="none" strike="noStrike">
                <a:solidFill>
                  <a:srgbClr val="F8FAFC"/>
                </a:solidFill>
                <a:latin typeface="Noto Sans SC"/>
                <a:ea typeface="Noto Sans SC"/>
                <a:cs typeface="Noto Sans SC"/>
                <a:sym typeface="Noto Sans SC"/>
              </a:rPr>
              <a:t>峰值同步</a:t>
            </a:r>
            <a:r>
              <a:rPr b="0" i="0" lang="en-US" sz="1012" u="none" cap="none" strike="noStrike">
                <a:solidFill>
                  <a:srgbClr val="F8FAFC"/>
                </a:solidFill>
                <a:latin typeface="Noto Sans SC"/>
                <a:ea typeface="Noto Sans SC"/>
                <a:cs typeface="Noto Sans SC"/>
                <a:sym typeface="Noto Sans SC"/>
              </a:rPr>
              <a:t>和</a:t>
            </a:r>
            <a:r>
              <a:rPr b="1" i="0" lang="en-US" sz="1012" u="none" cap="none" strike="noStrike">
                <a:solidFill>
                  <a:srgbClr val="F8FAFC"/>
                </a:solidFill>
                <a:latin typeface="Noto Sans SC"/>
                <a:ea typeface="Noto Sans SC"/>
                <a:cs typeface="Noto Sans SC"/>
                <a:sym typeface="Noto Sans SC"/>
              </a:rPr>
              <a:t>系统裕度</a:t>
            </a:r>
            <a:r>
              <a:rPr b="0" i="0" lang="en-US" sz="1012" u="none" cap="none" strike="noStrike">
                <a:solidFill>
                  <a:srgbClr val="F8FAFC"/>
                </a:solidFill>
                <a:latin typeface="Noto Sans SC"/>
                <a:ea typeface="Noto Sans SC"/>
                <a:cs typeface="Noto Sans SC"/>
                <a:sym typeface="Noto Sans SC"/>
              </a:rPr>
              <a:t>共同控制；系统会经历结构重构、边界提前与瓶颈转换。研究最终要解释的是条件化的一般规律：</a:t>
            </a:r>
            <a:r>
              <a:rPr b="1" i="0" lang="en-US" sz="1012" u="none" cap="none" strike="noStrike">
                <a:solidFill>
                  <a:srgbClr val="F8FAFC"/>
                </a:solidFill>
                <a:latin typeface="Noto Sans SC"/>
                <a:ea typeface="Noto Sans SC"/>
                <a:cs typeface="Noto Sans SC"/>
                <a:sym typeface="Noto Sans SC"/>
              </a:rPr>
              <a:t>何时转折、为何提前、由谁控制、干预何时有效</a:t>
            </a:r>
            <a:r>
              <a:rPr b="0" i="0" lang="en-US" sz="1012" u="none" cap="none" strike="noStrike">
                <a:solidFill>
                  <a:srgbClr val="F8FAFC"/>
                </a:solidFill>
                <a:latin typeface="Noto Sans SC"/>
                <a:ea typeface="Noto Sans SC"/>
                <a:cs typeface="Noto Sans SC"/>
                <a:sym typeface="Noto Sans SC"/>
              </a:rPr>
              <a:t>。</a:t>
            </a:r>
            <a:endParaRPr/>
          </a:p>
        </p:txBody>
      </p:sp>
      <p:pic>
        <p:nvPicPr>
          <p:cNvPr descr="image.png" id="658" name="Google Shape;658;p30"/>
          <p:cNvPicPr preferRelativeResize="0"/>
          <p:nvPr/>
        </p:nvPicPr>
        <p:blipFill rotWithShape="1">
          <a:blip r:embed="rId11">
            <a:alphaModFix/>
          </a:blip>
          <a:srcRect b="0" l="0" r="0" t="0"/>
          <a:stretch/>
        </p:blipFill>
        <p:spPr>
          <a:xfrm>
            <a:off x="438150" y="6619875"/>
            <a:ext cx="81557" cy="104775"/>
          </a:xfrm>
          <a:prstGeom prst="rect">
            <a:avLst/>
          </a:prstGeom>
          <a:noFill/>
          <a:ln>
            <a:noFill/>
          </a:ln>
        </p:spPr>
      </p:pic>
      <p:pic>
        <p:nvPicPr>
          <p:cNvPr descr="image.png" id="659" name="Google Shape;659;p30"/>
          <p:cNvPicPr preferRelativeResize="0"/>
          <p:nvPr/>
        </p:nvPicPr>
        <p:blipFill rotWithShape="1">
          <a:blip r:embed="rId12">
            <a:alphaModFix/>
          </a:blip>
          <a:srcRect b="0" l="0" r="0" t="0"/>
          <a:stretch/>
        </p:blipFill>
        <p:spPr>
          <a:xfrm>
            <a:off x="542925" y="364331"/>
            <a:ext cx="92868" cy="109537"/>
          </a:xfrm>
          <a:prstGeom prst="rect">
            <a:avLst/>
          </a:prstGeom>
          <a:noFill/>
          <a:ln>
            <a:noFill/>
          </a:ln>
        </p:spPr>
      </p:pic>
      <p:pic>
        <p:nvPicPr>
          <p:cNvPr descr="image.png" id="660" name="Google Shape;660;p30"/>
          <p:cNvPicPr preferRelativeResize="0"/>
          <p:nvPr/>
        </p:nvPicPr>
        <p:blipFill rotWithShape="1">
          <a:blip r:embed="rId13">
            <a:alphaModFix/>
          </a:blip>
          <a:srcRect b="0" l="0" r="0" t="0"/>
          <a:stretch/>
        </p:blipFill>
        <p:spPr>
          <a:xfrm>
            <a:off x="628650" y="1354335"/>
            <a:ext cx="118616" cy="152400"/>
          </a:xfrm>
          <a:prstGeom prst="rect">
            <a:avLst/>
          </a:prstGeom>
          <a:noFill/>
          <a:ln>
            <a:noFill/>
          </a:ln>
        </p:spPr>
      </p:pic>
      <p:sp>
        <p:nvSpPr>
          <p:cNvPr id="661" name="Google Shape;661;p30"/>
          <p:cNvSpPr txBox="1"/>
          <p:nvPr/>
        </p:nvSpPr>
        <p:spPr>
          <a:xfrm>
            <a:off x="619125" y="2451496"/>
            <a:ext cx="3486998"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1. 响应非线性</a:t>
            </a:r>
            <a:endParaRPr/>
          </a:p>
        </p:txBody>
      </p:sp>
      <p:sp>
        <p:nvSpPr>
          <p:cNvPr id="662" name="Google Shape;662;p30"/>
          <p:cNvSpPr txBox="1"/>
          <p:nvPr/>
        </p:nvSpPr>
        <p:spPr>
          <a:xfrm>
            <a:off x="619125" y="2689621"/>
            <a:ext cx="3320950"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不能用单一设施耗水量乘以容量来推算城市水网影响。</a:t>
            </a:r>
            <a:endParaRPr/>
          </a:p>
        </p:txBody>
      </p:sp>
      <p:sp>
        <p:nvSpPr>
          <p:cNvPr id="663" name="Google Shape;663;p30"/>
          <p:cNvSpPr txBox="1"/>
          <p:nvPr/>
        </p:nvSpPr>
        <p:spPr>
          <a:xfrm>
            <a:off x="4435375" y="2451496"/>
            <a:ext cx="3487154"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2. 边界动态性</a:t>
            </a:r>
            <a:endParaRPr/>
          </a:p>
        </p:txBody>
      </p:sp>
      <p:sp>
        <p:nvSpPr>
          <p:cNvPr id="664" name="Google Shape;664;p30"/>
          <p:cNvSpPr txBox="1"/>
          <p:nvPr/>
        </p:nvSpPr>
        <p:spPr>
          <a:xfrm>
            <a:off x="4435375" y="2689621"/>
            <a:ext cx="3321099"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年均水资源评价会掩盖夏极端高温与峰值重合下的安全失稳。</a:t>
            </a:r>
            <a:endParaRPr/>
          </a:p>
        </p:txBody>
      </p:sp>
      <p:sp>
        <p:nvSpPr>
          <p:cNvPr id="665" name="Google Shape;665;p30"/>
          <p:cNvSpPr txBox="1"/>
          <p:nvPr/>
        </p:nvSpPr>
        <p:spPr>
          <a:xfrm>
            <a:off x="8251775" y="2451496"/>
            <a:ext cx="3486998"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3. 瓶颈转移性</a:t>
            </a:r>
            <a:endParaRPr/>
          </a:p>
        </p:txBody>
      </p:sp>
      <p:sp>
        <p:nvSpPr>
          <p:cNvPr id="666" name="Google Shape;666;p30"/>
          <p:cNvSpPr txBox="1"/>
          <p:nvPr/>
        </p:nvSpPr>
        <p:spPr>
          <a:xfrm>
            <a:off x="8251775" y="2689621"/>
            <a:ext cx="3320950" cy="177105"/>
          </a:xfrm>
          <a:prstGeom prst="rect">
            <a:avLst/>
          </a:prstGeom>
          <a:noFill/>
          <a:ln>
            <a:noFill/>
          </a:ln>
        </p:spPr>
        <p:txBody>
          <a:bodyPr anchorCtr="0" anchor="t" bIns="0" lIns="0" spcFirstLastPara="1" rIns="0" wrap="square" tIns="0">
            <a:spAutoFit/>
          </a:bodyPr>
          <a:lstStyle/>
          <a:p>
            <a:pPr indent="0" lvl="0" marL="0" marR="0" rtl="0" algn="l">
              <a:lnSpc>
                <a:spcPct val="155000"/>
              </a:lnSpc>
              <a:spcBef>
                <a:spcPts val="0"/>
              </a:spcBef>
              <a:spcAft>
                <a:spcPts val="0"/>
              </a:spcAft>
              <a:buNone/>
            </a:pPr>
            <a:r>
              <a:rPr b="0" i="0" lang="en-US" sz="900" u="none" cap="none" strike="noStrike">
                <a:solidFill>
                  <a:srgbClr val="475569"/>
                </a:solidFill>
                <a:latin typeface="Noto Sans SC"/>
                <a:ea typeface="Noto Sans SC"/>
                <a:cs typeface="Noto Sans SC"/>
                <a:sym typeface="Noto Sans SC"/>
              </a:rPr>
              <a:t>单纯扩建单一工程（如再生水）在到达拐点后收益递减。</a:t>
            </a:r>
            <a:endParaRPr/>
          </a:p>
        </p:txBody>
      </p:sp>
      <p:sp>
        <p:nvSpPr>
          <p:cNvPr id="667" name="Google Shape;667;p30"/>
          <p:cNvSpPr txBox="1"/>
          <p:nvPr/>
        </p:nvSpPr>
        <p:spPr>
          <a:xfrm>
            <a:off x="438150" y="74295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结论概要：城市AI水风险的三大核心规律</a:t>
            </a:r>
            <a:endParaRPr/>
          </a:p>
        </p:txBody>
      </p:sp>
      <p:sp>
        <p:nvSpPr>
          <p:cNvPr id="668" name="Google Shape;668;p30"/>
          <p:cNvSpPr/>
          <p:nvPr/>
        </p:nvSpPr>
        <p:spPr>
          <a:xfrm>
            <a:off x="438150" y="104001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9" name="Rounded Rectangle 668"/>
          <p:cNvSpPr/>
          <p:nvPr/>
        </p:nvSpPr>
        <p:spPr>
          <a:xfrm>
            <a:off x="658368" y="3493008"/>
            <a:ext cx="9646920" cy="107899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TextBox 669"/>
          <p:cNvSpPr txBox="1"/>
          <p:nvPr/>
        </p:nvSpPr>
        <p:spPr>
          <a:xfrm>
            <a:off x="896112" y="3730752"/>
            <a:ext cx="1143000" cy="219456"/>
          </a:xfrm>
          <a:prstGeom prst="rect">
            <a:avLst/>
          </a:prstGeom>
          <a:noFill/>
        </p:spPr>
        <p:txBody>
          <a:bodyPr wrap="square" lIns="0" rIns="0" tIns="0" bIns="0" anchor="t">
            <a:spAutoFit/>
          </a:bodyPr>
          <a:lstStyle/>
          <a:p>
            <a:pPr algn="l"/>
            <a:r>
              <a:rPr sz="1500" b="1" i="0">
                <a:solidFill>
                  <a:srgbClr val="172B4D"/>
                </a:solidFill>
                <a:latin typeface="Microsoft YaHei"/>
              </a:rPr>
              <a:t>最终交付</a:t>
            </a:r>
          </a:p>
        </p:txBody>
      </p:sp>
      <p:sp>
        <p:nvSpPr>
          <p:cNvPr id="671" name="TextBox 670"/>
          <p:cNvSpPr txBox="1"/>
          <p:nvPr/>
        </p:nvSpPr>
        <p:spPr>
          <a:xfrm>
            <a:off x="2148840" y="3675887"/>
            <a:ext cx="2514600" cy="228600"/>
          </a:xfrm>
          <a:prstGeom prst="rect">
            <a:avLst/>
          </a:prstGeom>
          <a:noFill/>
        </p:spPr>
        <p:txBody>
          <a:bodyPr wrap="square" lIns="0" rIns="0" tIns="0" bIns="0" anchor="t">
            <a:spAutoFit/>
          </a:bodyPr>
          <a:lstStyle/>
          <a:p>
            <a:pPr algn="l"/>
            <a:r>
              <a:rPr sz="1300" b="1" i="0">
                <a:solidFill>
                  <a:srgbClr val="2388C9"/>
                </a:solidFill>
                <a:latin typeface="Microsoft YaHei"/>
              </a:rPr>
              <a:t>一套可复核的AI–UWM耦合模型</a:t>
            </a:r>
          </a:p>
        </p:txBody>
      </p:sp>
      <p:sp>
        <p:nvSpPr>
          <p:cNvPr id="672" name="TextBox 671"/>
          <p:cNvSpPr txBox="1"/>
          <p:nvPr/>
        </p:nvSpPr>
        <p:spPr>
          <a:xfrm>
            <a:off x="4800600" y="3675887"/>
            <a:ext cx="2926080" cy="228600"/>
          </a:xfrm>
          <a:prstGeom prst="rect">
            <a:avLst/>
          </a:prstGeom>
          <a:noFill/>
        </p:spPr>
        <p:txBody>
          <a:bodyPr wrap="square" lIns="0" rIns="0" tIns="0" bIns="0" anchor="t">
            <a:spAutoFit/>
          </a:bodyPr>
          <a:lstStyle/>
          <a:p>
            <a:pPr algn="l"/>
            <a:r>
              <a:rPr sz="1300" b="1" i="0">
                <a:solidFill>
                  <a:srgbClr val="1BA6A6"/>
                </a:solidFill>
                <a:latin typeface="Microsoft YaHei"/>
              </a:rPr>
              <a:t>一组结构阈值、动态边界与瓶颈相图</a:t>
            </a:r>
          </a:p>
        </p:txBody>
      </p:sp>
      <p:sp>
        <p:nvSpPr>
          <p:cNvPr id="673" name="TextBox 672"/>
          <p:cNvSpPr txBox="1"/>
          <p:nvPr/>
        </p:nvSpPr>
        <p:spPr>
          <a:xfrm>
            <a:off x="7845552" y="3675887"/>
            <a:ext cx="2057400" cy="384048"/>
          </a:xfrm>
          <a:prstGeom prst="rect">
            <a:avLst/>
          </a:prstGeom>
          <a:noFill/>
        </p:spPr>
        <p:txBody>
          <a:bodyPr wrap="square" lIns="0" rIns="0" tIns="0" bIns="0" anchor="t">
            <a:spAutoFit/>
          </a:bodyPr>
          <a:lstStyle/>
          <a:p>
            <a:pPr algn="l"/>
            <a:r>
              <a:rPr sz="1200" b="1" i="0">
                <a:solidFill>
                  <a:srgbClr val="C9973E"/>
                </a:solidFill>
                <a:latin typeface="Microsoft YaHei"/>
              </a:rPr>
              <a:t>一套面向真实城市的参数校准与不确定性报告</a:t>
            </a:r>
          </a:p>
        </p:txBody>
      </p:sp>
      <p:sp>
        <p:nvSpPr>
          <p:cNvPr id="674" name="TextBox 673"/>
          <p:cNvSpPr txBox="1"/>
          <p:nvPr/>
        </p:nvSpPr>
        <p:spPr>
          <a:xfrm>
            <a:off x="2148840" y="4087368"/>
            <a:ext cx="7726679" cy="228600"/>
          </a:xfrm>
          <a:prstGeom prst="rect">
            <a:avLst/>
          </a:prstGeom>
          <a:noFill/>
        </p:spPr>
        <p:txBody>
          <a:bodyPr wrap="square" lIns="0" rIns="0" tIns="0" bIns="0" anchor="t">
            <a:spAutoFit/>
          </a:bodyPr>
          <a:lstStyle/>
          <a:p>
            <a:pPr algn="l"/>
            <a:r>
              <a:rPr sz="1200" b="0" i="0">
                <a:solidFill>
                  <a:srgbClr val="53657A"/>
                </a:solidFill>
                <a:latin typeface="Microsoft YaHei"/>
              </a:rPr>
              <a:t>研究结论以“何时转折、为何提前、由谁控制、干预何时有效”四个问题组织。</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image.png" id="673" name="Google Shape;673;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74" name="Google Shape;674;p31"/>
          <p:cNvPicPr preferRelativeResize="0"/>
          <p:nvPr/>
        </p:nvPicPr>
        <p:blipFill rotWithShape="1">
          <a:blip r:embed="rId4">
            <a:alphaModFix/>
          </a:blip>
          <a:srcRect b="0" l="0" r="0" t="0"/>
          <a:stretch/>
        </p:blipFill>
        <p:spPr>
          <a:xfrm>
            <a:off x="2700783" y="4081462"/>
            <a:ext cx="6790432" cy="361950"/>
          </a:xfrm>
          <a:prstGeom prst="rect">
            <a:avLst/>
          </a:prstGeom>
          <a:noFill/>
          <a:ln>
            <a:noFill/>
          </a:ln>
        </p:spPr>
      </p:pic>
      <p:pic>
        <p:nvPicPr>
          <p:cNvPr descr="image.png" id="675" name="Google Shape;675;p31"/>
          <p:cNvPicPr preferRelativeResize="0"/>
          <p:nvPr/>
        </p:nvPicPr>
        <p:blipFill rotWithShape="1">
          <a:blip r:embed="rId5">
            <a:alphaModFix/>
          </a:blip>
          <a:srcRect b="0" l="0" r="0" t="0"/>
          <a:stretch/>
        </p:blipFill>
        <p:spPr>
          <a:xfrm>
            <a:off x="5918150" y="2414587"/>
            <a:ext cx="355699" cy="457200"/>
          </a:xfrm>
          <a:prstGeom prst="rect">
            <a:avLst/>
          </a:prstGeom>
          <a:noFill/>
          <a:ln>
            <a:noFill/>
          </a:ln>
        </p:spPr>
      </p:pic>
      <p:sp>
        <p:nvSpPr>
          <p:cNvPr id="676" name="Google Shape;676;p31"/>
          <p:cNvSpPr txBox="1"/>
          <p:nvPr/>
        </p:nvSpPr>
        <p:spPr>
          <a:xfrm>
            <a:off x="2531023" y="3024187"/>
            <a:ext cx="7129953" cy="53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150" u="none" cap="none" strike="noStrike">
                <a:solidFill>
                  <a:srgbClr val="FFFFFF"/>
                </a:solidFill>
                <a:latin typeface="Noto Sans SC"/>
                <a:ea typeface="Noto Sans SC"/>
                <a:cs typeface="Noto Sans SC"/>
                <a:sym typeface="Noto Sans SC"/>
              </a:rPr>
              <a:t>敬请各位专家批评指正</a:t>
            </a:r>
            <a:endParaRPr/>
          </a:p>
        </p:txBody>
      </p:sp>
      <p:sp>
        <p:nvSpPr>
          <p:cNvPr id="677" name="Google Shape;677;p31"/>
          <p:cNvSpPr txBox="1"/>
          <p:nvPr/>
        </p:nvSpPr>
        <p:spPr>
          <a:xfrm>
            <a:off x="2700783" y="3671887"/>
            <a:ext cx="6790432"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275" u="none" cap="none" strike="noStrike">
                <a:solidFill>
                  <a:srgbClr val="CBD5E1"/>
                </a:solidFill>
                <a:latin typeface="Noto Sans SC"/>
                <a:ea typeface="Noto Sans SC"/>
                <a:cs typeface="Noto Sans SC"/>
                <a:sym typeface="Noto Sans SC"/>
              </a:rPr>
              <a:t>感谢各位老师指导！</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1" name="Shape 681"/>
        <p:cNvGrpSpPr/>
        <p:nvPr/>
      </p:nvGrpSpPr>
      <p:grpSpPr>
        <a:xfrm>
          <a:off x="0" y="0"/>
          <a:ext cx="0" cy="0"/>
          <a:chOff x="0" y="0"/>
          <a:chExt cx="0" cy="0"/>
        </a:xfrm>
      </p:grpSpPr>
      <p:pic>
        <p:nvPicPr>
          <p:cNvPr descr="image.png" id="682" name="Google Shape;682;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683" name="Google Shape;683;p32"/>
          <p:cNvPicPr preferRelativeResize="0"/>
          <p:nvPr/>
        </p:nvPicPr>
        <p:blipFill rotWithShape="1">
          <a:blip r:embed="rId4">
            <a:alphaModFix/>
          </a:blip>
          <a:srcRect b="0" l="0" r="0" t="0"/>
          <a:stretch/>
        </p:blipFill>
        <p:spPr>
          <a:xfrm>
            <a:off x="438150" y="3522464"/>
            <a:ext cx="11315700" cy="560635"/>
          </a:xfrm>
          <a:prstGeom prst="rect">
            <a:avLst/>
          </a:prstGeom>
          <a:noFill/>
          <a:ln>
            <a:noFill/>
          </a:ln>
        </p:spPr>
      </p:pic>
      <p:pic>
        <p:nvPicPr>
          <p:cNvPr descr="image.png" id="684" name="Google Shape;684;p32"/>
          <p:cNvPicPr preferRelativeResize="0"/>
          <p:nvPr/>
        </p:nvPicPr>
        <p:blipFill rotWithShape="1">
          <a:blip r:embed="rId5">
            <a:alphaModFix/>
          </a:blip>
          <a:srcRect b="0" l="0" r="0" t="0"/>
          <a:stretch/>
        </p:blipFill>
        <p:spPr>
          <a:xfrm>
            <a:off x="438150" y="1773435"/>
            <a:ext cx="5572125" cy="731639"/>
          </a:xfrm>
          <a:prstGeom prst="rect">
            <a:avLst/>
          </a:prstGeom>
          <a:noFill/>
          <a:ln>
            <a:noFill/>
          </a:ln>
        </p:spPr>
      </p:pic>
      <p:pic>
        <p:nvPicPr>
          <p:cNvPr descr="image.png" id="685" name="Google Shape;685;p32"/>
          <p:cNvPicPr preferRelativeResize="0"/>
          <p:nvPr/>
        </p:nvPicPr>
        <p:blipFill rotWithShape="1">
          <a:blip r:embed="rId6">
            <a:alphaModFix/>
          </a:blip>
          <a:srcRect b="0" l="0" r="0" t="0"/>
          <a:stretch/>
        </p:blipFill>
        <p:spPr>
          <a:xfrm>
            <a:off x="6181725" y="1773435"/>
            <a:ext cx="5572125" cy="731639"/>
          </a:xfrm>
          <a:prstGeom prst="rect">
            <a:avLst/>
          </a:prstGeom>
          <a:noFill/>
          <a:ln>
            <a:noFill/>
          </a:ln>
        </p:spPr>
      </p:pic>
      <p:pic>
        <p:nvPicPr>
          <p:cNvPr descr="image.png" id="686" name="Google Shape;686;p32"/>
          <p:cNvPicPr preferRelativeResize="0"/>
          <p:nvPr/>
        </p:nvPicPr>
        <p:blipFill rotWithShape="1">
          <a:blip r:embed="rId7">
            <a:alphaModFix/>
          </a:blip>
          <a:srcRect b="0" l="0" r="0" t="0"/>
          <a:stretch/>
        </p:blipFill>
        <p:spPr>
          <a:xfrm>
            <a:off x="438150" y="2676525"/>
            <a:ext cx="5572125" cy="731639"/>
          </a:xfrm>
          <a:prstGeom prst="rect">
            <a:avLst/>
          </a:prstGeom>
          <a:noFill/>
          <a:ln>
            <a:noFill/>
          </a:ln>
        </p:spPr>
      </p:pic>
      <p:pic>
        <p:nvPicPr>
          <p:cNvPr descr="image.png" id="687" name="Google Shape;687;p32"/>
          <p:cNvPicPr preferRelativeResize="0"/>
          <p:nvPr/>
        </p:nvPicPr>
        <p:blipFill rotWithShape="1">
          <a:blip r:embed="rId8">
            <a:alphaModFix/>
          </a:blip>
          <a:srcRect b="0" l="0" r="0" t="0"/>
          <a:stretch/>
        </p:blipFill>
        <p:spPr>
          <a:xfrm>
            <a:off x="6181725" y="2676525"/>
            <a:ext cx="5572125" cy="731639"/>
          </a:xfrm>
          <a:prstGeom prst="rect">
            <a:avLst/>
          </a:prstGeom>
          <a:noFill/>
          <a:ln>
            <a:noFill/>
          </a:ln>
        </p:spPr>
      </p:pic>
      <p:pic>
        <p:nvPicPr>
          <p:cNvPr descr="image.png" id="688" name="Google Shape;688;p32"/>
          <p:cNvPicPr preferRelativeResize="0"/>
          <p:nvPr/>
        </p:nvPicPr>
        <p:blipFill rotWithShape="1">
          <a:blip r:embed="rId9">
            <a:alphaModFix/>
          </a:blip>
          <a:srcRect b="0" l="0" r="0" t="0"/>
          <a:stretch/>
        </p:blipFill>
        <p:spPr>
          <a:xfrm>
            <a:off x="438150" y="6515100"/>
            <a:ext cx="11315700" cy="228600"/>
          </a:xfrm>
          <a:prstGeom prst="rect">
            <a:avLst/>
          </a:prstGeom>
          <a:noFill/>
          <a:ln>
            <a:noFill/>
          </a:ln>
        </p:spPr>
      </p:pic>
      <p:pic>
        <p:nvPicPr>
          <p:cNvPr descr="image.png" id="689" name="Google Shape;689;p32"/>
          <p:cNvPicPr preferRelativeResize="0"/>
          <p:nvPr/>
        </p:nvPicPr>
        <p:blipFill rotWithShape="1">
          <a:blip r:embed="rId10">
            <a:alphaModFix/>
          </a:blip>
          <a:srcRect b="0" l="0" r="0" t="0"/>
          <a:stretch/>
        </p:blipFill>
        <p:spPr>
          <a:xfrm>
            <a:off x="10494466" y="328612"/>
            <a:ext cx="1259383" cy="180975"/>
          </a:xfrm>
          <a:prstGeom prst="rect">
            <a:avLst/>
          </a:prstGeom>
          <a:noFill/>
          <a:ln>
            <a:noFill/>
          </a:ln>
        </p:spPr>
      </p:pic>
      <p:sp>
        <p:nvSpPr>
          <p:cNvPr id="690" name="Google Shape;690;p32"/>
          <p:cNvSpPr txBox="1"/>
          <p:nvPr/>
        </p:nvSpPr>
        <p:spPr>
          <a:xfrm>
            <a:off x="438150" y="1516260"/>
            <a:ext cx="113157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64748B"/>
                </a:solidFill>
                <a:latin typeface="Noto Sans SC"/>
                <a:ea typeface="Noto Sans SC"/>
                <a:cs typeface="Noto Sans SC"/>
                <a:sym typeface="Noto Sans SC"/>
              </a:rPr>
              <a:t>完整约束列表用于答辩追问与边界证明：</a:t>
            </a:r>
            <a:endParaRPr/>
          </a:p>
        </p:txBody>
      </p:sp>
      <p:sp>
        <p:nvSpPr>
          <p:cNvPr id="691" name="Google Shape;691;p32"/>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692" name="Google Shape;692;p32"/>
          <p:cNvSpPr txBox="1"/>
          <p:nvPr/>
        </p:nvSpPr>
        <p:spPr>
          <a:xfrm>
            <a:off x="11231612" y="6615112"/>
            <a:ext cx="522237"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BACKUP A</a:t>
            </a:r>
            <a:endParaRPr/>
          </a:p>
        </p:txBody>
      </p:sp>
      <p:pic>
        <p:nvPicPr>
          <p:cNvPr descr="image.png" id="693" name="Google Shape;693;p32"/>
          <p:cNvPicPr preferRelativeResize="0"/>
          <p:nvPr/>
        </p:nvPicPr>
        <p:blipFill rotWithShape="1">
          <a:blip r:embed="rId11">
            <a:alphaModFix/>
          </a:blip>
          <a:srcRect b="0" l="0" r="0" t="0"/>
          <a:stretch/>
        </p:blipFill>
        <p:spPr>
          <a:xfrm>
            <a:off x="438150" y="323850"/>
            <a:ext cx="992683" cy="190500"/>
          </a:xfrm>
          <a:prstGeom prst="rect">
            <a:avLst/>
          </a:prstGeom>
          <a:noFill/>
          <a:ln>
            <a:noFill/>
          </a:ln>
        </p:spPr>
      </p:pic>
      <p:sp>
        <p:nvSpPr>
          <p:cNvPr id="694" name="Google Shape;694;p32"/>
          <p:cNvSpPr txBox="1"/>
          <p:nvPr/>
        </p:nvSpPr>
        <p:spPr>
          <a:xfrm>
            <a:off x="581025" y="3627239"/>
            <a:ext cx="11029950" cy="169664"/>
          </a:xfrm>
          <a:prstGeom prst="rect">
            <a:avLst/>
          </a:prstGeom>
          <a:noFill/>
          <a:ln>
            <a:noFill/>
          </a:ln>
        </p:spPr>
        <p:txBody>
          <a:bodyPr anchorCtr="0" anchor="t" bIns="0" lIns="85275" spcFirstLastPara="1" rIns="0" wrap="square" tIns="0">
            <a:spAutoFit/>
          </a:bodyPr>
          <a:lstStyle/>
          <a:p>
            <a:pPr indent="0" lvl="0" marL="0" marR="0" rtl="0" algn="l">
              <a:lnSpc>
                <a:spcPct val="154988"/>
              </a:lnSpc>
              <a:spcBef>
                <a:spcPts val="0"/>
              </a:spcBef>
              <a:spcAft>
                <a:spcPts val="0"/>
              </a:spcAft>
              <a:buNone/>
            </a:pPr>
            <a:r>
              <a:rPr b="1" i="0" lang="en-US" sz="862" u="none" cap="none" strike="noStrike">
                <a:solidFill>
                  <a:srgbClr val="0369A1"/>
                </a:solidFill>
                <a:latin typeface="Noto Sans SC"/>
                <a:ea typeface="Noto Sans SC"/>
                <a:cs typeface="Noto Sans SC"/>
                <a:sym typeface="Noto Sans SC"/>
              </a:rPr>
              <a:t>非单调处理原则</a:t>
            </a:r>
            <a:endParaRPr/>
          </a:p>
        </p:txBody>
      </p:sp>
      <p:sp>
        <p:nvSpPr>
          <p:cNvPr id="695" name="Google Shape;695;p32"/>
          <p:cNvSpPr txBox="1"/>
          <p:nvPr/>
        </p:nvSpPr>
        <p:spPr>
          <a:xfrm>
            <a:off x="581025" y="3815953"/>
            <a:ext cx="110299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334155"/>
                </a:solidFill>
                <a:latin typeface="Noto Sans SC"/>
                <a:ea typeface="Noto Sans SC"/>
                <a:cs typeface="Noto Sans SC"/>
                <a:sym typeface="Noto Sans SC"/>
              </a:rPr>
              <a:t>非单调时报告全部可行区间、首次失效与最终失效，避免只报一个最大值掩盖中间失效风险。</a:t>
            </a:r>
            <a:endParaRPr/>
          </a:p>
        </p:txBody>
      </p:sp>
      <p:pic>
        <p:nvPicPr>
          <p:cNvPr descr="image.png" id="696" name="Google Shape;696;p32"/>
          <p:cNvPicPr preferRelativeResize="0"/>
          <p:nvPr/>
        </p:nvPicPr>
        <p:blipFill rotWithShape="1">
          <a:blip r:embed="rId12">
            <a:alphaModFix/>
          </a:blip>
          <a:srcRect b="0" l="0" r="0" t="0"/>
          <a:stretch/>
        </p:blipFill>
        <p:spPr>
          <a:xfrm>
            <a:off x="438150" y="6619875"/>
            <a:ext cx="81557" cy="104775"/>
          </a:xfrm>
          <a:prstGeom prst="rect">
            <a:avLst/>
          </a:prstGeom>
          <a:noFill/>
          <a:ln>
            <a:noFill/>
          </a:ln>
        </p:spPr>
      </p:pic>
      <p:pic>
        <p:nvPicPr>
          <p:cNvPr descr="image.png" id="697" name="Google Shape;697;p32"/>
          <p:cNvPicPr preferRelativeResize="0"/>
          <p:nvPr/>
        </p:nvPicPr>
        <p:blipFill rotWithShape="1">
          <a:blip r:embed="rId13">
            <a:alphaModFix/>
          </a:blip>
          <a:srcRect b="0" l="0" r="0" t="0"/>
          <a:stretch/>
        </p:blipFill>
        <p:spPr>
          <a:xfrm>
            <a:off x="542925" y="364331"/>
            <a:ext cx="92868" cy="109537"/>
          </a:xfrm>
          <a:prstGeom prst="rect">
            <a:avLst/>
          </a:prstGeom>
          <a:noFill/>
          <a:ln>
            <a:noFill/>
          </a:ln>
        </p:spPr>
      </p:pic>
      <p:sp>
        <p:nvSpPr>
          <p:cNvPr id="698" name="Google Shape;698;p32"/>
          <p:cNvSpPr txBox="1"/>
          <p:nvPr/>
        </p:nvSpPr>
        <p:spPr>
          <a:xfrm>
            <a:off x="619125" y="1935360"/>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1. 外部水源压力</a:t>
            </a:r>
            <a:endParaRPr/>
          </a:p>
        </p:txBody>
      </p:sp>
      <p:sp>
        <p:nvSpPr>
          <p:cNvPr id="699" name="Google Shape;699;p32"/>
          <p:cNvSpPr txBox="1"/>
          <p:nvPr/>
        </p:nvSpPr>
        <p:spPr>
          <a:xfrm>
            <a:off x="619125" y="2173485"/>
            <a:ext cx="5210175"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取水上限、旱情折减、基本服务优先级约束。</a:t>
            </a:r>
            <a:endParaRPr/>
          </a:p>
        </p:txBody>
      </p:sp>
      <p:sp>
        <p:nvSpPr>
          <p:cNvPr id="700" name="Google Shape;700;p32"/>
          <p:cNvSpPr txBox="1"/>
          <p:nvPr/>
        </p:nvSpPr>
        <p:spPr>
          <a:xfrm>
            <a:off x="6362700" y="1935360"/>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2. 给水与局部接入</a:t>
            </a:r>
            <a:endParaRPr/>
          </a:p>
        </p:txBody>
      </p:sp>
      <p:sp>
        <p:nvSpPr>
          <p:cNvPr id="701" name="Google Shape;701;p32"/>
          <p:cNvSpPr txBox="1"/>
          <p:nvPr/>
        </p:nvSpPr>
        <p:spPr>
          <a:xfrm>
            <a:off x="6362700" y="2173485"/>
            <a:ext cx="5210175"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WTP余量、管网接入能力、峰值输配能力限制。</a:t>
            </a:r>
            <a:endParaRPr/>
          </a:p>
        </p:txBody>
      </p:sp>
      <p:sp>
        <p:nvSpPr>
          <p:cNvPr id="702" name="Google Shape;702;p32"/>
          <p:cNvSpPr txBox="1"/>
          <p:nvPr/>
        </p:nvSpPr>
        <p:spPr>
          <a:xfrm>
            <a:off x="619125" y="2838450"/>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3. 污水系统约束</a:t>
            </a:r>
            <a:endParaRPr/>
          </a:p>
        </p:txBody>
      </p:sp>
      <p:sp>
        <p:nvSpPr>
          <p:cNvPr id="703" name="Google Shape;703;p32"/>
          <p:cNvSpPr txBox="1"/>
          <p:nvPr/>
        </p:nvSpPr>
        <p:spPr>
          <a:xfrm>
            <a:off x="619125" y="3076575"/>
            <a:ext cx="5210175"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WWTP潜在负荷、溢流风险、环保排放许可。</a:t>
            </a:r>
            <a:endParaRPr/>
          </a:p>
        </p:txBody>
      </p:sp>
      <p:sp>
        <p:nvSpPr>
          <p:cNvPr id="704" name="Google Shape;704;p32"/>
          <p:cNvSpPr txBox="1"/>
          <p:nvPr/>
        </p:nvSpPr>
        <p:spPr>
          <a:xfrm>
            <a:off x="6362700" y="2838450"/>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4. 再生水服务限制</a:t>
            </a:r>
            <a:endParaRPr/>
          </a:p>
        </p:txBody>
      </p:sp>
      <p:sp>
        <p:nvSpPr>
          <p:cNvPr id="705" name="Google Shape;705;p32"/>
          <p:cNvSpPr txBox="1"/>
          <p:nvPr/>
        </p:nvSpPr>
        <p:spPr>
          <a:xfrm>
            <a:off x="6362700" y="3076575"/>
            <a:ext cx="5210175"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0" i="0" lang="en-US" sz="862" u="none" cap="none" strike="noStrike">
                <a:solidFill>
                  <a:srgbClr val="475569"/>
                </a:solidFill>
                <a:latin typeface="Noto Sans SC"/>
                <a:ea typeface="Noto Sans SC"/>
                <a:cs typeface="Noto Sans SC"/>
                <a:sym typeface="Noto Sans SC"/>
              </a:rPr>
              <a:t>源量、深度处理、储量、输配与既有用户竞争。</a:t>
            </a:r>
            <a:endParaRPr/>
          </a:p>
        </p:txBody>
      </p:sp>
      <p:pic>
        <p:nvPicPr>
          <p:cNvPr descr="image.png" id="706" name="Google Shape;706;p32"/>
          <p:cNvPicPr preferRelativeResize="0"/>
          <p:nvPr/>
        </p:nvPicPr>
        <p:blipFill rotWithShape="1">
          <a:blip r:embed="rId14">
            <a:alphaModFix/>
          </a:blip>
          <a:srcRect b="0" l="0" r="0" t="0"/>
          <a:stretch/>
        </p:blipFill>
        <p:spPr>
          <a:xfrm>
            <a:off x="581025" y="3655814"/>
            <a:ext cx="85278" cy="109537"/>
          </a:xfrm>
          <a:prstGeom prst="rect">
            <a:avLst/>
          </a:prstGeom>
          <a:noFill/>
          <a:ln>
            <a:noFill/>
          </a:ln>
        </p:spPr>
      </p:pic>
      <p:sp>
        <p:nvSpPr>
          <p:cNvPr id="707" name="Google Shape;707;p32"/>
          <p:cNvSpPr txBox="1"/>
          <p:nvPr/>
        </p:nvSpPr>
        <p:spPr>
          <a:xfrm>
            <a:off x="571500" y="800100"/>
            <a:ext cx="11049000"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FFFFFF"/>
                </a:solidFill>
                <a:latin typeface="Noto Sans SC"/>
                <a:ea typeface="Noto Sans SC"/>
                <a:cs typeface="Noto Sans SC"/>
                <a:sym typeface="Noto Sans SC"/>
              </a:rPr>
              <a:t>BACKUP A</a:t>
            </a:r>
            <a:endParaRPr/>
          </a:p>
        </p:txBody>
      </p:sp>
      <p:sp>
        <p:nvSpPr>
          <p:cNvPr id="708" name="Google Shape;708;p32"/>
          <p:cNvSpPr txBox="1"/>
          <p:nvPr/>
        </p:nvSpPr>
        <p:spPr>
          <a:xfrm>
            <a:off x="438150" y="106680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CAWCC约束集合与非单调可行域</a:t>
            </a:r>
            <a:endParaRPr/>
          </a:p>
        </p:txBody>
      </p:sp>
      <p:sp>
        <p:nvSpPr>
          <p:cNvPr id="709" name="Google Shape;709;p32"/>
          <p:cNvSpPr/>
          <p:nvPr/>
        </p:nvSpPr>
        <p:spPr>
          <a:xfrm>
            <a:off x="438150" y="136386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D19"/>
        </a:solidFill>
      </p:bgPr>
    </p:bg>
    <p:spTree>
      <p:nvGrpSpPr>
        <p:cNvPr id="713" name="Shape 713"/>
        <p:cNvGrpSpPr/>
        <p:nvPr/>
      </p:nvGrpSpPr>
      <p:grpSpPr>
        <a:xfrm>
          <a:off x="0" y="0"/>
          <a:ext cx="0" cy="0"/>
          <a:chOff x="0" y="0"/>
          <a:chExt cx="0" cy="0"/>
        </a:xfrm>
      </p:grpSpPr>
      <p:sp>
        <p:nvSpPr>
          <p:cNvPr id="714" name="Rounded Rectangle 713"/>
          <p:cNvSpPr/>
          <p:nvPr/>
        </p:nvSpPr>
        <p:spPr>
          <a:xfrm>
            <a:off x="658368" y="566928"/>
            <a:ext cx="1874519" cy="246888"/>
          </a:xfrm>
          <a:prstGeom prst="roundRect">
            <a:avLst/>
          </a:prstGeom>
          <a:solidFill>
            <a:srgbClr val="18314D"/>
          </a:solidFill>
          <a:ln w="11430">
            <a:solidFill>
              <a:srgbClr val="2B8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TextBox 714"/>
          <p:cNvSpPr txBox="1"/>
          <p:nvPr/>
        </p:nvSpPr>
        <p:spPr>
          <a:xfrm>
            <a:off x="749808" y="580644"/>
            <a:ext cx="1691639" cy="201168"/>
          </a:xfrm>
          <a:prstGeom prst="rect">
            <a:avLst/>
          </a:prstGeom>
          <a:noFill/>
        </p:spPr>
        <p:txBody>
          <a:bodyPr wrap="square" lIns="0" rIns="0" tIns="0" bIns="0" anchor="ctr">
            <a:spAutoFit/>
          </a:bodyPr>
          <a:lstStyle/>
          <a:p>
            <a:pPr algn="ctr"/>
            <a:r>
              <a:rPr sz="950" b="1" i="0">
                <a:solidFill>
                  <a:srgbClr val="A9E7F5"/>
                </a:solidFill>
                <a:latin typeface="Microsoft YaHei"/>
              </a:rPr>
              <a:t>BACKUP / Q&amp;A</a:t>
            </a:r>
          </a:p>
        </p:txBody>
      </p:sp>
      <p:sp>
        <p:nvSpPr>
          <p:cNvPr id="716" name="TextBox 715"/>
          <p:cNvSpPr txBox="1"/>
          <p:nvPr/>
        </p:nvSpPr>
        <p:spPr>
          <a:xfrm>
            <a:off x="658368" y="1783080"/>
            <a:ext cx="9784080" cy="685800"/>
          </a:xfrm>
          <a:prstGeom prst="rect">
            <a:avLst/>
          </a:prstGeom>
          <a:noFill/>
        </p:spPr>
        <p:txBody>
          <a:bodyPr wrap="square" lIns="0" rIns="0" tIns="0" bIns="0" anchor="t">
            <a:spAutoFit/>
          </a:bodyPr>
          <a:lstStyle/>
          <a:p>
            <a:pPr algn="l"/>
            <a:r>
              <a:rPr sz="3000" b="1" i="0">
                <a:solidFill>
                  <a:srgbClr val="FFFFFF"/>
                </a:solidFill>
                <a:latin typeface="Microsoft YaHei"/>
              </a:rPr>
              <a:t>答辩追问：参数、边界与机制的备查页</a:t>
            </a:r>
          </a:p>
        </p:txBody>
      </p:sp>
      <p:sp>
        <p:nvSpPr>
          <p:cNvPr id="717" name="TextBox 716"/>
          <p:cNvSpPr txBox="1"/>
          <p:nvPr/>
        </p:nvSpPr>
        <p:spPr>
          <a:xfrm>
            <a:off x="676656" y="2587752"/>
            <a:ext cx="9509760" cy="411480"/>
          </a:xfrm>
          <a:prstGeom prst="rect">
            <a:avLst/>
          </a:prstGeom>
          <a:noFill/>
        </p:spPr>
        <p:txBody>
          <a:bodyPr wrap="square" lIns="0" rIns="0" tIns="0" bIns="0" anchor="t">
            <a:spAutoFit/>
          </a:bodyPr>
          <a:lstStyle/>
          <a:p>
            <a:pPr algn="l"/>
            <a:r>
              <a:rPr sz="1500" b="0" i="0">
                <a:solidFill>
                  <a:srgbClr val="C6D2DF"/>
                </a:solidFill>
                <a:latin typeface="Microsoft YaHei"/>
              </a:rPr>
              <a:t>以下页面用于说明量纲、证据来源、因果干预与评价口径。</a:t>
            </a:r>
          </a:p>
        </p:txBody>
      </p:sp>
      <p:sp>
        <p:nvSpPr>
          <p:cNvPr id="718" name="Rounded Rectangle 717"/>
          <p:cNvSpPr/>
          <p:nvPr/>
        </p:nvSpPr>
        <p:spPr>
          <a:xfrm>
            <a:off x="731520" y="3703320"/>
            <a:ext cx="3081527" cy="1051560"/>
          </a:xfrm>
          <a:prstGeom prst="roundRect">
            <a:avLst/>
          </a:prstGeom>
          <a:solidFill>
            <a:srgbClr val="10283F"/>
          </a:solidFill>
          <a:ln w="11430">
            <a:solidFill>
              <a:srgbClr val="2C4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TextBox 718"/>
          <p:cNvSpPr txBox="1"/>
          <p:nvPr/>
        </p:nvSpPr>
        <p:spPr>
          <a:xfrm>
            <a:off x="896112" y="3913632"/>
            <a:ext cx="2752344" cy="274320"/>
          </a:xfrm>
          <a:prstGeom prst="rect">
            <a:avLst/>
          </a:prstGeom>
          <a:noFill/>
        </p:spPr>
        <p:txBody>
          <a:bodyPr wrap="square" lIns="0" rIns="0" tIns="0" bIns="0" anchor="t">
            <a:spAutoFit/>
          </a:bodyPr>
          <a:lstStyle/>
          <a:p>
            <a:pPr algn="l"/>
            <a:r>
              <a:rPr sz="1600" b="1" i="0">
                <a:solidFill>
                  <a:srgbClr val="2388C9"/>
                </a:solidFill>
                <a:latin typeface="Microsoft YaHei"/>
              </a:rPr>
              <a:t>边界证明</a:t>
            </a:r>
          </a:p>
        </p:txBody>
      </p:sp>
      <p:sp>
        <p:nvSpPr>
          <p:cNvPr id="720" name="TextBox 719"/>
          <p:cNvSpPr txBox="1"/>
          <p:nvPr/>
        </p:nvSpPr>
        <p:spPr>
          <a:xfrm>
            <a:off x="896112" y="4261104"/>
            <a:ext cx="2752344" cy="320040"/>
          </a:xfrm>
          <a:prstGeom prst="rect">
            <a:avLst/>
          </a:prstGeom>
          <a:noFill/>
        </p:spPr>
        <p:txBody>
          <a:bodyPr wrap="square" lIns="0" rIns="0" tIns="0" bIns="0" anchor="t">
            <a:spAutoFit/>
          </a:bodyPr>
          <a:lstStyle/>
          <a:p>
            <a:pPr algn="l"/>
            <a:r>
              <a:rPr sz="1100" b="0" i="0">
                <a:solidFill>
                  <a:srgbClr val="C6D2DF"/>
                </a:solidFill>
                <a:latin typeface="Microsoft YaHei"/>
              </a:rPr>
              <a:t>约束集合、非单调可行域与首次/最终失效</a:t>
            </a:r>
          </a:p>
        </p:txBody>
      </p:sp>
      <p:sp>
        <p:nvSpPr>
          <p:cNvPr id="721" name="Rounded Rectangle 720"/>
          <p:cNvSpPr/>
          <p:nvPr/>
        </p:nvSpPr>
        <p:spPr>
          <a:xfrm>
            <a:off x="4059935" y="3703320"/>
            <a:ext cx="3081527" cy="1051560"/>
          </a:xfrm>
          <a:prstGeom prst="roundRect">
            <a:avLst/>
          </a:prstGeom>
          <a:solidFill>
            <a:srgbClr val="10283F"/>
          </a:solidFill>
          <a:ln w="11430">
            <a:solidFill>
              <a:srgbClr val="2C4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TextBox 721"/>
          <p:cNvSpPr txBox="1"/>
          <p:nvPr/>
        </p:nvSpPr>
        <p:spPr>
          <a:xfrm>
            <a:off x="4224527" y="3913632"/>
            <a:ext cx="2752344" cy="274320"/>
          </a:xfrm>
          <a:prstGeom prst="rect">
            <a:avLst/>
          </a:prstGeom>
          <a:noFill/>
        </p:spPr>
        <p:txBody>
          <a:bodyPr wrap="square" lIns="0" rIns="0" tIns="0" bIns="0" anchor="t">
            <a:spAutoFit/>
          </a:bodyPr>
          <a:lstStyle/>
          <a:p>
            <a:pPr algn="l"/>
            <a:r>
              <a:rPr sz="1600" b="1" i="0">
                <a:solidFill>
                  <a:srgbClr val="1BA6A6"/>
                </a:solidFill>
                <a:latin typeface="Microsoft YaHei"/>
              </a:rPr>
              <a:t>机制识别</a:t>
            </a:r>
          </a:p>
        </p:txBody>
      </p:sp>
      <p:sp>
        <p:nvSpPr>
          <p:cNvPr id="723" name="TextBox 722"/>
          <p:cNvSpPr txBox="1"/>
          <p:nvPr/>
        </p:nvSpPr>
        <p:spPr>
          <a:xfrm>
            <a:off x="4224527" y="4261104"/>
            <a:ext cx="2752344" cy="320040"/>
          </a:xfrm>
          <a:prstGeom prst="rect">
            <a:avLst/>
          </a:prstGeom>
          <a:noFill/>
        </p:spPr>
        <p:txBody>
          <a:bodyPr wrap="square" lIns="0" rIns="0" tIns="0" bIns="0" anchor="t">
            <a:spAutoFit/>
          </a:bodyPr>
          <a:lstStyle/>
          <a:p>
            <a:pPr algn="l"/>
            <a:r>
              <a:rPr sz="1100" b="0" i="0">
                <a:solidFill>
                  <a:srgbClr val="C6D2DF"/>
                </a:solidFill>
                <a:latin typeface="Microsoft YaHei"/>
              </a:rPr>
              <a:t>结构方程、相位干预与瓶颈迁移</a:t>
            </a:r>
          </a:p>
        </p:txBody>
      </p:sp>
      <p:sp>
        <p:nvSpPr>
          <p:cNvPr id="724" name="Rounded Rectangle 723"/>
          <p:cNvSpPr/>
          <p:nvPr/>
        </p:nvSpPr>
        <p:spPr>
          <a:xfrm>
            <a:off x="7388352" y="3703320"/>
            <a:ext cx="3081527" cy="1051560"/>
          </a:xfrm>
          <a:prstGeom prst="roundRect">
            <a:avLst/>
          </a:prstGeom>
          <a:solidFill>
            <a:srgbClr val="10283F"/>
          </a:solidFill>
          <a:ln w="11430">
            <a:solidFill>
              <a:srgbClr val="2C4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TextBox 724"/>
          <p:cNvSpPr txBox="1"/>
          <p:nvPr/>
        </p:nvSpPr>
        <p:spPr>
          <a:xfrm>
            <a:off x="7552944" y="3913632"/>
            <a:ext cx="2752344" cy="274320"/>
          </a:xfrm>
          <a:prstGeom prst="rect">
            <a:avLst/>
          </a:prstGeom>
          <a:noFill/>
        </p:spPr>
        <p:txBody>
          <a:bodyPr wrap="square" lIns="0" rIns="0" tIns="0" bIns="0" anchor="t">
            <a:spAutoFit/>
          </a:bodyPr>
          <a:lstStyle/>
          <a:p>
            <a:pPr algn="l"/>
            <a:r>
              <a:rPr sz="1600" b="1" i="0">
                <a:solidFill>
                  <a:srgbClr val="C9973E"/>
                </a:solidFill>
                <a:latin typeface="Microsoft YaHei"/>
              </a:rPr>
              <a:t>证据链</a:t>
            </a:r>
          </a:p>
        </p:txBody>
      </p:sp>
      <p:sp>
        <p:nvSpPr>
          <p:cNvPr id="726" name="TextBox 725"/>
          <p:cNvSpPr txBox="1"/>
          <p:nvPr/>
        </p:nvSpPr>
        <p:spPr>
          <a:xfrm>
            <a:off x="7552944" y="4261104"/>
            <a:ext cx="2752344" cy="320040"/>
          </a:xfrm>
          <a:prstGeom prst="rect">
            <a:avLst/>
          </a:prstGeom>
          <a:noFill/>
        </p:spPr>
        <p:txBody>
          <a:bodyPr wrap="square" lIns="0" rIns="0" tIns="0" bIns="0" anchor="t">
            <a:spAutoFit/>
          </a:bodyPr>
          <a:lstStyle/>
          <a:p>
            <a:pPr algn="l"/>
            <a:r>
              <a:rPr sz="1100" b="0" i="0">
                <a:solidFill>
                  <a:srgbClr val="C6D2DF"/>
                </a:solidFill>
                <a:latin typeface="Microsoft YaHei"/>
              </a:rPr>
              <a:t>现实锚点、外部核验与不确定性传播</a:t>
            </a:r>
          </a:p>
        </p:txBody>
      </p:sp>
      <p:sp>
        <p:nvSpPr>
          <p:cNvPr id="727" name="TextBox 726"/>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A9B6C7"/>
                </a:solidFill>
                <a:latin typeface="Microsoft YaHei"/>
              </a:rPr>
              <a:t>哈尔滨工业大学 · 硕士学位论文开题答辩</a:t>
            </a:r>
          </a:p>
        </p:txBody>
      </p:sp>
      <p:sp>
        <p:nvSpPr>
          <p:cNvPr id="728" name="TextBox 727"/>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A9B6C7"/>
                </a:solidFill>
                <a:latin typeface="Microsoft YaHei"/>
              </a:rPr>
              <a:t>21 / BACKUP / Q&amp;A</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7" name="Shape 717"/>
        <p:cNvGrpSpPr/>
        <p:nvPr/>
      </p:nvGrpSpPr>
      <p:grpSpPr>
        <a:xfrm>
          <a:off x="0" y="0"/>
          <a:ext cx="0" cy="0"/>
          <a:chOff x="0" y="0"/>
          <a:chExt cx="0" cy="0"/>
        </a:xfrm>
      </p:grpSpPr>
      <p:pic>
        <p:nvPicPr>
          <p:cNvPr descr="image.png" id="718" name="Google Shape;718;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19" name="Google Shape;719;p34"/>
          <p:cNvPicPr preferRelativeResize="0"/>
          <p:nvPr/>
        </p:nvPicPr>
        <p:blipFill rotWithShape="1">
          <a:blip r:embed="rId4">
            <a:alphaModFix/>
          </a:blip>
          <a:srcRect b="0" l="0" r="0" t="0"/>
          <a:stretch/>
        </p:blipFill>
        <p:spPr>
          <a:xfrm>
            <a:off x="438150" y="2869703"/>
            <a:ext cx="11315700" cy="379214"/>
          </a:xfrm>
          <a:prstGeom prst="rect">
            <a:avLst/>
          </a:prstGeom>
          <a:noFill/>
          <a:ln>
            <a:noFill/>
          </a:ln>
        </p:spPr>
      </p:pic>
      <p:pic>
        <p:nvPicPr>
          <p:cNvPr descr="image.png" id="720" name="Google Shape;720;p34"/>
          <p:cNvPicPr preferRelativeResize="0"/>
          <p:nvPr/>
        </p:nvPicPr>
        <p:blipFill rotWithShape="1">
          <a:blip r:embed="rId5">
            <a:alphaModFix/>
          </a:blip>
          <a:srcRect b="0" l="0" r="0" t="0"/>
          <a:stretch/>
        </p:blipFill>
        <p:spPr>
          <a:xfrm>
            <a:off x="438150" y="1773435"/>
            <a:ext cx="3682900" cy="962917"/>
          </a:xfrm>
          <a:prstGeom prst="rect">
            <a:avLst/>
          </a:prstGeom>
          <a:noFill/>
          <a:ln>
            <a:noFill/>
          </a:ln>
        </p:spPr>
      </p:pic>
      <p:pic>
        <p:nvPicPr>
          <p:cNvPr descr="image.png" id="721" name="Google Shape;721;p34"/>
          <p:cNvPicPr preferRelativeResize="0"/>
          <p:nvPr/>
        </p:nvPicPr>
        <p:blipFill rotWithShape="1">
          <a:blip r:embed="rId6">
            <a:alphaModFix/>
          </a:blip>
          <a:srcRect b="0" l="0" r="0" t="0"/>
          <a:stretch/>
        </p:blipFill>
        <p:spPr>
          <a:xfrm>
            <a:off x="4254400" y="1773435"/>
            <a:ext cx="3683049" cy="962917"/>
          </a:xfrm>
          <a:prstGeom prst="rect">
            <a:avLst/>
          </a:prstGeom>
          <a:noFill/>
          <a:ln>
            <a:noFill/>
          </a:ln>
        </p:spPr>
      </p:pic>
      <p:pic>
        <p:nvPicPr>
          <p:cNvPr descr="image.png" id="722" name="Google Shape;722;p34"/>
          <p:cNvPicPr preferRelativeResize="0"/>
          <p:nvPr/>
        </p:nvPicPr>
        <p:blipFill rotWithShape="1">
          <a:blip r:embed="rId7">
            <a:alphaModFix/>
          </a:blip>
          <a:srcRect b="0" l="0" r="0" t="0"/>
          <a:stretch/>
        </p:blipFill>
        <p:spPr>
          <a:xfrm>
            <a:off x="8070800" y="1773435"/>
            <a:ext cx="3682900" cy="962917"/>
          </a:xfrm>
          <a:prstGeom prst="rect">
            <a:avLst/>
          </a:prstGeom>
          <a:noFill/>
          <a:ln>
            <a:noFill/>
          </a:ln>
        </p:spPr>
      </p:pic>
      <p:pic>
        <p:nvPicPr>
          <p:cNvPr descr="image.png" id="723" name="Google Shape;723;p34"/>
          <p:cNvPicPr preferRelativeResize="0"/>
          <p:nvPr/>
        </p:nvPicPr>
        <p:blipFill rotWithShape="1">
          <a:blip r:embed="rId8">
            <a:alphaModFix/>
          </a:blip>
          <a:srcRect b="0" l="0" r="0" t="0"/>
          <a:stretch/>
        </p:blipFill>
        <p:spPr>
          <a:xfrm>
            <a:off x="438150" y="6515100"/>
            <a:ext cx="11315700" cy="228600"/>
          </a:xfrm>
          <a:prstGeom prst="rect">
            <a:avLst/>
          </a:prstGeom>
          <a:noFill/>
          <a:ln>
            <a:noFill/>
          </a:ln>
        </p:spPr>
      </p:pic>
      <p:pic>
        <p:nvPicPr>
          <p:cNvPr descr="image.png" id="724" name="Google Shape;724;p34"/>
          <p:cNvPicPr preferRelativeResize="0"/>
          <p:nvPr/>
        </p:nvPicPr>
        <p:blipFill rotWithShape="1">
          <a:blip r:embed="rId9">
            <a:alphaModFix/>
          </a:blip>
          <a:srcRect b="0" l="0" r="0" t="0"/>
          <a:stretch/>
        </p:blipFill>
        <p:spPr>
          <a:xfrm>
            <a:off x="10494466" y="328612"/>
            <a:ext cx="1259383" cy="180975"/>
          </a:xfrm>
          <a:prstGeom prst="rect">
            <a:avLst/>
          </a:prstGeom>
          <a:noFill/>
          <a:ln>
            <a:noFill/>
          </a:ln>
        </p:spPr>
      </p:pic>
      <p:sp>
        <p:nvSpPr>
          <p:cNvPr id="725" name="Google Shape;725;p34"/>
          <p:cNvSpPr txBox="1"/>
          <p:nvPr/>
        </p:nvSpPr>
        <p:spPr>
          <a:xfrm>
            <a:off x="438150" y="1516260"/>
            <a:ext cx="11315700" cy="161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00" u="none" cap="none" strike="noStrike">
                <a:solidFill>
                  <a:srgbClr val="64748B"/>
                </a:solidFill>
                <a:latin typeface="Noto Sans SC"/>
                <a:ea typeface="Noto Sans SC"/>
                <a:cs typeface="Noto Sans SC"/>
                <a:sym typeface="Noto Sans SC"/>
              </a:rPr>
              <a:t>用于跨原型比较，避免绝对规模掩盖物理机制：</a:t>
            </a:r>
            <a:endParaRPr/>
          </a:p>
        </p:txBody>
      </p:sp>
      <p:sp>
        <p:nvSpPr>
          <p:cNvPr id="726" name="Google Shape;726;p34"/>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727" name="Google Shape;727;p34"/>
          <p:cNvSpPr txBox="1"/>
          <p:nvPr/>
        </p:nvSpPr>
        <p:spPr>
          <a:xfrm>
            <a:off x="11220003" y="6615112"/>
            <a:ext cx="533846"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BACKUP C</a:t>
            </a:r>
            <a:endParaRPr/>
          </a:p>
        </p:txBody>
      </p:sp>
      <p:pic>
        <p:nvPicPr>
          <p:cNvPr descr="image.png" id="728" name="Google Shape;728;p34"/>
          <p:cNvPicPr preferRelativeResize="0"/>
          <p:nvPr/>
        </p:nvPicPr>
        <p:blipFill rotWithShape="1">
          <a:blip r:embed="rId10">
            <a:alphaModFix/>
          </a:blip>
          <a:srcRect b="0" l="0" r="0" t="0"/>
          <a:stretch/>
        </p:blipFill>
        <p:spPr>
          <a:xfrm>
            <a:off x="438150" y="323850"/>
            <a:ext cx="996701" cy="190500"/>
          </a:xfrm>
          <a:prstGeom prst="rect">
            <a:avLst/>
          </a:prstGeom>
          <a:noFill/>
          <a:ln>
            <a:noFill/>
          </a:ln>
        </p:spPr>
      </p:pic>
      <p:sp>
        <p:nvSpPr>
          <p:cNvPr id="729" name="Google Shape;729;p34"/>
          <p:cNvSpPr txBox="1"/>
          <p:nvPr/>
        </p:nvSpPr>
        <p:spPr>
          <a:xfrm>
            <a:off x="581025" y="2974478"/>
            <a:ext cx="11029950" cy="169664"/>
          </a:xfrm>
          <a:prstGeom prst="rect">
            <a:avLst/>
          </a:prstGeom>
          <a:noFill/>
          <a:ln>
            <a:noFill/>
          </a:ln>
        </p:spPr>
        <p:txBody>
          <a:bodyPr anchorCtr="0" anchor="t" bIns="0" lIns="0" spcFirstLastPara="1" rIns="0" wrap="square" tIns="0">
            <a:spAutoFit/>
          </a:bodyPr>
          <a:lstStyle/>
          <a:p>
            <a:pPr indent="0" lvl="0" marL="0" marR="0" rtl="0" algn="l">
              <a:lnSpc>
                <a:spcPct val="154988"/>
              </a:lnSpc>
              <a:spcBef>
                <a:spcPts val="0"/>
              </a:spcBef>
              <a:spcAft>
                <a:spcPts val="0"/>
              </a:spcAft>
              <a:buNone/>
            </a:pPr>
            <a:r>
              <a:rPr b="1" i="0" lang="en-US" sz="862" u="none" cap="none" strike="noStrike">
                <a:solidFill>
                  <a:srgbClr val="475569"/>
                </a:solidFill>
                <a:latin typeface="Noto Sans SC"/>
                <a:ea typeface="Noto Sans SC"/>
                <a:cs typeface="Noto Sans SC"/>
                <a:sym typeface="Noto Sans SC"/>
              </a:rPr>
              <a:t>相空间映射：</a:t>
            </a:r>
            <a:r>
              <a:rPr b="0" i="0" lang="en-US" sz="862" u="none" cap="none" strike="noStrike">
                <a:solidFill>
                  <a:srgbClr val="475569"/>
                </a:solidFill>
                <a:latin typeface="Noto Sans SC"/>
                <a:ea typeface="Noto Sans SC"/>
                <a:cs typeface="Noto Sans SC"/>
                <a:sym typeface="Noto Sans SC"/>
              </a:rPr>
              <a:t>三者共同构成状态空间坐标，可精准映射线性响应、结构重构、Water-limited、WTP-limited、Reuse-limited 与 Quality-limited 区域。</a:t>
            </a:r>
            <a:endParaRPr/>
          </a:p>
        </p:txBody>
      </p:sp>
      <p:pic>
        <p:nvPicPr>
          <p:cNvPr descr="image.png" id="730" name="Google Shape;730;p34"/>
          <p:cNvPicPr preferRelativeResize="0"/>
          <p:nvPr/>
        </p:nvPicPr>
        <p:blipFill rotWithShape="1">
          <a:blip r:embed="rId11">
            <a:alphaModFix/>
          </a:blip>
          <a:srcRect b="0" l="0" r="0" t="0"/>
          <a:stretch/>
        </p:blipFill>
        <p:spPr>
          <a:xfrm>
            <a:off x="438150" y="6619875"/>
            <a:ext cx="81557" cy="104775"/>
          </a:xfrm>
          <a:prstGeom prst="rect">
            <a:avLst/>
          </a:prstGeom>
          <a:noFill/>
          <a:ln>
            <a:noFill/>
          </a:ln>
        </p:spPr>
      </p:pic>
      <p:pic>
        <p:nvPicPr>
          <p:cNvPr descr="image.png" id="731" name="Google Shape;731;p34"/>
          <p:cNvPicPr preferRelativeResize="0"/>
          <p:nvPr/>
        </p:nvPicPr>
        <p:blipFill rotWithShape="1">
          <a:blip r:embed="rId12">
            <a:alphaModFix/>
          </a:blip>
          <a:srcRect b="0" l="0" r="0" t="0"/>
          <a:stretch/>
        </p:blipFill>
        <p:spPr>
          <a:xfrm>
            <a:off x="542925" y="364331"/>
            <a:ext cx="92868" cy="109537"/>
          </a:xfrm>
          <a:prstGeom prst="rect">
            <a:avLst/>
          </a:prstGeom>
          <a:noFill/>
          <a:ln>
            <a:noFill/>
          </a:ln>
        </p:spPr>
      </p:pic>
      <p:sp>
        <p:nvSpPr>
          <p:cNvPr id="732" name="Google Shape;732;p34"/>
          <p:cNvSpPr txBox="1"/>
          <p:nvPr/>
        </p:nvSpPr>
        <p:spPr>
          <a:xfrm>
            <a:off x="619125" y="1935360"/>
            <a:ext cx="3486998"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ρAI (AI相对负荷)</a:t>
            </a:r>
            <a:endParaRPr/>
          </a:p>
        </p:txBody>
      </p:sp>
      <p:sp>
        <p:nvSpPr>
          <p:cNvPr id="733" name="Google Shape;733;p34"/>
          <p:cNvSpPr txBox="1"/>
          <p:nvPr/>
        </p:nvSpPr>
        <p:spPr>
          <a:xfrm>
            <a:off x="619125" y="2211585"/>
            <a:ext cx="33209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0F172A"/>
                </a:solidFill>
                <a:latin typeface="JetBrains Mono"/>
                <a:ea typeface="JetBrains Mono"/>
                <a:cs typeface="JetBrains Mono"/>
                <a:sym typeface="JetBrains Mono"/>
              </a:rPr>
              <a:t>Q_AI,peak / (C_WTP - Q_baseline)</a:t>
            </a:r>
            <a:endParaRPr/>
          </a:p>
        </p:txBody>
      </p:sp>
      <p:sp>
        <p:nvSpPr>
          <p:cNvPr id="734" name="Google Shape;734;p34"/>
          <p:cNvSpPr txBox="1"/>
          <p:nvPr/>
        </p:nvSpPr>
        <p:spPr>
          <a:xfrm>
            <a:off x="619125" y="2412057"/>
            <a:ext cx="33209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334155"/>
                </a:solidFill>
                <a:latin typeface="Noto Sans SC"/>
                <a:ea typeface="Noto Sans SC"/>
                <a:cs typeface="Noto Sans SC"/>
                <a:sym typeface="Noto Sans SC"/>
              </a:rPr>
              <a:t>AI峰值占剩余给水能力的比例</a:t>
            </a:r>
            <a:endParaRPr/>
          </a:p>
        </p:txBody>
      </p:sp>
      <p:sp>
        <p:nvSpPr>
          <p:cNvPr id="735" name="Google Shape;735;p34"/>
          <p:cNvSpPr txBox="1"/>
          <p:nvPr/>
        </p:nvSpPr>
        <p:spPr>
          <a:xfrm>
            <a:off x="4435375" y="1935360"/>
            <a:ext cx="3487154"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R (再生水自给能力)</a:t>
            </a:r>
            <a:endParaRPr/>
          </a:p>
        </p:txBody>
      </p:sp>
      <p:sp>
        <p:nvSpPr>
          <p:cNvPr id="736" name="Google Shape;736;p34"/>
          <p:cNvSpPr txBox="1"/>
          <p:nvPr/>
        </p:nvSpPr>
        <p:spPr>
          <a:xfrm>
            <a:off x="4435375" y="2211585"/>
            <a:ext cx="3321099"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0F172A"/>
                </a:solidFill>
                <a:latin typeface="JetBrains Mono"/>
                <a:ea typeface="JetBrains Mono"/>
                <a:cs typeface="JetBrains Mono"/>
                <a:sym typeface="JetBrains Mono"/>
              </a:rPr>
              <a:t>Q_reuse,available / Q_AI,makeup</a:t>
            </a:r>
            <a:endParaRPr/>
          </a:p>
        </p:txBody>
      </p:sp>
      <p:sp>
        <p:nvSpPr>
          <p:cNvPr id="737" name="Google Shape;737;p34"/>
          <p:cNvSpPr txBox="1"/>
          <p:nvPr/>
        </p:nvSpPr>
        <p:spPr>
          <a:xfrm>
            <a:off x="4435375" y="2412057"/>
            <a:ext cx="3321099"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334155"/>
                </a:solidFill>
                <a:latin typeface="Noto Sans SC"/>
                <a:ea typeface="Noto Sans SC"/>
                <a:cs typeface="Noto Sans SC"/>
                <a:sym typeface="Noto Sans SC"/>
              </a:rPr>
              <a:t>再生水满足AI冷却补水的能力</a:t>
            </a:r>
            <a:endParaRPr/>
          </a:p>
        </p:txBody>
      </p:sp>
      <p:sp>
        <p:nvSpPr>
          <p:cNvPr id="738" name="Google Shape;738;p34"/>
          <p:cNvSpPr txBox="1"/>
          <p:nvPr/>
        </p:nvSpPr>
        <p:spPr>
          <a:xfrm>
            <a:off x="8251775" y="1935360"/>
            <a:ext cx="3486998"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369A1"/>
                </a:solidFill>
                <a:latin typeface="Noto Sans SC"/>
                <a:ea typeface="Noto Sans SC"/>
                <a:cs typeface="Noto Sans SC"/>
                <a:sym typeface="Noto Sans SC"/>
              </a:rPr>
              <a:t>P (峰值同步程度)</a:t>
            </a:r>
            <a:endParaRPr/>
          </a:p>
        </p:txBody>
      </p:sp>
      <p:sp>
        <p:nvSpPr>
          <p:cNvPr id="739" name="Google Shape;739;p34"/>
          <p:cNvSpPr txBox="1"/>
          <p:nvPr/>
        </p:nvSpPr>
        <p:spPr>
          <a:xfrm>
            <a:off x="8251775" y="2211585"/>
            <a:ext cx="33209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0F172A"/>
                </a:solidFill>
                <a:latin typeface="JetBrains Mono"/>
                <a:ea typeface="JetBrains Mono"/>
                <a:cs typeface="JetBrains Mono"/>
                <a:sym typeface="JetBrains Mono"/>
              </a:rPr>
              <a:t>Pr(q_AI&gt;q*, q_urban&gt;q*, T_wb&gt;T*)</a:t>
            </a:r>
            <a:endParaRPr/>
          </a:p>
        </p:txBody>
      </p:sp>
      <p:sp>
        <p:nvSpPr>
          <p:cNvPr id="740" name="Google Shape;740;p34"/>
          <p:cNvSpPr txBox="1"/>
          <p:nvPr/>
        </p:nvSpPr>
        <p:spPr>
          <a:xfrm>
            <a:off x="8251775" y="2412057"/>
            <a:ext cx="3320950"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334155"/>
                </a:solidFill>
                <a:latin typeface="Noto Sans SC"/>
                <a:ea typeface="Noto Sans SC"/>
                <a:cs typeface="Noto Sans SC"/>
                <a:sym typeface="Noto Sans SC"/>
              </a:rPr>
              <a:t>联合超阈值概率（加权窗口）</a:t>
            </a:r>
            <a:endParaRPr/>
          </a:p>
        </p:txBody>
      </p:sp>
      <p:sp>
        <p:nvSpPr>
          <p:cNvPr id="741" name="Google Shape;741;p34"/>
          <p:cNvSpPr txBox="1"/>
          <p:nvPr/>
        </p:nvSpPr>
        <p:spPr>
          <a:xfrm>
            <a:off x="571500" y="800100"/>
            <a:ext cx="11049000"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FFFFFF"/>
                </a:solidFill>
                <a:latin typeface="Noto Sans SC"/>
                <a:ea typeface="Noto Sans SC"/>
                <a:cs typeface="Noto Sans SC"/>
                <a:sym typeface="Noto Sans SC"/>
              </a:rPr>
              <a:t>BACKUP C</a:t>
            </a:r>
            <a:endParaRPr/>
          </a:p>
        </p:txBody>
      </p:sp>
      <p:sp>
        <p:nvSpPr>
          <p:cNvPr id="742" name="Google Shape;742;p34"/>
          <p:cNvSpPr txBox="1"/>
          <p:nvPr/>
        </p:nvSpPr>
        <p:spPr>
          <a:xfrm>
            <a:off x="438150" y="106680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无量纲状态变量定义</a:t>
            </a:r>
            <a:endParaRPr/>
          </a:p>
        </p:txBody>
      </p:sp>
      <p:sp>
        <p:nvSpPr>
          <p:cNvPr id="743" name="Google Shape;743;p34"/>
          <p:cNvSpPr/>
          <p:nvPr/>
        </p:nvSpPr>
        <p:spPr>
          <a:xfrm>
            <a:off x="438150" y="136386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747" name="Shape 747"/>
        <p:cNvGrpSpPr/>
        <p:nvPr/>
      </p:nvGrpSpPr>
      <p:grpSpPr>
        <a:xfrm>
          <a:off x="0" y="0"/>
          <a:ext cx="0" cy="0"/>
          <a:chOff x="0" y="0"/>
          <a:chExt cx="0" cy="0"/>
        </a:xfrm>
      </p:grpSpPr>
      <p:sp>
        <p:nvSpPr>
          <p:cNvPr id="748" name="Rounded Rectangle 747"/>
          <p:cNvSpPr/>
          <p:nvPr/>
        </p:nvSpPr>
        <p:spPr>
          <a:xfrm>
            <a:off x="502920" y="301752"/>
            <a:ext cx="205740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TextBox 748"/>
          <p:cNvSpPr txBox="1"/>
          <p:nvPr/>
        </p:nvSpPr>
        <p:spPr>
          <a:xfrm>
            <a:off x="594360" y="315468"/>
            <a:ext cx="1874519" cy="201168"/>
          </a:xfrm>
          <a:prstGeom prst="rect">
            <a:avLst/>
          </a:prstGeom>
          <a:noFill/>
        </p:spPr>
        <p:txBody>
          <a:bodyPr wrap="square" lIns="0" rIns="0" tIns="0" bIns="0" anchor="ctr">
            <a:spAutoFit/>
          </a:bodyPr>
          <a:lstStyle/>
          <a:p>
            <a:pPr algn="ctr"/>
            <a:r>
              <a:rPr sz="950" b="1" i="0">
                <a:solidFill>
                  <a:srgbClr val="2388C9"/>
                </a:solidFill>
                <a:latin typeface="Microsoft YaHei"/>
              </a:rPr>
              <a:t>BACKUP D / MECHANISM</a:t>
            </a:r>
          </a:p>
        </p:txBody>
      </p:sp>
      <p:sp>
        <p:nvSpPr>
          <p:cNvPr id="750" name="TextBox 749"/>
          <p:cNvSpPr txBox="1"/>
          <p:nvPr/>
        </p:nvSpPr>
        <p:spPr>
          <a:xfrm>
            <a:off x="502920" y="713232"/>
            <a:ext cx="9966960" cy="457200"/>
          </a:xfrm>
          <a:prstGeom prst="rect">
            <a:avLst/>
          </a:prstGeom>
          <a:noFill/>
        </p:spPr>
        <p:txBody>
          <a:bodyPr wrap="square" lIns="0" rIns="0" tIns="0" bIns="0" anchor="t">
            <a:spAutoFit/>
          </a:bodyPr>
          <a:lstStyle/>
          <a:p>
            <a:pPr algn="l"/>
            <a:r>
              <a:rPr sz="2400" b="1" i="0">
                <a:solidFill>
                  <a:srgbClr val="172B4D"/>
                </a:solidFill>
                <a:latin typeface="Microsoft YaHei"/>
              </a:rPr>
              <a:t>机制识别：结构方程与反事实干预如何接上模型</a:t>
            </a:r>
          </a:p>
        </p:txBody>
      </p:sp>
      <p:sp>
        <p:nvSpPr>
          <p:cNvPr id="751" name="TextBox 750"/>
          <p:cNvSpPr txBox="1"/>
          <p:nvPr/>
        </p:nvSpPr>
        <p:spPr>
          <a:xfrm>
            <a:off x="530352" y="1188720"/>
            <a:ext cx="9875520" cy="256032"/>
          </a:xfrm>
          <a:prstGeom prst="rect">
            <a:avLst/>
          </a:prstGeom>
          <a:noFill/>
        </p:spPr>
        <p:txBody>
          <a:bodyPr wrap="square" lIns="0" rIns="0" tIns="0" bIns="0" anchor="t">
            <a:spAutoFit/>
          </a:bodyPr>
          <a:lstStyle/>
          <a:p>
            <a:pPr algn="l"/>
            <a:r>
              <a:rPr sz="1200" b="0" i="0">
                <a:solidFill>
                  <a:srgbClr val="68788C"/>
                </a:solidFill>
                <a:latin typeface="Microsoft YaHei"/>
              </a:rPr>
              <a:t>DAG用于明确路径与可干预节点，SCM输出模型条件下的机制效应。</a:t>
            </a:r>
          </a:p>
        </p:txBody>
      </p:sp>
      <p:sp>
        <p:nvSpPr>
          <p:cNvPr id="752" name="Rounded Rectangle 751"/>
          <p:cNvSpPr/>
          <p:nvPr/>
        </p:nvSpPr>
        <p:spPr>
          <a:xfrm>
            <a:off x="713232" y="1874519"/>
            <a:ext cx="1600200" cy="530352"/>
          </a:xfrm>
          <a:prstGeom prst="roundRect">
            <a:avLst/>
          </a:prstGeom>
          <a:solidFill>
            <a:srgbClr val="FFF7F3"/>
          </a:solidFill>
          <a:ln w="11430">
            <a:solidFill>
              <a:srgbClr val="C64B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TextBox 752"/>
          <p:cNvSpPr txBox="1"/>
          <p:nvPr/>
        </p:nvSpPr>
        <p:spPr>
          <a:xfrm>
            <a:off x="786384" y="1947672"/>
            <a:ext cx="1453896" cy="420623"/>
          </a:xfrm>
          <a:prstGeom prst="rect">
            <a:avLst/>
          </a:prstGeom>
          <a:noFill/>
        </p:spPr>
        <p:txBody>
          <a:bodyPr wrap="square" lIns="0" rIns="0" tIns="0" bIns="0" anchor="ctr">
            <a:spAutoFit/>
          </a:bodyPr>
          <a:lstStyle/>
          <a:p>
            <a:pPr algn="ctr"/>
            <a:r>
              <a:rPr sz="1200" b="1" i="0">
                <a:solidFill>
                  <a:srgbClr val="172B4D"/>
                </a:solidFill>
                <a:latin typeface="Microsoft YaHei"/>
              </a:rPr>
              <a:t>气候 / 湿球温度</a:t>
            </a:r>
          </a:p>
        </p:txBody>
      </p:sp>
      <p:sp>
        <p:nvSpPr>
          <p:cNvPr id="754" name="Rounded Rectangle 753"/>
          <p:cNvSpPr/>
          <p:nvPr/>
        </p:nvSpPr>
        <p:spPr>
          <a:xfrm>
            <a:off x="713232" y="3127248"/>
            <a:ext cx="1600200" cy="530352"/>
          </a:xfrm>
          <a:prstGeom prst="roundRect">
            <a:avLst/>
          </a:prstGeom>
          <a:solidFill>
            <a:srgbClr val="E9F2FA"/>
          </a:solidFill>
          <a:ln w="11430">
            <a:solidFill>
              <a:srgbClr val="2388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TextBox 754"/>
          <p:cNvSpPr txBox="1"/>
          <p:nvPr/>
        </p:nvSpPr>
        <p:spPr>
          <a:xfrm>
            <a:off x="786384" y="3200400"/>
            <a:ext cx="1453896" cy="420623"/>
          </a:xfrm>
          <a:prstGeom prst="rect">
            <a:avLst/>
          </a:prstGeom>
          <a:noFill/>
        </p:spPr>
        <p:txBody>
          <a:bodyPr wrap="square" lIns="0" rIns="0" tIns="0" bIns="0" anchor="ctr">
            <a:spAutoFit/>
          </a:bodyPr>
          <a:lstStyle/>
          <a:p>
            <a:pPr algn="ctr"/>
            <a:r>
              <a:rPr sz="1200" b="1" i="0">
                <a:solidFill>
                  <a:srgbClr val="172B4D"/>
                </a:solidFill>
                <a:latin typeface="Microsoft YaHei"/>
              </a:rPr>
              <a:t>AI容量</a:t>
            </a:r>
          </a:p>
        </p:txBody>
      </p:sp>
      <p:sp>
        <p:nvSpPr>
          <p:cNvPr id="756" name="Rounded Rectangle 755"/>
          <p:cNvSpPr/>
          <p:nvPr/>
        </p:nvSpPr>
        <p:spPr>
          <a:xfrm>
            <a:off x="2788920" y="1874519"/>
            <a:ext cx="1600200" cy="530352"/>
          </a:xfrm>
          <a:prstGeom prst="roundRect">
            <a:avLst/>
          </a:prstGeom>
          <a:solidFill>
            <a:srgbClr val="E9F2FA"/>
          </a:solidFill>
          <a:ln w="11430">
            <a:solidFill>
              <a:srgbClr val="1B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TextBox 756"/>
          <p:cNvSpPr txBox="1"/>
          <p:nvPr/>
        </p:nvSpPr>
        <p:spPr>
          <a:xfrm>
            <a:off x="2862072" y="1947672"/>
            <a:ext cx="1453896" cy="420623"/>
          </a:xfrm>
          <a:prstGeom prst="rect">
            <a:avLst/>
          </a:prstGeom>
          <a:noFill/>
        </p:spPr>
        <p:txBody>
          <a:bodyPr wrap="square" lIns="0" rIns="0" tIns="0" bIns="0" anchor="ctr">
            <a:spAutoFit/>
          </a:bodyPr>
          <a:lstStyle/>
          <a:p>
            <a:pPr algn="ctr"/>
            <a:r>
              <a:rPr sz="1200" b="1" i="0">
                <a:solidFill>
                  <a:srgbClr val="172B4D"/>
                </a:solidFill>
                <a:latin typeface="Microsoft YaHei"/>
              </a:rPr>
              <a:t>城市基线需水</a:t>
            </a:r>
          </a:p>
        </p:txBody>
      </p:sp>
      <p:sp>
        <p:nvSpPr>
          <p:cNvPr id="758" name="Rounded Rectangle 757"/>
          <p:cNvSpPr/>
          <p:nvPr/>
        </p:nvSpPr>
        <p:spPr>
          <a:xfrm>
            <a:off x="2788920" y="3127248"/>
            <a:ext cx="1600200" cy="530352"/>
          </a:xfrm>
          <a:prstGeom prst="roundRect">
            <a:avLst/>
          </a:prstGeom>
          <a:solidFill>
            <a:srgbClr val="E9F2FA"/>
          </a:solidFill>
          <a:ln w="11430">
            <a:solidFill>
              <a:srgbClr val="2388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TextBox 758"/>
          <p:cNvSpPr txBox="1"/>
          <p:nvPr/>
        </p:nvSpPr>
        <p:spPr>
          <a:xfrm>
            <a:off x="2862072" y="3200400"/>
            <a:ext cx="1453896" cy="420623"/>
          </a:xfrm>
          <a:prstGeom prst="rect">
            <a:avLst/>
          </a:prstGeom>
          <a:noFill/>
        </p:spPr>
        <p:txBody>
          <a:bodyPr wrap="square" lIns="0" rIns="0" tIns="0" bIns="0" anchor="ctr">
            <a:spAutoFit/>
          </a:bodyPr>
          <a:lstStyle/>
          <a:p>
            <a:pPr algn="ctr"/>
            <a:r>
              <a:rPr sz="1200" b="1" i="0">
                <a:solidFill>
                  <a:srgbClr val="172B4D"/>
                </a:solidFill>
                <a:latin typeface="Microsoft YaHei"/>
              </a:rPr>
              <a:t>IT负荷</a:t>
            </a:r>
          </a:p>
        </p:txBody>
      </p:sp>
      <p:sp>
        <p:nvSpPr>
          <p:cNvPr id="760" name="Rounded Rectangle 759"/>
          <p:cNvSpPr/>
          <p:nvPr/>
        </p:nvSpPr>
        <p:spPr>
          <a:xfrm>
            <a:off x="4864608" y="2505456"/>
            <a:ext cx="1600200" cy="530352"/>
          </a:xfrm>
          <a:prstGeom prst="roundRect">
            <a:avLst/>
          </a:prstGeom>
          <a:solidFill>
            <a:srgbClr val="E9F2FA"/>
          </a:solidFill>
          <a:ln w="11430">
            <a:solidFill>
              <a:srgbClr val="2EA7C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TextBox 760"/>
          <p:cNvSpPr txBox="1"/>
          <p:nvPr/>
        </p:nvSpPr>
        <p:spPr>
          <a:xfrm>
            <a:off x="4937760" y="2578608"/>
            <a:ext cx="1453896" cy="420623"/>
          </a:xfrm>
          <a:prstGeom prst="rect">
            <a:avLst/>
          </a:prstGeom>
          <a:noFill/>
        </p:spPr>
        <p:txBody>
          <a:bodyPr wrap="square" lIns="0" rIns="0" tIns="0" bIns="0" anchor="ctr">
            <a:spAutoFit/>
          </a:bodyPr>
          <a:lstStyle/>
          <a:p>
            <a:pPr algn="ctr"/>
            <a:r>
              <a:rPr sz="1200" b="1" i="0">
                <a:solidFill>
                  <a:srgbClr val="172B4D"/>
                </a:solidFill>
                <a:latin typeface="Microsoft YaHei"/>
              </a:rPr>
              <a:t>冷却需求</a:t>
            </a:r>
          </a:p>
        </p:txBody>
      </p:sp>
      <p:sp>
        <p:nvSpPr>
          <p:cNvPr id="762" name="Rounded Rectangle 761"/>
          <p:cNvSpPr/>
          <p:nvPr/>
        </p:nvSpPr>
        <p:spPr>
          <a:xfrm>
            <a:off x="6931152" y="2505456"/>
            <a:ext cx="1600200" cy="530352"/>
          </a:xfrm>
          <a:prstGeom prst="roundRect">
            <a:avLst/>
          </a:prstGeom>
          <a:solidFill>
            <a:srgbClr val="E9F2FA"/>
          </a:solidFill>
          <a:ln w="11430">
            <a:solidFill>
              <a:srgbClr val="1B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TextBox 762"/>
          <p:cNvSpPr txBox="1"/>
          <p:nvPr/>
        </p:nvSpPr>
        <p:spPr>
          <a:xfrm>
            <a:off x="7004304" y="2578608"/>
            <a:ext cx="1453896" cy="420623"/>
          </a:xfrm>
          <a:prstGeom prst="rect">
            <a:avLst/>
          </a:prstGeom>
          <a:noFill/>
        </p:spPr>
        <p:txBody>
          <a:bodyPr wrap="square" lIns="0" rIns="0" tIns="0" bIns="0" anchor="ctr">
            <a:spAutoFit/>
          </a:bodyPr>
          <a:lstStyle/>
          <a:p>
            <a:pPr algn="ctr"/>
            <a:r>
              <a:rPr sz="1200" b="1" i="0">
                <a:solidFill>
                  <a:srgbClr val="172B4D"/>
                </a:solidFill>
                <a:latin typeface="Microsoft YaHei"/>
              </a:rPr>
              <a:t>峰值压力</a:t>
            </a:r>
          </a:p>
        </p:txBody>
      </p:sp>
      <p:sp>
        <p:nvSpPr>
          <p:cNvPr id="764" name="Rounded Rectangle 763"/>
          <p:cNvSpPr/>
          <p:nvPr/>
        </p:nvSpPr>
        <p:spPr>
          <a:xfrm>
            <a:off x="8997696" y="2505456"/>
            <a:ext cx="1325880" cy="530352"/>
          </a:xfrm>
          <a:prstGeom prst="roundRect">
            <a:avLst/>
          </a:prstGeom>
          <a:solidFill>
            <a:srgbClr val="E8F4EF"/>
          </a:solidFill>
          <a:ln w="11430">
            <a:solidFill>
              <a:srgbClr val="1BA6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TextBox 764"/>
          <p:cNvSpPr txBox="1"/>
          <p:nvPr/>
        </p:nvSpPr>
        <p:spPr>
          <a:xfrm>
            <a:off x="9070848" y="2578608"/>
            <a:ext cx="1179576" cy="420623"/>
          </a:xfrm>
          <a:prstGeom prst="rect">
            <a:avLst/>
          </a:prstGeom>
          <a:noFill/>
        </p:spPr>
        <p:txBody>
          <a:bodyPr wrap="square" lIns="0" rIns="0" tIns="0" bIns="0" anchor="ctr">
            <a:spAutoFit/>
          </a:bodyPr>
          <a:lstStyle/>
          <a:p>
            <a:pPr algn="ctr"/>
            <a:r>
              <a:rPr sz="1200" b="1" i="0">
                <a:solidFill>
                  <a:srgbClr val="172B4D"/>
                </a:solidFill>
                <a:latin typeface="Microsoft YaHei"/>
              </a:rPr>
              <a:t>CAWCC</a:t>
            </a:r>
          </a:p>
        </p:txBody>
      </p:sp>
      <p:sp>
        <p:nvSpPr>
          <p:cNvPr id="766" name="TextBox 765"/>
          <p:cNvSpPr txBox="1"/>
          <p:nvPr/>
        </p:nvSpPr>
        <p:spPr>
          <a:xfrm>
            <a:off x="2359152" y="2057400"/>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67" name="TextBox 766"/>
          <p:cNvSpPr txBox="1"/>
          <p:nvPr/>
        </p:nvSpPr>
        <p:spPr>
          <a:xfrm>
            <a:off x="2359152" y="3310128"/>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68" name="TextBox 767"/>
          <p:cNvSpPr txBox="1"/>
          <p:nvPr/>
        </p:nvSpPr>
        <p:spPr>
          <a:xfrm>
            <a:off x="4434840" y="3310128"/>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69" name="TextBox 768"/>
          <p:cNvSpPr txBox="1"/>
          <p:nvPr/>
        </p:nvSpPr>
        <p:spPr>
          <a:xfrm>
            <a:off x="4434840" y="2057400"/>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70" name="TextBox 769"/>
          <p:cNvSpPr txBox="1"/>
          <p:nvPr/>
        </p:nvSpPr>
        <p:spPr>
          <a:xfrm>
            <a:off x="6501384" y="2761488"/>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71" name="TextBox 770"/>
          <p:cNvSpPr txBox="1"/>
          <p:nvPr/>
        </p:nvSpPr>
        <p:spPr>
          <a:xfrm>
            <a:off x="8567928" y="2761488"/>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72" name="TextBox 771"/>
          <p:cNvSpPr txBox="1"/>
          <p:nvPr/>
        </p:nvSpPr>
        <p:spPr>
          <a:xfrm>
            <a:off x="4434840" y="1993392"/>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73" name="TextBox 772"/>
          <p:cNvSpPr txBox="1"/>
          <p:nvPr/>
        </p:nvSpPr>
        <p:spPr>
          <a:xfrm>
            <a:off x="6501384" y="1993392"/>
            <a:ext cx="219456" cy="274320"/>
          </a:xfrm>
          <a:prstGeom prst="rect">
            <a:avLst/>
          </a:prstGeom>
          <a:noFill/>
        </p:spPr>
        <p:txBody>
          <a:bodyPr wrap="square" lIns="0" rIns="0" tIns="0" bIns="0" anchor="t">
            <a:spAutoFit/>
          </a:bodyPr>
          <a:lstStyle/>
          <a:p>
            <a:pPr algn="ctr"/>
            <a:r>
              <a:rPr sz="2000" b="1" i="0">
                <a:solidFill>
                  <a:srgbClr val="1BA6A6"/>
                </a:solidFill>
                <a:latin typeface="Microsoft YaHei"/>
              </a:rPr>
              <a:t>→</a:t>
            </a:r>
          </a:p>
        </p:txBody>
      </p:sp>
      <p:sp>
        <p:nvSpPr>
          <p:cNvPr id="774" name="Rounded Rectangle 773"/>
          <p:cNvSpPr/>
          <p:nvPr/>
        </p:nvSpPr>
        <p:spPr>
          <a:xfrm>
            <a:off x="713232" y="4187952"/>
            <a:ext cx="6217920" cy="98755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TextBox 774"/>
          <p:cNvSpPr txBox="1"/>
          <p:nvPr/>
        </p:nvSpPr>
        <p:spPr>
          <a:xfrm>
            <a:off x="941832" y="4407408"/>
            <a:ext cx="1005840" cy="210312"/>
          </a:xfrm>
          <a:prstGeom prst="rect">
            <a:avLst/>
          </a:prstGeom>
          <a:noFill/>
        </p:spPr>
        <p:txBody>
          <a:bodyPr wrap="square" lIns="0" rIns="0" tIns="0" bIns="0" anchor="t">
            <a:spAutoFit/>
          </a:bodyPr>
          <a:lstStyle/>
          <a:p>
            <a:pPr algn="l"/>
            <a:r>
              <a:rPr sz="1500" b="1" i="0">
                <a:solidFill>
                  <a:srgbClr val="172B4D"/>
                </a:solidFill>
                <a:latin typeface="Microsoft YaHei"/>
              </a:rPr>
              <a:t>路径含义</a:t>
            </a:r>
          </a:p>
        </p:txBody>
      </p:sp>
      <p:sp>
        <p:nvSpPr>
          <p:cNvPr id="776" name="TextBox 775"/>
          <p:cNvSpPr txBox="1"/>
          <p:nvPr/>
        </p:nvSpPr>
        <p:spPr>
          <a:xfrm>
            <a:off x="1874519" y="4370832"/>
            <a:ext cx="4754880" cy="438912"/>
          </a:xfrm>
          <a:prstGeom prst="rect">
            <a:avLst/>
          </a:prstGeom>
          <a:noFill/>
        </p:spPr>
        <p:txBody>
          <a:bodyPr wrap="square" lIns="0" rIns="0" tIns="0" bIns="0" anchor="t">
            <a:spAutoFit/>
          </a:bodyPr>
          <a:lstStyle/>
          <a:p>
            <a:pPr algn="l"/>
            <a:r>
              <a:rPr sz="1200" b="0" i="0">
                <a:solidFill>
                  <a:srgbClr val="53657A"/>
                </a:solidFill>
                <a:latin typeface="Microsoft YaHei"/>
              </a:rPr>
              <a:t>气候同时影响冷却需求与城市基线需水；AI容量先进入IT负荷，再进入冷却需求；两条路径在峰值压力处汇合。</a:t>
            </a:r>
          </a:p>
        </p:txBody>
      </p:sp>
      <p:sp>
        <p:nvSpPr>
          <p:cNvPr id="777" name="Rounded Rectangle 776"/>
          <p:cNvSpPr/>
          <p:nvPr/>
        </p:nvSpPr>
        <p:spPr>
          <a:xfrm>
            <a:off x="7205472" y="4187952"/>
            <a:ext cx="3401568" cy="987552"/>
          </a:xfrm>
          <a:prstGeom prst="roundRect">
            <a:avLst/>
          </a:prstGeom>
          <a:solidFill>
            <a:srgbClr val="FFF7F3"/>
          </a:solidFill>
          <a:ln w="11430">
            <a:solidFill>
              <a:srgbClr val="E6C4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TextBox 777"/>
          <p:cNvSpPr txBox="1"/>
          <p:nvPr/>
        </p:nvSpPr>
        <p:spPr>
          <a:xfrm>
            <a:off x="7434072" y="4407408"/>
            <a:ext cx="1097280" cy="210312"/>
          </a:xfrm>
          <a:prstGeom prst="rect">
            <a:avLst/>
          </a:prstGeom>
          <a:noFill/>
        </p:spPr>
        <p:txBody>
          <a:bodyPr wrap="square" lIns="0" rIns="0" tIns="0" bIns="0" anchor="t">
            <a:spAutoFit/>
          </a:bodyPr>
          <a:lstStyle/>
          <a:p>
            <a:pPr algn="l"/>
            <a:r>
              <a:rPr sz="1500" b="1" i="0">
                <a:solidFill>
                  <a:srgbClr val="C64B55"/>
                </a:solidFill>
                <a:latin typeface="Microsoft YaHei"/>
              </a:rPr>
              <a:t>干预节点</a:t>
            </a:r>
          </a:p>
        </p:txBody>
      </p:sp>
      <p:sp>
        <p:nvSpPr>
          <p:cNvPr id="779" name="TextBox 778"/>
          <p:cNvSpPr txBox="1"/>
          <p:nvPr/>
        </p:nvSpPr>
        <p:spPr>
          <a:xfrm>
            <a:off x="8412480" y="4389120"/>
            <a:ext cx="1920240" cy="438912"/>
          </a:xfrm>
          <a:prstGeom prst="rect">
            <a:avLst/>
          </a:prstGeom>
          <a:noFill/>
        </p:spPr>
        <p:txBody>
          <a:bodyPr wrap="square" lIns="0" rIns="0" tIns="0" bIns="0" anchor="t">
            <a:spAutoFit/>
          </a:bodyPr>
          <a:lstStyle/>
          <a:p>
            <a:pPr algn="l"/>
            <a:r>
              <a:rPr sz="1100" b="0" i="0">
                <a:solidFill>
                  <a:srgbClr val="53657A"/>
                </a:solidFill>
                <a:latin typeface="Microsoft YaHei"/>
              </a:rPr>
              <a:t>AI容量、再生水配置、WTP/WWTP扩容、相位错峰。</a:t>
            </a:r>
          </a:p>
        </p:txBody>
      </p:sp>
      <p:sp>
        <p:nvSpPr>
          <p:cNvPr id="780" name="TextBox 779"/>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68788C"/>
                </a:solidFill>
                <a:latin typeface="Microsoft YaHei"/>
              </a:rPr>
              <a:t>哈尔滨工业大学 · 硕士学位论文开题答辩</a:t>
            </a:r>
          </a:p>
        </p:txBody>
      </p:sp>
      <p:sp>
        <p:nvSpPr>
          <p:cNvPr id="781" name="TextBox 780"/>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68788C"/>
                </a:solidFill>
                <a:latin typeface="Microsoft YaHei"/>
              </a:rPr>
              <a:t>23 / MECHANISM</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751" name="Shape 751"/>
        <p:cNvGrpSpPr/>
        <p:nvPr/>
      </p:nvGrpSpPr>
      <p:grpSpPr>
        <a:xfrm>
          <a:off x="0" y="0"/>
          <a:ext cx="0" cy="0"/>
          <a:chOff x="0" y="0"/>
          <a:chExt cx="0" cy="0"/>
        </a:xfrm>
      </p:grpSpPr>
      <p:sp>
        <p:nvSpPr>
          <p:cNvPr id="752" name="Rounded Rectangle 751"/>
          <p:cNvSpPr/>
          <p:nvPr/>
        </p:nvSpPr>
        <p:spPr>
          <a:xfrm>
            <a:off x="502920" y="301752"/>
            <a:ext cx="214884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TextBox 752"/>
          <p:cNvSpPr txBox="1"/>
          <p:nvPr/>
        </p:nvSpPr>
        <p:spPr>
          <a:xfrm>
            <a:off x="594360" y="315468"/>
            <a:ext cx="1965960" cy="201168"/>
          </a:xfrm>
          <a:prstGeom prst="rect">
            <a:avLst/>
          </a:prstGeom>
          <a:noFill/>
        </p:spPr>
        <p:txBody>
          <a:bodyPr wrap="square" lIns="0" rIns="0" tIns="0" bIns="0" anchor="ctr">
            <a:spAutoFit/>
          </a:bodyPr>
          <a:lstStyle/>
          <a:p>
            <a:pPr algn="ctr"/>
            <a:r>
              <a:rPr sz="950" b="1" i="0">
                <a:solidFill>
                  <a:srgbClr val="2388C9"/>
                </a:solidFill>
                <a:latin typeface="Microsoft YaHei"/>
              </a:rPr>
              <a:t>BACKUP E / VALIDATION</a:t>
            </a:r>
          </a:p>
        </p:txBody>
      </p:sp>
      <p:sp>
        <p:nvSpPr>
          <p:cNvPr id="754" name="TextBox 753"/>
          <p:cNvSpPr txBox="1"/>
          <p:nvPr/>
        </p:nvSpPr>
        <p:spPr>
          <a:xfrm>
            <a:off x="502920" y="713232"/>
            <a:ext cx="9875520" cy="457200"/>
          </a:xfrm>
          <a:prstGeom prst="rect">
            <a:avLst/>
          </a:prstGeom>
          <a:noFill/>
        </p:spPr>
        <p:txBody>
          <a:bodyPr wrap="square" lIns="0" rIns="0" tIns="0" bIns="0" anchor="t">
            <a:spAutoFit/>
          </a:bodyPr>
          <a:lstStyle/>
          <a:p>
            <a:pPr algn="l"/>
            <a:r>
              <a:rPr sz="2400" b="1" i="0">
                <a:solidFill>
                  <a:srgbClr val="172B4D"/>
                </a:solidFill>
                <a:latin typeface="Microsoft YaHei"/>
              </a:rPr>
              <a:t>验证与不确定性：让结论落在可复核证据上</a:t>
            </a:r>
          </a:p>
        </p:txBody>
      </p:sp>
      <p:sp>
        <p:nvSpPr>
          <p:cNvPr id="755" name="TextBox 754"/>
          <p:cNvSpPr txBox="1"/>
          <p:nvPr/>
        </p:nvSpPr>
        <p:spPr>
          <a:xfrm>
            <a:off x="530352" y="1188720"/>
            <a:ext cx="9875520" cy="256032"/>
          </a:xfrm>
          <a:prstGeom prst="rect">
            <a:avLst/>
          </a:prstGeom>
          <a:noFill/>
        </p:spPr>
        <p:txBody>
          <a:bodyPr wrap="square" lIns="0" rIns="0" tIns="0" bIns="0" anchor="t">
            <a:spAutoFit/>
          </a:bodyPr>
          <a:lstStyle/>
          <a:p>
            <a:pPr algn="l"/>
            <a:r>
              <a:rPr sz="1200" b="0" i="0">
                <a:solidFill>
                  <a:srgbClr val="68788C"/>
                </a:solidFill>
                <a:latin typeface="Microsoft YaHei"/>
              </a:rPr>
              <a:t>现实证据限定数量级与参数域，连续参数空间负责比较、复核与适用域外推。</a:t>
            </a:r>
          </a:p>
        </p:txBody>
      </p:sp>
      <p:sp>
        <p:nvSpPr>
          <p:cNvPr id="756" name="Rounded Rectangle 755"/>
          <p:cNvSpPr/>
          <p:nvPr/>
        </p:nvSpPr>
        <p:spPr>
          <a:xfrm>
            <a:off x="658368" y="1755648"/>
            <a:ext cx="4572000" cy="94183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Rounded Rectangle 756"/>
          <p:cNvSpPr/>
          <p:nvPr/>
        </p:nvSpPr>
        <p:spPr>
          <a:xfrm>
            <a:off x="859536" y="1938528"/>
            <a:ext cx="86868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TextBox 757"/>
          <p:cNvSpPr txBox="1"/>
          <p:nvPr/>
        </p:nvSpPr>
        <p:spPr>
          <a:xfrm>
            <a:off x="950976" y="1952244"/>
            <a:ext cx="685800" cy="201168"/>
          </a:xfrm>
          <a:prstGeom prst="rect">
            <a:avLst/>
          </a:prstGeom>
          <a:noFill/>
        </p:spPr>
        <p:txBody>
          <a:bodyPr wrap="square" lIns="0" rIns="0" tIns="0" bIns="0" anchor="ctr">
            <a:spAutoFit/>
          </a:bodyPr>
          <a:lstStyle/>
          <a:p>
            <a:pPr algn="ctr"/>
            <a:r>
              <a:rPr sz="950" b="1" i="0">
                <a:solidFill>
                  <a:srgbClr val="2388C9"/>
                </a:solidFill>
                <a:latin typeface="Microsoft YaHei"/>
              </a:rPr>
              <a:t>LAYER 1</a:t>
            </a:r>
          </a:p>
        </p:txBody>
      </p:sp>
      <p:sp>
        <p:nvSpPr>
          <p:cNvPr id="759" name="TextBox 758"/>
          <p:cNvSpPr txBox="1"/>
          <p:nvPr/>
        </p:nvSpPr>
        <p:spPr>
          <a:xfrm>
            <a:off x="1920239" y="1920240"/>
            <a:ext cx="1188720" cy="210312"/>
          </a:xfrm>
          <a:prstGeom prst="rect">
            <a:avLst/>
          </a:prstGeom>
          <a:noFill/>
        </p:spPr>
        <p:txBody>
          <a:bodyPr wrap="square" lIns="0" rIns="0" tIns="0" bIns="0" anchor="t">
            <a:spAutoFit/>
          </a:bodyPr>
          <a:lstStyle/>
          <a:p>
            <a:pPr algn="l"/>
            <a:r>
              <a:rPr sz="1500" b="1" i="0">
                <a:solidFill>
                  <a:srgbClr val="2388C9"/>
                </a:solidFill>
                <a:latin typeface="Microsoft YaHei"/>
              </a:rPr>
              <a:t>过程级</a:t>
            </a:r>
          </a:p>
        </p:txBody>
      </p:sp>
      <p:sp>
        <p:nvSpPr>
          <p:cNvPr id="760" name="TextBox 759"/>
          <p:cNvSpPr txBox="1"/>
          <p:nvPr/>
        </p:nvSpPr>
        <p:spPr>
          <a:xfrm>
            <a:off x="1920239" y="2203704"/>
            <a:ext cx="2971800" cy="301752"/>
          </a:xfrm>
          <a:prstGeom prst="rect">
            <a:avLst/>
          </a:prstGeom>
          <a:noFill/>
        </p:spPr>
        <p:txBody>
          <a:bodyPr wrap="square" lIns="0" rIns="0" tIns="0" bIns="0" anchor="t">
            <a:spAutoFit/>
          </a:bodyPr>
          <a:lstStyle/>
          <a:p>
            <a:pPr algn="l"/>
            <a:r>
              <a:rPr sz="1100" b="0" i="0">
                <a:solidFill>
                  <a:srgbClr val="53657A"/>
                </a:solidFill>
                <a:latin typeface="Microsoft YaHei"/>
              </a:rPr>
              <a:t>工程公式、CoC/WUE、冷却与再生水 Benchmark</a:t>
            </a:r>
          </a:p>
        </p:txBody>
      </p:sp>
      <p:sp>
        <p:nvSpPr>
          <p:cNvPr id="761" name="Rounded Rectangle 760"/>
          <p:cNvSpPr/>
          <p:nvPr/>
        </p:nvSpPr>
        <p:spPr>
          <a:xfrm>
            <a:off x="5733288" y="1755648"/>
            <a:ext cx="4572000" cy="94183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Rounded Rectangle 761"/>
          <p:cNvSpPr/>
          <p:nvPr/>
        </p:nvSpPr>
        <p:spPr>
          <a:xfrm>
            <a:off x="5934455" y="1938528"/>
            <a:ext cx="86868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TextBox 762"/>
          <p:cNvSpPr txBox="1"/>
          <p:nvPr/>
        </p:nvSpPr>
        <p:spPr>
          <a:xfrm>
            <a:off x="6025895" y="1952244"/>
            <a:ext cx="685800" cy="201168"/>
          </a:xfrm>
          <a:prstGeom prst="rect">
            <a:avLst/>
          </a:prstGeom>
          <a:noFill/>
        </p:spPr>
        <p:txBody>
          <a:bodyPr wrap="square" lIns="0" rIns="0" tIns="0" bIns="0" anchor="ctr">
            <a:spAutoFit/>
          </a:bodyPr>
          <a:lstStyle/>
          <a:p>
            <a:pPr algn="ctr"/>
            <a:r>
              <a:rPr sz="950" b="1" i="0">
                <a:solidFill>
                  <a:srgbClr val="2388C9"/>
                </a:solidFill>
                <a:latin typeface="Microsoft YaHei"/>
              </a:rPr>
              <a:t>LAYER 2</a:t>
            </a:r>
          </a:p>
        </p:txBody>
      </p:sp>
      <p:sp>
        <p:nvSpPr>
          <p:cNvPr id="764" name="TextBox 763"/>
          <p:cNvSpPr txBox="1"/>
          <p:nvPr/>
        </p:nvSpPr>
        <p:spPr>
          <a:xfrm>
            <a:off x="6995159" y="1920240"/>
            <a:ext cx="1188720" cy="210312"/>
          </a:xfrm>
          <a:prstGeom prst="rect">
            <a:avLst/>
          </a:prstGeom>
          <a:noFill/>
        </p:spPr>
        <p:txBody>
          <a:bodyPr wrap="square" lIns="0" rIns="0" tIns="0" bIns="0" anchor="t">
            <a:spAutoFit/>
          </a:bodyPr>
          <a:lstStyle/>
          <a:p>
            <a:pPr algn="l"/>
            <a:r>
              <a:rPr sz="1500" b="1" i="0">
                <a:solidFill>
                  <a:srgbClr val="1BA6A6"/>
                </a:solidFill>
                <a:latin typeface="Microsoft YaHei"/>
              </a:rPr>
              <a:t>城市锚点</a:t>
            </a:r>
          </a:p>
        </p:txBody>
      </p:sp>
      <p:sp>
        <p:nvSpPr>
          <p:cNvPr id="765" name="TextBox 764"/>
          <p:cNvSpPr txBox="1"/>
          <p:nvPr/>
        </p:nvSpPr>
        <p:spPr>
          <a:xfrm>
            <a:off x="6995159" y="2203704"/>
            <a:ext cx="2971800" cy="301752"/>
          </a:xfrm>
          <a:prstGeom prst="rect">
            <a:avLst/>
          </a:prstGeom>
          <a:noFill/>
        </p:spPr>
        <p:txBody>
          <a:bodyPr wrap="square" lIns="0" rIns="0" tIns="0" bIns="0" anchor="t">
            <a:spAutoFit/>
          </a:bodyPr>
          <a:lstStyle/>
          <a:p>
            <a:pPr algn="l"/>
            <a:r>
              <a:rPr sz="1100" b="0" i="0">
                <a:solidFill>
                  <a:srgbClr val="53657A"/>
                </a:solidFill>
                <a:latin typeface="Microsoft YaHei"/>
              </a:rPr>
              <a:t>1个主案例；日尺度供水—污水—再生水；独立时间留出</a:t>
            </a:r>
          </a:p>
        </p:txBody>
      </p:sp>
      <p:sp>
        <p:nvSpPr>
          <p:cNvPr id="766" name="Rounded Rectangle 765"/>
          <p:cNvSpPr/>
          <p:nvPr/>
        </p:nvSpPr>
        <p:spPr>
          <a:xfrm>
            <a:off x="658368" y="2962656"/>
            <a:ext cx="4572000" cy="94183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Rounded Rectangle 766"/>
          <p:cNvSpPr/>
          <p:nvPr/>
        </p:nvSpPr>
        <p:spPr>
          <a:xfrm>
            <a:off x="859536" y="3145536"/>
            <a:ext cx="86868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TextBox 767"/>
          <p:cNvSpPr txBox="1"/>
          <p:nvPr/>
        </p:nvSpPr>
        <p:spPr>
          <a:xfrm>
            <a:off x="950976" y="3159252"/>
            <a:ext cx="685800" cy="201168"/>
          </a:xfrm>
          <a:prstGeom prst="rect">
            <a:avLst/>
          </a:prstGeom>
          <a:noFill/>
        </p:spPr>
        <p:txBody>
          <a:bodyPr wrap="square" lIns="0" rIns="0" tIns="0" bIns="0" anchor="ctr">
            <a:spAutoFit/>
          </a:bodyPr>
          <a:lstStyle/>
          <a:p>
            <a:pPr algn="ctr"/>
            <a:r>
              <a:rPr sz="950" b="1" i="0">
                <a:solidFill>
                  <a:srgbClr val="2388C9"/>
                </a:solidFill>
                <a:latin typeface="Microsoft YaHei"/>
              </a:rPr>
              <a:t>LAYER 3</a:t>
            </a:r>
          </a:p>
        </p:txBody>
      </p:sp>
      <p:sp>
        <p:nvSpPr>
          <p:cNvPr id="769" name="TextBox 768"/>
          <p:cNvSpPr txBox="1"/>
          <p:nvPr/>
        </p:nvSpPr>
        <p:spPr>
          <a:xfrm>
            <a:off x="1920239" y="3127248"/>
            <a:ext cx="1188720" cy="210312"/>
          </a:xfrm>
          <a:prstGeom prst="rect">
            <a:avLst/>
          </a:prstGeom>
          <a:noFill/>
        </p:spPr>
        <p:txBody>
          <a:bodyPr wrap="square" lIns="0" rIns="0" tIns="0" bIns="0" anchor="t">
            <a:spAutoFit/>
          </a:bodyPr>
          <a:lstStyle/>
          <a:p>
            <a:pPr algn="l"/>
            <a:r>
              <a:rPr sz="1500" b="1" i="0">
                <a:solidFill>
                  <a:srgbClr val="2EA7C9"/>
                </a:solidFill>
                <a:latin typeface="Microsoft YaHei"/>
              </a:rPr>
              <a:t>外部核验</a:t>
            </a:r>
          </a:p>
        </p:txBody>
      </p:sp>
      <p:sp>
        <p:nvSpPr>
          <p:cNvPr id="770" name="TextBox 769"/>
          <p:cNvSpPr txBox="1"/>
          <p:nvPr/>
        </p:nvSpPr>
        <p:spPr>
          <a:xfrm>
            <a:off x="1920239" y="3410712"/>
            <a:ext cx="2971800" cy="301752"/>
          </a:xfrm>
          <a:prstGeom prst="rect">
            <a:avLst/>
          </a:prstGeom>
          <a:noFill/>
        </p:spPr>
        <p:txBody>
          <a:bodyPr wrap="square" lIns="0" rIns="0" tIns="0" bIns="0" anchor="t">
            <a:spAutoFit/>
          </a:bodyPr>
          <a:lstStyle/>
          <a:p>
            <a:pPr algn="l"/>
            <a:r>
              <a:rPr sz="1100" b="0" i="0">
                <a:solidFill>
                  <a:srgbClr val="53657A"/>
                </a:solidFill>
                <a:latin typeface="Microsoft YaHei"/>
              </a:rPr>
              <a:t>2–4个差异城市；核验参数区间、方向与瓶颈类型</a:t>
            </a:r>
          </a:p>
        </p:txBody>
      </p:sp>
      <p:sp>
        <p:nvSpPr>
          <p:cNvPr id="771" name="Rounded Rectangle 770"/>
          <p:cNvSpPr/>
          <p:nvPr/>
        </p:nvSpPr>
        <p:spPr>
          <a:xfrm>
            <a:off x="5733288" y="2962656"/>
            <a:ext cx="4572000" cy="941832"/>
          </a:xfrm>
          <a:prstGeom prst="roundRect">
            <a:avLst/>
          </a:prstGeom>
          <a:solidFill>
            <a:srgbClr val="FFFFFF"/>
          </a:solidFill>
          <a:ln w="11430">
            <a:solidFill>
              <a:srgbClr val="D7E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Rounded Rectangle 771"/>
          <p:cNvSpPr/>
          <p:nvPr/>
        </p:nvSpPr>
        <p:spPr>
          <a:xfrm>
            <a:off x="5934455" y="3145536"/>
            <a:ext cx="868680" cy="246888"/>
          </a:xfrm>
          <a:prstGeom prst="roundRect">
            <a:avLst/>
          </a:prstGeom>
          <a:solidFill>
            <a:srgbClr val="EAF5FC"/>
          </a:solidFill>
          <a:ln w="11430">
            <a:solidFill>
              <a:srgbClr val="A8D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TextBox 772"/>
          <p:cNvSpPr txBox="1"/>
          <p:nvPr/>
        </p:nvSpPr>
        <p:spPr>
          <a:xfrm>
            <a:off x="6025895" y="3159252"/>
            <a:ext cx="685800" cy="201168"/>
          </a:xfrm>
          <a:prstGeom prst="rect">
            <a:avLst/>
          </a:prstGeom>
          <a:noFill/>
        </p:spPr>
        <p:txBody>
          <a:bodyPr wrap="square" lIns="0" rIns="0" tIns="0" bIns="0" anchor="ctr">
            <a:spAutoFit/>
          </a:bodyPr>
          <a:lstStyle/>
          <a:p>
            <a:pPr algn="ctr"/>
            <a:r>
              <a:rPr sz="950" b="1" i="0">
                <a:solidFill>
                  <a:srgbClr val="2388C9"/>
                </a:solidFill>
                <a:latin typeface="Microsoft YaHei"/>
              </a:rPr>
              <a:t>LAYER 4</a:t>
            </a:r>
          </a:p>
        </p:txBody>
      </p:sp>
      <p:sp>
        <p:nvSpPr>
          <p:cNvPr id="774" name="TextBox 773"/>
          <p:cNvSpPr txBox="1"/>
          <p:nvPr/>
        </p:nvSpPr>
        <p:spPr>
          <a:xfrm>
            <a:off x="6995159" y="3127248"/>
            <a:ext cx="1188720" cy="210312"/>
          </a:xfrm>
          <a:prstGeom prst="rect">
            <a:avLst/>
          </a:prstGeom>
          <a:noFill/>
        </p:spPr>
        <p:txBody>
          <a:bodyPr wrap="square" lIns="0" rIns="0" tIns="0" bIns="0" anchor="t">
            <a:spAutoFit/>
          </a:bodyPr>
          <a:lstStyle/>
          <a:p>
            <a:pPr algn="l"/>
            <a:r>
              <a:rPr sz="1500" b="1" i="0">
                <a:solidFill>
                  <a:srgbClr val="172B4D"/>
                </a:solidFill>
                <a:latin typeface="Microsoft YaHei"/>
              </a:rPr>
              <a:t>连续空间</a:t>
            </a:r>
          </a:p>
        </p:txBody>
      </p:sp>
      <p:sp>
        <p:nvSpPr>
          <p:cNvPr id="775" name="TextBox 774"/>
          <p:cNvSpPr txBox="1"/>
          <p:nvPr/>
        </p:nvSpPr>
        <p:spPr>
          <a:xfrm>
            <a:off x="6995159" y="3410712"/>
            <a:ext cx="2971800" cy="301752"/>
          </a:xfrm>
          <a:prstGeom prst="rect">
            <a:avLst/>
          </a:prstGeom>
          <a:noFill/>
        </p:spPr>
        <p:txBody>
          <a:bodyPr wrap="square" lIns="0" rIns="0" tIns="0" bIns="0" anchor="t">
            <a:spAutoFit/>
          </a:bodyPr>
          <a:lstStyle/>
          <a:p>
            <a:pPr algn="l"/>
            <a:r>
              <a:rPr sz="1100" b="0" i="0">
                <a:solidFill>
                  <a:srgbClr val="53657A"/>
                </a:solidFill>
                <a:latin typeface="Microsoft YaHei"/>
              </a:rPr>
              <a:t>参数化城市 + 合成压力序列；响应面、边界与相图</a:t>
            </a:r>
          </a:p>
        </p:txBody>
      </p:sp>
      <p:sp>
        <p:nvSpPr>
          <p:cNvPr id="776" name="Rounded Rectangle 775"/>
          <p:cNvSpPr/>
          <p:nvPr/>
        </p:nvSpPr>
        <p:spPr>
          <a:xfrm>
            <a:off x="658368" y="4315968"/>
            <a:ext cx="9646920" cy="960120"/>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TextBox 776"/>
          <p:cNvSpPr txBox="1"/>
          <p:nvPr/>
        </p:nvSpPr>
        <p:spPr>
          <a:xfrm>
            <a:off x="914400" y="4572000"/>
            <a:ext cx="914400" cy="210312"/>
          </a:xfrm>
          <a:prstGeom prst="rect">
            <a:avLst/>
          </a:prstGeom>
          <a:noFill/>
        </p:spPr>
        <p:txBody>
          <a:bodyPr wrap="square" lIns="0" rIns="0" tIns="0" bIns="0" anchor="t">
            <a:spAutoFit/>
          </a:bodyPr>
          <a:lstStyle/>
          <a:p>
            <a:pPr algn="l"/>
            <a:r>
              <a:rPr sz="1500" b="1" i="0">
                <a:solidFill>
                  <a:srgbClr val="172B4D"/>
                </a:solidFill>
                <a:latin typeface="Microsoft YaHei"/>
              </a:rPr>
              <a:t>核心范围</a:t>
            </a:r>
          </a:p>
        </p:txBody>
      </p:sp>
      <p:sp>
        <p:nvSpPr>
          <p:cNvPr id="778" name="TextBox 777"/>
          <p:cNvSpPr txBox="1"/>
          <p:nvPr/>
        </p:nvSpPr>
        <p:spPr>
          <a:xfrm>
            <a:off x="1874519" y="4553712"/>
            <a:ext cx="2926080" cy="228600"/>
          </a:xfrm>
          <a:prstGeom prst="rect">
            <a:avLst/>
          </a:prstGeom>
          <a:noFill/>
        </p:spPr>
        <p:txBody>
          <a:bodyPr wrap="square" lIns="0" rIns="0" tIns="0" bIns="0" anchor="t">
            <a:spAutoFit/>
          </a:bodyPr>
          <a:lstStyle/>
          <a:p>
            <a:pPr algn="l"/>
            <a:r>
              <a:rPr sz="1400" b="1" i="0">
                <a:solidFill>
                  <a:srgbClr val="1BA6A6"/>
                </a:solidFill>
                <a:latin typeface="Microsoft YaHei"/>
              </a:rPr>
              <a:t>Water + time + capacity + bottleneck</a:t>
            </a:r>
          </a:p>
        </p:txBody>
      </p:sp>
      <p:sp>
        <p:nvSpPr>
          <p:cNvPr id="779" name="TextBox 778"/>
          <p:cNvSpPr txBox="1"/>
          <p:nvPr/>
        </p:nvSpPr>
        <p:spPr>
          <a:xfrm>
            <a:off x="5230368" y="4553712"/>
            <a:ext cx="4526280" cy="228600"/>
          </a:xfrm>
          <a:prstGeom prst="rect">
            <a:avLst/>
          </a:prstGeom>
          <a:noFill/>
        </p:spPr>
        <p:txBody>
          <a:bodyPr wrap="square" lIns="0" rIns="0" tIns="0" bIns="0" anchor="t">
            <a:spAutoFit/>
          </a:bodyPr>
          <a:lstStyle/>
          <a:p>
            <a:pPr algn="l"/>
            <a:r>
              <a:rPr sz="1200" b="0" i="0">
                <a:solidFill>
                  <a:srgbClr val="53657A"/>
                </a:solidFill>
                <a:latin typeface="Microsoft YaHei"/>
              </a:rPr>
              <a:t>扩展项：water–energy–carbon 与 cost；通过敏感性分析报告不确定性传播。</a:t>
            </a:r>
          </a:p>
        </p:txBody>
      </p:sp>
      <p:sp>
        <p:nvSpPr>
          <p:cNvPr id="780" name="TextBox 779"/>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68788C"/>
                </a:solidFill>
                <a:latin typeface="Microsoft YaHei"/>
              </a:rPr>
              <a:t>哈尔滨工业大学 · 硕士学位论文开题答辩</a:t>
            </a:r>
          </a:p>
        </p:txBody>
      </p:sp>
      <p:sp>
        <p:nvSpPr>
          <p:cNvPr id="781" name="TextBox 780"/>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68788C"/>
                </a:solidFill>
                <a:latin typeface="Microsoft YaHei"/>
              </a:rPr>
              <a:t>24 / VALIDATION</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5" name="Shape 755"/>
        <p:cNvGrpSpPr/>
        <p:nvPr/>
      </p:nvGrpSpPr>
      <p:grpSpPr>
        <a:xfrm>
          <a:off x="0" y="0"/>
          <a:ext cx="0" cy="0"/>
          <a:chOff x="0" y="0"/>
          <a:chExt cx="0" cy="0"/>
        </a:xfrm>
      </p:grpSpPr>
      <p:pic>
        <p:nvPicPr>
          <p:cNvPr descr="image.png" id="756" name="Google Shape;756;p3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757" name="Google Shape;757;p37"/>
          <p:cNvPicPr preferRelativeResize="0"/>
          <p:nvPr/>
        </p:nvPicPr>
        <p:blipFill rotWithShape="1">
          <a:blip r:embed="rId4">
            <a:alphaModFix/>
          </a:blip>
          <a:srcRect b="0" l="0" r="0" t="0"/>
          <a:stretch/>
        </p:blipFill>
        <p:spPr>
          <a:xfrm>
            <a:off x="438150" y="1516260"/>
            <a:ext cx="5572125" cy="724346"/>
          </a:xfrm>
          <a:prstGeom prst="rect">
            <a:avLst/>
          </a:prstGeom>
          <a:noFill/>
          <a:ln>
            <a:noFill/>
          </a:ln>
        </p:spPr>
      </p:pic>
      <p:pic>
        <p:nvPicPr>
          <p:cNvPr descr="image.png" id="758" name="Google Shape;758;p37"/>
          <p:cNvPicPr preferRelativeResize="0"/>
          <p:nvPr/>
        </p:nvPicPr>
        <p:blipFill rotWithShape="1">
          <a:blip r:embed="rId5">
            <a:alphaModFix/>
          </a:blip>
          <a:srcRect b="0" l="0" r="0" t="0"/>
          <a:stretch/>
        </p:blipFill>
        <p:spPr>
          <a:xfrm>
            <a:off x="6181725" y="1516260"/>
            <a:ext cx="5572125" cy="724346"/>
          </a:xfrm>
          <a:prstGeom prst="rect">
            <a:avLst/>
          </a:prstGeom>
          <a:noFill/>
          <a:ln>
            <a:noFill/>
          </a:ln>
        </p:spPr>
      </p:pic>
      <p:pic>
        <p:nvPicPr>
          <p:cNvPr descr="image.png" id="759" name="Google Shape;759;p37"/>
          <p:cNvPicPr preferRelativeResize="0"/>
          <p:nvPr/>
        </p:nvPicPr>
        <p:blipFill rotWithShape="1">
          <a:blip r:embed="rId6">
            <a:alphaModFix/>
          </a:blip>
          <a:srcRect b="0" l="0" r="0" t="0"/>
          <a:stretch/>
        </p:blipFill>
        <p:spPr>
          <a:xfrm>
            <a:off x="438150" y="2412057"/>
            <a:ext cx="5572125" cy="724346"/>
          </a:xfrm>
          <a:prstGeom prst="rect">
            <a:avLst/>
          </a:prstGeom>
          <a:noFill/>
          <a:ln>
            <a:noFill/>
          </a:ln>
        </p:spPr>
      </p:pic>
      <p:pic>
        <p:nvPicPr>
          <p:cNvPr descr="image.png" id="760" name="Google Shape;760;p37"/>
          <p:cNvPicPr preferRelativeResize="0"/>
          <p:nvPr/>
        </p:nvPicPr>
        <p:blipFill rotWithShape="1">
          <a:blip r:embed="rId7">
            <a:alphaModFix/>
          </a:blip>
          <a:srcRect b="0" l="0" r="0" t="0"/>
          <a:stretch/>
        </p:blipFill>
        <p:spPr>
          <a:xfrm>
            <a:off x="6181725" y="2412057"/>
            <a:ext cx="5572125" cy="724346"/>
          </a:xfrm>
          <a:prstGeom prst="rect">
            <a:avLst/>
          </a:prstGeom>
          <a:noFill/>
          <a:ln>
            <a:noFill/>
          </a:ln>
        </p:spPr>
      </p:pic>
      <p:pic>
        <p:nvPicPr>
          <p:cNvPr descr="image.png" id="761" name="Google Shape;761;p37"/>
          <p:cNvPicPr preferRelativeResize="0"/>
          <p:nvPr/>
        </p:nvPicPr>
        <p:blipFill rotWithShape="1">
          <a:blip r:embed="rId8">
            <a:alphaModFix/>
          </a:blip>
          <a:srcRect b="0" l="0" r="0" t="0"/>
          <a:stretch/>
        </p:blipFill>
        <p:spPr>
          <a:xfrm>
            <a:off x="438150" y="6515100"/>
            <a:ext cx="11315700" cy="228600"/>
          </a:xfrm>
          <a:prstGeom prst="rect">
            <a:avLst/>
          </a:prstGeom>
          <a:noFill/>
          <a:ln>
            <a:noFill/>
          </a:ln>
        </p:spPr>
      </p:pic>
      <p:pic>
        <p:nvPicPr>
          <p:cNvPr descr="image.png" id="762" name="Google Shape;762;p37"/>
          <p:cNvPicPr preferRelativeResize="0"/>
          <p:nvPr/>
        </p:nvPicPr>
        <p:blipFill rotWithShape="1">
          <a:blip r:embed="rId9">
            <a:alphaModFix/>
          </a:blip>
          <a:srcRect b="0" l="0" r="0" t="0"/>
          <a:stretch/>
        </p:blipFill>
        <p:spPr>
          <a:xfrm>
            <a:off x="10494466" y="328612"/>
            <a:ext cx="1259383" cy="180975"/>
          </a:xfrm>
          <a:prstGeom prst="rect">
            <a:avLst/>
          </a:prstGeom>
          <a:noFill/>
          <a:ln>
            <a:noFill/>
          </a:ln>
        </p:spPr>
      </p:pic>
      <p:sp>
        <p:nvSpPr>
          <p:cNvPr id="763" name="Google Shape;763;p37"/>
          <p:cNvSpPr txBox="1"/>
          <p:nvPr/>
        </p:nvSpPr>
        <p:spPr>
          <a:xfrm>
            <a:off x="576857" y="6600825"/>
            <a:ext cx="1874341" cy="1428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825" u="none" cap="none" strike="noStrike">
                <a:solidFill>
                  <a:srgbClr val="64748B"/>
                </a:solidFill>
                <a:latin typeface="Noto Sans SC"/>
                <a:ea typeface="Noto Sans SC"/>
                <a:cs typeface="Noto Sans SC"/>
                <a:sym typeface="Noto Sans SC"/>
              </a:rPr>
              <a:t>哈尔滨工业大学 · 硕士学位论文开题答辩</a:t>
            </a:r>
            <a:endParaRPr/>
          </a:p>
        </p:txBody>
      </p:sp>
      <p:sp>
        <p:nvSpPr>
          <p:cNvPr id="764" name="Google Shape;764;p37"/>
          <p:cNvSpPr txBox="1"/>
          <p:nvPr/>
        </p:nvSpPr>
        <p:spPr>
          <a:xfrm>
            <a:off x="11231760" y="6615112"/>
            <a:ext cx="522089"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94A3B8"/>
                </a:solidFill>
                <a:latin typeface="Noto Sans SC"/>
                <a:ea typeface="Noto Sans SC"/>
                <a:cs typeface="Noto Sans SC"/>
                <a:sym typeface="Noto Sans SC"/>
              </a:rPr>
              <a:t>BACKUP F</a:t>
            </a:r>
            <a:endParaRPr/>
          </a:p>
        </p:txBody>
      </p:sp>
      <p:pic>
        <p:nvPicPr>
          <p:cNvPr descr="image.png" id="765" name="Google Shape;765;p37"/>
          <p:cNvPicPr preferRelativeResize="0"/>
          <p:nvPr/>
        </p:nvPicPr>
        <p:blipFill rotWithShape="1">
          <a:blip r:embed="rId10">
            <a:alphaModFix/>
          </a:blip>
          <a:srcRect b="0" l="0" r="0" t="0"/>
          <a:stretch/>
        </p:blipFill>
        <p:spPr>
          <a:xfrm>
            <a:off x="438150" y="323850"/>
            <a:ext cx="984498" cy="190500"/>
          </a:xfrm>
          <a:prstGeom prst="rect">
            <a:avLst/>
          </a:prstGeom>
          <a:noFill/>
          <a:ln>
            <a:noFill/>
          </a:ln>
        </p:spPr>
      </p:pic>
      <p:pic>
        <p:nvPicPr>
          <p:cNvPr descr="image.png" id="766" name="Google Shape;766;p37"/>
          <p:cNvPicPr preferRelativeResize="0"/>
          <p:nvPr/>
        </p:nvPicPr>
        <p:blipFill rotWithShape="1">
          <a:blip r:embed="rId11">
            <a:alphaModFix/>
          </a:blip>
          <a:srcRect b="0" l="0" r="0" t="0"/>
          <a:stretch/>
        </p:blipFill>
        <p:spPr>
          <a:xfrm>
            <a:off x="438150" y="6619875"/>
            <a:ext cx="81557" cy="104775"/>
          </a:xfrm>
          <a:prstGeom prst="rect">
            <a:avLst/>
          </a:prstGeom>
          <a:noFill/>
          <a:ln>
            <a:noFill/>
          </a:ln>
        </p:spPr>
      </p:pic>
      <p:pic>
        <p:nvPicPr>
          <p:cNvPr descr="image.png" id="767" name="Google Shape;767;p37"/>
          <p:cNvPicPr preferRelativeResize="0"/>
          <p:nvPr/>
        </p:nvPicPr>
        <p:blipFill rotWithShape="1">
          <a:blip r:embed="rId12">
            <a:alphaModFix/>
          </a:blip>
          <a:srcRect b="0" l="0" r="0" t="0"/>
          <a:stretch/>
        </p:blipFill>
        <p:spPr>
          <a:xfrm>
            <a:off x="542925" y="364331"/>
            <a:ext cx="92868" cy="109537"/>
          </a:xfrm>
          <a:prstGeom prst="rect">
            <a:avLst/>
          </a:prstGeom>
          <a:noFill/>
          <a:ln>
            <a:noFill/>
          </a:ln>
        </p:spPr>
      </p:pic>
      <p:sp>
        <p:nvSpPr>
          <p:cNvPr id="768" name="Google Shape;768;p37"/>
          <p:cNvSpPr txBox="1"/>
          <p:nvPr/>
        </p:nvSpPr>
        <p:spPr>
          <a:xfrm>
            <a:off x="619125" y="1678185"/>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1. 城市代谢与综合水系统</a:t>
            </a:r>
            <a:endParaRPr/>
          </a:p>
        </p:txBody>
      </p:sp>
      <p:sp>
        <p:nvSpPr>
          <p:cNvPr id="769" name="Google Shape;769;p37"/>
          <p:cNvSpPr txBox="1"/>
          <p:nvPr/>
        </p:nvSpPr>
        <p:spPr>
          <a:xfrm>
            <a:off x="619125" y="1916310"/>
            <a:ext cx="5210175"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Wolman (1965); Kennedy (2007, 2011); WaterMet² (Behzadian 2014); WSIMOD (Dobson 2024)</a:t>
            </a:r>
            <a:endParaRPr/>
          </a:p>
        </p:txBody>
      </p:sp>
      <p:sp>
        <p:nvSpPr>
          <p:cNvPr id="770" name="Google Shape;770;p37"/>
          <p:cNvSpPr txBox="1"/>
          <p:nvPr/>
        </p:nvSpPr>
        <p:spPr>
          <a:xfrm>
            <a:off x="6362700" y="1678185"/>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2. AI与数据中心水足迹</a:t>
            </a:r>
            <a:endParaRPr/>
          </a:p>
        </p:txBody>
      </p:sp>
      <p:sp>
        <p:nvSpPr>
          <p:cNvPr id="771" name="Google Shape;771;p37"/>
          <p:cNvSpPr txBox="1"/>
          <p:nvPr/>
        </p:nvSpPr>
        <p:spPr>
          <a:xfrm>
            <a:off x="6362700" y="1916310"/>
            <a:ext cx="5210175"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Mytton (2021); de Vries (2023); IEA Energy and AI (2025/2026); LBNL Report (2024)</a:t>
            </a:r>
            <a:endParaRPr/>
          </a:p>
        </p:txBody>
      </p:sp>
      <p:sp>
        <p:nvSpPr>
          <p:cNvPr id="772" name="Google Shape;772;p37"/>
          <p:cNvSpPr txBox="1"/>
          <p:nvPr/>
        </p:nvSpPr>
        <p:spPr>
          <a:xfrm>
            <a:off x="619125" y="2573982"/>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3. 冷却、再生水与标准</a:t>
            </a:r>
            <a:endParaRPr/>
          </a:p>
        </p:txBody>
      </p:sp>
      <p:sp>
        <p:nvSpPr>
          <p:cNvPr id="773" name="Google Shape;773;p37"/>
          <p:cNvSpPr txBox="1"/>
          <p:nvPr/>
        </p:nvSpPr>
        <p:spPr>
          <a:xfrm>
            <a:off x="619125" y="2812107"/>
            <a:ext cx="5210175"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Ebrahimi (2014); GB/T 32910.6-2025; GB 50013-2018; GB 50014-2021</a:t>
            </a:r>
            <a:endParaRPr/>
          </a:p>
        </p:txBody>
      </p:sp>
      <p:sp>
        <p:nvSpPr>
          <p:cNvPr id="774" name="Google Shape;774;p37"/>
          <p:cNvSpPr txBox="1"/>
          <p:nvPr/>
        </p:nvSpPr>
        <p:spPr>
          <a:xfrm>
            <a:off x="6362700" y="2573982"/>
            <a:ext cx="5470683" cy="18097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Noto Sans SC"/>
                <a:ea typeface="Noto Sans SC"/>
                <a:cs typeface="Noto Sans SC"/>
                <a:sym typeface="Noto Sans SC"/>
              </a:rPr>
              <a:t>4. 承载力与结构因果</a:t>
            </a:r>
            <a:endParaRPr/>
          </a:p>
        </p:txBody>
      </p:sp>
      <p:sp>
        <p:nvSpPr>
          <p:cNvPr id="775" name="Google Shape;775;p37"/>
          <p:cNvSpPr txBox="1"/>
          <p:nvPr/>
        </p:nvSpPr>
        <p:spPr>
          <a:xfrm>
            <a:off x="6362700" y="2812107"/>
            <a:ext cx="5210175" cy="162371"/>
          </a:xfrm>
          <a:prstGeom prst="rect">
            <a:avLst/>
          </a:prstGeom>
          <a:noFill/>
          <a:ln>
            <a:noFill/>
          </a:ln>
        </p:spPr>
        <p:txBody>
          <a:bodyPr anchorCtr="0" anchor="t" bIns="0" lIns="0" spcFirstLastPara="1" rIns="0" wrap="square" tIns="0">
            <a:spAutoFit/>
          </a:bodyPr>
          <a:lstStyle/>
          <a:p>
            <a:pPr indent="0" lvl="0" marL="0" marR="0" rtl="0" algn="l">
              <a:lnSpc>
                <a:spcPct val="154909"/>
              </a:lnSpc>
              <a:spcBef>
                <a:spcPts val="0"/>
              </a:spcBef>
              <a:spcAft>
                <a:spcPts val="0"/>
              </a:spcAft>
              <a:buNone/>
            </a:pPr>
            <a:r>
              <a:rPr b="0" i="0" lang="en-US" sz="825" u="none" cap="none" strike="noStrike">
                <a:solidFill>
                  <a:srgbClr val="475569"/>
                </a:solidFill>
                <a:latin typeface="Noto Sans SC"/>
                <a:ea typeface="Noto Sans SC"/>
                <a:cs typeface="Noto Sans SC"/>
                <a:sym typeface="Noto Sans SC"/>
              </a:rPr>
              <a:t>段春青 (2010); Pearl (2000, 2010); Hernán &amp; Robins (2020)</a:t>
            </a:r>
            <a:endParaRPr/>
          </a:p>
        </p:txBody>
      </p:sp>
      <p:sp>
        <p:nvSpPr>
          <p:cNvPr id="776" name="Google Shape;776;p37"/>
          <p:cNvSpPr txBox="1"/>
          <p:nvPr/>
        </p:nvSpPr>
        <p:spPr>
          <a:xfrm>
            <a:off x="571500" y="800100"/>
            <a:ext cx="11049000" cy="114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25" u="none" cap="none" strike="noStrike">
                <a:solidFill>
                  <a:srgbClr val="FFFFFF"/>
                </a:solidFill>
                <a:latin typeface="Noto Sans SC"/>
                <a:ea typeface="Noto Sans SC"/>
                <a:cs typeface="Noto Sans SC"/>
                <a:sym typeface="Noto Sans SC"/>
              </a:rPr>
              <a:t>BACKUP F</a:t>
            </a:r>
            <a:endParaRPr/>
          </a:p>
        </p:txBody>
      </p:sp>
      <p:sp>
        <p:nvSpPr>
          <p:cNvPr id="777" name="Google Shape;777;p37"/>
          <p:cNvSpPr txBox="1"/>
          <p:nvPr/>
        </p:nvSpPr>
        <p:spPr>
          <a:xfrm>
            <a:off x="438150" y="1066800"/>
            <a:ext cx="11753850" cy="297060"/>
          </a:xfrm>
          <a:prstGeom prst="rect">
            <a:avLst/>
          </a:prstGeom>
          <a:noFill/>
          <a:ln>
            <a:noFill/>
          </a:ln>
        </p:spPr>
        <p:txBody>
          <a:bodyPr anchorCtr="0" anchor="ctr" bIns="0" lIns="0" spcFirstLastPara="1" rIns="0" wrap="square" tIns="0">
            <a:spAutoFit/>
          </a:bodyPr>
          <a:lstStyle/>
          <a:p>
            <a:pPr indent="0" lvl="0" marL="0" marR="0" rtl="0" algn="l">
              <a:lnSpc>
                <a:spcPct val="130000"/>
              </a:lnSpc>
              <a:spcBef>
                <a:spcPts val="0"/>
              </a:spcBef>
              <a:spcAft>
                <a:spcPts val="0"/>
              </a:spcAft>
              <a:buNone/>
            </a:pPr>
            <a:r>
              <a:rPr b="0" i="0" lang="en-US" sz="1800" u="none" cap="none" strike="noStrike">
                <a:solidFill>
                  <a:srgbClr val="0F172A"/>
                </a:solidFill>
                <a:latin typeface="Noto Sans SC"/>
                <a:ea typeface="Noto Sans SC"/>
                <a:cs typeface="Noto Sans SC"/>
                <a:sym typeface="Noto Sans SC"/>
              </a:rPr>
              <a:t>代表性参考文献与理论支撑</a:t>
            </a:r>
            <a:endParaRPr/>
          </a:p>
        </p:txBody>
      </p:sp>
      <p:sp>
        <p:nvSpPr>
          <p:cNvPr id="778" name="Google Shape;778;p37"/>
          <p:cNvSpPr/>
          <p:nvPr/>
        </p:nvSpPr>
        <p:spPr>
          <a:xfrm>
            <a:off x="438150" y="1363860"/>
            <a:ext cx="47625" cy="209550"/>
          </a:xfrm>
          <a:prstGeom prst="roundRect">
            <a:avLst>
              <a:gd fmla="val 50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9" name="Rounded Rectangle 778"/>
          <p:cNvSpPr/>
          <p:nvPr/>
        </p:nvSpPr>
        <p:spPr>
          <a:xfrm>
            <a:off x="658368" y="4114800"/>
            <a:ext cx="9646920" cy="822960"/>
          </a:xfrm>
          <a:prstGeom prst="roundRect">
            <a:avLst/>
          </a:prstGeom>
          <a:solidFill>
            <a:srgbClr val="E9F2FA"/>
          </a:solidFill>
          <a:ln w="11430">
            <a:solidFill>
              <a:srgbClr val="B9D5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TextBox 779"/>
          <p:cNvSpPr txBox="1"/>
          <p:nvPr/>
        </p:nvSpPr>
        <p:spPr>
          <a:xfrm>
            <a:off x="896112" y="4352544"/>
            <a:ext cx="914400" cy="210312"/>
          </a:xfrm>
          <a:prstGeom prst="rect">
            <a:avLst/>
          </a:prstGeom>
          <a:noFill/>
        </p:spPr>
        <p:txBody>
          <a:bodyPr wrap="square" lIns="0" rIns="0" tIns="0" bIns="0" anchor="t">
            <a:spAutoFit/>
          </a:bodyPr>
          <a:lstStyle/>
          <a:p>
            <a:pPr algn="l"/>
            <a:r>
              <a:rPr sz="1500" b="1" i="0">
                <a:solidFill>
                  <a:srgbClr val="172B4D"/>
                </a:solidFill>
                <a:latin typeface="Microsoft YaHei"/>
              </a:rPr>
              <a:t>规范性</a:t>
            </a:r>
          </a:p>
        </p:txBody>
      </p:sp>
      <p:sp>
        <p:nvSpPr>
          <p:cNvPr id="781" name="TextBox 780"/>
          <p:cNvSpPr txBox="1"/>
          <p:nvPr/>
        </p:nvSpPr>
        <p:spPr>
          <a:xfrm>
            <a:off x="2011680" y="4325112"/>
            <a:ext cx="7818120" cy="274320"/>
          </a:xfrm>
          <a:prstGeom prst="rect">
            <a:avLst/>
          </a:prstGeom>
          <a:noFill/>
        </p:spPr>
        <p:txBody>
          <a:bodyPr wrap="square" lIns="0" rIns="0" tIns="0" bIns="0" anchor="t">
            <a:spAutoFit/>
          </a:bodyPr>
          <a:lstStyle/>
          <a:p>
            <a:pPr algn="l"/>
            <a:r>
              <a:rPr sz="1200" b="1" i="0">
                <a:solidFill>
                  <a:srgbClr val="1BA6A6"/>
                </a:solidFill>
                <a:latin typeface="Microsoft YaHei"/>
              </a:rPr>
              <a:t>引用按GB/T 7714统一；公式、符号、单位与数据来源逐项标注；参数表、实验脚本和Pilot输出保持可追溯。</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0D19"/>
        </a:solidFill>
      </p:bgPr>
    </p:bg>
    <p:spTree>
      <p:nvGrpSpPr>
        <p:cNvPr id="782" name="Shape 782"/>
        <p:cNvGrpSpPr/>
        <p:nvPr/>
      </p:nvGrpSpPr>
      <p:grpSpPr>
        <a:xfrm>
          <a:off x="0" y="0"/>
          <a:ext cx="0" cy="0"/>
          <a:chOff x="0" y="0"/>
          <a:chExt cx="0" cy="0"/>
        </a:xfrm>
      </p:grpSpPr>
      <p:sp>
        <p:nvSpPr>
          <p:cNvPr id="783" name="Rounded Rectangle 782"/>
          <p:cNvSpPr/>
          <p:nvPr/>
        </p:nvSpPr>
        <p:spPr>
          <a:xfrm>
            <a:off x="658368" y="566928"/>
            <a:ext cx="1874519" cy="246888"/>
          </a:xfrm>
          <a:prstGeom prst="roundRect">
            <a:avLst/>
          </a:prstGeom>
          <a:solidFill>
            <a:srgbClr val="18314D"/>
          </a:solidFill>
          <a:ln w="11430">
            <a:solidFill>
              <a:srgbClr val="2B83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TextBox 783"/>
          <p:cNvSpPr txBox="1"/>
          <p:nvPr/>
        </p:nvSpPr>
        <p:spPr>
          <a:xfrm>
            <a:off x="749808" y="580644"/>
            <a:ext cx="1691639" cy="201168"/>
          </a:xfrm>
          <a:prstGeom prst="rect">
            <a:avLst/>
          </a:prstGeom>
          <a:noFill/>
        </p:spPr>
        <p:txBody>
          <a:bodyPr wrap="square" lIns="0" rIns="0" tIns="0" bIns="0" anchor="ctr">
            <a:spAutoFit/>
          </a:bodyPr>
          <a:lstStyle/>
          <a:p>
            <a:pPr algn="ctr"/>
            <a:r>
              <a:rPr sz="950" b="1" i="0">
                <a:solidFill>
                  <a:srgbClr val="A9E7F5"/>
                </a:solidFill>
                <a:latin typeface="Microsoft YaHei"/>
              </a:rPr>
              <a:t>BACKUP / INDEX</a:t>
            </a:r>
          </a:p>
        </p:txBody>
      </p:sp>
      <p:sp>
        <p:nvSpPr>
          <p:cNvPr id="785" name="TextBox 784"/>
          <p:cNvSpPr txBox="1"/>
          <p:nvPr/>
        </p:nvSpPr>
        <p:spPr>
          <a:xfrm>
            <a:off x="658368" y="1783080"/>
            <a:ext cx="9784080" cy="685800"/>
          </a:xfrm>
          <a:prstGeom prst="rect">
            <a:avLst/>
          </a:prstGeom>
          <a:noFill/>
        </p:spPr>
        <p:txBody>
          <a:bodyPr wrap="square" lIns="0" rIns="0" tIns="0" bIns="0" anchor="t">
            <a:spAutoFit/>
          </a:bodyPr>
          <a:lstStyle/>
          <a:p>
            <a:pPr algn="l"/>
            <a:r>
              <a:rPr sz="3000" b="1" i="0">
                <a:solidFill>
                  <a:srgbClr val="FFFFFF"/>
                </a:solidFill>
                <a:latin typeface="Microsoft YaHei"/>
              </a:rPr>
              <a:t>答辩追问索引</a:t>
            </a:r>
          </a:p>
        </p:txBody>
      </p:sp>
      <p:sp>
        <p:nvSpPr>
          <p:cNvPr id="786" name="TextBox 785"/>
          <p:cNvSpPr txBox="1"/>
          <p:nvPr/>
        </p:nvSpPr>
        <p:spPr>
          <a:xfrm>
            <a:off x="676656" y="2587752"/>
            <a:ext cx="9509760" cy="411480"/>
          </a:xfrm>
          <a:prstGeom prst="rect">
            <a:avLst/>
          </a:prstGeom>
          <a:noFill/>
        </p:spPr>
        <p:txBody>
          <a:bodyPr wrap="square" lIns="0" rIns="0" tIns="0" bIns="0" anchor="t">
            <a:spAutoFit/>
          </a:bodyPr>
          <a:lstStyle/>
          <a:p>
            <a:pPr algn="l"/>
            <a:r>
              <a:rPr sz="1500" b="0" i="0">
                <a:solidFill>
                  <a:srgbClr val="C6D2DF"/>
                </a:solidFill>
                <a:latin typeface="Microsoft YaHei"/>
              </a:rPr>
              <a:t>按问题定位备查页，保证主讲叙事与技术细节各自完整。</a:t>
            </a:r>
          </a:p>
        </p:txBody>
      </p:sp>
      <p:sp>
        <p:nvSpPr>
          <p:cNvPr id="787" name="Rounded Rectangle 786"/>
          <p:cNvSpPr/>
          <p:nvPr/>
        </p:nvSpPr>
        <p:spPr>
          <a:xfrm>
            <a:off x="731520" y="3703320"/>
            <a:ext cx="3081527" cy="1051560"/>
          </a:xfrm>
          <a:prstGeom prst="roundRect">
            <a:avLst/>
          </a:prstGeom>
          <a:solidFill>
            <a:srgbClr val="10283F"/>
          </a:solidFill>
          <a:ln w="11430">
            <a:solidFill>
              <a:srgbClr val="2C4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TextBox 787"/>
          <p:cNvSpPr txBox="1"/>
          <p:nvPr/>
        </p:nvSpPr>
        <p:spPr>
          <a:xfrm>
            <a:off x="896112" y="3913632"/>
            <a:ext cx="2752344" cy="274320"/>
          </a:xfrm>
          <a:prstGeom prst="rect">
            <a:avLst/>
          </a:prstGeom>
          <a:noFill/>
        </p:spPr>
        <p:txBody>
          <a:bodyPr wrap="square" lIns="0" rIns="0" tIns="0" bIns="0" anchor="t">
            <a:spAutoFit/>
          </a:bodyPr>
          <a:lstStyle/>
          <a:p>
            <a:pPr algn="l"/>
            <a:r>
              <a:rPr sz="1600" b="1" i="0">
                <a:solidFill>
                  <a:srgbClr val="2388C9"/>
                </a:solidFill>
                <a:latin typeface="Microsoft YaHei"/>
              </a:rPr>
              <a:t>参数从哪里来？</a:t>
            </a:r>
          </a:p>
        </p:txBody>
      </p:sp>
      <p:sp>
        <p:nvSpPr>
          <p:cNvPr id="789" name="TextBox 788"/>
          <p:cNvSpPr txBox="1"/>
          <p:nvPr/>
        </p:nvSpPr>
        <p:spPr>
          <a:xfrm>
            <a:off x="896112" y="4261104"/>
            <a:ext cx="2752344" cy="320040"/>
          </a:xfrm>
          <a:prstGeom prst="rect">
            <a:avLst/>
          </a:prstGeom>
          <a:noFill/>
        </p:spPr>
        <p:txBody>
          <a:bodyPr wrap="square" lIns="0" rIns="0" tIns="0" bIns="0" anchor="t">
            <a:spAutoFit/>
          </a:bodyPr>
          <a:lstStyle/>
          <a:p>
            <a:pPr algn="l"/>
            <a:r>
              <a:rPr sz="1100" b="0" i="0">
                <a:solidFill>
                  <a:srgbClr val="C6D2DF"/>
                </a:solidFill>
                <a:latin typeface="Microsoft YaHei"/>
              </a:rPr>
              <a:t>见 Study Object、Evidence &amp; Validation、Backup F</a:t>
            </a:r>
          </a:p>
        </p:txBody>
      </p:sp>
      <p:sp>
        <p:nvSpPr>
          <p:cNvPr id="790" name="Rounded Rectangle 789"/>
          <p:cNvSpPr/>
          <p:nvPr/>
        </p:nvSpPr>
        <p:spPr>
          <a:xfrm>
            <a:off x="4059935" y="3703320"/>
            <a:ext cx="3081527" cy="1051560"/>
          </a:xfrm>
          <a:prstGeom prst="roundRect">
            <a:avLst/>
          </a:prstGeom>
          <a:solidFill>
            <a:srgbClr val="10283F"/>
          </a:solidFill>
          <a:ln w="11430">
            <a:solidFill>
              <a:srgbClr val="2C4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TextBox 790"/>
          <p:cNvSpPr txBox="1"/>
          <p:nvPr/>
        </p:nvSpPr>
        <p:spPr>
          <a:xfrm>
            <a:off x="4224527" y="3913632"/>
            <a:ext cx="2752344" cy="274320"/>
          </a:xfrm>
          <a:prstGeom prst="rect">
            <a:avLst/>
          </a:prstGeom>
          <a:noFill/>
        </p:spPr>
        <p:txBody>
          <a:bodyPr wrap="square" lIns="0" rIns="0" tIns="0" bIns="0" anchor="t">
            <a:spAutoFit/>
          </a:bodyPr>
          <a:lstStyle/>
          <a:p>
            <a:pPr algn="l"/>
            <a:r>
              <a:rPr sz="1600" b="1" i="0">
                <a:solidFill>
                  <a:srgbClr val="1BA6A6"/>
                </a:solidFill>
                <a:latin typeface="Microsoft YaHei"/>
              </a:rPr>
              <a:t>边界如何定义？</a:t>
            </a:r>
          </a:p>
        </p:txBody>
      </p:sp>
      <p:sp>
        <p:nvSpPr>
          <p:cNvPr id="792" name="TextBox 791"/>
          <p:cNvSpPr txBox="1"/>
          <p:nvPr/>
        </p:nvSpPr>
        <p:spPr>
          <a:xfrm>
            <a:off x="4224527" y="4261104"/>
            <a:ext cx="2752344" cy="320040"/>
          </a:xfrm>
          <a:prstGeom prst="rect">
            <a:avLst/>
          </a:prstGeom>
          <a:noFill/>
        </p:spPr>
        <p:txBody>
          <a:bodyPr wrap="square" lIns="0" rIns="0" tIns="0" bIns="0" anchor="t">
            <a:spAutoFit/>
          </a:bodyPr>
          <a:lstStyle/>
          <a:p>
            <a:pPr algn="l"/>
            <a:r>
              <a:rPr sz="1100" b="0" i="0">
                <a:solidFill>
                  <a:srgbClr val="C6D2DF"/>
                </a:solidFill>
                <a:latin typeface="Microsoft YaHei"/>
              </a:rPr>
              <a:t>见 CAWCC、约束集合与无量纲变量</a:t>
            </a:r>
          </a:p>
        </p:txBody>
      </p:sp>
      <p:sp>
        <p:nvSpPr>
          <p:cNvPr id="793" name="Rounded Rectangle 792"/>
          <p:cNvSpPr/>
          <p:nvPr/>
        </p:nvSpPr>
        <p:spPr>
          <a:xfrm>
            <a:off x="7388352" y="3703320"/>
            <a:ext cx="3081527" cy="1051560"/>
          </a:xfrm>
          <a:prstGeom prst="roundRect">
            <a:avLst/>
          </a:prstGeom>
          <a:solidFill>
            <a:srgbClr val="10283F"/>
          </a:solidFill>
          <a:ln w="11430">
            <a:solidFill>
              <a:srgbClr val="2C4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TextBox 793"/>
          <p:cNvSpPr txBox="1"/>
          <p:nvPr/>
        </p:nvSpPr>
        <p:spPr>
          <a:xfrm>
            <a:off x="7552944" y="3913632"/>
            <a:ext cx="2752344" cy="274320"/>
          </a:xfrm>
          <a:prstGeom prst="rect">
            <a:avLst/>
          </a:prstGeom>
          <a:noFill/>
        </p:spPr>
        <p:txBody>
          <a:bodyPr wrap="square" lIns="0" rIns="0" tIns="0" bIns="0" anchor="t">
            <a:spAutoFit/>
          </a:bodyPr>
          <a:lstStyle/>
          <a:p>
            <a:pPr algn="l"/>
            <a:r>
              <a:rPr sz="1600" b="1" i="0">
                <a:solidFill>
                  <a:srgbClr val="C9973E"/>
                </a:solidFill>
                <a:latin typeface="Microsoft YaHei"/>
              </a:rPr>
              <a:t>机制如何检验？</a:t>
            </a:r>
          </a:p>
        </p:txBody>
      </p:sp>
      <p:sp>
        <p:nvSpPr>
          <p:cNvPr id="795" name="TextBox 794"/>
          <p:cNvSpPr txBox="1"/>
          <p:nvPr/>
        </p:nvSpPr>
        <p:spPr>
          <a:xfrm>
            <a:off x="7552944" y="4261104"/>
            <a:ext cx="2752344" cy="320040"/>
          </a:xfrm>
          <a:prstGeom prst="rect">
            <a:avLst/>
          </a:prstGeom>
          <a:noFill/>
        </p:spPr>
        <p:txBody>
          <a:bodyPr wrap="square" lIns="0" rIns="0" tIns="0" bIns="0" anchor="t">
            <a:spAutoFit/>
          </a:bodyPr>
          <a:lstStyle/>
          <a:p>
            <a:pPr algn="l"/>
            <a:r>
              <a:rPr sz="1100" b="0" i="0">
                <a:solidFill>
                  <a:srgbClr val="C6D2DF"/>
                </a:solidFill>
                <a:latin typeface="Microsoft YaHei"/>
              </a:rPr>
              <a:t>见 Q/H 矩阵、相位干预与 DAG</a:t>
            </a:r>
          </a:p>
        </p:txBody>
      </p:sp>
      <p:sp>
        <p:nvSpPr>
          <p:cNvPr id="796" name="TextBox 795"/>
          <p:cNvSpPr txBox="1"/>
          <p:nvPr/>
        </p:nvSpPr>
        <p:spPr>
          <a:xfrm>
            <a:off x="502920" y="5916168"/>
            <a:ext cx="3200400" cy="201168"/>
          </a:xfrm>
          <a:prstGeom prst="rect">
            <a:avLst/>
          </a:prstGeom>
          <a:noFill/>
        </p:spPr>
        <p:txBody>
          <a:bodyPr wrap="square" lIns="0" rIns="0" tIns="0" bIns="0" anchor="t">
            <a:spAutoFit/>
          </a:bodyPr>
          <a:lstStyle/>
          <a:p>
            <a:pPr algn="l"/>
            <a:r>
              <a:rPr sz="950" b="0" i="0">
                <a:solidFill>
                  <a:srgbClr val="A9B6C7"/>
                </a:solidFill>
                <a:latin typeface="Microsoft YaHei"/>
              </a:rPr>
              <a:t>哈尔滨工业大学 · 硕士学位论文开题答辩</a:t>
            </a:r>
          </a:p>
        </p:txBody>
      </p:sp>
      <p:sp>
        <p:nvSpPr>
          <p:cNvPr id="797" name="TextBox 796"/>
          <p:cNvSpPr txBox="1"/>
          <p:nvPr/>
        </p:nvSpPr>
        <p:spPr>
          <a:xfrm>
            <a:off x="9601200" y="5916168"/>
            <a:ext cx="1005840" cy="201168"/>
          </a:xfrm>
          <a:prstGeom prst="rect">
            <a:avLst/>
          </a:prstGeom>
          <a:noFill/>
        </p:spPr>
        <p:txBody>
          <a:bodyPr wrap="square" lIns="0" rIns="0" tIns="0" bIns="0" anchor="t">
            <a:spAutoFit/>
          </a:bodyPr>
          <a:lstStyle/>
          <a:p>
            <a:pPr algn="r"/>
            <a:r>
              <a:rPr sz="950" b="0" i="0">
                <a:solidFill>
                  <a:srgbClr val="A9B6C7"/>
                </a:solidFill>
                <a:latin typeface="Microsoft YaHei"/>
              </a:rPr>
              <a:t>26 / BACKUP / INDEX</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