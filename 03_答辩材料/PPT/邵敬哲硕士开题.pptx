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7"/>
  </p:handoutMasterIdLst>
  <p:sldIdLst>
    <p:sldId id="256" r:id="rId3"/>
    <p:sldId id="258" r:id="rId5"/>
    <p:sldId id="259" r:id="rId6"/>
    <p:sldId id="260" r:id="rId7"/>
    <p:sldId id="261" r:id="rId8"/>
    <p:sldId id="262" r:id="rId9"/>
    <p:sldId id="263" r:id="rId10"/>
    <p:sldId id="264" r:id="rId11"/>
    <p:sldId id="265" r:id="rId12"/>
    <p:sldId id="286" r:id="rId13"/>
    <p:sldId id="288" r:id="rId14"/>
    <p:sldId id="271" r:id="rId15"/>
    <p:sldId id="272" r:id="rId16"/>
    <p:sldId id="278" r:id="rId17"/>
    <p:sldId id="274" r:id="rId18"/>
    <p:sldId id="279" r:id="rId19"/>
    <p:sldId id="291" r:id="rId20"/>
    <p:sldId id="294" r:id="rId21"/>
    <p:sldId id="295" r:id="rId22"/>
    <p:sldId id="282" r:id="rId23"/>
    <p:sldId id="283" r:id="rId24"/>
    <p:sldId id="284" r:id="rId25"/>
    <p:sldId id="285"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375"/>
    <a:srgbClr val="0053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4660"/>
  </p:normalViewPr>
  <p:slideViewPr>
    <p:cSldViewPr snapToGrid="0">
      <p:cViewPr varScale="1">
        <p:scale>
          <a:sx n="114" d="100"/>
          <a:sy n="114" d="100"/>
        </p:scale>
        <p:origin x="195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各位老师好，我是哈尔滨工业大学环境学院的硕士研究生邵敬哲，我的导师是白舜文老师。今天我汇报的开题题目是《</a:t>
            </a:r>
            <a:r>
              <a:rPr lang="en-US" altLang="zh-CN" sz="1100" dirty="0"/>
              <a:t>AI </a:t>
            </a:r>
            <a:r>
              <a:rPr lang="zh-CN" altLang="en-US" sz="1100" dirty="0"/>
              <a:t>算力设施驱动下城市水代谢响应与承载边界的系统模拟研究》。</a:t>
            </a:r>
            <a:endParaRPr lang="zh-CN" altLang="en-US" sz="11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首先进入第一部分，研究背景与问题提出。我们的研究起点，源于当前 </a:t>
            </a:r>
            <a:r>
              <a:rPr lang="en-US" altLang="zh-CN" sz="1100" dirty="0"/>
              <a:t>AI </a:t>
            </a:r>
            <a:r>
              <a:rPr lang="zh-CN" altLang="en-US" sz="1100" dirty="0"/>
              <a:t>算力爆发式扩张给城市水资源系统带来的全新挑战。</a:t>
            </a:r>
            <a:r>
              <a:rPr lang="zh-CN" sz="1100" dirty="0">
                <a:sym typeface="+mn-ea"/>
              </a:rPr>
              <a:t>数字经济正进入大模型时代，</a:t>
            </a:r>
            <a:r>
              <a:rPr lang="en-US" altLang="zh-CN" sz="1100" dirty="0">
                <a:sym typeface="+mn-ea"/>
              </a:rPr>
              <a:t>AI</a:t>
            </a:r>
            <a:r>
              <a:rPr lang="zh-CN" altLang="en-US" sz="1100" dirty="0">
                <a:sym typeface="+mn-ea"/>
              </a:rPr>
              <a:t>产业的爆发式增长不再停留在虚拟信息层面，已经转化为对实体资源的刚性持续消耗。</a:t>
            </a:r>
            <a:endParaRPr lang="zh-CN" altLang="en-US" sz="11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从规模增速来看，全国日均 </a:t>
            </a:r>
            <a:r>
              <a:rPr lang="en-US" altLang="zh-CN" sz="1100" dirty="0"/>
              <a:t>Token </a:t>
            </a:r>
            <a:r>
              <a:rPr lang="zh-CN" altLang="en-US" sz="1100" dirty="0"/>
              <a:t>调用量从 2024 年初到 2026 年 3 月，两年增长了 14</a:t>
            </a:r>
            <a:r>
              <a:rPr lang="en-US" altLang="zh-CN" sz="1100" dirty="0"/>
              <a:t>0</a:t>
            </a:r>
            <a:r>
              <a:rPr lang="zh-CN" altLang="en-US" sz="1100" dirty="0"/>
              <a:t>0 倍；</a:t>
            </a:r>
            <a:r>
              <a:rPr lang="en-US" altLang="zh-CN" sz="1100" dirty="0"/>
              <a:t>ChatGPT </a:t>
            </a:r>
            <a:r>
              <a:rPr lang="zh-CN" altLang="en-US" sz="1100" dirty="0"/>
              <a:t>周活跃用户也从 2023 年末的不到 1 亿，增长到 2026 年 6 月的 10 亿。目前全球生成式 </a:t>
            </a:r>
            <a:r>
              <a:rPr lang="en-US" altLang="zh-CN" sz="1100" dirty="0"/>
              <a:t>AI </a:t>
            </a:r>
            <a:r>
              <a:rPr lang="zh-CN" altLang="en-US" sz="1100" dirty="0"/>
              <a:t>人口采用率已达 53%，企业采用率接近 79%，算力需求的增长远超预期。与此同时，</a:t>
            </a:r>
            <a:r>
              <a:rPr lang="en-US" altLang="zh-CN" sz="1100" dirty="0"/>
              <a:t>AI </a:t>
            </a:r>
            <a:r>
              <a:rPr lang="zh-CN" altLang="en-US" sz="1100" dirty="0"/>
              <a:t>基础设施的水资源消耗正在大幅上升，已经成为不可忽视的城市用水新主体。</a:t>
            </a:r>
            <a:endParaRPr lang="zh-CN" altLang="en-US" sz="11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altLang="zh-CN" sz="1100" dirty="0"/>
              <a:t>AI </a:t>
            </a:r>
            <a:r>
              <a:rPr lang="zh-CN" altLang="en-US" sz="1100" dirty="0"/>
              <a:t>算力扩张正在把计算需求转化为持续性的城市负荷。和传统数据中心相比，</a:t>
            </a:r>
            <a:r>
              <a:rPr lang="en-US" altLang="zh-CN" sz="1100" dirty="0"/>
              <a:t>AI </a:t>
            </a:r>
            <a:r>
              <a:rPr lang="zh-CN" altLang="en-US" sz="1100" dirty="0"/>
              <a:t>数据中心有三个非常鲜明的用水特征：</a:t>
            </a:r>
            <a:endParaRPr lang="zh-CN" altLang="en-US" sz="1100" dirty="0"/>
          </a:p>
          <a:p>
            <a:r>
              <a:rPr lang="zh-CN" altLang="en-US" sz="1100" dirty="0"/>
              <a:t>第一个是高热流密度与连续刚性：</a:t>
            </a:r>
            <a:r>
              <a:rPr lang="en-US" altLang="zh-CN" sz="1100" dirty="0"/>
              <a:t>AI </a:t>
            </a:r>
            <a:r>
              <a:rPr lang="zh-CN" altLang="en-US" sz="1100" dirty="0"/>
              <a:t>训练和推理让单机柜功率密度从传统的 5-8</a:t>
            </a:r>
            <a:r>
              <a:rPr lang="en-US" altLang="zh-CN" sz="1100" dirty="0"/>
              <a:t>kW，</a:t>
            </a:r>
            <a:r>
              <a:rPr lang="zh-CN" altLang="en-US" sz="1100" dirty="0"/>
              <a:t>飙升到数十甚至上百 </a:t>
            </a:r>
            <a:r>
              <a:rPr lang="en-US" altLang="zh-CN" sz="1100" dirty="0"/>
              <a:t>kW，</a:t>
            </a:r>
            <a:r>
              <a:rPr lang="zh-CN" altLang="en-US" sz="1100" dirty="0"/>
              <a:t>并且全年高负荷连续运行。此时冷却散热对水资源的依赖，从 “辅助设施” 变成了 “刚性生命线”—— 断水就意味着过热停机，而停机的影响是广泛的，是瞬间发生的，风险传导时间极短。</a:t>
            </a:r>
            <a:endParaRPr lang="zh-CN" altLang="en-US" sz="1100" dirty="0"/>
          </a:p>
          <a:p>
            <a:r>
              <a:rPr lang="zh-CN" altLang="en-US" sz="1100" dirty="0"/>
              <a:t>第二个是强气象敏感性与季节尖峰冲击：夏季高温时冷却补水量会出现极端尖峰，而这个时段恰好和城市居民生活用水高峰、受纳水体环境容量收紧期 “撞车”。如果只用年均总量评估，完全看不到这种瞬态承载风险。</a:t>
            </a:r>
            <a:endParaRPr lang="zh-CN" altLang="en-US" sz="1100" dirty="0"/>
          </a:p>
          <a:p>
            <a:r>
              <a:rPr lang="zh-CN" altLang="en-US" sz="1100" dirty="0"/>
              <a:t>第三个是以蒸发相变消耗为主：传统工业用水大多是 “取水 — 洗涤 / 反应 — 处理达标排放”，水还留在设施或流域里；但 </a:t>
            </a:r>
            <a:r>
              <a:rPr lang="en-US" altLang="zh-CN" sz="1100" dirty="0"/>
              <a:t>AI </a:t>
            </a:r>
            <a:r>
              <a:rPr lang="zh-CN" altLang="en-US" sz="1100" dirty="0"/>
              <a:t>的湿式冷却、喷淋冷却主要靠水分蒸发带走潜热，水是直接被 “消耗” 到大气中了。同时排放的废水浓缩倍数很高，高含盐、高水温，对污水处理厂和受纳水体形成双重冲击。</a:t>
            </a:r>
            <a:endParaRPr lang="zh-CN" altLang="en-US" sz="1100" dirty="0"/>
          </a:p>
          <a:p>
            <a:endParaRPr lang="en-US" altLang="zh-CN" sz="1100" dirty="0"/>
          </a:p>
          <a:p>
            <a:r>
              <a:rPr lang="zh-CN" altLang="en-US" sz="1100" dirty="0"/>
              <a:t>所以我们的核心判断是：</a:t>
            </a:r>
            <a:r>
              <a:rPr lang="en-US" altLang="zh-CN" sz="1100" dirty="0"/>
              <a:t>AI </a:t>
            </a:r>
            <a:r>
              <a:rPr lang="zh-CN" altLang="en-US" sz="1100" dirty="0"/>
              <a:t>数据中心不只是 耗水</a:t>
            </a:r>
            <a:r>
              <a:rPr lang="en-US" altLang="zh-CN" sz="1100" dirty="0"/>
              <a:t> </a:t>
            </a:r>
            <a:r>
              <a:rPr lang="zh-CN" altLang="en-US" sz="1100" dirty="0"/>
              <a:t>节点，更是 “高耗水强度、高蒸发损失、强气象敏感” 的城市人工水系统新型脉冲节点。</a:t>
            </a:r>
            <a:endParaRPr lang="zh-CN" altLang="en-US" sz="11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这里我们用两个情景和示意图，直观说明为什么相同年用水量会带来完全不同的城市系统压力。</a:t>
            </a:r>
            <a:endParaRPr lang="zh-CN" altLang="en-US" sz="1100" dirty="0"/>
          </a:p>
          <a:p>
            <a:r>
              <a:rPr lang="zh-CN" altLang="en-US" sz="1100" dirty="0"/>
              <a:t>情景 </a:t>
            </a:r>
            <a:r>
              <a:rPr lang="en-US" altLang="zh-CN" sz="1100" dirty="0"/>
              <a:t>A </a:t>
            </a:r>
            <a:r>
              <a:rPr lang="zh-CN" altLang="en-US" sz="1100" dirty="0"/>
              <a:t>以本地淡水为主，夏季高温时段湿式冷却集中取水。它的年补水量和情景 </a:t>
            </a:r>
            <a:r>
              <a:rPr lang="en-US" altLang="zh-CN" sz="1100" dirty="0"/>
              <a:t>B </a:t>
            </a:r>
            <a:r>
              <a:rPr lang="zh-CN" altLang="en-US" sz="1100" dirty="0"/>
              <a:t>一致，但取水量集中在峰值日，且早于灰水分流，会造成局部供水压力飙升，同时与水温升高相叠加，造成受纳水体压力变大。</a:t>
            </a:r>
            <a:endParaRPr lang="zh-CN" altLang="en-US" sz="1100" dirty="0"/>
          </a:p>
          <a:p>
            <a:r>
              <a:rPr lang="zh-CN" altLang="en-US" sz="1100" dirty="0"/>
              <a:t>情景 </a:t>
            </a:r>
            <a:r>
              <a:rPr lang="en-US" altLang="zh-CN" sz="1100" dirty="0"/>
              <a:t>B </a:t>
            </a:r>
            <a:r>
              <a:rPr lang="zh-CN" altLang="en-US" sz="1100" dirty="0"/>
              <a:t>以再生水为主，配合排水调节与干湿混合排热调蓄。年补水量和情景 </a:t>
            </a:r>
            <a:r>
              <a:rPr lang="en-US" altLang="zh-CN" sz="1100" dirty="0"/>
              <a:t>A </a:t>
            </a:r>
            <a:r>
              <a:rPr lang="zh-CN" altLang="en-US" sz="1100" dirty="0"/>
              <a:t>相同，但通过再生水替代和蓄冷蓄水调峰，把压力转移到再生水处理强度与水价机制上，对城市自来水系统和天然水体的冲击小很多。</a:t>
            </a:r>
            <a:endParaRPr lang="zh-CN" altLang="en-US" sz="1100" dirty="0"/>
          </a:p>
          <a:p>
            <a:r>
              <a:rPr lang="zh-CN" altLang="en-US" sz="1100" dirty="0"/>
              <a:t>同样的用水总量，峰值不同、时序不同，消耗和回流的路径不同，对系统的压力就完全不同。因此研究对象不能只停留在单个数据中心本身，必须落在城市人工水系统的全过程网络上。</a:t>
            </a:r>
            <a:endParaRPr lang="zh-CN" altLang="en-US" sz="11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我们的研究对象，并不仅局限于 “数据中心用了多少水”，而是 </a:t>
            </a:r>
            <a:r>
              <a:rPr lang="en-US" altLang="zh-CN" sz="1100" dirty="0"/>
              <a:t>AI </a:t>
            </a:r>
            <a:r>
              <a:rPr lang="zh-CN" altLang="en-US" sz="1100" dirty="0"/>
              <a:t>节点接入后，整个城市水系统如何响应—— 这是我们和传统算力水足迹研究最核心的区别。我们的研究目的，就是回答城市人工水系统对 </a:t>
            </a:r>
            <a:r>
              <a:rPr lang="en-US" altLang="zh-CN" sz="1100" dirty="0"/>
              <a:t>AI </a:t>
            </a:r>
            <a:r>
              <a:rPr lang="zh-CN" altLang="en-US" sz="1100" dirty="0"/>
              <a:t>节点接入的代谢响应规律，以及条件化的承载边界在哪里。</a:t>
            </a:r>
            <a:endParaRPr lang="zh-CN" altLang="en-US" sz="1100" dirty="0"/>
          </a:p>
          <a:p>
            <a:r>
              <a:rPr lang="zh-CN" altLang="en-US" sz="1100" dirty="0"/>
              <a:t>研究意义主要有三点：第一，把算力节点真正视作城市物理负荷，让 “算力 — 水耗”的账目真正打通；第二，为城市水系统规划与运行，提供承载边界的判定依据；第三，补充面向 </a:t>
            </a:r>
            <a:r>
              <a:rPr lang="en-US" altLang="zh-CN" sz="1100" dirty="0"/>
              <a:t>AI </a:t>
            </a:r>
            <a:r>
              <a:rPr lang="zh-CN" altLang="en-US" sz="1100" dirty="0"/>
              <a:t>节点链的水系统计量学方法。</a:t>
            </a:r>
            <a:endParaRPr lang="zh-CN" altLang="en-US" sz="1100" dirty="0"/>
          </a:p>
          <a:p>
            <a:r>
              <a:rPr lang="zh-CN" altLang="en-US" sz="1100" dirty="0"/>
              <a:t>最后我们的主要贡献可以概括为三点：构建</a:t>
            </a:r>
            <a:r>
              <a:rPr lang="zh-CN" sz="1100" dirty="0"/>
              <a:t>一个新的</a:t>
            </a:r>
            <a:r>
              <a:rPr lang="zh-CN" altLang="en-US" sz="1100" dirty="0"/>
              <a:t>指标，建立 </a:t>
            </a:r>
            <a:r>
              <a:rPr lang="en-US" altLang="zh-CN" sz="1100" dirty="0"/>
              <a:t>AI </a:t>
            </a:r>
            <a:r>
              <a:rPr lang="zh-CN" altLang="en-US" sz="1100" dirty="0"/>
              <a:t>节点接入后的城市水代谢模型；最终提出条件化承载边界与主导瓶颈识别方法。</a:t>
            </a:r>
            <a:endParaRPr lang="zh-CN" altLang="en-US" sz="11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接下来是第二部分，看看现有研究做到了哪一步，还有哪些空白需要我们填补。</a:t>
            </a:r>
            <a:endParaRPr lang="zh-CN" altLang="en-US" sz="11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首先我们来看 </a:t>
            </a:r>
            <a:r>
              <a:rPr lang="en-US" altLang="zh-CN" sz="1100" dirty="0"/>
              <a:t>Xiao </a:t>
            </a:r>
            <a:r>
              <a:rPr lang="zh-CN" altLang="en-US" sz="1100" dirty="0"/>
              <a:t>等人 2025 年发表在《</a:t>
            </a:r>
            <a:r>
              <a:rPr lang="en-US" altLang="zh-CN" sz="1100" dirty="0"/>
              <a:t>Nature Sustainability》</a:t>
            </a:r>
            <a:r>
              <a:rPr lang="zh-CN" altLang="en-US" sz="1100" dirty="0"/>
              <a:t>的研究，他们发现随着 </a:t>
            </a:r>
            <a:r>
              <a:rPr lang="en-US" altLang="zh-CN" sz="1100" dirty="0"/>
              <a:t>AI </a:t>
            </a:r>
            <a:r>
              <a:rPr lang="zh-CN" altLang="en-US" sz="1100" dirty="0"/>
              <a:t>服务器规模增长，其生命周期水足迹呈快速上升趋势，同时受能源结构、服务器效率和部署区域影响，不同情景下未来水资源压力差异明显。</a:t>
            </a:r>
            <a:endParaRPr lang="zh-CN" altLang="en-US" sz="11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第二项是 </a:t>
            </a:r>
            <a:r>
              <a:rPr lang="en-US" altLang="zh-CN" sz="1100" dirty="0"/>
              <a:t>Jiang </a:t>
            </a:r>
            <a:r>
              <a:rPr lang="zh-CN" altLang="en-US" sz="1100" dirty="0"/>
              <a:t>等人 2025 年发表在《</a:t>
            </a:r>
            <a:r>
              <a:rPr lang="en-US" altLang="zh-CN" sz="1100" dirty="0"/>
              <a:t>Applied Energy》</a:t>
            </a:r>
            <a:r>
              <a:rPr lang="zh-CN" altLang="en-US" sz="1100" dirty="0"/>
              <a:t>的研究，针对中国数据中心，他们发现水足迹存在显著空间差异，部分算力集聚区域同时也面临较高水资源压力，体现出算力布局与区域水资源禀赋的潜在矛盾。</a:t>
            </a:r>
            <a:endParaRPr lang="zh-CN" altLang="en-US" sz="11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然后是 </a:t>
            </a:r>
            <a:r>
              <a:rPr lang="en-US" altLang="zh-CN"/>
              <a:t>Alissa </a:t>
            </a:r>
            <a:r>
              <a:rPr lang="zh-CN" altLang="en-US"/>
              <a:t>等人 2025 年发表在《</a:t>
            </a:r>
            <a:r>
              <a:rPr lang="en-US" altLang="zh-CN"/>
              <a:t>Nature》</a:t>
            </a:r>
            <a:r>
              <a:rPr lang="zh-CN" altLang="en-US"/>
              <a:t>的研究，指出数据中心水耗受冷却架构和气象条件共同影响，湿式冷却有明显季节波动特征，高温期水耗显著增加，而冷却技术优化可以解耦水、能、碳的耦合关系。</a:t>
            </a:r>
            <a:endParaRPr lang="zh-CN" altLang="en-US"/>
          </a:p>
          <a:p>
            <a:r>
              <a:rPr lang="zh-CN" altLang="en-US"/>
              <a:t>还有 </a:t>
            </a:r>
            <a:r>
              <a:rPr lang="en-US" altLang="zh-CN"/>
              <a:t>Karimi </a:t>
            </a:r>
            <a:r>
              <a:rPr lang="zh-CN" altLang="en-US"/>
              <a:t>等人 2025 年在《</a:t>
            </a:r>
            <a:r>
              <a:rPr lang="en-US" altLang="zh-CN"/>
              <a:t>Applied Thermal Engineering》</a:t>
            </a:r>
            <a:r>
              <a:rPr lang="zh-CN" altLang="en-US"/>
              <a:t>的研究，已经开始从年度核算转向月尺度甚至小时尺度动态模拟，发现年度平均指标很容易掩盖峰值负荷和基础设施约束。</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我们把现有研究梳理成五条知识链，总结 “已解决” 和 “未解决” 的问题。1. 数据中心水足迹与 </a:t>
            </a:r>
            <a:r>
              <a:rPr lang="en-US" altLang="zh-CN" sz="1100" dirty="0"/>
              <a:t>WUE </a:t>
            </a:r>
            <a:r>
              <a:rPr lang="zh-CN" altLang="en-US" sz="1100" dirty="0"/>
              <a:t>方向：量化方法已成熟，但研究对象都局限在设施边界内，未进入城市系统；</a:t>
            </a:r>
            <a:endParaRPr lang="zh-CN" altLang="en-US" sz="1100" dirty="0"/>
          </a:p>
          <a:p>
            <a:r>
              <a:rPr lang="zh-CN" altLang="en-US" sz="1100" dirty="0"/>
              <a:t>2. 城市代谢与水 — 能关系方向：已有城市尺度耦合代谢模型，但未刻画 </a:t>
            </a:r>
            <a:r>
              <a:rPr lang="en-US" altLang="zh-CN" sz="1100" dirty="0"/>
              <a:t>AI </a:t>
            </a:r>
            <a:r>
              <a:rPr lang="zh-CN" altLang="en-US" sz="1100" dirty="0"/>
              <a:t>算力节点这种新增负荷类型；</a:t>
            </a:r>
            <a:endParaRPr lang="zh-CN" altLang="en-US" sz="1100" dirty="0"/>
          </a:p>
          <a:p>
            <a:r>
              <a:rPr lang="en-US" altLang="zh-CN" sz="1100" dirty="0"/>
              <a:t>3. AI </a:t>
            </a:r>
            <a:r>
              <a:rPr lang="zh-CN" altLang="en-US" sz="1100" dirty="0"/>
              <a:t>耗水与冷却特性方向：明确了冷却方式、气候的影响，但多聚焦设施改造，未回答城市承载问题；</a:t>
            </a:r>
            <a:endParaRPr lang="zh-CN" altLang="en-US" sz="1100" dirty="0"/>
          </a:p>
          <a:p>
            <a:r>
              <a:rPr lang="zh-CN" altLang="en-US" sz="1100" dirty="0"/>
              <a:t>4. 城市水系统优化配置方向：优化模型与算法成熟，但约束以传统用水为主，未纳入算力相关约束；</a:t>
            </a:r>
            <a:endParaRPr lang="zh-CN" altLang="en-US" sz="1100" dirty="0"/>
          </a:p>
          <a:p>
            <a:r>
              <a:rPr lang="en-US" altLang="zh-CN" sz="1100" dirty="0"/>
              <a:t>5. AI </a:t>
            </a:r>
            <a:r>
              <a:rPr lang="zh-CN" altLang="en-US" sz="1100" dirty="0"/>
              <a:t>方法应用方向：</a:t>
            </a:r>
            <a:r>
              <a:rPr lang="en-US" altLang="zh-CN" sz="1100" dirty="0"/>
              <a:t>AI </a:t>
            </a:r>
            <a:r>
              <a:rPr lang="zh-CN" altLang="en-US" sz="1100" dirty="0"/>
              <a:t>已广泛用于水系统预测调度，但未与 </a:t>
            </a:r>
            <a:r>
              <a:rPr lang="en-US" altLang="zh-CN" sz="1100" dirty="0"/>
              <a:t>AI </a:t>
            </a:r>
            <a:r>
              <a:rPr lang="zh-CN" altLang="en-US" sz="1100" dirty="0"/>
              <a:t>算力侧的资源消耗形成闭环。</a:t>
            </a:r>
            <a:endParaRPr lang="zh-CN" altLang="en-US" sz="1100" dirty="0"/>
          </a:p>
          <a:p>
            <a:endParaRPr lang="en-US" altLang="zh-CN" sz="1100" dirty="0"/>
          </a:p>
          <a:p>
            <a:r>
              <a:rPr lang="zh-CN" altLang="en-US" sz="1100" dirty="0"/>
              <a:t>基于此，我们提炼出三项核心研究缺口：</a:t>
            </a:r>
            <a:endParaRPr lang="zh-CN" altLang="en-US" sz="1100" dirty="0"/>
          </a:p>
          <a:p>
            <a:r>
              <a:rPr lang="zh-CN" altLang="en-US" sz="1100" dirty="0"/>
              <a:t>缺口一：响应机制不清。</a:t>
            </a:r>
            <a:r>
              <a:rPr lang="en-US" altLang="zh-CN" sz="1100" dirty="0"/>
              <a:t>AI </a:t>
            </a:r>
            <a:r>
              <a:rPr lang="zh-CN" altLang="en-US" sz="1100" dirty="0"/>
              <a:t>节点接入后，城市水系统从取水到排放或回用 全链条如何响应，缺少系统性刻画。</a:t>
            </a:r>
            <a:endParaRPr lang="zh-CN" altLang="en-US" sz="1100" dirty="0"/>
          </a:p>
          <a:p>
            <a:r>
              <a:rPr lang="zh-CN" altLang="en-US" sz="1100" dirty="0"/>
              <a:t>缺口二：承载边界不条件化。现有承载能力多以总量或单要素阈值表达，未体现 “取决于水源结构、气象与技术组合” 的条件性，年均总量掩盖了瞬态峰值风险。</a:t>
            </a:r>
            <a:endParaRPr lang="zh-CN" altLang="en-US" sz="1100" dirty="0"/>
          </a:p>
          <a:p>
            <a:r>
              <a:rPr lang="zh-CN" altLang="en-US" sz="1100" dirty="0"/>
              <a:t>缺口三：瓶颈识别不动态。系统瓶颈会随季节、气温、来水和运行策略不断迁移，缺少可比较、可排序的主导瓶颈识别的方法。</a:t>
            </a:r>
            <a:endParaRPr lang="zh-CN" altLang="en-US" sz="1100" dirty="0"/>
          </a:p>
          <a:p>
            <a:endParaRPr lang="en-US" altLang="zh-CN" sz="1100" dirty="0"/>
          </a:p>
          <a:p>
            <a:r>
              <a:rPr lang="zh-CN" altLang="en-US" sz="1100" dirty="0"/>
              <a:t>总结来说：现有研究已分别解决算力耗水和城市代谢的问题，但缺少将二者纳入同一系统、给出条件化承载边界与主导瓶颈的统一建模框架 —— 这就是我们研究要填补的空白。</a:t>
            </a:r>
            <a:endParaRPr lang="zh-CN" altLang="en-US" sz="11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接下来是汇报的核心部分，科学问题、研究方案与研究内容。我们提出了 </a:t>
            </a:r>
            <a:r>
              <a:rPr lang="en-US" altLang="zh-CN" sz="1100" dirty="0"/>
              <a:t>CAWCC </a:t>
            </a:r>
            <a:r>
              <a:rPr lang="zh-CN" altLang="en-US" sz="1100" dirty="0"/>
              <a:t>核心概念，设计了完整的技术路线。</a:t>
            </a:r>
            <a:endParaRPr lang="zh-CN" altLang="en-US" sz="11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本研究提出核心概念</a:t>
            </a:r>
            <a:r>
              <a:rPr lang="en-US" altLang="zh-CN" sz="1100" dirty="0"/>
              <a:t>CAWCC</a:t>
            </a:r>
            <a:r>
              <a:rPr lang="zh-CN" altLang="en-US" sz="1100" dirty="0"/>
              <a:t>，即条件化</a:t>
            </a:r>
            <a:r>
              <a:rPr lang="en-US" altLang="zh-CN" sz="1100" dirty="0"/>
              <a:t>AI</a:t>
            </a:r>
            <a:r>
              <a:rPr lang="zh-CN" altLang="en-US" sz="1100" dirty="0"/>
              <a:t>水承载容量，明确其定义为给定水源结构、气象条件、技术水平与运行策略下，城市人工水系统可承载的</a:t>
            </a:r>
            <a:r>
              <a:rPr lang="en-US" altLang="zh-CN" sz="1100" dirty="0"/>
              <a:t>AI</a:t>
            </a:r>
            <a:r>
              <a:rPr lang="zh-CN" altLang="en-US" sz="1100" dirty="0"/>
              <a:t>算力相关用水规模。该概念具备三大核心属性：条件化、可计算、可比较，它不输出固定的单一总量阈值，而是输出随约束条件变化的容量集合，同时同步识别系统的主导瓶颈。</a:t>
            </a:r>
            <a:r>
              <a:rPr lang="en-US" altLang="zh-CN" sz="1100" dirty="0"/>
              <a:t>
</a:t>
            </a:r>
            <a:r>
              <a:rPr lang="zh-CN" altLang="en-US" sz="1100" dirty="0"/>
              <a:t>相较于传统的水足迹、</a:t>
            </a:r>
            <a:r>
              <a:rPr lang="en-US" altLang="zh-CN" sz="1100" dirty="0"/>
              <a:t>WUE</a:t>
            </a:r>
            <a:r>
              <a:rPr lang="zh-CN" altLang="en-US" sz="1100" dirty="0"/>
              <a:t>这类聚焦设施用水效率的指标，</a:t>
            </a:r>
            <a:r>
              <a:rPr lang="en-US" altLang="zh-CN" sz="1100" dirty="0"/>
              <a:t>CAWCC</a:t>
            </a:r>
            <a:r>
              <a:rPr lang="zh-CN" altLang="en-US" sz="1100" dirty="0"/>
              <a:t>将评价对象拓展至城市系统可承载的</a:t>
            </a:r>
            <a:r>
              <a:rPr lang="en-US" altLang="zh-CN" sz="1100" dirty="0"/>
              <a:t>AI</a:t>
            </a:r>
            <a:r>
              <a:rPr lang="zh-CN" altLang="en-US" sz="1100" dirty="0"/>
              <a:t>算力规模，以动态容量替代静态单值指标，直接服务于城市算力布局规划的承载评估与干预措施排序，填补了现有研究的空白。</a:t>
            </a:r>
            <a:r>
              <a:rPr lang="en-US" altLang="zh-CN" sz="1100" dirty="0"/>
              <a:t>
CAWCC</a:t>
            </a:r>
            <a:r>
              <a:rPr lang="zh-CN" altLang="en-US" sz="1100" dirty="0"/>
              <a:t>的条件维度覆盖四大核心要素，分别为水源结构、气象条件、技术水平与运行策略，核心优势在于可同时输出可承载规模与对应主导瓶颈，让研究结论既具备可解释性，也能直接支撑后续干预决策。</a:t>
            </a:r>
            <a:endParaRPr lang="zh-CN" altLang="en-US" sz="11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接下来向各位老师汇报本研究的核心模型架构——节点模块与系统网络的动态耦合。  左侧是“</a:t>
            </a:r>
            <a:r>
              <a:rPr lang="en-US" altLang="zh-CN" sz="1100" dirty="0"/>
              <a:t>AI</a:t>
            </a:r>
            <a:r>
              <a:rPr lang="zh-CN" altLang="en-US" sz="1100" dirty="0"/>
              <a:t>节点水代谢模块”，我们打通了从业务需求、</a:t>
            </a:r>
            <a:r>
              <a:rPr lang="en-US" altLang="zh-CN" sz="1100" dirty="0"/>
              <a:t>IT</a:t>
            </a:r>
            <a:r>
              <a:rPr lang="zh-CN" altLang="en-US" sz="1100" dirty="0"/>
              <a:t>负载、设备排热到冷却补排水的微观转化链条，实现算力负荷向物理水通量的底层映射；右侧是“城市人工水系统网络”，涵盖了“取水、处理、使用、排放与再生回用”的全过程闭环。  模型的核心逻辑在于中间的系统耦合：我们将</a:t>
            </a:r>
            <a:r>
              <a:rPr lang="en-US" altLang="zh-CN" sz="1100" dirty="0"/>
              <a:t>AI</a:t>
            </a:r>
            <a:r>
              <a:rPr lang="zh-CN" altLang="en-US" sz="1100" dirty="0"/>
              <a:t>节点作为高强度、强气象敏感的新型负荷，显式嵌入到城市集总式水代谢网络中，通过动态水通量传递与工程物理边界约束，开展全过程逐日显式时序递推求解。这打破了以往仅在设施尺度孤立核算水足迹的局限，能够在多情景下真实模拟系统水代谢响应，精准识别条件化承载边界与时序主导瓶颈。</a:t>
            </a:r>
            <a:endParaRPr lang="zh-CN" altLang="en-US" sz="11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我们将研究拆解为四项系统递进的内容，一步步从基础建模走到最终结论落地。</a:t>
            </a:r>
            <a:r>
              <a:rPr lang="en-US" altLang="zh-CN" sz="1100" dirty="0"/>
              <a:t>
</a:t>
            </a:r>
            <a:r>
              <a:rPr lang="zh-CN" altLang="en-US" sz="1100" dirty="0"/>
              <a:t>第一项搭建城市人工水系统耦合模型，打通</a:t>
            </a:r>
            <a:r>
              <a:rPr lang="en-US" altLang="zh-CN" sz="1100" dirty="0"/>
              <a:t>“</a:t>
            </a:r>
            <a:r>
              <a:rPr lang="zh-CN" altLang="en-US" sz="1100" dirty="0"/>
              <a:t>算力</a:t>
            </a:r>
            <a:r>
              <a:rPr lang="en-US" altLang="zh-CN" sz="1100" dirty="0"/>
              <a:t>→</a:t>
            </a:r>
            <a:r>
              <a:rPr lang="zh-CN" altLang="en-US" sz="1100" dirty="0"/>
              <a:t>热</a:t>
            </a:r>
            <a:r>
              <a:rPr lang="en-US" altLang="zh-CN" sz="1100" dirty="0"/>
              <a:t>→</a:t>
            </a:r>
            <a:r>
              <a:rPr lang="zh-CN" altLang="en-US" sz="1100" dirty="0"/>
              <a:t>冷却</a:t>
            </a:r>
            <a:r>
              <a:rPr lang="en-US" altLang="zh-CN" sz="1100" dirty="0"/>
              <a:t>→</a:t>
            </a:r>
            <a:r>
              <a:rPr lang="zh-CN" altLang="en-US" sz="1100" dirty="0"/>
              <a:t>补水</a:t>
            </a:r>
            <a:r>
              <a:rPr lang="en-US" altLang="zh-CN" sz="1100" dirty="0"/>
              <a:t>/</a:t>
            </a:r>
            <a:r>
              <a:rPr lang="zh-CN" altLang="en-US" sz="1100" dirty="0"/>
              <a:t>排水</a:t>
            </a:r>
            <a:r>
              <a:rPr lang="en-US" altLang="zh-CN" sz="1100" dirty="0"/>
              <a:t>”</a:t>
            </a:r>
            <a:r>
              <a:rPr lang="zh-CN" altLang="en-US" sz="1100" dirty="0"/>
              <a:t>的完整链条，完成逐日水量平衡闭合，建立标准化参数证据库，解决</a:t>
            </a:r>
            <a:r>
              <a:rPr lang="en-US" altLang="zh-CN" sz="1100" dirty="0"/>
              <a:t>AI</a:t>
            </a:r>
            <a:r>
              <a:rPr lang="zh-CN" altLang="en-US" sz="1100" dirty="0"/>
              <a:t>负荷如何嵌入城市水流网络的核心问题，最终输出通过守恒校核的</a:t>
            </a:r>
            <a:r>
              <a:rPr lang="en-US" altLang="zh-CN" sz="1100" dirty="0"/>
              <a:t>AI-UWM</a:t>
            </a:r>
            <a:r>
              <a:rPr lang="zh-CN" altLang="en-US" sz="1100" dirty="0"/>
              <a:t>模型与证据库。</a:t>
            </a:r>
            <a:r>
              <a:rPr lang="en-US" altLang="zh-CN" sz="1100" dirty="0"/>
              <a:t>
</a:t>
            </a:r>
            <a:r>
              <a:rPr lang="zh-CN" altLang="en-US" sz="1100" dirty="0"/>
              <a:t>第二项分析</a:t>
            </a:r>
            <a:r>
              <a:rPr lang="en-US" altLang="zh-CN" sz="1100" dirty="0"/>
              <a:t>AI</a:t>
            </a:r>
            <a:r>
              <a:rPr lang="zh-CN" altLang="en-US" sz="1100" dirty="0"/>
              <a:t>扩张下城市水系统的代谢响应，设置算力容量梯度与对照组，追踪全路径流量变化，找准系统响应模式切换的临界节点，输出不同对照下的代谢响应演变规律。</a:t>
            </a:r>
            <a:r>
              <a:rPr lang="en-US" altLang="zh-CN" sz="1100" dirty="0"/>
              <a:t>
</a:t>
            </a:r>
            <a:r>
              <a:rPr lang="zh-CN" altLang="en-US" sz="1100" dirty="0"/>
              <a:t>第三项求解条件化承载边界，扫描多因素组合下的容量变化，解答不同时间尺度承载边界差异的问题，最终产出多时间尺度</a:t>
            </a:r>
            <a:r>
              <a:rPr lang="en-US" altLang="zh-CN" sz="1100" dirty="0"/>
              <a:t>CAWCC</a:t>
            </a:r>
            <a:r>
              <a:rPr lang="zh-CN" altLang="en-US" sz="1100" dirty="0"/>
              <a:t>承载曲面与边界提前机制。</a:t>
            </a:r>
            <a:r>
              <a:rPr lang="en-US" altLang="zh-CN" sz="1100" dirty="0"/>
              <a:t>
</a:t>
            </a:r>
            <a:r>
              <a:rPr lang="zh-CN" altLang="en-US" sz="1100" dirty="0"/>
              <a:t>第四项识别主导瓶颈并评估干预效果，通过敏感性分析锁定不同场景的核心瓶颈，对比各类干预措施的提升效果，输出主导瓶颈转换图谱与可落地的协同规划建议。</a:t>
            </a:r>
            <a:endParaRPr lang="zh-CN" altLang="en-US" sz="11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我们设计五组控制实验验证猜想：算力梯度实验观测响应变化，对照不同水源结构检验边界条件化，测试不同气象情景确认季节敏感性，组合技术与策略评估干预效果，对照普通工业剥离算力负荷的特异性机制。</a:t>
            </a:r>
            <a:endParaRPr lang="zh-CN" altLang="en-US" sz="11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这是研究的详细技术路线图</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目前已经完成三项核心前置工作。推导出覆盖城市供排水循环与</a:t>
            </a:r>
            <a:r>
              <a:rPr lang="en-US" altLang="zh-CN"/>
              <a:t>AI</a:t>
            </a:r>
            <a:r>
              <a:rPr lang="zh-CN" altLang="en-US"/>
              <a:t>相变排热的全过程控制方程，搭建带</a:t>
            </a:r>
            <a:r>
              <a:rPr lang="en-US" altLang="zh-CN"/>
              <a:t>8</a:t>
            </a:r>
            <a:r>
              <a:rPr lang="zh-CN" altLang="en-US"/>
              <a:t>项工程物理约束的</a:t>
            </a:r>
            <a:r>
              <a:rPr lang="en-US" altLang="zh-CN"/>
              <a:t>CAWCC</a:t>
            </a:r>
            <a:r>
              <a:rPr lang="zh-CN" altLang="en-US"/>
              <a:t>求解模型。基于</a:t>
            </a:r>
            <a:r>
              <a:rPr lang="en-US" altLang="zh-CN"/>
              <a:t>Python</a:t>
            </a:r>
            <a:r>
              <a:rPr lang="zh-CN" altLang="en-US"/>
              <a:t>完成</a:t>
            </a:r>
            <a:r>
              <a:rPr lang="en-US" altLang="zh-CN"/>
              <a:t>AI-UWM</a:t>
            </a:r>
            <a:r>
              <a:rPr lang="zh-CN" altLang="en-US"/>
              <a:t>核心计算引擎开发，经测试日尺度相对残差低于</a:t>
            </a:r>
            <a:r>
              <a:rPr lang="en-US" altLang="zh-CN"/>
              <a:t>10^-8</a:t>
            </a:r>
            <a:r>
              <a:rPr lang="zh-CN" altLang="en-US"/>
              <a:t>，数值自洽达标。依托公开标准与数据，完成两类典型原型城市参数域基准标定，全部代码已开源到项目仓库。</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目前模型已经完成了后端和前端的构建，各项功能基本完善，系统顶层与</a:t>
            </a:r>
            <a:r>
              <a:rPr lang="en-US" altLang="zh-CN"/>
              <a:t>AI</a:t>
            </a:r>
            <a:r>
              <a:rPr lang="zh-CN" altLang="en-US"/>
              <a:t>节点的收支项均能配平，各模块水量衔接一致，模拟结果满足内部守恒要求。</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最后是第四部分，研究基础、进度安排与预期成果。</a:t>
            </a:r>
            <a:endParaRPr lang="zh-CN" altLang="en-US" sz="11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sym typeface="+mn-ea"/>
              </a:rPr>
              <a:t>研究开展已有扎实铺垫，掌握了核心研究方法，已经具备了开展研究的各项条件。</a:t>
            </a:r>
            <a:r>
              <a:rPr lang="en-US" altLang="zh-CN" sz="1100" dirty="0">
                <a:sym typeface="+mn-ea"/>
              </a:rPr>
              <a:t>
</a:t>
            </a:r>
            <a:r>
              <a:rPr lang="zh-CN" altLang="en-US" sz="1100" dirty="0"/>
              <a:t>项目分为五个明确阶段推进：</a:t>
            </a:r>
            <a:r>
              <a:rPr lang="zh-CN" sz="1100" dirty="0"/>
              <a:t>第一阶段</a:t>
            </a:r>
            <a:r>
              <a:rPr lang="zh-CN" altLang="en-US" sz="1100" dirty="0"/>
              <a:t>完成最小模型闭环，完成单元测试；</a:t>
            </a:r>
            <a:r>
              <a:rPr lang="zh-CN" sz="1100" dirty="0"/>
              <a:t>第二阶段</a:t>
            </a:r>
            <a:r>
              <a:rPr lang="zh-CN" altLang="en-US" sz="1100" dirty="0"/>
              <a:t>完成代谢响应分析实验；</a:t>
            </a:r>
            <a:r>
              <a:rPr lang="zh-CN" sz="1100" dirty="0"/>
              <a:t>第三阶段</a:t>
            </a:r>
            <a:r>
              <a:rPr lang="zh-CN" altLang="en-US" sz="1100" dirty="0"/>
              <a:t>完成多尺度承载边界求解与机制推导；</a:t>
            </a:r>
            <a:r>
              <a:rPr lang="zh-CN" sz="1100" dirty="0"/>
              <a:t>第四阶段</a:t>
            </a:r>
            <a:r>
              <a:rPr lang="zh-CN" altLang="en-US" sz="1100" dirty="0"/>
              <a:t>完成瓶颈识别与结果验证；</a:t>
            </a:r>
            <a:r>
              <a:rPr lang="zh-CN" sz="1100" dirty="0"/>
              <a:t>第五阶段</a:t>
            </a:r>
            <a:r>
              <a:rPr lang="zh-CN" altLang="en-US" sz="1100" dirty="0"/>
              <a:t>完成成果整合与学位论文撰写。</a:t>
            </a:r>
            <a:endParaRPr lang="zh-CN" altLang="en-US" sz="11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altLang="en-US" sz="1100" dirty="0"/>
              <a:t>本研究产出四方面成果。完成高质量硕士学位论文，输出城市水代谢耦合模型与</a:t>
            </a:r>
            <a:r>
              <a:rPr lang="en-US" altLang="zh-CN" sz="1100" dirty="0"/>
              <a:t>CAWCC</a:t>
            </a:r>
            <a:r>
              <a:rPr lang="zh-CN" altLang="en-US" sz="1100" dirty="0"/>
              <a:t>指标方法，争取发表</a:t>
            </a:r>
            <a:r>
              <a:rPr lang="en-US" altLang="zh-CN" sz="1100" dirty="0"/>
              <a:t>1-2</a:t>
            </a:r>
            <a:r>
              <a:rPr lang="zh-CN" altLang="en-US" sz="1100" dirty="0"/>
              <a:t>篇学术论文，最终形成</a:t>
            </a:r>
            <a:r>
              <a:rPr lang="en-US" altLang="zh-CN" sz="1100" dirty="0"/>
              <a:t>AI</a:t>
            </a:r>
            <a:r>
              <a:rPr lang="zh-CN" altLang="en-US" sz="1100" dirty="0"/>
              <a:t>数据中心发展的承载判定与干预优先级决策建议。</a:t>
            </a:r>
            <a:r>
              <a:rPr lang="en-US" altLang="zh-CN" sz="1100" dirty="0"/>
              <a:t>
</a:t>
            </a:r>
            <a:r>
              <a:rPr lang="zh-CN" altLang="en-US" sz="1100" dirty="0"/>
              <a:t>研究提出三点核心创新。突破以往仅关注独立设施水足迹的局限，把</a:t>
            </a:r>
            <a:r>
              <a:rPr lang="en-US" altLang="zh-CN" sz="1100" dirty="0"/>
              <a:t>AI</a:t>
            </a:r>
            <a:r>
              <a:rPr lang="zh-CN" altLang="en-US" sz="1100" dirty="0"/>
              <a:t>作为城市水系统的显式过程节点，打通</a:t>
            </a:r>
            <a:r>
              <a:rPr lang="en-US" altLang="zh-CN" sz="1100" dirty="0"/>
              <a:t>IT</a:t>
            </a:r>
            <a:r>
              <a:rPr lang="zh-CN" altLang="en-US" sz="1100" dirty="0"/>
              <a:t>容量到供排水设施响应的全流程闭环。</a:t>
            </a:r>
            <a:r>
              <a:rPr lang="en-US" altLang="zh-CN" sz="1100" dirty="0"/>
              <a:t>
</a:t>
            </a:r>
            <a:r>
              <a:rPr lang="zh-CN" altLang="en-US" sz="1100" dirty="0"/>
              <a:t>将</a:t>
            </a:r>
            <a:r>
              <a:rPr lang="en-US" altLang="zh-CN" sz="1100" dirty="0"/>
              <a:t>AI</a:t>
            </a:r>
            <a:r>
              <a:rPr lang="zh-CN" altLang="en-US" sz="1100" dirty="0"/>
              <a:t>连续运行、高温敏感冷却特性与传统城市需水峰值耦合，定量揭示不同时间尺度承载边界的差异及错估机制。建立供排水全环节决定的条件化可行边界，清晰识别主导瓶颈迁移轨迹与扩容的物理边际有效性转折。</a:t>
            </a:r>
            <a:r>
              <a:rPr lang="en-US" altLang="zh-CN" sz="1100" dirty="0"/>
              <a:t>
</a:t>
            </a:r>
            <a:r>
              <a:rPr lang="zh-CN" altLang="en-US" sz="1100" dirty="0"/>
              <a:t>研究提前预设三类风险应对方案。约束交互导致可行域非单调，采用全域网格扫描，完整报告全部可行区间与失效规模。模型复杂度偏高，采用模块化建模，先搭建主链再补充细节，逐步增加复杂度。针对参数外推风险，采用无量纲裕度表达，严格限定在已标定参数域内使用，严控外推。</a:t>
            </a:r>
            <a:endParaRPr lang="zh-CN" altLang="en-US" sz="11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本研究瞄准</a:t>
            </a:r>
            <a:r>
              <a:rPr lang="en-US" altLang="zh-CN" sz="1100" dirty="0"/>
              <a:t>AI</a:t>
            </a:r>
            <a:r>
              <a:rPr lang="zh-CN" altLang="en-US" sz="1100" dirty="0"/>
              <a:t>算力产业爆发下，城市水系统承载压力凸显的现实问题，突破了传统用水效率评价的单一维度局限，创新性提出条件化</a:t>
            </a:r>
            <a:r>
              <a:rPr lang="en-US" altLang="zh-CN" sz="1100" dirty="0"/>
              <a:t>AI</a:t>
            </a:r>
            <a:r>
              <a:rPr lang="zh-CN" altLang="en-US" sz="1100" dirty="0"/>
              <a:t>水承载容量</a:t>
            </a:r>
            <a:r>
              <a:rPr lang="en-US" altLang="zh-CN" sz="1100" dirty="0"/>
              <a:t>CAWCC</a:t>
            </a:r>
            <a:r>
              <a:rPr lang="zh-CN" altLang="en-US" sz="1100" dirty="0"/>
              <a:t>概念，构建从节点表征到系统耦合、边界求解再到瓶颈识别的完整研究框架。</a:t>
            </a:r>
            <a:r>
              <a:rPr lang="en-US" altLang="zh-CN" sz="1100" dirty="0"/>
              <a:t>
</a:t>
            </a:r>
            <a:r>
              <a:rPr lang="zh-CN" altLang="en-US" sz="1100" dirty="0"/>
              <a:t>以上就是我的全部开题汇报，内容还有很多考虑不周的地方，恳请各位老师批评指正，谢谢大家！</a:t>
            </a:r>
            <a:endParaRPr lang="zh-CN" altLang="en-US" sz="11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9" name=""/>
        <p:cNvGrpSpPr/>
        <p:nvPr/>
      </p:nvGrpSpPr>
      <p:grpSpPr>
        <a:xfrm>
          <a:off x="0" y="0"/>
          <a:ext cx="0" cy="0"/>
          <a:chOff x="0" y="0"/>
          <a:chExt cx="0" cy="0"/>
        </a:xfrm>
      </p:grpSpPr>
      <p:sp>
        <p:nvSpPr>
          <p:cNvPr id="20"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1"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22"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23" name="页脚占位符 4"/>
          <p:cNvSpPr>
            <a:spLocks noGrp="1"/>
          </p:cNvSpPr>
          <p:nvPr>
            <p:ph type="ftr" sz="quarter" idx="11"/>
          </p:nvPr>
        </p:nvSpPr>
        <p:spPr/>
        <p:txBody>
          <a:bodyPr/>
          <a:lstStyle/>
          <a:p>
            <a:endParaRPr lang="zh-CN" altLang="en-US"/>
          </a:p>
        </p:txBody>
      </p:sp>
      <p:sp>
        <p:nvSpPr>
          <p:cNvPr id="24"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25"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a:t>单击此处编辑母版标题样式</a:t>
            </a:r>
            <a:endParaRPr lang="zh-CN" altLang="en-US"/>
          </a:p>
        </p:txBody>
      </p:sp>
      <p:sp>
        <p:nvSpPr>
          <p:cNvPr id="27"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8"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9"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30" name="页脚占位符 5"/>
          <p:cNvSpPr>
            <a:spLocks noGrp="1"/>
          </p:cNvSpPr>
          <p:nvPr>
            <p:ph type="ftr" sz="quarter" idx="11"/>
          </p:nvPr>
        </p:nvSpPr>
        <p:spPr/>
        <p:txBody>
          <a:bodyPr/>
          <a:lstStyle/>
          <a:p>
            <a:endParaRPr lang="zh-CN" altLang="en-US"/>
          </a:p>
        </p:txBody>
      </p:sp>
      <p:sp>
        <p:nvSpPr>
          <p:cNvPr id="31"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32" name=""/>
        <p:cNvGrpSpPr/>
        <p:nvPr/>
      </p:nvGrpSpPr>
      <p:grpSpPr>
        <a:xfrm>
          <a:off x="0" y="0"/>
          <a:ext cx="0" cy="0"/>
          <a:chOff x="0" y="0"/>
          <a:chExt cx="0" cy="0"/>
        </a:xfrm>
      </p:grpSpPr>
      <p:sp>
        <p:nvSpPr>
          <p:cNvPr id="33"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4"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35"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6"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37"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8" name="日期占位符 6"/>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39" name="页脚占位符 7"/>
          <p:cNvSpPr>
            <a:spLocks noGrp="1"/>
          </p:cNvSpPr>
          <p:nvPr>
            <p:ph type="ftr" sz="quarter" idx="11"/>
          </p:nvPr>
        </p:nvSpPr>
        <p:spPr/>
        <p:txBody>
          <a:bodyPr/>
          <a:lstStyle/>
          <a:p>
            <a:endParaRPr lang="zh-CN" altLang="en-US"/>
          </a:p>
        </p:txBody>
      </p:sp>
      <p:sp>
        <p:nvSpPr>
          <p:cNvPr id="40" name="灯片编号占位符 8"/>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1" name=""/>
        <p:cNvGrpSpPr/>
        <p:nvPr/>
      </p:nvGrpSpPr>
      <p:grpSpPr>
        <a:xfrm>
          <a:off x="0" y="0"/>
          <a:ext cx="0" cy="0"/>
          <a:chOff x="0" y="0"/>
          <a:chExt cx="0" cy="0"/>
        </a:xfrm>
      </p:grpSpPr>
      <p:sp>
        <p:nvSpPr>
          <p:cNvPr id="42" name="标题 1"/>
          <p:cNvSpPr>
            <a:spLocks noGrp="1"/>
          </p:cNvSpPr>
          <p:nvPr>
            <p:ph type="title"/>
          </p:nvPr>
        </p:nvSpPr>
        <p:spPr/>
        <p:txBody>
          <a:bodyPr/>
          <a:lstStyle/>
          <a:p>
            <a:r>
              <a:rPr lang="zh-CN" altLang="en-US"/>
              <a:t>单击此处编辑母版标题样式</a:t>
            </a:r>
            <a:endParaRPr lang="zh-CN" altLang="en-US"/>
          </a:p>
        </p:txBody>
      </p:sp>
      <p:sp>
        <p:nvSpPr>
          <p:cNvPr id="43" name="日期占位符 2"/>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44" name="页脚占位符 3"/>
          <p:cNvSpPr>
            <a:spLocks noGrp="1"/>
          </p:cNvSpPr>
          <p:nvPr>
            <p:ph type="ftr" sz="quarter" idx="11"/>
          </p:nvPr>
        </p:nvSpPr>
        <p:spPr/>
        <p:txBody>
          <a:bodyPr/>
          <a:lstStyle/>
          <a:p>
            <a:endParaRPr lang="zh-CN" altLang="en-US"/>
          </a:p>
        </p:txBody>
      </p:sp>
      <p:sp>
        <p:nvSpPr>
          <p:cNvPr id="45" name="灯片编号占位符 4"/>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46" name=""/>
        <p:cNvGrpSpPr/>
        <p:nvPr/>
      </p:nvGrpSpPr>
      <p:grpSpPr>
        <a:xfrm>
          <a:off x="0" y="0"/>
          <a:ext cx="0" cy="0"/>
          <a:chOff x="0" y="0"/>
          <a:chExt cx="0" cy="0"/>
        </a:xfrm>
      </p:grpSpPr>
      <p:sp>
        <p:nvSpPr>
          <p:cNvPr id="47" name="日期占位符 1"/>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48" name="页脚占位符 2"/>
          <p:cNvSpPr>
            <a:spLocks noGrp="1"/>
          </p:cNvSpPr>
          <p:nvPr>
            <p:ph type="ftr" sz="quarter" idx="11"/>
          </p:nvPr>
        </p:nvSpPr>
        <p:spPr/>
        <p:txBody>
          <a:bodyPr/>
          <a:lstStyle/>
          <a:p>
            <a:endParaRPr lang="zh-CN" altLang="en-US"/>
          </a:p>
        </p:txBody>
      </p:sp>
      <p:sp>
        <p:nvSpPr>
          <p:cNvPr id="49" name="灯片编号占位符 3"/>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0" name=""/>
        <p:cNvGrpSpPr/>
        <p:nvPr/>
      </p:nvGrpSpPr>
      <p:grpSpPr>
        <a:xfrm>
          <a:off x="0" y="0"/>
          <a:ext cx="0" cy="0"/>
          <a:chOff x="0" y="0"/>
          <a:chExt cx="0" cy="0"/>
        </a:xfrm>
      </p:grpSpPr>
      <p:sp>
        <p:nvSpPr>
          <p:cNvPr id="5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2"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3"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4"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55" name="页脚占位符 5"/>
          <p:cNvSpPr>
            <a:spLocks noGrp="1"/>
          </p:cNvSpPr>
          <p:nvPr>
            <p:ph type="ftr" sz="quarter" idx="11"/>
          </p:nvPr>
        </p:nvSpPr>
        <p:spPr/>
        <p:txBody>
          <a:bodyPr/>
          <a:lstStyle/>
          <a:p>
            <a:endParaRPr lang="zh-CN" altLang="en-US"/>
          </a:p>
        </p:txBody>
      </p:sp>
      <p:sp>
        <p:nvSpPr>
          <p:cNvPr id="56"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57" name=""/>
        <p:cNvGrpSpPr/>
        <p:nvPr/>
      </p:nvGrpSpPr>
      <p:grpSpPr>
        <a:xfrm>
          <a:off x="0" y="0"/>
          <a:ext cx="0" cy="0"/>
          <a:chOff x="0" y="0"/>
          <a:chExt cx="0" cy="0"/>
        </a:xfrm>
      </p:grpSpPr>
      <p:sp>
        <p:nvSpPr>
          <p:cNvPr id="58"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9"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0"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1"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62" name="页脚占位符 5"/>
          <p:cNvSpPr>
            <a:spLocks noGrp="1"/>
          </p:cNvSpPr>
          <p:nvPr>
            <p:ph type="ftr" sz="quarter" idx="11"/>
          </p:nvPr>
        </p:nvSpPr>
        <p:spPr/>
        <p:txBody>
          <a:bodyPr/>
          <a:lstStyle/>
          <a:p>
            <a:endParaRPr lang="zh-CN" altLang="en-US"/>
          </a:p>
        </p:txBody>
      </p:sp>
      <p:sp>
        <p:nvSpPr>
          <p:cNvPr id="63"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64" name=""/>
        <p:cNvGrpSpPr/>
        <p:nvPr/>
      </p:nvGrpSpPr>
      <p:grpSpPr>
        <a:xfrm>
          <a:off x="0" y="0"/>
          <a:ext cx="0" cy="0"/>
          <a:chOff x="0" y="0"/>
          <a:chExt cx="0" cy="0"/>
        </a:xfrm>
      </p:grpSpPr>
      <p:sp>
        <p:nvSpPr>
          <p:cNvPr id="65" name="标题 1"/>
          <p:cNvSpPr>
            <a:spLocks noGrp="1"/>
          </p:cNvSpPr>
          <p:nvPr>
            <p:ph type="title"/>
          </p:nvPr>
        </p:nvSpPr>
        <p:spPr/>
        <p:txBody>
          <a:bodyPr/>
          <a:lstStyle/>
          <a:p>
            <a:r>
              <a:rPr lang="zh-CN" altLang="en-US"/>
              <a:t>单击此处编辑母版标题样式</a:t>
            </a:r>
            <a:endParaRPr lang="zh-CN" altLang="en-US"/>
          </a:p>
        </p:txBody>
      </p:sp>
      <p:sp>
        <p:nvSpPr>
          <p:cNvPr id="66"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7"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68" name="页脚占位符 4"/>
          <p:cNvSpPr>
            <a:spLocks noGrp="1"/>
          </p:cNvSpPr>
          <p:nvPr>
            <p:ph type="ftr" sz="quarter" idx="11"/>
          </p:nvPr>
        </p:nvSpPr>
        <p:spPr/>
        <p:txBody>
          <a:bodyPr/>
          <a:lstStyle/>
          <a:p>
            <a:endParaRPr lang="zh-CN" altLang="en-US"/>
          </a:p>
        </p:txBody>
      </p:sp>
      <p:sp>
        <p:nvSpPr>
          <p:cNvPr id="69"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6"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18D650-3A15-443A-B878-38CFEB8982A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EF223B-53FA-448A-B05D-AD632DCD340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1" Type="http://schemas.openxmlformats.org/officeDocument/2006/relationships/notesSlide" Target="../notesSlides/notesSlide7.xml"/><Relationship Id="rId10" Type="http://schemas.openxmlformats.org/officeDocument/2006/relationships/slideLayout" Target="../slideLayouts/slideLayout2.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notesSlide" Target="../notesSlides/notesSlide11.xml"/><Relationship Id="rId14" Type="http://schemas.openxmlformats.org/officeDocument/2006/relationships/slideLayout" Target="../slideLayouts/slideLayout2.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12.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1" Type="http://schemas.openxmlformats.org/officeDocument/2006/relationships/notesSlide" Target="../notesSlides/notesSlide12.xml"/><Relationship Id="rId10" Type="http://schemas.openxmlformats.org/officeDocument/2006/relationships/slideLayout" Target="../slideLayouts/slideLayout2.xml"/><Relationship Id="rId1" Type="http://schemas.openxmlformats.org/officeDocument/2006/relationships/tags" Target="../tags/tag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8" Type="http://schemas.openxmlformats.org/officeDocument/2006/relationships/notesSlide" Target="../notesSlides/notesSlide15.xml"/><Relationship Id="rId17" Type="http://schemas.openxmlformats.org/officeDocument/2006/relationships/slideLayout" Target="../slideLayouts/slideLayout2.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16.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2" Type="http://schemas.openxmlformats.org/officeDocument/2006/relationships/notesSlide" Target="../notesSlides/notesSlide16.xml"/><Relationship Id="rId31" Type="http://schemas.openxmlformats.org/officeDocument/2006/relationships/slideLayout" Target="../slideLayouts/slideLayout2.xml"/><Relationship Id="rId30" Type="http://schemas.openxmlformats.org/officeDocument/2006/relationships/tags" Target="../tags/tag85.xml"/><Relationship Id="rId3" Type="http://schemas.openxmlformats.org/officeDocument/2006/relationships/tags" Target="../tags/tag58.xml"/><Relationship Id="rId29" Type="http://schemas.openxmlformats.org/officeDocument/2006/relationships/tags" Target="../tags/tag84.xml"/><Relationship Id="rId28" Type="http://schemas.openxmlformats.org/officeDocument/2006/relationships/tags" Target="../tags/tag83.xml"/><Relationship Id="rId27" Type="http://schemas.openxmlformats.org/officeDocument/2006/relationships/tags" Target="../tags/tag82.xml"/><Relationship Id="rId26" Type="http://schemas.openxmlformats.org/officeDocument/2006/relationships/tags" Target="../tags/tag81.xml"/><Relationship Id="rId25" Type="http://schemas.openxmlformats.org/officeDocument/2006/relationships/tags" Target="../tags/tag80.xml"/><Relationship Id="rId24" Type="http://schemas.openxmlformats.org/officeDocument/2006/relationships/tags" Target="../tags/tag79.xml"/><Relationship Id="rId23" Type="http://schemas.openxmlformats.org/officeDocument/2006/relationships/tags" Target="../tags/tag78.xml"/><Relationship Id="rId22" Type="http://schemas.openxmlformats.org/officeDocument/2006/relationships/tags" Target="../tags/tag77.xml"/><Relationship Id="rId21" Type="http://schemas.openxmlformats.org/officeDocument/2006/relationships/tags" Target="../tags/tag76.xml"/><Relationship Id="rId20" Type="http://schemas.openxmlformats.org/officeDocument/2006/relationships/tags" Target="../tags/tag75.xml"/><Relationship Id="rId2" Type="http://schemas.openxmlformats.org/officeDocument/2006/relationships/tags" Target="../tags/tag57.xml"/><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2"/>
          <p:cNvPicPr>
            <a:picLocks noChangeAspect="1"/>
          </p:cNvPicPr>
          <p:nvPr/>
        </p:nvPicPr>
        <p:blipFill>
          <a:blip r:embed="rId1"/>
          <a:stretch>
            <a:fillRect/>
          </a:stretch>
        </p:blipFill>
        <p:spPr>
          <a:xfrm>
            <a:off x="2879282" y="3602075"/>
            <a:ext cx="6287881" cy="2749276"/>
          </a:xfrm>
          <a:prstGeom prst="rect">
            <a:avLst/>
          </a:prstGeom>
        </p:spPr>
      </p:pic>
      <p:sp>
        <p:nvSpPr>
          <p:cNvPr id="3" name="矩形 3"/>
          <p:cNvSpPr/>
          <p:nvPr/>
        </p:nvSpPr>
        <p:spPr>
          <a:xfrm>
            <a:off x="3" y="6296878"/>
            <a:ext cx="12191999" cy="561122"/>
          </a:xfrm>
          <a:prstGeom prst="rect">
            <a:avLst/>
          </a:prstGeom>
          <a:solidFill>
            <a:srgbClr val="005375"/>
          </a:solidFill>
          <a:ln>
            <a:solidFill>
              <a:srgbClr val="005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4"/>
          <p:cNvSpPr/>
          <p:nvPr/>
        </p:nvSpPr>
        <p:spPr>
          <a:xfrm>
            <a:off x="0" y="1348740"/>
            <a:ext cx="12192000" cy="2173605"/>
          </a:xfrm>
          <a:prstGeom prst="rect">
            <a:avLst/>
          </a:prstGeom>
          <a:solidFill>
            <a:srgbClr val="005375"/>
          </a:solidFill>
          <a:ln>
            <a:solidFill>
              <a:srgbClr val="005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latin typeface="微软雅黑" panose="020B0503020204020204" pitchFamily="34" charset="-122"/>
              <a:ea typeface="微软雅黑" panose="020B0503020204020204" pitchFamily="34" charset="-122"/>
            </a:endParaRPr>
          </a:p>
        </p:txBody>
      </p:sp>
      <p:cxnSp>
        <p:nvCxnSpPr>
          <p:cNvPr id="5" name="直接连接符 5"/>
          <p:cNvCxnSpPr/>
          <p:nvPr/>
        </p:nvCxnSpPr>
        <p:spPr>
          <a:xfrm flipH="1">
            <a:off x="6" y="672215"/>
            <a:ext cx="11174288" cy="0"/>
          </a:xfrm>
          <a:prstGeom prst="line">
            <a:avLst/>
          </a:prstGeom>
          <a:ln w="25400">
            <a:solidFill>
              <a:srgbClr val="005375"/>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ctrTitle"/>
          </p:nvPr>
        </p:nvSpPr>
        <p:spPr>
          <a:xfrm>
            <a:off x="482600" y="1492250"/>
            <a:ext cx="11201400" cy="991870"/>
          </a:xfrm>
        </p:spPr>
        <p:txBody>
          <a:bodyPr/>
          <a:lstStyle/>
          <a:p>
            <a:r>
              <a:rPr lang="en-US" altLang="zh-CN" sz="3000" b="1" i="0">
                <a:solidFill>
                  <a:srgbClr val="FFFFFF"/>
                </a:solidFill>
                <a:latin typeface="微软雅黑" panose="020B0503020204020204" pitchFamily="34" charset="-122"/>
                <a:ea typeface="微软雅黑" panose="020B0503020204020204" pitchFamily="34" charset="-122"/>
              </a:rPr>
              <a:t>AI</a:t>
            </a:r>
            <a:r>
              <a:rPr lang="zh-CN" altLang="en-US" sz="3000" b="1" i="0">
                <a:solidFill>
                  <a:srgbClr val="FFFFFF"/>
                </a:solidFill>
                <a:latin typeface="微软雅黑" panose="020B0503020204020204" pitchFamily="34" charset="-122"/>
                <a:ea typeface="微软雅黑" panose="020B0503020204020204" pitchFamily="34" charset="-122"/>
              </a:rPr>
              <a:t>算力设施驱动下城市水代谢响应与承载边界的系统模拟研究</a:t>
            </a:r>
            <a:endParaRPr lang="zh-CN" altLang="en-US" sz="3000" b="1" i="0">
              <a:solidFill>
                <a:srgbClr val="FFFFFF"/>
              </a:solidFill>
              <a:latin typeface="微软雅黑" panose="020B0503020204020204" pitchFamily="34" charset="-122"/>
              <a:ea typeface="微软雅黑" panose="020B0503020204020204" pitchFamily="34" charset="-122"/>
            </a:endParaRPr>
          </a:p>
        </p:txBody>
      </p:sp>
      <p:sp>
        <p:nvSpPr>
          <p:cNvPr id="7" name="副标题 2"/>
          <p:cNvSpPr>
            <a:spLocks noGrp="1"/>
          </p:cNvSpPr>
          <p:nvPr>
            <p:ph type="subTitle" idx="1"/>
          </p:nvPr>
        </p:nvSpPr>
        <p:spPr>
          <a:xfrm>
            <a:off x="482600" y="3944938"/>
            <a:ext cx="11214100" cy="680402"/>
          </a:xfrm>
        </p:spPr>
        <p:txBody>
          <a:bodyPr>
            <a:normAutofit/>
          </a:bodyPr>
          <a:lstStyle/>
          <a:p>
            <a:r>
              <a:rPr lang="zh-CN" altLang="en-US" sz="2000" b="1" i="0">
                <a:solidFill>
                  <a:srgbClr val="005376"/>
                </a:solidFill>
                <a:latin typeface="微软雅黑" panose="020B0503020204020204" pitchFamily="34" charset="-122"/>
                <a:ea typeface="微软雅黑" panose="020B0503020204020204" pitchFamily="34" charset="-122"/>
              </a:rPr>
              <a:t>姓名：邵敬哲      导师：白舜文</a:t>
            </a:r>
            <a:endParaRPr lang="zh-CN" altLang="en-US" sz="2000" b="1" i="0">
              <a:solidFill>
                <a:srgbClr val="005376"/>
              </a:solidFill>
              <a:latin typeface="微软雅黑" panose="020B0503020204020204" pitchFamily="34" charset="-122"/>
              <a:ea typeface="微软雅黑" panose="020B0503020204020204" pitchFamily="34" charset="-122"/>
            </a:endParaRPr>
          </a:p>
        </p:txBody>
      </p:sp>
      <p:sp>
        <p:nvSpPr>
          <p:cNvPr id="8" name="副标题 2"/>
          <p:cNvSpPr txBox="1"/>
          <p:nvPr/>
        </p:nvSpPr>
        <p:spPr>
          <a:xfrm>
            <a:off x="495300" y="4633496"/>
            <a:ext cx="11214100" cy="68040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b="0" i="0">
                <a:solidFill>
                  <a:srgbClr val="005376"/>
                </a:solidFill>
                <a:latin typeface="微软雅黑" panose="020B0503020204020204" pitchFamily="34" charset="-122"/>
                <a:ea typeface="微软雅黑" panose="020B0503020204020204" pitchFamily="34" charset="-122"/>
              </a:rPr>
              <a:t>哈尔滨工业大学 · 环境学院  </a:t>
            </a:r>
            <a:endParaRPr lang="zh-CN" altLang="en-US" sz="1600" b="0" i="0">
              <a:solidFill>
                <a:srgbClr val="005376"/>
              </a:solidFill>
              <a:latin typeface="微软雅黑" panose="020B0503020204020204" pitchFamily="34" charset="-122"/>
              <a:ea typeface="微软雅黑" panose="020B0503020204020204" pitchFamily="34" charset="-122"/>
            </a:endParaRPr>
          </a:p>
          <a:p>
            <a:r>
              <a:rPr lang="zh-CN" altLang="en-US" sz="1600" b="0" i="0">
                <a:solidFill>
                  <a:srgbClr val="005376"/>
                </a:solidFill>
                <a:latin typeface="微软雅黑" panose="020B0503020204020204" pitchFamily="34" charset="-122"/>
                <a:ea typeface="微软雅黑" panose="020B0503020204020204" pitchFamily="34" charset="-122"/>
              </a:rPr>
              <a:t>2026.09</a:t>
            </a:r>
            <a:endParaRPr lang="zh-CN" altLang="en-US" sz="1600" b="0" i="0">
              <a:solidFill>
                <a:srgbClr val="005376"/>
              </a:solidFill>
              <a:latin typeface="微软雅黑" panose="020B0503020204020204" pitchFamily="34" charset="-122"/>
              <a:ea typeface="微软雅黑" panose="020B0503020204020204" pitchFamily="34" charset="-122"/>
            </a:endParaRPr>
          </a:p>
        </p:txBody>
      </p:sp>
      <p:sp>
        <p:nvSpPr>
          <p:cNvPr id="9" name="文本框 9"/>
          <p:cNvSpPr txBox="1"/>
          <p:nvPr/>
        </p:nvSpPr>
        <p:spPr>
          <a:xfrm>
            <a:off x="0" y="254934"/>
            <a:ext cx="4119880" cy="398780"/>
          </a:xfrm>
          <a:prstGeom prst="rect">
            <a:avLst/>
          </a:prstGeom>
          <a:noFill/>
        </p:spPr>
        <p:txBody>
          <a:bodyPr wrap="none" rtlCol="0">
            <a:spAutoFit/>
          </a:bodyPr>
          <a:lstStyle/>
          <a:p>
            <a:r>
              <a:rPr lang="zh-CN" altLang="en-US" sz="1600" b="1" i="0">
                <a:solidFill>
                  <a:srgbClr val="000000"/>
                </a:solidFill>
                <a:latin typeface="微软雅黑" panose="020B0503020204020204" pitchFamily="34" charset="-122"/>
                <a:ea typeface="微软雅黑" panose="020B0503020204020204" pitchFamily="34" charset="-122"/>
              </a:rPr>
              <a:t>硕士学位开题报告</a:t>
            </a:r>
            <a:endParaRPr lang="zh-CN" altLang="en-US" sz="1600" b="1" i="0">
              <a:solidFill>
                <a:srgbClr val="000000"/>
              </a:solidFill>
              <a:latin typeface="微软雅黑" panose="020B0503020204020204" pitchFamily="34" charset="-122"/>
              <a:ea typeface="微软雅黑" panose="020B0503020204020204" pitchFamily="34" charset="-122"/>
            </a:endParaRPr>
          </a:p>
        </p:txBody>
      </p:sp>
      <p:pic>
        <p:nvPicPr>
          <p:cNvPr id="10" name="图片 13"/>
          <p:cNvPicPr>
            <a:picLocks noChangeAspect="1"/>
          </p:cNvPicPr>
          <p:nvPr/>
        </p:nvPicPr>
        <p:blipFill>
          <a:blip r:embed="rId2" cstate="print"/>
          <a:stretch>
            <a:fillRect/>
          </a:stretch>
        </p:blipFill>
        <p:spPr>
          <a:xfrm>
            <a:off x="11148710" y="228600"/>
            <a:ext cx="1061070" cy="463936"/>
          </a:xfrm>
          <a:prstGeom prst="rect">
            <a:avLst/>
          </a:prstGeom>
        </p:spPr>
      </p:pic>
      <p:pic>
        <p:nvPicPr>
          <p:cNvPr id="11" name="图片 1"/>
          <p:cNvPicPr>
            <a:picLocks noChangeAspect="1"/>
          </p:cNvPicPr>
          <p:nvPr/>
        </p:nvPicPr>
        <p:blipFill>
          <a:blip r:embed="rId3" cstate="print"/>
          <a:stretch>
            <a:fillRect/>
          </a:stretch>
        </p:blipFill>
        <p:spPr>
          <a:xfrm>
            <a:off x="240314" y="6415212"/>
            <a:ext cx="1655733" cy="324128"/>
          </a:xfrm>
          <a:prstGeom prst="rect">
            <a:avLst/>
          </a:prstGeom>
        </p:spPr>
      </p:pic>
      <p:sp>
        <p:nvSpPr>
          <p:cNvPr id="12" name="TextBox 14"/>
          <p:cNvSpPr txBox="1"/>
          <p:nvPr/>
        </p:nvSpPr>
        <p:spPr>
          <a:xfrm>
            <a:off x="1341755" y="2682875"/>
            <a:ext cx="9267190" cy="641985"/>
          </a:xfrm>
          <a:prstGeom prst="rect">
            <a:avLst/>
          </a:prstGeom>
          <a:noFill/>
        </p:spPr>
        <p:txBody>
          <a:bodyPr wrap="square" lIns="27432" tIns="13716" rIns="27432" bIns="13716" anchor="t">
            <a:spAutoFit/>
          </a:bodyPr>
          <a:lstStyle/>
          <a:p>
            <a:pPr algn="ctr">
              <a:lnSpc>
                <a:spcPct val="125000"/>
              </a:lnSpc>
            </a:pPr>
            <a:r>
              <a:rPr lang="en-US" altLang="zh-CN" sz="1600" b="0" i="0">
                <a:solidFill>
                  <a:srgbClr val="D8E6EC"/>
                </a:solidFill>
                <a:latin typeface="Arial" panose="020B0604020202020204"/>
                <a:ea typeface="Arial" panose="020B0604020202020204"/>
              </a:rPr>
              <a:t>Systematic Simulation Study on Urban Water Metabolism Response and Carrying Boundary Driven by AI Computing Power Infrastructure</a:t>
            </a:r>
            <a:endParaRPr lang="en-US" altLang="zh-CN" sz="1600" b="0" i="0">
              <a:solidFill>
                <a:srgbClr val="D8E6EC"/>
              </a:solidFill>
              <a:latin typeface="Arial" panose="020B0604020202020204"/>
              <a:ea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01" name=""/>
        <p:cNvGrpSpPr/>
        <p:nvPr/>
      </p:nvGrpSpPr>
      <p:grpSpPr>
        <a:xfrm>
          <a:off x="0" y="0"/>
          <a:ext cx="0" cy="0"/>
          <a:chOff x="0" y="0"/>
          <a:chExt cx="0" cy="0"/>
        </a:xfrm>
      </p:grpSpPr>
      <p:sp>
        <p:nvSpPr>
          <p:cNvPr id="704" name="TextBox 4"/>
          <p:cNvSpPr txBox="1"/>
          <p:nvPr/>
        </p:nvSpPr>
        <p:spPr>
          <a:xfrm>
            <a:off x="713740" y="1810385"/>
            <a:ext cx="4206240" cy="1621790"/>
          </a:xfrm>
          <a:prstGeom prst="rect">
            <a:avLst/>
          </a:prstGeom>
          <a:noFill/>
        </p:spPr>
        <p:txBody>
          <a:bodyPr wrap="square" lIns="27432" tIns="13716" rIns="27432" bIns="13716" anchor="t">
            <a:spAutoFit/>
          </a:bodyPr>
          <a:lstStyle/>
          <a:p>
            <a:pPr algn="l">
              <a:lnSpc>
                <a:spcPct val="108000"/>
              </a:lnSpc>
            </a:pPr>
            <a:r>
              <a:rPr lang="zh-CN" altLang="en-US" sz="9600" b="1" i="0">
                <a:solidFill>
                  <a:srgbClr val="005375"/>
                </a:solidFill>
                <a:latin typeface="微软雅黑" panose="020B0503020204020204" pitchFamily="34" charset="-122"/>
                <a:ea typeface="微软雅黑" panose="020B0503020204020204" pitchFamily="34" charset="-122"/>
              </a:rPr>
              <a:t>01</a:t>
            </a:r>
            <a:endParaRPr lang="zh-CN" altLang="en-US" sz="9600" b="1" i="0">
              <a:solidFill>
                <a:srgbClr val="005375"/>
              </a:solidFill>
              <a:latin typeface="微软雅黑" panose="020B0503020204020204" pitchFamily="34" charset="-122"/>
              <a:ea typeface="微软雅黑" panose="020B0503020204020204" pitchFamily="34" charset="-122"/>
            </a:endParaRPr>
          </a:p>
        </p:txBody>
      </p:sp>
      <p:sp>
        <p:nvSpPr>
          <p:cNvPr id="705" name="TextBox 5"/>
          <p:cNvSpPr txBox="1"/>
          <p:nvPr/>
        </p:nvSpPr>
        <p:spPr>
          <a:xfrm>
            <a:off x="878332" y="3428873"/>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ONE</a:t>
            </a:r>
            <a:endParaRPr lang="zh-CN" altLang="en-US" sz="1300" b="0" i="0" spc="300">
              <a:solidFill>
                <a:srgbClr val="8CA3AF"/>
              </a:solidFill>
              <a:latin typeface="Arial" panose="020B0604020202020204"/>
              <a:ea typeface="Arial" panose="020B0604020202020204"/>
            </a:endParaRPr>
          </a:p>
        </p:txBody>
      </p:sp>
      <p:sp>
        <p:nvSpPr>
          <p:cNvPr id="706" name="TextBox 6"/>
          <p:cNvSpPr txBox="1"/>
          <p:nvPr/>
        </p:nvSpPr>
        <p:spPr>
          <a:xfrm>
            <a:off x="768604" y="3776345"/>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研究背景与问题提出</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708" name="Rounded Rectangle 8"/>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09" name="Rectangle 9"/>
          <p:cNvSpPr/>
          <p:nvPr/>
        </p:nvSpPr>
        <p:spPr>
          <a:xfrm>
            <a:off x="5760720" y="1563624"/>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负荷激增</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0" name="Right Triangle 10"/>
          <p:cNvSpPr/>
          <p:nvPr/>
        </p:nvSpPr>
        <p:spPr>
          <a:xfrm>
            <a:off x="7178040" y="1563624"/>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1" name="TextBox 11"/>
          <p:cNvSpPr txBox="1"/>
          <p:nvPr/>
        </p:nvSpPr>
        <p:spPr>
          <a:xfrm>
            <a:off x="7360920" y="1603883"/>
            <a:ext cx="4114799" cy="577850"/>
          </a:xfrm>
          <a:prstGeom prst="rect">
            <a:avLst/>
          </a:prstGeom>
          <a:noFill/>
        </p:spPr>
        <p:txBody>
          <a:bodyPr wrap="square" lIns="27432" tIns="13716" rIns="27432" bIns="13716" anchor="ctr">
            <a:spAutoFit/>
          </a:bodyPr>
          <a:lstStyle/>
          <a:p>
            <a:pPr algn="l">
              <a:lnSpc>
                <a:spcPct val="112000"/>
              </a:lnSpc>
            </a:pPr>
            <a:r>
              <a:rPr lang="en-US" altLang="zh-CN" sz="1600" b="1" i="0">
                <a:solidFill>
                  <a:srgbClr val="1F2A33"/>
                </a:solidFill>
                <a:latin typeface="微软雅黑" panose="020B0503020204020204" pitchFamily="34" charset="-122"/>
                <a:ea typeface="微软雅黑" panose="020B0503020204020204" pitchFamily="34" charset="-122"/>
              </a:rPr>
              <a:t>AI </a:t>
            </a:r>
            <a:r>
              <a:rPr lang="zh-CN" altLang="en-US" sz="1600" b="1" i="0">
                <a:solidFill>
                  <a:srgbClr val="1F2A33"/>
                </a:solidFill>
                <a:latin typeface="微软雅黑" panose="020B0503020204020204" pitchFamily="34" charset="-122"/>
                <a:ea typeface="微软雅黑" panose="020B0503020204020204" pitchFamily="34" charset="-122"/>
              </a:rPr>
              <a:t>大模型驱动算力基建爆发式扩张，计算需求正转化为城市持续性物理资源负荷</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712" name="Rounded Rectangle 12"/>
          <p:cNvSpPr/>
          <p:nvPr>
            <p:custDataLst>
              <p:tags r:id="rId1"/>
            </p:custDataLst>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3" name="Rectangle 13"/>
          <p:cNvSpPr/>
          <p:nvPr>
            <p:custDataLst>
              <p:tags r:id="rId2"/>
            </p:custDataLst>
          </p:nvPr>
        </p:nvSpPr>
        <p:spPr>
          <a:xfrm>
            <a:off x="5760720" y="3008376"/>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供需失衡</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4" name="Right Triangle 14"/>
          <p:cNvSpPr/>
          <p:nvPr>
            <p:custDataLst>
              <p:tags r:id="rId3"/>
            </p:custDataLst>
          </p:nvPr>
        </p:nvSpPr>
        <p:spPr>
          <a:xfrm>
            <a:off x="7178040" y="3008376"/>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5" name="TextBox 15"/>
          <p:cNvSpPr txBox="1"/>
          <p:nvPr>
            <p:custDataLst>
              <p:tags r:id="rId4"/>
            </p:custDataLst>
          </p:nvPr>
        </p:nvSpPr>
        <p:spPr>
          <a:xfrm>
            <a:off x="7360920" y="3048635"/>
            <a:ext cx="4114799" cy="57785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高热流密度、强气象敏感与蒸发相变损耗，传统年均总量指标掩盖瞬态承载风险</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716" name="Rounded Rectangle 16"/>
          <p:cNvSpPr/>
          <p:nvPr>
            <p:custDataLst>
              <p:tags r:id="rId5"/>
            </p:custDataLst>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7" name="Rectangle 17"/>
          <p:cNvSpPr/>
          <p:nvPr>
            <p:custDataLst>
              <p:tags r:id="rId6"/>
            </p:custDataLst>
          </p:nvPr>
        </p:nvSpPr>
        <p:spPr>
          <a:xfrm>
            <a:off x="5760720" y="4453128"/>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切入点</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8" name="Right Triangle 18"/>
          <p:cNvSpPr/>
          <p:nvPr>
            <p:custDataLst>
              <p:tags r:id="rId7"/>
            </p:custDataLst>
          </p:nvPr>
        </p:nvSpPr>
        <p:spPr>
          <a:xfrm>
            <a:off x="7178040" y="4453128"/>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9" name="TextBox 19"/>
          <p:cNvSpPr txBox="1"/>
          <p:nvPr>
            <p:custDataLst>
              <p:tags r:id="rId8"/>
            </p:custDataLst>
          </p:nvPr>
        </p:nvSpPr>
        <p:spPr>
          <a:xfrm>
            <a:off x="7360920" y="4631182"/>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把城市人工水系统作为全过程网络看待</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32" name=""/>
        <p:cNvGrpSpPr/>
        <p:nvPr/>
      </p:nvGrpSpPr>
      <p:grpSpPr>
        <a:xfrm>
          <a:off x="0" y="0"/>
          <a:ext cx="0" cy="0"/>
          <a:chOff x="0" y="0"/>
          <a:chExt cx="0" cy="0"/>
        </a:xfrm>
      </p:grpSpPr>
      <p:sp>
        <p:nvSpPr>
          <p:cNvPr id="733" name="Rounded Rectangle 40"/>
          <p:cNvSpPr/>
          <p:nvPr/>
        </p:nvSpPr>
        <p:spPr>
          <a:xfrm>
            <a:off x="7383780" y="2686050"/>
            <a:ext cx="1083310" cy="335597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34"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大模型行为的资源消耗</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736" name="Rounded Rectangle 3"/>
          <p:cNvSpPr/>
          <p:nvPr/>
        </p:nvSpPr>
        <p:spPr>
          <a:xfrm>
            <a:off x="776097" y="896112"/>
            <a:ext cx="2560320"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37" name="TextBox 4"/>
          <p:cNvSpPr txBox="1"/>
          <p:nvPr/>
        </p:nvSpPr>
        <p:spPr>
          <a:xfrm>
            <a:off x="849249" y="932688"/>
            <a:ext cx="2414015" cy="274320"/>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全国日均Token调用量</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738" name="TextBox 5"/>
          <p:cNvSpPr txBox="1"/>
          <p:nvPr/>
        </p:nvSpPr>
        <p:spPr>
          <a:xfrm>
            <a:off x="849249" y="1188720"/>
            <a:ext cx="2414015" cy="329184"/>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1000亿</a:t>
            </a:r>
            <a:r>
              <a:rPr lang="zh-CN" altLang="en-US" sz="1500" b="1" i="0">
                <a:solidFill>
                  <a:srgbClr val="005375"/>
                </a:solidFill>
                <a:latin typeface="微软雅黑" panose="020B0503020204020204" pitchFamily="34" charset="-122"/>
                <a:ea typeface="微软雅黑" panose="020B0503020204020204" pitchFamily="34" charset="-122"/>
              </a:rPr>
              <a:t>  </a:t>
            </a:r>
            <a:r>
              <a:rPr lang="zh-CN" altLang="en-US" sz="1500" b="1" i="0">
                <a:solidFill>
                  <a:srgbClr val="8CA3AF"/>
                </a:solidFill>
                <a:latin typeface="微软雅黑" panose="020B0503020204020204" pitchFamily="34" charset="-122"/>
                <a:ea typeface="微软雅黑" panose="020B0503020204020204" pitchFamily="34" charset="-122"/>
              </a:rPr>
              <a:t>→ </a:t>
            </a:r>
            <a:r>
              <a:rPr lang="zh-CN" altLang="en-US" sz="1500" b="1" i="0">
                <a:solidFill>
                  <a:srgbClr val="005375"/>
                </a:solidFill>
                <a:latin typeface="微软雅黑" panose="020B0503020204020204" pitchFamily="34" charset="-122"/>
                <a:ea typeface="微软雅黑" panose="020B0503020204020204" pitchFamily="34" charset="-122"/>
              </a:rPr>
              <a:t>140万亿</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39" name="TextBox 6"/>
          <p:cNvSpPr txBox="1"/>
          <p:nvPr/>
        </p:nvSpPr>
        <p:spPr>
          <a:xfrm>
            <a:off x="849249" y="1517904"/>
            <a:ext cx="2414015" cy="237744"/>
          </a:xfrm>
          <a:prstGeom prst="rect">
            <a:avLst/>
          </a:prstGeom>
          <a:noFill/>
        </p:spPr>
        <p:txBody>
          <a:bodyPr wrap="square" lIns="27432" tIns="13716" rIns="27432" bIns="13716" anchor="t">
            <a:spAutoFit/>
          </a:bodyPr>
          <a:lstStyle/>
          <a:p>
            <a:pPr algn="l">
              <a:lnSpc>
                <a:spcPct val="108000"/>
              </a:lnSpc>
            </a:pPr>
            <a:r>
              <a:rPr lang="zh-CN" altLang="en-US" sz="1150" b="0" i="0">
                <a:solidFill>
                  <a:srgbClr val="5A6B76"/>
                </a:solidFill>
                <a:latin typeface="微软雅黑" panose="020B0503020204020204" pitchFamily="34" charset="-122"/>
                <a:ea typeface="微软雅黑" panose="020B0503020204020204" pitchFamily="34" charset="-122"/>
              </a:rPr>
              <a:t>2024年初   →   2026年3月</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0" name="Rounded Rectangle 7"/>
          <p:cNvSpPr/>
          <p:nvPr/>
        </p:nvSpPr>
        <p:spPr>
          <a:xfrm>
            <a:off x="3437001" y="896112"/>
            <a:ext cx="2560320"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1" name="TextBox 8"/>
          <p:cNvSpPr txBox="1"/>
          <p:nvPr/>
        </p:nvSpPr>
        <p:spPr>
          <a:xfrm>
            <a:off x="3510153" y="932688"/>
            <a:ext cx="2414015" cy="274320"/>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ChatGPT 周活跃用户</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742" name="TextBox 9"/>
          <p:cNvSpPr txBox="1"/>
          <p:nvPr/>
        </p:nvSpPr>
        <p:spPr>
          <a:xfrm>
            <a:off x="3510153" y="1188720"/>
            <a:ext cx="2414015" cy="329184"/>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&lt;1亿</a:t>
            </a:r>
            <a:r>
              <a:rPr lang="zh-CN" altLang="en-US" sz="1500" b="1" i="0">
                <a:solidFill>
                  <a:srgbClr val="005375"/>
                </a:solidFill>
                <a:latin typeface="微软雅黑" panose="020B0503020204020204" pitchFamily="34" charset="-122"/>
                <a:ea typeface="微软雅黑" panose="020B0503020204020204" pitchFamily="34" charset="-122"/>
              </a:rPr>
              <a:t>  </a:t>
            </a:r>
            <a:r>
              <a:rPr lang="zh-CN" altLang="en-US" sz="1500" b="1" i="0">
                <a:solidFill>
                  <a:srgbClr val="8CA3AF"/>
                </a:solidFill>
                <a:latin typeface="微软雅黑" panose="020B0503020204020204" pitchFamily="34" charset="-122"/>
                <a:ea typeface="微软雅黑" panose="020B0503020204020204" pitchFamily="34" charset="-122"/>
              </a:rPr>
              <a:t>→ </a:t>
            </a:r>
            <a:r>
              <a:rPr lang="zh-CN" altLang="en-US" sz="1500" b="1" i="0">
                <a:solidFill>
                  <a:srgbClr val="005375"/>
                </a:solidFill>
                <a:latin typeface="微软雅黑" panose="020B0503020204020204" pitchFamily="34" charset="-122"/>
                <a:ea typeface="微软雅黑" panose="020B0503020204020204" pitchFamily="34" charset="-122"/>
              </a:rPr>
              <a:t>10亿</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43" name="TextBox 10"/>
          <p:cNvSpPr txBox="1"/>
          <p:nvPr/>
        </p:nvSpPr>
        <p:spPr>
          <a:xfrm>
            <a:off x="3510153" y="1517904"/>
            <a:ext cx="2414015" cy="237744"/>
          </a:xfrm>
          <a:prstGeom prst="rect">
            <a:avLst/>
          </a:prstGeom>
          <a:noFill/>
        </p:spPr>
        <p:txBody>
          <a:bodyPr wrap="square" lIns="27432" tIns="13716" rIns="27432" bIns="13716" anchor="t">
            <a:spAutoFit/>
          </a:bodyPr>
          <a:lstStyle/>
          <a:p>
            <a:pPr algn="l">
              <a:lnSpc>
                <a:spcPct val="108000"/>
              </a:lnSpc>
            </a:pPr>
            <a:r>
              <a:rPr lang="zh-CN" altLang="en-US" sz="1150" b="0" i="0">
                <a:solidFill>
                  <a:srgbClr val="5A6B76"/>
                </a:solidFill>
                <a:latin typeface="微软雅黑" panose="020B0503020204020204" pitchFamily="34" charset="-122"/>
                <a:ea typeface="微软雅黑" panose="020B0503020204020204" pitchFamily="34" charset="-122"/>
              </a:rPr>
              <a:t>2023年末   →   2026年6月</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4" name="Rounded Rectangle 11"/>
          <p:cNvSpPr/>
          <p:nvPr/>
        </p:nvSpPr>
        <p:spPr>
          <a:xfrm>
            <a:off x="6097905" y="896112"/>
            <a:ext cx="1243584"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5" name="TextBox 12"/>
          <p:cNvSpPr txBox="1"/>
          <p:nvPr/>
        </p:nvSpPr>
        <p:spPr>
          <a:xfrm>
            <a:off x="6152768" y="969264"/>
            <a:ext cx="1133856" cy="411480"/>
          </a:xfrm>
          <a:prstGeom prst="rect">
            <a:avLst/>
          </a:prstGeom>
          <a:noFill/>
        </p:spPr>
        <p:txBody>
          <a:bodyPr wrap="square" lIns="27432" tIns="13716" rIns="27432" bIns="13716" anchor="t">
            <a:spAutoFit/>
          </a:bodyPr>
          <a:lstStyle/>
          <a:p>
            <a:pPr algn="ctr">
              <a:lnSpc>
                <a:spcPct val="108000"/>
              </a:lnSpc>
            </a:pPr>
            <a:r>
              <a:rPr lang="zh-CN" altLang="en-US" sz="2000" b="1" i="0">
                <a:solidFill>
                  <a:srgbClr val="005375"/>
                </a:solidFill>
                <a:latin typeface="Arial" panose="020B0604020202020204"/>
                <a:ea typeface="Arial" panose="020B0604020202020204"/>
              </a:rPr>
              <a:t>53%</a:t>
            </a:r>
            <a:endParaRPr lang="zh-CN" altLang="en-US" sz="2000" b="1" i="0">
              <a:solidFill>
                <a:srgbClr val="005375"/>
              </a:solidFill>
              <a:latin typeface="Arial" panose="020B0604020202020204"/>
              <a:ea typeface="Arial" panose="020B0604020202020204"/>
            </a:endParaRPr>
          </a:p>
        </p:txBody>
      </p:sp>
      <p:sp>
        <p:nvSpPr>
          <p:cNvPr id="746" name="TextBox 13"/>
          <p:cNvSpPr txBox="1"/>
          <p:nvPr/>
        </p:nvSpPr>
        <p:spPr>
          <a:xfrm>
            <a:off x="6143624" y="1389888"/>
            <a:ext cx="1152144" cy="402336"/>
          </a:xfrm>
          <a:prstGeom prst="rect">
            <a:avLst/>
          </a:prstGeom>
          <a:noFill/>
        </p:spPr>
        <p:txBody>
          <a:bodyPr wrap="square" lIns="27432" tIns="13716" rIns="27432" bIns="13716" anchor="t">
            <a:spAutoFit/>
          </a:bodyPr>
          <a:lstStyle/>
          <a:p>
            <a:pPr algn="ctr">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GenAI全球人口采用率估计</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7" name="Rounded Rectangle 14"/>
          <p:cNvSpPr/>
          <p:nvPr/>
        </p:nvSpPr>
        <p:spPr>
          <a:xfrm>
            <a:off x="7423785" y="896112"/>
            <a:ext cx="1243584"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8" name="TextBox 15"/>
          <p:cNvSpPr txBox="1"/>
          <p:nvPr/>
        </p:nvSpPr>
        <p:spPr>
          <a:xfrm>
            <a:off x="7478648" y="969264"/>
            <a:ext cx="1133856" cy="411480"/>
          </a:xfrm>
          <a:prstGeom prst="rect">
            <a:avLst/>
          </a:prstGeom>
          <a:noFill/>
        </p:spPr>
        <p:txBody>
          <a:bodyPr wrap="square" lIns="27432" tIns="13716" rIns="27432" bIns="13716" anchor="t">
            <a:spAutoFit/>
          </a:bodyPr>
          <a:lstStyle/>
          <a:p>
            <a:pPr algn="ctr">
              <a:lnSpc>
                <a:spcPct val="108000"/>
              </a:lnSpc>
            </a:pPr>
            <a:r>
              <a:rPr lang="zh-CN" altLang="en-US" sz="2000" b="1" i="0">
                <a:solidFill>
                  <a:srgbClr val="005375"/>
                </a:solidFill>
                <a:latin typeface="Arial" panose="020B0604020202020204"/>
                <a:ea typeface="Arial" panose="020B0604020202020204"/>
              </a:rPr>
              <a:t>79%</a:t>
            </a:r>
            <a:endParaRPr lang="zh-CN" altLang="en-US" sz="2000" b="1" i="0">
              <a:solidFill>
                <a:srgbClr val="005375"/>
              </a:solidFill>
              <a:latin typeface="Arial" panose="020B0604020202020204"/>
              <a:ea typeface="Arial" panose="020B0604020202020204"/>
            </a:endParaRPr>
          </a:p>
        </p:txBody>
      </p:sp>
      <p:sp>
        <p:nvSpPr>
          <p:cNvPr id="749" name="TextBox 16"/>
          <p:cNvSpPr txBox="1"/>
          <p:nvPr/>
        </p:nvSpPr>
        <p:spPr>
          <a:xfrm>
            <a:off x="7469505" y="1389888"/>
            <a:ext cx="1152144" cy="402336"/>
          </a:xfrm>
          <a:prstGeom prst="rect">
            <a:avLst/>
          </a:prstGeom>
          <a:noFill/>
        </p:spPr>
        <p:txBody>
          <a:bodyPr wrap="square" lIns="27432" tIns="13716" rIns="27432" bIns="13716" anchor="t">
            <a:spAutoFit/>
          </a:bodyPr>
          <a:lstStyle/>
          <a:p>
            <a:pPr algn="ctr">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企业GenAI采用率约</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50" name="Rounded Rectangle 17"/>
          <p:cNvSpPr/>
          <p:nvPr/>
        </p:nvSpPr>
        <p:spPr>
          <a:xfrm>
            <a:off x="690245" y="4973320"/>
            <a:ext cx="1083310" cy="106870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1" name="TextBox 18"/>
          <p:cNvSpPr txBox="1"/>
          <p:nvPr/>
        </p:nvSpPr>
        <p:spPr>
          <a:xfrm>
            <a:off x="717550" y="4966970"/>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文本</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2" name="TextBox 19"/>
          <p:cNvSpPr txBox="1"/>
          <p:nvPr/>
        </p:nvSpPr>
        <p:spPr>
          <a:xfrm>
            <a:off x="735965" y="5253355"/>
            <a:ext cx="991870" cy="67691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简单的文本问答资源消耗相对较低</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53" name="Rounded Rectangle 20"/>
          <p:cNvSpPr/>
          <p:nvPr/>
        </p:nvSpPr>
        <p:spPr>
          <a:xfrm>
            <a:off x="1799590" y="4656455"/>
            <a:ext cx="1083310" cy="138557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4" name="TextBox 21"/>
          <p:cNvSpPr txBox="1"/>
          <p:nvPr/>
        </p:nvSpPr>
        <p:spPr>
          <a:xfrm>
            <a:off x="1826895" y="467042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聊天</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5" name="TextBox 22"/>
          <p:cNvSpPr txBox="1"/>
          <p:nvPr/>
        </p:nvSpPr>
        <p:spPr>
          <a:xfrm>
            <a:off x="1845310" y="4987290"/>
            <a:ext cx="991870" cy="1108075"/>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与AI持续聊天5分钟约消耗500毫升水</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56" name="Rounded Rectangle 25"/>
          <p:cNvSpPr/>
          <p:nvPr/>
        </p:nvSpPr>
        <p:spPr>
          <a:xfrm>
            <a:off x="2908935" y="4340225"/>
            <a:ext cx="1083310" cy="170180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7" name="TextBox 26"/>
          <p:cNvSpPr txBox="1"/>
          <p:nvPr/>
        </p:nvSpPr>
        <p:spPr>
          <a:xfrm>
            <a:off x="2936240" y="434022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长推理</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8" name="TextBox 27"/>
          <p:cNvSpPr txBox="1"/>
          <p:nvPr/>
        </p:nvSpPr>
        <p:spPr>
          <a:xfrm>
            <a:off x="2954655" y="4670425"/>
            <a:ext cx="991870" cy="1424940"/>
          </a:xfrm>
          <a:prstGeom prst="rect">
            <a:avLst/>
          </a:prstGeom>
          <a:noFill/>
        </p:spPr>
        <p:txBody>
          <a:bodyPr wrap="square" lIns="27432" tIns="13716" rIns="27432" bIns="13716" anchor="t">
            <a:noAutofit/>
          </a:bodyPr>
          <a:lstStyle/>
          <a:p>
            <a:pPr algn="l">
              <a:lnSpc>
                <a:spcPct val="150000"/>
              </a:lnSpc>
            </a:pPr>
            <a:r>
              <a:rPr lang="zh-CN" altLang="en-US" sz="1200" b="0" i="0">
                <a:solidFill>
                  <a:srgbClr val="1F2A33"/>
                </a:solidFill>
                <a:latin typeface="微软雅黑" panose="020B0503020204020204" pitchFamily="34" charset="-122"/>
                <a:ea typeface="微软雅黑" panose="020B0503020204020204" pitchFamily="34" charset="-122"/>
              </a:rPr>
              <a:t>约 15倍算力消耗，约一百到几百毫升/次</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759" name="Rounded Rectangle 30"/>
          <p:cNvSpPr/>
          <p:nvPr/>
        </p:nvSpPr>
        <p:spPr>
          <a:xfrm>
            <a:off x="4017645" y="4022725"/>
            <a:ext cx="1083310" cy="201866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0" name="TextBox 31"/>
          <p:cNvSpPr txBox="1"/>
          <p:nvPr/>
        </p:nvSpPr>
        <p:spPr>
          <a:xfrm>
            <a:off x="4026535" y="4037330"/>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图片</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1" name="TextBox 32"/>
          <p:cNvSpPr txBox="1"/>
          <p:nvPr/>
        </p:nvSpPr>
        <p:spPr>
          <a:xfrm>
            <a:off x="4063365" y="4354195"/>
            <a:ext cx="991870" cy="1741805"/>
          </a:xfrm>
          <a:prstGeom prst="rect">
            <a:avLst/>
          </a:prstGeom>
          <a:noFill/>
        </p:spPr>
        <p:txBody>
          <a:bodyPr wrap="square" lIns="27432" tIns="13716" rIns="27432" bIns="13716" anchor="t">
            <a:noAutofit/>
          </a:bodyPr>
          <a:lstStyle/>
          <a:p>
            <a:pPr algn="l">
              <a:lnSpc>
                <a:spcPct val="150000"/>
              </a:lnSpc>
            </a:pPr>
            <a:r>
              <a:rPr lang="zh-CN" altLang="en-US" sz="1200" b="0" i="0">
                <a:solidFill>
                  <a:srgbClr val="1F2A33"/>
                </a:solidFill>
                <a:latin typeface="微软雅黑" panose="020B0503020204020204" pitchFamily="34" charset="-122"/>
                <a:ea typeface="微软雅黑" panose="020B0503020204020204" pitchFamily="34" charset="-122"/>
              </a:rPr>
              <a:t>图像生成平均约消耗2.9 kWh / 1000张，耗水约10L</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762" name="Rounded Rectangle 35"/>
          <p:cNvSpPr/>
          <p:nvPr/>
        </p:nvSpPr>
        <p:spPr>
          <a:xfrm>
            <a:off x="5126990" y="3706495"/>
            <a:ext cx="1083310" cy="233553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3" name="TextBox 36"/>
          <p:cNvSpPr txBox="1"/>
          <p:nvPr/>
        </p:nvSpPr>
        <p:spPr>
          <a:xfrm>
            <a:off x="5135880" y="370649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视频</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4" name="TextBox 37"/>
          <p:cNvSpPr txBox="1"/>
          <p:nvPr/>
        </p:nvSpPr>
        <p:spPr>
          <a:xfrm>
            <a:off x="5172710" y="4037330"/>
            <a:ext cx="991870" cy="2058670"/>
          </a:xfrm>
          <a:prstGeom prst="rect">
            <a:avLst/>
          </a:prstGeom>
          <a:noFill/>
        </p:spPr>
        <p:txBody>
          <a:bodyPr wrap="square" lIns="27432" tIns="13716" rIns="27432" bIns="13716" anchor="t">
            <a:noAutofit/>
          </a:bodyPr>
          <a:lstStyle/>
          <a:p>
            <a:pPr algn="l">
              <a:lnSpc>
                <a:spcPct val="150000"/>
              </a:lnSpc>
            </a:pPr>
            <a:r>
              <a:rPr lang="zh-CN" altLang="en-US" sz="1200" b="0" i="0">
                <a:solidFill>
                  <a:srgbClr val="1F2A33"/>
                </a:solidFill>
                <a:latin typeface="微软雅黑" panose="020B0503020204020204" pitchFamily="34" charset="-122"/>
                <a:ea typeface="微软雅黑" panose="020B0503020204020204" pitchFamily="34" charset="-122"/>
              </a:rPr>
              <a:t>Sora 生成720p、30帧、5秒视频，耗水约1.5L</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765" name="Rounded Rectangle 40"/>
          <p:cNvSpPr/>
          <p:nvPr/>
        </p:nvSpPr>
        <p:spPr>
          <a:xfrm>
            <a:off x="6236335" y="3390265"/>
            <a:ext cx="1083310" cy="265176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6" name="TextBox 41"/>
          <p:cNvSpPr txBox="1"/>
          <p:nvPr/>
        </p:nvSpPr>
        <p:spPr>
          <a:xfrm>
            <a:off x="6245225" y="339026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训练</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7" name="TextBox 42"/>
          <p:cNvSpPr txBox="1"/>
          <p:nvPr/>
        </p:nvSpPr>
        <p:spPr>
          <a:xfrm>
            <a:off x="6282055" y="3720465"/>
            <a:ext cx="991870" cy="2374900"/>
          </a:xfrm>
          <a:prstGeom prst="rect">
            <a:avLst/>
          </a:prstGeom>
          <a:noFill/>
        </p:spPr>
        <p:txBody>
          <a:bodyPr wrap="square" lIns="27432" tIns="13716" rIns="27432" bIns="13716" anchor="t">
            <a:noAutofit/>
          </a:bodyPr>
          <a:lstStyle/>
          <a:p>
            <a:pPr algn="l">
              <a:lnSpc>
                <a:spcPct val="150000"/>
              </a:lnSpc>
            </a:pPr>
            <a:r>
              <a:rPr lang="zh-CN" altLang="en-US" sz="1200" b="0" i="0">
                <a:solidFill>
                  <a:srgbClr val="1F2A33"/>
                </a:solidFill>
                <a:latin typeface="微软雅黑" panose="020B0503020204020204" pitchFamily="34" charset="-122"/>
                <a:ea typeface="微软雅黑" panose="020B0503020204020204" pitchFamily="34" charset="-122"/>
              </a:rPr>
              <a:t>GPT-3训练一次耗电约1287兆瓦时，可供3000辆特斯拉跑到报废</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768" name="TextBox 46"/>
          <p:cNvSpPr txBox="1"/>
          <p:nvPr/>
        </p:nvSpPr>
        <p:spPr>
          <a:xfrm>
            <a:off x="7351395" y="2686050"/>
            <a:ext cx="1115695" cy="163195"/>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算力中心</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9" name="TextBox 47"/>
          <p:cNvSpPr txBox="1"/>
          <p:nvPr/>
        </p:nvSpPr>
        <p:spPr>
          <a:xfrm>
            <a:off x="7397115" y="2977515"/>
            <a:ext cx="1007745" cy="1962785"/>
          </a:xfrm>
          <a:prstGeom prst="rect">
            <a:avLst/>
          </a:prstGeom>
          <a:noFill/>
        </p:spPr>
        <p:txBody>
          <a:bodyPr wrap="square" lIns="27432" tIns="13716" rIns="27432" bIns="13716" anchor="t">
            <a:noAutofit/>
          </a:bodyPr>
          <a:lstStyle/>
          <a:p>
            <a:pPr algn="l">
              <a:lnSpc>
                <a:spcPct val="115000"/>
              </a:lnSpc>
            </a:pPr>
            <a:r>
              <a:rPr lang="zh-CN" altLang="en-US" sz="1150" b="0" i="0">
                <a:solidFill>
                  <a:schemeClr val="tx1"/>
                </a:solidFill>
                <a:latin typeface="微软雅黑" panose="020B0503020204020204" pitchFamily="34" charset="-122"/>
                <a:ea typeface="微软雅黑" panose="020B0503020204020204" pitchFamily="34" charset="-122"/>
              </a:rPr>
              <a:t>一座先进水效率的 100 MW级 大型AI算力中心，每年现场冷却等环节消耗约2亿升水，近100个奥运泳池。</a:t>
            </a:r>
            <a:endParaRPr lang="zh-CN" altLang="en-US" sz="1150" b="0" i="0">
              <a:solidFill>
                <a:schemeClr val="tx1"/>
              </a:solidFill>
              <a:latin typeface="微软雅黑" panose="020B0503020204020204" pitchFamily="34" charset="-122"/>
              <a:ea typeface="微软雅黑" panose="020B0503020204020204" pitchFamily="34" charset="-122"/>
            </a:endParaRPr>
          </a:p>
          <a:p>
            <a:pPr algn="l">
              <a:lnSpc>
                <a:spcPct val="115000"/>
              </a:lnSpc>
              <a:spcBef>
                <a:spcPts val="400"/>
              </a:spcBef>
            </a:pPr>
            <a:r>
              <a:rPr lang="zh-CN" altLang="en-US" sz="1150" b="0" i="0">
                <a:solidFill>
                  <a:schemeClr val="tx1"/>
                </a:solidFill>
                <a:latin typeface="微软雅黑" panose="020B0503020204020204" pitchFamily="34" charset="-122"/>
                <a:ea typeface="微软雅黑" panose="020B0503020204020204" pitchFamily="34" charset="-122"/>
              </a:rPr>
              <a:t>8月，乌兰察布建成全球最大的AI算力中心，规划容量超2GW</a:t>
            </a:r>
            <a:endParaRPr lang="zh-CN" altLang="en-US" sz="1150" b="0" i="0">
              <a:solidFill>
                <a:schemeClr val="tx1"/>
              </a:solidFill>
              <a:latin typeface="微软雅黑" panose="020B0503020204020204" pitchFamily="34" charset="-122"/>
              <a:ea typeface="微软雅黑" panose="020B0503020204020204" pitchFamily="34" charset="-122"/>
            </a:endParaRPr>
          </a:p>
        </p:txBody>
      </p:sp>
      <p:sp>
        <p:nvSpPr>
          <p:cNvPr id="771" name="TextBox 51"/>
          <p:cNvSpPr txBox="1"/>
          <p:nvPr/>
        </p:nvSpPr>
        <p:spPr>
          <a:xfrm>
            <a:off x="1038225" y="2416175"/>
            <a:ext cx="4236720" cy="1103630"/>
          </a:xfrm>
          <a:prstGeom prst="rect">
            <a:avLst/>
          </a:prstGeom>
          <a:noFill/>
        </p:spPr>
        <p:txBody>
          <a:bodyPr wrap="square" lIns="27432" tIns="13716" rIns="27432" bIns="13716" anchor="t">
            <a:noAutofit/>
          </a:bodyPr>
          <a:lstStyle/>
          <a:p>
            <a:pPr algn="l">
              <a:lnSpc>
                <a:spcPct val="100000"/>
              </a:lnSpc>
            </a:pPr>
            <a:r>
              <a:rPr lang="en-US" altLang="zh-CN" sz="3600" b="1" i="0">
                <a:solidFill>
                  <a:srgbClr val="005375"/>
                </a:solidFill>
                <a:latin typeface="微软雅黑" panose="020B0503020204020204" pitchFamily="34" charset="-122"/>
                <a:ea typeface="微软雅黑" panose="020B0503020204020204" pitchFamily="34" charset="-122"/>
              </a:rPr>
              <a:t>AI</a:t>
            </a:r>
            <a:r>
              <a:rPr lang="zh-CN" altLang="en-US" sz="3600" b="1" i="0">
                <a:solidFill>
                  <a:srgbClr val="005375"/>
                </a:solidFill>
                <a:latin typeface="微软雅黑" panose="020B0503020204020204" pitchFamily="34" charset="-122"/>
                <a:ea typeface="微软雅黑" panose="020B0503020204020204" pitchFamily="34" charset="-122"/>
              </a:rPr>
              <a:t>基础设施资源消耗正大幅上升！</a:t>
            </a:r>
            <a:endParaRPr lang="zh-CN" altLang="en-US" sz="3600" b="1" i="0">
              <a:solidFill>
                <a:srgbClr val="005375"/>
              </a:solidFill>
              <a:latin typeface="微软雅黑" panose="020B0503020204020204" pitchFamily="34" charset="-122"/>
              <a:ea typeface="微软雅黑" panose="020B0503020204020204" pitchFamily="34" charset="-122"/>
            </a:endParaRPr>
          </a:p>
        </p:txBody>
      </p:sp>
      <p:sp>
        <p:nvSpPr>
          <p:cNvPr id="772" name="Rounded Rectangle 52"/>
          <p:cNvSpPr/>
          <p:nvPr/>
        </p:nvSpPr>
        <p:spPr>
          <a:xfrm>
            <a:off x="8980805" y="895985"/>
            <a:ext cx="2369185" cy="5340350"/>
          </a:xfrm>
          <a:prstGeom prst="roundRect">
            <a:avLst>
              <a:gd name="adj" fmla="val 2800"/>
            </a:avLst>
          </a:prstGeom>
          <a:solidFill>
            <a:srgbClr val="FFFFFF"/>
          </a:solidFill>
          <a:ln w="1524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73" name="TextBox 53"/>
          <p:cNvSpPr txBox="1"/>
          <p:nvPr/>
        </p:nvSpPr>
        <p:spPr>
          <a:xfrm>
            <a:off x="9192006" y="1005840"/>
            <a:ext cx="2048256" cy="365760"/>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环境影响</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74" name="Rectangle 54"/>
          <p:cNvSpPr/>
          <p:nvPr/>
        </p:nvSpPr>
        <p:spPr>
          <a:xfrm>
            <a:off x="9073515" y="1463040"/>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1</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75" name="TextBox 55"/>
          <p:cNvSpPr txBox="1"/>
          <p:nvPr/>
        </p:nvSpPr>
        <p:spPr>
          <a:xfrm>
            <a:off x="9384157" y="1444752"/>
            <a:ext cx="1783080" cy="49085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使用场景越复杂，电力与用水消耗越高</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776" name="TextBox 56"/>
          <p:cNvSpPr txBox="1"/>
          <p:nvPr/>
        </p:nvSpPr>
        <p:spPr>
          <a:xfrm>
            <a:off x="9192006" y="2011680"/>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从简单问答到多模态生成再到大规模训练，资源消耗呈指数级上升。</a:t>
            </a:r>
            <a:endParaRPr lang="zh-CN" altLang="en-US" sz="1150" b="0" i="0">
              <a:solidFill>
                <a:srgbClr val="5A6B76"/>
              </a:solidFill>
              <a:latin typeface="微软雅黑" panose="020B0503020204020204" pitchFamily="34" charset="-122"/>
              <a:ea typeface="微软雅黑" panose="020B0503020204020204" pitchFamily="34" charset="-122"/>
            </a:endParaRPr>
          </a:p>
        </p:txBody>
      </p:sp>
      <p:cxnSp>
        <p:nvCxnSpPr>
          <p:cNvPr id="777" name="Connector 57"/>
          <p:cNvCxnSpPr/>
          <p:nvPr/>
        </p:nvCxnSpPr>
        <p:spPr>
          <a:xfrm>
            <a:off x="9192006" y="2889503"/>
            <a:ext cx="2048256"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778" name="Rectangle 58"/>
          <p:cNvSpPr/>
          <p:nvPr/>
        </p:nvSpPr>
        <p:spPr>
          <a:xfrm>
            <a:off x="9073515" y="3035935"/>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2</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79" name="TextBox 59"/>
          <p:cNvSpPr txBox="1"/>
          <p:nvPr/>
        </p:nvSpPr>
        <p:spPr>
          <a:xfrm>
            <a:off x="9384157" y="3017520"/>
            <a:ext cx="1783080" cy="49085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训练与视频生成是高能耗环节</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780" name="TextBox 60"/>
          <p:cNvSpPr txBox="1"/>
          <p:nvPr/>
        </p:nvSpPr>
        <p:spPr>
          <a:xfrm>
            <a:off x="9192006" y="3584448"/>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大规模模型训练和高质量视频生成对电力与水资源的需求显著高于日常应用。</a:t>
            </a:r>
            <a:endParaRPr lang="zh-CN" altLang="en-US" sz="1150" b="0" i="0">
              <a:solidFill>
                <a:srgbClr val="5A6B76"/>
              </a:solidFill>
              <a:latin typeface="微软雅黑" panose="020B0503020204020204" pitchFamily="34" charset="-122"/>
              <a:ea typeface="微软雅黑" panose="020B0503020204020204" pitchFamily="34" charset="-122"/>
            </a:endParaRPr>
          </a:p>
        </p:txBody>
      </p:sp>
      <p:cxnSp>
        <p:nvCxnSpPr>
          <p:cNvPr id="781" name="Connector 61"/>
          <p:cNvCxnSpPr/>
          <p:nvPr/>
        </p:nvCxnSpPr>
        <p:spPr>
          <a:xfrm>
            <a:off x="9192006" y="4462272"/>
            <a:ext cx="2048256"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782" name="Rectangle 62"/>
          <p:cNvSpPr/>
          <p:nvPr/>
        </p:nvSpPr>
        <p:spPr>
          <a:xfrm>
            <a:off x="9073515" y="4608830"/>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3</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83" name="TextBox 63"/>
          <p:cNvSpPr txBox="1"/>
          <p:nvPr/>
        </p:nvSpPr>
        <p:spPr>
          <a:xfrm>
            <a:off x="9384030" y="4590415"/>
            <a:ext cx="1893570" cy="49085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大型算力中心持续带来冷却与基础设施压力</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784" name="TextBox 64"/>
          <p:cNvSpPr txBox="1"/>
          <p:nvPr/>
        </p:nvSpPr>
        <p:spPr>
          <a:xfrm>
            <a:off x="9192006" y="5157216"/>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超大规模算力中心需要持续的冷却用水和电力供应，对当地资源与环境带来长期影响。</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5" name=""/>
        <p:cNvGrpSpPr/>
        <p:nvPr/>
      </p:nvGrpSpPr>
      <p:grpSpPr>
        <a:xfrm>
          <a:off x="0" y="0"/>
          <a:ext cx="0" cy="0"/>
          <a:chOff x="0" y="0"/>
          <a:chExt cx="0" cy="0"/>
        </a:xfrm>
      </p:grpSpPr>
      <p:sp>
        <p:nvSpPr>
          <p:cNvPr id="786"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AI 算力扩张正在把计算需求转化为持续性城市负荷</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789" name="TextBox 5"/>
          <p:cNvSpPr txBox="1"/>
          <p:nvPr/>
        </p:nvSpPr>
        <p:spPr>
          <a:xfrm>
            <a:off x="466090" y="1780413"/>
            <a:ext cx="3657600" cy="491490"/>
          </a:xfrm>
          <a:prstGeom prst="rect">
            <a:avLst/>
          </a:prstGeom>
          <a:noFill/>
        </p:spPr>
        <p:txBody>
          <a:bodyPr wrap="square" lIns="27432" tIns="13716" rIns="27432" bIns="13716" anchor="t">
            <a:spAutoFit/>
          </a:bodyPr>
          <a:lstStyle/>
          <a:p>
            <a:pPr algn="l">
              <a:lnSpc>
                <a:spcPct val="108000"/>
              </a:lnSpc>
            </a:pPr>
            <a:r>
              <a:rPr lang="zh-CN" altLang="en-US" sz="2800" b="1" i="0">
                <a:solidFill>
                  <a:srgbClr val="005375"/>
                </a:solidFill>
                <a:latin typeface="微软雅黑" panose="020B0503020204020204" pitchFamily="34" charset="-122"/>
                <a:ea typeface="微软雅黑" panose="020B0503020204020204" pitchFamily="34" charset="-122"/>
              </a:rPr>
              <a:t>AI 数据中心特点：</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792" name="Rounded Rectangle 9"/>
          <p:cNvSpPr/>
          <p:nvPr/>
        </p:nvSpPr>
        <p:spPr>
          <a:xfrm>
            <a:off x="1353312" y="116484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IT容量</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3" name="Right Arrow 10"/>
          <p:cNvSpPr/>
          <p:nvPr/>
        </p:nvSpPr>
        <p:spPr>
          <a:xfrm>
            <a:off x="2583180"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4" name="Rounded Rectangle 11"/>
          <p:cNvSpPr/>
          <p:nvPr/>
        </p:nvSpPr>
        <p:spPr>
          <a:xfrm>
            <a:off x="2724912" y="116484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实际负载</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5" name="Right Arrow 12"/>
          <p:cNvSpPr/>
          <p:nvPr/>
        </p:nvSpPr>
        <p:spPr>
          <a:xfrm>
            <a:off x="3954780"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6" name="Rounded Rectangle 13"/>
          <p:cNvSpPr/>
          <p:nvPr/>
        </p:nvSpPr>
        <p:spPr>
          <a:xfrm>
            <a:off x="4096512" y="116484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IT功率</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7" name="Right Arrow 14"/>
          <p:cNvSpPr/>
          <p:nvPr/>
        </p:nvSpPr>
        <p:spPr>
          <a:xfrm>
            <a:off x="5326380"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8" name="Rounded Rectangle 15"/>
          <p:cNvSpPr/>
          <p:nvPr/>
        </p:nvSpPr>
        <p:spPr>
          <a:xfrm>
            <a:off x="5468112" y="116484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PUE 折算</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9" name="Right Arrow 16"/>
          <p:cNvSpPr/>
          <p:nvPr/>
        </p:nvSpPr>
        <p:spPr>
          <a:xfrm>
            <a:off x="6697980"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0" name="Rounded Rectangle 17"/>
          <p:cNvSpPr/>
          <p:nvPr/>
        </p:nvSpPr>
        <p:spPr>
          <a:xfrm>
            <a:off x="6839712" y="116484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供电</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1" name="Right Arrow 18"/>
          <p:cNvSpPr/>
          <p:nvPr/>
        </p:nvSpPr>
        <p:spPr>
          <a:xfrm>
            <a:off x="8069580"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2" name="Rounded Rectangle 19"/>
          <p:cNvSpPr/>
          <p:nvPr/>
        </p:nvSpPr>
        <p:spPr>
          <a:xfrm>
            <a:off x="8211312" y="116484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冷却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3" name="Right Arrow 20"/>
          <p:cNvSpPr/>
          <p:nvPr/>
        </p:nvSpPr>
        <p:spPr>
          <a:xfrm>
            <a:off x="9441180" y="132486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4" name="Rounded Rectangle 21"/>
          <p:cNvSpPr/>
          <p:nvPr/>
        </p:nvSpPr>
        <p:spPr>
          <a:xfrm>
            <a:off x="9582912" y="116484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补水与排水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5" name="Rounded Rectangle 22"/>
          <p:cNvSpPr/>
          <p:nvPr/>
        </p:nvSpPr>
        <p:spPr>
          <a:xfrm>
            <a:off x="484632"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06" name="Rectangle 23"/>
          <p:cNvSpPr/>
          <p:nvPr/>
        </p:nvSpPr>
        <p:spPr>
          <a:xfrm>
            <a:off x="649224"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2400" b="1" i="0">
                <a:solidFill>
                  <a:srgbClr val="FFFFFF"/>
                </a:solidFill>
                <a:latin typeface="微软雅黑" panose="020B0503020204020204" pitchFamily="34" charset="-122"/>
                <a:ea typeface="微软雅黑" panose="020B0503020204020204" pitchFamily="34" charset="-122"/>
              </a:rPr>
              <a:t>01</a:t>
            </a:r>
            <a:endParaRPr lang="zh-CN" altLang="en-US" sz="2400" b="1" i="0">
              <a:solidFill>
                <a:srgbClr val="FFFFFF"/>
              </a:solidFill>
              <a:latin typeface="微软雅黑" panose="020B0503020204020204" pitchFamily="34" charset="-122"/>
              <a:ea typeface="微软雅黑" panose="020B0503020204020204" pitchFamily="34" charset="-122"/>
            </a:endParaRPr>
          </a:p>
        </p:txBody>
      </p:sp>
      <p:sp>
        <p:nvSpPr>
          <p:cNvPr id="807" name="TextBox 24"/>
          <p:cNvSpPr txBox="1"/>
          <p:nvPr/>
        </p:nvSpPr>
        <p:spPr>
          <a:xfrm>
            <a:off x="1261872" y="2661158"/>
            <a:ext cx="274320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高热流密度与连续刚性</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08" name="TextBox 25"/>
          <p:cNvSpPr txBox="1"/>
          <p:nvPr/>
        </p:nvSpPr>
        <p:spPr>
          <a:xfrm>
            <a:off x="685800" y="3085973"/>
            <a:ext cx="3246120" cy="1642110"/>
          </a:xfrm>
          <a:prstGeom prst="rect">
            <a:avLst/>
          </a:prstGeom>
          <a:noFill/>
        </p:spPr>
        <p:txBody>
          <a:bodyPr wrap="square" lIns="27432" tIns="13716" rIns="27432" bIns="13716" anchor="t">
            <a:spAutoFit/>
          </a:bodyPr>
          <a:lstStyle/>
          <a:p>
            <a:pPr indent="457200" algn="l">
              <a:lnSpc>
                <a:spcPct val="150000"/>
              </a:lnSpc>
            </a:pPr>
            <a:r>
              <a:rPr lang="en-US" altLang="zh-CN" sz="1400" b="0" i="0">
                <a:solidFill>
                  <a:srgbClr val="1F2A33"/>
                </a:solidFill>
                <a:latin typeface="微软雅黑" panose="020B0503020204020204" pitchFamily="34" charset="-122"/>
                <a:ea typeface="微软雅黑" panose="020B0503020204020204" pitchFamily="34" charset="-122"/>
              </a:rPr>
              <a:t>AI </a:t>
            </a:r>
            <a:r>
              <a:rPr lang="zh-CN" altLang="en-US" sz="1400" b="0" i="0">
                <a:solidFill>
                  <a:srgbClr val="1F2A33"/>
                </a:solidFill>
                <a:latin typeface="微软雅黑" panose="020B0503020204020204" pitchFamily="34" charset="-122"/>
                <a:ea typeface="微软雅黑" panose="020B0503020204020204" pitchFamily="34" charset="-122"/>
              </a:rPr>
              <a:t>训练与推理带来单机柜功率密度成倍跃升（从传统 5-8 </a:t>
            </a:r>
            <a:r>
              <a:rPr lang="en-US" altLang="zh-CN" sz="1400" b="0" i="0">
                <a:solidFill>
                  <a:srgbClr val="1F2A33"/>
                </a:solidFill>
                <a:latin typeface="微软雅黑" panose="020B0503020204020204" pitchFamily="34" charset="-122"/>
                <a:ea typeface="微软雅黑" panose="020B0503020204020204" pitchFamily="34" charset="-122"/>
              </a:rPr>
              <a:t>kW </a:t>
            </a:r>
            <a:r>
              <a:rPr lang="zh-CN" altLang="en-US" sz="1400" b="0" i="0">
                <a:solidFill>
                  <a:srgbClr val="1F2A33"/>
                </a:solidFill>
                <a:latin typeface="微软雅黑" panose="020B0503020204020204" pitchFamily="34" charset="-122"/>
                <a:ea typeface="微软雅黑" panose="020B0503020204020204" pitchFamily="34" charset="-122"/>
              </a:rPr>
              <a:t>飙升至数十甚至上百 </a:t>
            </a:r>
            <a:r>
              <a:rPr lang="en-US" altLang="zh-CN" sz="1400" b="0" i="0">
                <a:solidFill>
                  <a:srgbClr val="1F2A33"/>
                </a:solidFill>
                <a:latin typeface="微软雅黑" panose="020B0503020204020204" pitchFamily="34" charset="-122"/>
                <a:ea typeface="微软雅黑" panose="020B0503020204020204" pitchFamily="34" charset="-122"/>
              </a:rPr>
              <a:t>kW）</a:t>
            </a:r>
            <a:r>
              <a:rPr lang="zh-CN" altLang="en-US" sz="1400" b="0" i="0">
                <a:solidFill>
                  <a:srgbClr val="1F2A33"/>
                </a:solidFill>
                <a:latin typeface="微软雅黑" panose="020B0503020204020204" pitchFamily="34" charset="-122"/>
                <a:ea typeface="微软雅黑" panose="020B0503020204020204" pitchFamily="34" charset="-122"/>
              </a:rPr>
              <a:t>。全年高负荷连续运行，冷却散热对水资源的依赖从“辅助设施”变成“刚性生命线”。</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09" name="Rounded Rectangle 26"/>
          <p:cNvSpPr/>
          <p:nvPr/>
        </p:nvSpPr>
        <p:spPr>
          <a:xfrm>
            <a:off x="4274820"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10" name="Rectangle 27"/>
          <p:cNvSpPr/>
          <p:nvPr/>
        </p:nvSpPr>
        <p:spPr>
          <a:xfrm>
            <a:off x="4439412"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2400" b="1" i="0">
                <a:solidFill>
                  <a:srgbClr val="FFFFFF"/>
                </a:solidFill>
                <a:latin typeface="微软雅黑" panose="020B0503020204020204" pitchFamily="34" charset="-122"/>
                <a:ea typeface="微软雅黑" panose="020B0503020204020204" pitchFamily="34" charset="-122"/>
              </a:rPr>
              <a:t>02</a:t>
            </a:r>
            <a:endParaRPr lang="zh-CN" altLang="en-US" sz="2400" b="1" i="0">
              <a:solidFill>
                <a:srgbClr val="FFFFFF"/>
              </a:solidFill>
              <a:latin typeface="微软雅黑" panose="020B0503020204020204" pitchFamily="34" charset="-122"/>
              <a:ea typeface="微软雅黑" panose="020B0503020204020204" pitchFamily="34" charset="-122"/>
            </a:endParaRPr>
          </a:p>
        </p:txBody>
      </p:sp>
      <p:sp>
        <p:nvSpPr>
          <p:cNvPr id="811" name="TextBox 28"/>
          <p:cNvSpPr txBox="1"/>
          <p:nvPr/>
        </p:nvSpPr>
        <p:spPr>
          <a:xfrm>
            <a:off x="5052059" y="2661158"/>
            <a:ext cx="274320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强气象敏感性与季节尖峰冲击</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12" name="TextBox 29"/>
          <p:cNvSpPr txBox="1"/>
          <p:nvPr/>
        </p:nvSpPr>
        <p:spPr>
          <a:xfrm>
            <a:off x="4475988" y="3085973"/>
            <a:ext cx="3246120" cy="1318895"/>
          </a:xfrm>
          <a:prstGeom prst="rect">
            <a:avLst/>
          </a:prstGeom>
          <a:noFill/>
        </p:spPr>
        <p:txBody>
          <a:bodyPr wrap="square" lIns="27432" tIns="13716" rIns="27432" bIns="13716" anchor="t">
            <a:spAutoFit/>
          </a:bodyPr>
          <a:lstStyle/>
          <a:p>
            <a:pPr indent="457200" algn="l">
              <a:lnSpc>
                <a:spcPct val="150000"/>
              </a:lnSpc>
            </a:pPr>
            <a:r>
              <a:rPr lang="zh-CN" altLang="en-US" sz="1400" b="0" i="0">
                <a:solidFill>
                  <a:srgbClr val="1F2A33"/>
                </a:solidFill>
                <a:latin typeface="微软雅黑" panose="020B0503020204020204" pitchFamily="34" charset="-122"/>
                <a:ea typeface="微软雅黑" panose="020B0503020204020204" pitchFamily="34" charset="-122"/>
              </a:rPr>
              <a:t>夏季高温时冷却补水出现极端尖峰，恰好与城市居民生活用水高峰、受纳水体环境容量收紧期“撞车”，年均总量无法反映瞬态承载风险</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13" name="Rounded Rectangle 30"/>
          <p:cNvSpPr/>
          <p:nvPr/>
        </p:nvSpPr>
        <p:spPr>
          <a:xfrm>
            <a:off x="8065008"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14" name="Rectangle 31"/>
          <p:cNvSpPr/>
          <p:nvPr/>
        </p:nvSpPr>
        <p:spPr>
          <a:xfrm>
            <a:off x="8229600"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2400" b="1" i="0">
                <a:solidFill>
                  <a:srgbClr val="FFFFFF"/>
                </a:solidFill>
                <a:latin typeface="微软雅黑" panose="020B0503020204020204" pitchFamily="34" charset="-122"/>
                <a:ea typeface="微软雅黑" panose="020B0503020204020204" pitchFamily="34" charset="-122"/>
              </a:rPr>
              <a:t>03</a:t>
            </a:r>
            <a:endParaRPr lang="zh-CN" altLang="en-US" sz="2400" b="1" i="0">
              <a:solidFill>
                <a:srgbClr val="FFFFFF"/>
              </a:solidFill>
              <a:latin typeface="微软雅黑" panose="020B0503020204020204" pitchFamily="34" charset="-122"/>
              <a:ea typeface="微软雅黑" panose="020B0503020204020204" pitchFamily="34" charset="-122"/>
            </a:endParaRPr>
          </a:p>
        </p:txBody>
      </p:sp>
      <p:sp>
        <p:nvSpPr>
          <p:cNvPr id="815" name="TextBox 32"/>
          <p:cNvSpPr txBox="1"/>
          <p:nvPr/>
        </p:nvSpPr>
        <p:spPr>
          <a:xfrm>
            <a:off x="8842248" y="2661158"/>
            <a:ext cx="274320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cs typeface="微软雅黑" panose="020B0503020204020204" pitchFamily="34" charset="-122"/>
              </a:rPr>
              <a:t>以“蒸发相变消耗”为主</a:t>
            </a:r>
            <a:endParaRPr lang="zh-CN" altLang="en-US" sz="1600" b="1" i="0">
              <a:solidFill>
                <a:srgbClr val="1F2A3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16" name="TextBox 33"/>
          <p:cNvSpPr txBox="1"/>
          <p:nvPr/>
        </p:nvSpPr>
        <p:spPr>
          <a:xfrm>
            <a:off x="8256651" y="3037078"/>
            <a:ext cx="3246120" cy="1965325"/>
          </a:xfrm>
          <a:prstGeom prst="rect">
            <a:avLst/>
          </a:prstGeom>
          <a:noFill/>
        </p:spPr>
        <p:txBody>
          <a:bodyPr wrap="square" lIns="27432" tIns="13716" rIns="27432" bIns="13716" anchor="t">
            <a:spAutoFit/>
          </a:bodyPr>
          <a:lstStyle/>
          <a:p>
            <a:pPr algn="l">
              <a:lnSpc>
                <a:spcPct val="150000"/>
              </a:lnSpc>
            </a:pPr>
            <a:r>
              <a:rPr lang="en-US" altLang="zh-CN" sz="1400" b="0" i="0">
                <a:solidFill>
                  <a:srgbClr val="1F2A33"/>
                </a:solidFill>
                <a:latin typeface="微软雅黑" panose="020B0503020204020204" pitchFamily="34" charset="-122"/>
                <a:ea typeface="微软雅黑" panose="020B0503020204020204" pitchFamily="34" charset="-122"/>
              </a:rPr>
              <a:t>       </a:t>
            </a:r>
            <a:r>
              <a:rPr lang="zh-CN" altLang="en-US" sz="1400" b="0" i="0">
                <a:solidFill>
                  <a:srgbClr val="1F2A33"/>
                </a:solidFill>
                <a:latin typeface="微软雅黑" panose="020B0503020204020204" pitchFamily="34" charset="-122"/>
                <a:ea typeface="微软雅黑" panose="020B0503020204020204" pitchFamily="34" charset="-122"/>
              </a:rPr>
              <a:t>传统工业多是“取水—洗涤/反应—达标排放”，水主要还在流域里；</a:t>
            </a:r>
            <a:r>
              <a:rPr lang="en-US" altLang="zh-CN" sz="1400" b="0" i="0">
                <a:solidFill>
                  <a:srgbClr val="1F2A33"/>
                </a:solidFill>
                <a:latin typeface="微软雅黑" panose="020B0503020204020204" pitchFamily="34" charset="-122"/>
                <a:ea typeface="微软雅黑" panose="020B0503020204020204" pitchFamily="34" charset="-122"/>
              </a:rPr>
              <a:t>AI </a:t>
            </a:r>
            <a:r>
              <a:rPr lang="zh-CN" altLang="en-US" sz="1400" b="0" i="0">
                <a:solidFill>
                  <a:srgbClr val="1F2A33"/>
                </a:solidFill>
                <a:latin typeface="微软雅黑" panose="020B0503020204020204" pitchFamily="34" charset="-122"/>
                <a:ea typeface="微软雅黑" panose="020B0503020204020204" pitchFamily="34" charset="-122"/>
              </a:rPr>
              <a:t>湿冷/喷淋主要依赖水分蒸发带走潜热，水被直接“消耗”到大气中，且排污水浓缩倍数高（高含盐量、高水温），对污水厂与受纳水体产生双重冲击。</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17" name="Rectangle 34"/>
          <p:cNvSpPr/>
          <p:nvPr/>
        </p:nvSpPr>
        <p:spPr>
          <a:xfrm>
            <a:off x="484505" y="5486400"/>
            <a:ext cx="11219815" cy="71437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en-US" altLang="zh-CN" sz="1600" b="1" i="0">
                <a:solidFill>
                  <a:srgbClr val="FFFFFF"/>
                </a:solidFill>
                <a:latin typeface="微软雅黑" panose="020B0503020204020204" pitchFamily="34" charset="-122"/>
                <a:ea typeface="微软雅黑" panose="020B0503020204020204" pitchFamily="34" charset="-122"/>
              </a:rPr>
              <a:t>AI </a:t>
            </a:r>
            <a:r>
              <a:rPr lang="zh-CN" altLang="en-US" sz="1600" b="1" i="0">
                <a:solidFill>
                  <a:srgbClr val="FFFFFF"/>
                </a:solidFill>
                <a:latin typeface="微软雅黑" panose="020B0503020204020204" pitchFamily="34" charset="-122"/>
                <a:ea typeface="微软雅黑" panose="020B0503020204020204" pitchFamily="34" charset="-122"/>
              </a:rPr>
              <a:t>数据中心不仅是 </a:t>
            </a:r>
            <a:r>
              <a:rPr lang="en-US" altLang="zh-CN" sz="1600" b="1" i="0">
                <a:solidFill>
                  <a:srgbClr val="FFFFFF"/>
                </a:solidFill>
                <a:latin typeface="微软雅黑" panose="020B0503020204020204" pitchFamily="34" charset="-122"/>
                <a:ea typeface="微软雅黑" panose="020B0503020204020204" pitchFamily="34" charset="-122"/>
              </a:rPr>
              <a:t>IT </a:t>
            </a:r>
            <a:r>
              <a:rPr lang="zh-CN" altLang="en-US" sz="1600" b="1" i="0">
                <a:solidFill>
                  <a:srgbClr val="FFFFFF"/>
                </a:solidFill>
                <a:latin typeface="微软雅黑" panose="020B0503020204020204" pitchFamily="34" charset="-122"/>
                <a:ea typeface="微软雅黑" panose="020B0503020204020204" pitchFamily="34" charset="-122"/>
              </a:rPr>
              <a:t>节点，更是“高耗水强度、高蒸发损失、强气象敏感”的城市人工水系统新型脉冲节点——传统静态、年总量的规划方法已无法适用。</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18" name=""/>
        <p:cNvGrpSpPr/>
        <p:nvPr/>
      </p:nvGrpSpPr>
      <p:grpSpPr>
        <a:xfrm>
          <a:off x="0" y="0"/>
          <a:ext cx="0" cy="0"/>
          <a:chOff x="0" y="0"/>
          <a:chExt cx="0" cy="0"/>
        </a:xfrm>
      </p:grpSpPr>
      <p:sp>
        <p:nvSpPr>
          <p:cNvPr id="81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相同年用水量可能对应完全不同的城市系统压力</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822" name="Rounded Rectangle 5"/>
          <p:cNvSpPr/>
          <p:nvPr/>
        </p:nvSpPr>
        <p:spPr>
          <a:xfrm>
            <a:off x="484632" y="1115568"/>
            <a:ext cx="5504688" cy="4526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3" name="Rectangle 6"/>
          <p:cNvSpPr/>
          <p:nvPr/>
        </p:nvSpPr>
        <p:spPr>
          <a:xfrm>
            <a:off x="502920" y="1133856"/>
            <a:ext cx="5468112"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情景 A：本地淡水为主，夏季高温时段湿式冷却集中取水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24" name="Rounded Rectangle 7"/>
          <p:cNvSpPr/>
          <p:nvPr/>
        </p:nvSpPr>
        <p:spPr>
          <a:xfrm>
            <a:off x="621792" y="1737360"/>
            <a:ext cx="5230368" cy="713232"/>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150" b="0" i="0">
                <a:solidFill>
                  <a:srgbClr val="1F2A33"/>
                </a:solidFill>
                <a:latin typeface="微软雅黑" panose="020B0503020204020204" pitchFamily="34" charset="-122"/>
                <a:ea typeface="微软雅黑" panose="020B0503020204020204" pitchFamily="34" charset="-122"/>
              </a:rPr>
              <a:t>夏季补水量与情景 B 相同，但取水量集中在峰值日内且早于灰水分流，造成局部压力升高与水温升高叠加。</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825" name="Rounded Rectangle 8"/>
          <p:cNvSpPr/>
          <p:nvPr/>
        </p:nvSpPr>
        <p:spPr>
          <a:xfrm>
            <a:off x="621792"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6" name="TextBox 9"/>
          <p:cNvSpPr txBox="1"/>
          <p:nvPr/>
        </p:nvSpPr>
        <p:spPr>
          <a:xfrm>
            <a:off x="621792"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水消耗结构约束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27" name="Rounded Rectangle 10"/>
          <p:cNvSpPr/>
          <p:nvPr/>
        </p:nvSpPr>
        <p:spPr>
          <a:xfrm>
            <a:off x="3310128"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8" name="TextBox 11"/>
          <p:cNvSpPr txBox="1"/>
          <p:nvPr/>
        </p:nvSpPr>
        <p:spPr>
          <a:xfrm>
            <a:off x="3310128"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排水结构约束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30" name="Rounded Rectangle 13"/>
          <p:cNvSpPr/>
          <p:nvPr/>
        </p:nvSpPr>
        <p:spPr>
          <a:xfrm>
            <a:off x="621665" y="4967605"/>
            <a:ext cx="5230495" cy="516255"/>
          </a:xfrm>
          <a:prstGeom prst="roundRect">
            <a:avLst>
              <a:gd name="adj" fmla="val 100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200" b="0" i="0">
                <a:solidFill>
                  <a:srgbClr val="1F2A33"/>
                </a:solidFill>
                <a:latin typeface="微软雅黑" panose="020B0503020204020204" pitchFamily="34" charset="-122"/>
                <a:ea typeface="微软雅黑" panose="020B0503020204020204" pitchFamily="34" charset="-122"/>
              </a:rPr>
              <a:t>夏季尖峰在 7 月，对应湿冷供水与受纳水体纳污压力峰值同步出现。</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831" name="Rounded Rectangle 14"/>
          <p:cNvSpPr/>
          <p:nvPr/>
        </p:nvSpPr>
        <p:spPr>
          <a:xfrm>
            <a:off x="6199632" y="1115568"/>
            <a:ext cx="5504688" cy="4526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2" name="Rectangle 15"/>
          <p:cNvSpPr/>
          <p:nvPr/>
        </p:nvSpPr>
        <p:spPr>
          <a:xfrm>
            <a:off x="6217920" y="1133856"/>
            <a:ext cx="5468112"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情景 B：再生水为主，排水调节与干湿混合排热调蓄</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33" name="Rounded Rectangle 16"/>
          <p:cNvSpPr/>
          <p:nvPr/>
        </p:nvSpPr>
        <p:spPr>
          <a:xfrm>
            <a:off x="6336792" y="1737360"/>
            <a:ext cx="5230368" cy="713232"/>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150" b="0" i="0">
                <a:solidFill>
                  <a:srgbClr val="1F2A33"/>
                </a:solidFill>
                <a:latin typeface="微软雅黑" panose="020B0503020204020204" pitchFamily="34" charset="-122"/>
                <a:ea typeface="微软雅黑" panose="020B0503020204020204" pitchFamily="34" charset="-122"/>
              </a:rPr>
              <a:t>年补水量与情景 A 相同，但以再生水为主并配合蓄冷/蓄水储调，压力转移到再生水处理强度与水价机制。</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834" name="Rounded Rectangle 17"/>
          <p:cNvSpPr/>
          <p:nvPr/>
        </p:nvSpPr>
        <p:spPr>
          <a:xfrm>
            <a:off x="6336792"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5" name="TextBox 18"/>
          <p:cNvSpPr txBox="1"/>
          <p:nvPr/>
        </p:nvSpPr>
        <p:spPr>
          <a:xfrm>
            <a:off x="6336792"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再生水处理约束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36" name="Rounded Rectangle 19"/>
          <p:cNvSpPr/>
          <p:nvPr/>
        </p:nvSpPr>
        <p:spPr>
          <a:xfrm>
            <a:off x="9025128"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7" name="TextBox 20"/>
          <p:cNvSpPr txBox="1"/>
          <p:nvPr/>
        </p:nvSpPr>
        <p:spPr>
          <a:xfrm>
            <a:off x="9025128"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储蓄能力约束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39" name="Rounded Rectangle 22"/>
          <p:cNvSpPr/>
          <p:nvPr/>
        </p:nvSpPr>
        <p:spPr>
          <a:xfrm>
            <a:off x="6336665" y="4967605"/>
            <a:ext cx="5230495" cy="516255"/>
          </a:xfrm>
          <a:prstGeom prst="roundRect">
            <a:avLst>
              <a:gd name="adj" fmla="val 100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200" b="0" i="0">
                <a:solidFill>
                  <a:srgbClr val="1F2A33"/>
                </a:solidFill>
                <a:latin typeface="微软雅黑" panose="020B0503020204020204" pitchFamily="34" charset="-122"/>
                <a:ea typeface="微软雅黑" panose="020B0503020204020204" pitchFamily="34" charset="-122"/>
              </a:rPr>
              <a:t>补水平坦 → 处理负荷均匀分摊 → 受纳水体年内冲刷压力下降。</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840" name="Rectangle 23"/>
          <p:cNvSpPr/>
          <p:nvPr/>
        </p:nvSpPr>
        <p:spPr>
          <a:xfrm>
            <a:off x="484632" y="5806440"/>
            <a:ext cx="11219688" cy="5029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FFFFFF"/>
                </a:solidFill>
                <a:latin typeface="微软雅黑" panose="020B0503020204020204" pitchFamily="34" charset="-122"/>
                <a:ea typeface="微软雅黑" panose="020B0503020204020204" pitchFamily="34" charset="-122"/>
              </a:rPr>
              <a:t>本研究问题完整路径：从同处出发，峰值、时序不同；多步消耗、多步回流。</a:t>
            </a:r>
            <a:r>
              <a:rPr lang="zh-CN" altLang="en-US" sz="1600" b="1">
                <a:solidFill>
                  <a:srgbClr val="FFFFFF"/>
                </a:solidFill>
                <a:latin typeface="微软雅黑" panose="020B0503020204020204" pitchFamily="34" charset="-122"/>
                <a:ea typeface="微软雅黑" panose="020B0503020204020204" pitchFamily="34" charset="-122"/>
                <a:sym typeface="+mn-ea"/>
              </a:rPr>
              <a:t>总量相同，时序与路径差异同样需要看见</a:t>
            </a:r>
            <a:endParaRPr lang="zh-CN" altLang="en-US" sz="1600" b="1" i="0">
              <a:solidFill>
                <a:srgbClr val="FFFFFF"/>
              </a:solidFill>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702945" y="2907665"/>
            <a:ext cx="5068570" cy="2026920"/>
          </a:xfrm>
          <a:prstGeom prst="rect">
            <a:avLst/>
          </a:prstGeom>
        </p:spPr>
      </p:pic>
      <p:pic>
        <p:nvPicPr>
          <p:cNvPr id="2" name="图片 1"/>
          <p:cNvPicPr>
            <a:picLocks noChangeAspect="1"/>
          </p:cNvPicPr>
          <p:nvPr/>
        </p:nvPicPr>
        <p:blipFill>
          <a:blip r:embed="rId2"/>
          <a:stretch>
            <a:fillRect/>
          </a:stretch>
        </p:blipFill>
        <p:spPr>
          <a:xfrm>
            <a:off x="6417945" y="2907665"/>
            <a:ext cx="5067300" cy="2026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41" name=""/>
        <p:cNvGrpSpPr/>
        <p:nvPr/>
      </p:nvGrpSpPr>
      <p:grpSpPr>
        <a:xfrm>
          <a:off x="0" y="0"/>
          <a:ext cx="0" cy="0"/>
          <a:chOff x="0" y="0"/>
          <a:chExt cx="0" cy="0"/>
        </a:xfrm>
      </p:grpSpPr>
      <p:sp>
        <p:nvSpPr>
          <p:cNvPr id="842"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研究对象落在城市人工水系统的全过程网络上</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845" name="Rounded Rectangle 4"/>
          <p:cNvSpPr/>
          <p:nvPr/>
        </p:nvSpPr>
        <p:spPr>
          <a:xfrm>
            <a:off x="484632" y="914400"/>
            <a:ext cx="6035040" cy="495604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46" name="Rectangle 5"/>
          <p:cNvSpPr/>
          <p:nvPr/>
        </p:nvSpPr>
        <p:spPr>
          <a:xfrm>
            <a:off x="502920" y="932688"/>
            <a:ext cx="5998464"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研究对象与系统边界</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847" name="Rounded Rectangle 6"/>
          <p:cNvSpPr/>
          <p:nvPr/>
        </p:nvSpPr>
        <p:spPr>
          <a:xfrm>
            <a:off x="640080" y="1767713"/>
            <a:ext cx="1417320" cy="60350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研究对象</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48" name="TextBox 7"/>
          <p:cNvSpPr txBox="1"/>
          <p:nvPr/>
        </p:nvSpPr>
        <p:spPr>
          <a:xfrm>
            <a:off x="2103120" y="1802448"/>
            <a:ext cx="4297680" cy="534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研究对象不是“数据中心用了多少水“，而是 AI 节点接入后的整个城市水系统如何响应。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49" name="Rounded Rectangle 8"/>
          <p:cNvSpPr/>
          <p:nvPr/>
        </p:nvSpPr>
        <p:spPr>
          <a:xfrm>
            <a:off x="640080" y="2669540"/>
            <a:ext cx="1417320" cy="75895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核心系统边界</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50" name="Rounded Rectangle 9"/>
          <p:cNvSpPr/>
          <p:nvPr/>
        </p:nvSpPr>
        <p:spPr>
          <a:xfrm>
            <a:off x="1921510" y="2752344"/>
            <a:ext cx="822960" cy="566928"/>
          </a:xfrm>
          <a:prstGeom prst="roundRect">
            <a:avLst>
              <a:gd name="adj" fmla="val 10000"/>
            </a:avLst>
          </a:prstGeom>
          <a:noFill/>
          <a:ln w="12700">
            <a:noFill/>
          </a:ln>
          <a:effectLst/>
          <a:extLst>
            <a:ext uri="{909E8E84-426E-40DD-AFC4-6F175D3DCCD1}">
              <a14:hiddenFill xmlns:a14="http://schemas.microsoft.com/office/drawing/2010/main">
                <a:solidFill>
                  <a:srgbClr val="FFFFFF"/>
                </a:solidFill>
              </a14:hiddenFill>
            </a:ext>
          </a:ex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供水</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1" name="Right Arrow 10"/>
          <p:cNvSpPr/>
          <p:nvPr/>
        </p:nvSpPr>
        <p:spPr>
          <a:xfrm>
            <a:off x="2552700" y="2980690"/>
            <a:ext cx="328930" cy="109855"/>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2" name="Rounded Rectangle 11"/>
          <p:cNvSpPr/>
          <p:nvPr/>
        </p:nvSpPr>
        <p:spPr>
          <a:xfrm>
            <a:off x="2909062" y="2752344"/>
            <a:ext cx="822960" cy="566928"/>
          </a:xfrm>
          <a:prstGeom prst="roundRect">
            <a:avLst>
              <a:gd name="adj" fmla="val 10000"/>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用户 / AI</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3" name="Right Arrow 12"/>
          <p:cNvSpPr/>
          <p:nvPr/>
        </p:nvSpPr>
        <p:spPr>
          <a:xfrm>
            <a:off x="3759200" y="2980690"/>
            <a:ext cx="328930" cy="109855"/>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4" name="Rounded Rectangle 13"/>
          <p:cNvSpPr/>
          <p:nvPr/>
        </p:nvSpPr>
        <p:spPr>
          <a:xfrm>
            <a:off x="3896614" y="2752344"/>
            <a:ext cx="822960" cy="566928"/>
          </a:xfrm>
          <a:prstGeom prst="roundRect">
            <a:avLst>
              <a:gd name="adj" fmla="val 10000"/>
            </a:avLst>
          </a:prstGeom>
          <a:noFill/>
          <a:ln w="12700">
            <a:noFill/>
          </a:ln>
          <a:effectLst/>
          <a:extLst>
            <a:ext uri="{909E8E84-426E-40DD-AFC4-6F175D3DCCD1}">
              <a14:hiddenFill xmlns:a14="http://schemas.microsoft.com/office/drawing/2010/main">
                <a:solidFill>
                  <a:srgbClr val="FFFFFF"/>
                </a:solidFill>
              </a14:hiddenFill>
            </a:ext>
          </a:ex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污水</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5" name="Right Arrow 14"/>
          <p:cNvSpPr/>
          <p:nvPr/>
        </p:nvSpPr>
        <p:spPr>
          <a:xfrm>
            <a:off x="4604385" y="2980690"/>
            <a:ext cx="328930" cy="109855"/>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6" name="Rounded Rectangle 15"/>
          <p:cNvSpPr/>
          <p:nvPr/>
        </p:nvSpPr>
        <p:spPr>
          <a:xfrm>
            <a:off x="4884166" y="2752344"/>
            <a:ext cx="1408176" cy="566928"/>
          </a:xfrm>
          <a:prstGeom prst="roundRect">
            <a:avLst>
              <a:gd name="adj" fmla="val 10000"/>
            </a:avLst>
          </a:prstGeom>
          <a:noFill/>
          <a:ln w="12700">
            <a:noFill/>
          </a:ln>
          <a:effectLst/>
          <a:extLst>
            <a:ext uri="{909E8E84-426E-40DD-AFC4-6F175D3DCCD1}">
              <a14:hiddenFill xmlns:a14="http://schemas.microsoft.com/office/drawing/2010/main">
                <a:solidFill>
                  <a:srgbClr val="FFFFFF"/>
                </a:solidFill>
              </a14:hiddenFill>
            </a:ext>
          </a:ex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再生回用 / 排放</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7" name="Rounded Rectangle 16"/>
          <p:cNvSpPr/>
          <p:nvPr/>
        </p:nvSpPr>
        <p:spPr>
          <a:xfrm>
            <a:off x="640080" y="3797300"/>
            <a:ext cx="1417320" cy="43891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外延系统</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58" name="TextBox 17"/>
          <p:cNvSpPr txBox="1"/>
          <p:nvPr/>
        </p:nvSpPr>
        <p:spPr>
          <a:xfrm>
            <a:off x="2103120" y="3749739"/>
            <a:ext cx="4297680" cy="534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给水管网、再生水厂、用户、AI 数据中心、污水厂、再生水与污水等。</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59" name="Rounded Rectangle 18"/>
          <p:cNvSpPr/>
          <p:nvPr/>
        </p:nvSpPr>
        <p:spPr>
          <a:xfrm>
            <a:off x="640080" y="4662805"/>
            <a:ext cx="1417320" cy="43891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约束因素</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60" name="TextBox 19"/>
          <p:cNvSpPr txBox="1"/>
          <p:nvPr/>
        </p:nvSpPr>
        <p:spPr>
          <a:xfrm>
            <a:off x="2103120" y="4742244"/>
            <a:ext cx="4297680" cy="280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特殊气候、供水余量、潜在水回用量等输入。</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63" name="Rounded Rectangle 22"/>
          <p:cNvSpPr/>
          <p:nvPr/>
        </p:nvSpPr>
        <p:spPr>
          <a:xfrm>
            <a:off x="6675120" y="914400"/>
            <a:ext cx="5029200" cy="495604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64" name="Rectangle 23"/>
          <p:cNvSpPr/>
          <p:nvPr/>
        </p:nvSpPr>
        <p:spPr>
          <a:xfrm>
            <a:off x="6693408" y="932688"/>
            <a:ext cx="4992624"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研究目的与意义</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865" name="TextBox 24"/>
          <p:cNvSpPr txBox="1"/>
          <p:nvPr/>
        </p:nvSpPr>
        <p:spPr>
          <a:xfrm>
            <a:off x="6903720" y="1517904"/>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研究目的</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66" name="TextBox 25"/>
          <p:cNvSpPr txBox="1"/>
          <p:nvPr/>
        </p:nvSpPr>
        <p:spPr>
          <a:xfrm>
            <a:off x="6903720" y="1828800"/>
            <a:ext cx="461772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回答城市人工水系统对 AI 节点接入的代谢响应与条件化承载边界。</a:t>
            </a:r>
            <a:endParaRPr lang="zh-CN" altLang="en-US" sz="1400" b="0" i="0">
              <a:solidFill>
                <a:srgbClr val="1F2A33"/>
              </a:solidFill>
              <a:latin typeface="微软雅黑" panose="020B0503020204020204" pitchFamily="34" charset="-122"/>
              <a:ea typeface="微软雅黑" panose="020B0503020204020204" pitchFamily="34" charset="-122"/>
            </a:endParaRPr>
          </a:p>
        </p:txBody>
      </p:sp>
      <p:cxnSp>
        <p:nvCxnSpPr>
          <p:cNvPr id="867" name="Connector 26"/>
          <p:cNvCxnSpPr/>
          <p:nvPr/>
        </p:nvCxnSpPr>
        <p:spPr>
          <a:xfrm>
            <a:off x="6903720" y="2516123"/>
            <a:ext cx="457200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868" name="TextBox 27"/>
          <p:cNvSpPr txBox="1"/>
          <p:nvPr/>
        </p:nvSpPr>
        <p:spPr>
          <a:xfrm>
            <a:off x="6903720" y="2570988"/>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研究意义</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69" name="TextBox 28"/>
          <p:cNvSpPr txBox="1"/>
          <p:nvPr/>
        </p:nvSpPr>
        <p:spPr>
          <a:xfrm>
            <a:off x="6903720" y="2881883"/>
            <a:ext cx="4617720" cy="107569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1) 算力节点视作城市物理负荷： 让 算力—水耗 账目真正打通；</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2) 为规划与运行提供承载边界判定；</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3) 补充面向 AI 节点链的水系统计量学。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70" name="TextBox 29"/>
          <p:cNvSpPr txBox="1"/>
          <p:nvPr/>
        </p:nvSpPr>
        <p:spPr>
          <a:xfrm>
            <a:off x="6903720" y="4152645"/>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主要贡献</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71" name="TextBox 30"/>
          <p:cNvSpPr txBox="1"/>
          <p:nvPr/>
        </p:nvSpPr>
        <p:spPr>
          <a:xfrm>
            <a:off x="6903720" y="4463541"/>
            <a:ext cx="4617720" cy="813435"/>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构建 CAWCC 指标；建立 AI 节点接入后的城市水代谢模型；</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提出条件化承载边界与主导瓶颈。</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72" name="Rectangle 31"/>
          <p:cNvSpPr/>
          <p:nvPr/>
        </p:nvSpPr>
        <p:spPr>
          <a:xfrm>
            <a:off x="484632" y="6016752"/>
            <a:ext cx="11219688" cy="5029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FFFFFF"/>
                </a:solidFill>
                <a:latin typeface="微软雅黑" panose="020B0503020204020204" pitchFamily="34" charset="-122"/>
                <a:ea typeface="微软雅黑" panose="020B0503020204020204" pitchFamily="34" charset="-122"/>
              </a:rPr>
              <a:t>研究对象 = AI 节点接入后的城市水代谢响应      核心输出 = CAWCC + 主导瓶颈</a:t>
            </a:r>
            <a:endParaRPr lang="zh-CN" altLang="en-US" sz="1600" b="1" i="0">
              <a:solidFill>
                <a:srgbClr val="FFFFFF"/>
              </a:solidFill>
              <a:latin typeface="微软雅黑" panose="020B0503020204020204" pitchFamily="34" charset="-122"/>
              <a:ea typeface="微软雅黑" panose="020B0503020204020204" pitchFamily="34" charset="-122"/>
            </a:endParaRPr>
          </a:p>
        </p:txBody>
      </p:sp>
      <p:cxnSp>
        <p:nvCxnSpPr>
          <p:cNvPr id="873" name="Connector 26"/>
          <p:cNvCxnSpPr/>
          <p:nvPr/>
        </p:nvCxnSpPr>
        <p:spPr>
          <a:xfrm>
            <a:off x="6903720" y="4137913"/>
            <a:ext cx="457200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74" name=""/>
        <p:cNvGrpSpPr/>
        <p:nvPr/>
      </p:nvGrpSpPr>
      <p:grpSpPr>
        <a:xfrm>
          <a:off x="0" y="0"/>
          <a:ext cx="0" cy="0"/>
          <a:chOff x="0" y="0"/>
          <a:chExt cx="0" cy="0"/>
        </a:xfrm>
      </p:grpSpPr>
      <p:sp>
        <p:nvSpPr>
          <p:cNvPr id="877" name="TextBox 4"/>
          <p:cNvSpPr txBox="1"/>
          <p:nvPr/>
        </p:nvSpPr>
        <p:spPr>
          <a:xfrm>
            <a:off x="731520" y="1645920"/>
            <a:ext cx="4206240" cy="1621790"/>
          </a:xfrm>
          <a:prstGeom prst="rect">
            <a:avLst/>
          </a:prstGeom>
          <a:noFill/>
        </p:spPr>
        <p:txBody>
          <a:bodyPr wrap="square" lIns="27432" tIns="13716" rIns="27432" bIns="13716" anchor="t">
            <a:spAutoFit/>
          </a:bodyPr>
          <a:lstStyle/>
          <a:p>
            <a:pPr algn="l">
              <a:lnSpc>
                <a:spcPct val="108000"/>
              </a:lnSpc>
            </a:pPr>
            <a:r>
              <a:rPr lang="zh-CN" altLang="en-US" sz="9600" b="1" i="0">
                <a:solidFill>
                  <a:srgbClr val="005375"/>
                </a:solidFill>
                <a:latin typeface="微软雅黑" panose="020B0503020204020204" pitchFamily="34" charset="-122"/>
                <a:ea typeface="微软雅黑" panose="020B0503020204020204" pitchFamily="34" charset="-122"/>
              </a:rPr>
              <a:t>02</a:t>
            </a:r>
            <a:endParaRPr lang="zh-CN" altLang="en-US" sz="9600" b="1" i="0">
              <a:solidFill>
                <a:srgbClr val="005375"/>
              </a:solidFill>
              <a:latin typeface="微软雅黑" panose="020B0503020204020204" pitchFamily="34" charset="-122"/>
              <a:ea typeface="微软雅黑" panose="020B0503020204020204" pitchFamily="34" charset="-122"/>
            </a:endParaRPr>
          </a:p>
        </p:txBody>
      </p:sp>
      <p:sp>
        <p:nvSpPr>
          <p:cNvPr id="878" name="TextBox 5"/>
          <p:cNvSpPr txBox="1"/>
          <p:nvPr/>
        </p:nvSpPr>
        <p:spPr>
          <a:xfrm>
            <a:off x="896112" y="326440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TWO</a:t>
            </a:r>
            <a:endParaRPr lang="zh-CN" altLang="en-US" sz="1300" b="0" i="0" spc="300">
              <a:solidFill>
                <a:srgbClr val="8CA3AF"/>
              </a:solidFill>
              <a:latin typeface="Arial" panose="020B0604020202020204"/>
              <a:ea typeface="Arial" panose="020B0604020202020204"/>
            </a:endParaRPr>
          </a:p>
        </p:txBody>
      </p:sp>
      <p:sp>
        <p:nvSpPr>
          <p:cNvPr id="879" name="TextBox 6"/>
          <p:cNvSpPr txBox="1"/>
          <p:nvPr/>
        </p:nvSpPr>
        <p:spPr>
          <a:xfrm>
            <a:off x="786384" y="3611880"/>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国内外研究现状与研究缺口</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881" name="Rounded Rectangle 8"/>
          <p:cNvSpPr/>
          <p:nvPr>
            <p:custDataLst>
              <p:tags r:id="rId1"/>
            </p:custDataLst>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2" name="Rectangle 9"/>
          <p:cNvSpPr/>
          <p:nvPr>
            <p:custDataLst>
              <p:tags r:id="rId2"/>
            </p:custDataLst>
          </p:nvPr>
        </p:nvSpPr>
        <p:spPr>
          <a:xfrm>
            <a:off x="5760720" y="1618488"/>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1</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3" name="TextBox 10"/>
          <p:cNvSpPr txBox="1"/>
          <p:nvPr>
            <p:custDataLst>
              <p:tags r:id="rId3"/>
            </p:custDataLst>
          </p:nvPr>
        </p:nvSpPr>
        <p:spPr>
          <a:xfrm>
            <a:off x="6537960" y="1741678"/>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算力侧的能耗与水足迹研究已较为完整</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84" name="Rounded Rectangle 11"/>
          <p:cNvSpPr/>
          <p:nvPr>
            <p:custDataLst>
              <p:tags r:id="rId4"/>
            </p:custDataLst>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5" name="Rectangle 12"/>
          <p:cNvSpPr/>
          <p:nvPr>
            <p:custDataLst>
              <p:tags r:id="rId5"/>
            </p:custDataLst>
          </p:nvPr>
        </p:nvSpPr>
        <p:spPr>
          <a:xfrm>
            <a:off x="5760720" y="3063240"/>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2</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6" name="TextBox 13"/>
          <p:cNvSpPr txBox="1"/>
          <p:nvPr>
            <p:custDataLst>
              <p:tags r:id="rId6"/>
            </p:custDataLst>
          </p:nvPr>
        </p:nvSpPr>
        <p:spPr>
          <a:xfrm>
            <a:off x="6537960" y="3048635"/>
            <a:ext cx="4937759" cy="57785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算力能耗研究与城市水代谢模型各自孤立，缺乏涵盖“取-供-用-排-回”的统一系统框架</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87" name="Rounded Rectangle 14"/>
          <p:cNvSpPr/>
          <p:nvPr>
            <p:custDataLst>
              <p:tags r:id="rId7"/>
            </p:custDataLst>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8" name="Rectangle 15"/>
          <p:cNvSpPr/>
          <p:nvPr>
            <p:custDataLst>
              <p:tags r:id="rId8"/>
            </p:custDataLst>
          </p:nvPr>
        </p:nvSpPr>
        <p:spPr>
          <a:xfrm>
            <a:off x="5760720" y="4507992"/>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3</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9" name="TextBox 16"/>
          <p:cNvSpPr txBox="1"/>
          <p:nvPr>
            <p:custDataLst>
              <p:tags r:id="rId9"/>
            </p:custDataLst>
          </p:nvPr>
        </p:nvSpPr>
        <p:spPr>
          <a:xfrm>
            <a:off x="6537960" y="4631182"/>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三项核心缺口</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90" name=""/>
        <p:cNvGrpSpPr/>
        <p:nvPr/>
      </p:nvGrpSpPr>
      <p:grpSpPr>
        <a:xfrm>
          <a:off x="0" y="0"/>
          <a:ext cx="0" cy="0"/>
          <a:chOff x="0" y="0"/>
          <a:chExt cx="0" cy="0"/>
        </a:xfrm>
      </p:grpSpPr>
      <p:pic>
        <p:nvPicPr>
          <p:cNvPr id="891" name="图片 5"/>
          <p:cNvPicPr>
            <a:picLocks noChangeAspect="1"/>
          </p:cNvPicPr>
          <p:nvPr/>
        </p:nvPicPr>
        <p:blipFill>
          <a:blip r:embed="rId1"/>
          <a:stretch>
            <a:fillRect/>
          </a:stretch>
        </p:blipFill>
        <p:spPr>
          <a:xfrm>
            <a:off x="866775" y="1285240"/>
            <a:ext cx="4130040" cy="3847465"/>
          </a:xfrm>
          <a:prstGeom prst="rect">
            <a:avLst/>
          </a:prstGeom>
          <a:ln w="19050">
            <a:noFill/>
          </a:ln>
        </p:spPr>
      </p:pic>
      <p:sp>
        <p:nvSpPr>
          <p:cNvPr id="892" name="文本框 6"/>
          <p:cNvSpPr txBox="1"/>
          <p:nvPr/>
        </p:nvSpPr>
        <p:spPr>
          <a:xfrm>
            <a:off x="1426845" y="5355590"/>
            <a:ext cx="3522345" cy="275590"/>
          </a:xfrm>
          <a:prstGeom prst="rect">
            <a:avLst/>
          </a:prstGeom>
        </p:spPr>
        <p:txBody>
          <a:bodyPr wrap="square">
            <a:spAutoFit/>
          </a:bodyPr>
          <a:p>
            <a:pPr algn="ctr"/>
            <a:r>
              <a:rPr lang="en-US" altLang="zh-CN" sz="1200" b="1">
                <a:latin typeface="微软雅黑" panose="020B0503020204020204" pitchFamily="34" charset="-122"/>
                <a:ea typeface="微软雅黑" panose="020B0503020204020204" pitchFamily="34" charset="-122"/>
              </a:rPr>
              <a:t>Xiao et al. Nature Sustainability 2025</a:t>
            </a:r>
            <a:endParaRPr lang="en-US" altLang="zh-CN" sz="1200" b="1">
              <a:latin typeface="微软雅黑" panose="020B0503020204020204" pitchFamily="34" charset="-122"/>
              <a:ea typeface="微软雅黑" panose="020B0503020204020204" pitchFamily="34" charset="-122"/>
            </a:endParaRPr>
          </a:p>
        </p:txBody>
      </p:sp>
      <p:sp>
        <p:nvSpPr>
          <p:cNvPr id="893" name="文本框 8"/>
          <p:cNvSpPr txBox="1"/>
          <p:nvPr/>
        </p:nvSpPr>
        <p:spPr>
          <a:xfrm>
            <a:off x="5875020" y="1285875"/>
            <a:ext cx="5123815" cy="1427480"/>
          </a:xfrm>
          <a:prstGeom prst="rect">
            <a:avLst/>
          </a:prstGeom>
          <a:solidFill>
            <a:srgbClr val="005375"/>
          </a:solidFill>
        </p:spPr>
        <p:txBody>
          <a:bodyPr wrap="square">
            <a:no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随着</a:t>
            </a:r>
            <a:r>
              <a:rPr lang="en-US" altLang="zh-CN"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服务器规模增长，其生命周期水足迹呈快速上升趋势</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94" name="文本框 9"/>
          <p:cNvSpPr txBox="1"/>
          <p:nvPr/>
        </p:nvSpPr>
        <p:spPr>
          <a:xfrm>
            <a:off x="5875020" y="1998980"/>
            <a:ext cx="5111115" cy="3631565"/>
          </a:xfrm>
          <a:prstGeom prst="rect">
            <a:avLst/>
          </a:prstGeom>
          <a:solidFill>
            <a:schemeClr val="bg2"/>
          </a:solidFill>
        </p:spPr>
        <p:txBody>
          <a:bodyPr>
            <a:noAutofit/>
          </a:bodyPr>
          <a:p>
            <a:pPr indent="457200" algn="l">
              <a:lnSpc>
                <a:spcPct val="200000"/>
              </a:lnSpc>
              <a:buNone/>
            </a:pPr>
            <a:r>
              <a:rPr lang="zh-CN" altLang="en-US">
                <a:latin typeface="微软雅黑" panose="020B0503020204020204" pitchFamily="34" charset="-122"/>
                <a:ea typeface="微软雅黑" panose="020B0503020204020204" pitchFamily="34" charset="-122"/>
                <a:cs typeface="微软雅黑" panose="020B0503020204020204" pitchFamily="34" charset="-122"/>
              </a:rPr>
              <a:t>随着大规模人工智能模型快速发展，</a:t>
            </a:r>
            <a:r>
              <a:rPr lang="en-US" altLang="zh-CN">
                <a:latin typeface="微软雅黑" panose="020B0503020204020204" pitchFamily="34" charset="-122"/>
                <a:ea typeface="微软雅黑" panose="020B0503020204020204" pitchFamily="34" charset="-122"/>
                <a:cs typeface="微软雅黑" panose="020B0503020204020204" pitchFamily="34" charset="-122"/>
              </a:rPr>
              <a:t>AI</a:t>
            </a:r>
            <a:r>
              <a:rPr lang="zh-CN" altLang="en-US">
                <a:latin typeface="微软雅黑" panose="020B0503020204020204" pitchFamily="34" charset="-122"/>
                <a:ea typeface="微软雅黑" panose="020B0503020204020204" pitchFamily="34" charset="-122"/>
                <a:cs typeface="微软雅黑" panose="020B0503020204020204" pitchFamily="34" charset="-122"/>
              </a:rPr>
              <a:t>服务器部署规模持续扩大，其运行过程产生的水资源环境影响逐渐受到关注。研究表明，</a:t>
            </a:r>
            <a:r>
              <a:rPr lang="en-US" altLang="zh-CN">
                <a:latin typeface="微软雅黑" panose="020B0503020204020204" pitchFamily="34" charset="-122"/>
                <a:ea typeface="微软雅黑" panose="020B0503020204020204" pitchFamily="34" charset="-122"/>
                <a:cs typeface="微软雅黑" panose="020B0503020204020204" pitchFamily="34" charset="-122"/>
              </a:rPr>
              <a:t>AI</a:t>
            </a:r>
            <a:r>
              <a:rPr lang="zh-CN" altLang="en-US">
                <a:latin typeface="微软雅黑" panose="020B0503020204020204" pitchFamily="34" charset="-122"/>
                <a:ea typeface="微软雅黑" panose="020B0503020204020204" pitchFamily="34" charset="-122"/>
                <a:cs typeface="微软雅黑" panose="020B0503020204020204" pitchFamily="34" charset="-122"/>
              </a:rPr>
              <a:t>服务器水足迹不仅随计算规模增长而增加，同时受到能源结构、服务器效率及部署区域条件影响，不同发展情景下未来水资源压力存在明显差异。</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895" name="直接连接符 11"/>
          <p:cNvCxnSpPr/>
          <p:nvPr/>
        </p:nvCxnSpPr>
        <p:spPr>
          <a:xfrm>
            <a:off x="5381625" y="1021080"/>
            <a:ext cx="0" cy="4970145"/>
          </a:xfrm>
          <a:prstGeom prst="line">
            <a:avLst/>
          </a:prstGeom>
          <a:ln w="3492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896" name="圆角矩形 12"/>
          <p:cNvSpPr/>
          <p:nvPr/>
        </p:nvSpPr>
        <p:spPr>
          <a:xfrm>
            <a:off x="588010" y="969645"/>
            <a:ext cx="11192510" cy="5184775"/>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7" name="矩形 13"/>
          <p:cNvSpPr/>
          <p:nvPr/>
        </p:nvSpPr>
        <p:spPr>
          <a:xfrm>
            <a:off x="1140460" y="1501775"/>
            <a:ext cx="3940175" cy="3630930"/>
          </a:xfrm>
          <a:prstGeom prst="rect">
            <a:avLst/>
          </a:prstGeom>
          <a:noFill/>
          <a:ln w="158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8" name="圆角矩形 14"/>
          <p:cNvSpPr/>
          <p:nvPr/>
        </p:nvSpPr>
        <p:spPr>
          <a:xfrm>
            <a:off x="799465" y="1285240"/>
            <a:ext cx="282575" cy="40767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9" name="Title 1"/>
          <p:cNvSpPr>
            <a:spLocks noGrp="1"/>
          </p:cNvSpPr>
          <p:nvPr>
            <p:ph type="title"/>
          </p:nvPr>
        </p:nvSpPr>
        <p:spPr>
          <a:xfrm>
            <a:off x="503555" y="118745"/>
            <a:ext cx="11191240" cy="621665"/>
          </a:xfrm>
        </p:spPr>
        <p:txBody>
          <a:bodyPr wrap="square" lIns="0" tIns="18288" rIns="0" bIns="18288" anchor="ctr">
            <a:normAutofit/>
          </a:bodyPr>
          <a:lstStyle/>
          <a:p>
            <a:pPr algn="l"/>
            <a:r>
              <a:rPr lang="en-US" altLang="zh-CN" sz="2800" b="1" i="0">
                <a:solidFill>
                  <a:srgbClr val="000000"/>
                </a:solidFill>
                <a:latin typeface="微软雅黑" panose="020B0503020204020204" pitchFamily="34" charset="-122"/>
                <a:ea typeface="微软雅黑" panose="020B0503020204020204" pitchFamily="34" charset="-122"/>
              </a:rPr>
              <a:t>AI</a:t>
            </a:r>
            <a:r>
              <a:rPr lang="zh-CN" altLang="en-US" sz="2800" b="1" i="0">
                <a:solidFill>
                  <a:srgbClr val="000000"/>
                </a:solidFill>
                <a:latin typeface="微软雅黑" panose="020B0503020204020204" pitchFamily="34" charset="-122"/>
                <a:ea typeface="微软雅黑" panose="020B0503020204020204" pitchFamily="34" charset="-122"/>
              </a:rPr>
              <a:t>算力扩张带来持续增长的水资源环境压力</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文本框 8"/>
          <p:cNvSpPr txBox="1"/>
          <p:nvPr/>
        </p:nvSpPr>
        <p:spPr>
          <a:xfrm>
            <a:off x="1826895" y="1174750"/>
            <a:ext cx="8398510" cy="518160"/>
          </a:xfrm>
          <a:prstGeom prst="rect">
            <a:avLst/>
          </a:prstGeom>
          <a:solidFill>
            <a:srgbClr val="005375"/>
          </a:solidFill>
        </p:spPr>
        <p:txBody>
          <a:bodyPr wrap="square">
            <a:no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算力布局与区域水资源条件存在潜在错配。</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9"/>
          <p:cNvSpPr txBox="1"/>
          <p:nvPr/>
        </p:nvSpPr>
        <p:spPr>
          <a:xfrm>
            <a:off x="1826895" y="1692910"/>
            <a:ext cx="8398510" cy="1439545"/>
          </a:xfrm>
          <a:prstGeom prst="rect">
            <a:avLst/>
          </a:prstGeom>
          <a:solidFill>
            <a:schemeClr val="bg2"/>
          </a:solidFill>
        </p:spPr>
        <p:txBody>
          <a:bodyPr>
            <a:noAutofit/>
          </a:bodyPr>
          <a:p>
            <a:pPr indent="457200" algn="l">
              <a:lnSpc>
                <a:spcPct val="150000"/>
              </a:lnSpc>
              <a:buNone/>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针对中国数据中心发展趋势，已有研究开展设施尺度水足迹核算，发现不同地区由于能源结构、冷却方式和水资源条件差异，数据中心水环境影响存在明显空间分化。部分算力集聚区域同时面临较高水资源压力，体现出算力布局与区域水资源禀赋之间的潜在矛盾。 </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200000"/>
              </a:lnSpc>
              <a:buFont typeface="Wingdings" panose="05000000000000000000" charset="0"/>
              <a:buChar char="l"/>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圆角矩形 12"/>
          <p:cNvSpPr/>
          <p:nvPr/>
        </p:nvSpPr>
        <p:spPr>
          <a:xfrm>
            <a:off x="588010" y="1080770"/>
            <a:ext cx="11192510" cy="5073650"/>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Title 1"/>
          <p:cNvSpPr>
            <a:spLocks noGrp="1"/>
          </p:cNvSpPr>
          <p:nvPr>
            <p:ph type="title"/>
          </p:nvPr>
        </p:nvSpPr>
        <p:spPr>
          <a:xfrm>
            <a:off x="503555" y="118745"/>
            <a:ext cx="11191240" cy="621665"/>
          </a:xfrm>
        </p:spPr>
        <p:txBody>
          <a:bodyPr wrap="square" lIns="0" tIns="18288" rIns="0" bIns="18288" anchor="ctr">
            <a:normAutofit/>
          </a:bodyPr>
          <a:lstStyle/>
          <a:p>
            <a:pPr algn="l"/>
            <a:r>
              <a:rPr lang="zh-CN" altLang="en-US" sz="2800" b="1" i="0">
                <a:solidFill>
                  <a:srgbClr val="000000"/>
                </a:solidFill>
                <a:latin typeface="微软雅黑" panose="020B0503020204020204" pitchFamily="34" charset="-122"/>
                <a:ea typeface="微软雅黑" panose="020B0503020204020204" pitchFamily="34" charset="-122"/>
              </a:rPr>
              <a:t>中国数据中心水足迹存在明显空间差异</a:t>
            </a:r>
            <a:endParaRPr lang="zh-CN" altLang="en-US" sz="2800" b="1" i="0">
              <a:solidFill>
                <a:srgbClr val="000000"/>
              </a:solidFill>
              <a:latin typeface="微软雅黑" panose="020B0503020204020204" pitchFamily="34" charset="-122"/>
              <a:ea typeface="微软雅黑" panose="020B0503020204020204" pitchFamily="34" charset="-122"/>
            </a:endParaRPr>
          </a:p>
        </p:txBody>
      </p:sp>
      <p:pic>
        <p:nvPicPr>
          <p:cNvPr id="18" name="图片 3"/>
          <p:cNvPicPr>
            <a:picLocks noChangeAspect="1"/>
          </p:cNvPicPr>
          <p:nvPr/>
        </p:nvPicPr>
        <p:blipFill>
          <a:blip r:embed="rId1"/>
          <a:stretch>
            <a:fillRect/>
          </a:stretch>
        </p:blipFill>
        <p:spPr>
          <a:xfrm>
            <a:off x="2279015" y="3167380"/>
            <a:ext cx="7433945" cy="2924175"/>
          </a:xfrm>
          <a:prstGeom prst="rect">
            <a:avLst/>
          </a:prstGeom>
        </p:spPr>
      </p:pic>
      <p:sp>
        <p:nvSpPr>
          <p:cNvPr id="19" name="文本框 1"/>
          <p:cNvSpPr txBox="1"/>
          <p:nvPr/>
        </p:nvSpPr>
        <p:spPr>
          <a:xfrm>
            <a:off x="4418965" y="2841625"/>
            <a:ext cx="3154045" cy="244475"/>
          </a:xfrm>
          <a:prstGeom prst="rect">
            <a:avLst/>
          </a:prstGeom>
        </p:spPr>
        <p:txBody>
          <a:bodyPr>
            <a:noAutofit/>
          </a:bodyPr>
          <a:p>
            <a:r>
              <a:rPr lang="en-US" altLang="zh-CN" sz="1400" b="1">
                <a:latin typeface="微软雅黑" panose="020B0503020204020204" pitchFamily="34" charset="-122"/>
                <a:ea typeface="微软雅黑" panose="020B0503020204020204" pitchFamily="34" charset="-122"/>
              </a:rPr>
              <a:t>Jiang et al. Applied Energy 2025</a:t>
            </a:r>
            <a:endParaRPr lang="en-US" altLang="zh-CN" sz="1400" b="1">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 name="图片 3"/>
          <p:cNvPicPr>
            <a:picLocks noChangeAspect="1"/>
          </p:cNvPicPr>
          <p:nvPr/>
        </p:nvPicPr>
        <p:blipFill>
          <a:blip r:embed="rId1"/>
          <a:stretch>
            <a:fillRect/>
          </a:stretch>
        </p:blipFill>
        <p:spPr>
          <a:xfrm>
            <a:off x="617855" y="3515360"/>
            <a:ext cx="6453505" cy="2788285"/>
          </a:xfrm>
          <a:prstGeom prst="rect">
            <a:avLst/>
          </a:prstGeom>
        </p:spPr>
      </p:pic>
      <p:pic>
        <p:nvPicPr>
          <p:cNvPr id="25" name="图片 1"/>
          <p:cNvPicPr>
            <a:picLocks noChangeAspect="1"/>
          </p:cNvPicPr>
          <p:nvPr/>
        </p:nvPicPr>
        <p:blipFill>
          <a:blip r:embed="rId2"/>
          <a:stretch>
            <a:fillRect/>
          </a:stretch>
        </p:blipFill>
        <p:spPr>
          <a:xfrm>
            <a:off x="328930" y="1059815"/>
            <a:ext cx="6955155" cy="2387600"/>
          </a:xfrm>
          <a:prstGeom prst="rect">
            <a:avLst/>
          </a:prstGeom>
        </p:spPr>
      </p:pic>
      <p:sp>
        <p:nvSpPr>
          <p:cNvPr id="14" name="文本框 8"/>
          <p:cNvSpPr txBox="1"/>
          <p:nvPr/>
        </p:nvSpPr>
        <p:spPr>
          <a:xfrm>
            <a:off x="7228840" y="1158875"/>
            <a:ext cx="4800600" cy="379730"/>
          </a:xfrm>
          <a:prstGeom prst="rect">
            <a:avLst/>
          </a:prstGeom>
          <a:solidFill>
            <a:srgbClr val="005375"/>
          </a:solidFill>
        </p:spPr>
        <p:txBody>
          <a:bodyPr wrap="square">
            <a:noAutofit/>
          </a:bodyPr>
          <a:p>
            <a:pPr algn="ctr"/>
            <a:r>
              <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数据中心水耗受到冷却架构和气象条件影响</a:t>
            </a:r>
            <a:endPar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9"/>
          <p:cNvSpPr txBox="1"/>
          <p:nvPr/>
        </p:nvSpPr>
        <p:spPr>
          <a:xfrm>
            <a:off x="7228840" y="1538605"/>
            <a:ext cx="4800600" cy="1818640"/>
          </a:xfrm>
          <a:prstGeom prst="rect">
            <a:avLst/>
          </a:prstGeom>
          <a:solidFill>
            <a:schemeClr val="bg2"/>
          </a:solidFill>
        </p:spPr>
        <p:txBody>
          <a:bodyPr>
            <a:noAutofit/>
          </a:bodyPr>
          <a:p>
            <a:pPr indent="457200" algn="l">
              <a:lnSpc>
                <a:spcPct val="130000"/>
              </a:lnSpc>
              <a:spcBef>
                <a:spcPts val="0"/>
              </a:spcBef>
              <a:spcAft>
                <a:spcPts val="0"/>
              </a:spcAft>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数据中心水资源消耗并非固定的单位算力耗水量，而受到冷却架构、环境温度和运行条件共同影响。研究比较不同冷却方案发现，湿式冷却等方式具有明显季节波动特征，高温时期水耗显著增加，而冷却技术优化能够改变水、能、碳之间的耦合关系。 </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200000"/>
              </a:lnSpc>
              <a:buFont typeface="Wingdings" panose="05000000000000000000" charset="0"/>
              <a:buChar char="l"/>
            </a:pP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文本框 8"/>
          <p:cNvSpPr txBox="1"/>
          <p:nvPr/>
        </p:nvSpPr>
        <p:spPr>
          <a:xfrm>
            <a:off x="7228840" y="3616325"/>
            <a:ext cx="4800600" cy="630555"/>
          </a:xfrm>
          <a:prstGeom prst="rect">
            <a:avLst/>
          </a:prstGeom>
          <a:solidFill>
            <a:srgbClr val="005375"/>
          </a:solidFill>
        </p:spPr>
        <p:txBody>
          <a:bodyPr wrap="square">
            <a:noAutofit/>
          </a:bodyPr>
          <a:p>
            <a:pPr algn="ctr"/>
            <a:r>
              <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月度水资源消耗与节水潜力变化规律</a:t>
            </a:r>
            <a:endPar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a:endPar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9"/>
          <p:cNvSpPr txBox="1"/>
          <p:nvPr/>
        </p:nvSpPr>
        <p:spPr>
          <a:xfrm>
            <a:off x="7228840" y="4033520"/>
            <a:ext cx="4800600" cy="2033905"/>
          </a:xfrm>
          <a:prstGeom prst="rect">
            <a:avLst/>
          </a:prstGeom>
          <a:solidFill>
            <a:schemeClr val="bg2"/>
          </a:solidFill>
        </p:spPr>
        <p:txBody>
          <a:bodyPr>
            <a:noAutofit/>
          </a:bodyPr>
          <a:p>
            <a:pPr indent="457200" algn="l">
              <a:lnSpc>
                <a:spcPct val="150000"/>
              </a:lnSpc>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已有研究逐渐从年度水足迹核算转向月尺度甚至小时尺度动态模拟，发现数据中心冷却水需求具有明显季节变化规律。蒸发冷却类方案夏季水耗最高，可能形成短时间尺度资源压力，而年度平均指标容易掩盖峰值负荷及基础设施约束。</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文本框 4"/>
          <p:cNvSpPr txBox="1"/>
          <p:nvPr/>
        </p:nvSpPr>
        <p:spPr>
          <a:xfrm>
            <a:off x="7268210" y="3041015"/>
            <a:ext cx="4761865" cy="424815"/>
          </a:xfrm>
          <a:prstGeom prst="rect">
            <a:avLst/>
          </a:prstGeom>
        </p:spPr>
        <p:txBody>
          <a:bodyPr>
            <a:noAutofit/>
          </a:bodyPr>
          <a:p>
            <a:r>
              <a:rPr lang="en-US" altLang="zh-CN" sz="1600" b="1">
                <a:latin typeface="微软雅黑" panose="020B0503020204020204" pitchFamily="34" charset="-122"/>
                <a:ea typeface="微软雅黑" panose="020B0503020204020204" pitchFamily="34" charset="-122"/>
              </a:rPr>
              <a:t>Alissa et al. Nature 2025</a:t>
            </a:r>
            <a:endParaRPr lang="en-US" altLang="zh-CN" sz="1600" b="1">
              <a:latin typeface="微软雅黑" panose="020B0503020204020204" pitchFamily="34" charset="-122"/>
              <a:ea typeface="微软雅黑" panose="020B0503020204020204" pitchFamily="34" charset="-122"/>
            </a:endParaRPr>
          </a:p>
        </p:txBody>
      </p:sp>
      <p:sp>
        <p:nvSpPr>
          <p:cNvPr id="35" name="文本框 5"/>
          <p:cNvSpPr txBox="1"/>
          <p:nvPr/>
        </p:nvSpPr>
        <p:spPr>
          <a:xfrm>
            <a:off x="7228840" y="5760403"/>
            <a:ext cx="5080000" cy="306705"/>
          </a:xfrm>
          <a:prstGeom prst="rect">
            <a:avLst/>
          </a:prstGeom>
        </p:spPr>
        <p:txBody>
          <a:bodyPr>
            <a:spAutoFit/>
          </a:bodyPr>
          <a:p>
            <a:r>
              <a:rPr lang="en-US" altLang="zh-CN" sz="1400" b="1">
                <a:latin typeface="微软雅黑" panose="020B0503020204020204" pitchFamily="34" charset="-122"/>
                <a:ea typeface="微软雅黑" panose="020B0503020204020204" pitchFamily="34" charset="-122"/>
              </a:rPr>
              <a:t>Karimi et al. Applied Thermal Engineering 2025</a:t>
            </a:r>
            <a:endParaRPr lang="en-US" altLang="zh-CN" sz="1400" b="1">
              <a:latin typeface="微软雅黑" panose="020B0503020204020204" pitchFamily="34" charset="-122"/>
              <a:ea typeface="微软雅黑" panose="020B0503020204020204" pitchFamily="34" charset="-122"/>
            </a:endParaRPr>
          </a:p>
        </p:txBody>
      </p:sp>
      <p:sp>
        <p:nvSpPr>
          <p:cNvPr id="24" name="Title 1"/>
          <p:cNvSpPr>
            <a:spLocks noGrp="1"/>
          </p:cNvSpPr>
          <p:nvPr>
            <p:ph type="title"/>
          </p:nvPr>
        </p:nvSpPr>
        <p:spPr>
          <a:xfrm>
            <a:off x="389890" y="149225"/>
            <a:ext cx="11191240" cy="621665"/>
          </a:xfrm>
        </p:spPr>
        <p:txBody>
          <a:bodyPr wrap="square" lIns="0" tIns="18288" rIns="0" bIns="18288" anchor="ctr">
            <a:normAutofit/>
          </a:bodyPr>
          <a:lstStyle/>
          <a:p>
            <a:pPr algn="l"/>
            <a:r>
              <a:rPr lang="zh-CN" altLang="en-US" sz="2800" b="1">
                <a:latin typeface="微软雅黑" panose="020B0503020204020204" pitchFamily="34" charset="-122"/>
                <a:ea typeface="微软雅黑" panose="020B0503020204020204" pitchFamily="34" charset="-122"/>
                <a:cs typeface="微软雅黑" panose="020B0503020204020204" pitchFamily="34" charset="-122"/>
                <a:sym typeface="+mn-ea"/>
              </a:rPr>
              <a:t>数据中心水耗受气候条件等多种因素影响</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0"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国内外研究现状</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40" name="Rectangle 4"/>
          <p:cNvSpPr/>
          <p:nvPr/>
        </p:nvSpPr>
        <p:spPr>
          <a:xfrm>
            <a:off x="484632" y="787400"/>
            <a:ext cx="11219688" cy="3556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1" name="TextBox 5"/>
          <p:cNvSpPr txBox="1"/>
          <p:nvPr/>
        </p:nvSpPr>
        <p:spPr>
          <a:xfrm>
            <a:off x="621792" y="838200"/>
            <a:ext cx="3154680" cy="254000"/>
          </a:xfrm>
          <a:prstGeom prst="rect">
            <a:avLst/>
          </a:prstGeom>
          <a:noFill/>
        </p:spPr>
        <p:txBody>
          <a:bodyPr wrap="square" lIns="27432" tIns="13716" rIns="27432" bIns="13716" anchor="ctr">
            <a:spAutoFit/>
          </a:bodyPr>
          <a:lstStyle/>
          <a:p>
            <a:pPr algn="l">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知识链</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42" name="TextBox 6"/>
          <p:cNvSpPr txBox="1"/>
          <p:nvPr/>
        </p:nvSpPr>
        <p:spPr>
          <a:xfrm>
            <a:off x="4142232" y="838200"/>
            <a:ext cx="3749039" cy="254000"/>
          </a:xfrm>
          <a:prstGeom prst="rect">
            <a:avLst/>
          </a:prstGeom>
          <a:noFill/>
        </p:spPr>
        <p:txBody>
          <a:bodyPr wrap="square" lIns="27432" tIns="13716" rIns="27432" bIns="13716" anchor="ctr">
            <a:spAutoFit/>
          </a:bodyPr>
          <a:lstStyle/>
          <a:p>
            <a:pPr algn="l">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已解决：现有研究提供了什么</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43" name="TextBox 7"/>
          <p:cNvSpPr txBox="1"/>
          <p:nvPr/>
        </p:nvSpPr>
        <p:spPr>
          <a:xfrm>
            <a:off x="7982712" y="838200"/>
            <a:ext cx="4178807" cy="254000"/>
          </a:xfrm>
          <a:prstGeom prst="rect">
            <a:avLst/>
          </a:prstGeom>
          <a:noFill/>
        </p:spPr>
        <p:txBody>
          <a:bodyPr wrap="square" lIns="27432" tIns="13716" rIns="27432" bIns="13716" anchor="ctr">
            <a:spAutoFit/>
          </a:bodyPr>
          <a:lstStyle/>
          <a:p>
            <a:pPr algn="l">
              <a:lnSpc>
                <a:spcPct val="108000"/>
              </a:lnSpc>
            </a:pPr>
            <a:r>
              <a:rPr lang="zh-CN" altLang="en-US" sz="1300" b="1" i="0">
                <a:solidFill>
                  <a:srgbClr val="FFFFFF"/>
                </a:solidFill>
                <a:latin typeface="微软雅黑" panose="020B0503020204020204" pitchFamily="34" charset="-122"/>
                <a:ea typeface="微软雅黑" panose="020B0503020204020204" pitchFamily="34" charset="-122"/>
              </a:rPr>
              <a:t>未解决：为什么仍然不够</a:t>
            </a:r>
            <a:endParaRPr lang="zh-CN" altLang="en-US" sz="1300" b="1" i="0">
              <a:solidFill>
                <a:srgbClr val="FFFFFF"/>
              </a:solidFill>
              <a:latin typeface="微软雅黑" panose="020B0503020204020204" pitchFamily="34" charset="-122"/>
              <a:ea typeface="微软雅黑" panose="020B0503020204020204" pitchFamily="34" charset="-122"/>
            </a:endParaRPr>
          </a:p>
        </p:txBody>
      </p:sp>
      <p:sp>
        <p:nvSpPr>
          <p:cNvPr id="44" name="Rectangle 8"/>
          <p:cNvSpPr/>
          <p:nvPr/>
        </p:nvSpPr>
        <p:spPr>
          <a:xfrm>
            <a:off x="484632" y="12192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5" name="Rectangle 9"/>
          <p:cNvSpPr/>
          <p:nvPr/>
        </p:nvSpPr>
        <p:spPr>
          <a:xfrm>
            <a:off x="484632" y="12192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6" name="Rectangle 10"/>
          <p:cNvSpPr/>
          <p:nvPr/>
        </p:nvSpPr>
        <p:spPr>
          <a:xfrm>
            <a:off x="484632" y="12192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7" name="TextBox 11"/>
          <p:cNvSpPr txBox="1"/>
          <p:nvPr/>
        </p:nvSpPr>
        <p:spPr>
          <a:xfrm>
            <a:off x="685800" y="13081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数据中心水足迹与 WUE</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48" name="TextBox 12"/>
          <p:cNvSpPr txBox="1"/>
          <p:nvPr/>
        </p:nvSpPr>
        <p:spPr>
          <a:xfrm>
            <a:off x="4142232" y="13081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算力侧能耗与水足迹的量化方法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9" name="TextBox 13"/>
          <p:cNvSpPr txBox="1"/>
          <p:nvPr/>
        </p:nvSpPr>
        <p:spPr>
          <a:xfrm>
            <a:off x="7982712" y="13081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研究对象落在设施边界内，未进入城市系统</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0" name="Rectangle 14"/>
          <p:cNvSpPr/>
          <p:nvPr/>
        </p:nvSpPr>
        <p:spPr>
          <a:xfrm>
            <a:off x="484632" y="17145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1" name="Rectangle 15"/>
          <p:cNvSpPr/>
          <p:nvPr/>
        </p:nvSpPr>
        <p:spPr>
          <a:xfrm>
            <a:off x="484632" y="17145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2" name="Rectangle 16"/>
          <p:cNvSpPr/>
          <p:nvPr/>
        </p:nvSpPr>
        <p:spPr>
          <a:xfrm>
            <a:off x="484632" y="17145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3" name="TextBox 17"/>
          <p:cNvSpPr txBox="1"/>
          <p:nvPr/>
        </p:nvSpPr>
        <p:spPr>
          <a:xfrm>
            <a:off x="685800" y="18034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城市代谢与水—能关系</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54" name="TextBox 18"/>
          <p:cNvSpPr txBox="1"/>
          <p:nvPr/>
        </p:nvSpPr>
        <p:spPr>
          <a:xfrm>
            <a:off x="4142232" y="18034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城市尺度水—能耦合代谢模型</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5" name="TextBox 19"/>
          <p:cNvSpPr txBox="1"/>
          <p:nvPr/>
        </p:nvSpPr>
        <p:spPr>
          <a:xfrm>
            <a:off x="7982712" y="18034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未刻画 AI 算力节点这一新增负荷类型</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6" name="Rectangle 20"/>
          <p:cNvSpPr/>
          <p:nvPr/>
        </p:nvSpPr>
        <p:spPr>
          <a:xfrm>
            <a:off x="484632" y="22098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7" name="Rectangle 21"/>
          <p:cNvSpPr/>
          <p:nvPr/>
        </p:nvSpPr>
        <p:spPr>
          <a:xfrm>
            <a:off x="484632" y="22098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8" name="Rectangle 22"/>
          <p:cNvSpPr/>
          <p:nvPr/>
        </p:nvSpPr>
        <p:spPr>
          <a:xfrm>
            <a:off x="484632" y="22098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9" name="TextBox 23"/>
          <p:cNvSpPr txBox="1"/>
          <p:nvPr/>
        </p:nvSpPr>
        <p:spPr>
          <a:xfrm>
            <a:off x="685800" y="22987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AI 耗水与冷却特性</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60" name="TextBox 24"/>
          <p:cNvSpPr txBox="1"/>
          <p:nvPr/>
        </p:nvSpPr>
        <p:spPr>
          <a:xfrm>
            <a:off x="4142232" y="22987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冷却方式、气候与节水冷却的效应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1" name="TextBox 25"/>
          <p:cNvSpPr txBox="1"/>
          <p:nvPr/>
        </p:nvSpPr>
        <p:spPr>
          <a:xfrm>
            <a:off x="7982712" y="22987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多聚焦设施改造与运行优化，未回答城市承载</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2" name="Rectangle 26"/>
          <p:cNvSpPr/>
          <p:nvPr/>
        </p:nvSpPr>
        <p:spPr>
          <a:xfrm>
            <a:off x="484632" y="27051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3" name="Rectangle 27"/>
          <p:cNvSpPr/>
          <p:nvPr/>
        </p:nvSpPr>
        <p:spPr>
          <a:xfrm>
            <a:off x="484632" y="27051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4" name="Rectangle 28"/>
          <p:cNvSpPr/>
          <p:nvPr/>
        </p:nvSpPr>
        <p:spPr>
          <a:xfrm>
            <a:off x="484632" y="27051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5" name="TextBox 29"/>
          <p:cNvSpPr txBox="1"/>
          <p:nvPr/>
        </p:nvSpPr>
        <p:spPr>
          <a:xfrm>
            <a:off x="685800" y="27940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城市水系统优化配置</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66" name="TextBox 30"/>
          <p:cNvSpPr txBox="1"/>
          <p:nvPr/>
        </p:nvSpPr>
        <p:spPr>
          <a:xfrm>
            <a:off x="4142232" y="27940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城市水系统优化模型与算法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7" name="TextBox 31"/>
          <p:cNvSpPr txBox="1"/>
          <p:nvPr/>
        </p:nvSpPr>
        <p:spPr>
          <a:xfrm>
            <a:off x="7982712" y="27940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约束以传统用水为主，未纳入算力相关约束</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8" name="Rectangle 32"/>
          <p:cNvSpPr/>
          <p:nvPr/>
        </p:nvSpPr>
        <p:spPr>
          <a:xfrm>
            <a:off x="484632" y="3200400"/>
            <a:ext cx="11219688" cy="44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9" name="Rectangle 33"/>
          <p:cNvSpPr/>
          <p:nvPr/>
        </p:nvSpPr>
        <p:spPr>
          <a:xfrm>
            <a:off x="484632" y="3200400"/>
            <a:ext cx="11219688" cy="444500"/>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70" name="Rectangle 34"/>
          <p:cNvSpPr/>
          <p:nvPr/>
        </p:nvSpPr>
        <p:spPr>
          <a:xfrm>
            <a:off x="484632" y="3200400"/>
            <a:ext cx="54864" cy="4445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71" name="TextBox 35"/>
          <p:cNvSpPr txBox="1"/>
          <p:nvPr/>
        </p:nvSpPr>
        <p:spPr>
          <a:xfrm>
            <a:off x="685800" y="3289300"/>
            <a:ext cx="2971800" cy="25400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AI 方法应用</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72" name="TextBox 36"/>
          <p:cNvSpPr txBox="1"/>
          <p:nvPr/>
        </p:nvSpPr>
        <p:spPr>
          <a:xfrm>
            <a:off x="4142232" y="3289300"/>
            <a:ext cx="3657599"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AI 用于城市水系统的预测、优化与调度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73" name="TextBox 37"/>
          <p:cNvSpPr txBox="1"/>
          <p:nvPr/>
        </p:nvSpPr>
        <p:spPr>
          <a:xfrm>
            <a:off x="7982712" y="3289300"/>
            <a:ext cx="4178807" cy="254000"/>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方法成熟，但多未与 AI 算力侧形成闭环</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03" name="Rounded Rectangle 4"/>
          <p:cNvSpPr/>
          <p:nvPr>
            <p:custDataLst>
              <p:tags r:id="rId1"/>
            </p:custDataLst>
          </p:nvPr>
        </p:nvSpPr>
        <p:spPr>
          <a:xfrm>
            <a:off x="484632" y="3771900"/>
            <a:ext cx="3639312" cy="173990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04" name="Rectangle 5"/>
          <p:cNvSpPr/>
          <p:nvPr>
            <p:custDataLst>
              <p:tags r:id="rId2"/>
            </p:custDataLst>
          </p:nvPr>
        </p:nvSpPr>
        <p:spPr>
          <a:xfrm>
            <a:off x="502920" y="3789680"/>
            <a:ext cx="3602736" cy="3048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缺口一</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05" name="TextBox 6"/>
          <p:cNvSpPr txBox="1"/>
          <p:nvPr>
            <p:custDataLst>
              <p:tags r:id="rId3"/>
            </p:custDataLst>
          </p:nvPr>
        </p:nvSpPr>
        <p:spPr>
          <a:xfrm>
            <a:off x="878967" y="4124325"/>
            <a:ext cx="431800" cy="491490"/>
          </a:xfrm>
          <a:prstGeom prst="rect">
            <a:avLst/>
          </a:prstGeom>
          <a:noFill/>
        </p:spPr>
        <p:txBody>
          <a:bodyPr wrap="square" lIns="27432" tIns="13716" rIns="27432" bIns="13716" anchor="t">
            <a:spAutoFit/>
          </a:bodyPr>
          <a:lstStyle/>
          <a:p>
            <a:pPr algn="l">
              <a:lnSpc>
                <a:spcPct val="108000"/>
              </a:lnSpc>
            </a:pPr>
            <a:endParaRPr lang="zh-CN" altLang="en-US" sz="2800" b="1" i="0">
              <a:solidFill>
                <a:srgbClr val="C9DCE6"/>
              </a:solidFill>
              <a:latin typeface="微软雅黑" panose="020B0503020204020204" pitchFamily="34" charset="-122"/>
              <a:ea typeface="微软雅黑" panose="020B0503020204020204" pitchFamily="34" charset="-122"/>
            </a:endParaRPr>
          </a:p>
        </p:txBody>
      </p:sp>
      <p:sp>
        <p:nvSpPr>
          <p:cNvPr id="106" name="TextBox 7"/>
          <p:cNvSpPr txBox="1"/>
          <p:nvPr>
            <p:custDataLst>
              <p:tags r:id="rId4"/>
            </p:custDataLst>
          </p:nvPr>
        </p:nvSpPr>
        <p:spPr>
          <a:xfrm>
            <a:off x="502920" y="4208780"/>
            <a:ext cx="3620135"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响应机制不清</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07" name="TextBox 8"/>
          <p:cNvSpPr txBox="1"/>
          <p:nvPr>
            <p:custDataLst>
              <p:tags r:id="rId5"/>
            </p:custDataLst>
          </p:nvPr>
        </p:nvSpPr>
        <p:spPr>
          <a:xfrm>
            <a:off x="713232" y="4494530"/>
            <a:ext cx="3200400" cy="86360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AI 节点接入后，城市水系统的取水—处理—输配—使用—排放—回用链条如何响应，尚缺少系统性刻画。</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08" name="Rounded Rectangle 9"/>
          <p:cNvSpPr/>
          <p:nvPr>
            <p:custDataLst>
              <p:tags r:id="rId6"/>
            </p:custDataLst>
          </p:nvPr>
        </p:nvSpPr>
        <p:spPr>
          <a:xfrm>
            <a:off x="4274820" y="3771900"/>
            <a:ext cx="3639312" cy="173990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09" name="Rectangle 10"/>
          <p:cNvSpPr/>
          <p:nvPr>
            <p:custDataLst>
              <p:tags r:id="rId7"/>
            </p:custDataLst>
          </p:nvPr>
        </p:nvSpPr>
        <p:spPr>
          <a:xfrm>
            <a:off x="4293108" y="3789680"/>
            <a:ext cx="3602736" cy="3048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缺口二</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11" name="TextBox 12"/>
          <p:cNvSpPr txBox="1"/>
          <p:nvPr>
            <p:custDataLst>
              <p:tags r:id="rId8"/>
            </p:custDataLst>
          </p:nvPr>
        </p:nvSpPr>
        <p:spPr>
          <a:xfrm>
            <a:off x="4293235" y="4208780"/>
            <a:ext cx="3620135"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承载边界不条件化</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12" name="TextBox 13"/>
          <p:cNvSpPr txBox="1"/>
          <p:nvPr>
            <p:custDataLst>
              <p:tags r:id="rId9"/>
            </p:custDataLst>
          </p:nvPr>
        </p:nvSpPr>
        <p:spPr>
          <a:xfrm>
            <a:off x="4427855" y="4494530"/>
            <a:ext cx="3371850" cy="86487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现有承载多以总量或单要素阈值表达，未体现</a:t>
            </a:r>
            <a:r>
              <a:rPr lang="en-US" altLang="zh-CN" sz="1400" b="0" i="0">
                <a:solidFill>
                  <a:srgbClr val="1F2A33"/>
                </a:solidFill>
                <a:latin typeface="微软雅黑" panose="020B0503020204020204" pitchFamily="34" charset="-122"/>
                <a:ea typeface="微软雅黑" panose="020B0503020204020204" pitchFamily="34" charset="-122"/>
              </a:rPr>
              <a:t>“</a:t>
            </a:r>
            <a:r>
              <a:rPr lang="zh-CN" altLang="en-US" sz="1400" b="0" i="0">
                <a:solidFill>
                  <a:srgbClr val="1F2A33"/>
                </a:solidFill>
                <a:latin typeface="微软雅黑" panose="020B0503020204020204" pitchFamily="34" charset="-122"/>
                <a:ea typeface="微软雅黑" panose="020B0503020204020204" pitchFamily="34" charset="-122"/>
              </a:rPr>
              <a:t>取决于水源结构、气象与技术组合</a:t>
            </a:r>
            <a:r>
              <a:rPr lang="en-US" altLang="zh-CN" sz="1400" b="0" i="0">
                <a:solidFill>
                  <a:srgbClr val="1F2A33"/>
                </a:solidFill>
                <a:latin typeface="微软雅黑" panose="020B0503020204020204" pitchFamily="34" charset="-122"/>
                <a:ea typeface="微软雅黑" panose="020B0503020204020204" pitchFamily="34" charset="-122"/>
              </a:rPr>
              <a:t>”</a:t>
            </a:r>
            <a:r>
              <a:rPr lang="zh-CN" altLang="en-US" sz="1400" b="0" i="0">
                <a:solidFill>
                  <a:srgbClr val="1F2A33"/>
                </a:solidFill>
                <a:latin typeface="微软雅黑" panose="020B0503020204020204" pitchFamily="34" charset="-122"/>
                <a:ea typeface="微软雅黑" panose="020B0503020204020204" pitchFamily="34" charset="-122"/>
              </a:rPr>
              <a:t>的条件性，年均总量掩盖瞬态峰值风险</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13" name="Rounded Rectangle 14"/>
          <p:cNvSpPr/>
          <p:nvPr>
            <p:custDataLst>
              <p:tags r:id="rId10"/>
            </p:custDataLst>
          </p:nvPr>
        </p:nvSpPr>
        <p:spPr>
          <a:xfrm>
            <a:off x="8065008" y="3771900"/>
            <a:ext cx="3639312" cy="173990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14" name="Rectangle 15"/>
          <p:cNvSpPr/>
          <p:nvPr>
            <p:custDataLst>
              <p:tags r:id="rId11"/>
            </p:custDataLst>
          </p:nvPr>
        </p:nvSpPr>
        <p:spPr>
          <a:xfrm>
            <a:off x="8083296" y="3789680"/>
            <a:ext cx="3602736" cy="3048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缺口三</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16" name="TextBox 17"/>
          <p:cNvSpPr txBox="1"/>
          <p:nvPr>
            <p:custDataLst>
              <p:tags r:id="rId12"/>
            </p:custDataLst>
          </p:nvPr>
        </p:nvSpPr>
        <p:spPr>
          <a:xfrm>
            <a:off x="8083550" y="4208780"/>
            <a:ext cx="3620135"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瓶颈识别不动态</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17" name="TextBox 18"/>
          <p:cNvSpPr txBox="1"/>
          <p:nvPr>
            <p:custDataLst>
              <p:tags r:id="rId13"/>
            </p:custDataLst>
          </p:nvPr>
        </p:nvSpPr>
        <p:spPr>
          <a:xfrm>
            <a:off x="8293608" y="4494530"/>
            <a:ext cx="3200400" cy="86360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瓶颈随季节、气温、来水与运行策略迁移，缺少可比较、可排序的主导瓶颈识别方法。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21" name="Rounded Rectangle 22"/>
          <p:cNvSpPr/>
          <p:nvPr/>
        </p:nvSpPr>
        <p:spPr>
          <a:xfrm>
            <a:off x="484505" y="5741670"/>
            <a:ext cx="11219815" cy="558800"/>
          </a:xfrm>
          <a:prstGeom prst="roundRect">
            <a:avLst>
              <a:gd name="adj" fmla="val 28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2" name="TextBox 23"/>
          <p:cNvSpPr txBox="1"/>
          <p:nvPr/>
        </p:nvSpPr>
        <p:spPr>
          <a:xfrm>
            <a:off x="484632" y="5843270"/>
            <a:ext cx="11219688" cy="557530"/>
          </a:xfrm>
          <a:prstGeom prst="rect">
            <a:avLst/>
          </a:prstGeom>
          <a:noFill/>
        </p:spPr>
        <p:txBody>
          <a:bodyPr wrap="square" lIns="27432" tIns="13716" rIns="27432" bIns="13716" anchor="t">
            <a:spAutoFit/>
          </a:bodyPr>
          <a:lstStyle/>
          <a:p>
            <a:pPr algn="ctr">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现有研究已分别解决算力耗水与城市代谢，但缺少把二者纳入同一系统、给出条件化承载边界与主导瓶颈的统一建模框架。</a:t>
            </a:r>
            <a:endParaRPr lang="zh-CN" altLang="en-US" sz="1600" b="1" i="0">
              <a:solidFill>
                <a:srgbClr val="005375"/>
              </a:solidFill>
              <a:latin typeface="微软雅黑" panose="020B0503020204020204" pitchFamily="34" charset="-122"/>
              <a:ea typeface="微软雅黑" panose="020B0503020204020204" pitchFamily="34" charset="-122"/>
            </a:endParaRPr>
          </a:p>
          <a:p>
            <a:pPr algn="ctr">
              <a:lnSpc>
                <a:spcPct val="108000"/>
              </a:lnSpc>
            </a:pPr>
            <a:endParaRPr lang="zh-CN" altLang="en-US" sz="1600" b="1" i="0">
              <a:solidFill>
                <a:srgbClr val="00537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26" name="TextBox 4"/>
          <p:cNvSpPr txBox="1"/>
          <p:nvPr/>
        </p:nvSpPr>
        <p:spPr>
          <a:xfrm>
            <a:off x="731520" y="1766570"/>
            <a:ext cx="4206240" cy="1621790"/>
          </a:xfrm>
          <a:prstGeom prst="rect">
            <a:avLst/>
          </a:prstGeom>
          <a:noFill/>
        </p:spPr>
        <p:txBody>
          <a:bodyPr wrap="square" lIns="27432" tIns="13716" rIns="27432" bIns="13716" anchor="t">
            <a:spAutoFit/>
          </a:bodyPr>
          <a:lstStyle/>
          <a:p>
            <a:pPr algn="l">
              <a:lnSpc>
                <a:spcPct val="108000"/>
              </a:lnSpc>
            </a:pPr>
            <a:r>
              <a:rPr lang="zh-CN" altLang="en-US" sz="9600" b="1" i="0">
                <a:solidFill>
                  <a:srgbClr val="005375"/>
                </a:solidFill>
                <a:latin typeface="微软雅黑" panose="020B0503020204020204" pitchFamily="34" charset="-122"/>
                <a:ea typeface="微软雅黑" panose="020B0503020204020204" pitchFamily="34" charset="-122"/>
              </a:rPr>
              <a:t>03</a:t>
            </a:r>
            <a:endParaRPr lang="zh-CN" altLang="en-US" sz="9600" b="1" i="0">
              <a:solidFill>
                <a:srgbClr val="005375"/>
              </a:solidFill>
              <a:latin typeface="微软雅黑" panose="020B0503020204020204" pitchFamily="34" charset="-122"/>
              <a:ea typeface="微软雅黑" panose="020B0503020204020204" pitchFamily="34" charset="-122"/>
            </a:endParaRPr>
          </a:p>
        </p:txBody>
      </p:sp>
      <p:sp>
        <p:nvSpPr>
          <p:cNvPr id="127" name="TextBox 5"/>
          <p:cNvSpPr txBox="1"/>
          <p:nvPr/>
        </p:nvSpPr>
        <p:spPr>
          <a:xfrm>
            <a:off x="896112" y="338505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THREE</a:t>
            </a:r>
            <a:endParaRPr lang="zh-CN" altLang="en-US" sz="1300" b="0" i="0" spc="300">
              <a:solidFill>
                <a:srgbClr val="8CA3AF"/>
              </a:solidFill>
              <a:latin typeface="Arial" panose="020B0604020202020204"/>
              <a:ea typeface="Arial" panose="020B0604020202020204"/>
            </a:endParaRPr>
          </a:p>
        </p:txBody>
      </p:sp>
      <p:sp>
        <p:nvSpPr>
          <p:cNvPr id="128" name="TextBox 6"/>
          <p:cNvSpPr txBox="1"/>
          <p:nvPr/>
        </p:nvSpPr>
        <p:spPr>
          <a:xfrm>
            <a:off x="786130" y="3732530"/>
            <a:ext cx="4455795" cy="1129030"/>
          </a:xfrm>
          <a:prstGeom prst="rect">
            <a:avLst/>
          </a:prstGeom>
          <a:noFill/>
        </p:spPr>
        <p:txBody>
          <a:bodyPr wrap="square" lIns="27432" tIns="13716" rIns="27432" bIns="13716" anchor="t">
            <a:spAutoFit/>
          </a:bodyPr>
          <a:lstStyle/>
          <a:p>
            <a:pPr algn="l">
              <a:lnSpc>
                <a:spcPct val="112000"/>
              </a:lnSpc>
            </a:pPr>
            <a:r>
              <a:rPr lang="zh-CN" altLang="en-US" sz="3200" b="1" i="0">
                <a:solidFill>
                  <a:srgbClr val="005375"/>
                </a:solidFill>
                <a:latin typeface="微软雅黑" panose="020B0503020204020204" pitchFamily="34" charset="-122"/>
                <a:ea typeface="微软雅黑" panose="020B0503020204020204" pitchFamily="34" charset="-122"/>
              </a:rPr>
              <a:t>科学问题、研究方案与</a:t>
            </a:r>
            <a:endParaRPr lang="zh-CN" altLang="en-US" sz="3200" b="1" i="0">
              <a:solidFill>
                <a:srgbClr val="005375"/>
              </a:solidFill>
              <a:latin typeface="微软雅黑" panose="020B0503020204020204" pitchFamily="34" charset="-122"/>
              <a:ea typeface="微软雅黑" panose="020B0503020204020204" pitchFamily="34" charset="-122"/>
            </a:endParaRPr>
          </a:p>
          <a:p>
            <a:pPr algn="l">
              <a:lnSpc>
                <a:spcPct val="112000"/>
              </a:lnSpc>
            </a:pPr>
            <a:r>
              <a:rPr lang="zh-CN" altLang="en-US" sz="3200" b="1" i="0">
                <a:solidFill>
                  <a:srgbClr val="005375"/>
                </a:solidFill>
                <a:latin typeface="微软雅黑" panose="020B0503020204020204" pitchFamily="34" charset="-122"/>
                <a:ea typeface="微软雅黑" panose="020B0503020204020204" pitchFamily="34" charset="-122"/>
              </a:rPr>
              <a:t>研究内容</a:t>
            </a:r>
            <a:endParaRPr lang="zh-CN" altLang="en-US" sz="3200" b="1" i="0">
              <a:solidFill>
                <a:srgbClr val="005375"/>
              </a:solidFill>
              <a:latin typeface="微软雅黑" panose="020B0503020204020204" pitchFamily="34" charset="-122"/>
              <a:ea typeface="微软雅黑" panose="020B0503020204020204" pitchFamily="34" charset="-122"/>
            </a:endParaRPr>
          </a:p>
        </p:txBody>
      </p:sp>
      <p:sp>
        <p:nvSpPr>
          <p:cNvPr id="129" name="Rounded Rectangle 9"/>
          <p:cNvSpPr/>
          <p:nvPr>
            <p:custDataLst>
              <p:tags r:id="rId1"/>
            </p:custDataLst>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0" name="TextBox 11"/>
          <p:cNvSpPr txBox="1"/>
          <p:nvPr>
            <p:custDataLst>
              <p:tags r:id="rId2"/>
            </p:custDataLst>
          </p:nvPr>
        </p:nvSpPr>
        <p:spPr>
          <a:xfrm>
            <a:off x="6537960" y="1603883"/>
            <a:ext cx="4937759" cy="57785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提出 </a:t>
            </a:r>
            <a:r>
              <a:rPr lang="en-US" altLang="zh-CN" sz="1600" b="1" i="0">
                <a:solidFill>
                  <a:srgbClr val="1F2A33"/>
                </a:solidFill>
                <a:latin typeface="微软雅黑" panose="020B0503020204020204" pitchFamily="34" charset="-122"/>
                <a:ea typeface="微软雅黑" panose="020B0503020204020204" pitchFamily="34" charset="-122"/>
              </a:rPr>
              <a:t>CAWCC </a:t>
            </a:r>
            <a:r>
              <a:rPr lang="zh-CN" altLang="en-US" sz="1600" b="1" i="0">
                <a:solidFill>
                  <a:srgbClr val="1F2A33"/>
                </a:solidFill>
                <a:latin typeface="微软雅黑" panose="020B0503020204020204" pitchFamily="34" charset="-122"/>
                <a:ea typeface="微软雅黑" panose="020B0503020204020204" pitchFamily="34" charset="-122"/>
              </a:rPr>
              <a:t>条件化承载容量核心概念，自底向上展开四项系统递进的具体研究内容</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1" name="Rounded Rectangle 12"/>
          <p:cNvSpPr/>
          <p:nvPr>
            <p:custDataLst>
              <p:tags r:id="rId3"/>
            </p:custDataLst>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2" name="TextBox 14"/>
          <p:cNvSpPr txBox="1"/>
          <p:nvPr>
            <p:custDataLst>
              <p:tags r:id="rId4"/>
            </p:custDataLst>
          </p:nvPr>
        </p:nvSpPr>
        <p:spPr>
          <a:xfrm>
            <a:off x="6537960" y="3048635"/>
            <a:ext cx="4937759" cy="57785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构建“</a:t>
            </a:r>
            <a:r>
              <a:rPr lang="en-US" altLang="zh-CN" sz="1600" b="1" i="0">
                <a:solidFill>
                  <a:srgbClr val="1F2A33"/>
                </a:solidFill>
                <a:latin typeface="微软雅黑" panose="020B0503020204020204" pitchFamily="34" charset="-122"/>
                <a:ea typeface="微软雅黑" panose="020B0503020204020204" pitchFamily="34" charset="-122"/>
              </a:rPr>
              <a:t>AI </a:t>
            </a:r>
            <a:r>
              <a:rPr lang="zh-CN" altLang="en-US" sz="1600" b="1" i="0">
                <a:solidFill>
                  <a:srgbClr val="1F2A33"/>
                </a:solidFill>
                <a:latin typeface="微软雅黑" panose="020B0503020204020204" pitchFamily="34" charset="-122"/>
                <a:ea typeface="微软雅黑" panose="020B0503020204020204" pitchFamily="34" charset="-122"/>
              </a:rPr>
              <a:t>节点水代谢通量模块”与“城市水系统网络模型”</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3" name="Rounded Rectangle 15"/>
          <p:cNvSpPr/>
          <p:nvPr>
            <p:custDataLst>
              <p:tags r:id="rId5"/>
            </p:custDataLst>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4" name="TextBox 17"/>
          <p:cNvSpPr txBox="1"/>
          <p:nvPr>
            <p:custDataLst>
              <p:tags r:id="rId6"/>
            </p:custDataLst>
          </p:nvPr>
        </p:nvSpPr>
        <p:spPr>
          <a:xfrm>
            <a:off x="6537960" y="4493387"/>
            <a:ext cx="4937759" cy="57785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规划完整技术路线，设计五组单变量控制实验，建立多维指标输出与守恒闭合检验</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5" name="Rectangle 9"/>
          <p:cNvSpPr/>
          <p:nvPr>
            <p:custDataLst>
              <p:tags r:id="rId7"/>
            </p:custDataLst>
          </p:nvPr>
        </p:nvSpPr>
        <p:spPr>
          <a:xfrm>
            <a:off x="5760720" y="1618488"/>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1</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136" name="Rectangle 12"/>
          <p:cNvSpPr/>
          <p:nvPr>
            <p:custDataLst>
              <p:tags r:id="rId8"/>
            </p:custDataLst>
          </p:nvPr>
        </p:nvSpPr>
        <p:spPr>
          <a:xfrm>
            <a:off x="5760720" y="3063240"/>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2</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137" name="Rectangle 15"/>
          <p:cNvSpPr/>
          <p:nvPr>
            <p:custDataLst>
              <p:tags r:id="rId9"/>
            </p:custDataLst>
          </p:nvPr>
        </p:nvSpPr>
        <p:spPr>
          <a:xfrm>
            <a:off x="5760720" y="4507992"/>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3</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3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核心概念：CAWCC 条件化 AI 水承载容量</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142" name="Rounded Rectangle 4"/>
          <p:cNvSpPr/>
          <p:nvPr/>
        </p:nvSpPr>
        <p:spPr>
          <a:xfrm>
            <a:off x="484632" y="914400"/>
            <a:ext cx="5760720" cy="23957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43" name="Rectangle 5"/>
          <p:cNvSpPr/>
          <p:nvPr/>
        </p:nvSpPr>
        <p:spPr>
          <a:xfrm>
            <a:off x="502920" y="932688"/>
            <a:ext cx="57241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CAWCC 是什么</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44" name="TextBox 6"/>
          <p:cNvSpPr txBox="1"/>
          <p:nvPr/>
        </p:nvSpPr>
        <p:spPr>
          <a:xfrm>
            <a:off x="685800" y="1444752"/>
            <a:ext cx="5394960" cy="822960"/>
          </a:xfrm>
          <a:prstGeom prst="rect">
            <a:avLst/>
          </a:prstGeom>
          <a:noFill/>
        </p:spPr>
        <p:txBody>
          <a:bodyPr wrap="square" lIns="27432" tIns="13716" rIns="27432" bIns="13716" anchor="t">
            <a:spAutoFit/>
          </a:bodyPr>
          <a:lstStyle/>
          <a:p>
            <a:pPr algn="l">
              <a:lnSpc>
                <a:spcPct val="128000"/>
              </a:lnSpc>
            </a:pPr>
            <a:r>
              <a:rPr lang="zh-CN" altLang="en-US" sz="1300" b="0" i="0">
                <a:solidFill>
                  <a:srgbClr val="1F2A33"/>
                </a:solidFill>
                <a:latin typeface="微软雅黑" panose="020B0503020204020204" pitchFamily="34" charset="-122"/>
                <a:ea typeface="微软雅黑" panose="020B0503020204020204" pitchFamily="34" charset="-122"/>
              </a:rPr>
              <a:t>Conditional AI Water Carrying Capacity：在给定水源结构、气象条件、技术水平与运行策略下，城市人工水系统可承载的 AI 算力相关用水规模。</a:t>
            </a:r>
            <a:endParaRPr lang="zh-CN" altLang="en-US" sz="1300" b="0" i="0">
              <a:solidFill>
                <a:srgbClr val="1F2A33"/>
              </a:solidFill>
              <a:latin typeface="微软雅黑" panose="020B0503020204020204" pitchFamily="34" charset="-122"/>
              <a:ea typeface="微软雅黑" panose="020B0503020204020204" pitchFamily="34" charset="-122"/>
            </a:endParaRPr>
          </a:p>
        </p:txBody>
      </p:sp>
      <p:sp>
        <p:nvSpPr>
          <p:cNvPr id="145" name="Rounded Rectangle 7"/>
          <p:cNvSpPr/>
          <p:nvPr/>
        </p:nvSpPr>
        <p:spPr>
          <a:xfrm>
            <a:off x="6858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005375"/>
                </a:solidFill>
                <a:latin typeface="微软雅黑" panose="020B0503020204020204" pitchFamily="34" charset="-122"/>
                <a:ea typeface="微软雅黑" panose="020B0503020204020204" pitchFamily="34" charset="-122"/>
              </a:rPr>
              <a:t>条件化</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146" name="Rounded Rectangle 8"/>
          <p:cNvSpPr/>
          <p:nvPr/>
        </p:nvSpPr>
        <p:spPr>
          <a:xfrm>
            <a:off x="25146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005375"/>
                </a:solidFill>
                <a:latin typeface="微软雅黑" panose="020B0503020204020204" pitchFamily="34" charset="-122"/>
                <a:ea typeface="微软雅黑" panose="020B0503020204020204" pitchFamily="34" charset="-122"/>
              </a:rPr>
              <a:t>可计算</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147" name="Rounded Rectangle 9"/>
          <p:cNvSpPr/>
          <p:nvPr/>
        </p:nvSpPr>
        <p:spPr>
          <a:xfrm>
            <a:off x="43434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005375"/>
                </a:solidFill>
                <a:latin typeface="微软雅黑" panose="020B0503020204020204" pitchFamily="34" charset="-122"/>
                <a:ea typeface="微软雅黑" panose="020B0503020204020204" pitchFamily="34" charset="-122"/>
              </a:rPr>
              <a:t>可比较</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148" name="Rectangle 10"/>
          <p:cNvSpPr/>
          <p:nvPr/>
        </p:nvSpPr>
        <p:spPr>
          <a:xfrm>
            <a:off x="685800" y="2779776"/>
            <a:ext cx="5349240" cy="457200"/>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50" b="1" i="0">
                <a:solidFill>
                  <a:srgbClr val="005375"/>
                </a:solidFill>
                <a:latin typeface="微软雅黑" panose="020B0503020204020204" pitchFamily="34" charset="-122"/>
                <a:ea typeface="微软雅黑" panose="020B0503020204020204" pitchFamily="34" charset="-122"/>
              </a:rPr>
              <a:t>不是单一总量阈值，是一组随条件变化的容量维度；输出同时给出主导瓶颈。</a:t>
            </a:r>
            <a:endParaRPr lang="zh-CN" altLang="en-US" sz="1250" b="1" i="0">
              <a:solidFill>
                <a:srgbClr val="005375"/>
              </a:solidFill>
              <a:latin typeface="微软雅黑" panose="020B0503020204020204" pitchFamily="34" charset="-122"/>
              <a:ea typeface="微软雅黑" panose="020B0503020204020204" pitchFamily="34" charset="-122"/>
            </a:endParaRPr>
          </a:p>
        </p:txBody>
      </p:sp>
      <p:sp>
        <p:nvSpPr>
          <p:cNvPr id="149" name="Rounded Rectangle 11"/>
          <p:cNvSpPr/>
          <p:nvPr/>
        </p:nvSpPr>
        <p:spPr>
          <a:xfrm>
            <a:off x="484632" y="3474720"/>
            <a:ext cx="5760720" cy="23957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0" name="Rectangle 12"/>
          <p:cNvSpPr/>
          <p:nvPr/>
        </p:nvSpPr>
        <p:spPr>
          <a:xfrm>
            <a:off x="502920" y="3493008"/>
            <a:ext cx="57241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与既有水足迹 / WUE 指标的区别</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51" name="Rectangle 13"/>
          <p:cNvSpPr/>
          <p:nvPr/>
        </p:nvSpPr>
        <p:spPr>
          <a:xfrm>
            <a:off x="628650" y="3926205"/>
            <a:ext cx="106984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2" name="TextBox 14"/>
          <p:cNvSpPr txBox="1"/>
          <p:nvPr/>
        </p:nvSpPr>
        <p:spPr>
          <a:xfrm>
            <a:off x="628650" y="3926205"/>
            <a:ext cx="106984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对比维度</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3" name="Rectangle 15"/>
          <p:cNvSpPr/>
          <p:nvPr/>
        </p:nvSpPr>
        <p:spPr>
          <a:xfrm>
            <a:off x="1725930" y="3926205"/>
            <a:ext cx="216712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4" name="TextBox 16"/>
          <p:cNvSpPr txBox="1"/>
          <p:nvPr/>
        </p:nvSpPr>
        <p:spPr>
          <a:xfrm>
            <a:off x="1725930" y="3926205"/>
            <a:ext cx="216712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既有水足迹 / WUE 指标</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5" name="Rectangle 17"/>
          <p:cNvSpPr/>
          <p:nvPr/>
        </p:nvSpPr>
        <p:spPr>
          <a:xfrm>
            <a:off x="3920489" y="3926205"/>
            <a:ext cx="216712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6" name="TextBox 18"/>
          <p:cNvSpPr txBox="1"/>
          <p:nvPr/>
        </p:nvSpPr>
        <p:spPr>
          <a:xfrm>
            <a:off x="3920489" y="3926205"/>
            <a:ext cx="216712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CAWCC</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7" name="Rectangle 19"/>
          <p:cNvSpPr/>
          <p:nvPr/>
        </p:nvSpPr>
        <p:spPr>
          <a:xfrm>
            <a:off x="628650" y="4397121"/>
            <a:ext cx="106984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8" name="TextBox 20"/>
          <p:cNvSpPr txBox="1"/>
          <p:nvPr/>
        </p:nvSpPr>
        <p:spPr>
          <a:xfrm>
            <a:off x="674370" y="4397121"/>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评价对象</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59" name="Rectangle 21"/>
          <p:cNvSpPr/>
          <p:nvPr/>
        </p:nvSpPr>
        <p:spPr>
          <a:xfrm>
            <a:off x="1725930" y="4397121"/>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0" name="TextBox 22"/>
          <p:cNvSpPr txBox="1"/>
          <p:nvPr/>
        </p:nvSpPr>
        <p:spPr>
          <a:xfrm>
            <a:off x="1771650" y="4397121"/>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设施自身用水效率</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1" name="Rectangle 23"/>
          <p:cNvSpPr/>
          <p:nvPr/>
        </p:nvSpPr>
        <p:spPr>
          <a:xfrm>
            <a:off x="3920489" y="4397121"/>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2" name="TextBox 24"/>
          <p:cNvSpPr txBox="1"/>
          <p:nvPr/>
        </p:nvSpPr>
        <p:spPr>
          <a:xfrm>
            <a:off x="3966209" y="4397121"/>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城市系统可承载规模</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3" name="Rectangle 25"/>
          <p:cNvSpPr/>
          <p:nvPr/>
        </p:nvSpPr>
        <p:spPr>
          <a:xfrm>
            <a:off x="628650" y="4868037"/>
            <a:ext cx="106984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4" name="TextBox 26"/>
          <p:cNvSpPr txBox="1"/>
          <p:nvPr/>
        </p:nvSpPr>
        <p:spPr>
          <a:xfrm>
            <a:off x="674370" y="4868037"/>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表达方式</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65" name="Rectangle 27"/>
          <p:cNvSpPr/>
          <p:nvPr/>
        </p:nvSpPr>
        <p:spPr>
          <a:xfrm>
            <a:off x="1725930" y="4868037"/>
            <a:ext cx="216712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6" name="TextBox 28"/>
          <p:cNvSpPr txBox="1"/>
          <p:nvPr/>
        </p:nvSpPr>
        <p:spPr>
          <a:xfrm>
            <a:off x="1771650" y="4868037"/>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单值或强度指标</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7" name="Rectangle 29"/>
          <p:cNvSpPr/>
          <p:nvPr/>
        </p:nvSpPr>
        <p:spPr>
          <a:xfrm>
            <a:off x="3920489" y="4868037"/>
            <a:ext cx="216712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8" name="TextBox 30"/>
          <p:cNvSpPr txBox="1"/>
          <p:nvPr/>
        </p:nvSpPr>
        <p:spPr>
          <a:xfrm>
            <a:off x="3966209" y="4868037"/>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随条件变化的容量</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9" name="Rectangle 31"/>
          <p:cNvSpPr/>
          <p:nvPr/>
        </p:nvSpPr>
        <p:spPr>
          <a:xfrm>
            <a:off x="628650" y="5338952"/>
            <a:ext cx="106984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0" name="TextBox 32"/>
          <p:cNvSpPr txBox="1"/>
          <p:nvPr/>
        </p:nvSpPr>
        <p:spPr>
          <a:xfrm>
            <a:off x="674370" y="5338952"/>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决策用途</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71" name="Rectangle 33"/>
          <p:cNvSpPr/>
          <p:nvPr/>
        </p:nvSpPr>
        <p:spPr>
          <a:xfrm>
            <a:off x="1725930" y="5338952"/>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2" name="TextBox 34"/>
          <p:cNvSpPr txBox="1"/>
          <p:nvPr/>
        </p:nvSpPr>
        <p:spPr>
          <a:xfrm>
            <a:off x="1771650" y="5338952"/>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设施节水改造</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73" name="Rectangle 35"/>
          <p:cNvSpPr/>
          <p:nvPr/>
        </p:nvSpPr>
        <p:spPr>
          <a:xfrm>
            <a:off x="3920489" y="5338952"/>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4" name="TextBox 36"/>
          <p:cNvSpPr txBox="1"/>
          <p:nvPr/>
        </p:nvSpPr>
        <p:spPr>
          <a:xfrm>
            <a:off x="3966209" y="5338952"/>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规划承载与干预排序</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75" name="Rounded Rectangle 37"/>
          <p:cNvSpPr/>
          <p:nvPr/>
        </p:nvSpPr>
        <p:spPr>
          <a:xfrm>
            <a:off x="6400800" y="914400"/>
            <a:ext cx="5303520" cy="42245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6" name="Rectangle 38"/>
          <p:cNvSpPr/>
          <p:nvPr/>
        </p:nvSpPr>
        <p:spPr>
          <a:xfrm>
            <a:off x="6419088" y="932688"/>
            <a:ext cx="52669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CAWCC 的条件维度</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77" name="Rectangle 39"/>
          <p:cNvSpPr/>
          <p:nvPr/>
        </p:nvSpPr>
        <p:spPr>
          <a:xfrm>
            <a:off x="6601968" y="1481328"/>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8" name="TextBox 40"/>
          <p:cNvSpPr txBox="1"/>
          <p:nvPr/>
        </p:nvSpPr>
        <p:spPr>
          <a:xfrm>
            <a:off x="6601968" y="1481328"/>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79" name="TextBox 41"/>
          <p:cNvSpPr txBox="1"/>
          <p:nvPr/>
        </p:nvSpPr>
        <p:spPr>
          <a:xfrm>
            <a:off x="7242048" y="1444752"/>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水源结构</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80" name="TextBox 42"/>
          <p:cNvSpPr txBox="1"/>
          <p:nvPr/>
        </p:nvSpPr>
        <p:spPr>
          <a:xfrm>
            <a:off x="7242048" y="1719072"/>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再生水 · 淡水占比</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81" name="Connector 43"/>
          <p:cNvCxnSpPr/>
          <p:nvPr/>
        </p:nvCxnSpPr>
        <p:spPr>
          <a:xfrm>
            <a:off x="6601968" y="2212848"/>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82" name="Rectangle 44"/>
          <p:cNvSpPr/>
          <p:nvPr/>
        </p:nvSpPr>
        <p:spPr>
          <a:xfrm>
            <a:off x="6601968" y="2322576"/>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3" name="TextBox 45"/>
          <p:cNvSpPr txBox="1"/>
          <p:nvPr/>
        </p:nvSpPr>
        <p:spPr>
          <a:xfrm>
            <a:off x="6601968" y="2322576"/>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气</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84" name="TextBox 46"/>
          <p:cNvSpPr txBox="1"/>
          <p:nvPr/>
        </p:nvSpPr>
        <p:spPr>
          <a:xfrm>
            <a:off x="7242048" y="2286000"/>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气象条件</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85" name="TextBox 47"/>
          <p:cNvSpPr txBox="1"/>
          <p:nvPr/>
        </p:nvSpPr>
        <p:spPr>
          <a:xfrm>
            <a:off x="7242048" y="2560320"/>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气温、湿度、季节</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86" name="Connector 48"/>
          <p:cNvCxnSpPr/>
          <p:nvPr/>
        </p:nvCxnSpPr>
        <p:spPr>
          <a:xfrm>
            <a:off x="6601968" y="3054096"/>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87" name="Rectangle 49"/>
          <p:cNvSpPr/>
          <p:nvPr/>
        </p:nvSpPr>
        <p:spPr>
          <a:xfrm>
            <a:off x="6601968" y="3163824"/>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8" name="TextBox 50"/>
          <p:cNvSpPr txBox="1"/>
          <p:nvPr/>
        </p:nvSpPr>
        <p:spPr>
          <a:xfrm>
            <a:off x="6601968" y="3163824"/>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技</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89" name="TextBox 51"/>
          <p:cNvSpPr txBox="1"/>
          <p:nvPr/>
        </p:nvSpPr>
        <p:spPr>
          <a:xfrm>
            <a:off x="7242048" y="3127248"/>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技术水平</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90" name="TextBox 52"/>
          <p:cNvSpPr txBox="1"/>
          <p:nvPr/>
        </p:nvSpPr>
        <p:spPr>
          <a:xfrm>
            <a:off x="7242048" y="3401568"/>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冷却方式、PUE、浓缩倍数</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91" name="Connector 53"/>
          <p:cNvCxnSpPr/>
          <p:nvPr/>
        </p:nvCxnSpPr>
        <p:spPr>
          <a:xfrm>
            <a:off x="6601968" y="3895344"/>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92" name="Rectangle 54"/>
          <p:cNvSpPr/>
          <p:nvPr/>
        </p:nvSpPr>
        <p:spPr>
          <a:xfrm>
            <a:off x="6601968" y="4005072"/>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93" name="TextBox 55"/>
          <p:cNvSpPr txBox="1"/>
          <p:nvPr/>
        </p:nvSpPr>
        <p:spPr>
          <a:xfrm>
            <a:off x="6601968" y="4005072"/>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运</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94" name="TextBox 56"/>
          <p:cNvSpPr txBox="1"/>
          <p:nvPr/>
        </p:nvSpPr>
        <p:spPr>
          <a:xfrm>
            <a:off x="7242048" y="3968496"/>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运行策略</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95" name="TextBox 57"/>
          <p:cNvSpPr txBox="1"/>
          <p:nvPr/>
        </p:nvSpPr>
        <p:spPr>
          <a:xfrm>
            <a:off x="7242048" y="4242816"/>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调度、蓄水、回用率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196" name="Rectangle 58"/>
          <p:cNvSpPr/>
          <p:nvPr/>
        </p:nvSpPr>
        <p:spPr>
          <a:xfrm>
            <a:off x="6400800" y="5303520"/>
            <a:ext cx="5303520" cy="84124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8288" rIns="274320" bIns="18288" rtlCol="0" anchor="ctr"/>
          <a:lstStyle/>
          <a:p>
            <a:pPr algn="l">
              <a:lnSpc>
                <a:spcPct val="125000"/>
              </a:lnSpc>
            </a:pPr>
            <a:r>
              <a:rPr lang="zh-CN" altLang="en-US" sz="1300" b="1" i="0">
                <a:solidFill>
                  <a:srgbClr val="005375"/>
                </a:solidFill>
                <a:latin typeface="微软雅黑" panose="020B0503020204020204" pitchFamily="34" charset="-122"/>
                <a:ea typeface="微软雅黑" panose="020B0503020204020204" pitchFamily="34" charset="-122"/>
              </a:rPr>
              <a:t>关键：CAWCC 同时输出“可承载规模“与“主导瓶颈“，使容量结论具备可解释性与可干预性。</a:t>
            </a:r>
            <a:endParaRPr lang="zh-CN" altLang="en-US" sz="1300" b="1" i="0">
              <a:solidFill>
                <a:srgbClr val="005375"/>
              </a:solidFill>
              <a:latin typeface="微软雅黑" panose="020B0503020204020204" pitchFamily="34" charset="-122"/>
              <a:ea typeface="微软雅黑" panose="020B0503020204020204" pitchFamily="34" charset="-122"/>
            </a:endParaRPr>
          </a:p>
        </p:txBody>
      </p:sp>
      <p:sp>
        <p:nvSpPr>
          <p:cNvPr id="197" name="Rectangle 59"/>
          <p:cNvSpPr/>
          <p:nvPr/>
        </p:nvSpPr>
        <p:spPr>
          <a:xfrm>
            <a:off x="6547104" y="5449824"/>
            <a:ext cx="54864"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35" name=""/>
        <p:cNvGrpSpPr/>
        <p:nvPr/>
      </p:nvGrpSpPr>
      <p:grpSpPr>
        <a:xfrm>
          <a:off x="0" y="0"/>
          <a:ext cx="0" cy="0"/>
          <a:chOff x="0" y="0"/>
          <a:chExt cx="0" cy="0"/>
        </a:xfrm>
      </p:grpSpPr>
      <p:sp>
        <p:nvSpPr>
          <p:cNvPr id="436" name="标题 1"/>
          <p:cNvSpPr>
            <a:spLocks noGrp="1"/>
          </p:cNvSpPr>
          <p:nvPr>
            <p:ph type="title"/>
          </p:nvPr>
        </p:nvSpPr>
        <p:spPr/>
        <p:txBody>
          <a:bodyPr/>
          <a:p>
            <a:endParaRPr lang="zh-CN" altLang="en-US"/>
          </a:p>
        </p:txBody>
      </p:sp>
      <p:pic>
        <p:nvPicPr>
          <p:cNvPr id="437" name="内容占位符 3"/>
          <p:cNvPicPr>
            <a:picLocks noChangeAspect="1"/>
          </p:cNvPicPr>
          <p:nvPr>
            <p:ph idx="1"/>
          </p:nvPr>
        </p:nvPicPr>
        <p:blipFill>
          <a:blip r:embed="rId1"/>
          <a:stretch>
            <a:fillRect/>
          </a:stretch>
        </p:blipFill>
        <p:spPr>
          <a:xfrm>
            <a:off x="0" y="0"/>
            <a:ext cx="12191365" cy="6861810"/>
          </a:xfrm>
          <a:prstGeom prst="rect">
            <a:avLst/>
          </a:prstGeom>
        </p:spPr>
      </p:pic>
      <p:sp>
        <p:nvSpPr>
          <p:cNvPr id="2" name="文本框 1"/>
          <p:cNvSpPr txBox="1"/>
          <p:nvPr/>
        </p:nvSpPr>
        <p:spPr>
          <a:xfrm>
            <a:off x="347345" y="5979160"/>
            <a:ext cx="11490960" cy="368300"/>
          </a:xfrm>
          <a:prstGeom prst="rect">
            <a:avLst/>
          </a:prstGeom>
        </p:spPr>
        <p:txBody>
          <a:bodyPr wrap="square">
            <a:sp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节点作为高强度需求节点嵌入集总式城市水代谢网络，进行全过程逐日显式时序递推求解</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26" name=""/>
        <p:cNvGrpSpPr/>
        <p:nvPr/>
      </p:nvGrpSpPr>
      <p:grpSpPr>
        <a:xfrm>
          <a:off x="0" y="0"/>
          <a:ext cx="0" cy="0"/>
          <a:chOff x="0" y="0"/>
          <a:chExt cx="0" cy="0"/>
        </a:xfrm>
      </p:grpSpPr>
      <p:sp>
        <p:nvSpPr>
          <p:cNvPr id="227"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四项研究内容：从概念到边界求解</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230" name="Rounded Rectangle 4"/>
          <p:cNvSpPr/>
          <p:nvPr/>
        </p:nvSpPr>
        <p:spPr>
          <a:xfrm>
            <a:off x="48463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1" name="Rectangle 5"/>
          <p:cNvSpPr/>
          <p:nvPr/>
        </p:nvSpPr>
        <p:spPr>
          <a:xfrm>
            <a:off x="50292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32" name="Rectangle 6"/>
          <p:cNvSpPr/>
          <p:nvPr/>
        </p:nvSpPr>
        <p:spPr>
          <a:xfrm>
            <a:off x="50292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01</a:t>
            </a:r>
            <a:endParaRPr lang="zh-CN" altLang="en-US" sz="2400" b="1" i="0">
              <a:solidFill>
                <a:srgbClr val="FFFFFF"/>
              </a:solidFill>
              <a:latin typeface="Arial" panose="020B0604020202020204"/>
              <a:ea typeface="Arial" panose="020B0604020202020204"/>
            </a:endParaRPr>
          </a:p>
        </p:txBody>
      </p:sp>
      <p:sp>
        <p:nvSpPr>
          <p:cNvPr id="233" name="TextBox 7"/>
          <p:cNvSpPr txBox="1"/>
          <p:nvPr/>
        </p:nvSpPr>
        <p:spPr>
          <a:xfrm>
            <a:off x="621792" y="1609344"/>
            <a:ext cx="2441448" cy="645795"/>
          </a:xfrm>
          <a:prstGeom prst="rect">
            <a:avLst/>
          </a:prstGeom>
          <a:noFill/>
        </p:spPr>
        <p:txBody>
          <a:bodyPr wrap="square" lIns="27432" tIns="13716" rIns="27432" bIns="13716" anchor="t">
            <a:spAutoFit/>
          </a:bodyPr>
          <a:lstStyle/>
          <a:p>
            <a:pPr algn="l">
              <a:lnSpc>
                <a:spcPct val="112000"/>
              </a:lnSpc>
            </a:pPr>
            <a:r>
              <a:rPr lang="zh-CN" altLang="en-US" b="1" i="0">
                <a:solidFill>
                  <a:srgbClr val="1F2A33"/>
                </a:solidFill>
                <a:latin typeface="微软雅黑" panose="020B0503020204020204" pitchFamily="34" charset="-122"/>
                <a:ea typeface="微软雅黑" panose="020B0503020204020204" pitchFamily="34" charset="-122"/>
              </a:rPr>
              <a:t>城市人工水系统耦合模型</a:t>
            </a:r>
            <a:endParaRPr lang="zh-CN" altLang="en-US" b="1" i="0">
              <a:solidFill>
                <a:srgbClr val="1F2A33"/>
              </a:solidFill>
              <a:latin typeface="微软雅黑" panose="020B0503020204020204" pitchFamily="34" charset="-122"/>
              <a:ea typeface="微软雅黑" panose="020B0503020204020204" pitchFamily="34" charset="-122"/>
            </a:endParaRPr>
          </a:p>
        </p:txBody>
      </p:sp>
      <p:cxnSp>
        <p:nvCxnSpPr>
          <p:cNvPr id="234" name="Connector 8"/>
          <p:cNvCxnSpPr/>
          <p:nvPr/>
        </p:nvCxnSpPr>
        <p:spPr>
          <a:xfrm>
            <a:off x="62179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35" name="TextBox 9"/>
          <p:cNvSpPr txBox="1"/>
          <p:nvPr/>
        </p:nvSpPr>
        <p:spPr>
          <a:xfrm>
            <a:off x="62179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构建“算力 → 热 → 冷却 → 补水/排水“链条，建立逐日水量平衡闭合与参数证据库。</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36" name="Rounded Rectangle 10"/>
          <p:cNvSpPr/>
          <p:nvPr>
            <p:custDataLst>
              <p:tags r:id="rId1"/>
            </p:custDataLst>
          </p:nvPr>
        </p:nvSpPr>
        <p:spPr>
          <a:xfrm>
            <a:off x="62179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37" name="TextBox 11"/>
          <p:cNvSpPr txBox="1"/>
          <p:nvPr>
            <p:custDataLst>
              <p:tags r:id="rId2"/>
            </p:custDataLst>
          </p:nvPr>
        </p:nvSpPr>
        <p:spPr>
          <a:xfrm>
            <a:off x="621792" y="4169663"/>
            <a:ext cx="2441448" cy="542925"/>
          </a:xfrm>
          <a:prstGeom prst="rect">
            <a:avLst/>
          </a:prstGeom>
          <a:noFill/>
        </p:spPr>
        <p:txBody>
          <a:bodyPr wrap="square" lIns="27432" tIns="13716" rIns="27432" bIns="13716" anchor="t">
            <a:spAutoFit/>
          </a:bodyPr>
          <a:lstStyle/>
          <a:p>
            <a:pPr algn="l">
              <a:lnSpc>
                <a:spcPct val="120000"/>
              </a:lnSpc>
            </a:pPr>
            <a:r>
              <a:rPr lang="en-US" altLang="zh-CN" sz="1400" b="0" i="0">
                <a:solidFill>
                  <a:srgbClr val="1F2A33"/>
                </a:solidFill>
                <a:latin typeface="微软雅黑" panose="020B0503020204020204" pitchFamily="34" charset="-122"/>
                <a:ea typeface="微软雅黑" panose="020B0503020204020204" pitchFamily="34" charset="-122"/>
              </a:rPr>
              <a:t>AI</a:t>
            </a:r>
            <a:r>
              <a:rPr lang="zh-CN" altLang="en-US" sz="1400" b="0" i="0">
                <a:solidFill>
                  <a:srgbClr val="1F2A33"/>
                </a:solidFill>
                <a:latin typeface="微软雅黑" panose="020B0503020204020204" pitchFamily="34" charset="-122"/>
                <a:ea typeface="微软雅黑" panose="020B0503020204020204" pitchFamily="34" charset="-122"/>
              </a:rPr>
              <a:t>负荷与冷却补排水如何进入城市水流闭环网络？</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38" name="Rounded Rectangle 12"/>
          <p:cNvSpPr/>
          <p:nvPr>
            <p:custDataLst>
              <p:tags r:id="rId3"/>
            </p:custDataLst>
          </p:nvPr>
        </p:nvSpPr>
        <p:spPr>
          <a:xfrm>
            <a:off x="62179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39" name="TextBox 13"/>
          <p:cNvSpPr txBox="1"/>
          <p:nvPr>
            <p:custDataLst>
              <p:tags r:id="rId4"/>
            </p:custDataLst>
          </p:nvPr>
        </p:nvSpPr>
        <p:spPr>
          <a:xfrm>
            <a:off x="621792" y="5138928"/>
            <a:ext cx="2441448" cy="542925"/>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通过水量与储量守恒校核的 </a:t>
            </a:r>
            <a:r>
              <a:rPr lang="en-US" altLang="zh-CN" sz="1400" b="1" i="0">
                <a:solidFill>
                  <a:srgbClr val="005375"/>
                </a:solidFill>
                <a:latin typeface="微软雅黑" panose="020B0503020204020204" pitchFamily="34" charset="-122"/>
                <a:ea typeface="微软雅黑" panose="020B0503020204020204" pitchFamily="34" charset="-122"/>
              </a:rPr>
              <a:t>AI-UWM </a:t>
            </a:r>
            <a:r>
              <a:rPr lang="zh-CN" altLang="en-US" sz="1400" b="1" i="0">
                <a:solidFill>
                  <a:srgbClr val="005375"/>
                </a:solidFill>
                <a:latin typeface="微软雅黑" panose="020B0503020204020204" pitchFamily="34" charset="-122"/>
                <a:ea typeface="微软雅黑" panose="020B0503020204020204" pitchFamily="34" charset="-122"/>
              </a:rPr>
              <a:t>模型及证据库</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40" name="Rounded Rectangle 14"/>
          <p:cNvSpPr/>
          <p:nvPr/>
        </p:nvSpPr>
        <p:spPr>
          <a:xfrm>
            <a:off x="331927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41" name="Rectangle 15"/>
          <p:cNvSpPr/>
          <p:nvPr/>
        </p:nvSpPr>
        <p:spPr>
          <a:xfrm>
            <a:off x="333756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42" name="Rectangle 16"/>
          <p:cNvSpPr/>
          <p:nvPr/>
        </p:nvSpPr>
        <p:spPr>
          <a:xfrm>
            <a:off x="333756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02</a:t>
            </a:r>
            <a:endParaRPr lang="zh-CN" altLang="en-US" sz="2400" b="1" i="0">
              <a:solidFill>
                <a:srgbClr val="FFFFFF"/>
              </a:solidFill>
              <a:latin typeface="Arial" panose="020B0604020202020204"/>
              <a:ea typeface="Arial" panose="020B0604020202020204"/>
            </a:endParaRPr>
          </a:p>
        </p:txBody>
      </p:sp>
      <p:sp>
        <p:nvSpPr>
          <p:cNvPr id="243" name="TextBox 17"/>
          <p:cNvSpPr txBox="1"/>
          <p:nvPr/>
        </p:nvSpPr>
        <p:spPr>
          <a:xfrm>
            <a:off x="3456432" y="1609344"/>
            <a:ext cx="2441448" cy="645795"/>
          </a:xfrm>
          <a:prstGeom prst="rect">
            <a:avLst/>
          </a:prstGeom>
          <a:noFill/>
        </p:spPr>
        <p:txBody>
          <a:bodyPr wrap="square" lIns="27432" tIns="13716" rIns="27432" bIns="13716" anchor="t">
            <a:spAutoFit/>
          </a:bodyPr>
          <a:lstStyle/>
          <a:p>
            <a:pPr algn="l">
              <a:lnSpc>
                <a:spcPct val="112000"/>
              </a:lnSpc>
            </a:pPr>
            <a:r>
              <a:rPr lang="en-US" altLang="zh-CN" b="1" i="0">
                <a:solidFill>
                  <a:srgbClr val="1F2A33"/>
                </a:solidFill>
                <a:latin typeface="微软雅黑" panose="020B0503020204020204" pitchFamily="34" charset="-122"/>
                <a:ea typeface="微软雅黑" panose="020B0503020204020204" pitchFamily="34" charset="-122"/>
              </a:rPr>
              <a:t>AI</a:t>
            </a:r>
            <a:r>
              <a:rPr lang="zh-CN" altLang="en-US" b="1" i="0">
                <a:solidFill>
                  <a:srgbClr val="1F2A33"/>
                </a:solidFill>
                <a:latin typeface="微软雅黑" panose="020B0503020204020204" pitchFamily="34" charset="-122"/>
                <a:ea typeface="微软雅黑" panose="020B0503020204020204" pitchFamily="34" charset="-122"/>
              </a:rPr>
              <a:t>扩张下水系统代谢响应分析</a:t>
            </a:r>
            <a:endParaRPr lang="zh-CN" altLang="en-US" b="1" i="0">
              <a:solidFill>
                <a:srgbClr val="1F2A33"/>
              </a:solidFill>
              <a:latin typeface="微软雅黑" panose="020B0503020204020204" pitchFamily="34" charset="-122"/>
              <a:ea typeface="微软雅黑" panose="020B0503020204020204" pitchFamily="34" charset="-122"/>
            </a:endParaRPr>
          </a:p>
        </p:txBody>
      </p:sp>
      <p:cxnSp>
        <p:nvCxnSpPr>
          <p:cNvPr id="244" name="Connector 18"/>
          <p:cNvCxnSpPr/>
          <p:nvPr/>
        </p:nvCxnSpPr>
        <p:spPr>
          <a:xfrm>
            <a:off x="345643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45" name="TextBox 19"/>
          <p:cNvSpPr txBox="1"/>
          <p:nvPr/>
        </p:nvSpPr>
        <p:spPr>
          <a:xfrm>
            <a:off x="3456432" y="2468880"/>
            <a:ext cx="2441448" cy="112903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设置容量梯度等对照，追踪取水、耗水与回流路径，识别由总量增加转向水流结构变化的临界条件。</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46" name="Rounded Rectangle 20"/>
          <p:cNvSpPr/>
          <p:nvPr>
            <p:custDataLst>
              <p:tags r:id="rId5"/>
            </p:custDataLst>
          </p:nvPr>
        </p:nvSpPr>
        <p:spPr>
          <a:xfrm>
            <a:off x="345643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47" name="TextBox 21"/>
          <p:cNvSpPr txBox="1"/>
          <p:nvPr>
            <p:custDataLst>
              <p:tags r:id="rId6"/>
            </p:custDataLst>
          </p:nvPr>
        </p:nvSpPr>
        <p:spPr>
          <a:xfrm>
            <a:off x="3456432" y="4169663"/>
            <a:ext cx="2441448" cy="542925"/>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系统何时由“总量规模响应”转入“水源与路径结构响应”？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48" name="Rounded Rectangle 22"/>
          <p:cNvSpPr/>
          <p:nvPr>
            <p:custDataLst>
              <p:tags r:id="rId7"/>
            </p:custDataLst>
          </p:nvPr>
        </p:nvSpPr>
        <p:spPr>
          <a:xfrm>
            <a:off x="345643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49" name="TextBox 23"/>
          <p:cNvSpPr txBox="1"/>
          <p:nvPr>
            <p:custDataLst>
              <p:tags r:id="rId8"/>
            </p:custDataLst>
          </p:nvPr>
        </p:nvSpPr>
        <p:spPr>
          <a:xfrm>
            <a:off x="3456432" y="5138928"/>
            <a:ext cx="2441448" cy="542925"/>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容量梯度与等效普通工业对照下的代谢响应演变规律</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50" name="Rounded Rectangle 24"/>
          <p:cNvSpPr/>
          <p:nvPr/>
        </p:nvSpPr>
        <p:spPr>
          <a:xfrm>
            <a:off x="615391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51" name="Rectangle 25"/>
          <p:cNvSpPr/>
          <p:nvPr/>
        </p:nvSpPr>
        <p:spPr>
          <a:xfrm>
            <a:off x="617220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52" name="Rectangle 26"/>
          <p:cNvSpPr/>
          <p:nvPr/>
        </p:nvSpPr>
        <p:spPr>
          <a:xfrm>
            <a:off x="617220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03</a:t>
            </a:r>
            <a:endParaRPr lang="zh-CN" altLang="en-US" sz="2400" b="1" i="0">
              <a:solidFill>
                <a:srgbClr val="FFFFFF"/>
              </a:solidFill>
              <a:latin typeface="Arial" panose="020B0604020202020204"/>
              <a:ea typeface="Arial" panose="020B0604020202020204"/>
            </a:endParaRPr>
          </a:p>
        </p:txBody>
      </p:sp>
      <p:sp>
        <p:nvSpPr>
          <p:cNvPr id="253" name="TextBox 27"/>
          <p:cNvSpPr txBox="1"/>
          <p:nvPr/>
        </p:nvSpPr>
        <p:spPr>
          <a:xfrm>
            <a:off x="6291072" y="1609344"/>
            <a:ext cx="2441448" cy="335915"/>
          </a:xfrm>
          <a:prstGeom prst="rect">
            <a:avLst/>
          </a:prstGeom>
          <a:noFill/>
        </p:spPr>
        <p:txBody>
          <a:bodyPr wrap="square" lIns="27432" tIns="13716" rIns="27432" bIns="13716" anchor="t">
            <a:spAutoFit/>
          </a:bodyPr>
          <a:lstStyle/>
          <a:p>
            <a:pPr algn="l">
              <a:lnSpc>
                <a:spcPct val="112000"/>
              </a:lnSpc>
            </a:pPr>
            <a:r>
              <a:rPr lang="zh-CN" altLang="en-US" b="1" i="0">
                <a:solidFill>
                  <a:srgbClr val="1F2A33"/>
                </a:solidFill>
                <a:latin typeface="微软雅黑" panose="020B0503020204020204" pitchFamily="34" charset="-122"/>
                <a:ea typeface="微软雅黑" panose="020B0503020204020204" pitchFamily="34" charset="-122"/>
              </a:rPr>
              <a:t>条件化承载边界求解</a:t>
            </a:r>
            <a:endParaRPr lang="zh-CN" altLang="en-US" b="1" i="0">
              <a:solidFill>
                <a:srgbClr val="1F2A33"/>
              </a:solidFill>
              <a:latin typeface="微软雅黑" panose="020B0503020204020204" pitchFamily="34" charset="-122"/>
              <a:ea typeface="微软雅黑" panose="020B0503020204020204" pitchFamily="34" charset="-122"/>
            </a:endParaRPr>
          </a:p>
        </p:txBody>
      </p:sp>
      <p:cxnSp>
        <p:nvCxnSpPr>
          <p:cNvPr id="254" name="Connector 28"/>
          <p:cNvCxnSpPr/>
          <p:nvPr/>
        </p:nvCxnSpPr>
        <p:spPr>
          <a:xfrm>
            <a:off x="629107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55" name="TextBox 29"/>
          <p:cNvSpPr txBox="1"/>
          <p:nvPr/>
        </p:nvSpPr>
        <p:spPr>
          <a:xfrm>
            <a:off x="629107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定义并求解 CAWCC，扫描水源、气象、技术与运行策略组合下的容量曲面。</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56" name="Rounded Rectangle 30"/>
          <p:cNvSpPr/>
          <p:nvPr>
            <p:custDataLst>
              <p:tags r:id="rId9"/>
            </p:custDataLst>
          </p:nvPr>
        </p:nvSpPr>
        <p:spPr>
          <a:xfrm>
            <a:off x="629107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57" name="TextBox 31"/>
          <p:cNvSpPr txBox="1"/>
          <p:nvPr>
            <p:custDataLst>
              <p:tags r:id="rId10"/>
            </p:custDataLst>
          </p:nvPr>
        </p:nvSpPr>
        <p:spPr>
          <a:xfrm>
            <a:off x="6291072" y="4169663"/>
            <a:ext cx="2441448" cy="542925"/>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年均、日与极端小时承载边界为何不同？</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58" name="Rounded Rectangle 32"/>
          <p:cNvSpPr/>
          <p:nvPr>
            <p:custDataLst>
              <p:tags r:id="rId11"/>
            </p:custDataLst>
          </p:nvPr>
        </p:nvSpPr>
        <p:spPr>
          <a:xfrm>
            <a:off x="629107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59" name="TextBox 33"/>
          <p:cNvSpPr txBox="1"/>
          <p:nvPr>
            <p:custDataLst>
              <p:tags r:id="rId12"/>
            </p:custDataLst>
          </p:nvPr>
        </p:nvSpPr>
        <p:spPr>
          <a:xfrm>
            <a:off x="6291072" y="5138928"/>
            <a:ext cx="2441448" cy="542925"/>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多时间尺度 </a:t>
            </a:r>
            <a:r>
              <a:rPr lang="en-US" altLang="zh-CN" sz="1400" b="1" i="0">
                <a:solidFill>
                  <a:srgbClr val="005375"/>
                </a:solidFill>
                <a:latin typeface="微软雅黑" panose="020B0503020204020204" pitchFamily="34" charset="-122"/>
                <a:ea typeface="微软雅黑" panose="020B0503020204020204" pitchFamily="34" charset="-122"/>
              </a:rPr>
              <a:t>CAWCC </a:t>
            </a:r>
            <a:r>
              <a:rPr lang="zh-CN" altLang="en-US" sz="1400" b="1" i="0">
                <a:solidFill>
                  <a:srgbClr val="005375"/>
                </a:solidFill>
                <a:latin typeface="微软雅黑" panose="020B0503020204020204" pitchFamily="34" charset="-122"/>
                <a:ea typeface="微软雅黑" panose="020B0503020204020204" pitchFamily="34" charset="-122"/>
              </a:rPr>
              <a:t>承载曲面与边界提前机制</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60" name="Rounded Rectangle 34"/>
          <p:cNvSpPr/>
          <p:nvPr/>
        </p:nvSpPr>
        <p:spPr>
          <a:xfrm>
            <a:off x="898855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61" name="Rectangle 35"/>
          <p:cNvSpPr/>
          <p:nvPr/>
        </p:nvSpPr>
        <p:spPr>
          <a:xfrm>
            <a:off x="900684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62" name="Rectangle 36"/>
          <p:cNvSpPr/>
          <p:nvPr/>
        </p:nvSpPr>
        <p:spPr>
          <a:xfrm>
            <a:off x="900684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04</a:t>
            </a:r>
            <a:endParaRPr lang="zh-CN" altLang="en-US" sz="2400" b="1" i="0">
              <a:solidFill>
                <a:srgbClr val="FFFFFF"/>
              </a:solidFill>
              <a:latin typeface="Arial" panose="020B0604020202020204"/>
              <a:ea typeface="Arial" panose="020B0604020202020204"/>
            </a:endParaRPr>
          </a:p>
        </p:txBody>
      </p:sp>
      <p:sp>
        <p:nvSpPr>
          <p:cNvPr id="263" name="TextBox 37"/>
          <p:cNvSpPr txBox="1"/>
          <p:nvPr/>
        </p:nvSpPr>
        <p:spPr>
          <a:xfrm>
            <a:off x="9125712" y="1609344"/>
            <a:ext cx="2441448" cy="645795"/>
          </a:xfrm>
          <a:prstGeom prst="rect">
            <a:avLst/>
          </a:prstGeom>
          <a:noFill/>
        </p:spPr>
        <p:txBody>
          <a:bodyPr wrap="square" lIns="27432" tIns="13716" rIns="27432" bIns="13716" anchor="t">
            <a:spAutoFit/>
          </a:bodyPr>
          <a:lstStyle/>
          <a:p>
            <a:pPr algn="l">
              <a:lnSpc>
                <a:spcPct val="112000"/>
              </a:lnSpc>
            </a:pPr>
            <a:r>
              <a:rPr lang="zh-CN" altLang="en-US" b="1" i="0">
                <a:solidFill>
                  <a:srgbClr val="1F2A33"/>
                </a:solidFill>
                <a:latin typeface="微软雅黑" panose="020B0503020204020204" pitchFamily="34" charset="-122"/>
                <a:ea typeface="微软雅黑" panose="020B0503020204020204" pitchFamily="34" charset="-122"/>
              </a:rPr>
              <a:t>主导瓶颈识别与干预评估</a:t>
            </a:r>
            <a:endParaRPr lang="zh-CN" altLang="en-US" b="1" i="0">
              <a:solidFill>
                <a:srgbClr val="1F2A33"/>
              </a:solidFill>
              <a:latin typeface="微软雅黑" panose="020B0503020204020204" pitchFamily="34" charset="-122"/>
              <a:ea typeface="微软雅黑" panose="020B0503020204020204" pitchFamily="34" charset="-122"/>
            </a:endParaRPr>
          </a:p>
        </p:txBody>
      </p:sp>
      <p:cxnSp>
        <p:nvCxnSpPr>
          <p:cNvPr id="264" name="Connector 38"/>
          <p:cNvCxnSpPr/>
          <p:nvPr/>
        </p:nvCxnSpPr>
        <p:spPr>
          <a:xfrm>
            <a:off x="912571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65" name="TextBox 39"/>
          <p:cNvSpPr txBox="1"/>
          <p:nvPr/>
        </p:nvSpPr>
        <p:spPr>
          <a:xfrm>
            <a:off x="912571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通过敏感性分析识别主导瓶颈，比较不同干预措施对承载能力的提升效果。</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66" name="Rounded Rectangle 40"/>
          <p:cNvSpPr/>
          <p:nvPr>
            <p:custDataLst>
              <p:tags r:id="rId13"/>
            </p:custDataLst>
          </p:nvPr>
        </p:nvSpPr>
        <p:spPr>
          <a:xfrm>
            <a:off x="912571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67" name="TextBox 41"/>
          <p:cNvSpPr txBox="1"/>
          <p:nvPr>
            <p:custDataLst>
              <p:tags r:id="rId14"/>
            </p:custDataLst>
          </p:nvPr>
        </p:nvSpPr>
        <p:spPr>
          <a:xfrm>
            <a:off x="9125712" y="4169663"/>
            <a:ext cx="2441448" cy="542925"/>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瓶颈是什么、什么干预措施在什么条件下有效？</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68" name="Rounded Rectangle 42"/>
          <p:cNvSpPr/>
          <p:nvPr>
            <p:custDataLst>
              <p:tags r:id="rId15"/>
            </p:custDataLst>
          </p:nvPr>
        </p:nvSpPr>
        <p:spPr>
          <a:xfrm>
            <a:off x="912571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69" name="TextBox 43"/>
          <p:cNvSpPr txBox="1"/>
          <p:nvPr>
            <p:custDataLst>
              <p:tags r:id="rId16"/>
            </p:custDataLst>
          </p:nvPr>
        </p:nvSpPr>
        <p:spPr>
          <a:xfrm>
            <a:off x="9125712" y="5138928"/>
            <a:ext cx="2441448" cy="542925"/>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主导瓶颈转换图谱与协同规划建议</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38" name=""/>
        <p:cNvGrpSpPr/>
        <p:nvPr/>
      </p:nvGrpSpPr>
      <p:grpSpPr>
        <a:xfrm>
          <a:off x="0" y="0"/>
          <a:ext cx="0" cy="0"/>
          <a:chOff x="0" y="0"/>
          <a:chExt cx="0" cy="0"/>
        </a:xfrm>
      </p:grpSpPr>
      <p:sp>
        <p:nvSpPr>
          <p:cNvPr id="43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实验设计：五组控制实验</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442" name="Rounded Rectangle 4"/>
          <p:cNvSpPr/>
          <p:nvPr>
            <p:custDataLst>
              <p:tags r:id="rId1"/>
            </p:custDataLst>
          </p:nvPr>
        </p:nvSpPr>
        <p:spPr>
          <a:xfrm>
            <a:off x="484632" y="889000"/>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3" name="Rectangle 5"/>
          <p:cNvSpPr/>
          <p:nvPr>
            <p:custDataLst>
              <p:tags r:id="rId2"/>
            </p:custDataLst>
          </p:nvPr>
        </p:nvSpPr>
        <p:spPr>
          <a:xfrm>
            <a:off x="502920" y="88442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4" name="Rectangle 6"/>
          <p:cNvSpPr/>
          <p:nvPr>
            <p:custDataLst>
              <p:tags r:id="rId3"/>
            </p:custDataLst>
          </p:nvPr>
        </p:nvSpPr>
        <p:spPr>
          <a:xfrm>
            <a:off x="484632" y="889000"/>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E1</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45" name="TextBox 7"/>
          <p:cNvSpPr txBox="1"/>
          <p:nvPr>
            <p:custDataLst>
              <p:tags r:id="rId4"/>
            </p:custDataLst>
          </p:nvPr>
        </p:nvSpPr>
        <p:spPr>
          <a:xfrm>
            <a:off x="1417320" y="1035304"/>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算力规模梯度实验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46" name="TextBox 8"/>
          <p:cNvSpPr txBox="1"/>
          <p:nvPr>
            <p:custDataLst>
              <p:tags r:id="rId5"/>
            </p:custDataLst>
          </p:nvPr>
        </p:nvSpPr>
        <p:spPr>
          <a:xfrm>
            <a:off x="1417320" y="1437640"/>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改变 AI 节点算力规模，观察水代谢通量与承载状态的响应梯度。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47" name="Rectangle 9"/>
          <p:cNvSpPr/>
          <p:nvPr>
            <p:custDataLst>
              <p:tags r:id="rId6"/>
            </p:custDataLst>
          </p:nvPr>
        </p:nvSpPr>
        <p:spPr>
          <a:xfrm>
            <a:off x="1417320" y="2315464"/>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400" b="1" i="0">
                <a:solidFill>
                  <a:srgbClr val="005375"/>
                </a:solidFill>
                <a:latin typeface="微软雅黑" panose="020B0503020204020204" pitchFamily="34" charset="-122"/>
                <a:ea typeface="微软雅黑" panose="020B0503020204020204" pitchFamily="34" charset="-122"/>
              </a:rPr>
              <a:t>检验 ：响应是否显著且呈梯度</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448" name="Rounded Rectangle 10"/>
          <p:cNvSpPr/>
          <p:nvPr>
            <p:custDataLst>
              <p:tags r:id="rId7"/>
            </p:custDataLst>
          </p:nvPr>
        </p:nvSpPr>
        <p:spPr>
          <a:xfrm>
            <a:off x="6199632" y="889000"/>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9" name="Rectangle 11"/>
          <p:cNvSpPr/>
          <p:nvPr>
            <p:custDataLst>
              <p:tags r:id="rId8"/>
            </p:custDataLst>
          </p:nvPr>
        </p:nvSpPr>
        <p:spPr>
          <a:xfrm>
            <a:off x="6217920" y="88442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0" name="Rectangle 12"/>
          <p:cNvSpPr/>
          <p:nvPr>
            <p:custDataLst>
              <p:tags r:id="rId9"/>
            </p:custDataLst>
          </p:nvPr>
        </p:nvSpPr>
        <p:spPr>
          <a:xfrm>
            <a:off x="6199632" y="889000"/>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E2</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51" name="TextBox 13"/>
          <p:cNvSpPr txBox="1"/>
          <p:nvPr>
            <p:custDataLst>
              <p:tags r:id="rId10"/>
            </p:custDataLst>
          </p:nvPr>
        </p:nvSpPr>
        <p:spPr>
          <a:xfrm>
            <a:off x="7132320" y="1035304"/>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水源结构对照实验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52" name="TextBox 14"/>
          <p:cNvSpPr txBox="1"/>
          <p:nvPr>
            <p:custDataLst>
              <p:tags r:id="rId11"/>
            </p:custDataLst>
          </p:nvPr>
        </p:nvSpPr>
        <p:spPr>
          <a:xfrm>
            <a:off x="7132320" y="1437640"/>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对比淡水为主与再生水为主的供水结构，观察承载边界差异。</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53" name="Rectangle 15"/>
          <p:cNvSpPr/>
          <p:nvPr>
            <p:custDataLst>
              <p:tags r:id="rId12"/>
            </p:custDataLst>
          </p:nvPr>
        </p:nvSpPr>
        <p:spPr>
          <a:xfrm>
            <a:off x="7132320" y="2315464"/>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400" b="1" i="0">
                <a:solidFill>
                  <a:srgbClr val="005375"/>
                </a:solidFill>
                <a:latin typeface="微软雅黑" panose="020B0503020204020204" pitchFamily="34" charset="-122"/>
                <a:ea typeface="微软雅黑" panose="020B0503020204020204" pitchFamily="34" charset="-122"/>
              </a:rPr>
              <a:t>检验 ：边界是否随水源条件化</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454" name="Rounded Rectangle 16"/>
          <p:cNvSpPr/>
          <p:nvPr>
            <p:custDataLst>
              <p:tags r:id="rId13"/>
            </p:custDataLst>
          </p:nvPr>
        </p:nvSpPr>
        <p:spPr>
          <a:xfrm>
            <a:off x="484632" y="2964688"/>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5" name="Rectangle 17"/>
          <p:cNvSpPr/>
          <p:nvPr>
            <p:custDataLst>
              <p:tags r:id="rId14"/>
            </p:custDataLst>
          </p:nvPr>
        </p:nvSpPr>
        <p:spPr>
          <a:xfrm>
            <a:off x="502920" y="2960116"/>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6" name="Rectangle 18"/>
          <p:cNvSpPr/>
          <p:nvPr>
            <p:custDataLst>
              <p:tags r:id="rId15"/>
            </p:custDataLst>
          </p:nvPr>
        </p:nvSpPr>
        <p:spPr>
          <a:xfrm>
            <a:off x="484632" y="2964688"/>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E3</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57" name="TextBox 19"/>
          <p:cNvSpPr txBox="1"/>
          <p:nvPr>
            <p:custDataLst>
              <p:tags r:id="rId16"/>
            </p:custDataLst>
          </p:nvPr>
        </p:nvSpPr>
        <p:spPr>
          <a:xfrm>
            <a:off x="1417320" y="3110992"/>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气象与季节情景实验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58" name="TextBox 20"/>
          <p:cNvSpPr txBox="1"/>
          <p:nvPr>
            <p:custDataLst>
              <p:tags r:id="rId17"/>
            </p:custDataLst>
          </p:nvPr>
        </p:nvSpPr>
        <p:spPr>
          <a:xfrm>
            <a:off x="1371600" y="3522853"/>
            <a:ext cx="4389120" cy="83439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改变气温、湿度与季节分布，观察冷却负荷与取水的时序变化，进行多时间尺度与复合气象情景实验（年-日-极端小时对比）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59" name="Rectangle 21"/>
          <p:cNvSpPr/>
          <p:nvPr>
            <p:custDataLst>
              <p:tags r:id="rId18"/>
            </p:custDataLst>
          </p:nvPr>
        </p:nvSpPr>
        <p:spPr>
          <a:xfrm>
            <a:off x="1417320" y="4391152"/>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400" b="1" i="0">
                <a:solidFill>
                  <a:srgbClr val="005375"/>
                </a:solidFill>
                <a:latin typeface="微软雅黑" panose="020B0503020204020204" pitchFamily="34" charset="-122"/>
                <a:ea typeface="微软雅黑" panose="020B0503020204020204" pitchFamily="34" charset="-122"/>
              </a:rPr>
              <a:t>检验 ：季节敏感性</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460" name="Rounded Rectangle 22"/>
          <p:cNvSpPr/>
          <p:nvPr>
            <p:custDataLst>
              <p:tags r:id="rId19"/>
            </p:custDataLst>
          </p:nvPr>
        </p:nvSpPr>
        <p:spPr>
          <a:xfrm>
            <a:off x="6199632" y="2964688"/>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61" name="Rectangle 23"/>
          <p:cNvSpPr/>
          <p:nvPr>
            <p:custDataLst>
              <p:tags r:id="rId20"/>
            </p:custDataLst>
          </p:nvPr>
        </p:nvSpPr>
        <p:spPr>
          <a:xfrm>
            <a:off x="6217920" y="2960116"/>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62" name="Rectangle 24"/>
          <p:cNvSpPr/>
          <p:nvPr>
            <p:custDataLst>
              <p:tags r:id="rId21"/>
            </p:custDataLst>
          </p:nvPr>
        </p:nvSpPr>
        <p:spPr>
          <a:xfrm>
            <a:off x="6199632" y="2964688"/>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E4</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63" name="TextBox 25"/>
          <p:cNvSpPr txBox="1"/>
          <p:nvPr>
            <p:custDataLst>
              <p:tags r:id="rId22"/>
            </p:custDataLst>
          </p:nvPr>
        </p:nvSpPr>
        <p:spPr>
          <a:xfrm>
            <a:off x="7132320" y="3110992"/>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技术与策略组合实验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64" name="TextBox 26"/>
          <p:cNvSpPr txBox="1"/>
          <p:nvPr>
            <p:custDataLst>
              <p:tags r:id="rId23"/>
            </p:custDataLst>
          </p:nvPr>
        </p:nvSpPr>
        <p:spPr>
          <a:xfrm>
            <a:off x="7132320" y="3513328"/>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组合冷却方式、PUE、浓缩倍数与调度策略，评估干预提升效果。</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65" name="Rectangle 27"/>
          <p:cNvSpPr/>
          <p:nvPr>
            <p:custDataLst>
              <p:tags r:id="rId24"/>
            </p:custDataLst>
          </p:nvPr>
        </p:nvSpPr>
        <p:spPr>
          <a:xfrm>
            <a:off x="7132320" y="4391152"/>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400" b="1" i="0">
                <a:solidFill>
                  <a:srgbClr val="005375"/>
                </a:solidFill>
                <a:latin typeface="微软雅黑" panose="020B0503020204020204" pitchFamily="34" charset="-122"/>
                <a:ea typeface="微软雅黑" panose="020B0503020204020204" pitchFamily="34" charset="-122"/>
              </a:rPr>
              <a:t>检验 ：瓶颈迁移与干预效果</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7" name="Rounded Rectangle 16"/>
          <p:cNvSpPr/>
          <p:nvPr>
            <p:custDataLst>
              <p:tags r:id="rId25"/>
            </p:custDataLst>
          </p:nvPr>
        </p:nvSpPr>
        <p:spPr>
          <a:xfrm>
            <a:off x="1314450" y="5043170"/>
            <a:ext cx="9704070" cy="1383665"/>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 name="Rectangle 17"/>
          <p:cNvSpPr/>
          <p:nvPr>
            <p:custDataLst>
              <p:tags r:id="rId26"/>
            </p:custDataLst>
          </p:nvPr>
        </p:nvSpPr>
        <p:spPr>
          <a:xfrm>
            <a:off x="1332865" y="4967605"/>
            <a:ext cx="9685020" cy="762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Rectangle 18"/>
          <p:cNvSpPr/>
          <p:nvPr>
            <p:custDataLst>
              <p:tags r:id="rId27"/>
            </p:custDataLst>
          </p:nvPr>
        </p:nvSpPr>
        <p:spPr>
          <a:xfrm>
            <a:off x="1314450" y="5035550"/>
            <a:ext cx="721995" cy="137223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a:t>
            </a:r>
            <a:r>
              <a:rPr lang="en-US" altLang="zh-CN" sz="2800" b="1" i="0">
                <a:solidFill>
                  <a:srgbClr val="FFFFFF"/>
                </a:solidFill>
                <a:latin typeface="微软雅黑" panose="020B0503020204020204" pitchFamily="34" charset="-122"/>
                <a:ea typeface="微软雅黑" panose="020B0503020204020204" pitchFamily="34" charset="-122"/>
              </a:rPr>
              <a:t>5</a:t>
            </a:r>
            <a:endParaRPr lang="en-US" altLang="zh-CN" sz="2800" b="1" i="0">
              <a:solidFill>
                <a:srgbClr val="FFFFFF"/>
              </a:solidFill>
              <a:latin typeface="微软雅黑" panose="020B0503020204020204" pitchFamily="34" charset="-122"/>
              <a:ea typeface="微软雅黑" panose="020B0503020204020204" pitchFamily="34" charset="-122"/>
            </a:endParaRPr>
          </a:p>
        </p:txBody>
      </p:sp>
      <p:sp>
        <p:nvSpPr>
          <p:cNvPr id="4" name="TextBox 19"/>
          <p:cNvSpPr txBox="1"/>
          <p:nvPr>
            <p:custDataLst>
              <p:tags r:id="rId28"/>
            </p:custDataLst>
          </p:nvPr>
        </p:nvSpPr>
        <p:spPr>
          <a:xfrm>
            <a:off x="2247265" y="5247640"/>
            <a:ext cx="8771255" cy="421005"/>
          </a:xfrm>
          <a:prstGeom prst="rect">
            <a:avLst/>
          </a:prstGeom>
          <a:noFill/>
        </p:spPr>
        <p:txBody>
          <a:bodyPr wrap="square" lIns="27432" tIns="13716" rIns="27432" bIns="13716" anchor="t">
            <a:no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等效普通工业冷却对照实验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5" name="TextBox 20"/>
          <p:cNvSpPr txBox="1"/>
          <p:nvPr>
            <p:custDataLst>
              <p:tags r:id="rId29"/>
            </p:custDataLst>
          </p:nvPr>
        </p:nvSpPr>
        <p:spPr>
          <a:xfrm>
            <a:off x="2247265" y="5561330"/>
            <a:ext cx="8771255" cy="377190"/>
          </a:xfrm>
          <a:prstGeom prst="rect">
            <a:avLst/>
          </a:prstGeom>
          <a:noFill/>
        </p:spPr>
        <p:txBody>
          <a:bodyPr wrap="square" lIns="27432" tIns="13716" rIns="27432" bIns="13716" anchor="t">
            <a:no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设置年用水总量相当与峰值热负荷相当的两类普通工业对照，剥离连续运行与高温敏感带来的时序峰值差异。</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 name="Rectangle 21"/>
          <p:cNvSpPr/>
          <p:nvPr>
            <p:custDataLst>
              <p:tags r:id="rId30"/>
            </p:custDataLst>
          </p:nvPr>
        </p:nvSpPr>
        <p:spPr>
          <a:xfrm>
            <a:off x="2247265" y="5953125"/>
            <a:ext cx="8455660" cy="232410"/>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400" b="1" i="0">
                <a:solidFill>
                  <a:srgbClr val="005375"/>
                </a:solidFill>
                <a:latin typeface="微软雅黑" panose="020B0503020204020204" pitchFamily="34" charset="-122"/>
                <a:ea typeface="微软雅黑" panose="020B0503020204020204" pitchFamily="34" charset="-122"/>
              </a:rPr>
              <a:t>检验 ：算力负荷特异性机制</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总技术路线图</a:t>
            </a:r>
            <a:endParaRPr lang="zh-CN" altLang="en-US" sz="2800" b="1" i="0">
              <a:solidFill>
                <a:srgbClr val="0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rcRect t="7716" b="10521"/>
          <a:stretch>
            <a:fillRect/>
          </a:stretch>
        </p:blipFill>
        <p:spPr>
          <a:xfrm>
            <a:off x="1183005" y="763270"/>
            <a:ext cx="9735185" cy="56324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9" name="Title 1"/>
          <p:cNvSpPr>
            <a:spLocks noGrp="1"/>
          </p:cNvSpPr>
          <p:nvPr>
            <p:ph type="title"/>
          </p:nvPr>
        </p:nvSpPr>
        <p:spPr>
          <a:xfrm>
            <a:off x="484632" y="118872"/>
            <a:ext cx="11210544" cy="621792"/>
          </a:xfrm>
        </p:spPr>
        <p:txBody>
          <a:bodyPr wrap="square" lIns="0" tIns="18288" rIns="0" bIns="18288" anchor="ctr">
            <a:normAutofit/>
          </a:bodyPr>
          <a:lstStyle/>
          <a:p>
            <a:pPr algn="l"/>
            <a:r>
              <a:rPr lang="zh-CN" altLang="en-US" sz="2800" b="1" i="0">
                <a:solidFill>
                  <a:srgbClr val="000000"/>
                </a:solidFill>
                <a:latin typeface="微软雅黑" panose="020B0503020204020204" pitchFamily="34" charset="-122"/>
                <a:ea typeface="微软雅黑" panose="020B0503020204020204" pitchFamily="34" charset="-122"/>
              </a:rPr>
              <a:t>已完成的工作</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029335" y="1419225"/>
            <a:ext cx="9565005" cy="4169410"/>
          </a:xfrm>
          <a:prstGeom prst="rect">
            <a:avLst/>
          </a:prstGeom>
        </p:spPr>
        <p:txBody>
          <a:bodyPr wrap="square">
            <a:spAutoFit/>
          </a:bodyPr>
          <a:p>
            <a:pPr marL="285750" indent="-285750" fontAlgn="auto">
              <a:lnSpc>
                <a:spcPct val="150000"/>
              </a:lnSpc>
              <a:spcBef>
                <a:spcPts val="800"/>
              </a:spcBef>
              <a:spcAft>
                <a:spcPts val="800"/>
              </a:spcAft>
              <a:buFont typeface="Wingdings" panose="05000000000000000000" charset="0"/>
              <a:buChar char="l"/>
            </a:pPr>
            <a:r>
              <a:rPr lang="zh-CN" altLang="en-US" sz="2000" b="1">
                <a:solidFill>
                  <a:srgbClr val="005375"/>
                </a:solidFill>
                <a:latin typeface="微软雅黑" panose="020B0503020204020204" pitchFamily="34" charset="-122"/>
                <a:ea typeface="微软雅黑" panose="020B0503020204020204" pitchFamily="34" charset="-122"/>
                <a:cs typeface="微软雅黑" panose="020B0503020204020204" pitchFamily="34" charset="-122"/>
              </a:rPr>
              <a:t>机理推导与数理闭环</a:t>
            </a:r>
            <a:r>
              <a:rPr lang="zh-CN" altLang="en-US">
                <a:latin typeface="微软雅黑" panose="020B0503020204020204" pitchFamily="34" charset="-122"/>
                <a:ea typeface="微软雅黑" panose="020B0503020204020204" pitchFamily="34" charset="-122"/>
                <a:cs typeface="微软雅黑" panose="020B0503020204020204" pitchFamily="34" charset="-122"/>
              </a:rPr>
              <a:t>：推导建立了涵盖城市供排水循环与</a:t>
            </a:r>
            <a:r>
              <a:rPr lang="en-US" altLang="zh-CN">
                <a:latin typeface="微软雅黑" panose="020B0503020204020204" pitchFamily="34" charset="-122"/>
                <a:ea typeface="微软雅黑" panose="020B0503020204020204" pitchFamily="34" charset="-122"/>
                <a:cs typeface="微软雅黑" panose="020B0503020204020204" pitchFamily="34" charset="-122"/>
              </a:rPr>
              <a:t>AI</a:t>
            </a:r>
            <a:r>
              <a:rPr lang="zh-CN" altLang="en-US">
                <a:latin typeface="微软雅黑" panose="020B0503020204020204" pitchFamily="34" charset="-122"/>
                <a:ea typeface="微软雅黑" panose="020B0503020204020204" pitchFamily="34" charset="-122"/>
                <a:cs typeface="微软雅黑" panose="020B0503020204020204" pitchFamily="34" charset="-122"/>
              </a:rPr>
              <a:t>相变排热的全过程控制方程体系，规范构建了联立</a:t>
            </a:r>
            <a:r>
              <a:rPr lang="en-US" altLang="zh-CN">
                <a:latin typeface="微软雅黑" panose="020B0503020204020204" pitchFamily="34" charset="-122"/>
                <a:ea typeface="微软雅黑" panose="020B0503020204020204" pitchFamily="34" charset="-122"/>
                <a:cs typeface="微软雅黑" panose="020B0503020204020204" pitchFamily="34" charset="-122"/>
              </a:rPr>
              <a:t>8</a:t>
            </a:r>
            <a:r>
              <a:rPr lang="zh-CN" altLang="en-US">
                <a:latin typeface="微软雅黑" panose="020B0503020204020204" pitchFamily="34" charset="-122"/>
                <a:ea typeface="微软雅黑" panose="020B0503020204020204" pitchFamily="34" charset="-122"/>
                <a:cs typeface="微软雅黑" panose="020B0503020204020204" pitchFamily="34" charset="-122"/>
              </a:rPr>
              <a:t>项工程物理硬约束的</a:t>
            </a:r>
            <a:r>
              <a:rPr lang="en-US" altLang="zh-CN">
                <a:latin typeface="微软雅黑" panose="020B0503020204020204" pitchFamily="34" charset="-122"/>
                <a:ea typeface="微软雅黑" panose="020B0503020204020204" pitchFamily="34" charset="-122"/>
                <a:cs typeface="微软雅黑" panose="020B0503020204020204" pitchFamily="34" charset="-122"/>
              </a:rPr>
              <a:t>CAWCC</a:t>
            </a:r>
            <a:r>
              <a:rPr lang="zh-CN" altLang="en-US">
                <a:latin typeface="微软雅黑" panose="020B0503020204020204" pitchFamily="34" charset="-122"/>
                <a:ea typeface="微软雅黑" panose="020B0503020204020204" pitchFamily="34" charset="-122"/>
                <a:cs typeface="微软雅黑" panose="020B0503020204020204" pitchFamily="34" charset="-122"/>
              </a:rPr>
              <a:t>规划求解模型。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150000"/>
              </a:lnSpc>
              <a:spcBef>
                <a:spcPts val="800"/>
              </a:spcBef>
              <a:spcAft>
                <a:spcPts val="800"/>
              </a:spcAft>
              <a:buFont typeface="Wingdings" panose="05000000000000000000" charset="0"/>
              <a:buChar char="l"/>
            </a:pPr>
            <a:r>
              <a:rPr lang="zh-CN" altLang="en-US" sz="2000" b="1">
                <a:solidFill>
                  <a:srgbClr val="005375"/>
                </a:solidFill>
                <a:latin typeface="微软雅黑" panose="020B0503020204020204" pitchFamily="34" charset="-122"/>
                <a:ea typeface="微软雅黑" panose="020B0503020204020204" pitchFamily="34" charset="-122"/>
                <a:cs typeface="微软雅黑" panose="020B0503020204020204" pitchFamily="34" charset="-122"/>
              </a:rPr>
              <a:t>模拟引擎与守恒测试</a:t>
            </a:r>
            <a:r>
              <a:rPr lang="zh-CN" altLang="en-US">
                <a:latin typeface="微软雅黑" panose="020B0503020204020204" pitchFamily="34" charset="-122"/>
                <a:ea typeface="微软雅黑" panose="020B0503020204020204" pitchFamily="34" charset="-122"/>
                <a:cs typeface="微软雅黑" panose="020B0503020204020204" pitchFamily="34" charset="-122"/>
              </a:rPr>
              <a:t>：基于</a:t>
            </a:r>
            <a:r>
              <a:rPr lang="en-US" altLang="zh-CN">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a:latin typeface="微软雅黑" panose="020B0503020204020204" pitchFamily="34" charset="-122"/>
                <a:ea typeface="微软雅黑" panose="020B0503020204020204" pitchFamily="34" charset="-122"/>
                <a:cs typeface="微软雅黑" panose="020B0503020204020204" pitchFamily="34" charset="-122"/>
              </a:rPr>
              <a:t>完成</a:t>
            </a:r>
            <a:r>
              <a:rPr lang="en-US" altLang="zh-CN">
                <a:latin typeface="微软雅黑" panose="020B0503020204020204" pitchFamily="34" charset="-122"/>
                <a:ea typeface="微软雅黑" panose="020B0503020204020204" pitchFamily="34" charset="-122"/>
                <a:cs typeface="微软雅黑" panose="020B0503020204020204" pitchFamily="34" charset="-122"/>
              </a:rPr>
              <a:t>AI-UWM</a:t>
            </a:r>
            <a:r>
              <a:rPr lang="zh-CN" altLang="en-US">
                <a:latin typeface="微软雅黑" panose="020B0503020204020204" pitchFamily="34" charset="-122"/>
                <a:ea typeface="微软雅黑" panose="020B0503020204020204" pitchFamily="34" charset="-122"/>
                <a:cs typeface="微软雅黑" panose="020B0503020204020204" pitchFamily="34" charset="-122"/>
              </a:rPr>
              <a:t>核心计算引擎封装与模块开发，已完成前后端解耦构建：后端计算引擎完成封装，前端模块化情景配置与可视化界面已同步落地；经</a:t>
            </a:r>
            <a:r>
              <a:rPr lang="en-US" altLang="zh-CN">
                <a:latin typeface="微软雅黑" panose="020B0503020204020204" pitchFamily="34" charset="-122"/>
                <a:ea typeface="微软雅黑" panose="020B0503020204020204" pitchFamily="34" charset="-122"/>
                <a:cs typeface="微软雅黑" panose="020B0503020204020204" pitchFamily="34" charset="-122"/>
              </a:rPr>
              <a:t>365</a:t>
            </a:r>
            <a:r>
              <a:rPr lang="zh-CN" altLang="en-US">
                <a:latin typeface="微软雅黑" panose="020B0503020204020204" pitchFamily="34" charset="-122"/>
                <a:ea typeface="微软雅黑" panose="020B0503020204020204" pitchFamily="34" charset="-122"/>
                <a:cs typeface="微软雅黑" panose="020B0503020204020204" pitchFamily="34" charset="-122"/>
              </a:rPr>
              <a:t>天连续时序测试，系统日尺度相对残差控制在 </a:t>
            </a:r>
            <a:r>
              <a:rPr lang="en-US" altLang="zh-CN">
                <a:latin typeface="微软雅黑" panose="020B0503020204020204" pitchFamily="34" charset="-122"/>
                <a:ea typeface="微软雅黑" panose="020B0503020204020204" pitchFamily="34" charset="-122"/>
                <a:cs typeface="微软雅黑" panose="020B0503020204020204" pitchFamily="34" charset="-122"/>
              </a:rPr>
              <a:t>10</a:t>
            </a:r>
            <a:r>
              <a:rPr lang="en-US" altLang="zh-CN" baseline="30000">
                <a:latin typeface="微软雅黑" panose="020B0503020204020204" pitchFamily="34" charset="-122"/>
                <a:ea typeface="微软雅黑" panose="020B0503020204020204" pitchFamily="34" charset="-122"/>
                <a:cs typeface="微软雅黑" panose="020B0503020204020204" pitchFamily="34" charset="-122"/>
              </a:rPr>
              <a:t>-8</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以内，通过数值自洽验收。</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150000"/>
              </a:lnSpc>
              <a:spcBef>
                <a:spcPts val="800"/>
              </a:spcBef>
              <a:spcAft>
                <a:spcPts val="800"/>
              </a:spcAft>
              <a:buFont typeface="Wingdings" panose="05000000000000000000" charset="0"/>
              <a:buChar char="l"/>
            </a:pPr>
            <a:r>
              <a:rPr lang="zh-CN" altLang="en-US" sz="2000" b="1">
                <a:solidFill>
                  <a:srgbClr val="005375"/>
                </a:solidFill>
                <a:latin typeface="微软雅黑" panose="020B0503020204020204" pitchFamily="34" charset="-122"/>
                <a:ea typeface="微软雅黑" panose="020B0503020204020204" pitchFamily="34" charset="-122"/>
                <a:cs typeface="微软雅黑" panose="020B0503020204020204" pitchFamily="34" charset="-122"/>
              </a:rPr>
              <a:t>参数证据库与原型标定</a:t>
            </a:r>
            <a:r>
              <a:rPr lang="zh-CN" altLang="en-US">
                <a:latin typeface="微软雅黑" panose="020B0503020204020204" pitchFamily="34" charset="-122"/>
                <a:ea typeface="微软雅黑" panose="020B0503020204020204" pitchFamily="34" charset="-122"/>
                <a:cs typeface="微软雅黑" panose="020B0503020204020204" pitchFamily="34" charset="-122"/>
              </a:rPr>
              <a:t>：依托国家标准（</a:t>
            </a:r>
            <a:r>
              <a:rPr lang="en-US" altLang="zh-CN">
                <a:latin typeface="微软雅黑" panose="020B0503020204020204" pitchFamily="34" charset="-122"/>
                <a:ea typeface="微软雅黑" panose="020B0503020204020204" pitchFamily="34" charset="-122"/>
                <a:cs typeface="微软雅黑" panose="020B0503020204020204" pitchFamily="34" charset="-122"/>
              </a:rPr>
              <a:t>GB/T 32910.6</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GB 50013</a:t>
            </a:r>
            <a:r>
              <a:rPr lang="zh-CN" altLang="en-US">
                <a:latin typeface="微软雅黑" panose="020B0503020204020204" pitchFamily="34" charset="-122"/>
                <a:ea typeface="微软雅黑" panose="020B0503020204020204" pitchFamily="34" charset="-122"/>
                <a:cs typeface="微软雅黑" panose="020B0503020204020204" pitchFamily="34" charset="-122"/>
              </a:rPr>
              <a:t>等）与水资源公报，完成“缺水</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高冷负荷型”与“气候凉爽型”两类典型原型城市参数域的基准标定。</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150000"/>
              </a:lnSpc>
              <a:spcBef>
                <a:spcPts val="800"/>
              </a:spcBef>
              <a:spcAft>
                <a:spcPts val="800"/>
              </a:spcAft>
              <a:buFont typeface="Wingdings" panose="05000000000000000000" charset="0"/>
              <a:buChar char="l"/>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1333500" y="5048885"/>
            <a:ext cx="6803390" cy="368300"/>
          </a:xfrm>
          <a:prstGeom prst="rect">
            <a:avLst/>
          </a:prstGeom>
        </p:spPr>
        <p:txBody>
          <a:bodyPr wrap="square">
            <a:spAutoFit/>
          </a:bodyPr>
          <a:p>
            <a:r>
              <a:rPr lang="zh-CN" altLang="en-US" b="1">
                <a:solidFill>
                  <a:schemeClr val="accent4"/>
                </a:solidFill>
                <a:latin typeface="微软雅黑" panose="020B0503020204020204" pitchFamily="34" charset="-122"/>
                <a:ea typeface="微软雅黑" panose="020B0503020204020204" pitchFamily="34" charset="-122"/>
                <a:cs typeface="微软雅黑" panose="020B0503020204020204" pitchFamily="34" charset="-122"/>
              </a:rPr>
              <a:t>项目仓库链接：</a:t>
            </a:r>
            <a:r>
              <a:rPr lang="en-US" altLang="zh-CN" b="1">
                <a:solidFill>
                  <a:schemeClr val="accent4"/>
                </a:solidFill>
                <a:latin typeface="微软雅黑" panose="020B0503020204020204" pitchFamily="34" charset="-122"/>
                <a:ea typeface="微软雅黑" panose="020B0503020204020204" pitchFamily="34" charset="-122"/>
                <a:cs typeface="微软雅黑" panose="020B0503020204020204" pitchFamily="34" charset="-122"/>
              </a:rPr>
              <a:t>https://github.com/mmrgr/AI-UWM</a:t>
            </a:r>
            <a:endParaRPr lang="en-US" altLang="zh-CN" b="1">
              <a:solidFill>
                <a:schemeClr val="accent4"/>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225550" y="907415"/>
            <a:ext cx="9742170" cy="5455285"/>
          </a:xfrm>
          <a:prstGeom prst="rect">
            <a:avLst/>
          </a:prstGeom>
        </p:spPr>
      </p:pic>
      <p:sp>
        <p:nvSpPr>
          <p:cNvPr id="439" name="Title 1"/>
          <p:cNvSpPr>
            <a:spLocks noGrp="1"/>
          </p:cNvSpPr>
          <p:nvPr>
            <p:ph type="title"/>
          </p:nvPr>
        </p:nvSpPr>
        <p:spPr>
          <a:xfrm>
            <a:off x="484632" y="118872"/>
            <a:ext cx="11210544" cy="621792"/>
          </a:xfrm>
        </p:spPr>
        <p:txBody>
          <a:bodyPr wrap="square" lIns="0" tIns="18288" rIns="0" bIns="18288" anchor="ctr">
            <a:normAutofit/>
          </a:bodyPr>
          <a:lstStyle/>
          <a:p>
            <a:pPr algn="l"/>
            <a:r>
              <a:rPr lang="zh-CN" altLang="en-US" sz="2800" b="1" i="0">
                <a:solidFill>
                  <a:srgbClr val="000000"/>
                </a:solidFill>
                <a:latin typeface="微软雅黑" panose="020B0503020204020204" pitchFamily="34" charset="-122"/>
                <a:ea typeface="微软雅黑" panose="020B0503020204020204" pitchFamily="34" charset="-122"/>
              </a:rPr>
              <a:t>已完成的工作</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771390" y="1711960"/>
            <a:ext cx="2649855" cy="922020"/>
          </a:xfrm>
          <a:prstGeom prst="rect">
            <a:avLst/>
          </a:prstGeom>
          <a:solidFill>
            <a:schemeClr val="bg1">
              <a:alpha val="90000"/>
            </a:schemeClr>
          </a:solidFill>
          <a:ln w="28575">
            <a:solidFill>
              <a:srgbClr val="005375"/>
            </a:solidFill>
          </a:ln>
        </p:spPr>
        <p:txBody>
          <a:bodyPr wrap="square">
            <a:spAutoFit/>
          </a:bodyPr>
          <a:p>
            <a:r>
              <a:rPr lang="zh-CN" altLang="en-US" b="1">
                <a:solidFill>
                  <a:srgbClr val="005376"/>
                </a:solidFill>
                <a:latin typeface="微软雅黑" panose="020B0503020204020204" pitchFamily="34" charset="-122"/>
                <a:ea typeface="微软雅黑" panose="020B0503020204020204" pitchFamily="34" charset="-122"/>
                <a:cs typeface="微软雅黑" panose="020B0503020204020204" pitchFamily="34" charset="-122"/>
              </a:rPr>
              <a:t>项目仓库链接：</a:t>
            </a:r>
            <a:r>
              <a:rPr lang="en-US" altLang="zh-CN" b="1">
                <a:solidFill>
                  <a:srgbClr val="005376"/>
                </a:solidFill>
                <a:latin typeface="微软雅黑" panose="020B0503020204020204" pitchFamily="34" charset="-122"/>
                <a:ea typeface="微软雅黑" panose="020B0503020204020204" pitchFamily="34" charset="-122"/>
                <a:cs typeface="微软雅黑" panose="020B0503020204020204" pitchFamily="34" charset="-122"/>
              </a:rPr>
              <a:t>https://github.com/mmrgr/AI-UWM</a:t>
            </a:r>
            <a:endParaRPr lang="en-US" altLang="zh-CN" b="1">
              <a:solidFill>
                <a:srgbClr val="005376"/>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82" name=""/>
        <p:cNvGrpSpPr/>
        <p:nvPr/>
      </p:nvGrpSpPr>
      <p:grpSpPr>
        <a:xfrm>
          <a:off x="0" y="0"/>
          <a:ext cx="0" cy="0"/>
          <a:chOff x="0" y="0"/>
          <a:chExt cx="0" cy="0"/>
        </a:xfrm>
      </p:grpSpPr>
      <p:sp>
        <p:nvSpPr>
          <p:cNvPr id="585" name="TextBox 4"/>
          <p:cNvSpPr txBox="1"/>
          <p:nvPr/>
        </p:nvSpPr>
        <p:spPr>
          <a:xfrm>
            <a:off x="731520" y="1793240"/>
            <a:ext cx="4206240" cy="1621790"/>
          </a:xfrm>
          <a:prstGeom prst="rect">
            <a:avLst/>
          </a:prstGeom>
          <a:noFill/>
        </p:spPr>
        <p:txBody>
          <a:bodyPr wrap="square" lIns="27432" tIns="13716" rIns="27432" bIns="13716" anchor="t">
            <a:spAutoFit/>
          </a:bodyPr>
          <a:lstStyle/>
          <a:p>
            <a:pPr algn="l">
              <a:lnSpc>
                <a:spcPct val="108000"/>
              </a:lnSpc>
            </a:pPr>
            <a:r>
              <a:rPr lang="zh-CN" altLang="en-US" sz="9600" b="1" i="0">
                <a:solidFill>
                  <a:srgbClr val="005375"/>
                </a:solidFill>
                <a:latin typeface="微软雅黑" panose="020B0503020204020204" pitchFamily="34" charset="-122"/>
                <a:ea typeface="微软雅黑" panose="020B0503020204020204" pitchFamily="34" charset="-122"/>
              </a:rPr>
              <a:t>0</a:t>
            </a:r>
            <a:r>
              <a:rPr lang="en-US" altLang="zh-CN" sz="9600" b="1" i="0">
                <a:solidFill>
                  <a:srgbClr val="005375"/>
                </a:solidFill>
                <a:latin typeface="微软雅黑" panose="020B0503020204020204" pitchFamily="34" charset="-122"/>
                <a:ea typeface="微软雅黑" panose="020B0503020204020204" pitchFamily="34" charset="-122"/>
              </a:rPr>
              <a:t>4</a:t>
            </a:r>
            <a:endParaRPr lang="en-US" altLang="zh-CN" sz="9600" b="1" i="0">
              <a:solidFill>
                <a:srgbClr val="005375"/>
              </a:solidFill>
              <a:latin typeface="微软雅黑" panose="020B0503020204020204" pitchFamily="34" charset="-122"/>
              <a:ea typeface="微软雅黑" panose="020B0503020204020204" pitchFamily="34" charset="-122"/>
            </a:endParaRPr>
          </a:p>
        </p:txBody>
      </p:sp>
      <p:sp>
        <p:nvSpPr>
          <p:cNvPr id="586" name="TextBox 5"/>
          <p:cNvSpPr txBox="1"/>
          <p:nvPr/>
        </p:nvSpPr>
        <p:spPr>
          <a:xfrm>
            <a:off x="896112" y="3411728"/>
            <a:ext cx="3200400" cy="241935"/>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F</a:t>
            </a:r>
            <a:r>
              <a:rPr lang="en-US" altLang="zh-CN" sz="1300" b="0" i="0" spc="300">
                <a:solidFill>
                  <a:srgbClr val="8CA3AF"/>
                </a:solidFill>
                <a:latin typeface="Arial" panose="020B0604020202020204"/>
                <a:ea typeface="Arial" panose="020B0604020202020204"/>
              </a:rPr>
              <a:t>OUR</a:t>
            </a:r>
            <a:endParaRPr lang="en-US" altLang="zh-CN" sz="1300" b="0" i="0" spc="300">
              <a:solidFill>
                <a:srgbClr val="8CA3AF"/>
              </a:solidFill>
              <a:latin typeface="Arial" panose="020B0604020202020204"/>
              <a:ea typeface="Arial" panose="020B0604020202020204"/>
            </a:endParaRPr>
          </a:p>
        </p:txBody>
      </p:sp>
      <p:sp>
        <p:nvSpPr>
          <p:cNvPr id="587" name="TextBox 6"/>
          <p:cNvSpPr txBox="1"/>
          <p:nvPr/>
        </p:nvSpPr>
        <p:spPr>
          <a:xfrm>
            <a:off x="786384" y="3759200"/>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研究基础、进度与预期成果</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588" name="Rounded Rectangle 9"/>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89" name="Rectangle 10"/>
          <p:cNvSpPr/>
          <p:nvPr/>
        </p:nvSpPr>
        <p:spPr>
          <a:xfrm>
            <a:off x="5760720" y="1643634"/>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研究基础</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0" name="Right Triangle 11"/>
          <p:cNvSpPr/>
          <p:nvPr/>
        </p:nvSpPr>
        <p:spPr>
          <a:xfrm>
            <a:off x="7178040" y="1643634"/>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1" name="TextBox 12"/>
          <p:cNvSpPr txBox="1"/>
          <p:nvPr/>
        </p:nvSpPr>
        <p:spPr>
          <a:xfrm>
            <a:off x="7360920" y="1741678"/>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已有数据、方法与前期工作积累</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92" name="Rounded Rectangle 13"/>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93" name="Rectangle 14"/>
          <p:cNvSpPr/>
          <p:nvPr/>
        </p:nvSpPr>
        <p:spPr>
          <a:xfrm>
            <a:off x="5760720" y="3088386"/>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进度安排</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4" name="Right Triangle 15"/>
          <p:cNvSpPr/>
          <p:nvPr/>
        </p:nvSpPr>
        <p:spPr>
          <a:xfrm>
            <a:off x="7178040" y="3088386"/>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5" name="TextBox 16"/>
          <p:cNvSpPr txBox="1"/>
          <p:nvPr/>
        </p:nvSpPr>
        <p:spPr>
          <a:xfrm>
            <a:off x="7360920" y="3186430"/>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五个阶段的时间节点与里程碑</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96" name="Rounded Rectangle 17"/>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97" name="Rectangle 18"/>
          <p:cNvSpPr/>
          <p:nvPr/>
        </p:nvSpPr>
        <p:spPr>
          <a:xfrm>
            <a:off x="5760720" y="4533138"/>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预期成果</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8" name="Right Triangle 19"/>
          <p:cNvSpPr/>
          <p:nvPr/>
        </p:nvSpPr>
        <p:spPr>
          <a:xfrm>
            <a:off x="7178040" y="4533138"/>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9" name="TextBox 20"/>
          <p:cNvSpPr txBox="1"/>
          <p:nvPr/>
        </p:nvSpPr>
        <p:spPr>
          <a:xfrm>
            <a:off x="7360920" y="4631182"/>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论文、指标方法与政策建议</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00" name=""/>
        <p:cNvGrpSpPr/>
        <p:nvPr/>
      </p:nvGrpSpPr>
      <p:grpSpPr>
        <a:xfrm>
          <a:off x="0" y="0"/>
          <a:ext cx="0" cy="0"/>
          <a:chOff x="0" y="0"/>
          <a:chExt cx="0" cy="0"/>
        </a:xfrm>
      </p:grpSpPr>
      <p:sp>
        <p:nvSpPr>
          <p:cNvPr id="601"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研究基础与进度安排</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604" name="Rounded Rectangle 4"/>
          <p:cNvSpPr/>
          <p:nvPr/>
        </p:nvSpPr>
        <p:spPr>
          <a:xfrm>
            <a:off x="484632" y="914400"/>
            <a:ext cx="4206240"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05" name="Rectangle 5"/>
          <p:cNvSpPr/>
          <p:nvPr/>
        </p:nvSpPr>
        <p:spPr>
          <a:xfrm>
            <a:off x="502920" y="932688"/>
            <a:ext cx="4169663"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06" name="Rectangle 6"/>
          <p:cNvSpPr/>
          <p:nvPr/>
        </p:nvSpPr>
        <p:spPr>
          <a:xfrm>
            <a:off x="502920" y="996696"/>
            <a:ext cx="4169663"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研究基础</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07" name="Rectangle 7"/>
          <p:cNvSpPr/>
          <p:nvPr/>
        </p:nvSpPr>
        <p:spPr>
          <a:xfrm>
            <a:off x="713232" y="1618488"/>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08" name="TextBox 8"/>
          <p:cNvSpPr txBox="1"/>
          <p:nvPr/>
        </p:nvSpPr>
        <p:spPr>
          <a:xfrm>
            <a:off x="932688" y="1600200"/>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文献与数据积累</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09" name="TextBox 9"/>
          <p:cNvSpPr txBox="1"/>
          <p:nvPr/>
        </p:nvSpPr>
        <p:spPr>
          <a:xfrm>
            <a:off x="932688" y="1892807"/>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已系统梳理算力水足迹、城市水代谢与优化配置相关文献与公开数据。</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0" name="Rectangle 10"/>
          <p:cNvSpPr/>
          <p:nvPr/>
        </p:nvSpPr>
        <p:spPr>
          <a:xfrm>
            <a:off x="713232" y="2679192"/>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1" name="TextBox 11"/>
          <p:cNvSpPr txBox="1"/>
          <p:nvPr/>
        </p:nvSpPr>
        <p:spPr>
          <a:xfrm>
            <a:off x="932688" y="2660904"/>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方法储备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2" name="TextBox 12"/>
          <p:cNvSpPr txBox="1"/>
          <p:nvPr/>
        </p:nvSpPr>
        <p:spPr>
          <a:xfrm>
            <a:off x="932688" y="2953512"/>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掌握水系统建模、情景模拟与敏感性分析的基本方法。</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3" name="Rectangle 13"/>
          <p:cNvSpPr/>
          <p:nvPr/>
        </p:nvSpPr>
        <p:spPr>
          <a:xfrm>
            <a:off x="713232" y="3739896"/>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4" name="TextBox 14"/>
          <p:cNvSpPr txBox="1"/>
          <p:nvPr/>
        </p:nvSpPr>
        <p:spPr>
          <a:xfrm>
            <a:off x="932688" y="3721608"/>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前期工作</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5" name="TextBox 15"/>
          <p:cNvSpPr txBox="1"/>
          <p:nvPr/>
        </p:nvSpPr>
        <p:spPr>
          <a:xfrm>
            <a:off x="932688" y="4014216"/>
            <a:ext cx="3611880" cy="813435"/>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已完成数学物理方程闭环推导、</a:t>
            </a:r>
            <a:r>
              <a:rPr lang="en-US" altLang="zh-CN" sz="1400" b="0" i="0">
                <a:solidFill>
                  <a:srgbClr val="5A6B76"/>
                </a:solidFill>
                <a:latin typeface="微软雅黑" panose="020B0503020204020204" pitchFamily="34" charset="-122"/>
                <a:ea typeface="微软雅黑" panose="020B0503020204020204" pitchFamily="34" charset="-122"/>
              </a:rPr>
              <a:t>AI-UWM</a:t>
            </a:r>
            <a:r>
              <a:rPr lang="zh-CN" altLang="en-US" sz="1400" b="0" i="0">
                <a:solidFill>
                  <a:srgbClr val="5A6B76"/>
                </a:solidFill>
                <a:latin typeface="微软雅黑" panose="020B0503020204020204" pitchFamily="34" charset="-122"/>
                <a:ea typeface="微软雅黑" panose="020B0503020204020204" pitchFamily="34" charset="-122"/>
              </a:rPr>
              <a:t>前后端开发部署、守恒性校核及基准参数证据库标定</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6" name="Rectangle 16"/>
          <p:cNvSpPr/>
          <p:nvPr/>
        </p:nvSpPr>
        <p:spPr>
          <a:xfrm>
            <a:off x="713232" y="4800600"/>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7" name="TextBox 17"/>
          <p:cNvSpPr txBox="1"/>
          <p:nvPr/>
        </p:nvSpPr>
        <p:spPr>
          <a:xfrm>
            <a:off x="932688" y="4782312"/>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条件保障</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8" name="TextBox 18"/>
          <p:cNvSpPr txBox="1"/>
          <p:nvPr/>
        </p:nvSpPr>
        <p:spPr>
          <a:xfrm>
            <a:off x="932688" y="5074920"/>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依托课题组已有数据与计算环境，可支撑模型构建与实验。</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9" name="Rounded Rectangle 19"/>
          <p:cNvSpPr/>
          <p:nvPr/>
        </p:nvSpPr>
        <p:spPr>
          <a:xfrm>
            <a:off x="4846320" y="914400"/>
            <a:ext cx="6858000"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0" name="Rectangle 20"/>
          <p:cNvSpPr/>
          <p:nvPr/>
        </p:nvSpPr>
        <p:spPr>
          <a:xfrm>
            <a:off x="4864608" y="932688"/>
            <a:ext cx="6821424"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21" name="Rectangle 21"/>
          <p:cNvSpPr/>
          <p:nvPr/>
        </p:nvSpPr>
        <p:spPr>
          <a:xfrm>
            <a:off x="4864608" y="996696"/>
            <a:ext cx="6821424"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进度安排：五个阶段</a:t>
            </a:r>
            <a:endParaRPr lang="zh-CN" altLang="en-US" b="1" i="0">
              <a:solidFill>
                <a:srgbClr val="FFFFFF"/>
              </a:solidFill>
              <a:latin typeface="微软雅黑" panose="020B0503020204020204" pitchFamily="34" charset="-122"/>
              <a:ea typeface="微软雅黑" panose="020B0503020204020204" pitchFamily="34" charset="-122"/>
            </a:endParaRPr>
          </a:p>
        </p:txBody>
      </p:sp>
      <p:cxnSp>
        <p:nvCxnSpPr>
          <p:cNvPr id="622" name="Connector 22"/>
          <p:cNvCxnSpPr/>
          <p:nvPr/>
        </p:nvCxnSpPr>
        <p:spPr>
          <a:xfrm>
            <a:off x="6812280" y="1691640"/>
            <a:ext cx="0" cy="3977639"/>
          </a:xfrm>
          <a:prstGeom prst="line">
            <a:avLst/>
          </a:prstGeom>
          <a:ln w="15240">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623" name="Rectangle 23"/>
          <p:cNvSpPr/>
          <p:nvPr/>
        </p:nvSpPr>
        <p:spPr>
          <a:xfrm>
            <a:off x="5074920" y="1600200"/>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2026.0</a:t>
            </a:r>
            <a:r>
              <a:rPr lang="en-US" altLang="zh-CN" sz="1400" b="1" i="0">
                <a:solidFill>
                  <a:srgbClr val="005375"/>
                </a:solidFill>
                <a:latin typeface="Arial" panose="020B0604020202020204"/>
                <a:ea typeface="Arial" panose="020B0604020202020204"/>
              </a:rPr>
              <a:t>6</a:t>
            </a:r>
            <a:r>
              <a:rPr lang="zh-CN" altLang="en-US" sz="1400" b="1" i="0">
                <a:solidFill>
                  <a:srgbClr val="005375"/>
                </a:solidFill>
                <a:latin typeface="Arial" panose="020B0604020202020204"/>
                <a:ea typeface="Arial" panose="020B0604020202020204"/>
              </a:rPr>
              <a:t> - 2026.11</a:t>
            </a:r>
            <a:endParaRPr lang="zh-CN" altLang="en-US" sz="1400" b="1" i="0">
              <a:solidFill>
                <a:srgbClr val="005375"/>
              </a:solidFill>
              <a:latin typeface="Arial" panose="020B0604020202020204"/>
              <a:ea typeface="Arial" panose="020B0604020202020204"/>
            </a:endParaRPr>
          </a:p>
        </p:txBody>
      </p:sp>
      <p:sp>
        <p:nvSpPr>
          <p:cNvPr id="624" name="Oval 24"/>
          <p:cNvSpPr/>
          <p:nvPr/>
        </p:nvSpPr>
        <p:spPr>
          <a:xfrm>
            <a:off x="6748272" y="1792224"/>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5" name="TextBox 25"/>
          <p:cNvSpPr txBox="1"/>
          <p:nvPr/>
        </p:nvSpPr>
        <p:spPr>
          <a:xfrm>
            <a:off x="7059168" y="1581912"/>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模型构建</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26" name="TextBox 26"/>
          <p:cNvSpPr txBox="1"/>
          <p:nvPr/>
        </p:nvSpPr>
        <p:spPr>
          <a:xfrm>
            <a:off x="7059168" y="1856232"/>
            <a:ext cx="4480560" cy="49085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建立 </a:t>
            </a:r>
            <a:r>
              <a:rPr lang="en-US" altLang="zh-CN" sz="1400" b="0" i="0">
                <a:solidFill>
                  <a:srgbClr val="5A6B76"/>
                </a:solidFill>
                <a:latin typeface="微软雅黑" panose="020B0503020204020204" pitchFamily="34" charset="-122"/>
                <a:ea typeface="微软雅黑" panose="020B0503020204020204" pitchFamily="34" charset="-122"/>
              </a:rPr>
              <a:t>AI-UWM </a:t>
            </a:r>
            <a:r>
              <a:rPr lang="zh-CN" altLang="en-US" sz="1400" b="0" i="0">
                <a:solidFill>
                  <a:srgbClr val="5A6B76"/>
                </a:solidFill>
                <a:latin typeface="微软雅黑" panose="020B0503020204020204" pitchFamily="34" charset="-122"/>
                <a:ea typeface="微软雅黑" panose="020B0503020204020204" pitchFamily="34" charset="-122"/>
              </a:rPr>
              <a:t>模型（后端与前端），数据审计与守恒性单元测试，完成最小闭环</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27" name="Rectangle 27"/>
          <p:cNvSpPr/>
          <p:nvPr/>
        </p:nvSpPr>
        <p:spPr>
          <a:xfrm>
            <a:off x="5074920" y="2459736"/>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2026.11 - 2027.01</a:t>
            </a:r>
            <a:endParaRPr lang="zh-CN" altLang="en-US" sz="1400" b="1" i="0">
              <a:solidFill>
                <a:srgbClr val="005375"/>
              </a:solidFill>
              <a:latin typeface="Arial" panose="020B0604020202020204"/>
              <a:ea typeface="Arial" panose="020B0604020202020204"/>
            </a:endParaRPr>
          </a:p>
        </p:txBody>
      </p:sp>
      <p:sp>
        <p:nvSpPr>
          <p:cNvPr id="628" name="Oval 28"/>
          <p:cNvSpPr/>
          <p:nvPr/>
        </p:nvSpPr>
        <p:spPr>
          <a:xfrm>
            <a:off x="6748272" y="2651760"/>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9" name="TextBox 29"/>
          <p:cNvSpPr txBox="1"/>
          <p:nvPr/>
        </p:nvSpPr>
        <p:spPr>
          <a:xfrm>
            <a:off x="7059168" y="2441448"/>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代谢响应</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0" name="TextBox 30"/>
          <p:cNvSpPr txBox="1"/>
          <p:nvPr/>
        </p:nvSpPr>
        <p:spPr>
          <a:xfrm>
            <a:off x="7059168" y="2715768"/>
            <a:ext cx="4480560" cy="49085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参数化系统输入校核、容量梯度实验、</a:t>
            </a:r>
            <a:r>
              <a:rPr lang="en-US" altLang="zh-CN" sz="1400" b="0" i="0">
                <a:solidFill>
                  <a:srgbClr val="5A6B76"/>
                </a:solidFill>
                <a:latin typeface="微软雅黑" panose="020B0503020204020204" pitchFamily="34" charset="-122"/>
                <a:ea typeface="微软雅黑" panose="020B0503020204020204" pitchFamily="34" charset="-122"/>
              </a:rPr>
              <a:t>AI</a:t>
            </a:r>
            <a:r>
              <a:rPr lang="zh-CN" altLang="en-US" sz="1400" b="0" i="0">
                <a:solidFill>
                  <a:srgbClr val="5A6B76"/>
                </a:solidFill>
                <a:latin typeface="微软雅黑" panose="020B0503020204020204" pitchFamily="34" charset="-122"/>
                <a:ea typeface="微软雅黑" panose="020B0503020204020204" pitchFamily="34" charset="-122"/>
              </a:rPr>
              <a:t>与普通工业对照实验</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1" name="Rectangle 31"/>
          <p:cNvSpPr/>
          <p:nvPr/>
        </p:nvSpPr>
        <p:spPr>
          <a:xfrm>
            <a:off x="5074920" y="3319272"/>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2027.01 - 2027.05</a:t>
            </a:r>
            <a:endParaRPr lang="zh-CN" altLang="en-US" sz="1400" b="1" i="0">
              <a:solidFill>
                <a:srgbClr val="005375"/>
              </a:solidFill>
              <a:latin typeface="Arial" panose="020B0604020202020204"/>
              <a:ea typeface="Arial" panose="020B0604020202020204"/>
            </a:endParaRPr>
          </a:p>
        </p:txBody>
      </p:sp>
      <p:sp>
        <p:nvSpPr>
          <p:cNvPr id="632" name="Oval 32"/>
          <p:cNvSpPr/>
          <p:nvPr/>
        </p:nvSpPr>
        <p:spPr>
          <a:xfrm>
            <a:off x="6748272" y="3511296"/>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33" name="TextBox 33"/>
          <p:cNvSpPr txBox="1"/>
          <p:nvPr/>
        </p:nvSpPr>
        <p:spPr>
          <a:xfrm>
            <a:off x="7059168" y="3300984"/>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承载边界</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4" name="TextBox 34"/>
          <p:cNvSpPr txBox="1"/>
          <p:nvPr/>
        </p:nvSpPr>
        <p:spPr>
          <a:xfrm>
            <a:off x="7059168" y="3575304"/>
            <a:ext cx="4480560" cy="49085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多时间尺度（年/日/小时）</a:t>
            </a:r>
            <a:r>
              <a:rPr lang="en-US" altLang="zh-CN" sz="1400" b="0" i="0">
                <a:solidFill>
                  <a:srgbClr val="5A6B76"/>
                </a:solidFill>
                <a:latin typeface="微软雅黑" panose="020B0503020204020204" pitchFamily="34" charset="-122"/>
                <a:ea typeface="微软雅黑" panose="020B0503020204020204" pitchFamily="34" charset="-122"/>
              </a:rPr>
              <a:t>CAWCC </a:t>
            </a:r>
            <a:r>
              <a:rPr lang="zh-CN" altLang="en-US" sz="1400" b="0" i="0">
                <a:solidFill>
                  <a:srgbClr val="5A6B76"/>
                </a:solidFill>
                <a:latin typeface="微软雅黑" panose="020B0503020204020204" pitchFamily="34" charset="-122"/>
                <a:ea typeface="微软雅黑" panose="020B0503020204020204" pitchFamily="34" charset="-122"/>
              </a:rPr>
              <a:t>求解，复合压力情景分析与边界提前机制推导</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5" name="Rectangle 35"/>
          <p:cNvSpPr/>
          <p:nvPr/>
        </p:nvSpPr>
        <p:spPr>
          <a:xfrm>
            <a:off x="5074920" y="4178808"/>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2027.05 - 2027.</a:t>
            </a:r>
            <a:r>
              <a:rPr lang="en-US" altLang="zh-CN" sz="1400" b="1" i="0">
                <a:solidFill>
                  <a:srgbClr val="005375"/>
                </a:solidFill>
                <a:latin typeface="Arial" panose="020B0604020202020204"/>
                <a:ea typeface="Arial" panose="020B0604020202020204"/>
              </a:rPr>
              <a:t>0</a:t>
            </a:r>
            <a:r>
              <a:rPr lang="zh-CN" altLang="en-US" sz="1400" b="1" i="0">
                <a:solidFill>
                  <a:srgbClr val="005375"/>
                </a:solidFill>
                <a:latin typeface="Arial" panose="020B0604020202020204"/>
                <a:ea typeface="Arial" panose="020B0604020202020204"/>
              </a:rPr>
              <a:t>9</a:t>
            </a:r>
            <a:endParaRPr lang="zh-CN" altLang="en-US" sz="1400" b="1" i="0">
              <a:solidFill>
                <a:srgbClr val="005375"/>
              </a:solidFill>
              <a:latin typeface="Arial" panose="020B0604020202020204"/>
              <a:ea typeface="Arial" panose="020B0604020202020204"/>
            </a:endParaRPr>
          </a:p>
        </p:txBody>
      </p:sp>
      <p:sp>
        <p:nvSpPr>
          <p:cNvPr id="636" name="Oval 36"/>
          <p:cNvSpPr/>
          <p:nvPr/>
        </p:nvSpPr>
        <p:spPr>
          <a:xfrm>
            <a:off x="6748272" y="4370832"/>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37" name="TextBox 37"/>
          <p:cNvSpPr txBox="1"/>
          <p:nvPr/>
        </p:nvSpPr>
        <p:spPr>
          <a:xfrm>
            <a:off x="7059168" y="4160520"/>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瓶颈识别与验证</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8" name="TextBox 38"/>
          <p:cNvSpPr txBox="1"/>
          <p:nvPr/>
        </p:nvSpPr>
        <p:spPr>
          <a:xfrm>
            <a:off x="7059168" y="4434840"/>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完成主导瓶颈识别、干预评估与结果验证</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9" name="Rectangle 39"/>
          <p:cNvSpPr/>
          <p:nvPr/>
        </p:nvSpPr>
        <p:spPr>
          <a:xfrm>
            <a:off x="5074920" y="5038344"/>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a:t>
            </a:r>
            <a:r>
              <a:rPr lang="en-US" altLang="zh-CN" sz="1400" b="1" i="0">
                <a:solidFill>
                  <a:srgbClr val="005375"/>
                </a:solidFill>
                <a:latin typeface="Arial" panose="020B0604020202020204"/>
                <a:ea typeface="Arial" panose="020B0604020202020204"/>
              </a:rPr>
              <a:t>0</a:t>
            </a:r>
            <a:r>
              <a:rPr lang="zh-CN" altLang="en-US" sz="1400" b="1" i="0">
                <a:solidFill>
                  <a:srgbClr val="005375"/>
                </a:solidFill>
                <a:latin typeface="Arial" panose="020B0604020202020204"/>
                <a:ea typeface="Arial" panose="020B0604020202020204"/>
              </a:rPr>
              <a:t>9 - 2028.04</a:t>
            </a:r>
            <a:endParaRPr lang="zh-CN" altLang="en-US" sz="1400" b="1" i="0">
              <a:solidFill>
                <a:srgbClr val="005375"/>
              </a:solidFill>
              <a:latin typeface="Arial" panose="020B0604020202020204"/>
              <a:ea typeface="Arial" panose="020B0604020202020204"/>
            </a:endParaRPr>
          </a:p>
        </p:txBody>
      </p:sp>
      <p:sp>
        <p:nvSpPr>
          <p:cNvPr id="640" name="Oval 40"/>
          <p:cNvSpPr/>
          <p:nvPr/>
        </p:nvSpPr>
        <p:spPr>
          <a:xfrm>
            <a:off x="6748272" y="5230368"/>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41" name="TextBox 41"/>
          <p:cNvSpPr txBox="1"/>
          <p:nvPr/>
        </p:nvSpPr>
        <p:spPr>
          <a:xfrm>
            <a:off x="7059168" y="5020056"/>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成果整合与论文撰写</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42" name="TextBox 42"/>
          <p:cNvSpPr txBox="1"/>
          <p:nvPr/>
        </p:nvSpPr>
        <p:spPr>
          <a:xfrm>
            <a:off x="7059168" y="5294376"/>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完成学位论文撰写、修改与答辩准备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43" name=""/>
        <p:cNvGrpSpPr/>
        <p:nvPr/>
      </p:nvGrpSpPr>
      <p:grpSpPr>
        <a:xfrm>
          <a:off x="0" y="0"/>
          <a:ext cx="0" cy="0"/>
          <a:chOff x="0" y="0"/>
          <a:chExt cx="0" cy="0"/>
        </a:xfrm>
      </p:grpSpPr>
      <p:sp>
        <p:nvSpPr>
          <p:cNvPr id="644"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预期成果、创新点与风险应对</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647" name="Rounded Rectangle 4"/>
          <p:cNvSpPr/>
          <p:nvPr/>
        </p:nvSpPr>
        <p:spPr>
          <a:xfrm>
            <a:off x="484632"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48" name="Rectangle 5"/>
          <p:cNvSpPr/>
          <p:nvPr/>
        </p:nvSpPr>
        <p:spPr>
          <a:xfrm>
            <a:off x="502920"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49" name="Rectangle 6"/>
          <p:cNvSpPr/>
          <p:nvPr/>
        </p:nvSpPr>
        <p:spPr>
          <a:xfrm>
            <a:off x="502920"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预期成果</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50" name="Rectangle 7"/>
          <p:cNvSpPr/>
          <p:nvPr/>
        </p:nvSpPr>
        <p:spPr>
          <a:xfrm>
            <a:off x="713232" y="1618488"/>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1" name="TextBox 8"/>
          <p:cNvSpPr txBox="1"/>
          <p:nvPr/>
        </p:nvSpPr>
        <p:spPr>
          <a:xfrm>
            <a:off x="932688" y="1600200"/>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学位论文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2" name="TextBox 9"/>
          <p:cNvSpPr txBox="1"/>
          <p:nvPr/>
        </p:nvSpPr>
        <p:spPr>
          <a:xfrm>
            <a:off x="932688" y="1892807"/>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高质量地完成硕士学位论文 </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3" name="Rectangle 10"/>
          <p:cNvSpPr/>
          <p:nvPr/>
        </p:nvSpPr>
        <p:spPr>
          <a:xfrm>
            <a:off x="713232" y="2660903"/>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4" name="TextBox 11"/>
          <p:cNvSpPr txBox="1"/>
          <p:nvPr/>
        </p:nvSpPr>
        <p:spPr>
          <a:xfrm>
            <a:off x="932688" y="2642615"/>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模型与指标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5" name="TextBox 12"/>
          <p:cNvSpPr txBox="1"/>
          <p:nvPr/>
        </p:nvSpPr>
        <p:spPr>
          <a:xfrm>
            <a:off x="932688" y="2935223"/>
            <a:ext cx="3017520" cy="542925"/>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城市水代谢耦合模型与 CAWCC 指标方法</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6" name="Rectangle 13"/>
          <p:cNvSpPr/>
          <p:nvPr/>
        </p:nvSpPr>
        <p:spPr>
          <a:xfrm>
            <a:off x="713232" y="3703319"/>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7" name="TextBox 14"/>
          <p:cNvSpPr txBox="1"/>
          <p:nvPr/>
        </p:nvSpPr>
        <p:spPr>
          <a:xfrm>
            <a:off x="932688" y="3685031"/>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学术论文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8" name="TextBox 15"/>
          <p:cNvSpPr txBox="1"/>
          <p:nvPr/>
        </p:nvSpPr>
        <p:spPr>
          <a:xfrm>
            <a:off x="932688" y="3977639"/>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争取发表学术论文 1 - 2 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9" name="Rectangle 16"/>
          <p:cNvSpPr/>
          <p:nvPr/>
        </p:nvSpPr>
        <p:spPr>
          <a:xfrm>
            <a:off x="713232" y="4745735"/>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0" name="TextBox 17"/>
          <p:cNvSpPr txBox="1"/>
          <p:nvPr/>
        </p:nvSpPr>
        <p:spPr>
          <a:xfrm>
            <a:off x="932688" y="4727447"/>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决策支撑</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61" name="TextBox 18"/>
          <p:cNvSpPr txBox="1"/>
          <p:nvPr/>
        </p:nvSpPr>
        <p:spPr>
          <a:xfrm>
            <a:off x="932688" y="5020055"/>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形成承载判定与干预优先级的建议</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62" name="Rounded Rectangle 19"/>
          <p:cNvSpPr/>
          <p:nvPr/>
        </p:nvSpPr>
        <p:spPr>
          <a:xfrm>
            <a:off x="4270248"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3" name="Rectangle 20"/>
          <p:cNvSpPr/>
          <p:nvPr/>
        </p:nvSpPr>
        <p:spPr>
          <a:xfrm>
            <a:off x="4288536"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64" name="Rectangle 21"/>
          <p:cNvSpPr/>
          <p:nvPr/>
        </p:nvSpPr>
        <p:spPr>
          <a:xfrm>
            <a:off x="4288536"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创新点</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65" name="Rounded Rectangle 22"/>
          <p:cNvSpPr/>
          <p:nvPr/>
        </p:nvSpPr>
        <p:spPr>
          <a:xfrm>
            <a:off x="4480560" y="1600200"/>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6" name="Rectangle 23"/>
          <p:cNvSpPr/>
          <p:nvPr/>
        </p:nvSpPr>
        <p:spPr>
          <a:xfrm>
            <a:off x="4480560" y="1600200"/>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7" name="Oval 24"/>
          <p:cNvSpPr/>
          <p:nvPr/>
        </p:nvSpPr>
        <p:spPr>
          <a:xfrm>
            <a:off x="4663440" y="1746504"/>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8" name="TextBox 25"/>
          <p:cNvSpPr txBox="1"/>
          <p:nvPr/>
        </p:nvSpPr>
        <p:spPr>
          <a:xfrm>
            <a:off x="4663440" y="1755902"/>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1</a:t>
            </a:r>
            <a:endParaRPr lang="zh-CN" altLang="en-US" sz="1600" b="1" i="0">
              <a:solidFill>
                <a:srgbClr val="FFFFFF"/>
              </a:solidFill>
              <a:latin typeface="Arial" panose="020B0604020202020204"/>
              <a:ea typeface="Arial" panose="020B0604020202020204"/>
            </a:endParaRPr>
          </a:p>
        </p:txBody>
      </p:sp>
      <p:sp>
        <p:nvSpPr>
          <p:cNvPr id="669" name="TextBox 26"/>
          <p:cNvSpPr txBox="1"/>
          <p:nvPr/>
        </p:nvSpPr>
        <p:spPr>
          <a:xfrm>
            <a:off x="5084064" y="1746504"/>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研究对象与系统接口</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70" name="TextBox 27"/>
          <p:cNvSpPr txBox="1"/>
          <p:nvPr/>
        </p:nvSpPr>
        <p:spPr>
          <a:xfrm>
            <a:off x="4663440" y="2085975"/>
            <a:ext cx="3036570" cy="701675"/>
          </a:xfrm>
          <a:prstGeom prst="rect">
            <a:avLst/>
          </a:prstGeom>
          <a:noFill/>
        </p:spPr>
        <p:txBody>
          <a:bodyPr wrap="square" lIns="27432" tIns="13716" rIns="27432" bIns="13716" anchor="t">
            <a:spAutoFit/>
          </a:bodyPr>
          <a:lstStyle/>
          <a:p>
            <a:pPr algn="l">
              <a:lnSpc>
                <a:spcPct val="122000"/>
              </a:lnSpc>
            </a:pPr>
            <a:r>
              <a:rPr lang="zh-CN" altLang="en-US" sz="1200" b="0" i="0">
                <a:solidFill>
                  <a:srgbClr val="1F2A33"/>
                </a:solidFill>
                <a:latin typeface="微软雅黑" panose="020B0503020204020204" pitchFamily="34" charset="-122"/>
                <a:ea typeface="微软雅黑" panose="020B0503020204020204" pitchFamily="34" charset="-122"/>
              </a:rPr>
              <a:t>由独立设施水足迹转向城市水系统显式过程节点，打通“</a:t>
            </a:r>
            <a:r>
              <a:rPr lang="en-US" altLang="zh-CN" sz="1200" b="0" i="0">
                <a:solidFill>
                  <a:srgbClr val="1F2A33"/>
                </a:solidFill>
                <a:latin typeface="微软雅黑" panose="020B0503020204020204" pitchFamily="34" charset="-122"/>
                <a:ea typeface="微软雅黑" panose="020B0503020204020204" pitchFamily="34" charset="-122"/>
              </a:rPr>
              <a:t>IT</a:t>
            </a:r>
            <a:r>
              <a:rPr lang="zh-CN" altLang="en-US" sz="1200" b="0" i="0">
                <a:solidFill>
                  <a:srgbClr val="1F2A33"/>
                </a:solidFill>
                <a:latin typeface="微软雅黑" panose="020B0503020204020204" pitchFamily="34" charset="-122"/>
                <a:ea typeface="微软雅黑" panose="020B0503020204020204" pitchFamily="34" charset="-122"/>
              </a:rPr>
              <a:t>容量—负载—排热—补水—供排水设施响应”全流程闭环</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671" name="Rounded Rectangle 28"/>
          <p:cNvSpPr/>
          <p:nvPr/>
        </p:nvSpPr>
        <p:spPr>
          <a:xfrm>
            <a:off x="4480560" y="3044952"/>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2" name="Rectangle 29"/>
          <p:cNvSpPr/>
          <p:nvPr/>
        </p:nvSpPr>
        <p:spPr>
          <a:xfrm>
            <a:off x="4480560" y="3044952"/>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3" name="Oval 30"/>
          <p:cNvSpPr/>
          <p:nvPr/>
        </p:nvSpPr>
        <p:spPr>
          <a:xfrm>
            <a:off x="4663440" y="3191256"/>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4" name="TextBox 31"/>
          <p:cNvSpPr txBox="1"/>
          <p:nvPr/>
        </p:nvSpPr>
        <p:spPr>
          <a:xfrm>
            <a:off x="4663440" y="3200654"/>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2</a:t>
            </a:r>
            <a:endParaRPr lang="zh-CN" altLang="en-US" sz="1600" b="1" i="0">
              <a:solidFill>
                <a:srgbClr val="FFFFFF"/>
              </a:solidFill>
              <a:latin typeface="Arial" panose="020B0604020202020204"/>
              <a:ea typeface="Arial" panose="020B0604020202020204"/>
            </a:endParaRPr>
          </a:p>
        </p:txBody>
      </p:sp>
      <p:sp>
        <p:nvSpPr>
          <p:cNvPr id="675" name="TextBox 32"/>
          <p:cNvSpPr txBox="1"/>
          <p:nvPr/>
        </p:nvSpPr>
        <p:spPr>
          <a:xfrm>
            <a:off x="5084064" y="3191256"/>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时间尺度机制</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76" name="TextBox 33"/>
          <p:cNvSpPr txBox="1"/>
          <p:nvPr/>
        </p:nvSpPr>
        <p:spPr>
          <a:xfrm>
            <a:off x="4663440" y="3530600"/>
            <a:ext cx="3036570" cy="701675"/>
          </a:xfrm>
          <a:prstGeom prst="rect">
            <a:avLst/>
          </a:prstGeom>
          <a:noFill/>
        </p:spPr>
        <p:txBody>
          <a:bodyPr wrap="square" lIns="27432" tIns="13716" rIns="27432" bIns="13716" anchor="t">
            <a:spAutoFit/>
          </a:bodyPr>
          <a:lstStyle/>
          <a:p>
            <a:pPr algn="l">
              <a:lnSpc>
                <a:spcPct val="122000"/>
              </a:lnSpc>
            </a:pPr>
            <a:r>
              <a:rPr lang="zh-CN" altLang="en-US" sz="1200" b="0" i="0">
                <a:solidFill>
                  <a:srgbClr val="1F2A33"/>
                </a:solidFill>
                <a:latin typeface="微软雅黑" panose="020B0503020204020204" pitchFamily="34" charset="-122"/>
                <a:ea typeface="微软雅黑" panose="020B0503020204020204" pitchFamily="34" charset="-122"/>
              </a:rPr>
              <a:t>将连续运行、高温敏感冷却与传统需水峰值耦合，定量揭示年均、日尺度与极端小时尺度承载边界的差异及错估机制</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677" name="Rounded Rectangle 34"/>
          <p:cNvSpPr/>
          <p:nvPr/>
        </p:nvSpPr>
        <p:spPr>
          <a:xfrm>
            <a:off x="4480560" y="4489704"/>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8" name="Rectangle 35"/>
          <p:cNvSpPr/>
          <p:nvPr/>
        </p:nvSpPr>
        <p:spPr>
          <a:xfrm>
            <a:off x="4480560" y="4489704"/>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9" name="Oval 36"/>
          <p:cNvSpPr/>
          <p:nvPr/>
        </p:nvSpPr>
        <p:spPr>
          <a:xfrm>
            <a:off x="4663440" y="4636008"/>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0" name="TextBox 37"/>
          <p:cNvSpPr txBox="1"/>
          <p:nvPr/>
        </p:nvSpPr>
        <p:spPr>
          <a:xfrm>
            <a:off x="4663440" y="4645406"/>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3</a:t>
            </a:r>
            <a:endParaRPr lang="zh-CN" altLang="en-US" sz="1600" b="1" i="0">
              <a:solidFill>
                <a:srgbClr val="FFFFFF"/>
              </a:solidFill>
              <a:latin typeface="Arial" panose="020B0604020202020204"/>
              <a:ea typeface="Arial" panose="020B0604020202020204"/>
            </a:endParaRPr>
          </a:p>
        </p:txBody>
      </p:sp>
      <p:sp>
        <p:nvSpPr>
          <p:cNvPr id="681" name="TextBox 38"/>
          <p:cNvSpPr txBox="1"/>
          <p:nvPr/>
        </p:nvSpPr>
        <p:spPr>
          <a:xfrm>
            <a:off x="5084064" y="4636008"/>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条件边界与瓶颈迁移</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82" name="TextBox 39"/>
          <p:cNvSpPr txBox="1"/>
          <p:nvPr/>
        </p:nvSpPr>
        <p:spPr>
          <a:xfrm>
            <a:off x="4672330" y="4986274"/>
            <a:ext cx="2880360" cy="701675"/>
          </a:xfrm>
          <a:prstGeom prst="rect">
            <a:avLst/>
          </a:prstGeom>
          <a:noFill/>
        </p:spPr>
        <p:txBody>
          <a:bodyPr wrap="square" lIns="27432" tIns="13716" rIns="27432" bIns="13716" anchor="t">
            <a:spAutoFit/>
          </a:bodyPr>
          <a:lstStyle/>
          <a:p>
            <a:pPr algn="l">
              <a:lnSpc>
                <a:spcPct val="122000"/>
              </a:lnSpc>
            </a:pPr>
            <a:r>
              <a:rPr lang="zh-CN" altLang="en-US" sz="1200" b="0" i="0">
                <a:solidFill>
                  <a:srgbClr val="1F2A33"/>
                </a:solidFill>
                <a:latin typeface="微软雅黑" panose="020B0503020204020204" pitchFamily="34" charset="-122"/>
                <a:ea typeface="微软雅黑" panose="020B0503020204020204" pitchFamily="34" charset="-122"/>
              </a:rPr>
              <a:t>建立由供排水全环节决定的条件化可行边界（</a:t>
            </a:r>
            <a:r>
              <a:rPr lang="en-US" altLang="zh-CN" sz="1200" b="0" i="0">
                <a:solidFill>
                  <a:srgbClr val="1F2A33"/>
                </a:solidFill>
                <a:latin typeface="微软雅黑" panose="020B0503020204020204" pitchFamily="34" charset="-122"/>
                <a:ea typeface="微软雅黑" panose="020B0503020204020204" pitchFamily="34" charset="-122"/>
              </a:rPr>
              <a:t>CAWCC），</a:t>
            </a:r>
            <a:r>
              <a:rPr lang="zh-CN" altLang="en-US" sz="1200" b="0" i="0">
                <a:solidFill>
                  <a:srgbClr val="1F2A33"/>
                </a:solidFill>
                <a:latin typeface="微软雅黑" panose="020B0503020204020204" pitchFamily="34" charset="-122"/>
                <a:ea typeface="微软雅黑" panose="020B0503020204020204" pitchFamily="34" charset="-122"/>
              </a:rPr>
              <a:t>识别主导瓶颈迁移轨迹与扩容物理边际有效性转折。</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683" name="Rounded Rectangle 40"/>
          <p:cNvSpPr/>
          <p:nvPr/>
        </p:nvSpPr>
        <p:spPr>
          <a:xfrm>
            <a:off x="8055864"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4" name="Rectangle 41"/>
          <p:cNvSpPr/>
          <p:nvPr/>
        </p:nvSpPr>
        <p:spPr>
          <a:xfrm>
            <a:off x="8074152"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85" name="Rectangle 42"/>
          <p:cNvSpPr/>
          <p:nvPr/>
        </p:nvSpPr>
        <p:spPr>
          <a:xfrm>
            <a:off x="8074152"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风险与应对</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86" name="Rounded Rectangle 43"/>
          <p:cNvSpPr/>
          <p:nvPr/>
        </p:nvSpPr>
        <p:spPr>
          <a:xfrm>
            <a:off x="8266175" y="1600200"/>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7" name="Rectangle 44"/>
          <p:cNvSpPr/>
          <p:nvPr/>
        </p:nvSpPr>
        <p:spPr>
          <a:xfrm>
            <a:off x="8266175" y="1600200"/>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8" name="TextBox 45"/>
          <p:cNvSpPr txBox="1"/>
          <p:nvPr/>
        </p:nvSpPr>
        <p:spPr>
          <a:xfrm>
            <a:off x="8449056" y="1709928"/>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约束交互导致可行域非单调</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89" name="Connector 46"/>
          <p:cNvCxnSpPr/>
          <p:nvPr/>
        </p:nvCxnSpPr>
        <p:spPr>
          <a:xfrm>
            <a:off x="8449056" y="2039112"/>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690" name="TextBox 47"/>
          <p:cNvSpPr txBox="1"/>
          <p:nvPr/>
        </p:nvSpPr>
        <p:spPr>
          <a:xfrm>
            <a:off x="8449056" y="2130552"/>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全域网格扫描，报告全部可行区间和首次/最终失效规模</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91" name="Rounded Rectangle 48"/>
          <p:cNvSpPr/>
          <p:nvPr/>
        </p:nvSpPr>
        <p:spPr>
          <a:xfrm>
            <a:off x="8266175" y="3044952"/>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2" name="Rectangle 49"/>
          <p:cNvSpPr/>
          <p:nvPr/>
        </p:nvSpPr>
        <p:spPr>
          <a:xfrm>
            <a:off x="8266175" y="3044952"/>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3" name="TextBox 50"/>
          <p:cNvSpPr txBox="1"/>
          <p:nvPr/>
        </p:nvSpPr>
        <p:spPr>
          <a:xfrm>
            <a:off x="8449056" y="3154680"/>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模型复杂度偏高</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94" name="Connector 51"/>
          <p:cNvCxnSpPr/>
          <p:nvPr/>
        </p:nvCxnSpPr>
        <p:spPr>
          <a:xfrm>
            <a:off x="8449056" y="3483864"/>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695" name="TextBox 52"/>
          <p:cNvSpPr txBox="1"/>
          <p:nvPr/>
        </p:nvSpPr>
        <p:spPr>
          <a:xfrm>
            <a:off x="8449056" y="3575304"/>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采用模块化建模，先主链后细节，逐步增加复杂度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96" name="Rounded Rectangle 53"/>
          <p:cNvSpPr/>
          <p:nvPr/>
        </p:nvSpPr>
        <p:spPr>
          <a:xfrm>
            <a:off x="8266175" y="4489704"/>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7" name="Rectangle 54"/>
          <p:cNvSpPr/>
          <p:nvPr/>
        </p:nvSpPr>
        <p:spPr>
          <a:xfrm>
            <a:off x="8266175" y="4489704"/>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8" name="TextBox 55"/>
          <p:cNvSpPr txBox="1"/>
          <p:nvPr/>
        </p:nvSpPr>
        <p:spPr>
          <a:xfrm>
            <a:off x="8449056" y="4599432"/>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参数域间可比性不足与外推风险</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99" name="Connector 56"/>
          <p:cNvCxnSpPr/>
          <p:nvPr/>
        </p:nvCxnSpPr>
        <p:spPr>
          <a:xfrm>
            <a:off x="8449056" y="4928616"/>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700" name="TextBox 57"/>
          <p:cNvSpPr txBox="1"/>
          <p:nvPr/>
        </p:nvSpPr>
        <p:spPr>
          <a:xfrm>
            <a:off x="8449056" y="5020056"/>
            <a:ext cx="2880360" cy="813435"/>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使用无量纲裕度表达，仅在标定的气候—水资源参数域端点内适用，严控外推</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20" name=""/>
        <p:cNvGrpSpPr/>
        <p:nvPr/>
      </p:nvGrpSpPr>
      <p:grpSpPr>
        <a:xfrm>
          <a:off x="0" y="0"/>
          <a:ext cx="0" cy="0"/>
          <a:chOff x="0" y="0"/>
          <a:chExt cx="0" cy="0"/>
        </a:xfrm>
      </p:grpSpPr>
      <p:pic>
        <p:nvPicPr>
          <p:cNvPr id="721" name="图片 9"/>
          <p:cNvPicPr>
            <a:picLocks noChangeAspect="1"/>
          </p:cNvPicPr>
          <p:nvPr/>
        </p:nvPicPr>
        <p:blipFill>
          <a:blip r:embed="rId2"/>
          <a:stretch>
            <a:fillRect/>
          </a:stretch>
        </p:blipFill>
        <p:spPr>
          <a:xfrm>
            <a:off x="2896427" y="3596360"/>
            <a:ext cx="6287881" cy="2749276"/>
          </a:xfrm>
          <a:prstGeom prst="rect">
            <a:avLst/>
          </a:prstGeom>
        </p:spPr>
      </p:pic>
      <p:sp>
        <p:nvSpPr>
          <p:cNvPr id="722" name="矩形 1"/>
          <p:cNvSpPr/>
          <p:nvPr/>
        </p:nvSpPr>
        <p:spPr>
          <a:xfrm>
            <a:off x="0" y="6296878"/>
            <a:ext cx="12191999" cy="561122"/>
          </a:xfrm>
          <a:prstGeom prst="rect">
            <a:avLst/>
          </a:prstGeom>
          <a:solidFill>
            <a:srgbClr val="0053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3" name="矩形 2"/>
          <p:cNvSpPr/>
          <p:nvPr/>
        </p:nvSpPr>
        <p:spPr>
          <a:xfrm>
            <a:off x="0" y="1589647"/>
            <a:ext cx="12192002" cy="1777150"/>
          </a:xfrm>
          <a:prstGeom prst="rect">
            <a:avLst/>
          </a:prstGeom>
          <a:solidFill>
            <a:srgbClr val="0053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latin typeface="微软雅黑" panose="020B0503020204020204" pitchFamily="34" charset="-122"/>
              <a:ea typeface="微软雅黑" panose="020B0503020204020204" pitchFamily="34" charset="-122"/>
            </a:endParaRPr>
          </a:p>
        </p:txBody>
      </p:sp>
      <p:cxnSp>
        <p:nvCxnSpPr>
          <p:cNvPr id="724" name="直接连接符 3"/>
          <p:cNvCxnSpPr/>
          <p:nvPr/>
        </p:nvCxnSpPr>
        <p:spPr>
          <a:xfrm flipH="1">
            <a:off x="0" y="1149746"/>
            <a:ext cx="4933046" cy="0"/>
          </a:xfrm>
          <a:prstGeom prst="line">
            <a:avLst/>
          </a:prstGeom>
          <a:ln w="25400">
            <a:solidFill>
              <a:srgbClr val="005376"/>
            </a:solidFill>
          </a:ln>
        </p:spPr>
        <p:style>
          <a:lnRef idx="1">
            <a:schemeClr val="accent1"/>
          </a:lnRef>
          <a:fillRef idx="0">
            <a:schemeClr val="accent1"/>
          </a:fillRef>
          <a:effectRef idx="0">
            <a:schemeClr val="accent1"/>
          </a:effectRef>
          <a:fontRef idx="minor">
            <a:schemeClr val="tx1"/>
          </a:fontRef>
        </p:style>
      </p:cxnSp>
      <p:sp>
        <p:nvSpPr>
          <p:cNvPr id="725" name="标题 1"/>
          <p:cNvSpPr txBox="1"/>
          <p:nvPr/>
        </p:nvSpPr>
        <p:spPr>
          <a:xfrm>
            <a:off x="495300" y="1812860"/>
            <a:ext cx="11201400" cy="14905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800" b="1" i="0">
                <a:solidFill>
                  <a:srgbClr val="FFFFFF"/>
                </a:solidFill>
                <a:latin typeface="微软雅黑" panose="020B0503020204020204" pitchFamily="34" charset="-122"/>
                <a:ea typeface="微软雅黑" panose="020B0503020204020204" pitchFamily="34" charset="-122"/>
              </a:rPr>
              <a:t>汇 报 完 毕</a:t>
            </a:r>
            <a:endParaRPr lang="zh-CN" altLang="en-US" sz="4800" b="1" i="0">
              <a:solidFill>
                <a:srgbClr val="FFFFFF"/>
              </a:solidFill>
              <a:latin typeface="微软雅黑" panose="020B0503020204020204" pitchFamily="34" charset="-122"/>
              <a:ea typeface="微软雅黑" panose="020B0503020204020204" pitchFamily="34" charset="-122"/>
            </a:endParaRPr>
          </a:p>
        </p:txBody>
      </p:sp>
      <p:cxnSp>
        <p:nvCxnSpPr>
          <p:cNvPr id="726" name="直接连接符 7"/>
          <p:cNvCxnSpPr/>
          <p:nvPr/>
        </p:nvCxnSpPr>
        <p:spPr>
          <a:xfrm flipH="1">
            <a:off x="7239000" y="1145795"/>
            <a:ext cx="4953000" cy="0"/>
          </a:xfrm>
          <a:prstGeom prst="line">
            <a:avLst/>
          </a:prstGeom>
          <a:ln w="25400">
            <a:solidFill>
              <a:srgbClr val="005376"/>
            </a:solidFill>
          </a:ln>
        </p:spPr>
        <p:style>
          <a:lnRef idx="1">
            <a:schemeClr val="accent1"/>
          </a:lnRef>
          <a:fillRef idx="0">
            <a:schemeClr val="accent1"/>
          </a:fillRef>
          <a:effectRef idx="0">
            <a:schemeClr val="accent1"/>
          </a:effectRef>
          <a:fontRef idx="minor">
            <a:schemeClr val="tx1"/>
          </a:fontRef>
        </p:style>
      </p:cxnSp>
      <p:pic>
        <p:nvPicPr>
          <p:cNvPr id="727" name="图片 10"/>
          <p:cNvPicPr>
            <a:picLocks noChangeAspect="1"/>
          </p:cNvPicPr>
          <p:nvPr/>
        </p:nvPicPr>
        <p:blipFill>
          <a:blip r:embed="rId3" cstate="print"/>
          <a:stretch>
            <a:fillRect/>
          </a:stretch>
        </p:blipFill>
        <p:spPr>
          <a:xfrm>
            <a:off x="4967788" y="219682"/>
            <a:ext cx="2199274" cy="961598"/>
          </a:xfrm>
          <a:prstGeom prst="rect">
            <a:avLst/>
          </a:prstGeom>
        </p:spPr>
      </p:pic>
      <p:sp>
        <p:nvSpPr>
          <p:cNvPr id="728" name="副标题 2"/>
          <p:cNvSpPr>
            <a:spLocks noGrp="1"/>
          </p:cNvSpPr>
          <p:nvPr>
            <p:ph type="subTitle" idx="1"/>
          </p:nvPr>
        </p:nvSpPr>
        <p:spPr>
          <a:xfrm>
            <a:off x="0" y="4064000"/>
            <a:ext cx="12192000" cy="680085"/>
          </a:xfrm>
        </p:spPr>
        <p:txBody>
          <a:bodyPr>
            <a:normAutofit/>
          </a:bodyPr>
          <a:lstStyle/>
          <a:p>
            <a:pPr marL="0" indent="0" algn="ctr">
              <a:buNone/>
            </a:pPr>
            <a:r>
              <a:rPr lang="zh-CN" altLang="en-US" sz="2200" b="1" i="0">
                <a:solidFill>
                  <a:srgbClr val="005376"/>
                </a:solidFill>
                <a:latin typeface="微软雅黑" panose="020B0503020204020204" pitchFamily="34" charset="-122"/>
                <a:ea typeface="微软雅黑" panose="020B0503020204020204" pitchFamily="34" charset="-122"/>
              </a:rPr>
              <a:t>恳请各位老师  批评指正！</a:t>
            </a:r>
            <a:endParaRPr lang="zh-CN" altLang="en-US" sz="2200" b="1" i="0">
              <a:solidFill>
                <a:srgbClr val="005376"/>
              </a:solidFill>
              <a:latin typeface="微软雅黑" panose="020B0503020204020204" pitchFamily="34" charset="-122"/>
              <a:ea typeface="微软雅黑" panose="020B0503020204020204" pitchFamily="34" charset="-122"/>
            </a:endParaRPr>
          </a:p>
        </p:txBody>
      </p:sp>
      <p:sp>
        <p:nvSpPr>
          <p:cNvPr id="729" name="副标题 2"/>
          <p:cNvSpPr txBox="1"/>
          <p:nvPr/>
        </p:nvSpPr>
        <p:spPr>
          <a:xfrm>
            <a:off x="0" y="4602480"/>
            <a:ext cx="12192000" cy="68008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b="1" i="0">
                <a:solidFill>
                  <a:srgbClr val="005376"/>
                </a:solidFill>
                <a:latin typeface="微软雅黑" panose="020B0503020204020204" pitchFamily="34" charset="-122"/>
                <a:ea typeface="微软雅黑" panose="020B0503020204020204" pitchFamily="34" charset="-122"/>
              </a:rPr>
              <a:t>姓名：邵敬哲      导师：白舜文</a:t>
            </a:r>
            <a:endParaRPr lang="zh-CN" altLang="en-US" sz="1600" b="1" i="0">
              <a:solidFill>
                <a:srgbClr val="005376"/>
              </a:solidFill>
              <a:latin typeface="微软雅黑" panose="020B0503020204020204" pitchFamily="34" charset="-122"/>
              <a:ea typeface="微软雅黑" panose="020B0503020204020204" pitchFamily="34" charset="-122"/>
            </a:endParaRPr>
          </a:p>
          <a:p>
            <a:pPr algn="ctr"/>
            <a:r>
              <a:rPr lang="zh-CN" altLang="en-US" sz="1200" b="0" i="0">
                <a:solidFill>
                  <a:srgbClr val="005376"/>
                </a:solidFill>
                <a:latin typeface="微软雅黑" panose="020B0503020204020204" pitchFamily="34" charset="-122"/>
                <a:ea typeface="微软雅黑" panose="020B0503020204020204" pitchFamily="34" charset="-122"/>
              </a:rPr>
              <a:t>哈尔滨工业大学 · 环境学院</a:t>
            </a:r>
            <a:endParaRPr lang="zh-CN" altLang="en-US" sz="1200" b="0" i="0">
              <a:solidFill>
                <a:srgbClr val="005376"/>
              </a:solidFill>
              <a:latin typeface="微软雅黑" panose="020B0503020204020204" pitchFamily="34" charset="-122"/>
              <a:ea typeface="微软雅黑" panose="020B0503020204020204" pitchFamily="34" charset="-122"/>
            </a:endParaRPr>
          </a:p>
        </p:txBody>
      </p:sp>
      <p:pic>
        <p:nvPicPr>
          <p:cNvPr id="730" name="图片 5"/>
          <p:cNvPicPr>
            <a:picLocks noChangeAspect="1"/>
          </p:cNvPicPr>
          <p:nvPr/>
        </p:nvPicPr>
        <p:blipFill>
          <a:blip r:embed="rId4" cstate="print"/>
          <a:stretch>
            <a:fillRect/>
          </a:stretch>
        </p:blipFill>
        <p:spPr>
          <a:xfrm>
            <a:off x="239679" y="6415212"/>
            <a:ext cx="1655733" cy="32412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05.92,&quot;left&quot;:435.6,&quot;top&quot;:216.71999999999997,&quot;width&quot;:486}"/>
</p:tagLst>
</file>

<file path=ppt/tags/tag2.xml><?xml version="1.0" encoding="utf-8"?>
<p:tagLst xmlns:p="http://schemas.openxmlformats.org/presentationml/2006/main">
  <p:tag name="KSO_WM_DIAGRAM_VIRTUALLY_FRAME" val="{&quot;height&quot;:205.92,&quot;left&quot;:435.6,&quot;top&quot;:216.71999999999997,&quot;width&quot;:486}"/>
</p:tagLst>
</file>

<file path=ppt/tags/tag3.xml><?xml version="1.0" encoding="utf-8"?>
<p:tagLst xmlns:p="http://schemas.openxmlformats.org/presentationml/2006/main">
  <p:tag name="KSO_WM_DIAGRAM_VIRTUALLY_FRAME" val="{&quot;height&quot;:205.92,&quot;left&quot;:435.6,&quot;top&quot;:216.71999999999997,&quot;width&quot;:486}"/>
</p:tagLst>
</file>

<file path=ppt/tags/tag4.xml><?xml version="1.0" encoding="utf-8"?>
<p:tagLst xmlns:p="http://schemas.openxmlformats.org/presentationml/2006/main">
  <p:tag name="KSO_WM_DIAGRAM_VIRTUALLY_FRAME" val="{&quot;height&quot;:205.92,&quot;left&quot;:435.6,&quot;top&quot;:216.71999999999997,&quot;width&quot;:486}"/>
</p:tagLst>
</file>

<file path=ppt/tags/tag5.xml><?xml version="1.0" encoding="utf-8"?>
<p:tagLst xmlns:p="http://schemas.openxmlformats.org/presentationml/2006/main">
  <p:tag name="KSO_WM_DIAGRAM_VIRTUALLY_FRAME" val="{&quot;height&quot;:205.92,&quot;left&quot;:435.6,&quot;top&quot;:216.71999999999997,&quot;width&quot;:486}"/>
</p:tagLst>
</file>

<file path=ppt/tags/tag6.xml><?xml version="1.0" encoding="utf-8"?>
<p:tagLst xmlns:p="http://schemas.openxmlformats.org/presentationml/2006/main">
  <p:tag name="KSO_WM_DIAGRAM_VIRTUALLY_FRAME" val="{&quot;height&quot;:205.92,&quot;left&quot;:435.6,&quot;top&quot;:216.71999999999997,&quot;width&quot;:486}"/>
</p:tagLst>
</file>

<file path=ppt/tags/tag7.xml><?xml version="1.0" encoding="utf-8"?>
<p:tagLst xmlns:p="http://schemas.openxmlformats.org/presentationml/2006/main">
  <p:tag name="KSO_WM_DIAGRAM_VIRTUALLY_FRAME" val="{&quot;height&quot;:205.92,&quot;left&quot;:435.6,&quot;top&quot;:216.71999999999997,&quot;width&quot;:486}"/>
</p:tagLst>
</file>

<file path=ppt/tags/tag8.xml><?xml version="1.0" encoding="utf-8"?>
<p:tagLst xmlns:p="http://schemas.openxmlformats.org/presentationml/2006/main">
  <p:tag name="KSO_WM_DIAGRAM_VIRTUALLY_FRAME" val="{&quot;height&quot;:205.92,&quot;left&quot;:435.6,&quot;top&quot;:216.71999999999997,&quot;width&quot;:486}"/>
</p:tagLst>
</file>

<file path=ppt/tags/tag9.xml><?xml version="1.0" encoding="utf-8"?>
<p:tagLst xmlns:p="http://schemas.openxmlformats.org/presentationml/2006/main">
  <p:tag name="KSO_WM_DIAGRAM_VIRTUALLY_FRAME" val="{&quot;height&quot;:319.67999999999995,&quot;left&quot;:435.6,&quot;top&quot;:102.96,&quot;width&quot;:486}"/>
</p:tagLst>
</file>

<file path=ppt/tags/tag10.xml><?xml version="1.0" encoding="utf-8"?>
<p:tagLst xmlns:p="http://schemas.openxmlformats.org/presentationml/2006/main">
  <p:tag name="KSO_WM_DIAGRAM_VIRTUALLY_FRAME" val="{&quot;height&quot;:319.67999999999995,&quot;left&quot;:435.6,&quot;top&quot;:102.96,&quot;width&quot;:486}"/>
</p:tagLst>
</file>

<file path=ppt/tags/tag11.xml><?xml version="1.0" encoding="utf-8"?>
<p:tagLst xmlns:p="http://schemas.openxmlformats.org/presentationml/2006/main">
  <p:tag name="KSO_WM_DIAGRAM_VIRTUALLY_FRAME" val="{&quot;height&quot;:319.67999999999995,&quot;left&quot;:435.6,&quot;top&quot;:102.96,&quot;width&quot;:486}"/>
</p:tagLst>
</file>

<file path=ppt/tags/tag12.xml><?xml version="1.0" encoding="utf-8"?>
<p:tagLst xmlns:p="http://schemas.openxmlformats.org/presentationml/2006/main">
  <p:tag name="KSO_WM_DIAGRAM_VIRTUALLY_FRAME" val="{&quot;height&quot;:319.67999999999995,&quot;left&quot;:435.6,&quot;top&quot;:102.96,&quot;width&quot;:486}"/>
</p:tagLst>
</file>

<file path=ppt/tags/tag13.xml><?xml version="1.0" encoding="utf-8"?>
<p:tagLst xmlns:p="http://schemas.openxmlformats.org/presentationml/2006/main">
  <p:tag name="KSO_WM_DIAGRAM_VIRTUALLY_FRAME" val="{&quot;height&quot;:319.67999999999995,&quot;left&quot;:435.6,&quot;top&quot;:102.96,&quot;width&quot;:486}"/>
</p:tagLst>
</file>

<file path=ppt/tags/tag14.xml><?xml version="1.0" encoding="utf-8"?>
<p:tagLst xmlns:p="http://schemas.openxmlformats.org/presentationml/2006/main">
  <p:tag name="KSO_WM_DIAGRAM_VIRTUALLY_FRAME" val="{&quot;height&quot;:319.67999999999995,&quot;left&quot;:435.6,&quot;top&quot;:102.96,&quot;width&quot;:486}"/>
</p:tagLst>
</file>

<file path=ppt/tags/tag15.xml><?xml version="1.0" encoding="utf-8"?>
<p:tagLst xmlns:p="http://schemas.openxmlformats.org/presentationml/2006/main">
  <p:tag name="KSO_WM_DIAGRAM_VIRTUALLY_FRAME" val="{&quot;height&quot;:319.67999999999995,&quot;left&quot;:435.6,&quot;top&quot;:102.96,&quot;width&quot;:486}"/>
</p:tagLst>
</file>

<file path=ppt/tags/tag16.xml><?xml version="1.0" encoding="utf-8"?>
<p:tagLst xmlns:p="http://schemas.openxmlformats.org/presentationml/2006/main">
  <p:tag name="KSO_WM_DIAGRAM_VIRTUALLY_FRAME" val="{&quot;height&quot;:319.67999999999995,&quot;left&quot;:435.6,&quot;top&quot;:102.96,&quot;width&quot;:486}"/>
</p:tagLst>
</file>

<file path=ppt/tags/tag17.xml><?xml version="1.0" encoding="utf-8"?>
<p:tagLst xmlns:p="http://schemas.openxmlformats.org/presentationml/2006/main">
  <p:tag name="KSO_WM_DIAGRAM_VIRTUALLY_FRAME" val="{&quot;height&quot;:319.67999999999995,&quot;left&quot;:435.6,&quot;top&quot;:102.96,&quot;width&quot;:486}"/>
</p:tagLst>
</file>

<file path=ppt/tags/tag18.xml><?xml version="1.0" encoding="utf-8"?>
<p:tagLst xmlns:p="http://schemas.openxmlformats.org/presentationml/2006/main">
  <p:tag name="KSO_WM_DIAGRAM_VIRTUALLY_FRAME" val="{&quot;height&quot;:237.6,&quot;left&quot;:38.160000000000004,&quot;top&quot;:81.45,&quot;width&quot;:883.4399999999999}"/>
</p:tagLst>
</file>

<file path=ppt/tags/tag19.xml><?xml version="1.0" encoding="utf-8"?>
<p:tagLst xmlns:p="http://schemas.openxmlformats.org/presentationml/2006/main">
  <p:tag name="KSO_WM_DIAGRAM_VIRTUALLY_FRAME" val="{&quot;height&quot;:237.6,&quot;left&quot;:38.160000000000004,&quot;top&quot;:81.45,&quot;width&quot;:883.4399999999999}"/>
</p:tagLst>
</file>

<file path=ppt/tags/tag20.xml><?xml version="1.0" encoding="utf-8"?>
<p:tagLst xmlns:p="http://schemas.openxmlformats.org/presentationml/2006/main">
  <p:tag name="KSO_WM_DIAGRAM_VIRTUALLY_FRAME" val="{&quot;height&quot;:237.6,&quot;left&quot;:38.160000000000004,&quot;top&quot;:81.45,&quot;width&quot;:883.4399999999999}"/>
</p:tagLst>
</file>

<file path=ppt/tags/tag21.xml><?xml version="1.0" encoding="utf-8"?>
<p:tagLst xmlns:p="http://schemas.openxmlformats.org/presentationml/2006/main">
  <p:tag name="KSO_WM_DIAGRAM_VIRTUALLY_FRAME" val="{&quot;height&quot;:237.6,&quot;left&quot;:38.160000000000004,&quot;top&quot;:81.45,&quot;width&quot;:883.4399999999999}"/>
</p:tagLst>
</file>

<file path=ppt/tags/tag22.xml><?xml version="1.0" encoding="utf-8"?>
<p:tagLst xmlns:p="http://schemas.openxmlformats.org/presentationml/2006/main">
  <p:tag name="KSO_WM_DIAGRAM_VIRTUALLY_FRAME" val="{&quot;height&quot;:237.6,&quot;left&quot;:38.160000000000004,&quot;top&quot;:81.45,&quot;width&quot;:883.4399999999999}"/>
</p:tagLst>
</file>

<file path=ppt/tags/tag23.xml><?xml version="1.0" encoding="utf-8"?>
<p:tagLst xmlns:p="http://schemas.openxmlformats.org/presentationml/2006/main">
  <p:tag name="KSO_WM_DIAGRAM_VIRTUALLY_FRAME" val="{&quot;height&quot;:237.6,&quot;left&quot;:38.160000000000004,&quot;top&quot;:81.45,&quot;width&quot;:883.4399999999999}"/>
</p:tagLst>
</file>

<file path=ppt/tags/tag24.xml><?xml version="1.0" encoding="utf-8"?>
<p:tagLst xmlns:p="http://schemas.openxmlformats.org/presentationml/2006/main">
  <p:tag name="KSO_WM_DIAGRAM_VIRTUALLY_FRAME" val="{&quot;height&quot;:237.6,&quot;left&quot;:38.160000000000004,&quot;top&quot;:81.45,&quot;width&quot;:883.4399999999999}"/>
</p:tagLst>
</file>

<file path=ppt/tags/tag25.xml><?xml version="1.0" encoding="utf-8"?>
<p:tagLst xmlns:p="http://schemas.openxmlformats.org/presentationml/2006/main">
  <p:tag name="KSO_WM_DIAGRAM_VIRTUALLY_FRAME" val="{&quot;height&quot;:237.6,&quot;left&quot;:38.160000000000004,&quot;top&quot;:81.45,&quot;width&quot;:883.4399999999999}"/>
</p:tagLst>
</file>

<file path=ppt/tags/tag26.xml><?xml version="1.0" encoding="utf-8"?>
<p:tagLst xmlns:p="http://schemas.openxmlformats.org/presentationml/2006/main">
  <p:tag name="KSO_WM_DIAGRAM_VIRTUALLY_FRAME" val="{&quot;height&quot;:237.6,&quot;left&quot;:38.160000000000004,&quot;top&quot;:81.45,&quot;width&quot;:883.4399999999999}"/>
</p:tagLst>
</file>

<file path=ppt/tags/tag27.xml><?xml version="1.0" encoding="utf-8"?>
<p:tagLst xmlns:p="http://schemas.openxmlformats.org/presentationml/2006/main">
  <p:tag name="KSO_WM_DIAGRAM_VIRTUALLY_FRAME" val="{&quot;height&quot;:237.6,&quot;left&quot;:38.160000000000004,&quot;top&quot;:81.45,&quot;width&quot;:883.4399999999999}"/>
</p:tagLst>
</file>

<file path=ppt/tags/tag28.xml><?xml version="1.0" encoding="utf-8"?>
<p:tagLst xmlns:p="http://schemas.openxmlformats.org/presentationml/2006/main">
  <p:tag name="KSO_WM_DIAGRAM_VIRTUALLY_FRAME" val="{&quot;height&quot;:237.6,&quot;left&quot;:38.160000000000004,&quot;top&quot;:81.45,&quot;width&quot;:883.4399999999999}"/>
</p:tagLst>
</file>

<file path=ppt/tags/tag29.xml><?xml version="1.0" encoding="utf-8"?>
<p:tagLst xmlns:p="http://schemas.openxmlformats.org/presentationml/2006/main">
  <p:tag name="KSO_WM_DIAGRAM_VIRTUALLY_FRAME" val="{&quot;height&quot;:237.6,&quot;left&quot;:38.160000000000004,&quot;top&quot;:81.45,&quot;width&quot;:883.4399999999999}"/>
</p:tagLst>
</file>

<file path=ppt/tags/tag30.xml><?xml version="1.0" encoding="utf-8"?>
<p:tagLst xmlns:p="http://schemas.openxmlformats.org/presentationml/2006/main">
  <p:tag name="KSO_WM_DIAGRAM_VIRTUALLY_FRAME" val="{&quot;height&quot;:237.6,&quot;left&quot;:38.160000000000004,&quot;top&quot;:81.45,&quot;width&quot;:883.4399999999999}"/>
</p:tagLst>
</file>

<file path=ppt/tags/tag31.xml><?xml version="1.0" encoding="utf-8"?>
<p:tagLst xmlns:p="http://schemas.openxmlformats.org/presentationml/2006/main">
  <p:tag name="KSO_WM_DIAGRAM_VIRTUALLY_FRAME" val="{&quot;height&quot;:319.67999999999995,&quot;left&quot;:435.6,&quot;top&quot;:102.96,&quot;width&quot;:486}"/>
</p:tagLst>
</file>

<file path=ppt/tags/tag32.xml><?xml version="1.0" encoding="utf-8"?>
<p:tagLst xmlns:p="http://schemas.openxmlformats.org/presentationml/2006/main">
  <p:tag name="KSO_WM_DIAGRAM_VIRTUALLY_FRAME" val="{&quot;height&quot;:319.67999999999995,&quot;left&quot;:435.6,&quot;top&quot;:102.96,&quot;width&quot;:486}"/>
</p:tagLst>
</file>

<file path=ppt/tags/tag33.xml><?xml version="1.0" encoding="utf-8"?>
<p:tagLst xmlns:p="http://schemas.openxmlformats.org/presentationml/2006/main">
  <p:tag name="KSO_WM_DIAGRAM_VIRTUALLY_FRAME" val="{&quot;height&quot;:319.67999999999995,&quot;left&quot;:435.6,&quot;top&quot;:102.96,&quot;width&quot;:486}"/>
</p:tagLst>
</file>

<file path=ppt/tags/tag34.xml><?xml version="1.0" encoding="utf-8"?>
<p:tagLst xmlns:p="http://schemas.openxmlformats.org/presentationml/2006/main">
  <p:tag name="KSO_WM_DIAGRAM_VIRTUALLY_FRAME" val="{&quot;height&quot;:319.67999999999995,&quot;left&quot;:435.6,&quot;top&quot;:102.96,&quot;width&quot;:486}"/>
</p:tagLst>
</file>

<file path=ppt/tags/tag35.xml><?xml version="1.0" encoding="utf-8"?>
<p:tagLst xmlns:p="http://schemas.openxmlformats.org/presentationml/2006/main">
  <p:tag name="KSO_WM_DIAGRAM_VIRTUALLY_FRAME" val="{&quot;height&quot;:319.67999999999995,&quot;left&quot;:435.6,&quot;top&quot;:102.96,&quot;width&quot;:486}"/>
</p:tagLst>
</file>

<file path=ppt/tags/tag36.xml><?xml version="1.0" encoding="utf-8"?>
<p:tagLst xmlns:p="http://schemas.openxmlformats.org/presentationml/2006/main">
  <p:tag name="KSO_WM_DIAGRAM_VIRTUALLY_FRAME" val="{&quot;height&quot;:319.67999999999995,&quot;left&quot;:435.6,&quot;top&quot;:102.96,&quot;width&quot;:486}"/>
</p:tagLst>
</file>

<file path=ppt/tags/tag37.xml><?xml version="1.0" encoding="utf-8"?>
<p:tagLst xmlns:p="http://schemas.openxmlformats.org/presentationml/2006/main">
  <p:tag name="KSO_WM_DIAGRAM_VIRTUALLY_FRAME" val="{&quot;height&quot;:319.67999999999995,&quot;left&quot;:435.6,&quot;top&quot;:102.96,&quot;width&quot;:486}"/>
</p:tagLst>
</file>

<file path=ppt/tags/tag38.xml><?xml version="1.0" encoding="utf-8"?>
<p:tagLst xmlns:p="http://schemas.openxmlformats.org/presentationml/2006/main">
  <p:tag name="KSO_WM_DIAGRAM_VIRTUALLY_FRAME" val="{&quot;height&quot;:319.67999999999995,&quot;left&quot;:435.6,&quot;top&quot;:102.96,&quot;width&quot;:486}"/>
</p:tagLst>
</file>

<file path=ppt/tags/tag39.xml><?xml version="1.0" encoding="utf-8"?>
<p:tagLst xmlns:p="http://schemas.openxmlformats.org/presentationml/2006/main">
  <p:tag name="KSO_WM_DIAGRAM_VIRTUALLY_FRAME" val="{&quot;height&quot;:319.67999999999995,&quot;left&quot;:435.6,&quot;top&quot;:102.96,&quot;width&quot;:486}"/>
</p:tagLst>
</file>

<file path=ppt/tags/tag40.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1.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2.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3.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4.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5.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6.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7.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8.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49.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50.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51.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52.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53.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54.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55.xml><?xml version="1.0" encoding="utf-8"?>
<p:tagLst xmlns:p="http://schemas.openxmlformats.org/presentationml/2006/main">
  <p:tag name="KSO_WM_DIAGRAM_VIRTUALLY_FRAME" val="{&quot;height&quot;:146.43007874015743,&quot;left&quot;:48.959999999999994,&quot;top&quot;:300.95992125984253,&quot;width&quot;:861.8399999999999}"/>
</p:tagLst>
</file>

<file path=ppt/tags/tag56.xml><?xml version="1.0" encoding="utf-8"?>
<p:tagLst xmlns:p="http://schemas.openxmlformats.org/presentationml/2006/main">
  <p:tag name="KSO_WM_DIAGRAM_VIRTUALLY_FRAME" val="{&quot;height&quot;:315,&quot;left&quot;:38.160000000000004,&quot;top&quot;:75.24,&quot;width&quot;:883.4399999999999}"/>
</p:tagLst>
</file>

<file path=ppt/tags/tag57.xml><?xml version="1.0" encoding="utf-8"?>
<p:tagLst xmlns:p="http://schemas.openxmlformats.org/presentationml/2006/main">
  <p:tag name="KSO_WM_DIAGRAM_VIRTUALLY_FRAME" val="{&quot;height&quot;:315,&quot;left&quot;:38.160000000000004,&quot;top&quot;:75.24,&quot;width&quot;:883.4399999999999}"/>
</p:tagLst>
</file>

<file path=ppt/tags/tag58.xml><?xml version="1.0" encoding="utf-8"?>
<p:tagLst xmlns:p="http://schemas.openxmlformats.org/presentationml/2006/main">
  <p:tag name="KSO_WM_DIAGRAM_VIRTUALLY_FRAME" val="{&quot;height&quot;:315,&quot;left&quot;:38.160000000000004,&quot;top&quot;:75.24,&quot;width&quot;:883.4399999999999}"/>
</p:tagLst>
</file>

<file path=ppt/tags/tag59.xml><?xml version="1.0" encoding="utf-8"?>
<p:tagLst xmlns:p="http://schemas.openxmlformats.org/presentationml/2006/main">
  <p:tag name="KSO_WM_DIAGRAM_VIRTUALLY_FRAME" val="{&quot;height&quot;:315,&quot;left&quot;:38.160000000000004,&quot;top&quot;:75.24,&quot;width&quot;:883.4399999999999}"/>
</p:tagLst>
</file>

<file path=ppt/tags/tag60.xml><?xml version="1.0" encoding="utf-8"?>
<p:tagLst xmlns:p="http://schemas.openxmlformats.org/presentationml/2006/main">
  <p:tag name="KSO_WM_DIAGRAM_VIRTUALLY_FRAME" val="{&quot;height&quot;:315,&quot;left&quot;:38.160000000000004,&quot;top&quot;:75.24,&quot;width&quot;:883.4399999999999}"/>
</p:tagLst>
</file>

<file path=ppt/tags/tag61.xml><?xml version="1.0" encoding="utf-8"?>
<p:tagLst xmlns:p="http://schemas.openxmlformats.org/presentationml/2006/main">
  <p:tag name="KSO_WM_DIAGRAM_VIRTUALLY_FRAME" val="{&quot;height&quot;:315,&quot;left&quot;:38.160000000000004,&quot;top&quot;:75.24,&quot;width&quot;:883.4399999999999}"/>
</p:tagLst>
</file>

<file path=ppt/tags/tag62.xml><?xml version="1.0" encoding="utf-8"?>
<p:tagLst xmlns:p="http://schemas.openxmlformats.org/presentationml/2006/main">
  <p:tag name="KSO_WM_DIAGRAM_VIRTUALLY_FRAME" val="{&quot;height&quot;:315,&quot;left&quot;:38.160000000000004,&quot;top&quot;:75.24,&quot;width&quot;:883.4399999999999}"/>
</p:tagLst>
</file>

<file path=ppt/tags/tag63.xml><?xml version="1.0" encoding="utf-8"?>
<p:tagLst xmlns:p="http://schemas.openxmlformats.org/presentationml/2006/main">
  <p:tag name="KSO_WM_DIAGRAM_VIRTUALLY_FRAME" val="{&quot;height&quot;:315,&quot;left&quot;:38.160000000000004,&quot;top&quot;:75.24,&quot;width&quot;:883.4399999999999}"/>
</p:tagLst>
</file>

<file path=ppt/tags/tag64.xml><?xml version="1.0" encoding="utf-8"?>
<p:tagLst xmlns:p="http://schemas.openxmlformats.org/presentationml/2006/main">
  <p:tag name="KSO_WM_DIAGRAM_VIRTUALLY_FRAME" val="{&quot;height&quot;:315,&quot;left&quot;:38.160000000000004,&quot;top&quot;:75.24,&quot;width&quot;:883.4399999999999}"/>
</p:tagLst>
</file>

<file path=ppt/tags/tag65.xml><?xml version="1.0" encoding="utf-8"?>
<p:tagLst xmlns:p="http://schemas.openxmlformats.org/presentationml/2006/main">
  <p:tag name="KSO_WM_DIAGRAM_VIRTUALLY_FRAME" val="{&quot;height&quot;:315,&quot;left&quot;:38.160000000000004,&quot;top&quot;:75.24,&quot;width&quot;:883.4399999999999}"/>
</p:tagLst>
</file>

<file path=ppt/tags/tag66.xml><?xml version="1.0" encoding="utf-8"?>
<p:tagLst xmlns:p="http://schemas.openxmlformats.org/presentationml/2006/main">
  <p:tag name="KSO_WM_DIAGRAM_VIRTUALLY_FRAME" val="{&quot;height&quot;:315,&quot;left&quot;:38.160000000000004,&quot;top&quot;:75.24,&quot;width&quot;:883.4399999999999}"/>
</p:tagLst>
</file>

<file path=ppt/tags/tag67.xml><?xml version="1.0" encoding="utf-8"?>
<p:tagLst xmlns:p="http://schemas.openxmlformats.org/presentationml/2006/main">
  <p:tag name="KSO_WM_DIAGRAM_VIRTUALLY_FRAME" val="{&quot;height&quot;:315,&quot;left&quot;:38.160000000000004,&quot;top&quot;:75.24,&quot;width&quot;:883.4399999999999}"/>
</p:tagLst>
</file>

<file path=ppt/tags/tag68.xml><?xml version="1.0" encoding="utf-8"?>
<p:tagLst xmlns:p="http://schemas.openxmlformats.org/presentationml/2006/main">
  <p:tag name="KSO_WM_DIAGRAM_VIRTUALLY_FRAME" val="{&quot;height&quot;:315,&quot;left&quot;:38.160000000000004,&quot;top&quot;:75.24,&quot;width&quot;:883.4399999999999}"/>
</p:tagLst>
</file>

<file path=ppt/tags/tag69.xml><?xml version="1.0" encoding="utf-8"?>
<p:tagLst xmlns:p="http://schemas.openxmlformats.org/presentationml/2006/main">
  <p:tag name="KSO_WM_DIAGRAM_VIRTUALLY_FRAME" val="{&quot;height&quot;:315,&quot;left&quot;:38.160000000000004,&quot;top&quot;:75.24,&quot;width&quot;:883.4399999999999}"/>
</p:tagLst>
</file>

<file path=ppt/tags/tag70.xml><?xml version="1.0" encoding="utf-8"?>
<p:tagLst xmlns:p="http://schemas.openxmlformats.org/presentationml/2006/main">
  <p:tag name="KSO_WM_DIAGRAM_VIRTUALLY_FRAME" val="{&quot;height&quot;:315,&quot;left&quot;:38.160000000000004,&quot;top&quot;:75.24,&quot;width&quot;:883.4399999999999}"/>
</p:tagLst>
</file>

<file path=ppt/tags/tag71.xml><?xml version="1.0" encoding="utf-8"?>
<p:tagLst xmlns:p="http://schemas.openxmlformats.org/presentationml/2006/main">
  <p:tag name="KSO_WM_DIAGRAM_VIRTUALLY_FRAME" val="{&quot;height&quot;:315,&quot;left&quot;:38.160000000000004,&quot;top&quot;:75.24,&quot;width&quot;:883.4399999999999}"/>
</p:tagLst>
</file>

<file path=ppt/tags/tag72.xml><?xml version="1.0" encoding="utf-8"?>
<p:tagLst xmlns:p="http://schemas.openxmlformats.org/presentationml/2006/main">
  <p:tag name="KSO_WM_DIAGRAM_VIRTUALLY_FRAME" val="{&quot;height&quot;:315,&quot;left&quot;:38.160000000000004,&quot;top&quot;:75.24,&quot;width&quot;:883.4399999999999}"/>
</p:tagLst>
</file>

<file path=ppt/tags/tag73.xml><?xml version="1.0" encoding="utf-8"?>
<p:tagLst xmlns:p="http://schemas.openxmlformats.org/presentationml/2006/main">
  <p:tag name="KSO_WM_DIAGRAM_VIRTUALLY_FRAME" val="{&quot;height&quot;:315,&quot;left&quot;:38.160000000000004,&quot;top&quot;:75.24,&quot;width&quot;:883.4399999999999}"/>
</p:tagLst>
</file>

<file path=ppt/tags/tag74.xml><?xml version="1.0" encoding="utf-8"?>
<p:tagLst xmlns:p="http://schemas.openxmlformats.org/presentationml/2006/main">
  <p:tag name="KSO_WM_DIAGRAM_VIRTUALLY_FRAME" val="{&quot;height&quot;:315,&quot;left&quot;:38.160000000000004,&quot;top&quot;:75.24,&quot;width&quot;:883.4399999999999}"/>
</p:tagLst>
</file>

<file path=ppt/tags/tag75.xml><?xml version="1.0" encoding="utf-8"?>
<p:tagLst xmlns:p="http://schemas.openxmlformats.org/presentationml/2006/main">
  <p:tag name="KSO_WM_DIAGRAM_VIRTUALLY_FRAME" val="{&quot;height&quot;:315,&quot;left&quot;:38.160000000000004,&quot;top&quot;:75.24,&quot;width&quot;:883.4399999999999}"/>
</p:tagLst>
</file>

<file path=ppt/tags/tag76.xml><?xml version="1.0" encoding="utf-8"?>
<p:tagLst xmlns:p="http://schemas.openxmlformats.org/presentationml/2006/main">
  <p:tag name="KSO_WM_DIAGRAM_VIRTUALLY_FRAME" val="{&quot;height&quot;:315,&quot;left&quot;:38.160000000000004,&quot;top&quot;:75.24,&quot;width&quot;:883.4399999999999}"/>
</p:tagLst>
</file>

<file path=ppt/tags/tag77.xml><?xml version="1.0" encoding="utf-8"?>
<p:tagLst xmlns:p="http://schemas.openxmlformats.org/presentationml/2006/main">
  <p:tag name="KSO_WM_DIAGRAM_VIRTUALLY_FRAME" val="{&quot;height&quot;:315,&quot;left&quot;:38.160000000000004,&quot;top&quot;:75.24,&quot;width&quot;:883.4399999999999}"/>
</p:tagLst>
</file>

<file path=ppt/tags/tag78.xml><?xml version="1.0" encoding="utf-8"?>
<p:tagLst xmlns:p="http://schemas.openxmlformats.org/presentationml/2006/main">
  <p:tag name="KSO_WM_DIAGRAM_VIRTUALLY_FRAME" val="{&quot;height&quot;:315,&quot;left&quot;:38.160000000000004,&quot;top&quot;:75.24,&quot;width&quot;:883.4399999999999}"/>
</p:tagLst>
</file>

<file path=ppt/tags/tag79.xml><?xml version="1.0" encoding="utf-8"?>
<p:tagLst xmlns:p="http://schemas.openxmlformats.org/presentationml/2006/main">
  <p:tag name="KSO_WM_DIAGRAM_VIRTUALLY_FRAME" val="{&quot;height&quot;:315,&quot;left&quot;:38.160000000000004,&quot;top&quot;:75.24,&quot;width&quot;:883.4399999999999}"/>
</p:tagLst>
</file>

<file path=ppt/tags/tag80.xml><?xml version="1.0" encoding="utf-8"?>
<p:tagLst xmlns:p="http://schemas.openxmlformats.org/presentationml/2006/main">
  <p:tag name="KSO_WM_DIAGRAM_VIRTUALLY_FRAME" val="{&quot;height&quot;:315,&quot;left&quot;:38.160000000000004,&quot;top&quot;:75.24,&quot;width&quot;:883.4399999999999}"/>
</p:tagLst>
</file>

<file path=ppt/tags/tag81.xml><?xml version="1.0" encoding="utf-8"?>
<p:tagLst xmlns:p="http://schemas.openxmlformats.org/presentationml/2006/main">
  <p:tag name="KSO_WM_DIAGRAM_VIRTUALLY_FRAME" val="{&quot;height&quot;:315,&quot;left&quot;:38.160000000000004,&quot;top&quot;:75.24,&quot;width&quot;:883.4399999999999}"/>
</p:tagLst>
</file>

<file path=ppt/tags/tag82.xml><?xml version="1.0" encoding="utf-8"?>
<p:tagLst xmlns:p="http://schemas.openxmlformats.org/presentationml/2006/main">
  <p:tag name="KSO_WM_DIAGRAM_VIRTUALLY_FRAME" val="{&quot;height&quot;:315,&quot;left&quot;:38.160000000000004,&quot;top&quot;:75.24,&quot;width&quot;:883.4399999999999}"/>
</p:tagLst>
</file>

<file path=ppt/tags/tag83.xml><?xml version="1.0" encoding="utf-8"?>
<p:tagLst xmlns:p="http://schemas.openxmlformats.org/presentationml/2006/main">
  <p:tag name="KSO_WM_DIAGRAM_VIRTUALLY_FRAME" val="{&quot;height&quot;:315,&quot;left&quot;:38.160000000000004,&quot;top&quot;:75.24,&quot;width&quot;:883.4399999999999}"/>
</p:tagLst>
</file>

<file path=ppt/tags/tag84.xml><?xml version="1.0" encoding="utf-8"?>
<p:tagLst xmlns:p="http://schemas.openxmlformats.org/presentationml/2006/main">
  <p:tag name="KSO_WM_DIAGRAM_VIRTUALLY_FRAME" val="{&quot;height&quot;:315,&quot;left&quot;:38.160000000000004,&quot;top&quot;:75.24,&quot;width&quot;:883.4399999999999}"/>
</p:tagLst>
</file>

<file path=ppt/tags/tag85.xml><?xml version="1.0" encoding="utf-8"?>
<p:tagLst xmlns:p="http://schemas.openxmlformats.org/presentationml/2006/main">
  <p:tag name="KSO_WM_DIAGRAM_VIRTUALLY_FRAME" val="{&quot;height&quot;:315,&quot;left&quot;:38.160000000000004,&quot;top&quot;:75.24,&quot;width&quot;:883.439999999999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5910</Words>
  <Application>WPS 演示</Application>
  <PresentationFormat/>
  <Paragraphs>654</Paragraphs>
  <Slides>23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23</vt:i4>
      </vt:variant>
    </vt:vector>
  </HeadingPairs>
  <TitlesOfParts>
    <vt:vector size="35" baseType="lpstr">
      <vt:lpstr>Arial</vt:lpstr>
      <vt:lpstr>宋体</vt:lpstr>
      <vt:lpstr>Wingdings</vt:lpstr>
      <vt:lpstr>微软雅黑</vt:lpstr>
      <vt:lpstr>Arial</vt:lpstr>
      <vt:lpstr>Times New Roman</vt:lpstr>
      <vt:lpstr>Wingdings</vt:lpstr>
      <vt:lpstr>等线</vt:lpstr>
      <vt:lpstr>Arial Unicode MS</vt:lpstr>
      <vt:lpstr>等线 Light</vt:lpstr>
      <vt:lpstr>Calibri</vt:lpstr>
      <vt:lpstr>Office 主题​​</vt:lpstr>
      <vt:lpstr>AI算力设施驱动下城市水代谢响应与承载边界的系统模拟研究</vt:lpstr>
      <vt:lpstr>PowerPoint 演示文稿</vt:lpstr>
      <vt:lpstr>大模型行为的资源消耗</vt:lpstr>
      <vt:lpstr>AI 算力扩张正在把计算需求转化为持续性城市负荷</vt:lpstr>
      <vt:lpstr>相同年用水量可能对应完全不同的城市系统压力</vt:lpstr>
      <vt:lpstr>研究对象落在城市人工水系统的全过程网络上</vt:lpstr>
      <vt:lpstr>PowerPoint 演示文稿</vt:lpstr>
      <vt:lpstr>AI算力扩张带来持续增长的水资源环境压力</vt:lpstr>
      <vt:lpstr>中国数据中心水足迹存在明显空间差异</vt:lpstr>
      <vt:lpstr>数据中心水耗受气候条件等多种因素影响</vt:lpstr>
      <vt:lpstr>国内外研究现状</vt:lpstr>
      <vt:lpstr>PowerPoint 演示文稿</vt:lpstr>
      <vt:lpstr>核心概念：CAWCC 条件化 AI 水承载容量</vt:lpstr>
      <vt:lpstr>PowerPoint 演示文稿</vt:lpstr>
      <vt:lpstr>四项研究内容：从概念到边界求解</vt:lpstr>
      <vt:lpstr>实验设计：五组控制实验</vt:lpstr>
      <vt:lpstr>总技术路线图</vt:lpstr>
      <vt:lpstr>已完成的工作</vt:lpstr>
      <vt:lpstr>已完成的工作</vt:lpstr>
      <vt:lpstr>PowerPoint 演示文稿</vt:lpstr>
      <vt:lpstr>研究基础与进度安排</vt:lpstr>
      <vt:lpstr>预期成果、创新点与风险应对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算力基础设施驱动下城市人工水系统代谢响应与条件化承载边界的系统模拟研究</dc:title>
  <dc:creator/>
  <cp:lastModifiedBy>邵敬哲</cp:lastModifiedBy>
  <cp:revision>31</cp:revision>
  <dcterms:created xsi:type="dcterms:W3CDTF">2026-09-10T01:10:00Z</dcterms:created>
  <dcterms:modified xsi:type="dcterms:W3CDTF">2026-09-11T04:15:00Z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7E90788A1DD74D68AB01777D7FC664AF_12</vt:lpwstr>
  </property>
</Properties>
</file>