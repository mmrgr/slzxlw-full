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3"/>
    <p:sldId id="257" r:id="rId4"/>
    <p:sldId id="258" r:id="rId5"/>
    <p:sldId id="259" r:id="rId6"/>
    <p:sldId id="260" r:id="rId7"/>
    <p:sldId id="292"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96"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24" y="6356350"/>
            <a:ext cx="2133711"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363" y="6356350"/>
            <a:ext cx="2895751" cy="365125"/>
          </a:xfrm>
        </p:spPr>
        <p:txBody>
          <a:bodyPr/>
          <a:lstStyle/>
          <a:p>
            <a:endParaRPr lang="en-US"/>
          </a:p>
        </p:txBody>
      </p:sp>
      <p:sp>
        <p:nvSpPr>
          <p:cNvPr id="4" name="Slide Number Placeholder 3"/>
          <p:cNvSpPr>
            <a:spLocks noGrp="1"/>
          </p:cNvSpPr>
          <p:nvPr>
            <p:ph type="sldNum" sz="quarter" idx="12"/>
          </p:nvPr>
        </p:nvSpPr>
        <p:spPr>
          <a:xfrm>
            <a:off x="6553541" y="6356350"/>
            <a:ext cx="2133711" cy="365125"/>
          </a:xfrm>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8" Type="http://schemas.openxmlformats.org/officeDocument/2006/relationships/slideLayout" Target="../slideLayouts/slideLayout1.xml"/><Relationship Id="rId27" Type="http://schemas.openxmlformats.org/officeDocument/2006/relationships/image" Target="../media/image2.svg"/><Relationship Id="rId26" Type="http://schemas.openxmlformats.org/officeDocument/2006/relationships/image" Target="../media/image1.png"/><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sv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sv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sv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sv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svg"/><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svg"/><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svg"/><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svg"/><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2.svg"/><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0B3A82', fontFamily: 'Microsoft YaHei', padding: 0 }}&gt;&#13;&#10;    &lt;Box style={{ position: 'absolute', top: 0, right: 0, width: 360, height: 720, background: '#12489A' }} /&gt;&#13;&#10;    &lt;Box style={{ position: 'absolute', top: 150, right: 40, width: 280, height: 280, opacity: 0.18 }}&gt;&#13;&#10;        &lt;svg width={280} height={280} viewBox='0 0 300 300'&gt;&#13;&#10;            &lt;circle cx='150' cy='55' r='26' fill='none' stroke='#FFFFFF' strokeWidth='3' /&gt;&#13;&#10;            &lt;rect x='116' y='115' width='68' height='46' rx='6' fill='none' stroke='#FFFFFF' strokeWidth='3' /&gt;&#13;&#10;            &lt;rect x='38' y='200' width='62' height='42' rx='6' fill='none' stroke='#FFFFFF' strokeWidth='3' /&gt;&#13;&#10;            &lt;rect x='200' y='200' width='62' height='42' rx='6' fill='none' stroke='#FFFFFF' strokeWidth='3' /&gt;&#13;&#10;            &lt;path d='M150 81 L150 115' stroke='#FFFFFF' strokeWidth='3' fill='none' /&gt;&#13;&#10;            &lt;path d='M116 138 L70 200' stroke='#FFFFFF' strokeWidth='3' fill='none' /&gt;&#13;&#10;            &lt;path d='M184 138 L230 200' stroke='#FFFFFF' strokeWidth='3' fill='none' /&gt;&#13;&#10;            &lt;path d='M38 242 L262 242' stroke='#FFFFFF' strokeWidth='3' fill='none' /&gt;&#13;&#10;        &lt;/svg&gt;&#13;&#10;    &lt;/Box&gt;&#13;&#10;    &lt;Box style={{ position: 'absolute', top: 470, left: 960, width: 260, flexDirection: 'column', gap: 8 }}&gt;&#13;&#10;        &lt;Text style={{ fontSize: 20, fontWeight: 'bold', color: '#FFFFFF' }}&gt;核心指标 CAWCC&lt;/Text&gt;&#13;&#10;        &lt;Text style={{ fontSize: 16, color: '#9FC0EA', lineHeight: 1.5 }}&gt;条件化 AI 水系统承载容量：给定城市状态、技术架构、水源政策、气候、服务优先级与风险容忍下的最大可行 AI 容量&lt;/Text&gt;&#13;&#10;    &lt;/Box&gt;&#13;&#10;    &lt;Box style={{ position: 'absolute', top: 0, left: 0, width: 920, height: 720, paddingLeft: 64, paddingRight: 40, paddingTop: 76, flexDirection: 'column', gap: 14 }}&gt;&#13;&#10;        &lt;Box style={{ flexDirection: 'row', alignItems: 'center', gap: 14 }}&gt;&#13;&#10;            &lt;Box style={{ width: 12, height: 32, background: '#FFC107' }} /&gt;&#13;&#10;            &lt;Text style={{ fontSize: 24, color: '#BFD3F2', letterSpacing: 2 }}&gt;哈尔滨工业大学 · 硕士学位开题报告（学位论文）&lt;/Text&gt;&#13;&#10;        &lt;/Box&gt;&#13;&#10;        &lt;Text style={{ fontSize: 22, color: '#8FB2E4' }}&gt;题目&lt;/Text&gt;&#13;&#10;        &lt;Text style={{ fontSize: 44, fontWeight: 'bold', color: '#FFFFFF', lineHeight: 1.3 }}&gt;&#13;&#10;            AI算力基础设施驱动下城市人工水系统&lt;br /&gt;代谢响应与条件化承载边界的系统模拟研究&#13;&#10;        &lt;/Text&gt;&#13;&#10;        &lt;Text style={{ fontSize: 18, color: '#9FC0EA', lineHeight: 1.4 }}&gt;&#13;&#10;            Metabolic Response and Conditional Carrying Boundary of Urban Artificial Water Systems Driven by AI Computing Infrastructure&#13;&#10;        &lt;/Text&gt;&#13;&#10;        &lt;Box style={{ height: 2, background: '#3D7BD9', marginTop: 10 }} /&gt;&#13;&#10;        &lt;Box style={{ flexDirection: 'column', gap: 8, marginTop: 6 }}&gt;&#13;&#10;            &lt;Text style={{ fontSize: 19, color: '#DCE7F8', lineHeight: 1.5 }}&gt;学院（部）：市政环境工程学院&lt;/Text&gt;&#13;&#10;            &lt;Text style={{ fontSize: 19, color: '#DCE7F8', lineHeight: 1.5 }}&gt;学科 / 专业学位类别：环境科学与工程（学术学位）&lt;/Text&gt;&#13;&#10;            &lt;Text style={{ fontSize: 19, color: '#DCE7F8', lineHeight: 1.5 }}&gt;研究生：＿＿＿＿＿＿＿　学号：＿＿＿＿＿＿＿　导师：＿＿＿＿＿＿＿&lt;/Text&gt;&#13;&#10;            &lt;Text style={{ fontSize: 19, color: '#DCE7F8', lineHeight: 1.5 }}&gt;开题报告日期：2026 年 9 月&lt;/Text&gt;&#13;&#10;        &lt;/Box&gt;&#13;&#10;        &lt;Box style={{ flexDirection: 'row', alignItems: 'center', gap: 14, marginTop: 12 }}&gt;&#13;&#10;            &lt;Box style={{ background: '#E8EFF8', paddingLeft: 16, paddingRight: 16, paddingTop: 7, paddingBottom: 7, borderRadius: 4 }}&gt;&#13;&#10;                &lt;Text style={{ fontSize: 18, color: '#0B3A82', fontWeight: 'bold' }}&gt;关键词&lt;/Text&gt;&#13;&#10;            &lt;/Box&gt;&#13;&#10;            &lt;Text style={{ fontSize: 18, color: '#BFD3F2' }}&gt;AI 算力基础设施 · 城市人工水系统 · 城市代谢 · 条件化承载容量 · 瓶颈迁移&lt;/Text&gt;&#13;&#10;        &lt;/Box&gt;&#13;&#10;    &lt;/Box&gt;&#13;&#10;&lt;/Slide&gt;&#13;&#10;"/>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B3A82"/>
          </a:solidFill>
        </p:spPr>
        <p:txBody>
          <a:bodyPr/>
          <a:p/>
        </p:txBody>
      </p:sp>
      <p:sp>
        <p:nvSpPr>
          <p:cNvPr id="3" name="矩形 2"/>
          <p:cNvSpPr/>
          <p:nvPr/>
        </p:nvSpPr>
        <p:spPr>
          <a:xfrm>
            <a:off x="8763000" y="0"/>
            <a:ext cx="3429000" cy="6858000"/>
          </a:xfrm>
          <a:prstGeom prst="rect">
            <a:avLst/>
          </a:prstGeom>
          <a:solidFill>
            <a:srgbClr val="12489A"/>
          </a:solidFill>
        </p:spPr>
        <p:txBody>
          <a:bodyPr/>
          <a:p/>
        </p:txBody>
      </p:sp>
      <p:sp>
        <p:nvSpPr>
          <p:cNvPr id="7" name="矩形 6"/>
          <p:cNvSpPr/>
          <p:nvPr/>
        </p:nvSpPr>
        <p:spPr>
          <a:xfrm>
            <a:off x="609600" y="368935"/>
            <a:ext cx="114300" cy="304800"/>
          </a:xfrm>
          <a:prstGeom prst="rect">
            <a:avLst/>
          </a:prstGeom>
          <a:solidFill>
            <a:srgbClr val="FFC107"/>
          </a:solidFill>
        </p:spPr>
        <p:txBody>
          <a:bodyPr/>
          <a:p/>
        </p:txBody>
      </p:sp>
      <p:sp>
        <p:nvSpPr>
          <p:cNvPr id="8" name="文本框 7" descr="{&quot;isTemplate&quot;:true,&quot;type&quot;:&quot;text&quot;}"/>
          <p:cNvSpPr txBox="1"/>
          <p:nvPr/>
        </p:nvSpPr>
        <p:spPr>
          <a:xfrm>
            <a:off x="857250" y="387985"/>
            <a:ext cx="5448300" cy="276225"/>
          </a:xfrm>
          <a:prstGeom prst="rect">
            <a:avLst/>
          </a:prstGeom>
        </p:spPr>
        <p:txBody>
          <a:bodyPr wrap="none" lIns="0" tIns="0" rIns="0" bIns="0"/>
          <a:p>
            <a:pPr>
              <a:lnSpc>
                <a:spcPct val="100000"/>
              </a:lnSpc>
            </a:pPr>
            <a:r>
              <a:rPr lang="zh-CN" sz="1800" spc="150">
                <a:solidFill>
                  <a:srgbClr val="BFD3F2"/>
                </a:solidFill>
                <a:latin typeface="微软雅黑" panose="020B0503020204020204" charset="-122"/>
                <a:ea typeface="微软雅黑" panose="020B0503020204020204" charset="-122"/>
              </a:rPr>
              <a:t>哈尔滨工业大学</a:t>
            </a:r>
            <a:r>
              <a:rPr lang="en-US" sz="1800" spc="150">
                <a:solidFill>
                  <a:srgbClr val="BFD3F2"/>
                </a:solidFill>
                <a:latin typeface="微软雅黑" panose="020B0503020204020204" charset="-122"/>
                <a:ea typeface="微软雅黑" panose="020B0503020204020204" charset="-122"/>
              </a:rPr>
              <a:t> · </a:t>
            </a:r>
            <a:r>
              <a:rPr lang="zh-CN" sz="1800" spc="150">
                <a:solidFill>
                  <a:srgbClr val="BFD3F2"/>
                </a:solidFill>
                <a:latin typeface="微软雅黑" panose="020B0503020204020204" charset="-122"/>
                <a:ea typeface="微软雅黑" panose="020B0503020204020204" charset="-122"/>
              </a:rPr>
              <a:t>硕士学位开题报告（学位论文）</a:t>
            </a:r>
            <a:endParaRPr lang="zh-CN" sz="1800" spc="150">
              <a:solidFill>
                <a:srgbClr val="BFD3F2"/>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609600" y="807085"/>
            <a:ext cx="7772400" cy="257175"/>
          </a:xfrm>
          <a:prstGeom prst="rect">
            <a:avLst/>
          </a:prstGeom>
        </p:spPr>
        <p:txBody>
          <a:bodyPr wrap="none" lIns="0" tIns="0" rIns="0" bIns="0"/>
          <a:p>
            <a:pPr>
              <a:lnSpc>
                <a:spcPct val="100000"/>
              </a:lnSpc>
            </a:pPr>
            <a:r>
              <a:rPr lang="zh-CN" sz="1650">
                <a:solidFill>
                  <a:srgbClr val="8FB2E4"/>
                </a:solidFill>
                <a:latin typeface="微软雅黑" panose="020B0503020204020204" charset="-122"/>
                <a:ea typeface="微软雅黑" panose="020B0503020204020204" charset="-122"/>
              </a:rPr>
              <a:t>题目</a:t>
            </a:r>
            <a:endParaRPr lang="zh-CN" sz="1650">
              <a:solidFill>
                <a:srgbClr val="8FB2E4"/>
              </a:solidFill>
              <a:latin typeface="微软雅黑" panose="020B0503020204020204" charset="-122"/>
              <a:ea typeface="微软雅黑" panose="020B0503020204020204" charset="-122"/>
            </a:endParaRPr>
          </a:p>
        </p:txBody>
      </p:sp>
      <p:sp>
        <p:nvSpPr>
          <p:cNvPr id="10" name="文本框 9" descr="{&quot;isTemplate&quot;:true,&quot;type&quot;:&quot;text&quot;}"/>
          <p:cNvSpPr txBox="1"/>
          <p:nvPr/>
        </p:nvSpPr>
        <p:spPr>
          <a:xfrm>
            <a:off x="609600" y="1197610"/>
            <a:ext cx="7772400" cy="1962150"/>
          </a:xfrm>
          <a:prstGeom prst="rect">
            <a:avLst/>
          </a:prstGeom>
        </p:spPr>
        <p:txBody>
          <a:bodyPr wrap="square" lIns="0" tIns="0" rIns="0" bIns="0">
            <a:normAutofit/>
          </a:bodyPr>
          <a:p>
            <a:pPr>
              <a:lnSpc>
                <a:spcPct val="130000"/>
              </a:lnSpc>
            </a:pPr>
            <a:r>
              <a:rPr lang="en-US" sz="3300" b="1">
                <a:solidFill>
                  <a:srgbClr val="FFFFFF"/>
                </a:solidFill>
                <a:latin typeface="微软雅黑" panose="020B0503020204020204" charset="-122"/>
                <a:ea typeface="微软雅黑" panose="020B0503020204020204" charset="-122"/>
              </a:rPr>
              <a:t>AI</a:t>
            </a:r>
            <a:r>
              <a:rPr lang="zh-CN" sz="3300" b="1">
                <a:solidFill>
                  <a:srgbClr val="FFFFFF"/>
                </a:solidFill>
                <a:latin typeface="微软雅黑" panose="020B0503020204020204" charset="-122"/>
                <a:ea typeface="微软雅黑" panose="020B0503020204020204" charset="-122"/>
              </a:rPr>
              <a:t>算力基础设施驱动下城市人工水系统</a:t>
            </a:r>
            <a:endParaRPr lang="zh-CN" sz="3300" b="1">
              <a:solidFill>
                <a:srgbClr val="FFFFFF"/>
              </a:solidFill>
              <a:latin typeface="微软雅黑" panose="020B0503020204020204" charset="-122"/>
              <a:ea typeface="微软雅黑" panose="020B0503020204020204" charset="-122"/>
            </a:endParaRPr>
          </a:p>
          <a:p>
            <a:pPr>
              <a:lnSpc>
                <a:spcPct val="130000"/>
              </a:lnSpc>
            </a:pPr>
            <a:r>
              <a:rPr lang="zh-CN" sz="3300" b="1">
                <a:solidFill>
                  <a:srgbClr val="FFFFFF"/>
                </a:solidFill>
                <a:latin typeface="微软雅黑" panose="020B0503020204020204" charset="-122"/>
                <a:ea typeface="微软雅黑" panose="020B0503020204020204" charset="-122"/>
              </a:rPr>
              <a:t>代谢响应与条件化承载边界的系统模拟研究</a:t>
            </a:r>
            <a:endParaRPr lang="zh-CN" sz="3300" b="1">
              <a:solidFill>
                <a:srgbClr val="FFFFFF"/>
              </a:solidFill>
              <a:latin typeface="微软雅黑" panose="020B0503020204020204" charset="-122"/>
              <a:ea typeface="微软雅黑" panose="020B0503020204020204" charset="-122"/>
            </a:endParaRPr>
          </a:p>
        </p:txBody>
      </p:sp>
      <p:sp>
        <p:nvSpPr>
          <p:cNvPr id="11" name="文本框 10" descr="{&quot;isTemplate&quot;:true,&quot;type&quot;:&quot;text&quot;}"/>
          <p:cNvSpPr txBox="1"/>
          <p:nvPr/>
        </p:nvSpPr>
        <p:spPr>
          <a:xfrm>
            <a:off x="609600" y="3293110"/>
            <a:ext cx="7772400" cy="581025"/>
          </a:xfrm>
          <a:prstGeom prst="rect">
            <a:avLst/>
          </a:prstGeom>
        </p:spPr>
        <p:txBody>
          <a:bodyPr wrap="square" lIns="0" tIns="0" rIns="0" bIns="0">
            <a:normAutofit/>
          </a:bodyPr>
          <a:p>
            <a:pPr>
              <a:lnSpc>
                <a:spcPct val="140000"/>
              </a:lnSpc>
            </a:pPr>
            <a:r>
              <a:rPr lang="en-US" sz="1350">
                <a:solidFill>
                  <a:srgbClr val="9FC0EA"/>
                </a:solidFill>
                <a:latin typeface="微软雅黑" panose="020B0503020204020204" charset="-122"/>
                <a:ea typeface="微软雅黑" panose="020B0503020204020204" charset="-122"/>
              </a:rPr>
              <a:t>Metabolic Response and Conditional Carrying Boundary of Urban Artificial Water Systems Driven by AI Computing Infrastructure</a:t>
            </a:r>
            <a:endParaRPr lang="en-US" sz="1350">
              <a:solidFill>
                <a:srgbClr val="9FC0EA"/>
              </a:solidFill>
              <a:latin typeface="微软雅黑" panose="020B0503020204020204" charset="-122"/>
              <a:ea typeface="微软雅黑" panose="020B0503020204020204" charset="-122"/>
            </a:endParaRPr>
          </a:p>
        </p:txBody>
      </p:sp>
      <p:sp>
        <p:nvSpPr>
          <p:cNvPr id="12" name="矩形 11"/>
          <p:cNvSpPr/>
          <p:nvPr/>
        </p:nvSpPr>
        <p:spPr>
          <a:xfrm>
            <a:off x="609600" y="4102735"/>
            <a:ext cx="7772400" cy="19050"/>
          </a:xfrm>
          <a:prstGeom prst="rect">
            <a:avLst/>
          </a:prstGeom>
          <a:solidFill>
            <a:srgbClr val="3D7BD9"/>
          </a:solidFill>
        </p:spPr>
        <p:txBody>
          <a:bodyPr/>
          <a:p/>
        </p:txBody>
      </p:sp>
      <p:sp>
        <p:nvSpPr>
          <p:cNvPr id="15" name="文本框 14" descr="{&quot;isTemplate&quot;:true,&quot;type&quot;:&quot;text&quot;}"/>
          <p:cNvSpPr txBox="1"/>
          <p:nvPr/>
        </p:nvSpPr>
        <p:spPr>
          <a:xfrm>
            <a:off x="609600" y="4428490"/>
            <a:ext cx="7772400" cy="333375"/>
          </a:xfrm>
          <a:prstGeom prst="rect">
            <a:avLst/>
          </a:prstGeom>
        </p:spPr>
        <p:txBody>
          <a:bodyPr wrap="none" lIns="0" tIns="0" rIns="0" bIns="0"/>
          <a:p>
            <a:pPr>
              <a:lnSpc>
                <a:spcPct val="150000"/>
              </a:lnSpc>
            </a:pPr>
            <a:r>
              <a:rPr lang="zh-CN">
                <a:solidFill>
                  <a:srgbClr val="DCE7F8"/>
                </a:solidFill>
                <a:latin typeface="微软雅黑" panose="020B0503020204020204" charset="-122"/>
                <a:ea typeface="微软雅黑" panose="020B0503020204020204" charset="-122"/>
              </a:rPr>
              <a:t>姓名：邵敬哲</a:t>
            </a:r>
            <a:r>
              <a:rPr lang="en-US" altLang="zh-CN">
                <a:solidFill>
                  <a:srgbClr val="DCE7F8"/>
                </a:solidFill>
                <a:latin typeface="微软雅黑" panose="020B0503020204020204" charset="-122"/>
                <a:ea typeface="微软雅黑" panose="020B0503020204020204" charset="-122"/>
              </a:rPr>
              <a:t>   </a:t>
            </a:r>
            <a:r>
              <a:rPr lang="zh-CN" altLang="en-US">
                <a:solidFill>
                  <a:srgbClr val="DCE7F8"/>
                </a:solidFill>
                <a:latin typeface="微软雅黑" panose="020B0503020204020204" charset="-122"/>
                <a:ea typeface="微软雅黑" panose="020B0503020204020204" charset="-122"/>
              </a:rPr>
              <a:t>导师：白舜文</a:t>
            </a:r>
            <a:endParaRPr lang="zh-CN" altLang="en-US">
              <a:solidFill>
                <a:srgbClr val="DCE7F8"/>
              </a:solidFill>
              <a:latin typeface="微软雅黑" panose="020B0503020204020204" charset="-122"/>
              <a:ea typeface="微软雅黑" panose="020B0503020204020204" charset="-122"/>
            </a:endParaRPr>
          </a:p>
        </p:txBody>
      </p:sp>
      <p:sp>
        <p:nvSpPr>
          <p:cNvPr id="17" name="圆角矩形 16"/>
          <p:cNvSpPr/>
          <p:nvPr/>
        </p:nvSpPr>
        <p:spPr>
          <a:xfrm>
            <a:off x="609600" y="5197475"/>
            <a:ext cx="819150" cy="342900"/>
          </a:xfrm>
          <a:prstGeom prst="roundRect">
            <a:avLst>
              <a:gd name="adj" fmla="val 11111"/>
            </a:avLst>
          </a:prstGeom>
          <a:solidFill>
            <a:srgbClr val="E8EFF8"/>
          </a:solidFill>
        </p:spPr>
        <p:txBody>
          <a:bodyPr/>
          <a:p>
            <a:endParaRPr sz="2400"/>
          </a:p>
        </p:txBody>
      </p:sp>
      <p:sp>
        <p:nvSpPr>
          <p:cNvPr id="18" name="文本框 17" descr="{&quot;isTemplate&quot;:true,&quot;type&quot;:&quot;text&quot;}"/>
          <p:cNvSpPr txBox="1"/>
          <p:nvPr/>
        </p:nvSpPr>
        <p:spPr>
          <a:xfrm>
            <a:off x="762000" y="5264150"/>
            <a:ext cx="514350" cy="209550"/>
          </a:xfrm>
          <a:prstGeom prst="rect">
            <a:avLst/>
          </a:prstGeom>
        </p:spPr>
        <p:txBody>
          <a:bodyPr wrap="none" lIns="0" tIns="0" rIns="0" bIns="0"/>
          <a:p>
            <a:pPr>
              <a:lnSpc>
                <a:spcPct val="100000"/>
              </a:lnSpc>
            </a:pPr>
            <a:r>
              <a:rPr lang="zh-CN" sz="1600" b="1">
                <a:solidFill>
                  <a:srgbClr val="0B3A82"/>
                </a:solidFill>
                <a:latin typeface="微软雅黑" panose="020B0503020204020204" charset="-122"/>
                <a:ea typeface="微软雅黑" panose="020B0503020204020204" charset="-122"/>
              </a:rPr>
              <a:t>关键词</a:t>
            </a:r>
            <a:endParaRPr lang="zh-CN" sz="1600" b="1">
              <a:solidFill>
                <a:srgbClr val="0B3A82"/>
              </a:solidFill>
              <a:latin typeface="微软雅黑" panose="020B0503020204020204" charset="-122"/>
              <a:ea typeface="微软雅黑" panose="020B0503020204020204" charset="-122"/>
            </a:endParaRPr>
          </a:p>
        </p:txBody>
      </p:sp>
      <p:sp>
        <p:nvSpPr>
          <p:cNvPr id="19" name="文本框 18" descr="{&quot;isTemplate&quot;:true,&quot;type&quot;:&quot;text&quot;}"/>
          <p:cNvSpPr txBox="1"/>
          <p:nvPr/>
        </p:nvSpPr>
        <p:spPr>
          <a:xfrm>
            <a:off x="1562100" y="5264150"/>
            <a:ext cx="5600700" cy="209550"/>
          </a:xfrm>
          <a:prstGeom prst="rect">
            <a:avLst/>
          </a:prstGeom>
        </p:spPr>
        <p:txBody>
          <a:bodyPr wrap="none" lIns="0" tIns="0" rIns="0" bIns="0"/>
          <a:p>
            <a:pPr>
              <a:lnSpc>
                <a:spcPct val="100000"/>
              </a:lnSpc>
            </a:pPr>
            <a:r>
              <a:rPr lang="en-US" sz="1600">
                <a:solidFill>
                  <a:srgbClr val="BFD3F2"/>
                </a:solidFill>
                <a:latin typeface="微软雅黑" panose="020B0503020204020204" charset="-122"/>
                <a:ea typeface="微软雅黑" panose="020B0503020204020204" charset="-122"/>
              </a:rPr>
              <a:t>AI </a:t>
            </a:r>
            <a:r>
              <a:rPr lang="zh-CN" sz="1600">
                <a:solidFill>
                  <a:srgbClr val="BFD3F2"/>
                </a:solidFill>
                <a:latin typeface="微软雅黑" panose="020B0503020204020204" charset="-122"/>
                <a:ea typeface="微软雅黑" panose="020B0503020204020204" charset="-122"/>
              </a:rPr>
              <a:t>算力基础设施</a:t>
            </a:r>
            <a:r>
              <a:rPr lang="en-US" sz="1600">
                <a:solidFill>
                  <a:srgbClr val="BFD3F2"/>
                </a:solidFill>
                <a:latin typeface="微软雅黑" panose="020B0503020204020204" charset="-122"/>
                <a:ea typeface="微软雅黑" panose="020B0503020204020204" charset="-122"/>
              </a:rPr>
              <a:t> · </a:t>
            </a:r>
            <a:r>
              <a:rPr lang="zh-CN" sz="1600">
                <a:solidFill>
                  <a:srgbClr val="BFD3F2"/>
                </a:solidFill>
                <a:latin typeface="微软雅黑" panose="020B0503020204020204" charset="-122"/>
                <a:ea typeface="微软雅黑" panose="020B0503020204020204" charset="-122"/>
              </a:rPr>
              <a:t>城市人工水系统</a:t>
            </a:r>
            <a:r>
              <a:rPr lang="en-US" sz="1600">
                <a:solidFill>
                  <a:srgbClr val="BFD3F2"/>
                </a:solidFill>
                <a:latin typeface="微软雅黑" panose="020B0503020204020204" charset="-122"/>
                <a:ea typeface="微软雅黑" panose="020B0503020204020204" charset="-122"/>
              </a:rPr>
              <a:t> · </a:t>
            </a:r>
            <a:r>
              <a:rPr lang="zh-CN" sz="1600">
                <a:solidFill>
                  <a:srgbClr val="BFD3F2"/>
                </a:solidFill>
                <a:latin typeface="微软雅黑" panose="020B0503020204020204" charset="-122"/>
                <a:ea typeface="微软雅黑" panose="020B0503020204020204" charset="-122"/>
              </a:rPr>
              <a:t>城市代谢</a:t>
            </a:r>
            <a:r>
              <a:rPr lang="en-US" sz="1600">
                <a:solidFill>
                  <a:srgbClr val="BFD3F2"/>
                </a:solidFill>
                <a:latin typeface="微软雅黑" panose="020B0503020204020204" charset="-122"/>
                <a:ea typeface="微软雅黑" panose="020B0503020204020204" charset="-122"/>
              </a:rPr>
              <a:t> · </a:t>
            </a:r>
            <a:r>
              <a:rPr lang="zh-CN" sz="1600">
                <a:solidFill>
                  <a:srgbClr val="BFD3F2"/>
                </a:solidFill>
                <a:latin typeface="微软雅黑" panose="020B0503020204020204" charset="-122"/>
                <a:ea typeface="微软雅黑" panose="020B0503020204020204" charset="-122"/>
              </a:rPr>
              <a:t>条件化承载容量</a:t>
            </a:r>
            <a:r>
              <a:rPr lang="en-US" sz="1600">
                <a:solidFill>
                  <a:srgbClr val="BFD3F2"/>
                </a:solidFill>
                <a:latin typeface="微软雅黑" panose="020B0503020204020204" charset="-122"/>
                <a:ea typeface="微软雅黑" panose="020B0503020204020204" charset="-122"/>
              </a:rPr>
              <a:t> · </a:t>
            </a:r>
            <a:r>
              <a:rPr lang="zh-CN" sz="1600">
                <a:solidFill>
                  <a:srgbClr val="BFD3F2"/>
                </a:solidFill>
                <a:latin typeface="微软雅黑" panose="020B0503020204020204" charset="-122"/>
                <a:ea typeface="微软雅黑" panose="020B0503020204020204" charset="-122"/>
              </a:rPr>
              <a:t>瓶颈迁移</a:t>
            </a:r>
            <a:endParaRPr lang="zh-CN" sz="1600">
              <a:solidFill>
                <a:srgbClr val="BFD3F2"/>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46"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list-check' style={{ fill: '#FFC107', width: 22, height: 22 }} /&gt;&#13;&#10;            &lt;/Box&gt;&#13;&#10;            &lt;Text style={{ fontSize: 30, fontWeight: 'bold', color: '#FFFFFF' }}&gt;汇报框架&lt;/Text&gt;&#13;&#10;        &lt;/Box&gt;&#13;&#10;        &lt;Box style={{ flexDirection: 'row', alignItems: 'center', gap: 10 }}&gt;&#13;&#10;            &lt;Text style={{ fontSize: 15, color: '#AFC6E8' }}&gt;AI算力驱动下城市人工水系统代谢响应与条件化承载边界研究&lt;/Text&gt;&#13;&#10;            &lt;Box style={{ background: '#FFC107', paddingLeft: 9, paddingRight: 9, paddingTop: 3, paddingBottom: 3, borderRadius: 3, justifyContent: 'center', alignItems: 'center' }}&gt;&#13;&#10;                &lt;Text style={{ fontSize: 14, color: '#0B3A82', fontWeight: 'bold' }}&gt;02&lt;/Text&gt;&#13;&#10;            &lt;/Box&gt;&#13;&#10;        &lt;/Box&gt;&#13;&#10;    &lt;/Box&gt;&#13;&#10;    &lt;Box style={{ paddingLeft: 40, paddingRight: 40, paddingTop: 16, paddingBottom: 8, flexDirection: 'row', gap: 20 }}&gt;&#13;&#10;        &lt;Box style={{ flex: 1, flexDirection: 'column', gap: 9 }}&gt;&#13;&#10;            &lt;Box style={{ flexDirection: 'row', alignItems: 'center', gap: 16, background: '#0B3A82', paddingLeft: 18, paddingRight: 16, paddingTop: 11, paddingBottom: 11, borderRadius: 6, height: 100 }}&gt;&#13;&#10;                &lt;Box style={{ width: 58, height: 58, background: '#FFC107', borderRadius: 12, justifyContent: 'center', alignItems: 'center' }}&gt;&#13;&#10;                    &lt;FAIcon name='bolt' style={{ fill: '#0B3A82', width: 30, height: 30 }} /&gt;&#13;&#10;                &lt;/Box&gt;&#13;&#10;                &lt;Box style={{ flex: 1, flexDirection: 'column', gap: 2 }}&gt;&#13;&#10;                    &lt;Box style={{ flexDirection: 'row', alignItems: 'center', gap: 10 }}&gt;&#13;&#10;                        &lt;Text style={{ fontSize: 15, color: '#FFC107', fontWeight: 'bold' }}&gt;CHAPTER 01&lt;/Text&gt;&#13;&#10;                        &lt;Text style={{ fontSize: 23, fontWeight: 'bold', color: '#FFFFFF' }}&gt;研究背景与问题提出&lt;/Text&gt;&#13;&#10;                    &lt;/Box&gt;&#13;&#10;                    &lt;Text style={{ fontSize: 16, color: '#BFD3F2', lineHeight: 1.35 }}&gt;为什么 AI 成为新型城市水负荷？（负荷 · 同量异压 · 边界）&lt;/Text&gt;&#13;&#10;                &lt;/Box&gt;&#13;&#10;                &lt;Text style={{ fontSize: 16, color: '#8FB2E4' }}&gt;P04 – P07&lt;/Text&gt;&#13;&#10;            &lt;/Box&gt;&#13;&#10;            &lt;Box style={{ flexDirection: 'row', alignItems: 'center', gap: 16, background: '#F0F5FC', paddingLeft: 18, paddingRight: 16, paddingTop: 11, paddingBottom: 11, borderRadius: 6, borderLeft: '6px solid #1E4FA8', height: 100 }}&gt;&#13;&#10;                &lt;Box style={{ width: 58, height: 58, background: '#1E4FA8', borderRadius: 12, justifyContent: 'center', alignItems: 'center' }}&gt;&#13;&#10;                    &lt;FAIcon name='book' style={{ fill: '#FFFFFF', width: 30, height: 30 }} /&gt;&#13;&#10;                &lt;/Box&gt;&#13;&#10;                &lt;Box style={{ flex: 1, flexDirection: 'column', gap: 2 }}&gt;&#13;&#10;                    &lt;Box style={{ flexDirection: 'row', alignItems: 'center', gap: 10 }}&gt;&#13;&#10;                        &lt;Text style={{ fontSize: 15, color: '#1E4FA8', fontWeight: 'bold' }}&gt;CHAPTER 02&lt;/Text&gt;&#13;&#10;                        &lt;Text style={{ fontSize: 23, fontWeight: 'bold', color: '#0E3F8C' }}&gt;国内外研究现状与研究缺口&lt;/Text&gt;&#13;&#10;                    &lt;/Box&gt;&#13;&#10;                    &lt;Text style={{ fontSize: 16, color: '#4A5568', lineHeight: 1.35 }}&gt;为什么现有研究回答不了？（五条知识链 · 统一接口缺失）&lt;/Text&gt;&#13;&#10;                &lt;/Box&gt;&#13;&#10;                &lt;Text style={{ fontSize: 16, color: '#8B97A8' }}&gt;P09 – P11&lt;/Text&gt;&#13;&#10;            &lt;/Box&gt;&#13;&#10;            &lt;Box style={{ flexDirection: 'row', alignItems: 'center', gap: 16, background: '#F0F5FC', paddingLeft: 18, paddingRight: 16, paddingTop: 11, paddingBottom: 11, borderRadius: 6, borderLeft: '6px solid #1E4FA8', height: 100 }}&gt;&#13;&#10;                &lt;Box style={{ width: 58, height: 58, background: '#1E4FA8', borderRadius: 12, justifyContent: 'center', alignItems: 'center' }}&gt;&#13;&#10;                    &lt;FAIcon name='flask' style={{ fill: '#FFFFFF', width: 30, height: 30 }} /&gt;&#13;&#10;                &lt;/Box&gt;&#13;&#10;                &lt;Box style={{ flex: 1, flexDirection: 'column', gap: 2 }}&gt;&#13;&#10;                    &lt;Box style={{ flexDirection: 'row', alignItems: 'center', gap: 10 }}&gt;&#13;&#10;                        &lt;Text style={{ fontSize: 15, color: '#1E4FA8', fontWeight: 'bold' }}&gt;CHAPTER 03&lt;/Text&gt;&#13;&#10;                        &lt;Text style={{ fontSize: 23, fontWeight: 'bold', color: '#0E3F8C' }}&gt;科学问题、假设与研究内容&lt;/Text&gt;&#13;&#10;                    &lt;/Box&gt;&#13;&#10;                    &lt;Text style={{ fontSize: 16, color: '#4A5568', lineHeight: 1.35 }}&gt;本研究回答哪三个问题？（CAWCC · 假设 · 研究内容）&lt;/Text&gt;&#13;&#10;                &lt;/Box&gt;&#13;&#10;                &lt;Text style={{ fontSize: 16, color: '#8B97A8' }}&gt;P13 – P16&lt;/Text&gt;&#13;&#10;            &lt;/Box&gt;&#13;&#10;            &lt;Box style={{ flexDirection: 'row', alignItems: 'center', gap: 16, background: '#F0F5FC', paddingLeft: 18, paddingRight: 16, paddingTop: 11, paddingBottom: 11, borderRadius: 6, borderLeft: '6px solid #1E4FA8', height: 100 }}&gt;&#13;&#10;                &lt;Box style={{ width: 58, height: 58, background: '#1E4FA8', borderRadius: 12, justifyContent: 'center', alignItems: 'center' }}&gt;&#13;&#10;                    &lt;FAIcon name='diagram-project' style={{ fill: '#FFFFFF', width: 30, height: 30 }} /&gt;&#13;&#10;                &lt;/Box&gt;&#13;&#10;                &lt;Box style={{ flex: 1, flexDirection: 'column', gap: 2 }}&gt;&#13;&#10;                    &lt;Box style={{ flexDirection: 'row', alignItems: 'center', gap: 10 }}&gt;&#13;&#10;                        &lt;Text style={{ fontSize: 15, color: '#1E4FA8', fontWeight: 'bold' }}&gt;CHAPTER 04&lt;/Text&gt;&#13;&#10;                        &lt;Text style={{ fontSize: 23, fontWeight: 'bold', color: '#0E3F8C' }}&gt;研究方案：模型、实验与验证&lt;/Text&gt;&#13;&#10;                    &lt;/Box&gt;&#13;&#10;                    &lt;Text style={{ fontSize: 16, color: '#4A5568', lineHeight: 1.35 }}&gt;如何用模型与四组实验回答？（汇报重点：模型 · 实验 · 验证）&lt;/Text&gt;&#13;&#10;                &lt;/Box&gt;&#13;&#10;                &lt;Text style={{ fontSize: 16, color: '#8B97A8' }}&gt;P18 – P30&lt;/Text&gt;&#13;&#10;            &lt;/Box&gt;&#13;&#10;            &lt;Box style={{ flexDirection: 'row', alignItems: 'center', gap: 16, background: '#F0F5FC', paddingLeft: 18, paddingRight: 16, paddingTop: 11, paddingBottom: 11, borderRadius: 6, borderLeft: '6px solid #1E4FA8', height: 100 }}&gt;&#13;&#10;                &lt;Box style={{ width: 58, height: 58, background: '#1E4FA8', borderRadius: 12, justifyContent: 'center', alignItems: 'center' }}&gt;&#13;&#10;                    &lt;FAIcon name='trophy' style={{ fill: '#FFFFFF', width: 30, height: 30 }} /&gt;&#13;&#10;                &lt;/Box&gt;&#13;&#10;                &lt;Box style={{ flex: 1, flexDirection: 'column', gap: 2 }}&gt;&#13;&#10;                    &lt;Box style={{ flexDirection: 'row', alignItems: 'center', gap: 10 }}&gt;&#13;&#10;                        &lt;Text style={{ fontSize: 15, color: '#1E4FA8', fontWeight: 'bold' }}&gt;CHAPTER 05&lt;/Text&gt;&#13;&#10;                        &lt;Text style={{ fontSize: 23, fontWeight: 'bold', color: '#0E3F8C' }}&gt;研究基础、进度与预期成果&lt;/Text&gt;&#13;&#10;                    &lt;/Box&gt;&#13;&#10;                    &lt;Text style={{ fontSize: 16, color: '#4A5568', lineHeight: 1.35 }}&gt;能否按期完成、形成什么成果？（基础 · 进度 · 成果）&lt;/Text&gt;&#13;&#10;                &lt;/Box&gt;&#13;&#10;                &lt;Text style={{ fontSize: 16, color: '#8B97A8' }}&gt;P32 – P35&lt;/Text&gt;&#13;&#10;            &lt;/Box&gt;&#13;&#10;        &lt;/Box&gt;&#13;&#10;        &lt;Box style={{ width: 268, background: '#F7F9FC', border: '1px solid #D6DCE5', borderRadius: 8, padding: 14, flexDirection: 'column' }}&gt;&#13;&#10;            &lt;Text style={{ fontSize: 17, fontWeight: 'bold', color: '#0E3F8C', marginBottom: 4 }}&gt;汇报主线&lt;/Text&gt;&#13;&#10;            &lt;Box style={{ height: 2, background: '#1E4FA8', width: 60, marginBottom: 6 }} /&gt;&#13;&#10;            &lt;svg width={240} height={452} viewBox='0 0 240 452'&gt;&#13;&#10;                &lt;line x1='30' y1='30' x2='30' y2='420' stroke='#D6DCE5' strokeWidth='3' /&gt;&#13;&#10;                &lt;line x1='30' y1='30' x2='30' y2='420' stroke='#1E4FA8' strokeWidth='3' strokeDasharray='12 10' /&gt;&#13;&#10;                &lt;circle cx='30' cy='30' r='17' fill='#FFC107' /&gt;&#13;&#10;                &lt;text x='30' y='36' font-size='15' fill='#0B3A82' font-family='Microsoft YaHei' text-anchor='middle' font-weight='bold'&gt;1&lt;/text&gt;&#13;&#10;                &lt;text x='62' y='36' font-size='15' fill='#0E3F8C' font-family='Microsoft YaHei'&gt;背景与问题&lt;/text&gt;&#13;&#10;                &lt;circle cx='30' cy='128' r='17' fill='#1E4FA8' /&gt;&#13;&#10;                &lt;text x='30' y='134' font-size='15' fill='#FFFFFF' font-family='Microsoft YaHei' text-anchor='middle' font-weight='bold'&gt;2&lt;/text&gt;&#13;&#10;                &lt;text x='62' y='134' font-size='15' fill='#0E3F8C' font-family='Microsoft YaHei'&gt;现状与缺口&lt;/text&gt;&#13;&#10;                &lt;circle cx='30' cy='226' r='17' fill='#1E4FA8' /&gt;&#13;&#10;                &lt;text x='30' y='232' font-size='15' fill='#FFFFFF' font-family='Microsoft YaHei' text-anchor='middle' font-weight='bold'&gt;3&lt;/text&gt;&#13;&#10;                &lt;text x='62' y='232' font-size='15' fill='#0E3F8C' font-family='Microsoft YaHei'&gt;问题与假设&lt;/text&gt;&#13;&#10;                &lt;circle cx='30' cy='324' r='17' fill='#1E4FA8' /&gt;&#13;&#10;                &lt;text x='30' y='330' font-size='15' fill='#FFFFFF' font-family='Microsoft YaHei' text-anchor='middle' font-weight='bold'&gt;4&lt;/text&gt;&#13;&#10;                &lt;text x='62' y='330' font-size='15' fill='#0E3F8C' font-family='Microsoft YaHei'&gt;模型与实验&lt;/text&gt;&#13;&#10;                &lt;circle cx='30' cy='420' r='17' fill='#1E4FA8' /&gt;&#13;&#10;                &lt;text x='30' y='426' font-size='15' fill='#FFFFFF' font-family='Microsoft YaHei' text-anchor='middle' font-weight='bold'&gt;5&lt;/text&gt;&#13;&#10;                &lt;text x='62' y='426' font-size='15' fill='#0E3F8C' font-family='Microsoft YaHei'&gt;基础与成果&lt;/text&gt;&#13;&#10;            &lt;/svg&gt;&#13;&#10;            &lt;Box style={{ marginTop: 6, background: '#E8EFF8', borderRadius: 4, padding: 8 }}&gt;&#13;&#10;                &lt;Text style={{ fontSize: 14, color: '#0E3F8C', lineHeight: 1.4 }}&gt;主线：现实负荷 → 研究缺口 → 科学问题 → 模型实验 → 机制与边界&lt;/Text&gt;&#13;&#10;            &lt;/Box&gt;&#13;&#10;        &lt;/Box&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C9D6E8' }} /&gt;&#13;&#10;        &lt;Box style={{ width: 6, height: 120, background: '#C9D6E8' }} /&gt;&#13;&#10;    &lt;/Box&gt;&#13;&#10;    &lt;Box style={{ height: 40, flexDirection: 'row', alignItems: 'center', justifyContent: 'space-between', paddingLeft: 40, paddingRight: 40, borderTop: '1px solid #E5E7EB' }}&gt;&#13;&#10;        &lt;Text style={{ fontSize: 14, color: '#8B97A8' }}&gt;哈尔滨工业大学 · 硕士学位开题答辩&lt;/Text&gt;&#13;&#10;        &lt;Text style={{ fontSize: 14, color: '#1E4FA8' }}&gt;02 / 36&lt;/Text&gt;&#13;&#10;    &lt;/Box&gt;&#13;&#10;&lt;/Slide&gt;&#13;&#10;"/>
        <p:cNvGrpSpPr/>
        <p:nvPr/>
      </p:nvGrpSpPr>
      <p:grpSpPr>
        <a:xfrm>
          <a:off x="0" y="0"/>
          <a:ext cx="0" cy="0"/>
          <a:chOff x="0" y="0"/>
          <a:chExt cx="0" cy="0"/>
        </a:xfrm>
      </p:grpSpPr>
      <p:sp>
        <p:nvSpPr>
          <p:cNvPr id="547" name="矩形 546"/>
          <p:cNvSpPr/>
          <p:nvPr/>
        </p:nvSpPr>
        <p:spPr>
          <a:xfrm>
            <a:off x="0" y="0"/>
            <a:ext cx="12192000" cy="6858000"/>
          </a:xfrm>
          <a:prstGeom prst="rect">
            <a:avLst/>
          </a:prstGeom>
          <a:solidFill>
            <a:srgbClr val="FFFFFF"/>
          </a:solidFill>
        </p:spPr>
        <p:txBody>
          <a:bodyPr/>
          <a:p/>
        </p:txBody>
      </p:sp>
      <p:sp>
        <p:nvSpPr>
          <p:cNvPr id="548" name="矩形 547"/>
          <p:cNvSpPr/>
          <p:nvPr/>
        </p:nvSpPr>
        <p:spPr>
          <a:xfrm>
            <a:off x="0" y="0"/>
            <a:ext cx="12192000" cy="685800"/>
          </a:xfrm>
          <a:prstGeom prst="rect">
            <a:avLst/>
          </a:prstGeom>
          <a:solidFill>
            <a:srgbClr val="0E3F8C"/>
          </a:solidFill>
        </p:spPr>
        <p:txBody>
          <a:bodyPr/>
          <a:p/>
        </p:txBody>
      </p:sp>
      <p:sp>
        <p:nvSpPr>
          <p:cNvPr id="549" name="圆角矩形 548"/>
          <p:cNvSpPr/>
          <p:nvPr/>
        </p:nvSpPr>
        <p:spPr>
          <a:xfrm>
            <a:off x="381000" y="152400"/>
            <a:ext cx="381000" cy="381000"/>
          </a:xfrm>
          <a:prstGeom prst="roundRect">
            <a:avLst>
              <a:gd name="adj" fmla="val 25000"/>
            </a:avLst>
          </a:prstGeom>
          <a:solidFill>
            <a:srgbClr val="12489A"/>
          </a:solidFill>
        </p:spPr>
        <p:txBody>
          <a:bodyPr/>
          <a:p/>
        </p:txBody>
      </p:sp>
      <p:pic>
        <p:nvPicPr>
          <p:cNvPr id="550" name="图片 549"/>
          <p:cNvPicPr>
            <a:picLocks noChangeAspect="1"/>
          </p:cNvPicPr>
          <p:nvPr/>
        </p:nvPicPr>
        <p:blipFill>
          <a:blip/>
          <a:stretch>
            <a:fillRect/>
          </a:stretch>
        </p:blipFill>
        <p:spPr>
          <a:xfrm>
            <a:off x="466725" y="238125"/>
            <a:ext cx="209550" cy="209550"/>
          </a:xfrm>
          <a:prstGeom prst="rect">
            <a:avLst/>
          </a:prstGeom>
        </p:spPr>
      </p:pic>
      <p:sp>
        <p:nvSpPr>
          <p:cNvPr id="551" name="文本框 550" descr="{&quot;isTemplate&quot;:true,&quot;type&quot;:&quot;text&quot;}"/>
          <p:cNvSpPr txBox="1"/>
          <p:nvPr/>
        </p:nvSpPr>
        <p:spPr>
          <a:xfrm>
            <a:off x="895350" y="171450"/>
            <a:ext cx="1143000" cy="342900"/>
          </a:xfrm>
          <a:prstGeom prst="rect">
            <a:avLst/>
          </a:prstGeom>
        </p:spPr>
        <p:txBody>
          <a:bodyPr wrap="none" lIns="0" tIns="0" rIns="0" bIns="0"/>
          <a:p>
            <a:pPr>
              <a:lnSpc>
                <a:spcPct val="100000"/>
              </a:lnSpc>
            </a:pPr>
            <a:r>
              <a:rPr lang="zh-CN" sz="2250" b="1">
                <a:solidFill>
                  <a:srgbClr val="FFFFFF"/>
                </a:solidFill>
                <a:latin typeface="微软雅黑" panose="020B0503020204020204" charset="-122"/>
                <a:ea typeface="微软雅黑" panose="020B0503020204020204" charset="-122"/>
              </a:rPr>
              <a:t>汇报框架</a:t>
            </a:r>
            <a:endParaRPr lang="zh-CN" sz="2250" b="1">
              <a:solidFill>
                <a:srgbClr val="FFFFFF"/>
              </a:solidFill>
              <a:latin typeface="微软雅黑" panose="020B0503020204020204" charset="-122"/>
              <a:ea typeface="微软雅黑" panose="020B0503020204020204" charset="-122"/>
            </a:endParaRPr>
          </a:p>
        </p:txBody>
      </p:sp>
      <p:sp>
        <p:nvSpPr>
          <p:cNvPr id="552" name="文本框 551" descr="{&quot;isTemplate&quot;:true,&quot;type&quot;:&quot;text&quot;}"/>
          <p:cNvSpPr txBox="1"/>
          <p:nvPr/>
        </p:nvSpPr>
        <p:spPr>
          <a:xfrm>
            <a:off x="7515225" y="266700"/>
            <a:ext cx="385762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AI</a:t>
            </a:r>
            <a:r>
              <a:rPr lang="zh-CN" sz="1125">
                <a:solidFill>
                  <a:srgbClr val="AFC6E8"/>
                </a:solidFill>
                <a:latin typeface="微软雅黑" panose="020B0503020204020204" charset="-122"/>
                <a:ea typeface="微软雅黑" panose="020B0503020204020204" charset="-122"/>
              </a:rPr>
              <a:t>算力驱动下城市人工水系统代谢响应与条件化承载边界研究</a:t>
            </a:r>
            <a:endParaRPr lang="zh-CN" sz="1125">
              <a:solidFill>
                <a:srgbClr val="AFC6E8"/>
              </a:solidFill>
              <a:latin typeface="微软雅黑" panose="020B0503020204020204" charset="-122"/>
              <a:ea typeface="微软雅黑" panose="020B0503020204020204" charset="-122"/>
            </a:endParaRPr>
          </a:p>
        </p:txBody>
      </p:sp>
      <p:sp>
        <p:nvSpPr>
          <p:cNvPr id="553" name="圆角矩形 552"/>
          <p:cNvSpPr/>
          <p:nvPr/>
        </p:nvSpPr>
        <p:spPr>
          <a:xfrm>
            <a:off x="11468100" y="238125"/>
            <a:ext cx="342900" cy="219075"/>
          </a:xfrm>
          <a:prstGeom prst="roundRect">
            <a:avLst>
              <a:gd name="adj" fmla="val 13043"/>
            </a:avLst>
          </a:prstGeom>
          <a:solidFill>
            <a:srgbClr val="FFC107"/>
          </a:solidFill>
        </p:spPr>
        <p:txBody>
          <a:bodyPr/>
          <a:p/>
        </p:txBody>
      </p:sp>
      <p:sp>
        <p:nvSpPr>
          <p:cNvPr id="554" name="文本框 553"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02</a:t>
            </a:r>
            <a:endParaRPr lang="en-US" sz="1050" b="1">
              <a:solidFill>
                <a:srgbClr val="0B3A82"/>
              </a:solidFill>
              <a:latin typeface="微软雅黑" panose="020B0503020204020204" charset="-122"/>
              <a:ea typeface="微软雅黑" panose="020B0503020204020204" charset="-122"/>
            </a:endParaRPr>
          </a:p>
        </p:txBody>
      </p:sp>
      <p:sp>
        <p:nvSpPr>
          <p:cNvPr id="555" name="圆角矩形 554"/>
          <p:cNvSpPr/>
          <p:nvPr/>
        </p:nvSpPr>
        <p:spPr>
          <a:xfrm>
            <a:off x="381000" y="838200"/>
            <a:ext cx="8686800" cy="952500"/>
          </a:xfrm>
          <a:prstGeom prst="roundRect">
            <a:avLst>
              <a:gd name="adj" fmla="val 6000"/>
            </a:avLst>
          </a:prstGeom>
          <a:solidFill>
            <a:srgbClr val="0B3A82"/>
          </a:solidFill>
        </p:spPr>
        <p:txBody>
          <a:bodyPr/>
          <a:p/>
        </p:txBody>
      </p:sp>
      <p:sp>
        <p:nvSpPr>
          <p:cNvPr id="556" name="圆角矩形 555"/>
          <p:cNvSpPr/>
          <p:nvPr>
            <p:custDataLst>
              <p:tags r:id="rId1"/>
            </p:custDataLst>
          </p:nvPr>
        </p:nvSpPr>
        <p:spPr>
          <a:xfrm>
            <a:off x="552450" y="1038225"/>
            <a:ext cx="552450" cy="552450"/>
          </a:xfrm>
          <a:prstGeom prst="roundRect">
            <a:avLst>
              <a:gd name="adj" fmla="val 20690"/>
            </a:avLst>
          </a:prstGeom>
          <a:solidFill>
            <a:srgbClr val="FFC107"/>
          </a:solidFill>
        </p:spPr>
        <p:txBody>
          <a:bodyPr/>
          <a:p/>
        </p:txBody>
      </p:sp>
      <p:pic>
        <p:nvPicPr>
          <p:cNvPr id="557" name="图片 556"/>
          <p:cNvPicPr>
            <a:picLocks noChangeAspect="1"/>
          </p:cNvPicPr>
          <p:nvPr>
            <p:custDataLst>
              <p:tags r:id="rId2"/>
            </p:custDataLst>
          </p:nvPr>
        </p:nvPicPr>
        <p:blipFill>
          <a:blip/>
          <a:stretch>
            <a:fillRect/>
          </a:stretch>
        </p:blipFill>
        <p:spPr>
          <a:xfrm>
            <a:off x="685800" y="1171575"/>
            <a:ext cx="285750" cy="285750"/>
          </a:xfrm>
          <a:prstGeom prst="rect">
            <a:avLst/>
          </a:prstGeom>
        </p:spPr>
      </p:pic>
      <p:sp>
        <p:nvSpPr>
          <p:cNvPr id="558" name="文本框 557" descr="{&quot;isTemplate&quot;:true,&quot;type&quot;:&quot;text&quot;}"/>
          <p:cNvSpPr txBox="1"/>
          <p:nvPr>
            <p:custDataLst>
              <p:tags r:id="rId3"/>
            </p:custDataLst>
          </p:nvPr>
        </p:nvSpPr>
        <p:spPr>
          <a:xfrm>
            <a:off x="1257300" y="1095375"/>
            <a:ext cx="904875" cy="171450"/>
          </a:xfrm>
          <a:prstGeom prst="rect">
            <a:avLst/>
          </a:prstGeom>
        </p:spPr>
        <p:txBody>
          <a:bodyPr wrap="none" lIns="0" tIns="0" rIns="0" bIns="0"/>
          <a:p>
            <a:pPr>
              <a:lnSpc>
                <a:spcPct val="100000"/>
              </a:lnSpc>
            </a:pPr>
            <a:r>
              <a:rPr lang="en-US" sz="1125" b="1">
                <a:solidFill>
                  <a:srgbClr val="FFC107"/>
                </a:solidFill>
                <a:latin typeface="微软雅黑" panose="020B0503020204020204" charset="-122"/>
                <a:ea typeface="微软雅黑" panose="020B0503020204020204" charset="-122"/>
              </a:rPr>
              <a:t>CHAPTER 01</a:t>
            </a:r>
            <a:endParaRPr lang="en-US" sz="1125" b="1">
              <a:solidFill>
                <a:srgbClr val="FFC107"/>
              </a:solidFill>
              <a:latin typeface="微软雅黑" panose="020B0503020204020204" charset="-122"/>
              <a:ea typeface="微软雅黑" panose="020B0503020204020204" charset="-122"/>
            </a:endParaRPr>
          </a:p>
        </p:txBody>
      </p:sp>
      <p:sp>
        <p:nvSpPr>
          <p:cNvPr id="559" name="文本框 558" descr="{&quot;isTemplate&quot;:true,&quot;type&quot;:&quot;text&quot;}"/>
          <p:cNvSpPr txBox="1"/>
          <p:nvPr>
            <p:custDataLst>
              <p:tags r:id="rId4"/>
            </p:custDataLst>
          </p:nvPr>
        </p:nvSpPr>
        <p:spPr>
          <a:xfrm>
            <a:off x="2257425" y="1047750"/>
            <a:ext cx="1971675" cy="266700"/>
          </a:xfrm>
          <a:prstGeom prst="rect">
            <a:avLst/>
          </a:prstGeom>
        </p:spPr>
        <p:txBody>
          <a:bodyPr wrap="none" lIns="0" tIns="0" rIns="0" bIns="0"/>
          <a:p>
            <a:pPr>
              <a:lnSpc>
                <a:spcPct val="100000"/>
              </a:lnSpc>
            </a:pPr>
            <a:r>
              <a:rPr lang="zh-CN" sz="1725" b="1">
                <a:solidFill>
                  <a:srgbClr val="FFFFFF"/>
                </a:solidFill>
                <a:latin typeface="微软雅黑" panose="020B0503020204020204" charset="-122"/>
                <a:ea typeface="微软雅黑" panose="020B0503020204020204" charset="-122"/>
              </a:rPr>
              <a:t>研究背景与问题提出</a:t>
            </a:r>
            <a:endParaRPr lang="zh-CN" sz="1725" b="1">
              <a:solidFill>
                <a:srgbClr val="FFFFFF"/>
              </a:solidFill>
              <a:latin typeface="微软雅黑" panose="020B0503020204020204" charset="-122"/>
              <a:ea typeface="微软雅黑" panose="020B0503020204020204" charset="-122"/>
            </a:endParaRPr>
          </a:p>
        </p:txBody>
      </p:sp>
      <p:sp>
        <p:nvSpPr>
          <p:cNvPr id="560" name="文本框 559" descr="{&quot;isTemplate&quot;:true,&quot;type&quot;:&quot;text&quot;}"/>
          <p:cNvSpPr txBox="1"/>
          <p:nvPr>
            <p:custDataLst>
              <p:tags r:id="rId5"/>
            </p:custDataLst>
          </p:nvPr>
        </p:nvSpPr>
        <p:spPr>
          <a:xfrm>
            <a:off x="1257300" y="1333500"/>
            <a:ext cx="6781800" cy="247650"/>
          </a:xfrm>
          <a:prstGeom prst="rect">
            <a:avLst/>
          </a:prstGeom>
        </p:spPr>
        <p:txBody>
          <a:bodyPr wrap="none" lIns="0" tIns="0" rIns="0" bIns="0"/>
          <a:p>
            <a:pPr>
              <a:lnSpc>
                <a:spcPct val="135000"/>
              </a:lnSpc>
            </a:pPr>
            <a:r>
              <a:rPr lang="zh-CN" sz="1200">
                <a:solidFill>
                  <a:srgbClr val="BFD3F2"/>
                </a:solidFill>
                <a:latin typeface="微软雅黑" panose="020B0503020204020204" charset="-122"/>
                <a:ea typeface="微软雅黑" panose="020B0503020204020204" charset="-122"/>
              </a:rPr>
              <a:t>为什么</a:t>
            </a:r>
            <a:r>
              <a:rPr lang="en-US" sz="1200">
                <a:solidFill>
                  <a:srgbClr val="BFD3F2"/>
                </a:solidFill>
                <a:latin typeface="微软雅黑" panose="020B0503020204020204" charset="-122"/>
                <a:ea typeface="微软雅黑" panose="020B0503020204020204" charset="-122"/>
              </a:rPr>
              <a:t> AI </a:t>
            </a:r>
            <a:r>
              <a:rPr lang="zh-CN" sz="1200">
                <a:solidFill>
                  <a:srgbClr val="BFD3F2"/>
                </a:solidFill>
                <a:latin typeface="微软雅黑" panose="020B0503020204020204" charset="-122"/>
                <a:ea typeface="微软雅黑" panose="020B0503020204020204" charset="-122"/>
              </a:rPr>
              <a:t>成为新型城市水负荷？</a:t>
            </a:r>
            <a:endParaRPr lang="zh-CN" sz="1200">
              <a:solidFill>
                <a:srgbClr val="BFD3F2"/>
              </a:solidFill>
              <a:latin typeface="微软雅黑" panose="020B0503020204020204" charset="-122"/>
              <a:ea typeface="微软雅黑" panose="020B0503020204020204" charset="-122"/>
            </a:endParaRPr>
          </a:p>
        </p:txBody>
      </p:sp>
      <p:sp>
        <p:nvSpPr>
          <p:cNvPr id="561" name="文本框 560" descr="{&quot;isTemplate&quot;:true,&quot;type&quot;:&quot;text&quot;}"/>
          <p:cNvSpPr txBox="1"/>
          <p:nvPr/>
        </p:nvSpPr>
        <p:spPr>
          <a:xfrm>
            <a:off x="8191500" y="1219200"/>
            <a:ext cx="723900" cy="190500"/>
          </a:xfrm>
          <a:prstGeom prst="rect">
            <a:avLst/>
          </a:prstGeom>
        </p:spPr>
        <p:txBody>
          <a:bodyPr wrap="none" lIns="0" tIns="0" rIns="0" bIns="0"/>
          <a:p>
            <a:pPr>
              <a:lnSpc>
                <a:spcPct val="100000"/>
              </a:lnSpc>
            </a:pPr>
            <a:r>
              <a:rPr lang="en-US" sz="1200">
                <a:solidFill>
                  <a:srgbClr val="8FB2E4"/>
                </a:solidFill>
                <a:latin typeface="微软雅黑" panose="020B0503020204020204" charset="-122"/>
                <a:ea typeface="微软雅黑" panose="020B0503020204020204" charset="-122"/>
              </a:rPr>
              <a:t>P04 – P07</a:t>
            </a:r>
            <a:endParaRPr lang="en-US" sz="1200">
              <a:solidFill>
                <a:srgbClr val="8FB2E4"/>
              </a:solidFill>
              <a:latin typeface="微软雅黑" panose="020B0503020204020204" charset="-122"/>
              <a:ea typeface="微软雅黑" panose="020B0503020204020204" charset="-122"/>
            </a:endParaRPr>
          </a:p>
        </p:txBody>
      </p:sp>
      <p:sp>
        <p:nvSpPr>
          <p:cNvPr id="562" name="圆角矩形 561"/>
          <p:cNvSpPr/>
          <p:nvPr/>
        </p:nvSpPr>
        <p:spPr>
          <a:xfrm>
            <a:off x="438150" y="1876425"/>
            <a:ext cx="8686800" cy="952500"/>
          </a:xfrm>
          <a:prstGeom prst="roundRect">
            <a:avLst>
              <a:gd name="adj" fmla="val 6000"/>
            </a:avLst>
          </a:prstGeom>
          <a:solidFill>
            <a:srgbClr val="F0F5FC"/>
          </a:solidFill>
        </p:spPr>
        <p:txBody>
          <a:bodyPr/>
          <a:p/>
        </p:txBody>
      </p:sp>
      <p:sp>
        <p:nvSpPr>
          <p:cNvPr id="563" name="任意多边形 562"/>
          <p:cNvSpPr/>
          <p:nvPr/>
        </p:nvSpPr>
        <p:spPr>
          <a:xfrm>
            <a:off x="438150" y="1876425"/>
            <a:ext cx="8686800" cy="952500"/>
          </a:xfrm>
          <a:custGeom>
            <a:avLst/>
            <a:gdLst/>
            <a:ahLst/>
            <a:cxnLst/>
            <a:pathLst>
              <a:path w="912" h="100">
                <a:moveTo>
                  <a:pt x="6" y="100"/>
                </a:moveTo>
                <a:cubicBezTo>
                  <a:pt x="3" y="100"/>
                  <a:pt x="0" y="97"/>
                  <a:pt x="0" y="94"/>
                </a:cubicBezTo>
                <a:lnTo>
                  <a:pt x="0" y="6"/>
                </a:lnTo>
                <a:cubicBezTo>
                  <a:pt x="0" y="4"/>
                  <a:pt x="1" y="3"/>
                  <a:pt x="2" y="2"/>
                </a:cubicBezTo>
                <a:cubicBezTo>
                  <a:pt x="3" y="1"/>
                  <a:pt x="4" y="0"/>
                  <a:pt x="6" y="0"/>
                </a:cubicBezTo>
                <a:lnTo>
                  <a:pt x="6" y="100"/>
                </a:lnTo>
                <a:close/>
              </a:path>
            </a:pathLst>
          </a:custGeom>
          <a:solidFill>
            <a:srgbClr val="1E4FA8"/>
          </a:solidFill>
        </p:spPr>
        <p:txBody>
          <a:bodyPr/>
          <a:p/>
        </p:txBody>
      </p:sp>
      <p:sp>
        <p:nvSpPr>
          <p:cNvPr id="564" name="圆角矩形 563"/>
          <p:cNvSpPr/>
          <p:nvPr>
            <p:custDataLst>
              <p:tags r:id="rId6"/>
            </p:custDataLst>
          </p:nvPr>
        </p:nvSpPr>
        <p:spPr>
          <a:xfrm>
            <a:off x="609600" y="2076450"/>
            <a:ext cx="552450" cy="552450"/>
          </a:xfrm>
          <a:prstGeom prst="roundRect">
            <a:avLst>
              <a:gd name="adj" fmla="val 20690"/>
            </a:avLst>
          </a:prstGeom>
          <a:solidFill>
            <a:srgbClr val="1E4FA8"/>
          </a:solidFill>
        </p:spPr>
        <p:txBody>
          <a:bodyPr/>
          <a:p/>
        </p:txBody>
      </p:sp>
      <p:pic>
        <p:nvPicPr>
          <p:cNvPr id="565" name="图片 564"/>
          <p:cNvPicPr>
            <a:picLocks noChangeAspect="1"/>
          </p:cNvPicPr>
          <p:nvPr>
            <p:custDataLst>
              <p:tags r:id="rId7"/>
            </p:custDataLst>
          </p:nvPr>
        </p:nvPicPr>
        <p:blipFill>
          <a:blip/>
          <a:stretch>
            <a:fillRect/>
          </a:stretch>
        </p:blipFill>
        <p:spPr>
          <a:xfrm>
            <a:off x="742950" y="2209800"/>
            <a:ext cx="285750" cy="285750"/>
          </a:xfrm>
          <a:prstGeom prst="rect">
            <a:avLst/>
          </a:prstGeom>
        </p:spPr>
      </p:pic>
      <p:sp>
        <p:nvSpPr>
          <p:cNvPr id="566" name="文本框 565" descr="{&quot;isTemplate&quot;:true,&quot;type&quot;:&quot;text&quot;}"/>
          <p:cNvSpPr txBox="1"/>
          <p:nvPr>
            <p:custDataLst>
              <p:tags r:id="rId8"/>
            </p:custDataLst>
          </p:nvPr>
        </p:nvSpPr>
        <p:spPr>
          <a:xfrm>
            <a:off x="1314450" y="2133600"/>
            <a:ext cx="904875" cy="171450"/>
          </a:xfrm>
          <a:prstGeom prst="rect">
            <a:avLst/>
          </a:prstGeom>
        </p:spPr>
        <p:txBody>
          <a:bodyPr wrap="none" lIns="0" tIns="0" rIns="0" bIns="0"/>
          <a:p>
            <a:pPr>
              <a:lnSpc>
                <a:spcPct val="100000"/>
              </a:lnSpc>
            </a:pPr>
            <a:r>
              <a:rPr lang="en-US" sz="1125" b="1">
                <a:solidFill>
                  <a:srgbClr val="1E4FA8"/>
                </a:solidFill>
                <a:latin typeface="微软雅黑" panose="020B0503020204020204" charset="-122"/>
                <a:ea typeface="微软雅黑" panose="020B0503020204020204" charset="-122"/>
              </a:rPr>
              <a:t>CHAPTER 02</a:t>
            </a:r>
            <a:endParaRPr lang="en-US" sz="1125" b="1">
              <a:solidFill>
                <a:srgbClr val="1E4FA8"/>
              </a:solidFill>
              <a:latin typeface="微软雅黑" panose="020B0503020204020204" charset="-122"/>
              <a:ea typeface="微软雅黑" panose="020B0503020204020204" charset="-122"/>
            </a:endParaRPr>
          </a:p>
        </p:txBody>
      </p:sp>
      <p:sp>
        <p:nvSpPr>
          <p:cNvPr id="567" name="文本框 566" descr="{&quot;isTemplate&quot;:true,&quot;type&quot;:&quot;text&quot;}"/>
          <p:cNvSpPr txBox="1"/>
          <p:nvPr>
            <p:custDataLst>
              <p:tags r:id="rId9"/>
            </p:custDataLst>
          </p:nvPr>
        </p:nvSpPr>
        <p:spPr>
          <a:xfrm>
            <a:off x="2314575" y="2085975"/>
            <a:ext cx="2628900"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国内外研究现状与研究缺口</a:t>
            </a:r>
            <a:endParaRPr lang="zh-CN" sz="1725" b="1">
              <a:solidFill>
                <a:srgbClr val="0E3F8C"/>
              </a:solidFill>
              <a:latin typeface="微软雅黑" panose="020B0503020204020204" charset="-122"/>
              <a:ea typeface="微软雅黑" panose="020B0503020204020204" charset="-122"/>
            </a:endParaRPr>
          </a:p>
        </p:txBody>
      </p:sp>
      <p:sp>
        <p:nvSpPr>
          <p:cNvPr id="568" name="文本框 567" descr="{&quot;isTemplate&quot;:true,&quot;type&quot;:&quot;text&quot;}"/>
          <p:cNvSpPr txBox="1"/>
          <p:nvPr>
            <p:custDataLst>
              <p:tags r:id="rId10"/>
            </p:custDataLst>
          </p:nvPr>
        </p:nvSpPr>
        <p:spPr>
          <a:xfrm>
            <a:off x="1314450" y="2371725"/>
            <a:ext cx="6724650" cy="247650"/>
          </a:xfrm>
          <a:prstGeom prst="rect">
            <a:avLst/>
          </a:prstGeom>
        </p:spPr>
        <p:txBody>
          <a:bodyPr wrap="none" lIns="0" tIns="0" rIns="0" bIns="0"/>
          <a:p>
            <a:pPr>
              <a:lnSpc>
                <a:spcPct val="135000"/>
              </a:lnSpc>
            </a:pPr>
            <a:r>
              <a:rPr lang="zh-CN" sz="1200">
                <a:solidFill>
                  <a:srgbClr val="4A5568"/>
                </a:solidFill>
                <a:latin typeface="微软雅黑" panose="020B0503020204020204" charset="-122"/>
                <a:ea typeface="微软雅黑" panose="020B0503020204020204" charset="-122"/>
              </a:rPr>
              <a:t>为什么现有研究回答不了？</a:t>
            </a:r>
            <a:endParaRPr lang="zh-CN" sz="1200">
              <a:solidFill>
                <a:srgbClr val="4A5568"/>
              </a:solidFill>
              <a:latin typeface="微软雅黑" panose="020B0503020204020204" charset="-122"/>
              <a:ea typeface="微软雅黑" panose="020B0503020204020204" charset="-122"/>
            </a:endParaRPr>
          </a:p>
        </p:txBody>
      </p:sp>
      <p:sp>
        <p:nvSpPr>
          <p:cNvPr id="569" name="文本框 568" descr="{&quot;isTemplate&quot;:true,&quot;type&quot;:&quot;text&quot;}"/>
          <p:cNvSpPr txBox="1"/>
          <p:nvPr/>
        </p:nvSpPr>
        <p:spPr>
          <a:xfrm>
            <a:off x="8191500" y="2257425"/>
            <a:ext cx="723900" cy="190500"/>
          </a:xfrm>
          <a:prstGeom prst="rect">
            <a:avLst/>
          </a:prstGeom>
        </p:spPr>
        <p:txBody>
          <a:bodyPr wrap="none" lIns="0" tIns="0" rIns="0" bIns="0"/>
          <a:p>
            <a:pPr>
              <a:lnSpc>
                <a:spcPct val="100000"/>
              </a:lnSpc>
            </a:pPr>
            <a:r>
              <a:rPr lang="en-US" sz="1200">
                <a:solidFill>
                  <a:srgbClr val="8B97A8"/>
                </a:solidFill>
                <a:latin typeface="微软雅黑" panose="020B0503020204020204" charset="-122"/>
                <a:ea typeface="微软雅黑" panose="020B0503020204020204" charset="-122"/>
              </a:rPr>
              <a:t>P09 – P11</a:t>
            </a:r>
            <a:endParaRPr lang="en-US" sz="1200">
              <a:solidFill>
                <a:srgbClr val="8B97A8"/>
              </a:solidFill>
              <a:latin typeface="微软雅黑" panose="020B0503020204020204" charset="-122"/>
              <a:ea typeface="微软雅黑" panose="020B0503020204020204" charset="-122"/>
            </a:endParaRPr>
          </a:p>
        </p:txBody>
      </p:sp>
      <p:sp>
        <p:nvSpPr>
          <p:cNvPr id="570" name="圆角矩形 569"/>
          <p:cNvSpPr/>
          <p:nvPr/>
        </p:nvSpPr>
        <p:spPr>
          <a:xfrm>
            <a:off x="438150" y="2914650"/>
            <a:ext cx="8686800" cy="952500"/>
          </a:xfrm>
          <a:prstGeom prst="roundRect">
            <a:avLst>
              <a:gd name="adj" fmla="val 6000"/>
            </a:avLst>
          </a:prstGeom>
          <a:solidFill>
            <a:srgbClr val="F0F5FC"/>
          </a:solidFill>
        </p:spPr>
        <p:txBody>
          <a:bodyPr/>
          <a:p/>
        </p:txBody>
      </p:sp>
      <p:sp>
        <p:nvSpPr>
          <p:cNvPr id="571" name="任意多边形 570"/>
          <p:cNvSpPr/>
          <p:nvPr/>
        </p:nvSpPr>
        <p:spPr>
          <a:xfrm>
            <a:off x="438150" y="2914650"/>
            <a:ext cx="8686800" cy="952500"/>
          </a:xfrm>
          <a:custGeom>
            <a:avLst/>
            <a:gdLst/>
            <a:ahLst/>
            <a:cxnLst/>
            <a:pathLst>
              <a:path w="912" h="100">
                <a:moveTo>
                  <a:pt x="6" y="100"/>
                </a:moveTo>
                <a:cubicBezTo>
                  <a:pt x="3" y="100"/>
                  <a:pt x="0" y="97"/>
                  <a:pt x="0" y="94"/>
                </a:cubicBezTo>
                <a:lnTo>
                  <a:pt x="0" y="6"/>
                </a:lnTo>
                <a:cubicBezTo>
                  <a:pt x="0" y="4"/>
                  <a:pt x="1" y="3"/>
                  <a:pt x="2" y="2"/>
                </a:cubicBezTo>
                <a:cubicBezTo>
                  <a:pt x="3" y="1"/>
                  <a:pt x="4" y="0"/>
                  <a:pt x="6" y="0"/>
                </a:cubicBezTo>
                <a:lnTo>
                  <a:pt x="6" y="100"/>
                </a:lnTo>
                <a:close/>
              </a:path>
            </a:pathLst>
          </a:custGeom>
          <a:solidFill>
            <a:srgbClr val="1E4FA8"/>
          </a:solidFill>
        </p:spPr>
        <p:txBody>
          <a:bodyPr/>
          <a:p/>
        </p:txBody>
      </p:sp>
      <p:sp>
        <p:nvSpPr>
          <p:cNvPr id="572" name="圆角矩形 571"/>
          <p:cNvSpPr/>
          <p:nvPr>
            <p:custDataLst>
              <p:tags r:id="rId11"/>
            </p:custDataLst>
          </p:nvPr>
        </p:nvSpPr>
        <p:spPr>
          <a:xfrm>
            <a:off x="609600" y="3114675"/>
            <a:ext cx="552450" cy="552450"/>
          </a:xfrm>
          <a:prstGeom prst="roundRect">
            <a:avLst>
              <a:gd name="adj" fmla="val 20690"/>
            </a:avLst>
          </a:prstGeom>
          <a:solidFill>
            <a:srgbClr val="1E4FA8"/>
          </a:solidFill>
        </p:spPr>
        <p:txBody>
          <a:bodyPr/>
          <a:p/>
        </p:txBody>
      </p:sp>
      <p:pic>
        <p:nvPicPr>
          <p:cNvPr id="573" name="图片 572"/>
          <p:cNvPicPr>
            <a:picLocks noChangeAspect="1"/>
          </p:cNvPicPr>
          <p:nvPr>
            <p:custDataLst>
              <p:tags r:id="rId12"/>
            </p:custDataLst>
          </p:nvPr>
        </p:nvPicPr>
        <p:blipFill>
          <a:blip/>
          <a:stretch>
            <a:fillRect/>
          </a:stretch>
        </p:blipFill>
        <p:spPr>
          <a:xfrm>
            <a:off x="742950" y="3248025"/>
            <a:ext cx="285750" cy="285750"/>
          </a:xfrm>
          <a:prstGeom prst="rect">
            <a:avLst/>
          </a:prstGeom>
        </p:spPr>
      </p:pic>
      <p:sp>
        <p:nvSpPr>
          <p:cNvPr id="574" name="文本框 573" descr="{&quot;isTemplate&quot;:true,&quot;type&quot;:&quot;text&quot;}"/>
          <p:cNvSpPr txBox="1"/>
          <p:nvPr>
            <p:custDataLst>
              <p:tags r:id="rId13"/>
            </p:custDataLst>
          </p:nvPr>
        </p:nvSpPr>
        <p:spPr>
          <a:xfrm>
            <a:off x="1314450" y="3171825"/>
            <a:ext cx="904875" cy="171450"/>
          </a:xfrm>
          <a:prstGeom prst="rect">
            <a:avLst/>
          </a:prstGeom>
        </p:spPr>
        <p:txBody>
          <a:bodyPr wrap="none" lIns="0" tIns="0" rIns="0" bIns="0"/>
          <a:p>
            <a:pPr>
              <a:lnSpc>
                <a:spcPct val="100000"/>
              </a:lnSpc>
            </a:pPr>
            <a:r>
              <a:rPr lang="en-US" sz="1125" b="1">
                <a:solidFill>
                  <a:srgbClr val="1E4FA8"/>
                </a:solidFill>
                <a:latin typeface="微软雅黑" panose="020B0503020204020204" charset="-122"/>
                <a:ea typeface="微软雅黑" panose="020B0503020204020204" charset="-122"/>
              </a:rPr>
              <a:t>CHAPTER 03</a:t>
            </a:r>
            <a:endParaRPr lang="en-US" sz="1125" b="1">
              <a:solidFill>
                <a:srgbClr val="1E4FA8"/>
              </a:solidFill>
              <a:latin typeface="微软雅黑" panose="020B0503020204020204" charset="-122"/>
              <a:ea typeface="微软雅黑" panose="020B0503020204020204" charset="-122"/>
            </a:endParaRPr>
          </a:p>
        </p:txBody>
      </p:sp>
      <p:sp>
        <p:nvSpPr>
          <p:cNvPr id="575" name="文本框 574" descr="{&quot;isTemplate&quot;:true,&quot;type&quot;:&quot;text&quot;}"/>
          <p:cNvSpPr txBox="1"/>
          <p:nvPr>
            <p:custDataLst>
              <p:tags r:id="rId14"/>
            </p:custDataLst>
          </p:nvPr>
        </p:nvSpPr>
        <p:spPr>
          <a:xfrm>
            <a:off x="2314575" y="3124200"/>
            <a:ext cx="2628900"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科学问题、假设与研究内容</a:t>
            </a:r>
            <a:endParaRPr lang="zh-CN" sz="1725" b="1">
              <a:solidFill>
                <a:srgbClr val="0E3F8C"/>
              </a:solidFill>
              <a:latin typeface="微软雅黑" panose="020B0503020204020204" charset="-122"/>
              <a:ea typeface="微软雅黑" panose="020B0503020204020204" charset="-122"/>
            </a:endParaRPr>
          </a:p>
        </p:txBody>
      </p:sp>
      <p:sp>
        <p:nvSpPr>
          <p:cNvPr id="576" name="文本框 575" descr="{&quot;isTemplate&quot;:true,&quot;type&quot;:&quot;text&quot;}"/>
          <p:cNvSpPr txBox="1"/>
          <p:nvPr>
            <p:custDataLst>
              <p:tags r:id="rId15"/>
            </p:custDataLst>
          </p:nvPr>
        </p:nvSpPr>
        <p:spPr>
          <a:xfrm>
            <a:off x="1314450" y="3409950"/>
            <a:ext cx="6724650" cy="247650"/>
          </a:xfrm>
          <a:prstGeom prst="rect">
            <a:avLst/>
          </a:prstGeom>
        </p:spPr>
        <p:txBody>
          <a:bodyPr wrap="none" lIns="0" tIns="0" rIns="0" bIns="0"/>
          <a:p>
            <a:pPr>
              <a:lnSpc>
                <a:spcPct val="135000"/>
              </a:lnSpc>
            </a:pPr>
            <a:r>
              <a:rPr lang="zh-CN" sz="1200">
                <a:solidFill>
                  <a:srgbClr val="4A5568"/>
                </a:solidFill>
                <a:latin typeface="微软雅黑" panose="020B0503020204020204" charset="-122"/>
                <a:ea typeface="微软雅黑" panose="020B0503020204020204" charset="-122"/>
              </a:rPr>
              <a:t>本研究回答哪三个问题？</a:t>
            </a:r>
            <a:endParaRPr lang="zh-CN" sz="1200">
              <a:solidFill>
                <a:srgbClr val="4A5568"/>
              </a:solidFill>
              <a:latin typeface="微软雅黑" panose="020B0503020204020204" charset="-122"/>
              <a:ea typeface="微软雅黑" panose="020B0503020204020204" charset="-122"/>
            </a:endParaRPr>
          </a:p>
        </p:txBody>
      </p:sp>
      <p:sp>
        <p:nvSpPr>
          <p:cNvPr id="577" name="文本框 576" descr="{&quot;isTemplate&quot;:true,&quot;type&quot;:&quot;text&quot;}"/>
          <p:cNvSpPr txBox="1"/>
          <p:nvPr/>
        </p:nvSpPr>
        <p:spPr>
          <a:xfrm>
            <a:off x="8191500" y="3295650"/>
            <a:ext cx="723900" cy="190500"/>
          </a:xfrm>
          <a:prstGeom prst="rect">
            <a:avLst/>
          </a:prstGeom>
        </p:spPr>
        <p:txBody>
          <a:bodyPr wrap="none" lIns="0" tIns="0" rIns="0" bIns="0"/>
          <a:p>
            <a:pPr>
              <a:lnSpc>
                <a:spcPct val="100000"/>
              </a:lnSpc>
            </a:pPr>
            <a:r>
              <a:rPr lang="en-US" sz="1200">
                <a:solidFill>
                  <a:srgbClr val="8B97A8"/>
                </a:solidFill>
                <a:latin typeface="微软雅黑" panose="020B0503020204020204" charset="-122"/>
                <a:ea typeface="微软雅黑" panose="020B0503020204020204" charset="-122"/>
              </a:rPr>
              <a:t>P13 – P16</a:t>
            </a:r>
            <a:endParaRPr lang="en-US" sz="1200">
              <a:solidFill>
                <a:srgbClr val="8B97A8"/>
              </a:solidFill>
              <a:latin typeface="微软雅黑" panose="020B0503020204020204" charset="-122"/>
              <a:ea typeface="微软雅黑" panose="020B0503020204020204" charset="-122"/>
            </a:endParaRPr>
          </a:p>
        </p:txBody>
      </p:sp>
      <p:sp>
        <p:nvSpPr>
          <p:cNvPr id="578" name="圆角矩形 577"/>
          <p:cNvSpPr/>
          <p:nvPr/>
        </p:nvSpPr>
        <p:spPr>
          <a:xfrm>
            <a:off x="438150" y="3952875"/>
            <a:ext cx="8686800" cy="952500"/>
          </a:xfrm>
          <a:prstGeom prst="roundRect">
            <a:avLst>
              <a:gd name="adj" fmla="val 6000"/>
            </a:avLst>
          </a:prstGeom>
          <a:solidFill>
            <a:srgbClr val="F0F5FC"/>
          </a:solidFill>
        </p:spPr>
        <p:txBody>
          <a:bodyPr/>
          <a:p/>
        </p:txBody>
      </p:sp>
      <p:sp>
        <p:nvSpPr>
          <p:cNvPr id="579" name="任意多边形 578"/>
          <p:cNvSpPr/>
          <p:nvPr/>
        </p:nvSpPr>
        <p:spPr>
          <a:xfrm>
            <a:off x="438150" y="3952875"/>
            <a:ext cx="8686800" cy="952500"/>
          </a:xfrm>
          <a:custGeom>
            <a:avLst/>
            <a:gdLst/>
            <a:ahLst/>
            <a:cxnLst/>
            <a:pathLst>
              <a:path w="912" h="100">
                <a:moveTo>
                  <a:pt x="6" y="100"/>
                </a:moveTo>
                <a:cubicBezTo>
                  <a:pt x="3" y="100"/>
                  <a:pt x="0" y="97"/>
                  <a:pt x="0" y="94"/>
                </a:cubicBezTo>
                <a:lnTo>
                  <a:pt x="0" y="6"/>
                </a:lnTo>
                <a:cubicBezTo>
                  <a:pt x="0" y="4"/>
                  <a:pt x="1" y="3"/>
                  <a:pt x="2" y="2"/>
                </a:cubicBezTo>
                <a:cubicBezTo>
                  <a:pt x="3" y="1"/>
                  <a:pt x="4" y="0"/>
                  <a:pt x="6" y="0"/>
                </a:cubicBezTo>
                <a:lnTo>
                  <a:pt x="6" y="100"/>
                </a:lnTo>
                <a:close/>
              </a:path>
            </a:pathLst>
          </a:custGeom>
          <a:solidFill>
            <a:srgbClr val="1E4FA8"/>
          </a:solidFill>
        </p:spPr>
        <p:txBody>
          <a:bodyPr/>
          <a:p/>
        </p:txBody>
      </p:sp>
      <p:sp>
        <p:nvSpPr>
          <p:cNvPr id="580" name="圆角矩形 579"/>
          <p:cNvSpPr/>
          <p:nvPr>
            <p:custDataLst>
              <p:tags r:id="rId16"/>
            </p:custDataLst>
          </p:nvPr>
        </p:nvSpPr>
        <p:spPr>
          <a:xfrm>
            <a:off x="609600" y="4152900"/>
            <a:ext cx="552450" cy="552450"/>
          </a:xfrm>
          <a:prstGeom prst="roundRect">
            <a:avLst>
              <a:gd name="adj" fmla="val 20690"/>
            </a:avLst>
          </a:prstGeom>
          <a:solidFill>
            <a:srgbClr val="1E4FA8"/>
          </a:solidFill>
        </p:spPr>
        <p:txBody>
          <a:bodyPr/>
          <a:p/>
        </p:txBody>
      </p:sp>
      <p:pic>
        <p:nvPicPr>
          <p:cNvPr id="581" name="图片 580"/>
          <p:cNvPicPr>
            <a:picLocks noChangeAspect="1"/>
          </p:cNvPicPr>
          <p:nvPr>
            <p:custDataLst>
              <p:tags r:id="rId17"/>
            </p:custDataLst>
          </p:nvPr>
        </p:nvPicPr>
        <p:blipFill>
          <a:blip/>
          <a:stretch>
            <a:fillRect/>
          </a:stretch>
        </p:blipFill>
        <p:spPr>
          <a:xfrm>
            <a:off x="742950" y="4286250"/>
            <a:ext cx="285750" cy="285750"/>
          </a:xfrm>
          <a:prstGeom prst="rect">
            <a:avLst/>
          </a:prstGeom>
        </p:spPr>
      </p:pic>
      <p:sp>
        <p:nvSpPr>
          <p:cNvPr id="582" name="文本框 581" descr="{&quot;isTemplate&quot;:true,&quot;type&quot;:&quot;text&quot;}"/>
          <p:cNvSpPr txBox="1"/>
          <p:nvPr>
            <p:custDataLst>
              <p:tags r:id="rId18"/>
            </p:custDataLst>
          </p:nvPr>
        </p:nvSpPr>
        <p:spPr>
          <a:xfrm>
            <a:off x="1314450" y="4210050"/>
            <a:ext cx="904875" cy="171450"/>
          </a:xfrm>
          <a:prstGeom prst="rect">
            <a:avLst/>
          </a:prstGeom>
        </p:spPr>
        <p:txBody>
          <a:bodyPr wrap="none" lIns="0" tIns="0" rIns="0" bIns="0"/>
          <a:p>
            <a:pPr>
              <a:lnSpc>
                <a:spcPct val="100000"/>
              </a:lnSpc>
            </a:pPr>
            <a:r>
              <a:rPr lang="en-US" sz="1125" b="1">
                <a:solidFill>
                  <a:srgbClr val="1E4FA8"/>
                </a:solidFill>
                <a:latin typeface="微软雅黑" panose="020B0503020204020204" charset="-122"/>
                <a:ea typeface="微软雅黑" panose="020B0503020204020204" charset="-122"/>
              </a:rPr>
              <a:t>CHAPTER 04</a:t>
            </a:r>
            <a:endParaRPr lang="en-US" sz="1125" b="1">
              <a:solidFill>
                <a:srgbClr val="1E4FA8"/>
              </a:solidFill>
              <a:latin typeface="微软雅黑" panose="020B0503020204020204" charset="-122"/>
              <a:ea typeface="微软雅黑" panose="020B0503020204020204" charset="-122"/>
            </a:endParaRPr>
          </a:p>
        </p:txBody>
      </p:sp>
      <p:sp>
        <p:nvSpPr>
          <p:cNvPr id="583" name="文本框 582" descr="{&quot;isTemplate&quot;:true,&quot;type&quot;:&quot;text&quot;}"/>
          <p:cNvSpPr txBox="1"/>
          <p:nvPr>
            <p:custDataLst>
              <p:tags r:id="rId19"/>
            </p:custDataLst>
          </p:nvPr>
        </p:nvSpPr>
        <p:spPr>
          <a:xfrm>
            <a:off x="2314575" y="4162425"/>
            <a:ext cx="2847975"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研究方案：模型、实验与验证</a:t>
            </a:r>
            <a:endParaRPr lang="zh-CN" sz="1725" b="1">
              <a:solidFill>
                <a:srgbClr val="0E3F8C"/>
              </a:solidFill>
              <a:latin typeface="微软雅黑" panose="020B0503020204020204" charset="-122"/>
              <a:ea typeface="微软雅黑" panose="020B0503020204020204" charset="-122"/>
            </a:endParaRPr>
          </a:p>
        </p:txBody>
      </p:sp>
      <p:sp>
        <p:nvSpPr>
          <p:cNvPr id="584" name="文本框 583" descr="{&quot;isTemplate&quot;:true,&quot;type&quot;:&quot;text&quot;}"/>
          <p:cNvSpPr txBox="1"/>
          <p:nvPr>
            <p:custDataLst>
              <p:tags r:id="rId20"/>
            </p:custDataLst>
          </p:nvPr>
        </p:nvSpPr>
        <p:spPr>
          <a:xfrm>
            <a:off x="1314450" y="4448175"/>
            <a:ext cx="6724650" cy="247650"/>
          </a:xfrm>
          <a:prstGeom prst="rect">
            <a:avLst/>
          </a:prstGeom>
        </p:spPr>
        <p:txBody>
          <a:bodyPr wrap="none" lIns="0" tIns="0" rIns="0" bIns="0"/>
          <a:p>
            <a:pPr>
              <a:lnSpc>
                <a:spcPct val="135000"/>
              </a:lnSpc>
            </a:pPr>
            <a:r>
              <a:rPr lang="zh-CN" sz="1200">
                <a:solidFill>
                  <a:srgbClr val="4A5568"/>
                </a:solidFill>
                <a:latin typeface="微软雅黑" panose="020B0503020204020204" charset="-122"/>
                <a:ea typeface="微软雅黑" panose="020B0503020204020204" charset="-122"/>
              </a:rPr>
              <a:t>如何设计具体模型与实验？</a:t>
            </a:r>
            <a:endParaRPr lang="zh-CN" sz="1200">
              <a:solidFill>
                <a:srgbClr val="4A5568"/>
              </a:solidFill>
              <a:latin typeface="微软雅黑" panose="020B0503020204020204" charset="-122"/>
              <a:ea typeface="微软雅黑" panose="020B0503020204020204" charset="-122"/>
            </a:endParaRPr>
          </a:p>
        </p:txBody>
      </p:sp>
      <p:sp>
        <p:nvSpPr>
          <p:cNvPr id="585" name="文本框 584" descr="{&quot;isTemplate&quot;:true,&quot;type&quot;:&quot;text&quot;}"/>
          <p:cNvSpPr txBox="1"/>
          <p:nvPr/>
        </p:nvSpPr>
        <p:spPr>
          <a:xfrm>
            <a:off x="8191500" y="4333875"/>
            <a:ext cx="723900" cy="190500"/>
          </a:xfrm>
          <a:prstGeom prst="rect">
            <a:avLst/>
          </a:prstGeom>
        </p:spPr>
        <p:txBody>
          <a:bodyPr wrap="none" lIns="0" tIns="0" rIns="0" bIns="0"/>
          <a:p>
            <a:pPr>
              <a:lnSpc>
                <a:spcPct val="100000"/>
              </a:lnSpc>
            </a:pPr>
            <a:r>
              <a:rPr lang="en-US" sz="1200">
                <a:solidFill>
                  <a:srgbClr val="8B97A8"/>
                </a:solidFill>
                <a:latin typeface="微软雅黑" panose="020B0503020204020204" charset="-122"/>
                <a:ea typeface="微软雅黑" panose="020B0503020204020204" charset="-122"/>
              </a:rPr>
              <a:t>P18 – P30</a:t>
            </a:r>
            <a:endParaRPr lang="en-US" sz="1200">
              <a:solidFill>
                <a:srgbClr val="8B97A8"/>
              </a:solidFill>
              <a:latin typeface="微软雅黑" panose="020B0503020204020204" charset="-122"/>
              <a:ea typeface="微软雅黑" panose="020B0503020204020204" charset="-122"/>
            </a:endParaRPr>
          </a:p>
        </p:txBody>
      </p:sp>
      <p:sp>
        <p:nvSpPr>
          <p:cNvPr id="586" name="圆角矩形 585"/>
          <p:cNvSpPr/>
          <p:nvPr/>
        </p:nvSpPr>
        <p:spPr>
          <a:xfrm>
            <a:off x="438150" y="4991100"/>
            <a:ext cx="8686800" cy="952500"/>
          </a:xfrm>
          <a:prstGeom prst="roundRect">
            <a:avLst>
              <a:gd name="adj" fmla="val 6000"/>
            </a:avLst>
          </a:prstGeom>
          <a:solidFill>
            <a:srgbClr val="F0F5FC"/>
          </a:solidFill>
        </p:spPr>
        <p:txBody>
          <a:bodyPr/>
          <a:p/>
        </p:txBody>
      </p:sp>
      <p:sp>
        <p:nvSpPr>
          <p:cNvPr id="587" name="任意多边形 586"/>
          <p:cNvSpPr/>
          <p:nvPr/>
        </p:nvSpPr>
        <p:spPr>
          <a:xfrm>
            <a:off x="438150" y="4991100"/>
            <a:ext cx="8686800" cy="952500"/>
          </a:xfrm>
          <a:custGeom>
            <a:avLst/>
            <a:gdLst/>
            <a:ahLst/>
            <a:cxnLst/>
            <a:pathLst>
              <a:path w="912" h="100">
                <a:moveTo>
                  <a:pt x="6" y="100"/>
                </a:moveTo>
                <a:cubicBezTo>
                  <a:pt x="3" y="100"/>
                  <a:pt x="0" y="97"/>
                  <a:pt x="0" y="94"/>
                </a:cubicBezTo>
                <a:lnTo>
                  <a:pt x="0" y="6"/>
                </a:lnTo>
                <a:cubicBezTo>
                  <a:pt x="0" y="4"/>
                  <a:pt x="1" y="3"/>
                  <a:pt x="2" y="2"/>
                </a:cubicBezTo>
                <a:cubicBezTo>
                  <a:pt x="3" y="1"/>
                  <a:pt x="4" y="0"/>
                  <a:pt x="6" y="0"/>
                </a:cubicBezTo>
                <a:lnTo>
                  <a:pt x="6" y="100"/>
                </a:lnTo>
                <a:close/>
              </a:path>
            </a:pathLst>
          </a:custGeom>
          <a:solidFill>
            <a:srgbClr val="1E4FA8"/>
          </a:solidFill>
        </p:spPr>
        <p:txBody>
          <a:bodyPr/>
          <a:p/>
        </p:txBody>
      </p:sp>
      <p:sp>
        <p:nvSpPr>
          <p:cNvPr id="588" name="圆角矩形 587"/>
          <p:cNvSpPr/>
          <p:nvPr>
            <p:custDataLst>
              <p:tags r:id="rId21"/>
            </p:custDataLst>
          </p:nvPr>
        </p:nvSpPr>
        <p:spPr>
          <a:xfrm>
            <a:off x="609600" y="5191125"/>
            <a:ext cx="552450" cy="552450"/>
          </a:xfrm>
          <a:prstGeom prst="roundRect">
            <a:avLst>
              <a:gd name="adj" fmla="val 20690"/>
            </a:avLst>
          </a:prstGeom>
          <a:solidFill>
            <a:srgbClr val="1E4FA8"/>
          </a:solidFill>
        </p:spPr>
        <p:txBody>
          <a:bodyPr/>
          <a:p/>
        </p:txBody>
      </p:sp>
      <p:pic>
        <p:nvPicPr>
          <p:cNvPr id="589" name="图片 588"/>
          <p:cNvPicPr>
            <a:picLocks noChangeAspect="1"/>
          </p:cNvPicPr>
          <p:nvPr>
            <p:custDataLst>
              <p:tags r:id="rId22"/>
            </p:custDataLst>
          </p:nvPr>
        </p:nvPicPr>
        <p:blipFill>
          <a:blip/>
          <a:stretch>
            <a:fillRect/>
          </a:stretch>
        </p:blipFill>
        <p:spPr>
          <a:xfrm>
            <a:off x="742950" y="5324475"/>
            <a:ext cx="285750" cy="285750"/>
          </a:xfrm>
          <a:prstGeom prst="rect">
            <a:avLst/>
          </a:prstGeom>
        </p:spPr>
      </p:pic>
      <p:sp>
        <p:nvSpPr>
          <p:cNvPr id="590" name="文本框 589" descr="{&quot;isTemplate&quot;:true,&quot;type&quot;:&quot;text&quot;}"/>
          <p:cNvSpPr txBox="1"/>
          <p:nvPr>
            <p:custDataLst>
              <p:tags r:id="rId23"/>
            </p:custDataLst>
          </p:nvPr>
        </p:nvSpPr>
        <p:spPr>
          <a:xfrm>
            <a:off x="1314450" y="5248275"/>
            <a:ext cx="904875" cy="171450"/>
          </a:xfrm>
          <a:prstGeom prst="rect">
            <a:avLst/>
          </a:prstGeom>
        </p:spPr>
        <p:txBody>
          <a:bodyPr wrap="none" lIns="0" tIns="0" rIns="0" bIns="0"/>
          <a:p>
            <a:pPr>
              <a:lnSpc>
                <a:spcPct val="100000"/>
              </a:lnSpc>
            </a:pPr>
            <a:r>
              <a:rPr lang="en-US" sz="1125" b="1">
                <a:solidFill>
                  <a:srgbClr val="1E4FA8"/>
                </a:solidFill>
                <a:latin typeface="微软雅黑" panose="020B0503020204020204" charset="-122"/>
                <a:ea typeface="微软雅黑" panose="020B0503020204020204" charset="-122"/>
              </a:rPr>
              <a:t>CHAPTER 05</a:t>
            </a:r>
            <a:endParaRPr lang="en-US" sz="1125" b="1">
              <a:solidFill>
                <a:srgbClr val="1E4FA8"/>
              </a:solidFill>
              <a:latin typeface="微软雅黑" panose="020B0503020204020204" charset="-122"/>
              <a:ea typeface="微软雅黑" panose="020B0503020204020204" charset="-122"/>
            </a:endParaRPr>
          </a:p>
        </p:txBody>
      </p:sp>
      <p:sp>
        <p:nvSpPr>
          <p:cNvPr id="591" name="文本框 590" descr="{&quot;isTemplate&quot;:true,&quot;type&quot;:&quot;text&quot;}"/>
          <p:cNvSpPr txBox="1"/>
          <p:nvPr>
            <p:custDataLst>
              <p:tags r:id="rId24"/>
            </p:custDataLst>
          </p:nvPr>
        </p:nvSpPr>
        <p:spPr>
          <a:xfrm>
            <a:off x="2314575" y="5200650"/>
            <a:ext cx="2628900"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研究基础、进度与预期成果</a:t>
            </a:r>
            <a:endParaRPr lang="zh-CN" sz="1725" b="1">
              <a:solidFill>
                <a:srgbClr val="0E3F8C"/>
              </a:solidFill>
              <a:latin typeface="微软雅黑" panose="020B0503020204020204" charset="-122"/>
              <a:ea typeface="微软雅黑" panose="020B0503020204020204" charset="-122"/>
            </a:endParaRPr>
          </a:p>
        </p:txBody>
      </p:sp>
      <p:sp>
        <p:nvSpPr>
          <p:cNvPr id="592" name="文本框 591" descr="{&quot;isTemplate&quot;:true,&quot;type&quot;:&quot;text&quot;}"/>
          <p:cNvSpPr txBox="1"/>
          <p:nvPr>
            <p:custDataLst>
              <p:tags r:id="rId25"/>
            </p:custDataLst>
          </p:nvPr>
        </p:nvSpPr>
        <p:spPr>
          <a:xfrm>
            <a:off x="1314450" y="5486400"/>
            <a:ext cx="6724650" cy="247650"/>
          </a:xfrm>
          <a:prstGeom prst="rect">
            <a:avLst/>
          </a:prstGeom>
        </p:spPr>
        <p:txBody>
          <a:bodyPr wrap="none" lIns="0" tIns="0" rIns="0" bIns="0"/>
          <a:p>
            <a:pPr>
              <a:lnSpc>
                <a:spcPct val="135000"/>
              </a:lnSpc>
            </a:pPr>
            <a:r>
              <a:rPr lang="zh-CN" sz="1200">
                <a:solidFill>
                  <a:srgbClr val="4A5568"/>
                </a:solidFill>
                <a:latin typeface="微软雅黑" panose="020B0503020204020204" charset="-122"/>
                <a:ea typeface="微软雅黑" panose="020B0503020204020204" charset="-122"/>
              </a:rPr>
              <a:t>能否按期完成、形成什么成果？</a:t>
            </a:r>
            <a:endParaRPr lang="zh-CN" sz="1200">
              <a:solidFill>
                <a:srgbClr val="4A5568"/>
              </a:solidFill>
              <a:latin typeface="微软雅黑" panose="020B0503020204020204" charset="-122"/>
              <a:ea typeface="微软雅黑" panose="020B0503020204020204" charset="-122"/>
            </a:endParaRPr>
          </a:p>
        </p:txBody>
      </p:sp>
      <p:sp>
        <p:nvSpPr>
          <p:cNvPr id="593" name="文本框 592" descr="{&quot;isTemplate&quot;:true,&quot;type&quot;:&quot;text&quot;}"/>
          <p:cNvSpPr txBox="1"/>
          <p:nvPr/>
        </p:nvSpPr>
        <p:spPr>
          <a:xfrm>
            <a:off x="8191500" y="5372100"/>
            <a:ext cx="723900" cy="190500"/>
          </a:xfrm>
          <a:prstGeom prst="rect">
            <a:avLst/>
          </a:prstGeom>
        </p:spPr>
        <p:txBody>
          <a:bodyPr wrap="none" lIns="0" tIns="0" rIns="0" bIns="0"/>
          <a:p>
            <a:pPr>
              <a:lnSpc>
                <a:spcPct val="100000"/>
              </a:lnSpc>
            </a:pPr>
            <a:r>
              <a:rPr lang="en-US" sz="1200">
                <a:solidFill>
                  <a:srgbClr val="8B97A8"/>
                </a:solidFill>
                <a:latin typeface="微软雅黑" panose="020B0503020204020204" charset="-122"/>
                <a:ea typeface="微软雅黑" panose="020B0503020204020204" charset="-122"/>
              </a:rPr>
              <a:t>P32 – P35</a:t>
            </a:r>
            <a:endParaRPr lang="en-US" sz="1200">
              <a:solidFill>
                <a:srgbClr val="8B97A8"/>
              </a:solidFill>
              <a:latin typeface="微软雅黑" panose="020B0503020204020204" charset="-122"/>
              <a:ea typeface="微软雅黑" panose="020B0503020204020204" charset="-122"/>
            </a:endParaRPr>
          </a:p>
        </p:txBody>
      </p:sp>
      <p:sp>
        <p:nvSpPr>
          <p:cNvPr id="594" name="圆角矩形 593"/>
          <p:cNvSpPr/>
          <p:nvPr/>
        </p:nvSpPr>
        <p:spPr>
          <a:xfrm>
            <a:off x="9258300" y="838200"/>
            <a:ext cx="2552700" cy="5553075"/>
          </a:xfrm>
          <a:prstGeom prst="roundRect">
            <a:avLst>
              <a:gd name="adj" fmla="val 2985"/>
            </a:avLst>
          </a:prstGeom>
          <a:solidFill>
            <a:srgbClr val="F7F9FC"/>
          </a:solidFill>
          <a:ln w="12700">
            <a:solidFill>
              <a:srgbClr val="D6DCE5"/>
            </a:solidFill>
            <a:prstDash val="solid"/>
          </a:ln>
        </p:spPr>
        <p:txBody>
          <a:bodyPr/>
          <a:p/>
        </p:txBody>
      </p:sp>
      <p:sp>
        <p:nvSpPr>
          <p:cNvPr id="595" name="文本框 594" descr="{&quot;isTemplate&quot;:true,&quot;type&quot;:&quot;text&quot;}"/>
          <p:cNvSpPr txBox="1"/>
          <p:nvPr/>
        </p:nvSpPr>
        <p:spPr>
          <a:xfrm>
            <a:off x="9391650" y="971550"/>
            <a:ext cx="2286000" cy="200025"/>
          </a:xfrm>
          <a:prstGeom prst="rect">
            <a:avLst/>
          </a:prstGeom>
        </p:spPr>
        <p:txBody>
          <a:bodyPr wrap="none" lIns="0" tIns="0" rIns="0" bIns="0"/>
          <a:p>
            <a:pPr>
              <a:lnSpc>
                <a:spcPct val="100000"/>
              </a:lnSpc>
            </a:pPr>
            <a:r>
              <a:rPr lang="zh-CN" sz="1275" b="1">
                <a:solidFill>
                  <a:srgbClr val="0E3F8C"/>
                </a:solidFill>
                <a:latin typeface="微软雅黑" panose="020B0503020204020204" charset="-122"/>
                <a:ea typeface="微软雅黑" panose="020B0503020204020204" charset="-122"/>
              </a:rPr>
              <a:t>汇报主线</a:t>
            </a:r>
            <a:endParaRPr lang="zh-CN" sz="1275" b="1">
              <a:solidFill>
                <a:srgbClr val="0E3F8C"/>
              </a:solidFill>
              <a:latin typeface="微软雅黑" panose="020B0503020204020204" charset="-122"/>
              <a:ea typeface="微软雅黑" panose="020B0503020204020204" charset="-122"/>
            </a:endParaRPr>
          </a:p>
        </p:txBody>
      </p:sp>
      <p:sp>
        <p:nvSpPr>
          <p:cNvPr id="596" name="矩形 595"/>
          <p:cNvSpPr/>
          <p:nvPr/>
        </p:nvSpPr>
        <p:spPr>
          <a:xfrm>
            <a:off x="9391650" y="1209675"/>
            <a:ext cx="571500" cy="19050"/>
          </a:xfrm>
          <a:prstGeom prst="rect">
            <a:avLst/>
          </a:prstGeom>
          <a:solidFill>
            <a:srgbClr val="1E4FA8"/>
          </a:solidFill>
        </p:spPr>
        <p:txBody>
          <a:bodyPr/>
          <a:p/>
        </p:txBody>
      </p:sp>
      <p:pic>
        <p:nvPicPr>
          <p:cNvPr id="597" name="图片 596"/>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391650" y="1285875"/>
            <a:ext cx="2286000" cy="4305300"/>
          </a:xfrm>
          <a:prstGeom prst="rect">
            <a:avLst/>
          </a:prstGeom>
        </p:spPr>
      </p:pic>
      <p:sp>
        <p:nvSpPr>
          <p:cNvPr id="600" name="任意多边形 599"/>
          <p:cNvSpPr/>
          <p:nvPr/>
        </p:nvSpPr>
        <p:spPr>
          <a:xfrm>
            <a:off x="0" y="646747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601" name="文本框 600" descr="{&quot;isTemplate&quot;:true,&quot;type&quot;:&quot;text&quot;}"/>
          <p:cNvSpPr txBox="1"/>
          <p:nvPr/>
        </p:nvSpPr>
        <p:spPr>
          <a:xfrm>
            <a:off x="381000" y="6581775"/>
            <a:ext cx="21145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硕士学位开题答辩</a:t>
            </a:r>
            <a:endParaRPr lang="zh-CN" sz="1050">
              <a:solidFill>
                <a:srgbClr val="8B97A8"/>
              </a:solidFill>
              <a:latin typeface="微软雅黑" panose="020B0503020204020204" charset="-122"/>
              <a:ea typeface="微软雅黑" panose="020B0503020204020204" charset="-122"/>
            </a:endParaRPr>
          </a:p>
        </p:txBody>
      </p:sp>
      <p:sp>
        <p:nvSpPr>
          <p:cNvPr id="602" name="文本框 601" descr="{&quot;isTemplate&quot;:true,&quot;type&quot;:&quot;text&quot;}"/>
          <p:cNvSpPr txBox="1"/>
          <p:nvPr/>
        </p:nvSpPr>
        <p:spPr>
          <a:xfrm>
            <a:off x="11353800" y="658177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02 / 36</a:t>
            </a:r>
            <a:endParaRPr lang="en-US" sz="1050">
              <a:solidFill>
                <a:srgbClr val="1E4FA8"/>
              </a:solidFill>
              <a:latin typeface="微软雅黑" panose="020B0503020204020204" charset="-122"/>
              <a:ea typeface="微软雅黑" panose="020B0503020204020204" charset="-122"/>
            </a:endParaRPr>
          </a:p>
        </p:txBody>
      </p:sp>
      <p:sp>
        <p:nvSpPr>
          <p:cNvPr id="603" name="矩形 602"/>
          <p:cNvSpPr/>
          <p:nvPr/>
        </p:nvSpPr>
        <p:spPr>
          <a:xfrm>
            <a:off x="0" y="685800"/>
            <a:ext cx="57150" cy="1162050"/>
          </a:xfrm>
          <a:prstGeom prst="rect">
            <a:avLst/>
          </a:prstGeom>
          <a:solidFill>
            <a:srgbClr val="C9D6E8"/>
          </a:solidFill>
        </p:spPr>
        <p:txBody>
          <a:bodyPr/>
          <a:p/>
        </p:txBody>
      </p:sp>
      <p:sp>
        <p:nvSpPr>
          <p:cNvPr id="604" name="矩形 603"/>
          <p:cNvSpPr/>
          <p:nvPr/>
        </p:nvSpPr>
        <p:spPr>
          <a:xfrm>
            <a:off x="0" y="1847850"/>
            <a:ext cx="57150" cy="1162050"/>
          </a:xfrm>
          <a:prstGeom prst="rect">
            <a:avLst/>
          </a:prstGeom>
          <a:solidFill>
            <a:srgbClr val="C9D6E8"/>
          </a:solidFill>
        </p:spPr>
        <p:txBody>
          <a:bodyPr/>
          <a:p/>
        </p:txBody>
      </p:sp>
      <p:sp>
        <p:nvSpPr>
          <p:cNvPr id="605" name="矩形 604"/>
          <p:cNvSpPr/>
          <p:nvPr/>
        </p:nvSpPr>
        <p:spPr>
          <a:xfrm>
            <a:off x="0" y="3009900"/>
            <a:ext cx="57150" cy="1162050"/>
          </a:xfrm>
          <a:prstGeom prst="rect">
            <a:avLst/>
          </a:prstGeom>
          <a:solidFill>
            <a:srgbClr val="C9D6E8"/>
          </a:solidFill>
        </p:spPr>
        <p:txBody>
          <a:bodyPr/>
          <a:p/>
        </p:txBody>
      </p:sp>
      <p:sp>
        <p:nvSpPr>
          <p:cNvPr id="606" name="矩形 605"/>
          <p:cNvSpPr/>
          <p:nvPr/>
        </p:nvSpPr>
        <p:spPr>
          <a:xfrm>
            <a:off x="0" y="4171950"/>
            <a:ext cx="57150" cy="1162050"/>
          </a:xfrm>
          <a:prstGeom prst="rect">
            <a:avLst/>
          </a:prstGeom>
          <a:solidFill>
            <a:srgbClr val="C9D6E8"/>
          </a:solidFill>
        </p:spPr>
        <p:txBody>
          <a:bodyPr/>
          <a:p/>
        </p:txBody>
      </p:sp>
      <p:sp>
        <p:nvSpPr>
          <p:cNvPr id="607" name="矩形 606"/>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55" name="" descr="&lt;Slide style={{ width: '1280px', height: '720px', background: '#0B3A82', fontFamily: 'Microsoft YaHei', padding: 0 }}&gt;&#13;&#10;    &lt;Box style={{ position: 'absolute', top: 0, right: 0, width: 300, height: 720, background: '#12489A' }} /&gt;&#13;&#10;    &lt;Box style={{ position: 'absolute', top: 40, right: 40, width: 220, height: 220, opacity: 0.16 }}&gt;&#13;&#10;        &lt;svg width={220} height={220} viewBox='0 0 220 220'&gt;&#13;&#10;            &lt;rect x='20' y='30' width='80' height='50' rx='6' fill='none' stroke='#FFFFFF' strokeWidth='3' /&gt;&#13;&#10;            &lt;rect x='120' y='140' width='80' height='50' rx='6' fill='none' stroke='#FFFFFF' strokeWidth='3' /&gt;&#13;&#10;            &lt;path d='M100 55 L160 55 L160 165' stroke='#FFFFFF' strokeWidth='3' fill='none' /&gt;&#13;&#10;            &lt;path d='M20 165 L120 165' stroke='#FFFFFF' strokeWidth='3' fill='none' /&gt;&#13;&#10;            &lt;circle cx='100' cy='55' r='8' fill='#FFFFFF' /&gt;&#13;&#10;        &lt;/svg&gt;&#13;&#10;    &lt;/Box&gt;&#13;&#10;    &lt;Box style={{ position: 'absolute', top: 120, left: 90 }}&gt;&#13;&#10;        &lt;Text style={{ fontSize: 220, fontWeight: 'bold', color: '#FFFFFF', opacity: 0.12, lineHeight: 1 }}&gt;01&lt;/Text&gt;&#13;&#10;    &lt;/Box&gt;&#13;&#10;    &lt;Box style={{ position: 'absolute', top: 132, left: 96, width: 840, flexDirection: 'column', gap: 18 }}&gt;&#13;&#10;        &lt;Box style={{ flexDirection: 'row', alignItems: 'center', gap: 14 }}&gt;&#13;&#10;            &lt;Box style={{ width: 14, height: 38, background: '#FFC107' }} /&gt;&#13;&#10;            &lt;Text style={{ fontSize: 25, color: '#BFD3F2', letterSpacing: 3 }}&gt;PART ONE&lt;/Text&gt;&#13;&#10;        &lt;/Box&gt;&#13;&#10;        &lt;Text style={{ fontSize: 50, fontWeight: 'bold', color: '#FFFFFF', lineHeight: 1.25 }}&gt;研究背景与问题提出&lt;/Text&gt;&#13;&#10;        &lt;Box style={{ height: 3, background: '#3D7BD9', width: 760 }} /&gt;&#13;&#10;        &lt;Box style={{ flexDirection: 'column', gap: 11, marginTop: 4 }}&gt;&#13;&#10;            &lt;Text style={{ fontSize: 24, fontWeight: 'bold', color: '#FFFFFF', lineHeight: 1.4 }}&gt;为什么 AI 算力基础设施需要被重新理解为城市水系统负荷？&lt;/Text&gt;&#13;&#10;            &lt;Text style={{ fontSize: 18, color: '#FFC107', letterSpacing: 1 }}&gt;连续负荷　｜　气候敏感冷却　｜　城市系统反馈&lt;/Text&gt;&#13;&#10;        &lt;/Box&gt;&#13;&#10;    &lt;/Box&gt;&#13;&#10;    &lt;Box style={{ position: 'absolute', bottom: 44, left: 96 }}&gt;&#13;&#10;        &lt;Text style={{ fontSize: 16, color: '#7FA3D6' }}&gt;P04 – P07&lt;/Text&gt;&#13;&#10;    &lt;/Box&gt;&#13;&#10;&lt;/Slide&gt;&#13;&#10;"/>
        <p:cNvGrpSpPr/>
        <p:nvPr/>
      </p:nvGrpSpPr>
      <p:grpSpPr>
        <a:xfrm>
          <a:off x="0" y="0"/>
          <a:ext cx="0" cy="0"/>
          <a:chOff x="0" y="0"/>
          <a:chExt cx="0" cy="0"/>
        </a:xfrm>
      </p:grpSpPr>
      <p:sp>
        <p:nvSpPr>
          <p:cNvPr id="1156" name="矩形 1155"/>
          <p:cNvSpPr/>
          <p:nvPr/>
        </p:nvSpPr>
        <p:spPr>
          <a:xfrm>
            <a:off x="0" y="0"/>
            <a:ext cx="12192000" cy="6858000"/>
          </a:xfrm>
          <a:prstGeom prst="rect">
            <a:avLst/>
          </a:prstGeom>
          <a:solidFill>
            <a:srgbClr val="0B3A82"/>
          </a:solidFill>
        </p:spPr>
        <p:txBody>
          <a:bodyPr/>
          <a:p/>
        </p:txBody>
      </p:sp>
      <p:sp>
        <p:nvSpPr>
          <p:cNvPr id="1157" name="矩形 1156"/>
          <p:cNvSpPr/>
          <p:nvPr/>
        </p:nvSpPr>
        <p:spPr>
          <a:xfrm>
            <a:off x="9334500" y="0"/>
            <a:ext cx="2857500" cy="6858000"/>
          </a:xfrm>
          <a:prstGeom prst="rect">
            <a:avLst/>
          </a:prstGeom>
          <a:solidFill>
            <a:srgbClr val="12489A"/>
          </a:solidFill>
        </p:spPr>
        <p:txBody>
          <a:bodyPr/>
          <a:p/>
        </p:txBody>
      </p:sp>
      <p:pic>
        <p:nvPicPr>
          <p:cNvPr id="1158" name="图片 1157"/>
          <p:cNvPicPr>
            <a:picLocks noChangeAspect="1"/>
          </p:cNvPicPr>
          <p:nvPr/>
        </p:nvPicPr>
        <p:blipFill>
          <a:blip r:embed="rId1">
            <a:alphaModFix amt="16000"/>
            <a:extLst>
              <a:ext uri="{96DAC541-7B7A-43D3-8B79-37D633B846F1}">
                <asvg:svgBlip xmlns:asvg="http://schemas.microsoft.com/office/drawing/2016/SVG/main" r:embed="rId2"/>
              </a:ext>
            </a:extLst>
          </a:blip>
          <a:stretch>
            <a:fillRect/>
          </a:stretch>
        </p:blipFill>
        <p:spPr>
          <a:xfrm>
            <a:off x="9715500" y="381000"/>
            <a:ext cx="2095500" cy="2095500"/>
          </a:xfrm>
          <a:prstGeom prst="rect">
            <a:avLst/>
          </a:prstGeom>
        </p:spPr>
      </p:pic>
      <p:sp>
        <p:nvSpPr>
          <p:cNvPr id="1159" name="文本框 1158" descr="{&quot;isTemplate&quot;:true,&quot;type&quot;:&quot;text&quot;}"/>
          <p:cNvSpPr txBox="1"/>
          <p:nvPr/>
        </p:nvSpPr>
        <p:spPr>
          <a:xfrm>
            <a:off x="857250" y="1143000"/>
            <a:ext cx="2590800" cy="2514600"/>
          </a:xfrm>
          <a:prstGeom prst="rect">
            <a:avLst/>
          </a:prstGeom>
        </p:spPr>
        <p:txBody>
          <a:bodyPr wrap="none" lIns="0" tIns="0" rIns="0" bIns="0"/>
          <a:p>
            <a:pPr>
              <a:lnSpc>
                <a:spcPct val="100000"/>
              </a:lnSpc>
            </a:pPr>
            <a:r>
              <a:rPr lang="en-US" sz="16500" b="1">
                <a:solidFill>
                  <a:srgbClr val="FFFFFF">
                    <a:alpha val="12000"/>
                  </a:srgbClr>
                </a:solidFill>
                <a:latin typeface="微软雅黑" panose="020B0503020204020204" charset="-122"/>
                <a:ea typeface="微软雅黑" panose="020B0503020204020204" charset="-122"/>
              </a:rPr>
              <a:t>01</a:t>
            </a:r>
            <a:endParaRPr lang="en-US" sz="16500" b="1">
              <a:solidFill>
                <a:srgbClr val="FFFFFF">
                  <a:alpha val="12000"/>
                </a:srgbClr>
              </a:solidFill>
              <a:latin typeface="微软雅黑" panose="020B0503020204020204" charset="-122"/>
              <a:ea typeface="微软雅黑" panose="020B0503020204020204" charset="-122"/>
            </a:endParaRPr>
          </a:p>
        </p:txBody>
      </p:sp>
      <p:sp>
        <p:nvSpPr>
          <p:cNvPr id="1160" name="矩形 1159"/>
          <p:cNvSpPr/>
          <p:nvPr/>
        </p:nvSpPr>
        <p:spPr>
          <a:xfrm>
            <a:off x="914400" y="1257300"/>
            <a:ext cx="133350" cy="361950"/>
          </a:xfrm>
          <a:prstGeom prst="rect">
            <a:avLst/>
          </a:prstGeom>
          <a:solidFill>
            <a:srgbClr val="FFC107"/>
          </a:solidFill>
        </p:spPr>
        <p:txBody>
          <a:bodyPr/>
          <a:p/>
        </p:txBody>
      </p:sp>
      <p:sp>
        <p:nvSpPr>
          <p:cNvPr id="1161" name="文本框 1160" descr="{&quot;isTemplate&quot;:true,&quot;type&quot;:&quot;text&quot;}"/>
          <p:cNvSpPr txBox="1"/>
          <p:nvPr/>
        </p:nvSpPr>
        <p:spPr>
          <a:xfrm>
            <a:off x="1181100" y="1295400"/>
            <a:ext cx="1428750" cy="285750"/>
          </a:xfrm>
          <a:prstGeom prst="rect">
            <a:avLst/>
          </a:prstGeom>
        </p:spPr>
        <p:txBody>
          <a:bodyPr wrap="none" lIns="0" tIns="0" rIns="0" bIns="0"/>
          <a:p>
            <a:pPr>
              <a:lnSpc>
                <a:spcPct val="100000"/>
              </a:lnSpc>
            </a:pPr>
            <a:r>
              <a:rPr lang="en-US" sz="1875" spc="225">
                <a:solidFill>
                  <a:srgbClr val="BFD3F2"/>
                </a:solidFill>
                <a:latin typeface="微软雅黑" panose="020B0503020204020204" charset="-122"/>
                <a:ea typeface="微软雅黑" panose="020B0503020204020204" charset="-122"/>
              </a:rPr>
              <a:t>PART ONE</a:t>
            </a:r>
            <a:endParaRPr lang="en-US" sz="1875" spc="225">
              <a:solidFill>
                <a:srgbClr val="BFD3F2"/>
              </a:solidFill>
              <a:latin typeface="微软雅黑" panose="020B0503020204020204" charset="-122"/>
              <a:ea typeface="微软雅黑" panose="020B0503020204020204" charset="-122"/>
            </a:endParaRPr>
          </a:p>
        </p:txBody>
      </p:sp>
      <p:sp>
        <p:nvSpPr>
          <p:cNvPr id="1162" name="文本框 1161" descr="{&quot;isTemplate&quot;:true,&quot;type&quot;:&quot;text&quot;}"/>
          <p:cNvSpPr txBox="1"/>
          <p:nvPr/>
        </p:nvSpPr>
        <p:spPr>
          <a:xfrm>
            <a:off x="914400" y="1790700"/>
            <a:ext cx="8001000" cy="714375"/>
          </a:xfrm>
          <a:prstGeom prst="rect">
            <a:avLst/>
          </a:prstGeom>
        </p:spPr>
        <p:txBody>
          <a:bodyPr wrap="none" lIns="0" tIns="0" rIns="0" bIns="0"/>
          <a:p>
            <a:pPr>
              <a:lnSpc>
                <a:spcPct val="125000"/>
              </a:lnSpc>
            </a:pPr>
            <a:r>
              <a:rPr lang="zh-CN" sz="3750" b="1">
                <a:solidFill>
                  <a:srgbClr val="FFFFFF"/>
                </a:solidFill>
                <a:latin typeface="微软雅黑" panose="020B0503020204020204" charset="-122"/>
                <a:ea typeface="微软雅黑" panose="020B0503020204020204" charset="-122"/>
              </a:rPr>
              <a:t>研究背景与问题提出</a:t>
            </a:r>
            <a:endParaRPr lang="zh-CN" sz="3750" b="1">
              <a:solidFill>
                <a:srgbClr val="FFFFFF"/>
              </a:solidFill>
              <a:latin typeface="微软雅黑" panose="020B0503020204020204" charset="-122"/>
              <a:ea typeface="微软雅黑" panose="020B0503020204020204" charset="-122"/>
            </a:endParaRPr>
          </a:p>
        </p:txBody>
      </p:sp>
      <p:sp>
        <p:nvSpPr>
          <p:cNvPr id="1163" name="矩形 1162"/>
          <p:cNvSpPr/>
          <p:nvPr/>
        </p:nvSpPr>
        <p:spPr>
          <a:xfrm>
            <a:off x="914400" y="2676525"/>
            <a:ext cx="7239000" cy="28575"/>
          </a:xfrm>
          <a:prstGeom prst="rect">
            <a:avLst/>
          </a:prstGeom>
          <a:solidFill>
            <a:srgbClr val="3D7BD9"/>
          </a:solidFill>
        </p:spPr>
        <p:txBody>
          <a:bodyPr/>
          <a:p/>
        </p:txBody>
      </p:sp>
      <p:sp>
        <p:nvSpPr>
          <p:cNvPr id="1164" name="文本框 1163" descr="{&quot;isTemplate&quot;:true,&quot;type&quot;:&quot;text&quot;}"/>
          <p:cNvSpPr txBox="1"/>
          <p:nvPr/>
        </p:nvSpPr>
        <p:spPr>
          <a:xfrm>
            <a:off x="914400" y="2914650"/>
            <a:ext cx="8001000" cy="390525"/>
          </a:xfrm>
          <a:prstGeom prst="rect">
            <a:avLst/>
          </a:prstGeom>
        </p:spPr>
        <p:txBody>
          <a:bodyPr wrap="none" lIns="0" tIns="0" rIns="0" bIns="0"/>
          <a:p>
            <a:pPr>
              <a:lnSpc>
                <a:spcPct val="140000"/>
              </a:lnSpc>
            </a:pPr>
            <a:r>
              <a:rPr lang="zh-CN" sz="1800" b="1">
                <a:solidFill>
                  <a:srgbClr val="FFFFFF"/>
                </a:solidFill>
                <a:latin typeface="微软雅黑" panose="020B0503020204020204" charset="-122"/>
                <a:ea typeface="微软雅黑" panose="020B0503020204020204" charset="-122"/>
              </a:rPr>
              <a:t>为什么</a:t>
            </a:r>
            <a:r>
              <a:rPr lang="en-US" sz="1800" b="1">
                <a:solidFill>
                  <a:srgbClr val="FFFFFF"/>
                </a:solidFill>
                <a:latin typeface="微软雅黑" panose="020B0503020204020204" charset="-122"/>
                <a:ea typeface="微软雅黑" panose="020B0503020204020204" charset="-122"/>
              </a:rPr>
              <a:t> AI </a:t>
            </a:r>
            <a:r>
              <a:rPr lang="zh-CN" sz="1800" b="1">
                <a:solidFill>
                  <a:srgbClr val="FFFFFF"/>
                </a:solidFill>
                <a:latin typeface="微软雅黑" panose="020B0503020204020204" charset="-122"/>
                <a:ea typeface="微软雅黑" panose="020B0503020204020204" charset="-122"/>
              </a:rPr>
              <a:t>算力基础设施需要被重新理解为城市水系统负荷？</a:t>
            </a:r>
            <a:endParaRPr lang="zh-CN" sz="1800" b="1">
              <a:solidFill>
                <a:srgbClr val="FFFFFF"/>
              </a:solidFill>
              <a:latin typeface="微软雅黑" panose="020B0503020204020204" charset="-122"/>
              <a:ea typeface="微软雅黑" panose="020B0503020204020204" charset="-122"/>
            </a:endParaRPr>
          </a:p>
        </p:txBody>
      </p:sp>
      <p:sp>
        <p:nvSpPr>
          <p:cNvPr id="1165" name="文本框 1164" descr="{&quot;isTemplate&quot;:true,&quot;type&quot;:&quot;text&quot;}"/>
          <p:cNvSpPr txBox="1"/>
          <p:nvPr/>
        </p:nvSpPr>
        <p:spPr>
          <a:xfrm>
            <a:off x="914400" y="3409950"/>
            <a:ext cx="8001000" cy="209550"/>
          </a:xfrm>
          <a:prstGeom prst="rect">
            <a:avLst/>
          </a:prstGeom>
        </p:spPr>
        <p:txBody>
          <a:bodyPr wrap="none" lIns="0" tIns="0" rIns="0" bIns="0"/>
          <a:p>
            <a:pPr>
              <a:lnSpc>
                <a:spcPct val="100000"/>
              </a:lnSpc>
            </a:pPr>
            <a:r>
              <a:rPr lang="zh-CN" sz="1350" spc="75">
                <a:solidFill>
                  <a:srgbClr val="FFC107"/>
                </a:solidFill>
                <a:latin typeface="微软雅黑" panose="020B0503020204020204" charset="-122"/>
                <a:ea typeface="微软雅黑" panose="020B0503020204020204" charset="-122"/>
              </a:rPr>
              <a:t>连续负荷　｜　气候敏感冷却　｜　城市系统反馈</a:t>
            </a:r>
            <a:endParaRPr lang="zh-CN" sz="1350" spc="75">
              <a:solidFill>
                <a:srgbClr val="FFC107"/>
              </a:solidFill>
              <a:latin typeface="微软雅黑" panose="020B0503020204020204" charset="-122"/>
              <a:ea typeface="微软雅黑" panose="020B0503020204020204" charset="-122"/>
            </a:endParaRPr>
          </a:p>
        </p:txBody>
      </p:sp>
      <p:sp>
        <p:nvSpPr>
          <p:cNvPr id="1166" name="文本框 1165" descr="{&quot;isTemplate&quot;:true,&quot;type&quot;:&quot;text&quot;}"/>
          <p:cNvSpPr txBox="1"/>
          <p:nvPr/>
        </p:nvSpPr>
        <p:spPr>
          <a:xfrm>
            <a:off x="914400" y="6248400"/>
            <a:ext cx="723900" cy="190500"/>
          </a:xfrm>
          <a:prstGeom prst="rect">
            <a:avLst/>
          </a:prstGeom>
        </p:spPr>
        <p:txBody>
          <a:bodyPr wrap="none" lIns="0" tIns="0" rIns="0" bIns="0"/>
          <a:p>
            <a:pPr>
              <a:lnSpc>
                <a:spcPct val="100000"/>
              </a:lnSpc>
            </a:pPr>
            <a:r>
              <a:rPr lang="en-US" sz="1200">
                <a:solidFill>
                  <a:srgbClr val="7FA3D6"/>
                </a:solidFill>
                <a:latin typeface="微软雅黑" panose="020B0503020204020204" charset="-122"/>
                <a:ea typeface="微软雅黑" panose="020B0503020204020204" charset="-122"/>
              </a:rPr>
              <a:t>P04 – P07</a:t>
            </a:r>
            <a:endParaRPr lang="en-US" sz="1200">
              <a:solidFill>
                <a:srgbClr val="7FA3D6"/>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89"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bolt' style={{ fill: '#FFC107', width: 22, height: 22 }} /&gt;&#13;&#10;        &lt;/Box&gt;&#13;&#10;            &lt;Text style={{ fontSize: 29, fontWeight: 'bold', color: '#FFFFFF' }}&gt;AI算力扩张正在把计算需求转化为持续性城市物理负荷&lt;/Text&gt;&#13;&#10;        &lt;/Box&gt;&#13;&#10;        &lt;Box style={{ flexDirection: 'row', alignItems: 'center', gap: 10 }}&gt;&#13;&#10;            &lt;Text style={{ fontSize: 15, color: '#AFC6E8' }}&gt;01 研究背景与问题提出&lt;/Text&gt;&#13;&#10;            &lt;Box style={{ background: '#FFC107', paddingLeft: 9, paddingRight: 9, paddingTop: 3, paddingBottom: 3, borderRadius: 3, justifyContent: 'center', alignItems: 'center' }}&gt;&#13;&#10;                &lt;Text style={{ fontSize: 14, color: '#0B3A82', fontWeight: 'bold' }}&gt;04&lt;/Text&gt;&#13;&#10;            &lt;/Box&gt;&#13;&#10;        &lt;/Box&gt;&#13;&#10;    &lt;/Box&gt;&#13;&#10;    &lt;Box style={{ paddingLeft: 40, paddingRight: 40, paddingTop: 12, paddingBottom: 6, flexDirection: 'column', gap: 12 }}&gt;&#13;&#10;        &lt;Box style={{ background: '#0B3A82', paddingLeft: 20, paddingTop: 10, paddingBottom: 10, borderRadius: 4 }}&gt;&#13;&#10;            &lt;Text style={{ fontSize: 21, color: '#FFFFFF' }}&gt;计算活动沿&quot;服务需求—IT容量×负载率—IT功率—PUE折算—热负荷—冷却—补水与排污&quot;链条形成城市水系统增量负荷&lt;/Text&gt;&#13;&#10;        &lt;/Box&gt;&#13;&#10;        &lt;Box style={{ flexDirection: 'row', alignItems: 'center', gap: 6 }}&gt;&#13;&#10;            &lt;Box style={{ flex: 1, background: '#E8EFF8', borderTop: '4px solid #1E4FA8', paddingTop: 10, paddingBottom: 10, alignItems: 'center' }}&gt;&#13;&#10;                &lt;Text style={{ fontSize: 17, color: '#0E3F8C', fontWeight: 'bold' }}&gt;AI 服务需求&lt;/Text&gt;&#13;&#10;            &lt;/Box&gt;&#13;&#10;            &lt;FAIcon name='arrow-right' style={{ fill: '#3D7BD9', width: 14, height: 14 }} /&gt;&#13;&#10;            &lt;Box style={{ flex: 1, background: '#E8EFF8', borderTop: '4px solid #1E4FA8', paddingTop: 10, paddingBottom: 10, alignItems: 'center' }}&gt;&#13;&#10;                &lt;Text style={{ fontSize: 17, color: '#0E3F8C', fontWeight: 'bold' }}&gt;AI IT 容量&lt;/Text&gt;&#13;&#10;            &lt;/Box&gt;&#13;&#10;            &lt;FAIcon name='arrow-right' style={{ fill: '#3D7BD9', width: 14, height: 14 }} /&gt;&#13;&#10;            &lt;Box style={{ flex: 1, background: '#E8EFF8', borderTop: '4px solid #1E4FA8', paddingTop: 10, paddingBottom: 10, alignItems: 'center' }}&gt;&#13;&#10;                &lt;Text style={{ fontSize: 17, color: '#0E3F8C', fontWeight: 'bold' }}&gt;实际负载率&lt;/Text&gt;&#13;&#10;            &lt;/Box&gt;&#13;&#10;            &lt;FAIcon name='arrow-right' style={{ fill: '#3D7BD9', width: 14, height: 14 }} /&gt;&#13;&#10;            &lt;Box style={{ flex: 1, background: '#E8EFF8', borderTop: '4px solid #1E4FA8', paddingTop: 10, paddingBottom: 10, alignItems: 'center' }}&gt;&#13;&#10;                &lt;Text style={{ fontSize: 17, color: '#0E3F8C', fontWeight: 'bold' }}&gt;设施总能耗&#13;&#10;（PUE 折算）&lt;/Text&gt;&#13;&#10;            &lt;/Box&gt;&#13;&#10;            &lt;FAIcon name='arrow-right' style={{ fill: '#3D7BD9', width: 14, height: 14 }} /&gt;&#13;&#10;            &lt;Box style={{ flex: 1, background: '#E8EFF8', borderTop: '4px solid #1E4FA8', paddingTop: 10, paddingBottom: 10, alignItems: 'center' }}&gt;&#13;&#10;                &lt;Text style={{ fontSize: 17, color: '#0E3F8C', fontWeight: 'bold' }}&gt;热排散&lt;/Text&gt;&#13;&#10;            &lt;/Box&gt;&#13;&#10;            &lt;FAIcon name='arrow-right' style={{ fill: '#3D7BD9', width: 14, height: 14 }} /&gt;&#13;&#10;            &lt;Box style={{ flex: 1, background: '#E8EFF8', borderTop: '4px solid #1E4FA8', paddingTop: 10, paddingBottom: 10, alignItems: 'center' }}&gt;&#13;&#10;                &lt;Text style={{ fontSize: 17, color: '#0E3F8C', fontWeight: 'bold' }}&gt;冷却过程&lt;/Text&gt;&#13;&#10;            &lt;/Box&gt;&#13;&#10;            &lt;FAIcon name='arrow-right' style={{ fill: '#3D7BD9', width: 14, height: 14 }} /&gt;&#13;&#10;            &lt;Box style={{ flex: 1, background: '#1E4FA8', borderTop: '4px solid #FFC107', paddingTop: 10, paddingBottom: 10, alignItems: 'center' }}&gt;&#13;&#10;                &lt;Text style={{ fontSize: 17, color: '#FFFFFF', fontWeight: 'bold' }}&gt;城市水系统&#13;&#10;增量负荷&lt;/Text&gt;&#13;&#10;            &lt;/Box&gt;&#13;&#10;        &lt;/Box&gt;&#13;&#10;        &lt;Box style={{ flexDirection: 'row', gap: 14 }}&gt;&#13;&#10;            &lt;Box style={{ flex: 1, background: '#F7F9FC', border: '1px solid #D6DCE5', borderRadius: 6, padding: 18, flexDirection: 'column' }}&gt;&#13;&#10;                &lt;Box style={{ borderLeft: '5px solid #1E4FA8', paddingLeft: 12, marginBottom: 10 }}&gt;&#13;&#10;                    &lt;Text style={{ fontSize: 24, fontWeight: 'bold', color: '#0E3F8C' }}&gt;需求侧：负荷形态改变&lt;/Text&gt;&#13;&#10;                &lt;/Box&gt;&#13;&#10;                &lt;Text style={{ fontSize: 20, color: '#1A2230', lineHeight: 1.6 }}&gt;&#13;&#10;                    大模型规模与推理步数持续增加，智能体推向高频在线服务。功率与热流密度上升，冷却系统成为决定能耗与水耗的关键环节。&#13;&#10;                &lt;/Text&gt;&#13;&#10;                &lt;Box style={{ marginTop: 12, background: '#E8EFF8', paddingLeft: 12, paddingRight: 12, paddingTop: 8, paddingBottom: 8, borderRadius: 4 }}&gt;&#13;&#10;                    &lt;Text style={{ fontSize: 18, color: '#0E3F8C' }}&gt;连续运行 · 设备集中 · 供电散热可靠性要求高&lt;/Text&gt;&#13;&#10;                &lt;/Box&gt;&#13;&#10;            &lt;/Box&gt;&#13;&#10;            &lt;Box style={{ flex: 1, background: '#F7F9FC', border: '1px solid #D6DCE5', borderRadius: 6, padding: 18, flexDirection: 'column' }}&gt;&#13;&#10;                &lt;Box style={{ borderLeft: '5px solid #1E4FA8', paddingLeft: 12, marginBottom: 10 }}&gt;&#13;&#10;                    &lt;Text style={{ fontSize: 24, fontWeight: 'bold', color: '#0E3F8C' }}&gt;供给侧：水需求被多因素控制&lt;/Text&gt;&#13;&#10;                &lt;/Box&gt;&#13;&#10;                &lt;Text style={{ fontSize: 20, color: '#1A2230', lineHeight: 1.6 }}&gt;&#13;&#10;                    AI 水需求受湿球温度、冷却架构、负载率、浓缩倍数与水质共同影响。IEA 与 LBNL 核算支持从电力—热排散—冷却切入。&#13;&#10;                &lt;/Text&gt;&#13;&#10;                &lt;Box style={{ marginTop: 12, background: '#E8EFF8', paddingLeft: 12, paddingRight: 12, paddingTop: 8, paddingBottom: 8, borderRadius: 4 }}&gt;&#13;&#10;                    &lt;Text style={{ fontSize: 18, color: '#0E3F8C' }}&gt;IEA Energy and AI · LBNL 能耗报告 · de Vries (2023)&lt;/Text&gt;&#13;&#10;                &lt;/Box&gt;&#13;&#10;            &lt;/Box&gt;&#13;&#10;            &lt;Box style={{ flex: 1, background: '#0E3F8C', borderRadius: 6, padding: 18, flexDirection: 'column' }}&gt;&#13;&#10;                &lt;Box style={{ borderLeft: '5px solid #FFC107', paddingLeft: 12, marginBottom: 10 }}&gt;&#13;&#10;                    &lt;Text style={{ fontSize: 24, fontWeight: 'bold', color: '#FFFFFF' }}&gt;规划侧：需要新的节点认识&lt;/Text&gt;&#13;&#10;                &lt;/Box&gt;&#13;&#10;                &lt;Text style={{ fontSize: 20, color: '#E4EDF9', lineHeight: 1.6 }}&gt;&#13;&#10;                    传统规划把数据中心视为普通工业用户，水需求简化为年度总量。AI 负荷高且连续，进城市后既增加冷却蒸发，也增加污水与再生水源。&#13;&#10;                &lt;/Text&gt;&#13;&#10;                &lt;Box style={{ marginTop: 12, background: '#12489A', paddingLeft: 12, paddingRight: 12, paddingTop: 8, paddingBottom: 8, borderRadius: 4 }}&gt;&#13;&#10;                    &lt;Text style={{ fontSize: 18, color: '#FFC107', fontWeight: 'bold' }}&gt;结论：AI 数据中心是具有连续负荷、冷却耦合与回流效应的特殊城市水系统节点&lt;/Text&gt;&#13;&#10;                &lt;/Box&gt;&#13;&#10;            &lt;/Box&gt;&#13;&#10;        &lt;/Box&gt;&#13;&#10;        &lt;Box style={{ background: '#E8EFF8', borderLeft: '5px solid #1E4FA8', paddingLeft: 18, paddingTop: 10, paddingBottom: 10 }}&gt;&#13;&#10;            &lt;Text style={{ fontSize: 20, color: '#1A2230' }}&gt;因此需从城市系统而非单一设施出发，评价 AI 扩张的真实资源后果&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04 / 36&lt;/Text&gt;&#13;&#10;    &lt;/Box&gt;&#13;&#10;    &lt;Box style={{ position: 'absolute', left: 0, top: 72, width: 6, height: 608, flexDirection: 'column' }}&gt;&#13;&#10;                &lt;Box style={{ width: 6, height: 122, background: '#FFC107' }} /&gt;&#13;&#10;                &lt;Box style={{ width: 6, height: 122, background: '#C9D6E8' }} /&gt;&#13;&#10;                &lt;Box style={{ width: 6, height: 122, background: '#C9D6E8'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1490" name="矩形 1489"/>
          <p:cNvSpPr/>
          <p:nvPr/>
        </p:nvSpPr>
        <p:spPr>
          <a:xfrm>
            <a:off x="0" y="0"/>
            <a:ext cx="12192000" cy="6858000"/>
          </a:xfrm>
          <a:prstGeom prst="rect">
            <a:avLst/>
          </a:prstGeom>
          <a:solidFill>
            <a:srgbClr val="FFFFFF"/>
          </a:solidFill>
        </p:spPr>
        <p:txBody>
          <a:bodyPr/>
          <a:p/>
        </p:txBody>
      </p:sp>
      <p:sp>
        <p:nvSpPr>
          <p:cNvPr id="1491" name="矩形 1490"/>
          <p:cNvSpPr/>
          <p:nvPr/>
        </p:nvSpPr>
        <p:spPr>
          <a:xfrm>
            <a:off x="0" y="0"/>
            <a:ext cx="12192000" cy="685800"/>
          </a:xfrm>
          <a:prstGeom prst="rect">
            <a:avLst/>
          </a:prstGeom>
          <a:solidFill>
            <a:srgbClr val="0E3F8C"/>
          </a:solidFill>
        </p:spPr>
        <p:txBody>
          <a:bodyPr/>
          <a:p/>
        </p:txBody>
      </p:sp>
      <p:sp>
        <p:nvSpPr>
          <p:cNvPr id="1492" name="圆角矩形 1491"/>
          <p:cNvSpPr/>
          <p:nvPr/>
        </p:nvSpPr>
        <p:spPr>
          <a:xfrm>
            <a:off x="381000" y="152400"/>
            <a:ext cx="381000" cy="381000"/>
          </a:xfrm>
          <a:prstGeom prst="roundRect">
            <a:avLst>
              <a:gd name="adj" fmla="val 25000"/>
            </a:avLst>
          </a:prstGeom>
          <a:solidFill>
            <a:srgbClr val="12489A"/>
          </a:solidFill>
        </p:spPr>
        <p:txBody>
          <a:bodyPr/>
          <a:p/>
        </p:txBody>
      </p:sp>
      <p:pic>
        <p:nvPicPr>
          <p:cNvPr id="1493" name="图片 1492"/>
          <p:cNvPicPr>
            <a:picLocks noChangeAspect="1"/>
          </p:cNvPicPr>
          <p:nvPr/>
        </p:nvPicPr>
        <p:blipFill>
          <a:blip/>
          <a:stretch>
            <a:fillRect/>
          </a:stretch>
        </p:blipFill>
        <p:spPr>
          <a:xfrm>
            <a:off x="466725" y="238125"/>
            <a:ext cx="209550" cy="209550"/>
          </a:xfrm>
          <a:prstGeom prst="rect">
            <a:avLst/>
          </a:prstGeom>
        </p:spPr>
      </p:pic>
      <p:sp>
        <p:nvSpPr>
          <p:cNvPr id="1494" name="文本框 1493" descr="{&quot;isTemplate&quot;:true,&quot;type&quot;:&quot;text&quot;}"/>
          <p:cNvSpPr txBox="1"/>
          <p:nvPr/>
        </p:nvSpPr>
        <p:spPr>
          <a:xfrm>
            <a:off x="895350" y="180975"/>
            <a:ext cx="6657975" cy="333375"/>
          </a:xfrm>
          <a:prstGeom prst="rect">
            <a:avLst/>
          </a:prstGeom>
        </p:spPr>
        <p:txBody>
          <a:bodyPr wrap="none" lIns="0" tIns="0" rIns="0" bIns="0"/>
          <a:p>
            <a:pPr>
              <a:lnSpc>
                <a:spcPct val="100000"/>
              </a:lnSpc>
            </a:pPr>
            <a:r>
              <a:rPr lang="en-US" sz="2175" b="1">
                <a:solidFill>
                  <a:srgbClr val="FFFFFF"/>
                </a:solidFill>
                <a:latin typeface="微软雅黑" panose="020B0503020204020204" charset="-122"/>
                <a:ea typeface="微软雅黑" panose="020B0503020204020204" charset="-122"/>
              </a:rPr>
              <a:t>AI</a:t>
            </a:r>
            <a:r>
              <a:rPr lang="zh-CN" sz="2175" b="1">
                <a:solidFill>
                  <a:srgbClr val="FFFFFF"/>
                </a:solidFill>
                <a:latin typeface="微软雅黑" panose="020B0503020204020204" charset="-122"/>
                <a:ea typeface="微软雅黑" panose="020B0503020204020204" charset="-122"/>
              </a:rPr>
              <a:t>算力扩张正在把计算需求转化为持续性城市物理负荷</a:t>
            </a:r>
            <a:endParaRPr lang="zh-CN" sz="2175" b="1">
              <a:solidFill>
                <a:srgbClr val="FFFFFF"/>
              </a:solidFill>
              <a:latin typeface="微软雅黑" panose="020B0503020204020204" charset="-122"/>
              <a:ea typeface="微软雅黑" panose="020B0503020204020204" charset="-122"/>
            </a:endParaRPr>
          </a:p>
        </p:txBody>
      </p:sp>
      <p:sp>
        <p:nvSpPr>
          <p:cNvPr id="1495" name="文本框 1494" descr="{&quot;isTemplate&quot;:true,&quot;type&quot;:&quot;text&quot;}"/>
          <p:cNvSpPr txBox="1"/>
          <p:nvPr/>
        </p:nvSpPr>
        <p:spPr>
          <a:xfrm>
            <a:off x="9867900" y="266700"/>
            <a:ext cx="15049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01 </a:t>
            </a:r>
            <a:r>
              <a:rPr lang="zh-CN" sz="1125">
                <a:solidFill>
                  <a:srgbClr val="AFC6E8"/>
                </a:solidFill>
                <a:latin typeface="微软雅黑" panose="020B0503020204020204" charset="-122"/>
                <a:ea typeface="微软雅黑" panose="020B0503020204020204" charset="-122"/>
              </a:rPr>
              <a:t>研究背景与问题提出</a:t>
            </a:r>
            <a:endParaRPr lang="zh-CN" sz="1125">
              <a:solidFill>
                <a:srgbClr val="AFC6E8"/>
              </a:solidFill>
              <a:latin typeface="微软雅黑" panose="020B0503020204020204" charset="-122"/>
              <a:ea typeface="微软雅黑" panose="020B0503020204020204" charset="-122"/>
            </a:endParaRPr>
          </a:p>
        </p:txBody>
      </p:sp>
      <p:sp>
        <p:nvSpPr>
          <p:cNvPr id="1496" name="圆角矩形 1495"/>
          <p:cNvSpPr/>
          <p:nvPr/>
        </p:nvSpPr>
        <p:spPr>
          <a:xfrm>
            <a:off x="11468100" y="238125"/>
            <a:ext cx="342900" cy="219075"/>
          </a:xfrm>
          <a:prstGeom prst="roundRect">
            <a:avLst>
              <a:gd name="adj" fmla="val 13043"/>
            </a:avLst>
          </a:prstGeom>
          <a:solidFill>
            <a:srgbClr val="FFC107"/>
          </a:solidFill>
        </p:spPr>
        <p:txBody>
          <a:bodyPr/>
          <a:p/>
        </p:txBody>
      </p:sp>
      <p:sp>
        <p:nvSpPr>
          <p:cNvPr id="1497" name="文本框 1496"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04</a:t>
            </a:r>
            <a:endParaRPr lang="en-US" sz="1050" b="1">
              <a:solidFill>
                <a:srgbClr val="0B3A82"/>
              </a:solidFill>
              <a:latin typeface="微软雅黑" panose="020B0503020204020204" charset="-122"/>
              <a:ea typeface="微软雅黑" panose="020B0503020204020204" charset="-122"/>
            </a:endParaRPr>
          </a:p>
        </p:txBody>
      </p:sp>
      <p:sp>
        <p:nvSpPr>
          <p:cNvPr id="1498" name="圆角矩形 1497"/>
          <p:cNvSpPr/>
          <p:nvPr/>
        </p:nvSpPr>
        <p:spPr>
          <a:xfrm>
            <a:off x="381000" y="800100"/>
            <a:ext cx="11430000" cy="438150"/>
          </a:xfrm>
          <a:prstGeom prst="roundRect">
            <a:avLst>
              <a:gd name="adj" fmla="val 8696"/>
            </a:avLst>
          </a:prstGeom>
          <a:solidFill>
            <a:srgbClr val="0B3A82"/>
          </a:solidFill>
        </p:spPr>
        <p:txBody>
          <a:bodyPr/>
          <a:p/>
        </p:txBody>
      </p:sp>
      <p:sp>
        <p:nvSpPr>
          <p:cNvPr id="1499" name="文本框 1498"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计算活动沿</a:t>
            </a:r>
            <a:r>
              <a:rPr lang="en-US" sz="1575">
                <a:solidFill>
                  <a:srgbClr val="FFFFFF"/>
                </a:solidFill>
                <a:latin typeface="微软雅黑" panose="020B0503020204020204" charset="-122"/>
                <a:ea typeface="微软雅黑" panose="020B0503020204020204" charset="-122"/>
              </a:rPr>
              <a:t>"</a:t>
            </a:r>
            <a:r>
              <a:rPr lang="zh-CN" sz="1575" b="1">
                <a:solidFill>
                  <a:srgbClr val="FFC000"/>
                </a:solidFill>
                <a:latin typeface="微软雅黑" panose="020B0503020204020204" charset="-122"/>
                <a:ea typeface="微软雅黑" panose="020B0503020204020204" charset="-122"/>
              </a:rPr>
              <a:t>服务需求</a:t>
            </a:r>
            <a:r>
              <a:rPr lang="zh-CN" sz="1575">
                <a:solidFill>
                  <a:srgbClr val="FFFFFF"/>
                </a:solidFill>
                <a:latin typeface="微软雅黑" panose="020B0503020204020204" charset="-122"/>
                <a:ea typeface="微软雅黑" panose="020B0503020204020204" charset="-122"/>
              </a:rPr>
              <a:t>—</a:t>
            </a:r>
            <a:r>
              <a:rPr lang="en-US" sz="1575">
                <a:solidFill>
                  <a:srgbClr val="FFFFFF"/>
                </a:solidFill>
                <a:latin typeface="微软雅黑" panose="020B0503020204020204" charset="-122"/>
                <a:ea typeface="微软雅黑" panose="020B0503020204020204" charset="-122"/>
              </a:rPr>
              <a:t>IT</a:t>
            </a:r>
            <a:r>
              <a:rPr lang="zh-CN" sz="1575">
                <a:solidFill>
                  <a:srgbClr val="FFFFFF"/>
                </a:solidFill>
                <a:latin typeface="微软雅黑" panose="020B0503020204020204" charset="-122"/>
                <a:ea typeface="微软雅黑" panose="020B0503020204020204" charset="-122"/>
              </a:rPr>
              <a:t>容量×负载率—</a:t>
            </a:r>
            <a:r>
              <a:rPr lang="en-US" sz="1575" b="1">
                <a:solidFill>
                  <a:srgbClr val="FFC000"/>
                </a:solidFill>
                <a:latin typeface="微软雅黑" panose="020B0503020204020204" charset="-122"/>
                <a:ea typeface="微软雅黑" panose="020B0503020204020204" charset="-122"/>
              </a:rPr>
              <a:t>IT</a:t>
            </a:r>
            <a:r>
              <a:rPr lang="zh-CN" sz="1575" b="1">
                <a:solidFill>
                  <a:srgbClr val="FFC000"/>
                </a:solidFill>
                <a:latin typeface="微软雅黑" panose="020B0503020204020204" charset="-122"/>
                <a:ea typeface="微软雅黑" panose="020B0503020204020204" charset="-122"/>
              </a:rPr>
              <a:t>功率</a:t>
            </a:r>
            <a:r>
              <a:rPr lang="zh-CN" sz="1575">
                <a:solidFill>
                  <a:srgbClr val="FFFFFF"/>
                </a:solidFill>
                <a:latin typeface="微软雅黑" panose="020B0503020204020204" charset="-122"/>
                <a:ea typeface="微软雅黑" panose="020B0503020204020204" charset="-122"/>
              </a:rPr>
              <a:t>—</a:t>
            </a:r>
            <a:r>
              <a:rPr lang="en-US" sz="1575">
                <a:solidFill>
                  <a:srgbClr val="FFFFFF"/>
                </a:solidFill>
                <a:latin typeface="微软雅黑" panose="020B0503020204020204" charset="-122"/>
                <a:ea typeface="微软雅黑" panose="020B0503020204020204" charset="-122"/>
              </a:rPr>
              <a:t>PUE</a:t>
            </a:r>
            <a:r>
              <a:rPr lang="zh-CN" sz="1575">
                <a:solidFill>
                  <a:srgbClr val="FFFFFF"/>
                </a:solidFill>
                <a:latin typeface="微软雅黑" panose="020B0503020204020204" charset="-122"/>
                <a:ea typeface="微软雅黑" panose="020B0503020204020204" charset="-122"/>
              </a:rPr>
              <a:t>折算—热负荷—</a:t>
            </a:r>
            <a:r>
              <a:rPr lang="zh-CN" sz="1575" b="1">
                <a:solidFill>
                  <a:srgbClr val="FFC000"/>
                </a:solidFill>
                <a:latin typeface="微软雅黑" panose="020B0503020204020204" charset="-122"/>
                <a:ea typeface="微软雅黑" panose="020B0503020204020204" charset="-122"/>
              </a:rPr>
              <a:t>冷却</a:t>
            </a:r>
            <a:r>
              <a:rPr lang="zh-CN" sz="1575">
                <a:solidFill>
                  <a:srgbClr val="FFFFFF"/>
                </a:solidFill>
                <a:latin typeface="微软雅黑" panose="020B0503020204020204" charset="-122"/>
                <a:ea typeface="微软雅黑" panose="020B0503020204020204" charset="-122"/>
              </a:rPr>
              <a:t>—</a:t>
            </a:r>
            <a:r>
              <a:rPr lang="zh-CN" sz="1575" b="1">
                <a:solidFill>
                  <a:srgbClr val="FFC000"/>
                </a:solidFill>
                <a:latin typeface="微软雅黑" panose="020B0503020204020204" charset="-122"/>
                <a:ea typeface="微软雅黑" panose="020B0503020204020204" charset="-122"/>
              </a:rPr>
              <a:t>补水与排污</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链条形成城市水系统增量负荷</a:t>
            </a:r>
            <a:endParaRPr lang="zh-CN" sz="1575">
              <a:solidFill>
                <a:srgbClr val="FFFFFF"/>
              </a:solidFill>
              <a:latin typeface="微软雅黑" panose="020B0503020204020204" charset="-122"/>
              <a:ea typeface="微软雅黑" panose="020B0503020204020204" charset="-122"/>
            </a:endParaRPr>
          </a:p>
        </p:txBody>
      </p:sp>
      <p:sp>
        <p:nvSpPr>
          <p:cNvPr id="1500" name="矩形 1499"/>
          <p:cNvSpPr/>
          <p:nvPr/>
        </p:nvSpPr>
        <p:spPr>
          <a:xfrm>
            <a:off x="381000" y="1485900"/>
            <a:ext cx="1419225" cy="428625"/>
          </a:xfrm>
          <a:prstGeom prst="rect">
            <a:avLst/>
          </a:prstGeom>
          <a:solidFill>
            <a:srgbClr val="E8EFF8"/>
          </a:solidFill>
        </p:spPr>
        <p:txBody>
          <a:bodyPr/>
          <a:p/>
        </p:txBody>
      </p:sp>
      <p:sp>
        <p:nvSpPr>
          <p:cNvPr id="1501" name="任意多边形 1500"/>
          <p:cNvSpPr/>
          <p:nvPr/>
        </p:nvSpPr>
        <p:spPr>
          <a:xfrm>
            <a:off x="381000" y="1447800"/>
            <a:ext cx="1419225" cy="466725"/>
          </a:xfrm>
          <a:custGeom>
            <a:avLst/>
            <a:gdLst/>
            <a:ahLst/>
            <a:cxnLst/>
            <a:pathLst>
              <a:path w="149" h="49">
                <a:moveTo>
                  <a:pt x="0" y="0"/>
                </a:moveTo>
                <a:lnTo>
                  <a:pt x="149" y="0"/>
                </a:lnTo>
                <a:lnTo>
                  <a:pt x="149" y="4"/>
                </a:lnTo>
                <a:lnTo>
                  <a:pt x="0" y="4"/>
                </a:lnTo>
                <a:close/>
              </a:path>
            </a:pathLst>
          </a:custGeom>
          <a:solidFill>
            <a:srgbClr val="1E4FA8"/>
          </a:solidFill>
        </p:spPr>
        <p:txBody>
          <a:bodyPr/>
          <a:p/>
        </p:txBody>
      </p:sp>
      <p:sp>
        <p:nvSpPr>
          <p:cNvPr id="1502" name="文本框 1501" descr="{&quot;isTemplate&quot;:true,&quot;type&quot;:&quot;text&quot;}"/>
          <p:cNvSpPr txBox="1"/>
          <p:nvPr/>
        </p:nvSpPr>
        <p:spPr>
          <a:xfrm>
            <a:off x="657225" y="1581150"/>
            <a:ext cx="876300" cy="200025"/>
          </a:xfrm>
          <a:prstGeom prst="rect">
            <a:avLst/>
          </a:prstGeom>
        </p:spPr>
        <p:txBody>
          <a:bodyPr wrap="none" lIns="0" tIns="0" rIns="0" bIns="0"/>
          <a:p>
            <a:pPr>
              <a:lnSpc>
                <a:spcPct val="100000"/>
              </a:lnSpc>
            </a:pPr>
            <a:r>
              <a:rPr lang="en-US" sz="1275" b="1">
                <a:solidFill>
                  <a:srgbClr val="0E3F8C"/>
                </a:solidFill>
                <a:latin typeface="微软雅黑" panose="020B0503020204020204" charset="-122"/>
                <a:ea typeface="微软雅黑" panose="020B0503020204020204" charset="-122"/>
              </a:rPr>
              <a:t>AI </a:t>
            </a:r>
            <a:r>
              <a:rPr lang="zh-CN" sz="1275" b="1">
                <a:solidFill>
                  <a:srgbClr val="0E3F8C"/>
                </a:solidFill>
                <a:latin typeface="微软雅黑" panose="020B0503020204020204" charset="-122"/>
                <a:ea typeface="微软雅黑" panose="020B0503020204020204" charset="-122"/>
              </a:rPr>
              <a:t>服务需求</a:t>
            </a:r>
            <a:endParaRPr lang="zh-CN" sz="1275" b="1">
              <a:solidFill>
                <a:srgbClr val="0E3F8C"/>
              </a:solidFill>
              <a:latin typeface="微软雅黑" panose="020B0503020204020204" charset="-122"/>
              <a:ea typeface="微软雅黑" panose="020B0503020204020204" charset="-122"/>
            </a:endParaRPr>
          </a:p>
        </p:txBody>
      </p:sp>
      <p:pic>
        <p:nvPicPr>
          <p:cNvPr id="1503" name="图片 1502"/>
          <p:cNvPicPr>
            <a:picLocks noChangeAspect="1"/>
          </p:cNvPicPr>
          <p:nvPr/>
        </p:nvPicPr>
        <p:blipFill>
          <a:blip/>
          <a:stretch>
            <a:fillRect/>
          </a:stretch>
        </p:blipFill>
        <p:spPr>
          <a:xfrm>
            <a:off x="1857375" y="1600200"/>
            <a:ext cx="133350" cy="133350"/>
          </a:xfrm>
          <a:prstGeom prst="rect">
            <a:avLst/>
          </a:prstGeom>
        </p:spPr>
      </p:pic>
      <p:sp>
        <p:nvSpPr>
          <p:cNvPr id="1504" name="矩形 1503"/>
          <p:cNvSpPr/>
          <p:nvPr/>
        </p:nvSpPr>
        <p:spPr>
          <a:xfrm>
            <a:off x="2047875" y="1485900"/>
            <a:ext cx="1419225" cy="428625"/>
          </a:xfrm>
          <a:prstGeom prst="rect">
            <a:avLst/>
          </a:prstGeom>
          <a:solidFill>
            <a:srgbClr val="E8EFF8"/>
          </a:solidFill>
        </p:spPr>
        <p:txBody>
          <a:bodyPr/>
          <a:p/>
        </p:txBody>
      </p:sp>
      <p:sp>
        <p:nvSpPr>
          <p:cNvPr id="1505" name="任意多边形 1504"/>
          <p:cNvSpPr/>
          <p:nvPr/>
        </p:nvSpPr>
        <p:spPr>
          <a:xfrm>
            <a:off x="2047875" y="1447800"/>
            <a:ext cx="1419225" cy="466725"/>
          </a:xfrm>
          <a:custGeom>
            <a:avLst/>
            <a:gdLst/>
            <a:ahLst/>
            <a:cxnLst/>
            <a:pathLst>
              <a:path w="149" h="49">
                <a:moveTo>
                  <a:pt x="0" y="0"/>
                </a:moveTo>
                <a:lnTo>
                  <a:pt x="149" y="0"/>
                </a:lnTo>
                <a:lnTo>
                  <a:pt x="149" y="4"/>
                </a:lnTo>
                <a:lnTo>
                  <a:pt x="0" y="4"/>
                </a:lnTo>
                <a:close/>
              </a:path>
            </a:pathLst>
          </a:custGeom>
          <a:solidFill>
            <a:srgbClr val="1E4FA8"/>
          </a:solidFill>
        </p:spPr>
        <p:txBody>
          <a:bodyPr/>
          <a:p/>
        </p:txBody>
      </p:sp>
      <p:sp>
        <p:nvSpPr>
          <p:cNvPr id="1506" name="文本框 1505" descr="{&quot;isTemplate&quot;:true,&quot;type&quot;:&quot;text&quot;}"/>
          <p:cNvSpPr txBox="1"/>
          <p:nvPr/>
        </p:nvSpPr>
        <p:spPr>
          <a:xfrm>
            <a:off x="2381250" y="1581150"/>
            <a:ext cx="752475" cy="200025"/>
          </a:xfrm>
          <a:prstGeom prst="rect">
            <a:avLst/>
          </a:prstGeom>
        </p:spPr>
        <p:txBody>
          <a:bodyPr wrap="none" lIns="0" tIns="0" rIns="0" bIns="0"/>
          <a:p>
            <a:pPr>
              <a:lnSpc>
                <a:spcPct val="100000"/>
              </a:lnSpc>
            </a:pPr>
            <a:r>
              <a:rPr lang="en-US" sz="1275" b="1">
                <a:solidFill>
                  <a:srgbClr val="0E3F8C"/>
                </a:solidFill>
                <a:latin typeface="微软雅黑" panose="020B0503020204020204" charset="-122"/>
                <a:ea typeface="微软雅黑" panose="020B0503020204020204" charset="-122"/>
              </a:rPr>
              <a:t>AI IT </a:t>
            </a:r>
            <a:r>
              <a:rPr lang="zh-CN" sz="1275" b="1">
                <a:solidFill>
                  <a:srgbClr val="0E3F8C"/>
                </a:solidFill>
                <a:latin typeface="微软雅黑" panose="020B0503020204020204" charset="-122"/>
                <a:ea typeface="微软雅黑" panose="020B0503020204020204" charset="-122"/>
              </a:rPr>
              <a:t>容量</a:t>
            </a:r>
            <a:endParaRPr lang="zh-CN" sz="1275" b="1">
              <a:solidFill>
                <a:srgbClr val="0E3F8C"/>
              </a:solidFill>
              <a:latin typeface="微软雅黑" panose="020B0503020204020204" charset="-122"/>
              <a:ea typeface="微软雅黑" panose="020B0503020204020204" charset="-122"/>
            </a:endParaRPr>
          </a:p>
        </p:txBody>
      </p:sp>
      <p:pic>
        <p:nvPicPr>
          <p:cNvPr id="1507" name="图片 1506"/>
          <p:cNvPicPr>
            <a:picLocks noChangeAspect="1"/>
          </p:cNvPicPr>
          <p:nvPr/>
        </p:nvPicPr>
        <p:blipFill>
          <a:blip/>
          <a:stretch>
            <a:fillRect/>
          </a:stretch>
        </p:blipFill>
        <p:spPr>
          <a:xfrm>
            <a:off x="3524250" y="1600200"/>
            <a:ext cx="133350" cy="133350"/>
          </a:xfrm>
          <a:prstGeom prst="rect">
            <a:avLst/>
          </a:prstGeom>
        </p:spPr>
      </p:pic>
      <p:sp>
        <p:nvSpPr>
          <p:cNvPr id="1508" name="矩形 1507"/>
          <p:cNvSpPr/>
          <p:nvPr/>
        </p:nvSpPr>
        <p:spPr>
          <a:xfrm>
            <a:off x="3714750" y="1485900"/>
            <a:ext cx="1419225" cy="428625"/>
          </a:xfrm>
          <a:prstGeom prst="rect">
            <a:avLst/>
          </a:prstGeom>
          <a:solidFill>
            <a:srgbClr val="E8EFF8"/>
          </a:solidFill>
        </p:spPr>
        <p:txBody>
          <a:bodyPr/>
          <a:p/>
        </p:txBody>
      </p:sp>
      <p:sp>
        <p:nvSpPr>
          <p:cNvPr id="1509" name="任意多边形 1508"/>
          <p:cNvSpPr/>
          <p:nvPr/>
        </p:nvSpPr>
        <p:spPr>
          <a:xfrm>
            <a:off x="3714750" y="1447800"/>
            <a:ext cx="1419225" cy="466725"/>
          </a:xfrm>
          <a:custGeom>
            <a:avLst/>
            <a:gdLst/>
            <a:ahLst/>
            <a:cxnLst/>
            <a:pathLst>
              <a:path w="149" h="49">
                <a:moveTo>
                  <a:pt x="0" y="0"/>
                </a:moveTo>
                <a:lnTo>
                  <a:pt x="149" y="0"/>
                </a:lnTo>
                <a:lnTo>
                  <a:pt x="149" y="4"/>
                </a:lnTo>
                <a:lnTo>
                  <a:pt x="0" y="4"/>
                </a:lnTo>
                <a:close/>
              </a:path>
            </a:pathLst>
          </a:custGeom>
          <a:solidFill>
            <a:srgbClr val="1E4FA8"/>
          </a:solidFill>
        </p:spPr>
        <p:txBody>
          <a:bodyPr/>
          <a:p/>
        </p:txBody>
      </p:sp>
      <p:sp>
        <p:nvSpPr>
          <p:cNvPr id="1510" name="文本框 1509" descr="{&quot;isTemplate&quot;:true,&quot;type&quot;:&quot;text&quot;}"/>
          <p:cNvSpPr txBox="1"/>
          <p:nvPr/>
        </p:nvSpPr>
        <p:spPr>
          <a:xfrm>
            <a:off x="4019550" y="1581150"/>
            <a:ext cx="809625" cy="200025"/>
          </a:xfrm>
          <a:prstGeom prst="rect">
            <a:avLst/>
          </a:prstGeom>
        </p:spPr>
        <p:txBody>
          <a:bodyPr wrap="none" lIns="0" tIns="0" rIns="0" bIns="0"/>
          <a:p>
            <a:pPr>
              <a:lnSpc>
                <a:spcPct val="100000"/>
              </a:lnSpc>
            </a:pPr>
            <a:r>
              <a:rPr lang="zh-CN" sz="1275" b="1">
                <a:solidFill>
                  <a:srgbClr val="0E3F8C"/>
                </a:solidFill>
                <a:latin typeface="微软雅黑" panose="020B0503020204020204" charset="-122"/>
                <a:ea typeface="微软雅黑" panose="020B0503020204020204" charset="-122"/>
              </a:rPr>
              <a:t>实际负载率</a:t>
            </a:r>
            <a:endParaRPr lang="zh-CN" sz="1275" b="1">
              <a:solidFill>
                <a:srgbClr val="0E3F8C"/>
              </a:solidFill>
              <a:latin typeface="微软雅黑" panose="020B0503020204020204" charset="-122"/>
              <a:ea typeface="微软雅黑" panose="020B0503020204020204" charset="-122"/>
            </a:endParaRPr>
          </a:p>
        </p:txBody>
      </p:sp>
      <p:pic>
        <p:nvPicPr>
          <p:cNvPr id="1511" name="图片 1510"/>
          <p:cNvPicPr>
            <a:picLocks noChangeAspect="1"/>
          </p:cNvPicPr>
          <p:nvPr/>
        </p:nvPicPr>
        <p:blipFill>
          <a:blip/>
          <a:stretch>
            <a:fillRect/>
          </a:stretch>
        </p:blipFill>
        <p:spPr>
          <a:xfrm>
            <a:off x="5191125" y="1600200"/>
            <a:ext cx="133350" cy="133350"/>
          </a:xfrm>
          <a:prstGeom prst="rect">
            <a:avLst/>
          </a:prstGeom>
        </p:spPr>
      </p:pic>
      <p:sp>
        <p:nvSpPr>
          <p:cNvPr id="1512" name="矩形 1511"/>
          <p:cNvSpPr/>
          <p:nvPr/>
        </p:nvSpPr>
        <p:spPr>
          <a:xfrm>
            <a:off x="5381625" y="1390650"/>
            <a:ext cx="1428750" cy="619125"/>
          </a:xfrm>
          <a:prstGeom prst="rect">
            <a:avLst/>
          </a:prstGeom>
          <a:solidFill>
            <a:srgbClr val="E8EFF8"/>
          </a:solidFill>
        </p:spPr>
        <p:txBody>
          <a:bodyPr/>
          <a:p/>
        </p:txBody>
      </p:sp>
      <p:sp>
        <p:nvSpPr>
          <p:cNvPr id="1513" name="任意多边形 1512"/>
          <p:cNvSpPr/>
          <p:nvPr/>
        </p:nvSpPr>
        <p:spPr>
          <a:xfrm>
            <a:off x="5381625" y="1352550"/>
            <a:ext cx="1428750" cy="657225"/>
          </a:xfrm>
          <a:custGeom>
            <a:avLst/>
            <a:gdLst/>
            <a:ahLst/>
            <a:cxnLst/>
            <a:pathLst>
              <a:path w="150" h="69">
                <a:moveTo>
                  <a:pt x="0" y="0"/>
                </a:moveTo>
                <a:lnTo>
                  <a:pt x="150" y="0"/>
                </a:lnTo>
                <a:lnTo>
                  <a:pt x="150" y="4"/>
                </a:lnTo>
                <a:lnTo>
                  <a:pt x="0" y="4"/>
                </a:lnTo>
                <a:close/>
              </a:path>
            </a:pathLst>
          </a:custGeom>
          <a:solidFill>
            <a:srgbClr val="1E4FA8"/>
          </a:solidFill>
        </p:spPr>
        <p:txBody>
          <a:bodyPr/>
          <a:p/>
        </p:txBody>
      </p:sp>
      <p:sp>
        <p:nvSpPr>
          <p:cNvPr id="1514" name="文本框 1513" descr="{&quot;isTemplate&quot;:true,&quot;type&quot;:&quot;text&quot;}"/>
          <p:cNvSpPr txBox="1"/>
          <p:nvPr/>
        </p:nvSpPr>
        <p:spPr>
          <a:xfrm>
            <a:off x="5381625" y="1485900"/>
            <a:ext cx="1428750" cy="390525"/>
          </a:xfrm>
          <a:prstGeom prst="rect">
            <a:avLst/>
          </a:prstGeom>
        </p:spPr>
        <p:txBody>
          <a:bodyPr wrap="square" lIns="0" tIns="0" rIns="0" bIns="0">
            <a:normAutofit/>
          </a:bodyPr>
          <a:p>
            <a:pPr>
              <a:lnSpc>
                <a:spcPct val="100000"/>
              </a:lnSpc>
            </a:pPr>
            <a:r>
              <a:rPr lang="zh-CN" sz="1275" b="1">
                <a:solidFill>
                  <a:srgbClr val="0E3F8C"/>
                </a:solidFill>
                <a:latin typeface="微软雅黑" panose="020B0503020204020204" charset="-122"/>
                <a:ea typeface="微软雅黑" panose="020B0503020204020204" charset="-122"/>
              </a:rPr>
              <a:t>设施总能耗</a:t>
            </a:r>
            <a:r>
              <a:rPr lang="en-US" sz="1275" b="1">
                <a:solidFill>
                  <a:srgbClr val="0E3F8C"/>
                </a:solidFill>
                <a:latin typeface="微软雅黑" panose="020B0503020204020204" charset="-122"/>
                <a:ea typeface="微软雅黑" panose="020B0503020204020204" charset="-122"/>
              </a:rPr>
              <a:t> </a:t>
            </a:r>
            <a:r>
              <a:rPr lang="zh-CN" sz="1275" b="1">
                <a:solidFill>
                  <a:srgbClr val="0E3F8C"/>
                </a:solidFill>
                <a:latin typeface="微软雅黑" panose="020B0503020204020204" charset="-122"/>
                <a:ea typeface="微软雅黑" panose="020B0503020204020204" charset="-122"/>
              </a:rPr>
              <a:t>（</a:t>
            </a:r>
            <a:r>
              <a:rPr lang="en-US" sz="1275" b="1">
                <a:solidFill>
                  <a:srgbClr val="0E3F8C"/>
                </a:solidFill>
                <a:latin typeface="微软雅黑" panose="020B0503020204020204" charset="-122"/>
                <a:ea typeface="微软雅黑" panose="020B0503020204020204" charset="-122"/>
              </a:rPr>
              <a:t>PUE </a:t>
            </a:r>
            <a:r>
              <a:rPr lang="zh-CN" sz="1275" b="1">
                <a:solidFill>
                  <a:srgbClr val="0E3F8C"/>
                </a:solidFill>
                <a:latin typeface="微软雅黑" panose="020B0503020204020204" charset="-122"/>
                <a:ea typeface="微软雅黑" panose="020B0503020204020204" charset="-122"/>
              </a:rPr>
              <a:t>折算）</a:t>
            </a:r>
            <a:endParaRPr lang="zh-CN" sz="1275" b="1">
              <a:solidFill>
                <a:srgbClr val="0E3F8C"/>
              </a:solidFill>
              <a:latin typeface="微软雅黑" panose="020B0503020204020204" charset="-122"/>
              <a:ea typeface="微软雅黑" panose="020B0503020204020204" charset="-122"/>
            </a:endParaRPr>
          </a:p>
        </p:txBody>
      </p:sp>
      <p:pic>
        <p:nvPicPr>
          <p:cNvPr id="1515" name="图片 1514"/>
          <p:cNvPicPr>
            <a:picLocks noChangeAspect="1"/>
          </p:cNvPicPr>
          <p:nvPr/>
        </p:nvPicPr>
        <p:blipFill>
          <a:blip/>
          <a:stretch>
            <a:fillRect/>
          </a:stretch>
        </p:blipFill>
        <p:spPr>
          <a:xfrm>
            <a:off x="6867525" y="1600200"/>
            <a:ext cx="133350" cy="133350"/>
          </a:xfrm>
          <a:prstGeom prst="rect">
            <a:avLst/>
          </a:prstGeom>
        </p:spPr>
      </p:pic>
      <p:sp>
        <p:nvSpPr>
          <p:cNvPr id="1516" name="矩形 1515"/>
          <p:cNvSpPr/>
          <p:nvPr/>
        </p:nvSpPr>
        <p:spPr>
          <a:xfrm>
            <a:off x="7058025" y="1485900"/>
            <a:ext cx="1419225" cy="428625"/>
          </a:xfrm>
          <a:prstGeom prst="rect">
            <a:avLst/>
          </a:prstGeom>
          <a:solidFill>
            <a:srgbClr val="E8EFF8"/>
          </a:solidFill>
        </p:spPr>
        <p:txBody>
          <a:bodyPr/>
          <a:p/>
        </p:txBody>
      </p:sp>
      <p:sp>
        <p:nvSpPr>
          <p:cNvPr id="1517" name="任意多边形 1516"/>
          <p:cNvSpPr/>
          <p:nvPr/>
        </p:nvSpPr>
        <p:spPr>
          <a:xfrm>
            <a:off x="7058025" y="1447800"/>
            <a:ext cx="1419225" cy="466725"/>
          </a:xfrm>
          <a:custGeom>
            <a:avLst/>
            <a:gdLst/>
            <a:ahLst/>
            <a:cxnLst/>
            <a:pathLst>
              <a:path w="149" h="49">
                <a:moveTo>
                  <a:pt x="0" y="0"/>
                </a:moveTo>
                <a:lnTo>
                  <a:pt x="149" y="0"/>
                </a:lnTo>
                <a:lnTo>
                  <a:pt x="149" y="4"/>
                </a:lnTo>
                <a:lnTo>
                  <a:pt x="0" y="4"/>
                </a:lnTo>
                <a:close/>
              </a:path>
            </a:pathLst>
          </a:custGeom>
          <a:solidFill>
            <a:srgbClr val="1E4FA8"/>
          </a:solidFill>
        </p:spPr>
        <p:txBody>
          <a:bodyPr/>
          <a:p/>
        </p:txBody>
      </p:sp>
      <p:sp>
        <p:nvSpPr>
          <p:cNvPr id="1518" name="文本框 1517" descr="{&quot;isTemplate&quot;:true,&quot;type&quot;:&quot;text&quot;}"/>
          <p:cNvSpPr txBox="1"/>
          <p:nvPr/>
        </p:nvSpPr>
        <p:spPr>
          <a:xfrm>
            <a:off x="7524750" y="1581150"/>
            <a:ext cx="485775" cy="200025"/>
          </a:xfrm>
          <a:prstGeom prst="rect">
            <a:avLst/>
          </a:prstGeom>
        </p:spPr>
        <p:txBody>
          <a:bodyPr wrap="none" lIns="0" tIns="0" rIns="0" bIns="0"/>
          <a:p>
            <a:pPr>
              <a:lnSpc>
                <a:spcPct val="100000"/>
              </a:lnSpc>
            </a:pPr>
            <a:r>
              <a:rPr lang="zh-CN" sz="1275" b="1">
                <a:solidFill>
                  <a:srgbClr val="0E3F8C"/>
                </a:solidFill>
                <a:latin typeface="微软雅黑" panose="020B0503020204020204" charset="-122"/>
                <a:ea typeface="微软雅黑" panose="020B0503020204020204" charset="-122"/>
              </a:rPr>
              <a:t>热排散</a:t>
            </a:r>
            <a:endParaRPr lang="zh-CN" sz="1275" b="1">
              <a:solidFill>
                <a:srgbClr val="0E3F8C"/>
              </a:solidFill>
              <a:latin typeface="微软雅黑" panose="020B0503020204020204" charset="-122"/>
              <a:ea typeface="微软雅黑" panose="020B0503020204020204" charset="-122"/>
            </a:endParaRPr>
          </a:p>
        </p:txBody>
      </p:sp>
      <p:pic>
        <p:nvPicPr>
          <p:cNvPr id="1519" name="图片 1518"/>
          <p:cNvPicPr>
            <a:picLocks noChangeAspect="1"/>
          </p:cNvPicPr>
          <p:nvPr/>
        </p:nvPicPr>
        <p:blipFill>
          <a:blip/>
          <a:stretch>
            <a:fillRect/>
          </a:stretch>
        </p:blipFill>
        <p:spPr>
          <a:xfrm>
            <a:off x="8534400" y="1600200"/>
            <a:ext cx="133350" cy="133350"/>
          </a:xfrm>
          <a:prstGeom prst="rect">
            <a:avLst/>
          </a:prstGeom>
        </p:spPr>
      </p:pic>
      <p:sp>
        <p:nvSpPr>
          <p:cNvPr id="1520" name="矩形 1519"/>
          <p:cNvSpPr/>
          <p:nvPr/>
        </p:nvSpPr>
        <p:spPr>
          <a:xfrm>
            <a:off x="8724900" y="1485900"/>
            <a:ext cx="1419225" cy="428625"/>
          </a:xfrm>
          <a:prstGeom prst="rect">
            <a:avLst/>
          </a:prstGeom>
          <a:solidFill>
            <a:srgbClr val="E8EFF8"/>
          </a:solidFill>
        </p:spPr>
        <p:txBody>
          <a:bodyPr/>
          <a:p/>
        </p:txBody>
      </p:sp>
      <p:sp>
        <p:nvSpPr>
          <p:cNvPr id="1521" name="任意多边形 1520"/>
          <p:cNvSpPr/>
          <p:nvPr/>
        </p:nvSpPr>
        <p:spPr>
          <a:xfrm>
            <a:off x="8724900" y="1447800"/>
            <a:ext cx="1419225" cy="466725"/>
          </a:xfrm>
          <a:custGeom>
            <a:avLst/>
            <a:gdLst/>
            <a:ahLst/>
            <a:cxnLst/>
            <a:pathLst>
              <a:path w="149" h="49">
                <a:moveTo>
                  <a:pt x="0" y="0"/>
                </a:moveTo>
                <a:lnTo>
                  <a:pt x="149" y="0"/>
                </a:lnTo>
                <a:lnTo>
                  <a:pt x="149" y="4"/>
                </a:lnTo>
                <a:lnTo>
                  <a:pt x="0" y="4"/>
                </a:lnTo>
                <a:close/>
              </a:path>
            </a:pathLst>
          </a:custGeom>
          <a:solidFill>
            <a:srgbClr val="1E4FA8"/>
          </a:solidFill>
        </p:spPr>
        <p:txBody>
          <a:bodyPr/>
          <a:p/>
        </p:txBody>
      </p:sp>
      <p:sp>
        <p:nvSpPr>
          <p:cNvPr id="1522" name="文本框 1521" descr="{&quot;isTemplate&quot;:true,&quot;type&quot;:&quot;text&quot;}"/>
          <p:cNvSpPr txBox="1"/>
          <p:nvPr/>
        </p:nvSpPr>
        <p:spPr>
          <a:xfrm>
            <a:off x="9115425" y="1581150"/>
            <a:ext cx="647700" cy="200025"/>
          </a:xfrm>
          <a:prstGeom prst="rect">
            <a:avLst/>
          </a:prstGeom>
        </p:spPr>
        <p:txBody>
          <a:bodyPr wrap="none" lIns="0" tIns="0" rIns="0" bIns="0"/>
          <a:p>
            <a:pPr>
              <a:lnSpc>
                <a:spcPct val="100000"/>
              </a:lnSpc>
            </a:pPr>
            <a:r>
              <a:rPr lang="zh-CN" sz="1275" b="1">
                <a:solidFill>
                  <a:srgbClr val="0E3F8C"/>
                </a:solidFill>
                <a:latin typeface="微软雅黑" panose="020B0503020204020204" charset="-122"/>
                <a:ea typeface="微软雅黑" panose="020B0503020204020204" charset="-122"/>
              </a:rPr>
              <a:t>冷却过程</a:t>
            </a:r>
            <a:endParaRPr lang="zh-CN" sz="1275" b="1">
              <a:solidFill>
                <a:srgbClr val="0E3F8C"/>
              </a:solidFill>
              <a:latin typeface="微软雅黑" panose="020B0503020204020204" charset="-122"/>
              <a:ea typeface="微软雅黑" panose="020B0503020204020204" charset="-122"/>
            </a:endParaRPr>
          </a:p>
        </p:txBody>
      </p:sp>
      <p:pic>
        <p:nvPicPr>
          <p:cNvPr id="1523" name="图片 1522"/>
          <p:cNvPicPr>
            <a:picLocks noChangeAspect="1"/>
          </p:cNvPicPr>
          <p:nvPr/>
        </p:nvPicPr>
        <p:blipFill>
          <a:blip/>
          <a:stretch>
            <a:fillRect/>
          </a:stretch>
        </p:blipFill>
        <p:spPr>
          <a:xfrm>
            <a:off x="10201275" y="1600200"/>
            <a:ext cx="133350" cy="133350"/>
          </a:xfrm>
          <a:prstGeom prst="rect">
            <a:avLst/>
          </a:prstGeom>
        </p:spPr>
      </p:pic>
      <p:sp>
        <p:nvSpPr>
          <p:cNvPr id="1524" name="矩形 1523"/>
          <p:cNvSpPr/>
          <p:nvPr/>
        </p:nvSpPr>
        <p:spPr>
          <a:xfrm>
            <a:off x="10391775" y="1390650"/>
            <a:ext cx="1419225" cy="619125"/>
          </a:xfrm>
          <a:prstGeom prst="rect">
            <a:avLst/>
          </a:prstGeom>
          <a:solidFill>
            <a:srgbClr val="1E4FA8"/>
          </a:solidFill>
        </p:spPr>
        <p:txBody>
          <a:bodyPr/>
          <a:p/>
        </p:txBody>
      </p:sp>
      <p:sp>
        <p:nvSpPr>
          <p:cNvPr id="1525" name="任意多边形 1524"/>
          <p:cNvSpPr/>
          <p:nvPr/>
        </p:nvSpPr>
        <p:spPr>
          <a:xfrm>
            <a:off x="10391775" y="1352550"/>
            <a:ext cx="1419225" cy="657225"/>
          </a:xfrm>
          <a:custGeom>
            <a:avLst/>
            <a:gdLst/>
            <a:ahLst/>
            <a:cxnLst/>
            <a:pathLst>
              <a:path w="149" h="69">
                <a:moveTo>
                  <a:pt x="0" y="0"/>
                </a:moveTo>
                <a:lnTo>
                  <a:pt x="149" y="0"/>
                </a:lnTo>
                <a:lnTo>
                  <a:pt x="149" y="4"/>
                </a:lnTo>
                <a:lnTo>
                  <a:pt x="0" y="4"/>
                </a:lnTo>
                <a:close/>
              </a:path>
            </a:pathLst>
          </a:custGeom>
          <a:solidFill>
            <a:srgbClr val="FFC107"/>
          </a:solidFill>
        </p:spPr>
        <p:txBody>
          <a:bodyPr/>
          <a:p/>
        </p:txBody>
      </p:sp>
      <p:sp>
        <p:nvSpPr>
          <p:cNvPr id="1526" name="文本框 1525" descr="{&quot;isTemplate&quot;:true,&quot;type&quot;:&quot;text&quot;}"/>
          <p:cNvSpPr txBox="1"/>
          <p:nvPr/>
        </p:nvSpPr>
        <p:spPr>
          <a:xfrm>
            <a:off x="10391775" y="1485900"/>
            <a:ext cx="1419225" cy="390525"/>
          </a:xfrm>
          <a:prstGeom prst="rect">
            <a:avLst/>
          </a:prstGeom>
        </p:spPr>
        <p:txBody>
          <a:bodyPr wrap="square" lIns="0" tIns="0" rIns="0" bIns="0">
            <a:normAutofit/>
          </a:bodyPr>
          <a:p>
            <a:pPr>
              <a:lnSpc>
                <a:spcPct val="100000"/>
              </a:lnSpc>
            </a:pPr>
            <a:r>
              <a:rPr lang="zh-CN" sz="1275" b="1">
                <a:solidFill>
                  <a:srgbClr val="FFFFFF"/>
                </a:solidFill>
                <a:latin typeface="微软雅黑" panose="020B0503020204020204" charset="-122"/>
                <a:ea typeface="微软雅黑" panose="020B0503020204020204" charset="-122"/>
              </a:rPr>
              <a:t>城市水系统</a:t>
            </a:r>
            <a:r>
              <a:rPr lang="en-US" sz="1275" b="1">
                <a:solidFill>
                  <a:srgbClr val="FFFFFF"/>
                </a:solidFill>
                <a:latin typeface="微软雅黑" panose="020B0503020204020204" charset="-122"/>
                <a:ea typeface="微软雅黑" panose="020B0503020204020204" charset="-122"/>
              </a:rPr>
              <a:t> </a:t>
            </a:r>
            <a:r>
              <a:rPr lang="zh-CN" sz="1275" b="1">
                <a:solidFill>
                  <a:srgbClr val="FFFFFF"/>
                </a:solidFill>
                <a:latin typeface="微软雅黑" panose="020B0503020204020204" charset="-122"/>
                <a:ea typeface="微软雅黑" panose="020B0503020204020204" charset="-122"/>
              </a:rPr>
              <a:t>增量负荷</a:t>
            </a:r>
            <a:endParaRPr lang="zh-CN" sz="1275" b="1">
              <a:solidFill>
                <a:srgbClr val="FFFFFF"/>
              </a:solidFill>
              <a:latin typeface="微软雅黑" panose="020B0503020204020204" charset="-122"/>
              <a:ea typeface="微软雅黑" panose="020B0503020204020204" charset="-122"/>
            </a:endParaRPr>
          </a:p>
        </p:txBody>
      </p:sp>
      <p:sp>
        <p:nvSpPr>
          <p:cNvPr id="1527" name="圆角矩形 1526"/>
          <p:cNvSpPr/>
          <p:nvPr/>
        </p:nvSpPr>
        <p:spPr>
          <a:xfrm>
            <a:off x="381000" y="2085975"/>
            <a:ext cx="3724275" cy="2867025"/>
          </a:xfrm>
          <a:prstGeom prst="roundRect">
            <a:avLst>
              <a:gd name="adj" fmla="val 1993"/>
            </a:avLst>
          </a:prstGeom>
          <a:solidFill>
            <a:srgbClr val="F7F9FC"/>
          </a:solidFill>
          <a:ln w="12700">
            <a:solidFill>
              <a:srgbClr val="D6DCE5"/>
            </a:solidFill>
            <a:prstDash val="solid"/>
          </a:ln>
        </p:spPr>
        <p:txBody>
          <a:bodyPr/>
          <a:p/>
        </p:txBody>
      </p:sp>
      <p:sp>
        <p:nvSpPr>
          <p:cNvPr id="1528" name="任意多边形 1527"/>
          <p:cNvSpPr/>
          <p:nvPr/>
        </p:nvSpPr>
        <p:spPr>
          <a:xfrm>
            <a:off x="552450" y="2257425"/>
            <a:ext cx="3429000" cy="276225"/>
          </a:xfrm>
          <a:custGeom>
            <a:avLst/>
            <a:gdLst/>
            <a:ahLst/>
            <a:cxnLst/>
            <a:pathLst>
              <a:path w="360" h="29">
                <a:moveTo>
                  <a:pt x="0" y="0"/>
                </a:moveTo>
                <a:lnTo>
                  <a:pt x="5" y="0"/>
                </a:lnTo>
                <a:lnTo>
                  <a:pt x="5" y="29"/>
                </a:lnTo>
                <a:lnTo>
                  <a:pt x="0" y="29"/>
                </a:lnTo>
                <a:close/>
              </a:path>
            </a:pathLst>
          </a:custGeom>
          <a:solidFill>
            <a:srgbClr val="1E4FA8"/>
          </a:solidFill>
        </p:spPr>
        <p:txBody>
          <a:bodyPr/>
          <a:p/>
        </p:txBody>
      </p:sp>
      <p:sp>
        <p:nvSpPr>
          <p:cNvPr id="1529" name="文本框 1528" descr="{&quot;isTemplate&quot;:true,&quot;type&quot;:&quot;text&quot;}"/>
          <p:cNvSpPr txBox="1"/>
          <p:nvPr/>
        </p:nvSpPr>
        <p:spPr>
          <a:xfrm>
            <a:off x="714375" y="2257425"/>
            <a:ext cx="3219450" cy="276225"/>
          </a:xfrm>
          <a:prstGeom prst="rect">
            <a:avLst/>
          </a:prstGeom>
        </p:spPr>
        <p:txBody>
          <a:bodyPr wrap="none" lIns="0" tIns="0" rIns="0" bIns="0"/>
          <a:p>
            <a:pPr>
              <a:lnSpc>
                <a:spcPct val="100000"/>
              </a:lnSpc>
            </a:pPr>
            <a:r>
              <a:rPr lang="zh-CN" sz="1800" b="1">
                <a:solidFill>
                  <a:srgbClr val="0E3F8C"/>
                </a:solidFill>
                <a:latin typeface="微软雅黑" panose="020B0503020204020204" charset="-122"/>
                <a:ea typeface="微软雅黑" panose="020B0503020204020204" charset="-122"/>
              </a:rPr>
              <a:t>需求侧：负荷形态改变</a:t>
            </a:r>
            <a:endParaRPr lang="zh-CN" sz="1800" b="1">
              <a:solidFill>
                <a:srgbClr val="0E3F8C"/>
              </a:solidFill>
              <a:latin typeface="微软雅黑" panose="020B0503020204020204" charset="-122"/>
              <a:ea typeface="微软雅黑" panose="020B0503020204020204" charset="-122"/>
            </a:endParaRPr>
          </a:p>
        </p:txBody>
      </p:sp>
      <p:sp>
        <p:nvSpPr>
          <p:cNvPr id="1530" name="文本框 1529" descr="{&quot;isTemplate&quot;:true,&quot;type&quot;:&quot;text&quot;}"/>
          <p:cNvSpPr txBox="1"/>
          <p:nvPr/>
        </p:nvSpPr>
        <p:spPr>
          <a:xfrm>
            <a:off x="552450" y="2628900"/>
            <a:ext cx="3381375" cy="1466850"/>
          </a:xfrm>
          <a:prstGeom prst="rect">
            <a:avLst/>
          </a:prstGeom>
        </p:spPr>
        <p:txBody>
          <a:bodyPr wrap="square" lIns="0" tIns="0" rIns="0" bIns="0">
            <a:normAutofit/>
          </a:bodyPr>
          <a:p>
            <a:pPr>
              <a:lnSpc>
                <a:spcPct val="160000"/>
              </a:lnSpc>
            </a:pPr>
            <a:r>
              <a:rPr lang="zh-CN" sz="1500">
                <a:solidFill>
                  <a:srgbClr val="1A2230"/>
                </a:solidFill>
                <a:latin typeface="微软雅黑" panose="020B0503020204020204" charset="-122"/>
                <a:ea typeface="微软雅黑" panose="020B0503020204020204" charset="-122"/>
              </a:rPr>
              <a:t>大模型规模与推理步数持续增加，智能体推向高频在线服务。功率与热流密度上升，冷却系统成为决定能耗与水耗的关键环节。</a:t>
            </a:r>
            <a:endParaRPr lang="zh-CN" sz="1500">
              <a:solidFill>
                <a:srgbClr val="1A2230"/>
              </a:solidFill>
              <a:latin typeface="微软雅黑" panose="020B0503020204020204" charset="-122"/>
              <a:ea typeface="微软雅黑" panose="020B0503020204020204" charset="-122"/>
            </a:endParaRPr>
          </a:p>
        </p:txBody>
      </p:sp>
      <p:sp>
        <p:nvSpPr>
          <p:cNvPr id="1531" name="圆角矩形 1530"/>
          <p:cNvSpPr/>
          <p:nvPr/>
        </p:nvSpPr>
        <p:spPr>
          <a:xfrm>
            <a:off x="552450" y="4210050"/>
            <a:ext cx="3381375" cy="571500"/>
          </a:xfrm>
          <a:prstGeom prst="roundRect">
            <a:avLst>
              <a:gd name="adj" fmla="val 6667"/>
            </a:avLst>
          </a:prstGeom>
          <a:solidFill>
            <a:srgbClr val="E8EFF8"/>
          </a:solidFill>
        </p:spPr>
        <p:txBody>
          <a:bodyPr/>
          <a:p/>
        </p:txBody>
      </p:sp>
      <p:sp>
        <p:nvSpPr>
          <p:cNvPr id="1532" name="文本框 1531" descr="{&quot;isTemplate&quot;:true,&quot;type&quot;:&quot;text&quot;}"/>
          <p:cNvSpPr txBox="1"/>
          <p:nvPr/>
        </p:nvSpPr>
        <p:spPr>
          <a:xfrm>
            <a:off x="666750" y="4286250"/>
            <a:ext cx="3152775" cy="419100"/>
          </a:xfrm>
          <a:prstGeom prst="rect">
            <a:avLst/>
          </a:prstGeom>
        </p:spPr>
        <p:txBody>
          <a:bodyPr wrap="square" lIns="0" tIns="0" rIns="0" bIns="0">
            <a:normAutofit/>
          </a:bodyPr>
          <a:p>
            <a:pPr>
              <a:lnSpc>
                <a:spcPct val="100000"/>
              </a:lnSpc>
            </a:pPr>
            <a:r>
              <a:rPr lang="zh-CN" sz="1350">
                <a:solidFill>
                  <a:srgbClr val="0E3F8C"/>
                </a:solidFill>
                <a:latin typeface="微软雅黑" panose="020B0503020204020204" charset="-122"/>
                <a:ea typeface="微软雅黑" panose="020B0503020204020204" charset="-122"/>
              </a:rPr>
              <a:t>连续运行</a:t>
            </a:r>
            <a:r>
              <a:rPr lang="en-US" sz="1350">
                <a:solidFill>
                  <a:srgbClr val="0E3F8C"/>
                </a:solidFill>
                <a:latin typeface="微软雅黑" panose="020B0503020204020204" charset="-122"/>
                <a:ea typeface="微软雅黑" panose="020B0503020204020204" charset="-122"/>
              </a:rPr>
              <a:t> · </a:t>
            </a:r>
            <a:r>
              <a:rPr lang="zh-CN" sz="1350">
                <a:solidFill>
                  <a:srgbClr val="0E3F8C"/>
                </a:solidFill>
                <a:latin typeface="微软雅黑" panose="020B0503020204020204" charset="-122"/>
                <a:ea typeface="微软雅黑" panose="020B0503020204020204" charset="-122"/>
              </a:rPr>
              <a:t>设备集中</a:t>
            </a:r>
            <a:r>
              <a:rPr lang="en-US" sz="1350">
                <a:solidFill>
                  <a:srgbClr val="0E3F8C"/>
                </a:solidFill>
                <a:latin typeface="微软雅黑" panose="020B0503020204020204" charset="-122"/>
                <a:ea typeface="微软雅黑" panose="020B0503020204020204" charset="-122"/>
              </a:rPr>
              <a:t> · </a:t>
            </a:r>
            <a:r>
              <a:rPr lang="zh-CN" sz="1350">
                <a:solidFill>
                  <a:srgbClr val="0E3F8C"/>
                </a:solidFill>
                <a:latin typeface="微软雅黑" panose="020B0503020204020204" charset="-122"/>
                <a:ea typeface="微软雅黑" panose="020B0503020204020204" charset="-122"/>
              </a:rPr>
              <a:t>供电散热可靠性要求高</a:t>
            </a:r>
            <a:endParaRPr lang="zh-CN" sz="1350">
              <a:solidFill>
                <a:srgbClr val="0E3F8C"/>
              </a:solidFill>
              <a:latin typeface="微软雅黑" panose="020B0503020204020204" charset="-122"/>
              <a:ea typeface="微软雅黑" panose="020B0503020204020204" charset="-122"/>
            </a:endParaRPr>
          </a:p>
        </p:txBody>
      </p:sp>
      <p:sp>
        <p:nvSpPr>
          <p:cNvPr id="1533" name="圆角矩形 1532"/>
          <p:cNvSpPr/>
          <p:nvPr/>
        </p:nvSpPr>
        <p:spPr>
          <a:xfrm>
            <a:off x="4238625" y="2085975"/>
            <a:ext cx="3714750" cy="2867025"/>
          </a:xfrm>
          <a:prstGeom prst="roundRect">
            <a:avLst>
              <a:gd name="adj" fmla="val 1993"/>
            </a:avLst>
          </a:prstGeom>
          <a:solidFill>
            <a:srgbClr val="F7F9FC"/>
          </a:solidFill>
          <a:ln w="12700">
            <a:solidFill>
              <a:srgbClr val="D6DCE5"/>
            </a:solidFill>
            <a:prstDash val="solid"/>
          </a:ln>
        </p:spPr>
        <p:txBody>
          <a:bodyPr/>
          <a:p/>
        </p:txBody>
      </p:sp>
      <p:sp>
        <p:nvSpPr>
          <p:cNvPr id="1534" name="任意多边形 1533"/>
          <p:cNvSpPr/>
          <p:nvPr/>
        </p:nvSpPr>
        <p:spPr>
          <a:xfrm>
            <a:off x="4410075" y="2257425"/>
            <a:ext cx="3419475" cy="276225"/>
          </a:xfrm>
          <a:custGeom>
            <a:avLst/>
            <a:gdLst/>
            <a:ahLst/>
            <a:cxnLst/>
            <a:pathLst>
              <a:path w="359" h="29">
                <a:moveTo>
                  <a:pt x="0" y="0"/>
                </a:moveTo>
                <a:lnTo>
                  <a:pt x="5" y="0"/>
                </a:lnTo>
                <a:lnTo>
                  <a:pt x="5" y="29"/>
                </a:lnTo>
                <a:lnTo>
                  <a:pt x="0" y="29"/>
                </a:lnTo>
                <a:close/>
              </a:path>
            </a:pathLst>
          </a:custGeom>
          <a:solidFill>
            <a:srgbClr val="1E4FA8"/>
          </a:solidFill>
        </p:spPr>
        <p:txBody>
          <a:bodyPr/>
          <a:p/>
        </p:txBody>
      </p:sp>
      <p:sp>
        <p:nvSpPr>
          <p:cNvPr id="1535" name="文本框 1534" descr="{&quot;isTemplate&quot;:true,&quot;type&quot;:&quot;text&quot;}"/>
          <p:cNvSpPr txBox="1"/>
          <p:nvPr/>
        </p:nvSpPr>
        <p:spPr>
          <a:xfrm>
            <a:off x="4572000" y="2257425"/>
            <a:ext cx="3209925" cy="276225"/>
          </a:xfrm>
          <a:prstGeom prst="rect">
            <a:avLst/>
          </a:prstGeom>
        </p:spPr>
        <p:txBody>
          <a:bodyPr wrap="none" lIns="0" tIns="0" rIns="0" bIns="0"/>
          <a:p>
            <a:pPr>
              <a:lnSpc>
                <a:spcPct val="100000"/>
              </a:lnSpc>
            </a:pPr>
            <a:r>
              <a:rPr lang="zh-CN" sz="1800" b="1">
                <a:solidFill>
                  <a:srgbClr val="0E3F8C"/>
                </a:solidFill>
                <a:latin typeface="微软雅黑" panose="020B0503020204020204" charset="-122"/>
                <a:ea typeface="微软雅黑" panose="020B0503020204020204" charset="-122"/>
              </a:rPr>
              <a:t>供给侧：水需求被多因素控制</a:t>
            </a:r>
            <a:endParaRPr lang="zh-CN" sz="1800" b="1">
              <a:solidFill>
                <a:srgbClr val="0E3F8C"/>
              </a:solidFill>
              <a:latin typeface="微软雅黑" panose="020B0503020204020204" charset="-122"/>
              <a:ea typeface="微软雅黑" panose="020B0503020204020204" charset="-122"/>
            </a:endParaRPr>
          </a:p>
        </p:txBody>
      </p:sp>
      <p:sp>
        <p:nvSpPr>
          <p:cNvPr id="1536" name="文本框 1535" descr="{&quot;isTemplate&quot;:true,&quot;type&quot;:&quot;text&quot;}"/>
          <p:cNvSpPr txBox="1"/>
          <p:nvPr/>
        </p:nvSpPr>
        <p:spPr>
          <a:xfrm>
            <a:off x="4410075" y="2628900"/>
            <a:ext cx="3371850" cy="1466850"/>
          </a:xfrm>
          <a:prstGeom prst="rect">
            <a:avLst/>
          </a:prstGeom>
        </p:spPr>
        <p:txBody>
          <a:bodyPr wrap="square" lIns="0" tIns="0" rIns="0" bIns="0">
            <a:normAutofit/>
          </a:bodyPr>
          <a:p>
            <a:pPr>
              <a:lnSpc>
                <a:spcPct val="160000"/>
              </a:lnSpc>
            </a:pPr>
            <a:r>
              <a:rPr lang="en-US" sz="1500">
                <a:solidFill>
                  <a:srgbClr val="1A2230"/>
                </a:solidFill>
                <a:latin typeface="微软雅黑" panose="020B0503020204020204" charset="-122"/>
                <a:ea typeface="微软雅黑" panose="020B0503020204020204" charset="-122"/>
              </a:rPr>
              <a:t>AI </a:t>
            </a:r>
            <a:r>
              <a:rPr lang="zh-CN" sz="1500">
                <a:solidFill>
                  <a:srgbClr val="1A2230"/>
                </a:solidFill>
                <a:latin typeface="微软雅黑" panose="020B0503020204020204" charset="-122"/>
                <a:ea typeface="微软雅黑" panose="020B0503020204020204" charset="-122"/>
              </a:rPr>
              <a:t>水需求受湿球温度、冷却架构、负载率、浓缩倍数与水质共同影响。</a:t>
            </a:r>
            <a:r>
              <a:rPr lang="en-US" sz="1500">
                <a:solidFill>
                  <a:srgbClr val="1A2230"/>
                </a:solidFill>
                <a:latin typeface="微软雅黑" panose="020B0503020204020204" charset="-122"/>
                <a:ea typeface="微软雅黑" panose="020B0503020204020204" charset="-122"/>
              </a:rPr>
              <a:t>IEA </a:t>
            </a:r>
            <a:r>
              <a:rPr lang="zh-CN" sz="1500">
                <a:solidFill>
                  <a:srgbClr val="1A2230"/>
                </a:solidFill>
                <a:latin typeface="微软雅黑" panose="020B0503020204020204" charset="-122"/>
                <a:ea typeface="微软雅黑" panose="020B0503020204020204" charset="-122"/>
              </a:rPr>
              <a:t>与</a:t>
            </a:r>
            <a:r>
              <a:rPr lang="en-US" sz="1500">
                <a:solidFill>
                  <a:srgbClr val="1A2230"/>
                </a:solidFill>
                <a:latin typeface="微软雅黑" panose="020B0503020204020204" charset="-122"/>
                <a:ea typeface="微软雅黑" panose="020B0503020204020204" charset="-122"/>
              </a:rPr>
              <a:t> LBNL </a:t>
            </a:r>
            <a:r>
              <a:rPr lang="zh-CN" sz="1500">
                <a:solidFill>
                  <a:srgbClr val="1A2230"/>
                </a:solidFill>
                <a:latin typeface="微软雅黑" panose="020B0503020204020204" charset="-122"/>
                <a:ea typeface="微软雅黑" panose="020B0503020204020204" charset="-122"/>
              </a:rPr>
              <a:t>核算支持从电力—热排散—冷却切入。</a:t>
            </a:r>
            <a:endParaRPr lang="zh-CN" sz="1500">
              <a:solidFill>
                <a:srgbClr val="1A2230"/>
              </a:solidFill>
              <a:latin typeface="微软雅黑" panose="020B0503020204020204" charset="-122"/>
              <a:ea typeface="微软雅黑" panose="020B0503020204020204" charset="-122"/>
            </a:endParaRPr>
          </a:p>
        </p:txBody>
      </p:sp>
      <p:sp>
        <p:nvSpPr>
          <p:cNvPr id="1537" name="圆角矩形 1536"/>
          <p:cNvSpPr/>
          <p:nvPr/>
        </p:nvSpPr>
        <p:spPr>
          <a:xfrm>
            <a:off x="4410075" y="4210050"/>
            <a:ext cx="3371850" cy="571500"/>
          </a:xfrm>
          <a:prstGeom prst="roundRect">
            <a:avLst>
              <a:gd name="adj" fmla="val 6667"/>
            </a:avLst>
          </a:prstGeom>
          <a:solidFill>
            <a:srgbClr val="E8EFF8"/>
          </a:solidFill>
        </p:spPr>
        <p:txBody>
          <a:bodyPr/>
          <a:p/>
        </p:txBody>
      </p:sp>
      <p:sp>
        <p:nvSpPr>
          <p:cNvPr id="1538" name="文本框 1537" descr="{&quot;isTemplate&quot;:true,&quot;type&quot;:&quot;text&quot;}"/>
          <p:cNvSpPr txBox="1"/>
          <p:nvPr/>
        </p:nvSpPr>
        <p:spPr>
          <a:xfrm>
            <a:off x="4524375" y="4286250"/>
            <a:ext cx="3143250" cy="419100"/>
          </a:xfrm>
          <a:prstGeom prst="rect">
            <a:avLst/>
          </a:prstGeom>
        </p:spPr>
        <p:txBody>
          <a:bodyPr wrap="square" lIns="0" tIns="0" rIns="0" bIns="0">
            <a:normAutofit/>
          </a:bodyPr>
          <a:p>
            <a:pPr>
              <a:lnSpc>
                <a:spcPct val="100000"/>
              </a:lnSpc>
            </a:pPr>
            <a:r>
              <a:rPr lang="en-US" sz="1350">
                <a:solidFill>
                  <a:srgbClr val="0E3F8C"/>
                </a:solidFill>
                <a:latin typeface="微软雅黑" panose="020B0503020204020204" charset="-122"/>
                <a:ea typeface="微软雅黑" panose="020B0503020204020204" charset="-122"/>
              </a:rPr>
              <a:t>IEA Energy and AI · LBNL </a:t>
            </a:r>
            <a:r>
              <a:rPr lang="zh-CN" sz="1350">
                <a:solidFill>
                  <a:srgbClr val="0E3F8C"/>
                </a:solidFill>
                <a:latin typeface="微软雅黑" panose="020B0503020204020204" charset="-122"/>
                <a:ea typeface="微软雅黑" panose="020B0503020204020204" charset="-122"/>
              </a:rPr>
              <a:t>能耗报告</a:t>
            </a:r>
            <a:r>
              <a:rPr lang="en-US" sz="1350">
                <a:solidFill>
                  <a:srgbClr val="0E3F8C"/>
                </a:solidFill>
                <a:latin typeface="微软雅黑" panose="020B0503020204020204" charset="-122"/>
                <a:ea typeface="微软雅黑" panose="020B0503020204020204" charset="-122"/>
              </a:rPr>
              <a:t> · de Vries (2023)</a:t>
            </a:r>
            <a:endParaRPr lang="en-US" sz="1350">
              <a:solidFill>
                <a:srgbClr val="0E3F8C"/>
              </a:solidFill>
              <a:latin typeface="微软雅黑" panose="020B0503020204020204" charset="-122"/>
              <a:ea typeface="微软雅黑" panose="020B0503020204020204" charset="-122"/>
            </a:endParaRPr>
          </a:p>
        </p:txBody>
      </p:sp>
      <p:sp>
        <p:nvSpPr>
          <p:cNvPr id="1539" name="圆角矩形 1538"/>
          <p:cNvSpPr/>
          <p:nvPr/>
        </p:nvSpPr>
        <p:spPr>
          <a:xfrm>
            <a:off x="8086725" y="2085975"/>
            <a:ext cx="3724275" cy="2867025"/>
          </a:xfrm>
          <a:prstGeom prst="roundRect">
            <a:avLst>
              <a:gd name="adj" fmla="val 1993"/>
            </a:avLst>
          </a:prstGeom>
          <a:solidFill>
            <a:srgbClr val="0E3F8C"/>
          </a:solidFill>
        </p:spPr>
        <p:txBody>
          <a:bodyPr/>
          <a:p/>
        </p:txBody>
      </p:sp>
      <p:sp>
        <p:nvSpPr>
          <p:cNvPr id="1540" name="任意多边形 1539"/>
          <p:cNvSpPr/>
          <p:nvPr/>
        </p:nvSpPr>
        <p:spPr>
          <a:xfrm>
            <a:off x="8258175" y="2257425"/>
            <a:ext cx="3429000" cy="276225"/>
          </a:xfrm>
          <a:custGeom>
            <a:avLst/>
            <a:gdLst/>
            <a:ahLst/>
            <a:cxnLst/>
            <a:pathLst>
              <a:path w="360" h="29">
                <a:moveTo>
                  <a:pt x="0" y="0"/>
                </a:moveTo>
                <a:lnTo>
                  <a:pt x="5" y="0"/>
                </a:lnTo>
                <a:lnTo>
                  <a:pt x="5" y="29"/>
                </a:lnTo>
                <a:lnTo>
                  <a:pt x="0" y="29"/>
                </a:lnTo>
                <a:close/>
              </a:path>
            </a:pathLst>
          </a:custGeom>
          <a:solidFill>
            <a:srgbClr val="FFC107"/>
          </a:solidFill>
        </p:spPr>
        <p:txBody>
          <a:bodyPr/>
          <a:p/>
        </p:txBody>
      </p:sp>
      <p:sp>
        <p:nvSpPr>
          <p:cNvPr id="1541" name="文本框 1540" descr="{&quot;isTemplate&quot;:true,&quot;type&quot;:&quot;text&quot;}"/>
          <p:cNvSpPr txBox="1"/>
          <p:nvPr/>
        </p:nvSpPr>
        <p:spPr>
          <a:xfrm>
            <a:off x="8420100" y="2257425"/>
            <a:ext cx="3219450" cy="276225"/>
          </a:xfrm>
          <a:prstGeom prst="rect">
            <a:avLst/>
          </a:prstGeom>
        </p:spPr>
        <p:txBody>
          <a:bodyPr wrap="none" lIns="0" tIns="0" rIns="0" bIns="0"/>
          <a:p>
            <a:pPr>
              <a:lnSpc>
                <a:spcPct val="100000"/>
              </a:lnSpc>
            </a:pPr>
            <a:r>
              <a:rPr lang="zh-CN" sz="1800" b="1">
                <a:solidFill>
                  <a:srgbClr val="FFFFFF"/>
                </a:solidFill>
                <a:latin typeface="微软雅黑" panose="020B0503020204020204" charset="-122"/>
                <a:ea typeface="微软雅黑" panose="020B0503020204020204" charset="-122"/>
              </a:rPr>
              <a:t>规划侧：需要新的节点认识</a:t>
            </a:r>
            <a:endParaRPr lang="zh-CN" sz="1800" b="1">
              <a:solidFill>
                <a:srgbClr val="FFFFFF"/>
              </a:solidFill>
              <a:latin typeface="微软雅黑" panose="020B0503020204020204" charset="-122"/>
              <a:ea typeface="微软雅黑" panose="020B0503020204020204" charset="-122"/>
            </a:endParaRPr>
          </a:p>
        </p:txBody>
      </p:sp>
      <p:sp>
        <p:nvSpPr>
          <p:cNvPr id="1542" name="文本框 1541" descr="{&quot;isTemplate&quot;:true,&quot;type&quot;:&quot;text&quot;}"/>
          <p:cNvSpPr txBox="1"/>
          <p:nvPr/>
        </p:nvSpPr>
        <p:spPr>
          <a:xfrm>
            <a:off x="8258175" y="2628900"/>
            <a:ext cx="3381375" cy="1466850"/>
          </a:xfrm>
          <a:prstGeom prst="rect">
            <a:avLst/>
          </a:prstGeom>
        </p:spPr>
        <p:txBody>
          <a:bodyPr wrap="square" lIns="0" tIns="0" rIns="0" bIns="0">
            <a:normAutofit/>
          </a:bodyPr>
          <a:p>
            <a:pPr>
              <a:lnSpc>
                <a:spcPct val="160000"/>
              </a:lnSpc>
            </a:pPr>
            <a:r>
              <a:rPr lang="zh-CN" sz="1500">
                <a:solidFill>
                  <a:srgbClr val="E4EDF9"/>
                </a:solidFill>
                <a:latin typeface="微软雅黑" panose="020B0503020204020204" charset="-122"/>
                <a:ea typeface="微软雅黑" panose="020B0503020204020204" charset="-122"/>
              </a:rPr>
              <a:t>传统规划把数据中心视为普通工业用户，水需求简化为年度总量。</a:t>
            </a:r>
            <a:r>
              <a:rPr lang="en-US" sz="1500">
                <a:solidFill>
                  <a:srgbClr val="E4EDF9"/>
                </a:solidFill>
                <a:latin typeface="微软雅黑" panose="020B0503020204020204" charset="-122"/>
                <a:ea typeface="微软雅黑" panose="020B0503020204020204" charset="-122"/>
              </a:rPr>
              <a:t>AI </a:t>
            </a:r>
            <a:r>
              <a:rPr lang="zh-CN" sz="1500">
                <a:solidFill>
                  <a:srgbClr val="E4EDF9"/>
                </a:solidFill>
                <a:latin typeface="微软雅黑" panose="020B0503020204020204" charset="-122"/>
                <a:ea typeface="微软雅黑" panose="020B0503020204020204" charset="-122"/>
              </a:rPr>
              <a:t>负荷高且连续，进城市后既增加冷却蒸发，也增加污水与再生水源。</a:t>
            </a:r>
            <a:endParaRPr lang="zh-CN" sz="1500">
              <a:solidFill>
                <a:srgbClr val="E4EDF9"/>
              </a:solidFill>
              <a:latin typeface="微软雅黑" panose="020B0503020204020204" charset="-122"/>
              <a:ea typeface="微软雅黑" panose="020B0503020204020204" charset="-122"/>
            </a:endParaRPr>
          </a:p>
        </p:txBody>
      </p:sp>
      <p:sp>
        <p:nvSpPr>
          <p:cNvPr id="1543" name="圆角矩形 1542"/>
          <p:cNvSpPr/>
          <p:nvPr/>
        </p:nvSpPr>
        <p:spPr>
          <a:xfrm>
            <a:off x="8258175" y="4210050"/>
            <a:ext cx="3381375" cy="571500"/>
          </a:xfrm>
          <a:prstGeom prst="roundRect">
            <a:avLst>
              <a:gd name="adj" fmla="val 6667"/>
            </a:avLst>
          </a:prstGeom>
          <a:solidFill>
            <a:srgbClr val="12489A"/>
          </a:solidFill>
        </p:spPr>
        <p:txBody>
          <a:bodyPr/>
          <a:p/>
        </p:txBody>
      </p:sp>
      <p:sp>
        <p:nvSpPr>
          <p:cNvPr id="1544" name="文本框 1543" descr="{&quot;isTemplate&quot;:true,&quot;type&quot;:&quot;text&quot;}"/>
          <p:cNvSpPr txBox="1"/>
          <p:nvPr/>
        </p:nvSpPr>
        <p:spPr>
          <a:xfrm>
            <a:off x="8372475" y="4286250"/>
            <a:ext cx="3152775" cy="419100"/>
          </a:xfrm>
          <a:prstGeom prst="rect">
            <a:avLst/>
          </a:prstGeom>
        </p:spPr>
        <p:txBody>
          <a:bodyPr wrap="square" lIns="0" tIns="0" rIns="0" bIns="0">
            <a:normAutofit/>
          </a:bodyPr>
          <a:p>
            <a:pPr>
              <a:lnSpc>
                <a:spcPct val="100000"/>
              </a:lnSpc>
            </a:pPr>
            <a:r>
              <a:rPr lang="zh-CN" sz="1350" b="1">
                <a:solidFill>
                  <a:srgbClr val="FFC107"/>
                </a:solidFill>
                <a:latin typeface="微软雅黑" panose="020B0503020204020204" charset="-122"/>
                <a:ea typeface="微软雅黑" panose="020B0503020204020204" charset="-122"/>
              </a:rPr>
              <a:t>结论：</a:t>
            </a:r>
            <a:r>
              <a:rPr lang="en-US" sz="1350" b="1">
                <a:solidFill>
                  <a:srgbClr val="FFC107"/>
                </a:solidFill>
                <a:latin typeface="微软雅黑" panose="020B0503020204020204" charset="-122"/>
                <a:ea typeface="微软雅黑" panose="020B0503020204020204" charset="-122"/>
              </a:rPr>
              <a:t>AI </a:t>
            </a:r>
            <a:r>
              <a:rPr lang="zh-CN" sz="1350" b="1">
                <a:solidFill>
                  <a:srgbClr val="FFC107"/>
                </a:solidFill>
                <a:latin typeface="微软雅黑" panose="020B0503020204020204" charset="-122"/>
                <a:ea typeface="微软雅黑" panose="020B0503020204020204" charset="-122"/>
              </a:rPr>
              <a:t>数据中心是具有连续负荷、冷却耦合与回流效应的特殊城市水系统节点</a:t>
            </a:r>
            <a:endParaRPr lang="zh-CN" sz="1350" b="1">
              <a:solidFill>
                <a:srgbClr val="FFC107"/>
              </a:solidFill>
              <a:latin typeface="微软雅黑" panose="020B0503020204020204" charset="-122"/>
              <a:ea typeface="微软雅黑" panose="020B0503020204020204" charset="-122"/>
            </a:endParaRPr>
          </a:p>
        </p:txBody>
      </p:sp>
      <p:sp>
        <p:nvSpPr>
          <p:cNvPr id="1545" name="矩形 1544"/>
          <p:cNvSpPr/>
          <p:nvPr/>
        </p:nvSpPr>
        <p:spPr>
          <a:xfrm>
            <a:off x="428625" y="5067300"/>
            <a:ext cx="11430000" cy="419100"/>
          </a:xfrm>
          <a:prstGeom prst="rect">
            <a:avLst/>
          </a:prstGeom>
          <a:solidFill>
            <a:srgbClr val="E8EFF8"/>
          </a:solidFill>
        </p:spPr>
        <p:txBody>
          <a:bodyPr/>
          <a:p/>
        </p:txBody>
      </p:sp>
      <p:sp>
        <p:nvSpPr>
          <p:cNvPr id="1546" name="任意多边形 1545"/>
          <p:cNvSpPr/>
          <p:nvPr/>
        </p:nvSpPr>
        <p:spPr>
          <a:xfrm>
            <a:off x="381000" y="5067300"/>
            <a:ext cx="11477625" cy="419100"/>
          </a:xfrm>
          <a:custGeom>
            <a:avLst/>
            <a:gdLst/>
            <a:ahLst/>
            <a:cxnLst/>
            <a:pathLst>
              <a:path w="1205" h="44">
                <a:moveTo>
                  <a:pt x="0" y="0"/>
                </a:moveTo>
                <a:lnTo>
                  <a:pt x="5" y="0"/>
                </a:lnTo>
                <a:lnTo>
                  <a:pt x="5" y="44"/>
                </a:lnTo>
                <a:lnTo>
                  <a:pt x="0" y="44"/>
                </a:lnTo>
                <a:close/>
              </a:path>
            </a:pathLst>
          </a:custGeom>
          <a:solidFill>
            <a:srgbClr val="1E4FA8"/>
          </a:solidFill>
        </p:spPr>
        <p:txBody>
          <a:bodyPr/>
          <a:p/>
        </p:txBody>
      </p:sp>
      <p:sp>
        <p:nvSpPr>
          <p:cNvPr id="1547" name="文本框 1546" descr="{&quot;isTemplate&quot;:true,&quot;type&quot;:&quot;text&quot;}"/>
          <p:cNvSpPr txBox="1"/>
          <p:nvPr/>
        </p:nvSpPr>
        <p:spPr>
          <a:xfrm>
            <a:off x="600075" y="5162550"/>
            <a:ext cx="11210925" cy="228600"/>
          </a:xfrm>
          <a:prstGeom prst="rect">
            <a:avLst/>
          </a:prstGeom>
        </p:spPr>
        <p:txBody>
          <a:bodyPr wrap="none" lIns="0" tIns="0" rIns="0" bIns="0"/>
          <a:p>
            <a:pPr>
              <a:lnSpc>
                <a:spcPct val="100000"/>
              </a:lnSpc>
            </a:pPr>
            <a:r>
              <a:rPr lang="zh-CN" sz="1500">
                <a:solidFill>
                  <a:srgbClr val="1A2230"/>
                </a:solidFill>
                <a:latin typeface="微软雅黑" panose="020B0503020204020204" charset="-122"/>
                <a:ea typeface="微软雅黑" panose="020B0503020204020204" charset="-122"/>
              </a:rPr>
              <a:t>因此需从城市系统而非单一设施出发，评价</a:t>
            </a:r>
            <a:r>
              <a:rPr lang="en-US" sz="1500">
                <a:solidFill>
                  <a:srgbClr val="1A2230"/>
                </a:solidFill>
                <a:latin typeface="微软雅黑" panose="020B0503020204020204" charset="-122"/>
                <a:ea typeface="微软雅黑" panose="020B0503020204020204" charset="-122"/>
              </a:rPr>
              <a:t> AI </a:t>
            </a:r>
            <a:r>
              <a:rPr lang="zh-CN" sz="1500">
                <a:solidFill>
                  <a:srgbClr val="1A2230"/>
                </a:solidFill>
                <a:latin typeface="微软雅黑" panose="020B0503020204020204" charset="-122"/>
                <a:ea typeface="微软雅黑" panose="020B0503020204020204" charset="-122"/>
              </a:rPr>
              <a:t>扩张的真实资源后果</a:t>
            </a:r>
            <a:endParaRPr lang="zh-CN" sz="1500">
              <a:solidFill>
                <a:srgbClr val="1A2230"/>
              </a:solidFill>
              <a:latin typeface="微软雅黑" panose="020B0503020204020204" charset="-122"/>
              <a:ea typeface="微软雅黑" panose="020B0503020204020204" charset="-122"/>
            </a:endParaRPr>
          </a:p>
        </p:txBody>
      </p:sp>
      <p:sp>
        <p:nvSpPr>
          <p:cNvPr id="1548" name="任意多边形 1547"/>
          <p:cNvSpPr/>
          <p:nvPr/>
        </p:nvSpPr>
        <p:spPr>
          <a:xfrm>
            <a:off x="0" y="55435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549" name="文本框 1548" descr="{&quot;isTemplate&quot;:true,&quot;type&quot;:&quot;text&quot;}"/>
          <p:cNvSpPr txBox="1"/>
          <p:nvPr/>
        </p:nvSpPr>
        <p:spPr>
          <a:xfrm>
            <a:off x="381000" y="56578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550" name="文本框 1549" descr="{&quot;isTemplate&quot;:true,&quot;type&quot;:&quot;text&quot;}"/>
          <p:cNvSpPr txBox="1"/>
          <p:nvPr/>
        </p:nvSpPr>
        <p:spPr>
          <a:xfrm>
            <a:off x="11353800" y="56578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04 / 36</a:t>
            </a:r>
            <a:endParaRPr lang="en-US" sz="1050">
              <a:solidFill>
                <a:srgbClr val="1E4FA8"/>
              </a:solidFill>
              <a:latin typeface="微软雅黑" panose="020B0503020204020204" charset="-122"/>
              <a:ea typeface="微软雅黑" panose="020B0503020204020204" charset="-122"/>
            </a:endParaRPr>
          </a:p>
        </p:txBody>
      </p:sp>
      <p:sp>
        <p:nvSpPr>
          <p:cNvPr id="1551" name="矩形 1550"/>
          <p:cNvSpPr/>
          <p:nvPr/>
        </p:nvSpPr>
        <p:spPr>
          <a:xfrm>
            <a:off x="0" y="685800"/>
            <a:ext cx="57150" cy="1162050"/>
          </a:xfrm>
          <a:prstGeom prst="rect">
            <a:avLst/>
          </a:prstGeom>
          <a:solidFill>
            <a:srgbClr val="FFC107"/>
          </a:solidFill>
        </p:spPr>
        <p:txBody>
          <a:bodyPr/>
          <a:p/>
        </p:txBody>
      </p:sp>
      <p:sp>
        <p:nvSpPr>
          <p:cNvPr id="1552" name="矩形 1551"/>
          <p:cNvSpPr/>
          <p:nvPr/>
        </p:nvSpPr>
        <p:spPr>
          <a:xfrm>
            <a:off x="0" y="1847850"/>
            <a:ext cx="57150" cy="1162050"/>
          </a:xfrm>
          <a:prstGeom prst="rect">
            <a:avLst/>
          </a:prstGeom>
          <a:solidFill>
            <a:srgbClr val="C9D6E8"/>
          </a:solidFill>
        </p:spPr>
        <p:txBody>
          <a:bodyPr/>
          <a:p/>
        </p:txBody>
      </p:sp>
      <p:sp>
        <p:nvSpPr>
          <p:cNvPr id="1553" name="矩形 1552"/>
          <p:cNvSpPr/>
          <p:nvPr/>
        </p:nvSpPr>
        <p:spPr>
          <a:xfrm>
            <a:off x="0" y="3009900"/>
            <a:ext cx="57150" cy="1162050"/>
          </a:xfrm>
          <a:prstGeom prst="rect">
            <a:avLst/>
          </a:prstGeom>
          <a:solidFill>
            <a:srgbClr val="C9D6E8"/>
          </a:solidFill>
        </p:spPr>
        <p:txBody>
          <a:bodyPr/>
          <a:p/>
        </p:txBody>
      </p:sp>
      <p:sp>
        <p:nvSpPr>
          <p:cNvPr id="1554" name="矩形 1553"/>
          <p:cNvSpPr/>
          <p:nvPr/>
        </p:nvSpPr>
        <p:spPr>
          <a:xfrm>
            <a:off x="0" y="4171950"/>
            <a:ext cx="57150" cy="1162050"/>
          </a:xfrm>
          <a:prstGeom prst="rect">
            <a:avLst/>
          </a:prstGeom>
          <a:solidFill>
            <a:srgbClr val="C9D6E8"/>
          </a:solidFill>
        </p:spPr>
        <p:txBody>
          <a:bodyPr/>
          <a:p/>
        </p:txBody>
      </p:sp>
      <p:sp>
        <p:nvSpPr>
          <p:cNvPr id="1555" name="矩形 1554"/>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56"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scale-balanced' style={{ fill: '#FFC107', width: 22, height: 22 }} /&gt;&#13;&#10;        &lt;/Box&gt;&#13;&#10;            &lt;Text style={{ fontSize: 29, fontWeight: 'bold', color: '#FFFFFF' }}&gt;相同年度用水量可能对应完全不同的城市系统压力&lt;/Text&gt;&#13;&#10;        &lt;/Box&gt;&#13;&#10;        &lt;Box style={{ flexDirection: 'row', alignItems: 'center', gap: 10 }}&gt;&#13;&#10;            &lt;Text style={{ fontSize: 15, color: '#AFC6E8' }}&gt;01 研究背景与问题提出&lt;/Text&gt;&#13;&#10;            &lt;Box style={{ background: '#FFC107', paddingLeft: 9, paddingRight: 9, paddingTop: 3, paddingBottom: 3, borderRadius: 3, justifyContent: 'center', alignItems: 'center' }}&gt;&#13;&#10;                &lt;Text style={{ fontSize: 14, color: '#0B3A82', fontWeight: 'bold' }}&gt;05&lt;/Text&gt;&#13;&#10;            &lt;/Box&gt;&#13;&#10;        &lt;/Box&gt;&#13;&#10;    &lt;/Box&gt;&#13;&#10;    &lt;Box style={{ paddingLeft: 40, paddingRight: 40, paddingTop: 14, paddingBottom: 8, flexDirection: 'column', gap: 12 }}&gt;&#13;&#10;        &lt;Box style={{ background: '#0B3A82', paddingLeft: 20, paddingTop: 10, paddingBottom: 10, borderRadius: 4 }}&gt;&#13;&#10;            &lt;Text style={{ fontSize: 21, color: '#FFFFFF' }}&gt;设施水足迹存在&quot;同量异压&quot;现象：总量相同，时序与路径差异被掩盖&lt;/Text&gt;&#13;&#10;        &lt;/Box&gt;&#13;&#10;        &lt;Box style={{ flexDirection: 'row', gap: 14, height: 460 }}&gt;&#13;&#10;            &lt;Box style={{ width: 700, flexDirection: 'column', gap: 14 }}&gt;&#13;&#10;                &lt;Box style={{ flex: 1, background: '#F7F9FC', border: '1px solid #D6DCE5', borderLeft: '6px solid #D9534F', borderRadius: 6, padding: 16, flexDirection: 'column' }}&gt;&#13;&#10;                    &lt;Box style={{ flexDirection: 'row', alignItems: 'center', gap: 12, marginBottom: 8 }}&gt;&#13;&#10;                        &lt;Box style={{ background: '#D9534F', paddingLeft: 12, paddingRight: 12, paddingTop: 3, paddingBottom: 3, borderRadius: 3 }}&gt;&#13;&#10;                            &lt;Text style={{ fontSize: 18, color: '#FFFFFF', fontWeight: 'bold' }}&gt;情景 A&lt;/Text&gt;&#13;&#10;                        &lt;/Box&gt;&#13;&#10;                        &lt;Text style={{ fontSize: 22, fontWeight: 'bold', color: '#1A2230' }}&gt;概念情景 A：本地淡水为主，夏季高温时段湿式冷却集中取水&lt;/Text&gt;&#13;&#10;                    &lt;/Box&gt;&#13;&#10;                    &lt;Text style={{ fontSize: 19, color: '#1A2230', lineHeight: 1.5 }}&gt;&#13;&#10;                        年度补水量与情景 B 相同，但取水集中在最热月份且几乎全为淡水，极端高温周内取水许可与给水峰值能力更容易成为主导约束。&#13;&#10;                    &lt;/Text&gt;&#13;&#10;                    &lt;Box style={{ marginTop: 8, flexDirection: 'row', gap: 8 }}&gt;&#13;&#10;                        &lt;Box style={{ background: '#FDECEC', paddingLeft: 10, paddingRight: 10, paddingTop: 3, paddingBottom: 3, borderRadius: 3 }}&gt;&#13;&#10;                            &lt;Text style={{ fontSize: 17, color: '#D9534F' }}&gt;水源峰值约束&lt;/Text&gt;&#13;&#10;                        &lt;/Box&gt;&#13;&#10;                        &lt;Box style={{ background: '#FDECEC', paddingLeft: 10, paddingRight: 10, paddingTop: 3, paddingBottom: 3, borderRadius: 3 }}&gt;&#13;&#10;                            &lt;Text style={{ fontSize: 17, color: '#D9534F' }}&gt;给水能力约束&lt;/Text&gt;&#13;&#10;                        &lt;/Box&gt;&#13;&#10;                        &lt;Box style={{ background: '#FDECEC', paddingLeft: 10, paddingRight: 10, paddingTop: 3, paddingBottom: 3, borderRadius: 3 }}&gt;&#13;&#10;                            &lt;Text style={{ fontSize: 17, color: '#D9534F' }}&gt;淡水依赖率高&lt;/Text&gt;&#13;&#10;                        &lt;/Box&gt;&#13;&#10;                    &lt;/Box&gt;&#13;&#10;                &lt;/Box&gt;&#13;&#10;                &lt;Box style={{ flex: 1, background: '#F7F9FC', border: '1px solid #D6DCE5', borderLeft: '6px solid #1E4FA8', borderRadius: 6, padding: 16, flexDirection: 'column' }}&gt;&#13;&#10;                    &lt;Box style={{ flexDirection: 'row', alignItems: 'center', gap: 12, marginBottom: 8 }}&gt;&#13;&#10;                        &lt;Box style={{ background: '#1E4FA8', paddingLeft: 12, paddingRight: 12, paddingTop: 3, paddingBottom: 3, borderRadius: 3 }}&gt;&#13;&#10;                            &lt;Text style={{ fontSize: 18, color: '#FFFFFF', fontWeight: 'bold' }}&gt;情景 B&lt;/Text&gt;&#13;&#10;                        &lt;/Box&gt;&#13;&#10;                        &lt;Text style={{ fontSize: 22, fontWeight: 'bold', color: '#1A2230' }}&gt;概念情景 B：再生水为主，储水调蓄与干湿混合排热削峰&lt;/Text&gt;&#13;&#10;                    &lt;/Box&gt;&#13;&#10;                    &lt;Text style={{ fontSize: 19, color: '#1A2230', lineHeight: 1.5 }}&gt;&#13;&#10;                        年度补水量与情景 A 相同，但以再生水为主并削平峰值，压力转移到再生水处理输配与水质控制环节。&#13;&#10;                    &lt;/Text&gt;&#13;&#10;                    &lt;Box style={{ marginTop: 8, flexDirection: 'row', gap: 8 }}&gt;&#13;&#10;                        &lt;Box style={{ background: '#E8EFF8', paddingLeft: 10, paddingRight: 10, paddingTop: 3, paddingBottom: 3, borderRadius: 3 }}&gt;&#13;&#10;                            &lt;Text style={{ fontSize: 17, color: '#0E3F8C' }}&gt;再生水处理约束&lt;/Text&gt;&#13;&#10;                        &lt;/Box&gt;&#13;&#10;                        &lt;Box style={{ background: '#E8EFF8', paddingLeft: 10, paddingRight: 10, paddingTop: 3, paddingBottom: 3, borderRadius: 3 }}&gt;&#13;&#10;                            &lt;Text style={{ fontSize: 17, color: '#0E3F8C' }}&gt;输配能力约束&lt;/Text&gt;&#13;&#10;                        &lt;/Box&gt;&#13;&#10;                        &lt;Box style={{ background: '#E8EFF8', paddingLeft: 10, paddingRight: 10, paddingTop: 3, paddingBottom: 3, borderRadius: 3 }}&gt;&#13;&#10;                            &lt;Text style={{ fontSize: 17, color: '#0E3F8C' }}&gt;水质可接纳约束&lt;/Text&gt;&#13;&#10;                        &lt;/Box&gt;&#13;&#10;                    &lt;/Box&gt;&#13;&#10;                &lt;/Box&gt;&#13;&#10;            &lt;/Box&gt;&#13;&#10;            &lt;Box style={{ flex: 1, background: '#F0F5FC', border: '1px solid #D6DCE5', borderRadius: 6, padding: 18, flexDirection: 'column' }}&gt;&#13;&#10;                &lt;Box style={{ borderLeft: '5px solid #1E4FA8', paddingLeft: 12, marginBottom: 12 }}&gt;&#13;&#10;                    &lt;Text style={{ fontSize: 24, fontWeight: 'bold', color: '#0E3F8C' }}&gt;同量异压三维度：时间 · 来源 · 路径&lt;/Text&gt;&#13;&#10;                &lt;/Box&gt;&#13;&#10;                &lt;Text style={{ fontSize: 19, color: '#1A2230', lineHeight: 1.55 }}&gt;&#13;&#10;                    两个边界：设施所在地直接取水耗水，与发电环节异地间接足迹。二者位置与干预手段不同，相加会掩盖本地压力。&#13;&#10;                &lt;/Text&gt;&#13;&#10;                &lt;Text style={{ fontSize: 19, color: '#1A2230', lineHeight: 1.55, marginTop: 10 }}&gt;&#13;&#10;                    开放循环网络：原水处理后进入用户，部分蒸发离开，部分形成污水，出水可排放或再生回用。&#13;&#10;                &lt;/Text&gt;&#13;&#10;                &lt;Box style={{ marginTop: 12, background: '#0E3F8C', paddingLeft: 14, paddingRight: 14, paddingTop: 10, paddingBottom: 10, borderRadius: 4 }}&gt;&#13;&#10;                    &lt;Text style={{ fontSize: 19, color: '#FFC107', fontWeight: 'bold', lineHeight: 1.45 }}&gt;城市规划需要的是路径与峰值可靠性解释，不止年度总量&lt;/Text&gt;&#13;&#10;                &lt;/Box&gt;&#13;&#10;            &lt;/Box&gt;&#13;&#10;        &lt;/Box&gt;&#13;&#10;        &lt;Box style={{ background: '#E8EFF8', borderLeft: '5px solid #1E4FA8', paddingLeft: 18, paddingTop: 10, paddingBottom: 10 }}&gt;&#13;&#10;            &lt;Text style={{ fontSize: 20, color: '#1A2230' }}&gt;本研究追踪完整路径：从何处供应、何时峰值、多少消耗、多少回流&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05 / 36&lt;/Text&gt;&#13;&#10;    &lt;/Box&gt;&#13;&#10;    &lt;Box style={{ position: 'absolute', left: 0, top: 72, width: 6, height: 608, flexDirection: 'column' }}&gt;&#13;&#10;                &lt;Box style={{ width: 6, height: 122, background: '#FFC107' }} /&gt;&#13;&#10;                &lt;Box style={{ width: 6, height: 122, background: '#C9D6E8' }} /&gt;&#13;&#10;                &lt;Box style={{ width: 6, height: 122, background: '#C9D6E8'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1557" name="矩形 1556"/>
          <p:cNvSpPr/>
          <p:nvPr/>
        </p:nvSpPr>
        <p:spPr>
          <a:xfrm>
            <a:off x="0" y="0"/>
            <a:ext cx="12192000" cy="6858000"/>
          </a:xfrm>
          <a:prstGeom prst="rect">
            <a:avLst/>
          </a:prstGeom>
          <a:solidFill>
            <a:srgbClr val="FFFFFF"/>
          </a:solidFill>
        </p:spPr>
        <p:txBody>
          <a:bodyPr/>
          <a:p/>
        </p:txBody>
      </p:sp>
      <p:sp>
        <p:nvSpPr>
          <p:cNvPr id="1558" name="矩形 1557"/>
          <p:cNvSpPr/>
          <p:nvPr/>
        </p:nvSpPr>
        <p:spPr>
          <a:xfrm>
            <a:off x="0" y="0"/>
            <a:ext cx="12192000" cy="685800"/>
          </a:xfrm>
          <a:prstGeom prst="rect">
            <a:avLst/>
          </a:prstGeom>
          <a:solidFill>
            <a:srgbClr val="0E3F8C"/>
          </a:solidFill>
        </p:spPr>
        <p:txBody>
          <a:bodyPr/>
          <a:p/>
        </p:txBody>
      </p:sp>
      <p:sp>
        <p:nvSpPr>
          <p:cNvPr id="1559" name="圆角矩形 1558"/>
          <p:cNvSpPr/>
          <p:nvPr/>
        </p:nvSpPr>
        <p:spPr>
          <a:xfrm>
            <a:off x="381000" y="152400"/>
            <a:ext cx="381000" cy="381000"/>
          </a:xfrm>
          <a:prstGeom prst="roundRect">
            <a:avLst>
              <a:gd name="adj" fmla="val 25000"/>
            </a:avLst>
          </a:prstGeom>
          <a:solidFill>
            <a:srgbClr val="12489A"/>
          </a:solidFill>
        </p:spPr>
        <p:txBody>
          <a:bodyPr/>
          <a:p/>
        </p:txBody>
      </p:sp>
      <p:pic>
        <p:nvPicPr>
          <p:cNvPr id="1560" name="图片 1559"/>
          <p:cNvPicPr>
            <a:picLocks noChangeAspect="1"/>
          </p:cNvPicPr>
          <p:nvPr/>
        </p:nvPicPr>
        <p:blipFill>
          <a:blip/>
          <a:stretch>
            <a:fillRect/>
          </a:stretch>
        </p:blipFill>
        <p:spPr>
          <a:xfrm>
            <a:off x="466725" y="238125"/>
            <a:ext cx="209550" cy="209550"/>
          </a:xfrm>
          <a:prstGeom prst="rect">
            <a:avLst/>
          </a:prstGeom>
        </p:spPr>
      </p:pic>
      <p:sp>
        <p:nvSpPr>
          <p:cNvPr id="1561" name="文本框 1560" descr="{&quot;isTemplate&quot;:true,&quot;type&quot;:&quot;text&quot;}"/>
          <p:cNvSpPr txBox="1"/>
          <p:nvPr/>
        </p:nvSpPr>
        <p:spPr>
          <a:xfrm>
            <a:off x="895350" y="180975"/>
            <a:ext cx="607695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相同年度用水量可能对应完全不同的城市系统压力</a:t>
            </a:r>
            <a:endParaRPr lang="zh-CN" sz="2175" b="1">
              <a:solidFill>
                <a:srgbClr val="FFFFFF"/>
              </a:solidFill>
              <a:latin typeface="微软雅黑" panose="020B0503020204020204" charset="-122"/>
              <a:ea typeface="微软雅黑" panose="020B0503020204020204" charset="-122"/>
            </a:endParaRPr>
          </a:p>
        </p:txBody>
      </p:sp>
      <p:sp>
        <p:nvSpPr>
          <p:cNvPr id="1562" name="文本框 1561" descr="{&quot;isTemplate&quot;:true,&quot;type&quot;:&quot;text&quot;}"/>
          <p:cNvSpPr txBox="1"/>
          <p:nvPr/>
        </p:nvSpPr>
        <p:spPr>
          <a:xfrm>
            <a:off x="9867900" y="266700"/>
            <a:ext cx="15049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01 </a:t>
            </a:r>
            <a:r>
              <a:rPr lang="zh-CN" sz="1125">
                <a:solidFill>
                  <a:srgbClr val="AFC6E8"/>
                </a:solidFill>
                <a:latin typeface="微软雅黑" panose="020B0503020204020204" charset="-122"/>
                <a:ea typeface="微软雅黑" panose="020B0503020204020204" charset="-122"/>
              </a:rPr>
              <a:t>研究背景与问题提出</a:t>
            </a:r>
            <a:endParaRPr lang="zh-CN" sz="1125">
              <a:solidFill>
                <a:srgbClr val="AFC6E8"/>
              </a:solidFill>
              <a:latin typeface="微软雅黑" panose="020B0503020204020204" charset="-122"/>
              <a:ea typeface="微软雅黑" panose="020B0503020204020204" charset="-122"/>
            </a:endParaRPr>
          </a:p>
        </p:txBody>
      </p:sp>
      <p:sp>
        <p:nvSpPr>
          <p:cNvPr id="1563" name="圆角矩形 1562"/>
          <p:cNvSpPr/>
          <p:nvPr/>
        </p:nvSpPr>
        <p:spPr>
          <a:xfrm>
            <a:off x="11468100" y="238125"/>
            <a:ext cx="342900" cy="219075"/>
          </a:xfrm>
          <a:prstGeom prst="roundRect">
            <a:avLst>
              <a:gd name="adj" fmla="val 13043"/>
            </a:avLst>
          </a:prstGeom>
          <a:solidFill>
            <a:srgbClr val="FFC107"/>
          </a:solidFill>
        </p:spPr>
        <p:txBody>
          <a:bodyPr/>
          <a:p/>
        </p:txBody>
      </p:sp>
      <p:sp>
        <p:nvSpPr>
          <p:cNvPr id="1564" name="文本框 1563"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05</a:t>
            </a:r>
            <a:endParaRPr lang="en-US" sz="1050" b="1">
              <a:solidFill>
                <a:srgbClr val="0B3A82"/>
              </a:solidFill>
              <a:latin typeface="微软雅黑" panose="020B0503020204020204" charset="-122"/>
              <a:ea typeface="微软雅黑" panose="020B0503020204020204" charset="-122"/>
            </a:endParaRPr>
          </a:p>
        </p:txBody>
      </p:sp>
      <p:sp>
        <p:nvSpPr>
          <p:cNvPr id="1565" name="圆角矩形 1564"/>
          <p:cNvSpPr/>
          <p:nvPr/>
        </p:nvSpPr>
        <p:spPr>
          <a:xfrm>
            <a:off x="381000" y="819150"/>
            <a:ext cx="11430000" cy="438150"/>
          </a:xfrm>
          <a:prstGeom prst="roundRect">
            <a:avLst>
              <a:gd name="adj" fmla="val 8696"/>
            </a:avLst>
          </a:prstGeom>
          <a:solidFill>
            <a:srgbClr val="0B3A82"/>
          </a:solidFill>
        </p:spPr>
        <p:txBody>
          <a:bodyPr/>
          <a:p/>
        </p:txBody>
      </p:sp>
      <p:sp>
        <p:nvSpPr>
          <p:cNvPr id="1566" name="文本框 1565" descr="{&quot;isTemplate&quot;:true,&quot;type&quot;:&quot;text&quot;}"/>
          <p:cNvSpPr txBox="1"/>
          <p:nvPr/>
        </p:nvSpPr>
        <p:spPr>
          <a:xfrm>
            <a:off x="571500" y="91440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设施水足迹存在</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同量异压</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现象：总量相同，时序与路径差异被掩盖</a:t>
            </a:r>
            <a:endParaRPr lang="zh-CN" sz="1575">
              <a:solidFill>
                <a:srgbClr val="FFFFFF"/>
              </a:solidFill>
              <a:latin typeface="微软雅黑" panose="020B0503020204020204" charset="-122"/>
              <a:ea typeface="微软雅黑" panose="020B0503020204020204" charset="-122"/>
            </a:endParaRPr>
          </a:p>
        </p:txBody>
      </p:sp>
      <p:sp>
        <p:nvSpPr>
          <p:cNvPr id="1567" name="圆角矩形 1566"/>
          <p:cNvSpPr/>
          <p:nvPr/>
        </p:nvSpPr>
        <p:spPr>
          <a:xfrm>
            <a:off x="438150" y="1371600"/>
            <a:ext cx="6667500" cy="2124075"/>
          </a:xfrm>
          <a:prstGeom prst="roundRect">
            <a:avLst>
              <a:gd name="adj" fmla="val 2691"/>
            </a:avLst>
          </a:prstGeom>
          <a:solidFill>
            <a:srgbClr val="F7F9FC"/>
          </a:solidFill>
        </p:spPr>
        <p:txBody>
          <a:bodyPr/>
          <a:p/>
        </p:txBody>
      </p:sp>
      <p:sp>
        <p:nvSpPr>
          <p:cNvPr id="1568" name="任意多边形 1567"/>
          <p:cNvSpPr/>
          <p:nvPr/>
        </p:nvSpPr>
        <p:spPr>
          <a:xfrm>
            <a:off x="438150" y="1371600"/>
            <a:ext cx="6667500" cy="2124075"/>
          </a:xfrm>
          <a:custGeom>
            <a:avLst/>
            <a:gdLst/>
            <a:ahLst/>
            <a:cxnLst/>
            <a:pathLst>
              <a:path w="700" h="223">
                <a:moveTo>
                  <a:pt x="6" y="223"/>
                </a:moveTo>
                <a:cubicBezTo>
                  <a:pt x="3" y="223"/>
                  <a:pt x="0" y="220"/>
                  <a:pt x="0" y="217"/>
                </a:cubicBezTo>
                <a:lnTo>
                  <a:pt x="0" y="6"/>
                </a:lnTo>
                <a:cubicBezTo>
                  <a:pt x="0" y="4"/>
                  <a:pt x="1" y="3"/>
                  <a:pt x="2" y="2"/>
                </a:cubicBezTo>
                <a:cubicBezTo>
                  <a:pt x="3" y="1"/>
                  <a:pt x="4" y="0"/>
                  <a:pt x="6" y="0"/>
                </a:cubicBezTo>
                <a:lnTo>
                  <a:pt x="6" y="223"/>
                </a:lnTo>
                <a:close/>
              </a:path>
            </a:pathLst>
          </a:custGeom>
          <a:solidFill>
            <a:srgbClr val="D9534F"/>
          </a:solidFill>
        </p:spPr>
        <p:txBody>
          <a:bodyPr/>
          <a:p/>
        </p:txBody>
      </p:sp>
      <p:sp>
        <p:nvSpPr>
          <p:cNvPr id="1569" name="圆角矩形 1568"/>
          <p:cNvSpPr/>
          <p:nvPr/>
        </p:nvSpPr>
        <p:spPr>
          <a:xfrm>
            <a:off x="590550" y="1524000"/>
            <a:ext cx="723900" cy="266700"/>
          </a:xfrm>
          <a:prstGeom prst="roundRect">
            <a:avLst>
              <a:gd name="adj" fmla="val 10714"/>
            </a:avLst>
          </a:prstGeom>
          <a:solidFill>
            <a:srgbClr val="D9534F"/>
          </a:solidFill>
        </p:spPr>
        <p:txBody>
          <a:bodyPr/>
          <a:p/>
        </p:txBody>
      </p:sp>
      <p:sp>
        <p:nvSpPr>
          <p:cNvPr id="1570" name="文本框 1569" descr="{&quot;isTemplate&quot;:true,&quot;type&quot;:&quot;text&quot;}"/>
          <p:cNvSpPr txBox="1"/>
          <p:nvPr/>
        </p:nvSpPr>
        <p:spPr>
          <a:xfrm>
            <a:off x="704850" y="1552575"/>
            <a:ext cx="495300" cy="419100"/>
          </a:xfrm>
          <a:prstGeom prst="rect">
            <a:avLst/>
          </a:prstGeom>
        </p:spPr>
        <p:txBody>
          <a:bodyPr wrap="square" lIns="0" tIns="0" rIns="0" bIns="0">
            <a:normAutofit/>
          </a:bodyPr>
          <a:p>
            <a:pPr>
              <a:lnSpc>
                <a:spcPct val="100000"/>
              </a:lnSpc>
            </a:pPr>
            <a:r>
              <a:rPr lang="zh-CN" sz="1350" b="1">
                <a:solidFill>
                  <a:srgbClr val="FFFFFF"/>
                </a:solidFill>
                <a:latin typeface="微软雅黑" panose="020B0503020204020204" charset="-122"/>
                <a:ea typeface="微软雅黑" panose="020B0503020204020204" charset="-122"/>
              </a:rPr>
              <a:t>情景</a:t>
            </a:r>
            <a:r>
              <a:rPr lang="en-US" sz="1350" b="1">
                <a:solidFill>
                  <a:srgbClr val="FFFFFF"/>
                </a:solidFill>
                <a:latin typeface="微软雅黑" panose="020B0503020204020204" charset="-122"/>
                <a:ea typeface="微软雅黑" panose="020B0503020204020204" charset="-122"/>
              </a:rPr>
              <a:t> A</a:t>
            </a:r>
            <a:endParaRPr lang="en-US" sz="1350" b="1">
              <a:solidFill>
                <a:srgbClr val="FFFFFF"/>
              </a:solidFill>
              <a:latin typeface="微软雅黑" panose="020B0503020204020204" charset="-122"/>
              <a:ea typeface="微软雅黑" panose="020B0503020204020204" charset="-122"/>
            </a:endParaRPr>
          </a:p>
        </p:txBody>
      </p:sp>
      <p:sp>
        <p:nvSpPr>
          <p:cNvPr id="1571" name="文本框 1570" descr="{&quot;isTemplate&quot;:true,&quot;type&quot;:&quot;text&quot;}"/>
          <p:cNvSpPr txBox="1"/>
          <p:nvPr/>
        </p:nvSpPr>
        <p:spPr>
          <a:xfrm>
            <a:off x="1428750" y="1533525"/>
            <a:ext cx="5467350" cy="257175"/>
          </a:xfrm>
          <a:prstGeom prst="rect">
            <a:avLst/>
          </a:prstGeom>
        </p:spPr>
        <p:txBody>
          <a:bodyPr wrap="none" lIns="0" tIns="0" rIns="0" bIns="0"/>
          <a:p>
            <a:pPr>
              <a:lnSpc>
                <a:spcPct val="100000"/>
              </a:lnSpc>
            </a:pPr>
            <a:r>
              <a:rPr lang="zh-CN" sz="1650" b="1">
                <a:solidFill>
                  <a:srgbClr val="1A2230"/>
                </a:solidFill>
                <a:latin typeface="微软雅黑" panose="020B0503020204020204" charset="-122"/>
                <a:ea typeface="微软雅黑" panose="020B0503020204020204" charset="-122"/>
              </a:rPr>
              <a:t>概念情景</a:t>
            </a:r>
            <a:r>
              <a:rPr lang="en-US" sz="1650" b="1">
                <a:solidFill>
                  <a:srgbClr val="1A2230"/>
                </a:solidFill>
                <a:latin typeface="微软雅黑" panose="020B0503020204020204" charset="-122"/>
                <a:ea typeface="微软雅黑" panose="020B0503020204020204" charset="-122"/>
              </a:rPr>
              <a:t> A</a:t>
            </a:r>
            <a:r>
              <a:rPr lang="zh-CN" sz="1650" b="1">
                <a:solidFill>
                  <a:srgbClr val="1A2230"/>
                </a:solidFill>
                <a:latin typeface="微软雅黑" panose="020B0503020204020204" charset="-122"/>
                <a:ea typeface="微软雅黑" panose="020B0503020204020204" charset="-122"/>
              </a:rPr>
              <a:t>：本地淡水为主，夏季高温时段湿式冷却集中取水</a:t>
            </a:r>
            <a:endParaRPr lang="zh-CN" sz="1650" b="1">
              <a:solidFill>
                <a:srgbClr val="1A2230"/>
              </a:solidFill>
              <a:latin typeface="微软雅黑" panose="020B0503020204020204" charset="-122"/>
              <a:ea typeface="微软雅黑" panose="020B0503020204020204" charset="-122"/>
            </a:endParaRPr>
          </a:p>
        </p:txBody>
      </p:sp>
      <p:sp>
        <p:nvSpPr>
          <p:cNvPr id="1572" name="文本框 1571" descr="{&quot;isTemplate&quot;:true,&quot;type&quot;:&quot;text&quot;}"/>
          <p:cNvSpPr txBox="1"/>
          <p:nvPr/>
        </p:nvSpPr>
        <p:spPr>
          <a:xfrm>
            <a:off x="590550" y="1866900"/>
            <a:ext cx="6305550" cy="657225"/>
          </a:xfrm>
          <a:prstGeom prst="rect">
            <a:avLst/>
          </a:prstGeom>
        </p:spPr>
        <p:txBody>
          <a:bodyPr wrap="square" lIns="0" tIns="0" rIns="0" bIns="0">
            <a:normAutofit/>
          </a:bodyPr>
          <a:p>
            <a:pPr>
              <a:lnSpc>
                <a:spcPct val="150000"/>
              </a:lnSpc>
            </a:pPr>
            <a:r>
              <a:rPr lang="zh-CN" sz="1425">
                <a:solidFill>
                  <a:srgbClr val="1A2230"/>
                </a:solidFill>
                <a:latin typeface="微软雅黑" panose="020B0503020204020204" charset="-122"/>
                <a:ea typeface="微软雅黑" panose="020B0503020204020204" charset="-122"/>
              </a:rPr>
              <a:t>年度补水量与情景</a:t>
            </a:r>
            <a:r>
              <a:rPr lang="en-US" sz="1425">
                <a:solidFill>
                  <a:srgbClr val="1A2230"/>
                </a:solidFill>
                <a:latin typeface="微软雅黑" panose="020B0503020204020204" charset="-122"/>
                <a:ea typeface="微软雅黑" panose="020B0503020204020204" charset="-122"/>
              </a:rPr>
              <a:t> B </a:t>
            </a:r>
            <a:r>
              <a:rPr lang="zh-CN" sz="1425">
                <a:solidFill>
                  <a:srgbClr val="1A2230"/>
                </a:solidFill>
                <a:latin typeface="微软雅黑" panose="020B0503020204020204" charset="-122"/>
                <a:ea typeface="微软雅黑" panose="020B0503020204020204" charset="-122"/>
              </a:rPr>
              <a:t>相同，但取水集中在最热月份且几乎全为淡水，极端高温周内取水许可与给水峰值能力更容易成为主导约束。</a:t>
            </a:r>
            <a:endParaRPr lang="zh-CN" sz="1425">
              <a:solidFill>
                <a:srgbClr val="1A2230"/>
              </a:solidFill>
              <a:latin typeface="微软雅黑" panose="020B0503020204020204" charset="-122"/>
              <a:ea typeface="微软雅黑" panose="020B0503020204020204" charset="-122"/>
            </a:endParaRPr>
          </a:p>
        </p:txBody>
      </p:sp>
      <p:sp>
        <p:nvSpPr>
          <p:cNvPr id="1573" name="圆角矩形 1572"/>
          <p:cNvSpPr/>
          <p:nvPr/>
        </p:nvSpPr>
        <p:spPr>
          <a:xfrm>
            <a:off x="590550" y="2600325"/>
            <a:ext cx="1162050" cy="257175"/>
          </a:xfrm>
          <a:prstGeom prst="roundRect">
            <a:avLst>
              <a:gd name="adj" fmla="val 11111"/>
            </a:avLst>
          </a:prstGeom>
          <a:solidFill>
            <a:srgbClr val="FDECEC"/>
          </a:solidFill>
        </p:spPr>
        <p:txBody>
          <a:bodyPr/>
          <a:p/>
        </p:txBody>
      </p:sp>
      <p:sp>
        <p:nvSpPr>
          <p:cNvPr id="1574" name="文本框 1573" descr="{&quot;isTemplate&quot;:true,&quot;type&quot;:&quot;text&quot;}"/>
          <p:cNvSpPr txBox="1"/>
          <p:nvPr/>
        </p:nvSpPr>
        <p:spPr>
          <a:xfrm>
            <a:off x="685800" y="2628900"/>
            <a:ext cx="971550" cy="200025"/>
          </a:xfrm>
          <a:prstGeom prst="rect">
            <a:avLst/>
          </a:prstGeom>
        </p:spPr>
        <p:txBody>
          <a:bodyPr wrap="none" lIns="0" tIns="0" rIns="0" bIns="0"/>
          <a:p>
            <a:pPr>
              <a:lnSpc>
                <a:spcPct val="100000"/>
              </a:lnSpc>
            </a:pPr>
            <a:r>
              <a:rPr lang="zh-CN" sz="1275">
                <a:solidFill>
                  <a:srgbClr val="D9534F"/>
                </a:solidFill>
                <a:latin typeface="微软雅黑" panose="020B0503020204020204" charset="-122"/>
                <a:ea typeface="微软雅黑" panose="020B0503020204020204" charset="-122"/>
              </a:rPr>
              <a:t>水源峰值约束</a:t>
            </a:r>
            <a:endParaRPr lang="zh-CN" sz="1275">
              <a:solidFill>
                <a:srgbClr val="D9534F"/>
              </a:solidFill>
              <a:latin typeface="微软雅黑" panose="020B0503020204020204" charset="-122"/>
              <a:ea typeface="微软雅黑" panose="020B0503020204020204" charset="-122"/>
            </a:endParaRPr>
          </a:p>
        </p:txBody>
      </p:sp>
      <p:sp>
        <p:nvSpPr>
          <p:cNvPr id="1575" name="圆角矩形 1574"/>
          <p:cNvSpPr/>
          <p:nvPr/>
        </p:nvSpPr>
        <p:spPr>
          <a:xfrm>
            <a:off x="1828800" y="2600325"/>
            <a:ext cx="1162050" cy="257175"/>
          </a:xfrm>
          <a:prstGeom prst="roundRect">
            <a:avLst>
              <a:gd name="adj" fmla="val 11111"/>
            </a:avLst>
          </a:prstGeom>
          <a:solidFill>
            <a:srgbClr val="FDECEC"/>
          </a:solidFill>
        </p:spPr>
        <p:txBody>
          <a:bodyPr/>
          <a:p/>
        </p:txBody>
      </p:sp>
      <p:sp>
        <p:nvSpPr>
          <p:cNvPr id="1576" name="文本框 1575" descr="{&quot;isTemplate&quot;:true,&quot;type&quot;:&quot;text&quot;}"/>
          <p:cNvSpPr txBox="1"/>
          <p:nvPr/>
        </p:nvSpPr>
        <p:spPr>
          <a:xfrm>
            <a:off x="1924050" y="2628900"/>
            <a:ext cx="971550" cy="200025"/>
          </a:xfrm>
          <a:prstGeom prst="rect">
            <a:avLst/>
          </a:prstGeom>
        </p:spPr>
        <p:txBody>
          <a:bodyPr wrap="none" lIns="0" tIns="0" rIns="0" bIns="0"/>
          <a:p>
            <a:pPr>
              <a:lnSpc>
                <a:spcPct val="100000"/>
              </a:lnSpc>
            </a:pPr>
            <a:r>
              <a:rPr lang="zh-CN" sz="1275">
                <a:solidFill>
                  <a:srgbClr val="D9534F"/>
                </a:solidFill>
                <a:latin typeface="微软雅黑" panose="020B0503020204020204" charset="-122"/>
                <a:ea typeface="微软雅黑" panose="020B0503020204020204" charset="-122"/>
              </a:rPr>
              <a:t>给水能力约束</a:t>
            </a:r>
            <a:endParaRPr lang="zh-CN" sz="1275">
              <a:solidFill>
                <a:srgbClr val="D9534F"/>
              </a:solidFill>
              <a:latin typeface="微软雅黑" panose="020B0503020204020204" charset="-122"/>
              <a:ea typeface="微软雅黑" panose="020B0503020204020204" charset="-122"/>
            </a:endParaRPr>
          </a:p>
        </p:txBody>
      </p:sp>
      <p:sp>
        <p:nvSpPr>
          <p:cNvPr id="1577" name="圆角矩形 1576"/>
          <p:cNvSpPr/>
          <p:nvPr/>
        </p:nvSpPr>
        <p:spPr>
          <a:xfrm>
            <a:off x="3067050" y="2600325"/>
            <a:ext cx="1162050" cy="257175"/>
          </a:xfrm>
          <a:prstGeom prst="roundRect">
            <a:avLst>
              <a:gd name="adj" fmla="val 11111"/>
            </a:avLst>
          </a:prstGeom>
          <a:solidFill>
            <a:srgbClr val="FDECEC"/>
          </a:solidFill>
        </p:spPr>
        <p:txBody>
          <a:bodyPr/>
          <a:p/>
        </p:txBody>
      </p:sp>
      <p:sp>
        <p:nvSpPr>
          <p:cNvPr id="1578" name="文本框 1577" descr="{&quot;isTemplate&quot;:true,&quot;type&quot;:&quot;text&quot;}"/>
          <p:cNvSpPr txBox="1"/>
          <p:nvPr/>
        </p:nvSpPr>
        <p:spPr>
          <a:xfrm>
            <a:off x="3162300" y="2628900"/>
            <a:ext cx="971550" cy="200025"/>
          </a:xfrm>
          <a:prstGeom prst="rect">
            <a:avLst/>
          </a:prstGeom>
        </p:spPr>
        <p:txBody>
          <a:bodyPr wrap="none" lIns="0" tIns="0" rIns="0" bIns="0"/>
          <a:p>
            <a:pPr>
              <a:lnSpc>
                <a:spcPct val="100000"/>
              </a:lnSpc>
            </a:pPr>
            <a:r>
              <a:rPr lang="zh-CN" sz="1275">
                <a:solidFill>
                  <a:srgbClr val="D9534F"/>
                </a:solidFill>
                <a:latin typeface="微软雅黑" panose="020B0503020204020204" charset="-122"/>
                <a:ea typeface="微软雅黑" panose="020B0503020204020204" charset="-122"/>
              </a:rPr>
              <a:t>淡水依赖率高</a:t>
            </a:r>
            <a:endParaRPr lang="zh-CN" sz="1275">
              <a:solidFill>
                <a:srgbClr val="D9534F"/>
              </a:solidFill>
              <a:latin typeface="微软雅黑" panose="020B0503020204020204" charset="-122"/>
              <a:ea typeface="微软雅黑" panose="020B0503020204020204" charset="-122"/>
            </a:endParaRPr>
          </a:p>
        </p:txBody>
      </p:sp>
      <p:sp>
        <p:nvSpPr>
          <p:cNvPr id="1579" name="圆角矩形 1578"/>
          <p:cNvSpPr/>
          <p:nvPr/>
        </p:nvSpPr>
        <p:spPr>
          <a:xfrm>
            <a:off x="438150" y="3629025"/>
            <a:ext cx="6667500" cy="2124075"/>
          </a:xfrm>
          <a:prstGeom prst="roundRect">
            <a:avLst>
              <a:gd name="adj" fmla="val 2691"/>
            </a:avLst>
          </a:prstGeom>
          <a:solidFill>
            <a:srgbClr val="F7F9FC"/>
          </a:solidFill>
        </p:spPr>
        <p:txBody>
          <a:bodyPr/>
          <a:p/>
        </p:txBody>
      </p:sp>
      <p:sp>
        <p:nvSpPr>
          <p:cNvPr id="1580" name="任意多边形 1579"/>
          <p:cNvSpPr/>
          <p:nvPr/>
        </p:nvSpPr>
        <p:spPr>
          <a:xfrm>
            <a:off x="438150" y="3629025"/>
            <a:ext cx="6667500" cy="2124075"/>
          </a:xfrm>
          <a:custGeom>
            <a:avLst/>
            <a:gdLst/>
            <a:ahLst/>
            <a:cxnLst/>
            <a:pathLst>
              <a:path w="700" h="223">
                <a:moveTo>
                  <a:pt x="6" y="223"/>
                </a:moveTo>
                <a:cubicBezTo>
                  <a:pt x="3" y="223"/>
                  <a:pt x="0" y="220"/>
                  <a:pt x="0" y="217"/>
                </a:cubicBezTo>
                <a:lnTo>
                  <a:pt x="0" y="6"/>
                </a:lnTo>
                <a:cubicBezTo>
                  <a:pt x="0" y="4"/>
                  <a:pt x="1" y="3"/>
                  <a:pt x="2" y="2"/>
                </a:cubicBezTo>
                <a:cubicBezTo>
                  <a:pt x="3" y="1"/>
                  <a:pt x="4" y="0"/>
                  <a:pt x="6" y="0"/>
                </a:cubicBezTo>
                <a:lnTo>
                  <a:pt x="6" y="223"/>
                </a:lnTo>
                <a:close/>
              </a:path>
            </a:pathLst>
          </a:custGeom>
          <a:solidFill>
            <a:srgbClr val="1E4FA8"/>
          </a:solidFill>
        </p:spPr>
        <p:txBody>
          <a:bodyPr/>
          <a:p/>
        </p:txBody>
      </p:sp>
      <p:sp>
        <p:nvSpPr>
          <p:cNvPr id="1581" name="圆角矩形 1580"/>
          <p:cNvSpPr/>
          <p:nvPr/>
        </p:nvSpPr>
        <p:spPr>
          <a:xfrm>
            <a:off x="590550" y="3781425"/>
            <a:ext cx="742950" cy="266700"/>
          </a:xfrm>
          <a:prstGeom prst="roundRect">
            <a:avLst>
              <a:gd name="adj" fmla="val 10714"/>
            </a:avLst>
          </a:prstGeom>
          <a:solidFill>
            <a:srgbClr val="1E4FA8"/>
          </a:solidFill>
        </p:spPr>
        <p:txBody>
          <a:bodyPr/>
          <a:p/>
        </p:txBody>
      </p:sp>
      <p:sp>
        <p:nvSpPr>
          <p:cNvPr id="1582" name="文本框 1581" descr="{&quot;isTemplate&quot;:true,&quot;type&quot;:&quot;text&quot;}"/>
          <p:cNvSpPr txBox="1"/>
          <p:nvPr/>
        </p:nvSpPr>
        <p:spPr>
          <a:xfrm>
            <a:off x="704850" y="3810000"/>
            <a:ext cx="514350" cy="209550"/>
          </a:xfrm>
          <a:prstGeom prst="rect">
            <a:avLst/>
          </a:prstGeom>
        </p:spPr>
        <p:txBody>
          <a:bodyPr wrap="none" lIns="0" tIns="0" rIns="0" bIns="0"/>
          <a:p>
            <a:pPr>
              <a:lnSpc>
                <a:spcPct val="100000"/>
              </a:lnSpc>
            </a:pPr>
            <a:r>
              <a:rPr lang="zh-CN" sz="1350" b="1">
                <a:solidFill>
                  <a:srgbClr val="FFFFFF"/>
                </a:solidFill>
                <a:latin typeface="微软雅黑" panose="020B0503020204020204" charset="-122"/>
                <a:ea typeface="微软雅黑" panose="020B0503020204020204" charset="-122"/>
              </a:rPr>
              <a:t>情景</a:t>
            </a:r>
            <a:r>
              <a:rPr lang="en-US" sz="1350" b="1">
                <a:solidFill>
                  <a:srgbClr val="FFFFFF"/>
                </a:solidFill>
                <a:latin typeface="微软雅黑" panose="020B0503020204020204" charset="-122"/>
                <a:ea typeface="微软雅黑" panose="020B0503020204020204" charset="-122"/>
              </a:rPr>
              <a:t> B</a:t>
            </a:r>
            <a:endParaRPr lang="en-US" sz="1350" b="1">
              <a:solidFill>
                <a:srgbClr val="FFFFFF"/>
              </a:solidFill>
              <a:latin typeface="微软雅黑" panose="020B0503020204020204" charset="-122"/>
              <a:ea typeface="微软雅黑" panose="020B0503020204020204" charset="-122"/>
            </a:endParaRPr>
          </a:p>
        </p:txBody>
      </p:sp>
      <p:sp>
        <p:nvSpPr>
          <p:cNvPr id="1583" name="文本框 1582" descr="{&quot;isTemplate&quot;:true,&quot;type&quot;:&quot;text&quot;}"/>
          <p:cNvSpPr txBox="1"/>
          <p:nvPr/>
        </p:nvSpPr>
        <p:spPr>
          <a:xfrm>
            <a:off x="1447800" y="3790950"/>
            <a:ext cx="5238750" cy="257175"/>
          </a:xfrm>
          <a:prstGeom prst="rect">
            <a:avLst/>
          </a:prstGeom>
        </p:spPr>
        <p:txBody>
          <a:bodyPr wrap="none" lIns="0" tIns="0" rIns="0" bIns="0"/>
          <a:p>
            <a:pPr>
              <a:lnSpc>
                <a:spcPct val="100000"/>
              </a:lnSpc>
            </a:pPr>
            <a:r>
              <a:rPr lang="zh-CN" sz="1650" b="1">
                <a:solidFill>
                  <a:srgbClr val="1A2230"/>
                </a:solidFill>
                <a:latin typeface="微软雅黑" panose="020B0503020204020204" charset="-122"/>
                <a:ea typeface="微软雅黑" panose="020B0503020204020204" charset="-122"/>
              </a:rPr>
              <a:t>概念情景</a:t>
            </a:r>
            <a:r>
              <a:rPr lang="en-US" sz="1650" b="1">
                <a:solidFill>
                  <a:srgbClr val="1A2230"/>
                </a:solidFill>
                <a:latin typeface="微软雅黑" panose="020B0503020204020204" charset="-122"/>
                <a:ea typeface="微软雅黑" panose="020B0503020204020204" charset="-122"/>
              </a:rPr>
              <a:t> B</a:t>
            </a:r>
            <a:r>
              <a:rPr lang="zh-CN" sz="1650" b="1">
                <a:solidFill>
                  <a:srgbClr val="1A2230"/>
                </a:solidFill>
                <a:latin typeface="微软雅黑" panose="020B0503020204020204" charset="-122"/>
                <a:ea typeface="微软雅黑" panose="020B0503020204020204" charset="-122"/>
              </a:rPr>
              <a:t>：再生水为主，储水调蓄与干湿混合排热削峰</a:t>
            </a:r>
            <a:endParaRPr lang="zh-CN" sz="1650" b="1">
              <a:solidFill>
                <a:srgbClr val="1A2230"/>
              </a:solidFill>
              <a:latin typeface="微软雅黑" panose="020B0503020204020204" charset="-122"/>
              <a:ea typeface="微软雅黑" panose="020B0503020204020204" charset="-122"/>
            </a:endParaRPr>
          </a:p>
        </p:txBody>
      </p:sp>
      <p:sp>
        <p:nvSpPr>
          <p:cNvPr id="1584" name="文本框 1583" descr="{&quot;isTemplate&quot;:true,&quot;type&quot;:&quot;text&quot;}"/>
          <p:cNvSpPr txBox="1"/>
          <p:nvPr/>
        </p:nvSpPr>
        <p:spPr>
          <a:xfrm>
            <a:off x="590550" y="4124325"/>
            <a:ext cx="6305550" cy="657225"/>
          </a:xfrm>
          <a:prstGeom prst="rect">
            <a:avLst/>
          </a:prstGeom>
        </p:spPr>
        <p:txBody>
          <a:bodyPr wrap="square" lIns="0" tIns="0" rIns="0" bIns="0">
            <a:normAutofit/>
          </a:bodyPr>
          <a:p>
            <a:pPr>
              <a:lnSpc>
                <a:spcPct val="150000"/>
              </a:lnSpc>
            </a:pPr>
            <a:r>
              <a:rPr lang="zh-CN" sz="1425">
                <a:solidFill>
                  <a:srgbClr val="1A2230"/>
                </a:solidFill>
                <a:latin typeface="微软雅黑" panose="020B0503020204020204" charset="-122"/>
                <a:ea typeface="微软雅黑" panose="020B0503020204020204" charset="-122"/>
              </a:rPr>
              <a:t>年度补水量与情景</a:t>
            </a:r>
            <a:r>
              <a:rPr lang="en-US" sz="1425">
                <a:solidFill>
                  <a:srgbClr val="1A2230"/>
                </a:solidFill>
                <a:latin typeface="微软雅黑" panose="020B0503020204020204" charset="-122"/>
                <a:ea typeface="微软雅黑" panose="020B0503020204020204" charset="-122"/>
              </a:rPr>
              <a:t> A </a:t>
            </a:r>
            <a:r>
              <a:rPr lang="zh-CN" sz="1425">
                <a:solidFill>
                  <a:srgbClr val="1A2230"/>
                </a:solidFill>
                <a:latin typeface="微软雅黑" panose="020B0503020204020204" charset="-122"/>
                <a:ea typeface="微软雅黑" panose="020B0503020204020204" charset="-122"/>
              </a:rPr>
              <a:t>相同，但以再生水为主并削平峰值，压力转移到再生水处理输配与水质控制环节。</a:t>
            </a:r>
            <a:endParaRPr lang="zh-CN" sz="1425">
              <a:solidFill>
                <a:srgbClr val="1A2230"/>
              </a:solidFill>
              <a:latin typeface="微软雅黑" panose="020B0503020204020204" charset="-122"/>
              <a:ea typeface="微软雅黑" panose="020B0503020204020204" charset="-122"/>
            </a:endParaRPr>
          </a:p>
        </p:txBody>
      </p:sp>
      <p:sp>
        <p:nvSpPr>
          <p:cNvPr id="1585" name="圆角矩形 1584"/>
          <p:cNvSpPr/>
          <p:nvPr/>
        </p:nvSpPr>
        <p:spPr>
          <a:xfrm>
            <a:off x="590550" y="4857750"/>
            <a:ext cx="1323975" cy="257175"/>
          </a:xfrm>
          <a:prstGeom prst="roundRect">
            <a:avLst>
              <a:gd name="adj" fmla="val 11111"/>
            </a:avLst>
          </a:prstGeom>
          <a:solidFill>
            <a:srgbClr val="E8EFF8"/>
          </a:solidFill>
        </p:spPr>
        <p:txBody>
          <a:bodyPr/>
          <a:p/>
        </p:txBody>
      </p:sp>
      <p:sp>
        <p:nvSpPr>
          <p:cNvPr id="1586" name="文本框 1585" descr="{&quot;isTemplate&quot;:true,&quot;type&quot;:&quot;text&quot;}"/>
          <p:cNvSpPr txBox="1"/>
          <p:nvPr/>
        </p:nvSpPr>
        <p:spPr>
          <a:xfrm>
            <a:off x="685800" y="4886325"/>
            <a:ext cx="1133475" cy="200025"/>
          </a:xfrm>
          <a:prstGeom prst="rect">
            <a:avLst/>
          </a:prstGeom>
        </p:spPr>
        <p:txBody>
          <a:bodyPr wrap="none" lIns="0" tIns="0" rIns="0" bIns="0"/>
          <a:p>
            <a:pPr>
              <a:lnSpc>
                <a:spcPct val="100000"/>
              </a:lnSpc>
            </a:pPr>
            <a:r>
              <a:rPr lang="zh-CN" sz="1275">
                <a:solidFill>
                  <a:srgbClr val="0E3F8C"/>
                </a:solidFill>
                <a:latin typeface="微软雅黑" panose="020B0503020204020204" charset="-122"/>
                <a:ea typeface="微软雅黑" panose="020B0503020204020204" charset="-122"/>
              </a:rPr>
              <a:t>再生水处理约束</a:t>
            </a:r>
            <a:endParaRPr lang="zh-CN" sz="1275">
              <a:solidFill>
                <a:srgbClr val="0E3F8C"/>
              </a:solidFill>
              <a:latin typeface="微软雅黑" panose="020B0503020204020204" charset="-122"/>
              <a:ea typeface="微软雅黑" panose="020B0503020204020204" charset="-122"/>
            </a:endParaRPr>
          </a:p>
        </p:txBody>
      </p:sp>
      <p:sp>
        <p:nvSpPr>
          <p:cNvPr id="1587" name="圆角矩形 1586"/>
          <p:cNvSpPr/>
          <p:nvPr/>
        </p:nvSpPr>
        <p:spPr>
          <a:xfrm>
            <a:off x="1990725" y="4857750"/>
            <a:ext cx="1162050" cy="257175"/>
          </a:xfrm>
          <a:prstGeom prst="roundRect">
            <a:avLst>
              <a:gd name="adj" fmla="val 11111"/>
            </a:avLst>
          </a:prstGeom>
          <a:solidFill>
            <a:srgbClr val="E8EFF8"/>
          </a:solidFill>
        </p:spPr>
        <p:txBody>
          <a:bodyPr/>
          <a:p/>
        </p:txBody>
      </p:sp>
      <p:sp>
        <p:nvSpPr>
          <p:cNvPr id="1588" name="文本框 1587" descr="{&quot;isTemplate&quot;:true,&quot;type&quot;:&quot;text&quot;}"/>
          <p:cNvSpPr txBox="1"/>
          <p:nvPr/>
        </p:nvSpPr>
        <p:spPr>
          <a:xfrm>
            <a:off x="2085975" y="4886325"/>
            <a:ext cx="971550" cy="200025"/>
          </a:xfrm>
          <a:prstGeom prst="rect">
            <a:avLst/>
          </a:prstGeom>
        </p:spPr>
        <p:txBody>
          <a:bodyPr wrap="none" lIns="0" tIns="0" rIns="0" bIns="0"/>
          <a:p>
            <a:pPr>
              <a:lnSpc>
                <a:spcPct val="100000"/>
              </a:lnSpc>
            </a:pPr>
            <a:r>
              <a:rPr lang="zh-CN" sz="1275">
                <a:solidFill>
                  <a:srgbClr val="0E3F8C"/>
                </a:solidFill>
                <a:latin typeface="微软雅黑" panose="020B0503020204020204" charset="-122"/>
                <a:ea typeface="微软雅黑" panose="020B0503020204020204" charset="-122"/>
              </a:rPr>
              <a:t>输配能力约束</a:t>
            </a:r>
            <a:endParaRPr lang="zh-CN" sz="1275">
              <a:solidFill>
                <a:srgbClr val="0E3F8C"/>
              </a:solidFill>
              <a:latin typeface="微软雅黑" panose="020B0503020204020204" charset="-122"/>
              <a:ea typeface="微软雅黑" panose="020B0503020204020204" charset="-122"/>
            </a:endParaRPr>
          </a:p>
        </p:txBody>
      </p:sp>
      <p:sp>
        <p:nvSpPr>
          <p:cNvPr id="1589" name="圆角矩形 1588"/>
          <p:cNvSpPr/>
          <p:nvPr/>
        </p:nvSpPr>
        <p:spPr>
          <a:xfrm>
            <a:off x="3228975" y="4857750"/>
            <a:ext cx="1323975" cy="257175"/>
          </a:xfrm>
          <a:prstGeom prst="roundRect">
            <a:avLst>
              <a:gd name="adj" fmla="val 11111"/>
            </a:avLst>
          </a:prstGeom>
          <a:solidFill>
            <a:srgbClr val="E8EFF8"/>
          </a:solidFill>
        </p:spPr>
        <p:txBody>
          <a:bodyPr/>
          <a:p/>
        </p:txBody>
      </p:sp>
      <p:sp>
        <p:nvSpPr>
          <p:cNvPr id="1590" name="文本框 1589" descr="{&quot;isTemplate&quot;:true,&quot;type&quot;:&quot;text&quot;}"/>
          <p:cNvSpPr txBox="1"/>
          <p:nvPr/>
        </p:nvSpPr>
        <p:spPr>
          <a:xfrm>
            <a:off x="3324225" y="4886325"/>
            <a:ext cx="1133475" cy="200025"/>
          </a:xfrm>
          <a:prstGeom prst="rect">
            <a:avLst/>
          </a:prstGeom>
        </p:spPr>
        <p:txBody>
          <a:bodyPr wrap="none" lIns="0" tIns="0" rIns="0" bIns="0"/>
          <a:p>
            <a:pPr>
              <a:lnSpc>
                <a:spcPct val="100000"/>
              </a:lnSpc>
            </a:pPr>
            <a:r>
              <a:rPr lang="zh-CN" sz="1275">
                <a:solidFill>
                  <a:srgbClr val="0E3F8C"/>
                </a:solidFill>
                <a:latin typeface="微软雅黑" panose="020B0503020204020204" charset="-122"/>
                <a:ea typeface="微软雅黑" panose="020B0503020204020204" charset="-122"/>
              </a:rPr>
              <a:t>水质可接纳约束</a:t>
            </a:r>
            <a:endParaRPr lang="zh-CN" sz="1275">
              <a:solidFill>
                <a:srgbClr val="0E3F8C"/>
              </a:solidFill>
              <a:latin typeface="微软雅黑" panose="020B0503020204020204" charset="-122"/>
              <a:ea typeface="微软雅黑" panose="020B0503020204020204" charset="-122"/>
            </a:endParaRPr>
          </a:p>
        </p:txBody>
      </p:sp>
      <p:sp>
        <p:nvSpPr>
          <p:cNvPr id="1591" name="圆角矩形 1590"/>
          <p:cNvSpPr/>
          <p:nvPr/>
        </p:nvSpPr>
        <p:spPr>
          <a:xfrm>
            <a:off x="7181850" y="1371600"/>
            <a:ext cx="4629150" cy="4381500"/>
          </a:xfrm>
          <a:prstGeom prst="roundRect">
            <a:avLst>
              <a:gd name="adj" fmla="val 1304"/>
            </a:avLst>
          </a:prstGeom>
          <a:solidFill>
            <a:srgbClr val="F0F5FC"/>
          </a:solidFill>
          <a:ln w="12700">
            <a:solidFill>
              <a:srgbClr val="D6DCE5"/>
            </a:solidFill>
            <a:prstDash val="solid"/>
          </a:ln>
        </p:spPr>
        <p:txBody>
          <a:bodyPr/>
          <a:p/>
        </p:txBody>
      </p:sp>
      <p:sp>
        <p:nvSpPr>
          <p:cNvPr id="1592" name="任意多边形 1591"/>
          <p:cNvSpPr/>
          <p:nvPr/>
        </p:nvSpPr>
        <p:spPr>
          <a:xfrm>
            <a:off x="7353300" y="1543050"/>
            <a:ext cx="4333875" cy="276225"/>
          </a:xfrm>
          <a:custGeom>
            <a:avLst/>
            <a:gdLst/>
            <a:ahLst/>
            <a:cxnLst/>
            <a:pathLst>
              <a:path w="455" h="29">
                <a:moveTo>
                  <a:pt x="0" y="0"/>
                </a:moveTo>
                <a:lnTo>
                  <a:pt x="5" y="0"/>
                </a:lnTo>
                <a:lnTo>
                  <a:pt x="5" y="29"/>
                </a:lnTo>
                <a:lnTo>
                  <a:pt x="0" y="29"/>
                </a:lnTo>
                <a:close/>
              </a:path>
            </a:pathLst>
          </a:custGeom>
          <a:solidFill>
            <a:srgbClr val="1E4FA8"/>
          </a:solidFill>
        </p:spPr>
        <p:txBody>
          <a:bodyPr/>
          <a:p/>
        </p:txBody>
      </p:sp>
      <p:sp>
        <p:nvSpPr>
          <p:cNvPr id="1593" name="文本框 1592" descr="{&quot;isTemplate&quot;:true,&quot;type&quot;:&quot;text&quot;}"/>
          <p:cNvSpPr txBox="1"/>
          <p:nvPr/>
        </p:nvSpPr>
        <p:spPr>
          <a:xfrm>
            <a:off x="7515225" y="1543050"/>
            <a:ext cx="4124325" cy="276225"/>
          </a:xfrm>
          <a:prstGeom prst="rect">
            <a:avLst/>
          </a:prstGeom>
        </p:spPr>
        <p:txBody>
          <a:bodyPr wrap="none" lIns="0" tIns="0" rIns="0" bIns="0"/>
          <a:p>
            <a:pPr>
              <a:lnSpc>
                <a:spcPct val="100000"/>
              </a:lnSpc>
            </a:pPr>
            <a:r>
              <a:rPr lang="zh-CN" sz="1800" b="1">
                <a:solidFill>
                  <a:srgbClr val="0E3F8C"/>
                </a:solidFill>
                <a:latin typeface="微软雅黑" panose="020B0503020204020204" charset="-122"/>
                <a:ea typeface="微软雅黑" panose="020B0503020204020204" charset="-122"/>
              </a:rPr>
              <a:t>同量异压三维度：时间</a:t>
            </a:r>
            <a:r>
              <a:rPr lang="en-US" sz="1800" b="1">
                <a:solidFill>
                  <a:srgbClr val="0E3F8C"/>
                </a:solidFill>
                <a:latin typeface="微软雅黑" panose="020B0503020204020204" charset="-122"/>
                <a:ea typeface="微软雅黑" panose="020B0503020204020204" charset="-122"/>
              </a:rPr>
              <a:t> · </a:t>
            </a:r>
            <a:r>
              <a:rPr lang="zh-CN" sz="1800" b="1">
                <a:solidFill>
                  <a:srgbClr val="0E3F8C"/>
                </a:solidFill>
                <a:latin typeface="微软雅黑" panose="020B0503020204020204" charset="-122"/>
                <a:ea typeface="微软雅黑" panose="020B0503020204020204" charset="-122"/>
              </a:rPr>
              <a:t>来源</a:t>
            </a:r>
            <a:r>
              <a:rPr lang="en-US" sz="1800" b="1">
                <a:solidFill>
                  <a:srgbClr val="0E3F8C"/>
                </a:solidFill>
                <a:latin typeface="微软雅黑" panose="020B0503020204020204" charset="-122"/>
                <a:ea typeface="微软雅黑" panose="020B0503020204020204" charset="-122"/>
              </a:rPr>
              <a:t> · </a:t>
            </a:r>
            <a:r>
              <a:rPr lang="zh-CN" sz="1800" b="1">
                <a:solidFill>
                  <a:srgbClr val="0E3F8C"/>
                </a:solidFill>
                <a:latin typeface="微软雅黑" panose="020B0503020204020204" charset="-122"/>
                <a:ea typeface="微软雅黑" panose="020B0503020204020204" charset="-122"/>
              </a:rPr>
              <a:t>路径</a:t>
            </a:r>
            <a:endParaRPr lang="zh-CN" sz="1800" b="1">
              <a:solidFill>
                <a:srgbClr val="0E3F8C"/>
              </a:solidFill>
              <a:latin typeface="微软雅黑" panose="020B0503020204020204" charset="-122"/>
              <a:ea typeface="微软雅黑" panose="020B0503020204020204" charset="-122"/>
            </a:endParaRPr>
          </a:p>
        </p:txBody>
      </p:sp>
      <p:sp>
        <p:nvSpPr>
          <p:cNvPr id="1594" name="文本框 1593" descr="{&quot;isTemplate&quot;:true,&quot;type&quot;:&quot;text&quot;}"/>
          <p:cNvSpPr txBox="1"/>
          <p:nvPr/>
        </p:nvSpPr>
        <p:spPr>
          <a:xfrm>
            <a:off x="7353300" y="1933575"/>
            <a:ext cx="4286250" cy="1019175"/>
          </a:xfrm>
          <a:prstGeom prst="rect">
            <a:avLst/>
          </a:prstGeom>
        </p:spPr>
        <p:txBody>
          <a:bodyPr wrap="square" lIns="0" tIns="0" rIns="0" bIns="0">
            <a:normAutofit/>
          </a:bodyPr>
          <a:p>
            <a:pPr>
              <a:lnSpc>
                <a:spcPct val="155000"/>
              </a:lnSpc>
            </a:pPr>
            <a:r>
              <a:rPr lang="zh-CN" sz="1425">
                <a:solidFill>
                  <a:srgbClr val="1A2230"/>
                </a:solidFill>
                <a:latin typeface="微软雅黑" panose="020B0503020204020204" charset="-122"/>
                <a:ea typeface="微软雅黑" panose="020B0503020204020204" charset="-122"/>
              </a:rPr>
              <a:t>两个边界：设施所在地直接取水耗水，与发电环节异地间接足迹。二者位置与干预手段不同，相加会掩盖本地压力。</a:t>
            </a:r>
            <a:endParaRPr lang="zh-CN" sz="1425">
              <a:solidFill>
                <a:srgbClr val="1A2230"/>
              </a:solidFill>
              <a:latin typeface="微软雅黑" panose="020B0503020204020204" charset="-122"/>
              <a:ea typeface="微软雅黑" panose="020B0503020204020204" charset="-122"/>
            </a:endParaRPr>
          </a:p>
        </p:txBody>
      </p:sp>
      <p:sp>
        <p:nvSpPr>
          <p:cNvPr id="1595" name="文本框 1594" descr="{&quot;isTemplate&quot;:true,&quot;type&quot;:&quot;text&quot;}"/>
          <p:cNvSpPr txBox="1"/>
          <p:nvPr/>
        </p:nvSpPr>
        <p:spPr>
          <a:xfrm>
            <a:off x="7353300" y="3048000"/>
            <a:ext cx="4286250" cy="676275"/>
          </a:xfrm>
          <a:prstGeom prst="rect">
            <a:avLst/>
          </a:prstGeom>
        </p:spPr>
        <p:txBody>
          <a:bodyPr wrap="square" lIns="0" tIns="0" rIns="0" bIns="0">
            <a:normAutofit/>
          </a:bodyPr>
          <a:p>
            <a:pPr>
              <a:lnSpc>
                <a:spcPct val="155000"/>
              </a:lnSpc>
            </a:pPr>
            <a:r>
              <a:rPr lang="zh-CN" sz="1425">
                <a:solidFill>
                  <a:srgbClr val="1A2230"/>
                </a:solidFill>
                <a:latin typeface="微软雅黑" panose="020B0503020204020204" charset="-122"/>
                <a:ea typeface="微软雅黑" panose="020B0503020204020204" charset="-122"/>
              </a:rPr>
              <a:t>开放循环网络：原水处理后进入用户，部分蒸发离开，部分形成污水，出水可排放或再生回用。</a:t>
            </a:r>
            <a:endParaRPr lang="zh-CN" sz="1425">
              <a:solidFill>
                <a:srgbClr val="1A2230"/>
              </a:solidFill>
              <a:latin typeface="微软雅黑" panose="020B0503020204020204" charset="-122"/>
              <a:ea typeface="微软雅黑" panose="020B0503020204020204" charset="-122"/>
            </a:endParaRPr>
          </a:p>
        </p:txBody>
      </p:sp>
      <p:sp>
        <p:nvSpPr>
          <p:cNvPr id="1597" name="文本框 1596" descr="{&quot;isTemplate&quot;:true,&quot;type&quot;:&quot;text&quot;}"/>
          <p:cNvSpPr txBox="1"/>
          <p:nvPr/>
        </p:nvSpPr>
        <p:spPr>
          <a:xfrm>
            <a:off x="7486650" y="4171950"/>
            <a:ext cx="4019550" cy="1165860"/>
          </a:xfrm>
          <a:prstGeom prst="rect">
            <a:avLst/>
          </a:prstGeom>
        </p:spPr>
        <p:txBody>
          <a:bodyPr wrap="square" lIns="0" tIns="0" rIns="0" bIns="0">
            <a:noAutofit/>
          </a:bodyPr>
          <a:p>
            <a:pPr>
              <a:lnSpc>
                <a:spcPct val="145000"/>
              </a:lnSpc>
            </a:pPr>
            <a:r>
              <a:rPr lang="zh-CN" sz="2000" b="1">
                <a:solidFill>
                  <a:srgbClr val="FF0000"/>
                </a:solidFill>
                <a:latin typeface="微软雅黑" panose="020B0503020204020204" charset="-122"/>
                <a:ea typeface="微软雅黑" panose="020B0503020204020204" charset="-122"/>
              </a:rPr>
              <a:t>城市规划需要的是路径与峰值可靠性解释，不止年度总量！</a:t>
            </a:r>
            <a:endParaRPr lang="zh-CN" sz="2000" b="1">
              <a:solidFill>
                <a:srgbClr val="FF0000"/>
              </a:solidFill>
              <a:latin typeface="微软雅黑" panose="020B0503020204020204" charset="-122"/>
              <a:ea typeface="微软雅黑" panose="020B0503020204020204" charset="-122"/>
            </a:endParaRPr>
          </a:p>
        </p:txBody>
      </p:sp>
      <p:sp>
        <p:nvSpPr>
          <p:cNvPr id="1598" name="矩形 1597"/>
          <p:cNvSpPr/>
          <p:nvPr/>
        </p:nvSpPr>
        <p:spPr>
          <a:xfrm>
            <a:off x="428625" y="5867400"/>
            <a:ext cx="11430000" cy="419100"/>
          </a:xfrm>
          <a:prstGeom prst="rect">
            <a:avLst/>
          </a:prstGeom>
          <a:solidFill>
            <a:srgbClr val="E8EFF8"/>
          </a:solidFill>
        </p:spPr>
        <p:txBody>
          <a:bodyPr/>
          <a:p/>
        </p:txBody>
      </p:sp>
      <p:sp>
        <p:nvSpPr>
          <p:cNvPr id="1599" name="任意多边形 1598"/>
          <p:cNvSpPr/>
          <p:nvPr/>
        </p:nvSpPr>
        <p:spPr>
          <a:xfrm>
            <a:off x="381000" y="5867400"/>
            <a:ext cx="11477625" cy="419100"/>
          </a:xfrm>
          <a:custGeom>
            <a:avLst/>
            <a:gdLst/>
            <a:ahLst/>
            <a:cxnLst/>
            <a:pathLst>
              <a:path w="1205" h="44">
                <a:moveTo>
                  <a:pt x="0" y="0"/>
                </a:moveTo>
                <a:lnTo>
                  <a:pt x="5" y="0"/>
                </a:lnTo>
                <a:lnTo>
                  <a:pt x="5" y="44"/>
                </a:lnTo>
                <a:lnTo>
                  <a:pt x="0" y="44"/>
                </a:lnTo>
                <a:close/>
              </a:path>
            </a:pathLst>
          </a:custGeom>
          <a:solidFill>
            <a:srgbClr val="1E4FA8"/>
          </a:solidFill>
        </p:spPr>
        <p:txBody>
          <a:bodyPr/>
          <a:p/>
        </p:txBody>
      </p:sp>
      <p:sp>
        <p:nvSpPr>
          <p:cNvPr id="1600" name="文本框 1599" descr="{&quot;isTemplate&quot;:true,&quot;type&quot;:&quot;text&quot;}"/>
          <p:cNvSpPr txBox="1"/>
          <p:nvPr/>
        </p:nvSpPr>
        <p:spPr>
          <a:xfrm>
            <a:off x="600075" y="5962650"/>
            <a:ext cx="11210925" cy="228600"/>
          </a:xfrm>
          <a:prstGeom prst="rect">
            <a:avLst/>
          </a:prstGeom>
        </p:spPr>
        <p:txBody>
          <a:bodyPr wrap="none" lIns="0" tIns="0" rIns="0" bIns="0"/>
          <a:p>
            <a:pPr>
              <a:lnSpc>
                <a:spcPct val="100000"/>
              </a:lnSpc>
            </a:pPr>
            <a:r>
              <a:rPr lang="zh-CN" sz="1500">
                <a:solidFill>
                  <a:srgbClr val="1A2230"/>
                </a:solidFill>
                <a:latin typeface="微软雅黑" panose="020B0503020204020204" charset="-122"/>
                <a:ea typeface="微软雅黑" panose="020B0503020204020204" charset="-122"/>
              </a:rPr>
              <a:t>本研究追踪完整路径：从何处供应、何时峰值、多少消耗、多少回流</a:t>
            </a:r>
            <a:endParaRPr lang="zh-CN" sz="1500">
              <a:solidFill>
                <a:srgbClr val="1A2230"/>
              </a:solidFill>
              <a:latin typeface="微软雅黑" panose="020B0503020204020204" charset="-122"/>
              <a:ea typeface="微软雅黑" panose="020B0503020204020204" charset="-122"/>
            </a:endParaRPr>
          </a:p>
        </p:txBody>
      </p:sp>
      <p:sp>
        <p:nvSpPr>
          <p:cNvPr id="1601" name="任意多边形 1600"/>
          <p:cNvSpPr/>
          <p:nvPr/>
        </p:nvSpPr>
        <p:spPr>
          <a:xfrm>
            <a:off x="0" y="636270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602" name="文本框 1601" descr="{&quot;isTemplate&quot;:true,&quot;type&quot;:&quot;text&quot;}"/>
          <p:cNvSpPr txBox="1"/>
          <p:nvPr/>
        </p:nvSpPr>
        <p:spPr>
          <a:xfrm>
            <a:off x="381000" y="647700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603" name="文本框 1602" descr="{&quot;isTemplate&quot;:true,&quot;type&quot;:&quot;text&quot;}"/>
          <p:cNvSpPr txBox="1"/>
          <p:nvPr/>
        </p:nvSpPr>
        <p:spPr>
          <a:xfrm>
            <a:off x="11353800" y="647700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05 / 36</a:t>
            </a:r>
            <a:endParaRPr lang="en-US" sz="1050">
              <a:solidFill>
                <a:srgbClr val="1E4FA8"/>
              </a:solidFill>
              <a:latin typeface="微软雅黑" panose="020B0503020204020204" charset="-122"/>
              <a:ea typeface="微软雅黑" panose="020B0503020204020204" charset="-122"/>
            </a:endParaRPr>
          </a:p>
        </p:txBody>
      </p:sp>
      <p:sp>
        <p:nvSpPr>
          <p:cNvPr id="1604" name="矩形 1603"/>
          <p:cNvSpPr/>
          <p:nvPr/>
        </p:nvSpPr>
        <p:spPr>
          <a:xfrm>
            <a:off x="0" y="685800"/>
            <a:ext cx="57150" cy="1162050"/>
          </a:xfrm>
          <a:prstGeom prst="rect">
            <a:avLst/>
          </a:prstGeom>
          <a:solidFill>
            <a:srgbClr val="FFC107"/>
          </a:solidFill>
        </p:spPr>
        <p:txBody>
          <a:bodyPr/>
          <a:p/>
        </p:txBody>
      </p:sp>
      <p:sp>
        <p:nvSpPr>
          <p:cNvPr id="1605" name="矩形 1604"/>
          <p:cNvSpPr/>
          <p:nvPr/>
        </p:nvSpPr>
        <p:spPr>
          <a:xfrm>
            <a:off x="0" y="1847850"/>
            <a:ext cx="57150" cy="1162050"/>
          </a:xfrm>
          <a:prstGeom prst="rect">
            <a:avLst/>
          </a:prstGeom>
          <a:solidFill>
            <a:srgbClr val="C9D6E8"/>
          </a:solidFill>
        </p:spPr>
        <p:txBody>
          <a:bodyPr/>
          <a:p/>
        </p:txBody>
      </p:sp>
      <p:sp>
        <p:nvSpPr>
          <p:cNvPr id="1606" name="矩形 1605"/>
          <p:cNvSpPr/>
          <p:nvPr/>
        </p:nvSpPr>
        <p:spPr>
          <a:xfrm>
            <a:off x="0" y="3009900"/>
            <a:ext cx="57150" cy="1162050"/>
          </a:xfrm>
          <a:prstGeom prst="rect">
            <a:avLst/>
          </a:prstGeom>
          <a:solidFill>
            <a:srgbClr val="C9D6E8"/>
          </a:solidFill>
        </p:spPr>
        <p:txBody>
          <a:bodyPr/>
          <a:p/>
        </p:txBody>
      </p:sp>
      <p:sp>
        <p:nvSpPr>
          <p:cNvPr id="1607" name="矩形 1606"/>
          <p:cNvSpPr/>
          <p:nvPr/>
        </p:nvSpPr>
        <p:spPr>
          <a:xfrm>
            <a:off x="0" y="4171950"/>
            <a:ext cx="57150" cy="1162050"/>
          </a:xfrm>
          <a:prstGeom prst="rect">
            <a:avLst/>
          </a:prstGeom>
          <a:solidFill>
            <a:srgbClr val="C9D6E8"/>
          </a:solidFill>
        </p:spPr>
        <p:txBody>
          <a:bodyPr/>
          <a:p/>
        </p:txBody>
      </p:sp>
      <p:sp>
        <p:nvSpPr>
          <p:cNvPr id="1608" name="矩形 1607"/>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09"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diagram-project' style={{ fill: '#FFC107', width: 22, height: 22 }} /&gt;&#13;&#10;        &lt;/Box&gt;&#13;&#10;            &lt;Text style={{ fontSize: 29, fontWeight: 'bold', color: '#FFFFFF' }}&gt;研究对象落在城市人工水系统的全过程网络上&lt;/Text&gt;&#13;&#10;        &lt;/Box&gt;&#13;&#10;        &lt;Box style={{ flexDirection: 'row', alignItems: 'center', gap: 10 }}&gt;&#13;&#10;            &lt;Text style={{ fontSize: 15, color: '#AFC6E8' }}&gt;01 研究背景与问题提出&lt;/Text&gt;&#13;&#10;            &lt;Box style={{ background: '#FFC107', paddingLeft: 9, paddingRight: 9, paddingTop: 3, paddingBottom: 3, borderRadius: 3, justifyContent: 'center', alignItems: 'center' }}&gt;&#13;&#10;                &lt;Text style={{ fontSize: 14, color: '#0B3A82', fontWeight: 'bold' }}&gt;06&lt;/Text&gt;&#13;&#10;            &lt;/Box&gt;&#13;&#10;        &lt;/Box&gt;&#13;&#10;    &lt;/Box&gt;&#13;&#10;    &lt;Box style={{ paddingLeft: 40, paddingRight: 40, paddingTop: 14, paddingBottom: 8, flexDirection: 'column', gap: 12 }}&gt;&#13;&#10;        &lt;Box style={{ background: '#0B3A82', paddingLeft: 20, paddingTop: 10, paddingBottom: 10, borderRadius: 4 }}&gt;&#13;&#10;            &lt;Text style={{ fontSize: 21, color: '#FFFFFF' }}&gt;核心对象是&quot;AI 设施进入城市水系统后的响应&quot;，重点在城市尺度耦合与机制&lt;/Text&gt;&#13;&#10;        &lt;/Box&gt;&#13;&#10;        &lt;Box style={{ flexDirection: 'row', gap: 14, height: 432 }}&gt;&#13;&#10;            &lt;Box style={{ width: 660, background: '#F7F9FC', border: '1px solid #D6DCE5', borderRadius: 6, padding: 8 }}&gt;&#13;&#10;                &lt;svg width={624} height={416} viewBox='0 0 660 440'&gt;&#13;&#10;                    &lt;rect x='20' y='28' width='130' height='48' rx='5' fill='#E8EFF8' stroke='#1E4FA8' strokeWidth='2' /&gt;&#13;&#10;                    &lt;text x='85' y='57' fontSize='17' fill='#0E3F8C' textAnchor='middle' fontFamily='Microsoft YaHei'&gt;外部水源&lt;/text&gt;&#13;&#10;                    &lt;rect x='190' y='28' width='130' height='48' rx='5' fill='#E8EFF8' stroke='#1E4FA8' strokeWidth='2' /&gt;&#13;&#10;                    &lt;text x='255' y='57' fontSize='17' fill='#0E3F8C' textAnchor='middle' fontFamily='Microsoft YaHei'&gt;原水 / 给水处理&lt;/text&gt;&#13;&#10;                    &lt;rect x='360' y='28' width='150' height='48' rx='5' fill='#E8EFF8' stroke='#1E4FA8' strokeWidth='2' /&gt;&#13;&#10;                    &lt;text x='435' y='57' fontSize='17' fill='#0E3F8C' textAnchor='middle' fontFamily='Microsoft YaHei'&gt;城市配水网络&lt;/text&gt;&#13;&#10;                    &lt;path d='M150 52 L188 52' stroke='#3D7BD9' strokeWidth='2' fill='none' /&gt;&#13;&#10;                    &lt;path d='M320 52 L358 52' stroke='#3D7BD9' strokeWidth='2' fill='none' /&gt;&#13;&#10;                    &lt;text x='546' y='50' fontSize='14' fill='#8B97A8' textAnchor='middle' fontFamily='Microsoft YaHei'&gt;水源可供量约束&lt;/text&gt;&#13;&#10;                    &lt;text x='546' y='70' fontSize='14' fill='#8B97A8' textAnchor='middle' fontFamily='Microsoft YaHei'&gt;给水处理能力约束&lt;/text&gt;&#13;&#10;                    &lt;path d='M435 76 L435 120 L85 120 L85 148' stroke='#3D7BD9' strokeWidth='2' fill='none' /&gt;&#13;&#10;                    &lt;path d='M435 120 L235 120 L235 148' stroke='#3D7BD9' strokeWidth='2' fill='none' /&gt;&#13;&#10;                    &lt;path d='M435 120 L385 120 L385 148' stroke='#3D7BD9' strokeWidth='2' fill='none' /&gt;&#13;&#10;                    &lt;path d='M435 120 L550 120 L550 148' stroke='#3D7BD9' strokeWidth='2' fill='none' /&gt;&#13;&#10;                    &lt;rect x='20' y='150' width='130' height='52' rx='5' fill='#FFFFFF' stroke='#D6DCE5' strokeWidth='2' /&gt;&#13;&#10;                    &lt;text x='85' y='181' fontSize='17' fill='#4A5568' textAnchor='middle' fontFamily='Microsoft YaHei'&gt;居民生活&lt;/text&gt;&#13;&#10;                    &lt;rect x='170' y='150' width='130' height='52' rx='5' fill='#FFFFFF' stroke='#D6DCE5' strokeWidth='2' /&gt;&#13;&#10;                    &lt;text x='235' y='181' fontSize='17' fill='#4A5568' textAnchor='middle' fontFamily='Microsoft YaHei'&gt;商业与公共&lt;/text&gt;&#13;&#10;                    &lt;rect x='320' y='150' width='130' height='52' rx='5' fill='#FFFFFF' stroke='#D6DCE5' strokeWidth='2' /&gt;&#13;&#10;                    &lt;text x='385' y='181' fontSize='17' fill='#4A5568' textAnchor='middle' fontFamily='Microsoft YaHei'&gt;一般工业&lt;/text&gt;&#13;&#10;                    &lt;rect x='470' y='150' width='160' height='52' rx='5' fill='#1E4FA8' stroke='#0B3A82' strokeWidth='2' /&gt;&#13;&#10;                    &lt;text x='550' y='181' fontSize='17' fill='#FFFFFF' textAnchor='middle' fontFamily='Microsoft YaHei'&gt;AI 数据中心&lt;/text&gt;&#13;&#10;                    &lt;path d='M85 202 L85 244 L210 244 L210 280' stroke='#3D7BD9' strokeWidth='2' fill='none' /&gt;&#13;&#10;                    &lt;path d='M235 202 L235 244' stroke='#3D7BD9' strokeWidth='2' fill='none' /&gt;&#13;&#10;                    &lt;path d='M385 202 L385 244' stroke='#3D7BD9' strokeWidth='2' fill='none' /&gt;&#13;&#10;                    &lt;path d='M550 202 L550 244 L470 244 L470 280' stroke='#3D7BD9' strokeWidth='2' fill='none' /&gt;&#13;&#10;                    &lt;rect x='110' y='282' width='200' height='54' rx='5' fill='#E8EFF8' stroke='#1E4FA8' strokeWidth='2' /&gt;&#13;&#10;                    &lt;text x='210' y='314' fontSize='17' fill='#0E3F8C' textAnchor='middle' fontFamily='Microsoft YaHei'&gt;污水收集与处理&lt;/text&gt;&#13;&#10;                    &lt;rect x='360' y='282' width='220' height='54' rx='5' fill='#E8EFF8' stroke='#1E4FA8' strokeWidth='2' /&gt;&#13;&#10;                    &lt;text x='470' y='314' fontSize='17' fill='#0E3F8C' textAnchor='middle' fontFamily='Microsoft YaHei'&gt;再生水深度处理与输配&lt;/text&gt;&#13;&#10;                    &lt;path d='M310 309 L358 309' stroke='#3D7BD9' strokeWidth='2' fill='none' /&gt;&#13;&#10;                    &lt;rect x='110' y='382' width='200' height='48' rx='5' fill='#FFFFFF' stroke='#D6DCE5' strokeWidth='2' /&gt;&#13;&#10;                    &lt;text x='210' y='411' fontSize='16' fill='#4A5568' textAnchor='middle' fontFamily='Microsoft YaHei'&gt;环境排放&lt;/text&gt;&#13;&#10;                    &lt;rect x='360' y='382' width='220' height='48' rx='5' fill='#FFFFFF' stroke='#D6DCE5' strokeWidth='2' /&gt;&#13;&#10;                    &lt;text x='470' y='411' fontSize='16' fill='#4A5568' textAnchor='middle' fontFamily='Microsoft YaHei'&gt;回用：工业 · 生态 · 冷却&lt;/text&gt;&#13;&#10;                    &lt;path d='M210 336 L210 380' stroke='#3D7BD9' strokeWidth='2' fill='none' /&gt;&#13;&#10;                    &lt;path d='M470 336 L470 380' stroke='#3D7BD9' strokeWidth='2' fill='none' /&gt;&#13;&#10;                    &lt;path d='M580 406 L640 406 L640 176 L632 176' stroke='#C9941B' strokeWidth='2.5' fill='none' strokeDasharray='6 4' /&gt;&#13;&#10;                    &lt;text x='600' y='288' fontSize='14' fill='#B7881F' textAnchor='middle' fontFamily='Microsoft YaHei'&gt;再生水&lt;/text&gt;&#13;&#10;                    &lt;text x='600' y='306' fontSize='14' fill='#B7881F' textAnchor='middle' fontFamily='Microsoft YaHei'&gt;回补&lt;/text&gt;&#13;&#10;                &lt;/svg&gt;&#13;&#10;            &lt;/Box&gt;&#13;&#10;            &lt;Box style={{ flex: 1, flexDirection: 'column', gap: 12 }}&gt;&#13;&#10;                &lt;Box style={{ flex: 1, background: '#F7F9FC', border: '1px solid #D6DCE5', borderRadius: 6, padding: 16, flexDirection: 'column' }}&gt;&#13;&#10;                    &lt;Box style={{ borderLeft: '5px solid #1E4FA8', paddingLeft: 12, marginBottom: 8 }}&gt;&#13;&#10;                        &lt;Text style={{ fontSize: 23, fontWeight: 'bold', color: '#0E3F8C' }}&gt;纳入研究的系统边界&lt;/Text&gt;&#13;&#10;                    &lt;/Box&gt;&#13;&#10;                    &lt;Text style={{ fontSize: 19, color: '#1A2230', lineHeight: 1.55 }}&gt;&#13;&#10;                        外部水源、给水处理、配水、用户、AI 数据中心、污水处理、再生水输配与排放纳入同一系统；AI 数据中心作为高连续负荷、特殊冷却、潜在水质约束的新型终端节点接入。&#13;&#10;                    &lt;/Text&gt;&#13;&#10;                &lt;/Box&gt;&#13;&#10;                &lt;Box style={{ flex: 1, background: '#F7F9FC', border: '1px solid #D6DCE5', borderRadius: 6, padding: 16, flexDirection: 'column' }}&gt;&#13;&#10;                    &lt;Box style={{ borderLeft: '5px solid #D9534F', paddingLeft: 12, marginBottom: 8 }}&gt;&#13;&#10;                        &lt;Text style={{ fontSize: 23, fontWeight: 'bold', color: '#1A2230' }}&gt;暂不进入核心边界的部分&lt;/Text&gt;&#13;&#10;                    &lt;/Box&gt;&#13;&#10;                    &lt;Text style={{ fontSize: 19, color: '#1A2230', lineHeight: 1.55 }}&gt;&#13;&#10;                        雨洪、地下水与完整电网仅在扩展情景讨论。本地水流与异地电力水足迹分账户呈现，避免综合足迹掩盖供水压力。&#13;&#10;                    &lt;/Text&gt;&#13;&#10;                &lt;/Box&gt;&#13;&#10;            &lt;/Box&gt;&#13;&#10;        &lt;/Box&gt;&#13;&#10;        &lt;Box style={{ background: '#E8EFF8', borderLeft: '5px solid #1E4FA8', paddingLeft: 18, paddingTop: 10, paddingBottom: 10 }}&gt;&#13;&#10;            &lt;Text style={{ fontSize: 19, color: '#1A2230', lineHeight: 1.4 }}&gt;CAWCC 条件化含义：给定城市状态、技术架构、水源政策、气候情景、服务优先级与风险容忍条件下，城市水系统可支持的最大可行 AI 容量&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06 / 36&lt;/Text&gt;&#13;&#10;    &lt;/Box&gt;&#13;&#10;    &lt;Box style={{ position: 'absolute', left: 0, top: 72, width: 6, height: 608, flexDirection: 'column' }}&gt;&#13;&#10;                &lt;Box style={{ width: 6, height: 122, background: '#FFC107' }} /&gt;&#13;&#10;                &lt;Box style={{ width: 6, height: 122, background: '#C9D6E8' }} /&gt;&#13;&#10;                &lt;Box style={{ width: 6, height: 122, background: '#C9D6E8'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1610" name="矩形 1609"/>
          <p:cNvSpPr/>
          <p:nvPr/>
        </p:nvSpPr>
        <p:spPr>
          <a:xfrm>
            <a:off x="0" y="0"/>
            <a:ext cx="12192000" cy="6858000"/>
          </a:xfrm>
          <a:prstGeom prst="rect">
            <a:avLst/>
          </a:prstGeom>
          <a:solidFill>
            <a:srgbClr val="FFFFFF"/>
          </a:solidFill>
        </p:spPr>
        <p:txBody>
          <a:bodyPr/>
          <a:p/>
        </p:txBody>
      </p:sp>
      <p:sp>
        <p:nvSpPr>
          <p:cNvPr id="1611" name="矩形 1610"/>
          <p:cNvSpPr/>
          <p:nvPr/>
        </p:nvSpPr>
        <p:spPr>
          <a:xfrm>
            <a:off x="0" y="0"/>
            <a:ext cx="12192000" cy="685800"/>
          </a:xfrm>
          <a:prstGeom prst="rect">
            <a:avLst/>
          </a:prstGeom>
          <a:solidFill>
            <a:srgbClr val="0E3F8C"/>
          </a:solidFill>
        </p:spPr>
        <p:txBody>
          <a:bodyPr/>
          <a:p/>
        </p:txBody>
      </p:sp>
      <p:sp>
        <p:nvSpPr>
          <p:cNvPr id="1612" name="圆角矩形 1611"/>
          <p:cNvSpPr/>
          <p:nvPr/>
        </p:nvSpPr>
        <p:spPr>
          <a:xfrm>
            <a:off x="381000" y="152400"/>
            <a:ext cx="381000" cy="381000"/>
          </a:xfrm>
          <a:prstGeom prst="roundRect">
            <a:avLst>
              <a:gd name="adj" fmla="val 25000"/>
            </a:avLst>
          </a:prstGeom>
          <a:solidFill>
            <a:srgbClr val="12489A"/>
          </a:solidFill>
        </p:spPr>
        <p:txBody>
          <a:bodyPr/>
          <a:p/>
        </p:txBody>
      </p:sp>
      <p:pic>
        <p:nvPicPr>
          <p:cNvPr id="1613" name="图片 1612"/>
          <p:cNvPicPr>
            <a:picLocks noChangeAspect="1"/>
          </p:cNvPicPr>
          <p:nvPr/>
        </p:nvPicPr>
        <p:blipFill>
          <a:blip/>
          <a:stretch>
            <a:fillRect/>
          </a:stretch>
        </p:blipFill>
        <p:spPr>
          <a:xfrm>
            <a:off x="466725" y="238125"/>
            <a:ext cx="209550" cy="209550"/>
          </a:xfrm>
          <a:prstGeom prst="rect">
            <a:avLst/>
          </a:prstGeom>
        </p:spPr>
      </p:pic>
      <p:sp>
        <p:nvSpPr>
          <p:cNvPr id="1614" name="文本框 1613" descr="{&quot;isTemplate&quot;:true,&quot;type&quot;:&quot;text&quot;}"/>
          <p:cNvSpPr txBox="1"/>
          <p:nvPr/>
        </p:nvSpPr>
        <p:spPr>
          <a:xfrm>
            <a:off x="895350" y="180975"/>
            <a:ext cx="552450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研究对象落在城市人工水系统的全过程网络上</a:t>
            </a:r>
            <a:endParaRPr lang="zh-CN" sz="2175" b="1">
              <a:solidFill>
                <a:srgbClr val="FFFFFF"/>
              </a:solidFill>
              <a:latin typeface="微软雅黑" panose="020B0503020204020204" charset="-122"/>
              <a:ea typeface="微软雅黑" panose="020B0503020204020204" charset="-122"/>
            </a:endParaRPr>
          </a:p>
        </p:txBody>
      </p:sp>
      <p:sp>
        <p:nvSpPr>
          <p:cNvPr id="1615" name="文本框 1614" descr="{&quot;isTemplate&quot;:true,&quot;type&quot;:&quot;text&quot;}"/>
          <p:cNvSpPr txBox="1"/>
          <p:nvPr/>
        </p:nvSpPr>
        <p:spPr>
          <a:xfrm>
            <a:off x="9867900" y="266700"/>
            <a:ext cx="15049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01 </a:t>
            </a:r>
            <a:r>
              <a:rPr lang="zh-CN" sz="1125">
                <a:solidFill>
                  <a:srgbClr val="AFC6E8"/>
                </a:solidFill>
                <a:latin typeface="微软雅黑" panose="020B0503020204020204" charset="-122"/>
                <a:ea typeface="微软雅黑" panose="020B0503020204020204" charset="-122"/>
              </a:rPr>
              <a:t>研究背景与问题提出</a:t>
            </a:r>
            <a:endParaRPr lang="zh-CN" sz="1125">
              <a:solidFill>
                <a:srgbClr val="AFC6E8"/>
              </a:solidFill>
              <a:latin typeface="微软雅黑" panose="020B0503020204020204" charset="-122"/>
              <a:ea typeface="微软雅黑" panose="020B0503020204020204" charset="-122"/>
            </a:endParaRPr>
          </a:p>
        </p:txBody>
      </p:sp>
      <p:sp>
        <p:nvSpPr>
          <p:cNvPr id="1616" name="圆角矩形 1615"/>
          <p:cNvSpPr/>
          <p:nvPr/>
        </p:nvSpPr>
        <p:spPr>
          <a:xfrm>
            <a:off x="11468100" y="238125"/>
            <a:ext cx="342900" cy="219075"/>
          </a:xfrm>
          <a:prstGeom prst="roundRect">
            <a:avLst>
              <a:gd name="adj" fmla="val 13043"/>
            </a:avLst>
          </a:prstGeom>
          <a:solidFill>
            <a:srgbClr val="FFC107"/>
          </a:solidFill>
        </p:spPr>
        <p:txBody>
          <a:bodyPr/>
          <a:p/>
        </p:txBody>
      </p:sp>
      <p:sp>
        <p:nvSpPr>
          <p:cNvPr id="1617" name="文本框 1616"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06</a:t>
            </a:r>
            <a:endParaRPr lang="en-US" sz="1050" b="1">
              <a:solidFill>
                <a:srgbClr val="0B3A82"/>
              </a:solidFill>
              <a:latin typeface="微软雅黑" panose="020B0503020204020204" charset="-122"/>
              <a:ea typeface="微软雅黑" panose="020B0503020204020204" charset="-122"/>
            </a:endParaRPr>
          </a:p>
        </p:txBody>
      </p:sp>
      <p:sp>
        <p:nvSpPr>
          <p:cNvPr id="1633" name="任意多边形 1632"/>
          <p:cNvSpPr/>
          <p:nvPr/>
        </p:nvSpPr>
        <p:spPr>
          <a:xfrm>
            <a:off x="0" y="647700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634" name="文本框 1633" descr="{&quot;isTemplate&quot;:true,&quot;type&quot;:&quot;text&quot;}"/>
          <p:cNvSpPr txBox="1"/>
          <p:nvPr/>
        </p:nvSpPr>
        <p:spPr>
          <a:xfrm>
            <a:off x="381000" y="659130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635" name="文本框 1634" descr="{&quot;isTemplate&quot;:true,&quot;type&quot;:&quot;text&quot;}"/>
          <p:cNvSpPr txBox="1"/>
          <p:nvPr/>
        </p:nvSpPr>
        <p:spPr>
          <a:xfrm>
            <a:off x="11353800" y="659130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06 / 36</a:t>
            </a:r>
            <a:endParaRPr lang="en-US" sz="1050">
              <a:solidFill>
                <a:srgbClr val="1E4FA8"/>
              </a:solidFill>
              <a:latin typeface="微软雅黑" panose="020B0503020204020204" charset="-122"/>
              <a:ea typeface="微软雅黑" panose="020B0503020204020204" charset="-122"/>
            </a:endParaRPr>
          </a:p>
        </p:txBody>
      </p:sp>
      <p:sp>
        <p:nvSpPr>
          <p:cNvPr id="1636" name="矩形 1635"/>
          <p:cNvSpPr/>
          <p:nvPr/>
        </p:nvSpPr>
        <p:spPr>
          <a:xfrm>
            <a:off x="0" y="685800"/>
            <a:ext cx="57150" cy="1162050"/>
          </a:xfrm>
          <a:prstGeom prst="rect">
            <a:avLst/>
          </a:prstGeom>
          <a:solidFill>
            <a:srgbClr val="FFC107"/>
          </a:solidFill>
        </p:spPr>
        <p:txBody>
          <a:bodyPr/>
          <a:p/>
        </p:txBody>
      </p:sp>
      <p:sp>
        <p:nvSpPr>
          <p:cNvPr id="1637" name="矩形 1636"/>
          <p:cNvSpPr/>
          <p:nvPr/>
        </p:nvSpPr>
        <p:spPr>
          <a:xfrm>
            <a:off x="0" y="1847850"/>
            <a:ext cx="57150" cy="1162050"/>
          </a:xfrm>
          <a:prstGeom prst="rect">
            <a:avLst/>
          </a:prstGeom>
          <a:solidFill>
            <a:srgbClr val="C9D6E8"/>
          </a:solidFill>
        </p:spPr>
        <p:txBody>
          <a:bodyPr/>
          <a:p/>
        </p:txBody>
      </p:sp>
      <p:sp>
        <p:nvSpPr>
          <p:cNvPr id="1638" name="矩形 1637"/>
          <p:cNvSpPr/>
          <p:nvPr/>
        </p:nvSpPr>
        <p:spPr>
          <a:xfrm>
            <a:off x="0" y="3009900"/>
            <a:ext cx="57150" cy="1162050"/>
          </a:xfrm>
          <a:prstGeom prst="rect">
            <a:avLst/>
          </a:prstGeom>
          <a:solidFill>
            <a:srgbClr val="C9D6E8"/>
          </a:solidFill>
        </p:spPr>
        <p:txBody>
          <a:bodyPr/>
          <a:p/>
        </p:txBody>
      </p:sp>
      <p:sp>
        <p:nvSpPr>
          <p:cNvPr id="1639" name="矩形 1638"/>
          <p:cNvSpPr/>
          <p:nvPr/>
        </p:nvSpPr>
        <p:spPr>
          <a:xfrm>
            <a:off x="0" y="4171950"/>
            <a:ext cx="57150" cy="1162050"/>
          </a:xfrm>
          <a:prstGeom prst="rect">
            <a:avLst/>
          </a:prstGeom>
          <a:solidFill>
            <a:srgbClr val="C9D6E8"/>
          </a:solidFill>
        </p:spPr>
        <p:txBody>
          <a:bodyPr/>
          <a:p/>
        </p:txBody>
      </p:sp>
      <p:sp>
        <p:nvSpPr>
          <p:cNvPr id="1640" name="矩形 1639"/>
          <p:cNvSpPr/>
          <p:nvPr/>
        </p:nvSpPr>
        <p:spPr>
          <a:xfrm>
            <a:off x="0" y="5334000"/>
            <a:ext cx="57150" cy="1143000"/>
          </a:xfrm>
          <a:prstGeom prst="rect">
            <a:avLst/>
          </a:prstGeom>
          <a:solidFill>
            <a:srgbClr val="C9D6E8"/>
          </a:solidFill>
        </p:spPr>
        <p:txBody>
          <a:bodyPr/>
          <a:p/>
        </p:txBody>
      </p:sp>
      <p:sp>
        <p:nvSpPr>
          <p:cNvPr id="1641" name="Rounded Rectangle 1640"/>
          <p:cNvSpPr/>
          <p:nvPr/>
        </p:nvSpPr>
        <p:spPr>
          <a:xfrm>
            <a:off x="384048" y="822960"/>
            <a:ext cx="11430000" cy="438912"/>
          </a:xfrm>
          <a:prstGeom prst="roundRect">
            <a:avLst/>
          </a:prstGeom>
          <a:solidFill>
            <a:srgbClr val="0B3A82"/>
          </a:solidFill>
          <a:ln>
            <a:solidFill>
              <a:srgbClr val="0B3A82"/>
            </a:solidFill>
          </a:ln>
        </p:spPr>
        <p:style>
          <a:lnRef idx="1">
            <a:schemeClr val="accent1"/>
          </a:lnRef>
          <a:fillRef idx="3">
            <a:schemeClr val="accent1"/>
          </a:fillRef>
          <a:effectRef idx="2">
            <a:schemeClr val="accent1"/>
          </a:effectRef>
          <a:fontRef idx="minor">
            <a:schemeClr val="lt1"/>
          </a:fontRef>
        </p:style>
        <p:txBody>
          <a:bodyPr lIns="182880" tIns="9144" bIns="9144" rtlCol="0" anchor="ctr"/>
          <a:lstStyle/>
          <a:p>
            <a:pPr algn="l"/>
            <a:r>
              <a:rPr sz="1650" b="0">
                <a:solidFill>
                  <a:srgbClr val="FFFFFF"/>
                </a:solidFill>
                <a:latin typeface="微软雅黑" panose="020B0503020204020204" charset="-122"/>
              </a:rPr>
              <a:t>研究对象不是“数据中心用了多少水”，而是 AI 节点接入后整个城市水系统如何响应</a:t>
            </a:r>
            <a:endParaRPr sz="1650" b="0">
              <a:solidFill>
                <a:srgbClr val="FFFFFF"/>
              </a:solidFill>
              <a:latin typeface="微软雅黑" panose="020B0503020204020204" charset="-122"/>
            </a:endParaRPr>
          </a:p>
        </p:txBody>
      </p:sp>
      <p:sp>
        <p:nvSpPr>
          <p:cNvPr id="1642" name="Rounded Rectangle 1641"/>
          <p:cNvSpPr/>
          <p:nvPr/>
        </p:nvSpPr>
        <p:spPr>
          <a:xfrm>
            <a:off x="384175" y="1371600"/>
            <a:ext cx="7350760" cy="4114800"/>
          </a:xfrm>
          <a:prstGeom prst="roundRect">
            <a:avLst/>
          </a:prstGeom>
          <a:solidFill>
            <a:srgbClr val="FFFFFF"/>
          </a:solidFill>
          <a:ln w="11430">
            <a:solidFill>
              <a:srgbClr val="D6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Rounded Rectangle 1642"/>
          <p:cNvSpPr/>
          <p:nvPr/>
        </p:nvSpPr>
        <p:spPr>
          <a:xfrm>
            <a:off x="548640" y="1517904"/>
            <a:ext cx="1234440" cy="292608"/>
          </a:xfrm>
          <a:prstGeom prst="roundRect">
            <a:avLst/>
          </a:prstGeom>
          <a:solidFill>
            <a:srgbClr val="E8EFF8"/>
          </a:solidFill>
          <a:ln>
            <a:solidFill>
              <a:srgbClr val="E8EFF8"/>
            </a:solid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50" b="1">
                <a:solidFill>
                  <a:srgbClr val="0E3F8C"/>
                </a:solidFill>
                <a:latin typeface="微软雅黑" panose="020B0503020204020204" charset="-122"/>
              </a:rPr>
              <a:t>核心水循环</a:t>
            </a:r>
            <a:endParaRPr sz="1050" b="1">
              <a:solidFill>
                <a:srgbClr val="0E3F8C"/>
              </a:solidFill>
              <a:latin typeface="微软雅黑" panose="020B0503020204020204" charset="-122"/>
            </a:endParaRPr>
          </a:p>
        </p:txBody>
      </p:sp>
      <p:sp>
        <p:nvSpPr>
          <p:cNvPr id="1644" name="TextBox 1643"/>
          <p:cNvSpPr txBox="1"/>
          <p:nvPr/>
        </p:nvSpPr>
        <p:spPr>
          <a:xfrm>
            <a:off x="1883664" y="1517904"/>
            <a:ext cx="3886200" cy="292608"/>
          </a:xfrm>
          <a:prstGeom prst="rect">
            <a:avLst/>
          </a:prstGeom>
          <a:noFill/>
        </p:spPr>
        <p:txBody>
          <a:bodyPr wrap="none" lIns="36576" tIns="9144" rIns="36576" bIns="9144" anchor="ctr">
            <a:spAutoFit/>
          </a:bodyPr>
          <a:lstStyle/>
          <a:p>
            <a:pPr algn="l"/>
            <a:r>
              <a:rPr sz="1150" b="0">
                <a:solidFill>
                  <a:srgbClr val="5E6B7E"/>
                </a:solidFill>
                <a:latin typeface="微软雅黑" panose="020B0503020204020204" charset="-122"/>
              </a:rPr>
              <a:t>供水 → 用户 / AI → 污水 → 再生回用 / 排放</a:t>
            </a:r>
            <a:endParaRPr sz="1150" b="0">
              <a:solidFill>
                <a:srgbClr val="5E6B7E"/>
              </a:solidFill>
              <a:latin typeface="微软雅黑" panose="020B0503020204020204" charset="-122"/>
            </a:endParaRPr>
          </a:p>
        </p:txBody>
      </p:sp>
      <p:pic>
        <p:nvPicPr>
          <p:cNvPr id="1645" name="Picture 1644" descr="slide6_water_ai_network_cropped.png"/>
          <p:cNvPicPr>
            <a:picLocks noChangeAspect="1"/>
          </p:cNvPicPr>
          <p:nvPr/>
        </p:nvPicPr>
        <p:blipFill>
          <a:blip r:embed="rId1"/>
          <a:stretch>
            <a:fillRect/>
          </a:stretch>
        </p:blipFill>
        <p:spPr>
          <a:xfrm>
            <a:off x="521335" y="1783080"/>
            <a:ext cx="7088505" cy="3273425"/>
          </a:xfrm>
          <a:prstGeom prst="rect">
            <a:avLst/>
          </a:prstGeom>
        </p:spPr>
      </p:pic>
      <p:sp>
        <p:nvSpPr>
          <p:cNvPr id="1646" name="Rounded Rectangle 1645"/>
          <p:cNvSpPr/>
          <p:nvPr/>
        </p:nvSpPr>
        <p:spPr>
          <a:xfrm>
            <a:off x="576072" y="1847088"/>
            <a:ext cx="1005840" cy="292608"/>
          </a:xfrm>
          <a:prstGeom prst="roundRect">
            <a:avLst/>
          </a:prstGeom>
          <a:solidFill>
            <a:srgbClr val="FFFFFF"/>
          </a:solidFill>
          <a:ln w="8890">
            <a:solidFill>
              <a:srgbClr val="1769C2"/>
            </a:solidFill>
          </a:ln>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050" b="1">
                <a:solidFill>
                  <a:srgbClr val="0E3F8C"/>
                </a:solidFill>
                <a:latin typeface="微软雅黑" panose="020B0503020204020204" charset="-122"/>
              </a:rPr>
              <a:t>外部水源</a:t>
            </a:r>
            <a:endParaRPr sz="1050" b="1">
              <a:solidFill>
                <a:srgbClr val="0E3F8C"/>
              </a:solidFill>
              <a:latin typeface="微软雅黑" panose="020B0503020204020204" charset="-122"/>
            </a:endParaRPr>
          </a:p>
        </p:txBody>
      </p:sp>
      <p:sp>
        <p:nvSpPr>
          <p:cNvPr id="1647" name="Rounded Rectangle 1646"/>
          <p:cNvSpPr/>
          <p:nvPr/>
        </p:nvSpPr>
        <p:spPr>
          <a:xfrm>
            <a:off x="1024128" y="3182112"/>
            <a:ext cx="1069848" cy="292608"/>
          </a:xfrm>
          <a:prstGeom prst="roundRect">
            <a:avLst/>
          </a:prstGeom>
          <a:solidFill>
            <a:srgbClr val="FFFFFF"/>
          </a:solidFill>
          <a:ln w="8890">
            <a:solidFill>
              <a:srgbClr val="1769C2"/>
            </a:solidFill>
          </a:ln>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050" b="1">
                <a:solidFill>
                  <a:srgbClr val="0E3F8C"/>
                </a:solidFill>
                <a:latin typeface="微软雅黑" panose="020B0503020204020204" charset="-122"/>
              </a:rPr>
              <a:t>给水处理</a:t>
            </a:r>
            <a:endParaRPr sz="1050" b="1">
              <a:solidFill>
                <a:srgbClr val="0E3F8C"/>
              </a:solidFill>
              <a:latin typeface="微软雅黑" panose="020B0503020204020204" charset="-122"/>
            </a:endParaRPr>
          </a:p>
        </p:txBody>
      </p:sp>
      <p:sp>
        <p:nvSpPr>
          <p:cNvPr id="1648" name="Rounded Rectangle 1647"/>
          <p:cNvSpPr/>
          <p:nvPr/>
        </p:nvSpPr>
        <p:spPr>
          <a:xfrm>
            <a:off x="3090672" y="2441448"/>
            <a:ext cx="1417320" cy="292608"/>
          </a:xfrm>
          <a:prstGeom prst="roundRect">
            <a:avLst/>
          </a:prstGeom>
          <a:solidFill>
            <a:srgbClr val="FFFFFF"/>
          </a:solidFill>
          <a:ln w="8890">
            <a:solidFill>
              <a:srgbClr val="1769C2"/>
            </a:solidFill>
          </a:ln>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050" b="1">
                <a:solidFill>
                  <a:srgbClr val="0E3F8C"/>
                </a:solidFill>
                <a:latin typeface="微软雅黑" panose="020B0503020204020204" charset="-122"/>
              </a:rPr>
              <a:t>传统城市用户</a:t>
            </a:r>
            <a:endParaRPr sz="1050" b="1">
              <a:solidFill>
                <a:srgbClr val="0E3F8C"/>
              </a:solidFill>
              <a:latin typeface="微软雅黑" panose="020B0503020204020204" charset="-122"/>
            </a:endParaRPr>
          </a:p>
        </p:txBody>
      </p:sp>
      <p:sp>
        <p:nvSpPr>
          <p:cNvPr id="1649" name="Rounded Rectangle 1648"/>
          <p:cNvSpPr/>
          <p:nvPr/>
        </p:nvSpPr>
        <p:spPr>
          <a:xfrm>
            <a:off x="3493008" y="4133087"/>
            <a:ext cx="1417320" cy="329184"/>
          </a:xfrm>
          <a:prstGeom prst="roundRect">
            <a:avLst/>
          </a:prstGeom>
          <a:solidFill>
            <a:srgbClr val="FFC107"/>
          </a:solidFill>
          <a:ln w="8890">
            <a:solidFill>
              <a:srgbClr val="FFC107"/>
            </a:solidFill>
          </a:ln>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120" b="1">
                <a:solidFill>
                  <a:srgbClr val="0B3A82"/>
                </a:solidFill>
                <a:latin typeface="微软雅黑" panose="020B0503020204020204" charset="-122"/>
              </a:rPr>
              <a:t>AI 数据中心</a:t>
            </a:r>
            <a:endParaRPr sz="1120" b="1">
              <a:solidFill>
                <a:srgbClr val="0B3A82"/>
              </a:solidFill>
              <a:latin typeface="微软雅黑" panose="020B0503020204020204" charset="-122"/>
            </a:endParaRPr>
          </a:p>
        </p:txBody>
      </p:sp>
      <p:sp>
        <p:nvSpPr>
          <p:cNvPr id="1650" name="Rounded Rectangle 1649"/>
          <p:cNvSpPr/>
          <p:nvPr/>
        </p:nvSpPr>
        <p:spPr>
          <a:xfrm>
            <a:off x="5065776" y="3886200"/>
            <a:ext cx="1078992" cy="292608"/>
          </a:xfrm>
          <a:prstGeom prst="roundRect">
            <a:avLst/>
          </a:prstGeom>
          <a:solidFill>
            <a:srgbClr val="FFFFFF"/>
          </a:solidFill>
          <a:ln w="8890">
            <a:solidFill>
              <a:srgbClr val="6B7A90"/>
            </a:solidFill>
          </a:ln>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050" b="1">
                <a:solidFill>
                  <a:srgbClr val="27354A"/>
                </a:solidFill>
                <a:latin typeface="微软雅黑" panose="020B0503020204020204" charset="-122"/>
              </a:rPr>
              <a:t>污水处理</a:t>
            </a:r>
            <a:endParaRPr sz="1050" b="1">
              <a:solidFill>
                <a:srgbClr val="27354A"/>
              </a:solidFill>
              <a:latin typeface="微软雅黑" panose="020B0503020204020204" charset="-122"/>
            </a:endParaRPr>
          </a:p>
        </p:txBody>
      </p:sp>
      <p:sp>
        <p:nvSpPr>
          <p:cNvPr id="1651" name="Rounded Rectangle 1650"/>
          <p:cNvSpPr/>
          <p:nvPr/>
        </p:nvSpPr>
        <p:spPr>
          <a:xfrm>
            <a:off x="6144768" y="4187952"/>
            <a:ext cx="1078992" cy="292608"/>
          </a:xfrm>
          <a:prstGeom prst="roundRect">
            <a:avLst/>
          </a:prstGeom>
          <a:solidFill>
            <a:srgbClr val="FFFFFF"/>
          </a:solidFill>
          <a:ln w="8890">
            <a:solidFill>
              <a:srgbClr val="13AFC1"/>
            </a:solidFill>
          </a:ln>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050" b="1">
                <a:solidFill>
                  <a:srgbClr val="087F8E"/>
                </a:solidFill>
                <a:latin typeface="微软雅黑" panose="020B0503020204020204" charset="-122"/>
              </a:rPr>
              <a:t>再生水</a:t>
            </a:r>
            <a:endParaRPr sz="1050" b="1">
              <a:solidFill>
                <a:srgbClr val="087F8E"/>
              </a:solidFill>
              <a:latin typeface="微软雅黑" panose="020B0503020204020204" charset="-122"/>
            </a:endParaRPr>
          </a:p>
        </p:txBody>
      </p:sp>
      <p:sp>
        <p:nvSpPr>
          <p:cNvPr id="1652" name="Rounded Rectangle 1651"/>
          <p:cNvSpPr/>
          <p:nvPr/>
        </p:nvSpPr>
        <p:spPr>
          <a:xfrm>
            <a:off x="6675120" y="2880360"/>
            <a:ext cx="941832" cy="292608"/>
          </a:xfrm>
          <a:prstGeom prst="roundRect">
            <a:avLst/>
          </a:prstGeom>
          <a:solidFill>
            <a:srgbClr val="FFFFFF"/>
          </a:solidFill>
          <a:ln w="8890">
            <a:solidFill>
              <a:srgbClr val="EF7D32"/>
            </a:solidFill>
          </a:ln>
        </p:spPr>
        <p:style>
          <a:lnRef idx="1">
            <a:schemeClr val="accent1"/>
          </a:lnRef>
          <a:fillRef idx="3">
            <a:schemeClr val="accent1"/>
          </a:fillRef>
          <a:effectRef idx="2">
            <a:schemeClr val="accent1"/>
          </a:effectRef>
          <a:fontRef idx="minor">
            <a:schemeClr val="lt1"/>
          </a:fontRef>
        </p:style>
        <p:txBody>
          <a:bodyPr lIns="18288" tIns="0" rIns="18288" bIns="0" rtlCol="0" anchor="ctr"/>
          <a:lstStyle/>
          <a:p>
            <a:pPr algn="ctr"/>
            <a:r>
              <a:rPr sz="1030" b="1">
                <a:solidFill>
                  <a:srgbClr val="B85C1C"/>
                </a:solidFill>
                <a:latin typeface="微软雅黑" panose="020B0503020204020204" charset="-122"/>
              </a:rPr>
              <a:t>环境排放</a:t>
            </a:r>
            <a:endParaRPr sz="1030" b="1">
              <a:solidFill>
                <a:srgbClr val="B85C1C"/>
              </a:solidFill>
              <a:latin typeface="微软雅黑" panose="020B0503020204020204" charset="-122"/>
            </a:endParaRPr>
          </a:p>
        </p:txBody>
      </p:sp>
      <p:sp>
        <p:nvSpPr>
          <p:cNvPr id="1653" name="Rectangle 1652"/>
          <p:cNvSpPr/>
          <p:nvPr/>
        </p:nvSpPr>
        <p:spPr>
          <a:xfrm>
            <a:off x="658368" y="5184648"/>
            <a:ext cx="182880" cy="41148"/>
          </a:xfrm>
          <a:prstGeom prst="rect">
            <a:avLst/>
          </a:prstGeom>
          <a:solidFill>
            <a:srgbClr val="1769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TextBox 1653"/>
          <p:cNvSpPr txBox="1"/>
          <p:nvPr/>
        </p:nvSpPr>
        <p:spPr>
          <a:xfrm>
            <a:off x="896112" y="5129784"/>
            <a:ext cx="640080" cy="164592"/>
          </a:xfrm>
          <a:prstGeom prst="rect">
            <a:avLst/>
          </a:prstGeom>
          <a:noFill/>
        </p:spPr>
        <p:txBody>
          <a:bodyPr wrap="none" lIns="36576" tIns="9144" rIns="36576" bIns="9144" anchor="ctr">
            <a:spAutoFit/>
          </a:bodyPr>
          <a:lstStyle/>
          <a:p>
            <a:pPr algn="l"/>
            <a:r>
              <a:rPr sz="930" b="0">
                <a:solidFill>
                  <a:srgbClr val="5E6B7E"/>
                </a:solidFill>
                <a:latin typeface="微软雅黑" panose="020B0503020204020204" charset="-122"/>
              </a:rPr>
              <a:t>供水</a:t>
            </a:r>
            <a:endParaRPr sz="930" b="0">
              <a:solidFill>
                <a:srgbClr val="5E6B7E"/>
              </a:solidFill>
              <a:latin typeface="微软雅黑" panose="020B0503020204020204" charset="-122"/>
            </a:endParaRPr>
          </a:p>
        </p:txBody>
      </p:sp>
      <p:sp>
        <p:nvSpPr>
          <p:cNvPr id="1655" name="Rectangle 1654"/>
          <p:cNvSpPr/>
          <p:nvPr/>
        </p:nvSpPr>
        <p:spPr>
          <a:xfrm>
            <a:off x="1600200" y="5184648"/>
            <a:ext cx="182880" cy="41148"/>
          </a:xfrm>
          <a:prstGeom prst="rect">
            <a:avLst/>
          </a:prstGeom>
          <a:solidFill>
            <a:srgbClr val="6B7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TextBox 1655"/>
          <p:cNvSpPr txBox="1"/>
          <p:nvPr/>
        </p:nvSpPr>
        <p:spPr>
          <a:xfrm>
            <a:off x="1837943" y="5129784"/>
            <a:ext cx="640080" cy="164592"/>
          </a:xfrm>
          <a:prstGeom prst="rect">
            <a:avLst/>
          </a:prstGeom>
          <a:noFill/>
        </p:spPr>
        <p:txBody>
          <a:bodyPr wrap="none" lIns="36576" tIns="9144" rIns="36576" bIns="9144" anchor="ctr">
            <a:spAutoFit/>
          </a:bodyPr>
          <a:lstStyle/>
          <a:p>
            <a:pPr algn="l"/>
            <a:r>
              <a:rPr sz="930" b="0">
                <a:solidFill>
                  <a:srgbClr val="5E6B7E"/>
                </a:solidFill>
                <a:latin typeface="微软雅黑" panose="020B0503020204020204" charset="-122"/>
              </a:rPr>
              <a:t>污水</a:t>
            </a:r>
            <a:endParaRPr sz="930" b="0">
              <a:solidFill>
                <a:srgbClr val="5E6B7E"/>
              </a:solidFill>
              <a:latin typeface="微软雅黑" panose="020B0503020204020204" charset="-122"/>
            </a:endParaRPr>
          </a:p>
        </p:txBody>
      </p:sp>
      <p:sp>
        <p:nvSpPr>
          <p:cNvPr id="1657" name="Rectangle 1656"/>
          <p:cNvSpPr/>
          <p:nvPr/>
        </p:nvSpPr>
        <p:spPr>
          <a:xfrm>
            <a:off x="2542032" y="5184648"/>
            <a:ext cx="182880" cy="41148"/>
          </a:xfrm>
          <a:prstGeom prst="rect">
            <a:avLst/>
          </a:prstGeom>
          <a:solidFill>
            <a:srgbClr val="13AF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TextBox 1657"/>
          <p:cNvSpPr txBox="1"/>
          <p:nvPr/>
        </p:nvSpPr>
        <p:spPr>
          <a:xfrm>
            <a:off x="2779776" y="5129784"/>
            <a:ext cx="640080" cy="164592"/>
          </a:xfrm>
          <a:prstGeom prst="rect">
            <a:avLst/>
          </a:prstGeom>
          <a:noFill/>
        </p:spPr>
        <p:txBody>
          <a:bodyPr wrap="none" lIns="36576" tIns="9144" rIns="36576" bIns="9144" anchor="ctr">
            <a:spAutoFit/>
          </a:bodyPr>
          <a:lstStyle/>
          <a:p>
            <a:pPr algn="l"/>
            <a:r>
              <a:rPr sz="930" b="0">
                <a:solidFill>
                  <a:srgbClr val="5E6B7E"/>
                </a:solidFill>
                <a:latin typeface="微软雅黑" panose="020B0503020204020204" charset="-122"/>
              </a:rPr>
              <a:t>再生水</a:t>
            </a:r>
            <a:endParaRPr sz="930" b="0">
              <a:solidFill>
                <a:srgbClr val="5E6B7E"/>
              </a:solidFill>
              <a:latin typeface="微软雅黑" panose="020B0503020204020204" charset="-122"/>
            </a:endParaRPr>
          </a:p>
        </p:txBody>
      </p:sp>
      <p:sp>
        <p:nvSpPr>
          <p:cNvPr id="1659" name="Rectangle 1658"/>
          <p:cNvSpPr/>
          <p:nvPr/>
        </p:nvSpPr>
        <p:spPr>
          <a:xfrm>
            <a:off x="3767328" y="5184648"/>
            <a:ext cx="182880" cy="41148"/>
          </a:xfrm>
          <a:prstGeom prst="rect">
            <a:avLst/>
          </a:prstGeom>
          <a:solidFill>
            <a:srgbClr val="EF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TextBox 1659"/>
          <p:cNvSpPr txBox="1"/>
          <p:nvPr/>
        </p:nvSpPr>
        <p:spPr>
          <a:xfrm>
            <a:off x="4005072" y="5129784"/>
            <a:ext cx="640080" cy="164592"/>
          </a:xfrm>
          <a:prstGeom prst="rect">
            <a:avLst/>
          </a:prstGeom>
          <a:noFill/>
        </p:spPr>
        <p:txBody>
          <a:bodyPr wrap="none" lIns="36576" tIns="9144" rIns="36576" bIns="9144" anchor="ctr">
            <a:spAutoFit/>
          </a:bodyPr>
          <a:lstStyle/>
          <a:p>
            <a:pPr algn="l"/>
            <a:r>
              <a:rPr sz="930" b="0">
                <a:solidFill>
                  <a:srgbClr val="5E6B7E"/>
                </a:solidFill>
                <a:latin typeface="微软雅黑" panose="020B0503020204020204" charset="-122"/>
              </a:rPr>
              <a:t>最终排放</a:t>
            </a:r>
            <a:endParaRPr sz="930" b="0">
              <a:solidFill>
                <a:srgbClr val="5E6B7E"/>
              </a:solidFill>
              <a:latin typeface="微软雅黑" panose="020B0503020204020204" charset="-122"/>
            </a:endParaRPr>
          </a:p>
        </p:txBody>
      </p:sp>
      <p:sp>
        <p:nvSpPr>
          <p:cNvPr id="1661" name="TextBox 1660"/>
          <p:cNvSpPr txBox="1"/>
          <p:nvPr/>
        </p:nvSpPr>
        <p:spPr>
          <a:xfrm>
            <a:off x="4937760" y="5093208"/>
            <a:ext cx="2514600" cy="219456"/>
          </a:xfrm>
          <a:prstGeom prst="rect">
            <a:avLst/>
          </a:prstGeom>
          <a:noFill/>
        </p:spPr>
        <p:txBody>
          <a:bodyPr wrap="none" lIns="36576" tIns="9144" rIns="36576" bIns="9144" anchor="ctr">
            <a:spAutoFit/>
          </a:bodyPr>
          <a:lstStyle/>
          <a:p>
            <a:pPr algn="r"/>
            <a:r>
              <a:rPr sz="950" b="1">
                <a:solidFill>
                  <a:srgbClr val="27354A"/>
                </a:solidFill>
                <a:latin typeface="微软雅黑" panose="020B0503020204020204" charset="-122"/>
              </a:rPr>
              <a:t>AI 节点同时产生取水、蒸发消耗与排污回流</a:t>
            </a:r>
            <a:endParaRPr sz="950" b="1">
              <a:solidFill>
                <a:srgbClr val="27354A"/>
              </a:solidFill>
              <a:latin typeface="微软雅黑" panose="020B0503020204020204" charset="-122"/>
            </a:endParaRPr>
          </a:p>
        </p:txBody>
      </p:sp>
      <p:sp>
        <p:nvSpPr>
          <p:cNvPr id="1674" name="Rectangle 1673"/>
          <p:cNvSpPr/>
          <p:nvPr/>
        </p:nvSpPr>
        <p:spPr>
          <a:xfrm>
            <a:off x="429768" y="5596128"/>
            <a:ext cx="11430000" cy="804672"/>
          </a:xfrm>
          <a:prstGeom prst="rect">
            <a:avLst/>
          </a:prstGeom>
          <a:solidFill>
            <a:srgbClr val="E8EFF8"/>
          </a:solidFill>
          <a:ln>
            <a:solidFill>
              <a:srgbClr val="E8EF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Rectangle 1674"/>
          <p:cNvSpPr/>
          <p:nvPr/>
        </p:nvSpPr>
        <p:spPr>
          <a:xfrm>
            <a:off x="429768" y="5596128"/>
            <a:ext cx="45720" cy="804672"/>
          </a:xfrm>
          <a:prstGeom prst="rect">
            <a:avLst/>
          </a:prstGeom>
          <a:solidFill>
            <a:srgbClr val="1769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TextBox 1675"/>
          <p:cNvSpPr txBox="1"/>
          <p:nvPr/>
        </p:nvSpPr>
        <p:spPr>
          <a:xfrm>
            <a:off x="621792" y="5705856"/>
            <a:ext cx="10927080" cy="502920"/>
          </a:xfrm>
          <a:prstGeom prst="rect">
            <a:avLst/>
          </a:prstGeom>
          <a:noFill/>
        </p:spPr>
        <p:txBody>
          <a:bodyPr wrap="none" lIns="36576" tIns="9144" rIns="36576" bIns="9144" anchor="ctr">
            <a:spAutoFit/>
          </a:bodyPr>
          <a:lstStyle/>
          <a:p>
            <a:pPr algn="l"/>
            <a:r>
              <a:rPr sz="1700" b="1">
                <a:solidFill>
                  <a:srgbClr val="27354A"/>
                </a:solidFill>
                <a:latin typeface="微软雅黑" panose="020B0503020204020204" charset="-122"/>
              </a:rPr>
              <a:t>研究对象 = AI 节点接入后的城市水代谢响应　｜　核心输出 = CAWCC + 主导瓶颈</a:t>
            </a:r>
            <a:endParaRPr sz="1700" b="1">
              <a:solidFill>
                <a:srgbClr val="27354A"/>
              </a:solidFill>
              <a:latin typeface="微软雅黑" panose="020B0503020204020204" charset="-122"/>
            </a:endParaRPr>
          </a:p>
        </p:txBody>
      </p:sp>
      <p:sp>
        <p:nvSpPr>
          <p:cNvPr id="1622" name="圆角矩形 1621"/>
          <p:cNvSpPr/>
          <p:nvPr/>
        </p:nvSpPr>
        <p:spPr>
          <a:xfrm>
            <a:off x="7944485" y="1371600"/>
            <a:ext cx="3866515" cy="2171700"/>
          </a:xfrm>
          <a:prstGeom prst="roundRect">
            <a:avLst>
              <a:gd name="adj" fmla="val 2632"/>
            </a:avLst>
          </a:prstGeom>
          <a:solidFill>
            <a:srgbClr val="F7F9FC"/>
          </a:solidFill>
          <a:ln w="12700">
            <a:solidFill>
              <a:srgbClr val="D6DCE5"/>
            </a:solidFill>
            <a:prstDash val="solid"/>
          </a:ln>
        </p:spPr>
        <p:txBody>
          <a:bodyPr/>
          <a:p/>
        </p:txBody>
      </p:sp>
      <p:sp>
        <p:nvSpPr>
          <p:cNvPr id="1623" name="任意多边形 1622"/>
          <p:cNvSpPr/>
          <p:nvPr/>
        </p:nvSpPr>
        <p:spPr>
          <a:xfrm>
            <a:off x="8037830" y="1524000"/>
            <a:ext cx="3668395" cy="266700"/>
          </a:xfrm>
          <a:custGeom>
            <a:avLst/>
            <a:gdLst/>
            <a:ahLst/>
            <a:cxnLst/>
            <a:pathLst>
              <a:path w="499" h="28">
                <a:moveTo>
                  <a:pt x="0" y="0"/>
                </a:moveTo>
                <a:lnTo>
                  <a:pt x="5" y="0"/>
                </a:lnTo>
                <a:lnTo>
                  <a:pt x="5" y="28"/>
                </a:lnTo>
                <a:lnTo>
                  <a:pt x="0" y="28"/>
                </a:lnTo>
                <a:close/>
              </a:path>
            </a:pathLst>
          </a:custGeom>
          <a:solidFill>
            <a:srgbClr val="1E4FA8"/>
          </a:solidFill>
        </p:spPr>
        <p:txBody>
          <a:bodyPr/>
          <a:p/>
        </p:txBody>
      </p:sp>
      <p:sp>
        <p:nvSpPr>
          <p:cNvPr id="1624" name="文本框 1623" descr="{&quot;isTemplate&quot;:true,&quot;type&quot;:&quot;text&quot;}"/>
          <p:cNvSpPr txBox="1"/>
          <p:nvPr/>
        </p:nvSpPr>
        <p:spPr>
          <a:xfrm>
            <a:off x="8152130" y="1524000"/>
            <a:ext cx="3506470"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纳入研究的系统边界</a:t>
            </a:r>
            <a:endParaRPr lang="zh-CN" sz="1725" b="1">
              <a:solidFill>
                <a:srgbClr val="0E3F8C"/>
              </a:solidFill>
              <a:latin typeface="微软雅黑" panose="020B0503020204020204" charset="-122"/>
              <a:ea typeface="微软雅黑" panose="020B0503020204020204" charset="-122"/>
            </a:endParaRPr>
          </a:p>
        </p:txBody>
      </p:sp>
      <p:sp>
        <p:nvSpPr>
          <p:cNvPr id="1625" name="文本框 1624" descr="{&quot;isTemplate&quot;:true,&quot;type&quot;:&quot;text&quot;}"/>
          <p:cNvSpPr txBox="1"/>
          <p:nvPr/>
        </p:nvSpPr>
        <p:spPr>
          <a:xfrm>
            <a:off x="8027035" y="1866900"/>
            <a:ext cx="3631565" cy="1019175"/>
          </a:xfrm>
          <a:prstGeom prst="rect">
            <a:avLst/>
          </a:prstGeom>
        </p:spPr>
        <p:txBody>
          <a:bodyPr wrap="square" lIns="0" tIns="0" rIns="0" bIns="0"/>
          <a:p>
            <a:pPr>
              <a:lnSpc>
                <a:spcPct val="155000"/>
              </a:lnSpc>
            </a:pPr>
            <a:r>
              <a:rPr lang="zh-CN" sz="1200">
                <a:solidFill>
                  <a:srgbClr val="1A2230"/>
                </a:solidFill>
                <a:latin typeface="微软雅黑" panose="020B0503020204020204" charset="-122"/>
                <a:ea typeface="微软雅黑" panose="020B0503020204020204" charset="-122"/>
              </a:rPr>
              <a:t>外部水源、给水处理、配水、用户、</a:t>
            </a:r>
            <a:r>
              <a:rPr lang="en-US" sz="1200">
                <a:solidFill>
                  <a:srgbClr val="1A2230"/>
                </a:solidFill>
                <a:latin typeface="微软雅黑" panose="020B0503020204020204" charset="-122"/>
                <a:ea typeface="微软雅黑" panose="020B0503020204020204" charset="-122"/>
              </a:rPr>
              <a:t>AI </a:t>
            </a:r>
            <a:r>
              <a:rPr lang="zh-CN" sz="1200">
                <a:solidFill>
                  <a:srgbClr val="1A2230"/>
                </a:solidFill>
                <a:latin typeface="微软雅黑" panose="020B0503020204020204" charset="-122"/>
                <a:ea typeface="微软雅黑" panose="020B0503020204020204" charset="-122"/>
              </a:rPr>
              <a:t>数据中心、污水处理、再生水输配与排放纳入同一系统；</a:t>
            </a:r>
            <a:r>
              <a:rPr lang="en-US" sz="1200">
                <a:solidFill>
                  <a:srgbClr val="1A2230"/>
                </a:solidFill>
                <a:latin typeface="微软雅黑" panose="020B0503020204020204" charset="-122"/>
                <a:ea typeface="微软雅黑" panose="020B0503020204020204" charset="-122"/>
              </a:rPr>
              <a:t>AI </a:t>
            </a:r>
            <a:r>
              <a:rPr lang="zh-CN" sz="1200">
                <a:solidFill>
                  <a:srgbClr val="1A2230"/>
                </a:solidFill>
                <a:latin typeface="微软雅黑" panose="020B0503020204020204" charset="-122"/>
                <a:ea typeface="微软雅黑" panose="020B0503020204020204" charset="-122"/>
              </a:rPr>
              <a:t>数据中心作为高连续负荷、特殊冷却、潜在水质约束的新型终端节点接入。</a:t>
            </a:r>
            <a:endParaRPr lang="zh-CN" sz="1200">
              <a:solidFill>
                <a:srgbClr val="1A2230"/>
              </a:solidFill>
              <a:latin typeface="微软雅黑" panose="020B0503020204020204" charset="-122"/>
              <a:ea typeface="微软雅黑" panose="020B0503020204020204" charset="-122"/>
            </a:endParaRPr>
          </a:p>
        </p:txBody>
      </p:sp>
      <p:sp>
        <p:nvSpPr>
          <p:cNvPr id="1626" name="圆角矩形 1625"/>
          <p:cNvSpPr/>
          <p:nvPr/>
        </p:nvSpPr>
        <p:spPr>
          <a:xfrm>
            <a:off x="7944485" y="3657600"/>
            <a:ext cx="3866515" cy="1828800"/>
          </a:xfrm>
          <a:prstGeom prst="roundRect">
            <a:avLst>
              <a:gd name="adj" fmla="val 3125"/>
            </a:avLst>
          </a:prstGeom>
          <a:solidFill>
            <a:srgbClr val="F7F9FC"/>
          </a:solidFill>
          <a:ln w="12700">
            <a:solidFill>
              <a:srgbClr val="D6DCE5"/>
            </a:solidFill>
            <a:prstDash val="solid"/>
          </a:ln>
        </p:spPr>
        <p:txBody>
          <a:bodyPr/>
          <a:p/>
        </p:txBody>
      </p:sp>
      <p:sp>
        <p:nvSpPr>
          <p:cNvPr id="1627" name="任意多边形 1626"/>
          <p:cNvSpPr/>
          <p:nvPr/>
        </p:nvSpPr>
        <p:spPr>
          <a:xfrm>
            <a:off x="8037830" y="3810000"/>
            <a:ext cx="3668395" cy="266700"/>
          </a:xfrm>
          <a:custGeom>
            <a:avLst/>
            <a:gdLst/>
            <a:ahLst/>
            <a:cxnLst/>
            <a:pathLst>
              <a:path w="499" h="28">
                <a:moveTo>
                  <a:pt x="0" y="0"/>
                </a:moveTo>
                <a:lnTo>
                  <a:pt x="5" y="0"/>
                </a:lnTo>
                <a:lnTo>
                  <a:pt x="5" y="28"/>
                </a:lnTo>
                <a:lnTo>
                  <a:pt x="0" y="28"/>
                </a:lnTo>
                <a:close/>
              </a:path>
            </a:pathLst>
          </a:custGeom>
          <a:solidFill>
            <a:srgbClr val="D9534F"/>
          </a:solidFill>
        </p:spPr>
        <p:txBody>
          <a:bodyPr/>
          <a:p/>
        </p:txBody>
      </p:sp>
      <p:sp>
        <p:nvSpPr>
          <p:cNvPr id="1628" name="文本框 1627" descr="{&quot;isTemplate&quot;:true,&quot;type&quot;:&quot;text&quot;}"/>
          <p:cNvSpPr txBox="1"/>
          <p:nvPr/>
        </p:nvSpPr>
        <p:spPr>
          <a:xfrm>
            <a:off x="8152130" y="3810000"/>
            <a:ext cx="3506470" cy="266700"/>
          </a:xfrm>
          <a:prstGeom prst="rect">
            <a:avLst/>
          </a:prstGeom>
        </p:spPr>
        <p:txBody>
          <a:bodyPr wrap="none" lIns="0" tIns="0" rIns="0" bIns="0"/>
          <a:p>
            <a:pPr>
              <a:lnSpc>
                <a:spcPct val="100000"/>
              </a:lnSpc>
            </a:pPr>
            <a:r>
              <a:rPr lang="zh-CN" sz="1725" b="1">
                <a:solidFill>
                  <a:srgbClr val="1A2230"/>
                </a:solidFill>
                <a:latin typeface="微软雅黑" panose="020B0503020204020204" charset="-122"/>
                <a:ea typeface="微软雅黑" panose="020B0503020204020204" charset="-122"/>
              </a:rPr>
              <a:t>暂不进入核心边界的部分</a:t>
            </a:r>
            <a:endParaRPr lang="zh-CN" sz="1725" b="1">
              <a:solidFill>
                <a:srgbClr val="1A2230"/>
              </a:solidFill>
              <a:latin typeface="微软雅黑" panose="020B0503020204020204" charset="-122"/>
              <a:ea typeface="微软雅黑" panose="020B0503020204020204" charset="-122"/>
            </a:endParaRPr>
          </a:p>
        </p:txBody>
      </p:sp>
      <p:sp>
        <p:nvSpPr>
          <p:cNvPr id="1629" name="文本框 1628" descr="{&quot;isTemplate&quot;:true,&quot;type&quot;:&quot;text&quot;}"/>
          <p:cNvSpPr txBox="1"/>
          <p:nvPr/>
        </p:nvSpPr>
        <p:spPr>
          <a:xfrm>
            <a:off x="8027035" y="4152900"/>
            <a:ext cx="3631565" cy="676275"/>
          </a:xfrm>
          <a:prstGeom prst="rect">
            <a:avLst/>
          </a:prstGeom>
        </p:spPr>
        <p:txBody>
          <a:bodyPr wrap="square" lIns="0" tIns="0" rIns="0" bIns="0"/>
          <a:p>
            <a:pPr>
              <a:lnSpc>
                <a:spcPct val="155000"/>
              </a:lnSpc>
            </a:pPr>
            <a:r>
              <a:rPr lang="zh-CN" sz="1200">
                <a:solidFill>
                  <a:srgbClr val="1A2230"/>
                </a:solidFill>
                <a:latin typeface="微软雅黑" panose="020B0503020204020204" charset="-122"/>
                <a:ea typeface="微软雅黑" panose="020B0503020204020204" charset="-122"/>
              </a:rPr>
              <a:t>雨洪、地下水与完整电网仅在扩展情景讨论。本地水流与异地电力水足迹分账户呈现，避免综合足迹掩盖供水压力。</a:t>
            </a:r>
            <a:endParaRPr lang="zh-CN" sz="1200">
              <a:solidFill>
                <a:srgbClr val="1A2230"/>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64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lightbulb' style={{ fill: '#FFC107', width: 22, height: 22 }} /&gt;&#13;&#10;        &lt;/Box&gt;&#13;&#10;            &lt;Text style={{ fontSize: 29, fontWeight: 'bold', color: '#FFFFFF' }}&gt;研究目的指向机制认识，理论意义与实践意义共用一条逻辑链&lt;/Text&gt;&#13;&#10;        &lt;/Box&gt;&#13;&#10;        &lt;Box style={{ flexDirection: 'row', alignItems: 'center', gap: 10 }}&gt;&#13;&#10;            &lt;Text style={{ fontSize: 15, color: '#AFC6E8' }}&gt;01 研究背景与问题提出&lt;/Text&gt;&#13;&#10;            &lt;Box style={{ background: '#FFC107', paddingLeft: 9, paddingRight: 9, paddingTop: 3, paddingBottom: 3, borderRadius: 3, justifyContent: 'center', alignItems: 'center' }}&gt;&#13;&#10;                &lt;Text style={{ fontSize: 14, color: '#0B3A82', fontWeight: 'bold' }}&gt;07&lt;/Text&gt;&#13;&#10;            &lt;/Box&gt;&#13;&#10;        &lt;/Box&gt;&#13;&#10;    &lt;/Box&gt;&#13;&#10;    &lt;Box style={{ paddingLeft: 40, paddingRight: 40, paddingTop: 14, paddingBottom: 8, flexDirection: 'column', gap: 12 }}&gt;&#13;&#10;        &lt;Box style={{ background: '#0B3A82', paddingLeft: 20, paddingTop: 10, paddingBottom: 10, borderRadius: 4 }}&gt;&#13;&#10;            &lt;Text style={{ fontSize: 19, color: '#FFFFFF', lineHeight: 1.45 }}&gt;研究目的：建立 AI 驱动的城市人工水系统代谢模型与条件化承载框架，形成从 IT 容量、冷却补水到给水、污水、再生水网络的可验证闭环，揭示结构变化、时间尺度边界与瓶颈迁移机制，为算力与水务协同规划提供容量依据&lt;/Text&gt;&#13;&#10;        &lt;/Box&gt;&#13;&#10;        &lt;Box style={{ flexDirection: 'row', gap: 14, height: 390 }}&gt;&#13;&#10;            &lt;Box style={{ flex: 1, background: '#F7F9FC', border: '1px solid #D6DCE5', borderRadius: 6, padding: 16, flexDirection: 'column' }}&gt;&#13;&#10;                &lt;Box style={{ flexDirection: 'row', alignItems: 'center', gap: 10, marginBottom: 9 }}&gt;&#13;&#10;                    &lt;Box style={{ width: 34, height: 34, background: '#1E4FA8', borderRadius: 4, justifyContent: 'center', alignItems: 'center' }}&gt;&#13;&#10;                        &lt;Text style={{ fontSize: 19, color: '#FFFFFF', fontWeight: 'bold' }}&gt;理&lt;/Text&gt;&#13;&#10;                    &lt;/Box&gt;&#13;&#10;                    &lt;Text style={{ fontSize: 24, fontWeight: 'bold', color: '#0E3F8C' }}&gt;理论意义：三条推进线&lt;/Text&gt;&#13;&#10;                &lt;/Box&gt;&#13;&#10;                &lt;Box style={{ flexDirection: 'column', gap: 8 }}&gt;&#13;&#10;                    &lt;Box style={{ background: '#FFFFFF', border: '1px solid #E5E7EB', borderLeft: '4px solid #1E4FA8', paddingLeft: 10, paddingRight: 10, paddingTop: 8, paddingBottom: 8 }}&gt;&#13;&#10;                        &lt;Text style={{ fontSize: 18, color: '#1A2230', lineHeight: 1.5 }}&gt;&lt;span style={{ fontWeight: 'bold', color: '#0E3F8C' }}&gt;拓展城市代谢理论。&lt;/span&gt;把计算驱动的资源流识别为城市代谢新型节点，使数字基础设施与水循环形成耦合分析。&lt;/Text&gt;&#13;&#10;                    &lt;/Box&gt;&#13;&#10;                    &lt;Box style={{ background: '#FFFFFF', border: '1px solid #E5E7EB', borderLeft: '4px solid #1E4FA8', paddingLeft: 10, paddingRight: 10, paddingTop: 8, paddingBottom: 8 }}&gt;&#13;&#10;                        &lt;Text style={{ fontSize: 18, color: '#1A2230', lineHeight: 1.5 }}&gt;&lt;span style={{ fontWeight: 'bold', color: '#0E3F8C' }}&gt;发展综合水系统模拟。&lt;/span&gt;显式区分取水、消耗与回流，把水量、水质、储存与峰值服务纳入统一边界。&lt;/Text&gt;&#13;&#10;                    &lt;/Box&gt;&#13;&#10;                    &lt;Box style={{ background: '#FFFFFF', border: '1px solid #E5E7EB', borderLeft: '4px solid #1E4FA8', paddingLeft: 10, paddingRight: 10, paddingTop: 8, paddingBottom: 8 }}&gt;&#13;&#10;                        &lt;Text style={{ fontSize: 18, color: '#1A2230', lineHeight: 1.5 }}&gt;&lt;span style={{ fontWeight: 'bold', color: '#0E3F8C' }}&gt;深化承载力理论。&lt;/span&gt;承载对象转化为可度量的 AI 容量，讨论资源量、设施能力与风险容忍形成的条件边界。&lt;/Text&gt;&#13;&#10;                    &lt;/Box&gt;&#13;&#10;                &lt;/Box&gt;&#13;&#10;            &lt;/Box&gt;&#13;&#10;            &lt;Box style={{ flex: 1, background: '#F7F9FC', border: '1px solid #D6DCE5', borderRadius: 6, padding: 16, flexDirection: 'column' }}&gt;&#13;&#10;                &lt;Box style={{ flexDirection: 'row', alignItems: 'center', gap: 10, marginBottom: 9 }}&gt;&#13;&#10;                    &lt;Box style={{ width: 34, height: 34, background: '#0B3A82', borderRadius: 4, justifyContent: 'center', alignItems: 'center' }}&gt;&#13;&#10;                        &lt;Text style={{ fontSize: 19, color: '#FFFFFF', fontWeight: 'bold' }}&gt;践&lt;/Text&gt;&#13;&#10;                    &lt;/Box&gt;&#13;&#10;                    &lt;Text style={{ fontSize: 24, fontWeight: 'bold', color: '#0E3F8C' }}&gt;实践意义：三类决策主体&lt;/Text&gt;&#13;&#10;                &lt;/Box&gt;&#13;&#10;                &lt;Box style={{ flexDirection: 'column', gap: 8 }}&gt;&#13;&#10;                    &lt;Box style={{ background: '#FFFFFF', border: '1px solid #E5E7EB', borderLeft: '4px solid #0B3A82', paddingLeft: 10, paddingRight: 10, paddingTop: 8, paddingBottom: 8 }}&gt;&#13;&#10;                        &lt;Text style={{ fontSize: 18, color: '#1A2230', lineHeight: 1.5 }}&gt;&lt;span style={{ fontWeight: 'bold', color: '#0B3A82' }}&gt;地方政府。&lt;/span&gt;算力选址、取水许可与水务能力统筹考虑，年均资源量、峰值服务与设施余量一并论证。&lt;/Text&gt;&#13;&#10;                    &lt;/Box&gt;&#13;&#10;                    &lt;Box style={{ background: '#FFFFFF', border: '1px solid #E5E7EB', borderLeft: '4px solid #0B3A82', paddingLeft: 10, paddingRight: 10, paddingTop: 8, paddingBottom: 8 }}&gt;&#13;&#10;                        &lt;Text style={{ fontSize: 18, color: '#1A2230', lineHeight: 1.5 }}&gt;&lt;span style={{ fontWeight: 'bold', color: '#0B3A82' }}&gt;数据中心规划者。&lt;/span&gt;比较空冷与液冷、干湿排热、淡水与再生水配置的影响，识别节水措施的能耗或碳转移。&lt;/Text&gt;&#13;&#10;                    &lt;/Box&gt;&#13;&#10;                    &lt;Box style={{ background: '#FFFFFF', border: '1px solid #E5E7EB', borderLeft: '4px solid #0B3A82', paddingLeft: 10, paddingRight: 10, paddingTop: 8, paddingBottom: 8 }}&gt;&#13;&#10;                        &lt;Text style={{ fontSize: 18, color: '#1A2230', lineHeight: 1.5 }}&gt;&lt;span style={{ fontWeight: 'bold', color: '#0B3A82' }}&gt;水务部门。&lt;/span&gt;评估 AI 扩张对给水、污水、再生水与接入的增量压力，判断扩容的有效规模与时间范围。&lt;/Text&gt;&#13;&#10;                    &lt;/Box&gt;&#13;&#10;                &lt;/Box&gt;&#13;&#10;            &lt;/Box&gt;&#13;&#10;        &lt;/Box&gt;&#13;&#10;        &lt;Box style={{ background: '#E8EFF8', borderLeft: '5px solid #FFC107', paddingLeft: 18, paddingTop: 10, paddingBottom: 10 }}&gt;&#13;&#10;            &lt;Text style={{ fontSize: 19, color: '#1A2230', lineHeight: 1.4 }}&gt;学术研究能力主线：以科学问题、可检验假设与机制解释为核心，系统训练建模、实验设计与机制解释能力&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07 / 36&lt;/Text&gt;&#13;&#10;    &lt;/Box&gt;&#13;&#10;    &lt;Box style={{ position: 'absolute', left: 0, top: 72, width: 6, height: 608, flexDirection: 'column' }}&gt;&#13;&#10;                &lt;Box style={{ width: 6, height: 122, background: '#FFC107' }} /&gt;&#13;&#10;                &lt;Box style={{ width: 6, height: 122, background: '#C9D6E8' }} /&gt;&#13;&#10;                &lt;Box style={{ width: 6, height: 122, background: '#C9D6E8'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1642" name="矩形 1641"/>
          <p:cNvSpPr/>
          <p:nvPr/>
        </p:nvSpPr>
        <p:spPr>
          <a:xfrm>
            <a:off x="0" y="0"/>
            <a:ext cx="12192000" cy="6858000"/>
          </a:xfrm>
          <a:prstGeom prst="rect">
            <a:avLst/>
          </a:prstGeom>
          <a:solidFill>
            <a:srgbClr val="FFFFFF"/>
          </a:solidFill>
        </p:spPr>
        <p:txBody>
          <a:bodyPr/>
          <a:p/>
        </p:txBody>
      </p:sp>
      <p:sp>
        <p:nvSpPr>
          <p:cNvPr id="1643" name="矩形 1642"/>
          <p:cNvSpPr/>
          <p:nvPr/>
        </p:nvSpPr>
        <p:spPr>
          <a:xfrm>
            <a:off x="0" y="0"/>
            <a:ext cx="12192000" cy="685800"/>
          </a:xfrm>
          <a:prstGeom prst="rect">
            <a:avLst/>
          </a:prstGeom>
          <a:solidFill>
            <a:srgbClr val="0E3F8C"/>
          </a:solidFill>
        </p:spPr>
        <p:txBody>
          <a:bodyPr/>
          <a:p/>
        </p:txBody>
      </p:sp>
      <p:sp>
        <p:nvSpPr>
          <p:cNvPr id="1644" name="圆角矩形 1643"/>
          <p:cNvSpPr/>
          <p:nvPr/>
        </p:nvSpPr>
        <p:spPr>
          <a:xfrm>
            <a:off x="381000" y="152400"/>
            <a:ext cx="381000" cy="381000"/>
          </a:xfrm>
          <a:prstGeom prst="roundRect">
            <a:avLst>
              <a:gd name="adj" fmla="val 25000"/>
            </a:avLst>
          </a:prstGeom>
          <a:solidFill>
            <a:srgbClr val="12489A"/>
          </a:solidFill>
        </p:spPr>
        <p:txBody>
          <a:bodyPr/>
          <a:p/>
        </p:txBody>
      </p:sp>
      <p:pic>
        <p:nvPicPr>
          <p:cNvPr id="1645" name="图片 1644"/>
          <p:cNvPicPr>
            <a:picLocks noChangeAspect="1"/>
          </p:cNvPicPr>
          <p:nvPr/>
        </p:nvPicPr>
        <p:blipFill>
          <a:blip/>
          <a:stretch>
            <a:fillRect/>
          </a:stretch>
        </p:blipFill>
        <p:spPr>
          <a:xfrm>
            <a:off x="466725" y="238125"/>
            <a:ext cx="209550" cy="209550"/>
          </a:xfrm>
          <a:prstGeom prst="rect">
            <a:avLst/>
          </a:prstGeom>
        </p:spPr>
      </p:pic>
      <p:sp>
        <p:nvSpPr>
          <p:cNvPr id="1646" name="文本框 1645" descr="{&quot;isTemplate&quot;:true,&quot;type&quot;:&quot;text&quot;}"/>
          <p:cNvSpPr txBox="1"/>
          <p:nvPr/>
        </p:nvSpPr>
        <p:spPr>
          <a:xfrm>
            <a:off x="895350" y="180975"/>
            <a:ext cx="74580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研究目的指向机制认识，理论意义与实践意义共用一条逻辑链</a:t>
            </a:r>
            <a:endParaRPr lang="zh-CN" sz="2175" b="1">
              <a:solidFill>
                <a:srgbClr val="FFFFFF"/>
              </a:solidFill>
              <a:latin typeface="微软雅黑" panose="020B0503020204020204" charset="-122"/>
              <a:ea typeface="微软雅黑" panose="020B0503020204020204" charset="-122"/>
            </a:endParaRPr>
          </a:p>
        </p:txBody>
      </p:sp>
      <p:sp>
        <p:nvSpPr>
          <p:cNvPr id="1647" name="文本框 1646" descr="{&quot;isTemplate&quot;:true,&quot;type&quot;:&quot;text&quot;}"/>
          <p:cNvSpPr txBox="1"/>
          <p:nvPr/>
        </p:nvSpPr>
        <p:spPr>
          <a:xfrm>
            <a:off x="9867900" y="266700"/>
            <a:ext cx="15049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01 </a:t>
            </a:r>
            <a:r>
              <a:rPr lang="zh-CN" sz="1125">
                <a:solidFill>
                  <a:srgbClr val="AFC6E8"/>
                </a:solidFill>
                <a:latin typeface="微软雅黑" panose="020B0503020204020204" charset="-122"/>
                <a:ea typeface="微软雅黑" panose="020B0503020204020204" charset="-122"/>
              </a:rPr>
              <a:t>研究背景与问题提出</a:t>
            </a:r>
            <a:endParaRPr lang="zh-CN" sz="1125">
              <a:solidFill>
                <a:srgbClr val="AFC6E8"/>
              </a:solidFill>
              <a:latin typeface="微软雅黑" panose="020B0503020204020204" charset="-122"/>
              <a:ea typeface="微软雅黑" panose="020B0503020204020204" charset="-122"/>
            </a:endParaRPr>
          </a:p>
        </p:txBody>
      </p:sp>
      <p:sp>
        <p:nvSpPr>
          <p:cNvPr id="1648" name="圆角矩形 1647"/>
          <p:cNvSpPr/>
          <p:nvPr/>
        </p:nvSpPr>
        <p:spPr>
          <a:xfrm>
            <a:off x="11468100" y="238125"/>
            <a:ext cx="342900" cy="219075"/>
          </a:xfrm>
          <a:prstGeom prst="roundRect">
            <a:avLst>
              <a:gd name="adj" fmla="val 13043"/>
            </a:avLst>
          </a:prstGeom>
          <a:solidFill>
            <a:srgbClr val="FFC107"/>
          </a:solidFill>
        </p:spPr>
        <p:txBody>
          <a:bodyPr/>
          <a:p/>
        </p:txBody>
      </p:sp>
      <p:sp>
        <p:nvSpPr>
          <p:cNvPr id="1649" name="文本框 164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07</a:t>
            </a:r>
            <a:endParaRPr lang="en-US" sz="1050" b="1">
              <a:solidFill>
                <a:srgbClr val="0B3A82"/>
              </a:solidFill>
              <a:latin typeface="微软雅黑" panose="020B0503020204020204" charset="-122"/>
              <a:ea typeface="微软雅黑" panose="020B0503020204020204" charset="-122"/>
            </a:endParaRPr>
          </a:p>
        </p:txBody>
      </p:sp>
      <p:sp>
        <p:nvSpPr>
          <p:cNvPr id="1650" name="圆角矩形 1649"/>
          <p:cNvSpPr/>
          <p:nvPr/>
        </p:nvSpPr>
        <p:spPr>
          <a:xfrm>
            <a:off x="381000" y="819150"/>
            <a:ext cx="11430000" cy="828675"/>
          </a:xfrm>
          <a:prstGeom prst="roundRect">
            <a:avLst>
              <a:gd name="adj" fmla="val 4598"/>
            </a:avLst>
          </a:prstGeom>
          <a:solidFill>
            <a:srgbClr val="0B3A82"/>
          </a:solidFill>
        </p:spPr>
        <p:txBody>
          <a:bodyPr/>
          <a:p/>
        </p:txBody>
      </p:sp>
      <p:sp>
        <p:nvSpPr>
          <p:cNvPr id="1651" name="文本框 1650" descr="{&quot;isTemplate&quot;:true,&quot;type&quot;:&quot;text&quot;}"/>
          <p:cNvSpPr txBox="1"/>
          <p:nvPr/>
        </p:nvSpPr>
        <p:spPr>
          <a:xfrm>
            <a:off x="571500" y="914400"/>
            <a:ext cx="11239500" cy="638175"/>
          </a:xfrm>
          <a:prstGeom prst="rect">
            <a:avLst/>
          </a:prstGeom>
        </p:spPr>
        <p:txBody>
          <a:bodyPr wrap="square" lIns="0" tIns="0" rIns="0" bIns="0">
            <a:normAutofit/>
          </a:bodyPr>
          <a:p>
            <a:pPr>
              <a:lnSpc>
                <a:spcPct val="145000"/>
              </a:lnSpc>
            </a:pPr>
            <a:r>
              <a:rPr lang="zh-CN" sz="1425">
                <a:solidFill>
                  <a:srgbClr val="FFFFFF"/>
                </a:solidFill>
                <a:latin typeface="微软雅黑" panose="020B0503020204020204" charset="-122"/>
                <a:ea typeface="微软雅黑" panose="020B0503020204020204" charset="-122"/>
              </a:rPr>
              <a:t>研究目的：建立</a:t>
            </a:r>
            <a:r>
              <a:rPr lang="en-US" sz="1425">
                <a:solidFill>
                  <a:srgbClr val="FFFFFF"/>
                </a:solidFill>
                <a:latin typeface="微软雅黑" panose="020B0503020204020204" charset="-122"/>
                <a:ea typeface="微软雅黑" panose="020B0503020204020204" charset="-122"/>
              </a:rPr>
              <a:t> AI </a:t>
            </a:r>
            <a:r>
              <a:rPr lang="zh-CN" sz="1425">
                <a:solidFill>
                  <a:srgbClr val="FFFFFF"/>
                </a:solidFill>
                <a:latin typeface="微软雅黑" panose="020B0503020204020204" charset="-122"/>
                <a:ea typeface="微软雅黑" panose="020B0503020204020204" charset="-122"/>
              </a:rPr>
              <a:t>驱动的城市人工水系统代谢模型与条件化承载框架，形成从</a:t>
            </a:r>
            <a:r>
              <a:rPr lang="en-US" sz="1425">
                <a:solidFill>
                  <a:srgbClr val="FFFFFF"/>
                </a:solidFill>
                <a:latin typeface="微软雅黑" panose="020B0503020204020204" charset="-122"/>
                <a:ea typeface="微软雅黑" panose="020B0503020204020204" charset="-122"/>
              </a:rPr>
              <a:t> IT </a:t>
            </a:r>
            <a:r>
              <a:rPr lang="zh-CN" sz="1425">
                <a:solidFill>
                  <a:srgbClr val="FFFFFF"/>
                </a:solidFill>
                <a:latin typeface="微软雅黑" panose="020B0503020204020204" charset="-122"/>
                <a:ea typeface="微软雅黑" panose="020B0503020204020204" charset="-122"/>
              </a:rPr>
              <a:t>容量、冷却补水到给水、污水、再生水网络的可验证闭环，揭示结构变化、时间尺度边界与瓶颈迁移机制，为算力与水务协同规划提供容量依据</a:t>
            </a:r>
            <a:endParaRPr lang="zh-CN" sz="1425">
              <a:solidFill>
                <a:srgbClr val="FFFFFF"/>
              </a:solidFill>
              <a:latin typeface="微软雅黑" panose="020B0503020204020204" charset="-122"/>
              <a:ea typeface="微软雅黑" panose="020B0503020204020204" charset="-122"/>
            </a:endParaRPr>
          </a:p>
        </p:txBody>
      </p:sp>
      <p:sp>
        <p:nvSpPr>
          <p:cNvPr id="1652" name="圆角矩形 1651"/>
          <p:cNvSpPr/>
          <p:nvPr/>
        </p:nvSpPr>
        <p:spPr>
          <a:xfrm>
            <a:off x="381000" y="1762125"/>
            <a:ext cx="5648325" cy="3714750"/>
          </a:xfrm>
          <a:prstGeom prst="roundRect">
            <a:avLst>
              <a:gd name="adj" fmla="val 1538"/>
            </a:avLst>
          </a:prstGeom>
          <a:solidFill>
            <a:srgbClr val="F7F9FC"/>
          </a:solidFill>
          <a:ln w="12700">
            <a:solidFill>
              <a:srgbClr val="D6DCE5"/>
            </a:solidFill>
            <a:prstDash val="solid"/>
          </a:ln>
        </p:spPr>
        <p:txBody>
          <a:bodyPr/>
          <a:p/>
        </p:txBody>
      </p:sp>
      <p:sp>
        <p:nvSpPr>
          <p:cNvPr id="1653" name="圆角矩形 1652"/>
          <p:cNvSpPr/>
          <p:nvPr/>
        </p:nvSpPr>
        <p:spPr>
          <a:xfrm>
            <a:off x="533400" y="1914525"/>
            <a:ext cx="323850" cy="323850"/>
          </a:xfrm>
          <a:prstGeom prst="roundRect">
            <a:avLst>
              <a:gd name="adj" fmla="val 11765"/>
            </a:avLst>
          </a:prstGeom>
          <a:solidFill>
            <a:srgbClr val="1E4FA8"/>
          </a:solidFill>
        </p:spPr>
        <p:txBody>
          <a:bodyPr/>
          <a:p/>
        </p:txBody>
      </p:sp>
      <p:sp>
        <p:nvSpPr>
          <p:cNvPr id="1654" name="文本框 1653" descr="{&quot;isTemplate&quot;:true,&quot;type&quot;:&quot;text&quot;}"/>
          <p:cNvSpPr txBox="1"/>
          <p:nvPr/>
        </p:nvSpPr>
        <p:spPr>
          <a:xfrm>
            <a:off x="609600" y="1971675"/>
            <a:ext cx="180975"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理</a:t>
            </a:r>
            <a:endParaRPr lang="zh-CN" sz="1425" b="1">
              <a:solidFill>
                <a:srgbClr val="FFFFFF"/>
              </a:solidFill>
              <a:latin typeface="微软雅黑" panose="020B0503020204020204" charset="-122"/>
              <a:ea typeface="微软雅黑" panose="020B0503020204020204" charset="-122"/>
            </a:endParaRPr>
          </a:p>
        </p:txBody>
      </p:sp>
      <p:sp>
        <p:nvSpPr>
          <p:cNvPr id="1655" name="文本框 1654" descr="{&quot;isTemplate&quot;:true,&quot;type&quot;:&quot;text&quot;}"/>
          <p:cNvSpPr txBox="1"/>
          <p:nvPr/>
        </p:nvSpPr>
        <p:spPr>
          <a:xfrm>
            <a:off x="952500" y="1943100"/>
            <a:ext cx="2286000" cy="276225"/>
          </a:xfrm>
          <a:prstGeom prst="rect">
            <a:avLst/>
          </a:prstGeom>
        </p:spPr>
        <p:txBody>
          <a:bodyPr wrap="none" lIns="0" tIns="0" rIns="0" bIns="0"/>
          <a:p>
            <a:pPr>
              <a:lnSpc>
                <a:spcPct val="100000"/>
              </a:lnSpc>
            </a:pPr>
            <a:r>
              <a:rPr lang="zh-CN" sz="1800" b="1">
                <a:solidFill>
                  <a:srgbClr val="0E3F8C"/>
                </a:solidFill>
                <a:latin typeface="微软雅黑" panose="020B0503020204020204" charset="-122"/>
                <a:ea typeface="微软雅黑" panose="020B0503020204020204" charset="-122"/>
              </a:rPr>
              <a:t>理论意义：三条推进线</a:t>
            </a:r>
            <a:endParaRPr lang="zh-CN" sz="1800" b="1">
              <a:solidFill>
                <a:srgbClr val="0E3F8C"/>
              </a:solidFill>
              <a:latin typeface="微软雅黑" panose="020B0503020204020204" charset="-122"/>
              <a:ea typeface="微软雅黑" panose="020B0503020204020204" charset="-122"/>
            </a:endParaRPr>
          </a:p>
        </p:txBody>
      </p:sp>
      <p:sp>
        <p:nvSpPr>
          <p:cNvPr id="1656" name="矩形 1655"/>
          <p:cNvSpPr/>
          <p:nvPr/>
        </p:nvSpPr>
        <p:spPr>
          <a:xfrm>
            <a:off x="571500" y="2324100"/>
            <a:ext cx="5343525" cy="771525"/>
          </a:xfrm>
          <a:prstGeom prst="rect">
            <a:avLst/>
          </a:prstGeom>
          <a:solidFill>
            <a:srgbClr val="FFFFFF"/>
          </a:solidFill>
        </p:spPr>
        <p:txBody>
          <a:bodyPr/>
          <a:p/>
        </p:txBody>
      </p:sp>
      <p:sp>
        <p:nvSpPr>
          <p:cNvPr id="1657" name="任意多边形 1656"/>
          <p:cNvSpPr/>
          <p:nvPr/>
        </p:nvSpPr>
        <p:spPr>
          <a:xfrm>
            <a:off x="533400" y="2324100"/>
            <a:ext cx="5381625" cy="771525"/>
          </a:xfrm>
          <a:custGeom>
            <a:avLst/>
            <a:gdLst/>
            <a:ahLst/>
            <a:cxnLst/>
            <a:pathLst>
              <a:path w="565" h="81">
                <a:moveTo>
                  <a:pt x="0" y="0"/>
                </a:moveTo>
                <a:lnTo>
                  <a:pt x="4" y="0"/>
                </a:lnTo>
                <a:lnTo>
                  <a:pt x="4" y="81"/>
                </a:lnTo>
                <a:lnTo>
                  <a:pt x="0" y="81"/>
                </a:lnTo>
                <a:close/>
              </a:path>
            </a:pathLst>
          </a:custGeom>
          <a:solidFill>
            <a:srgbClr val="1E4FA8"/>
          </a:solidFill>
        </p:spPr>
        <p:txBody>
          <a:bodyPr/>
          <a:p/>
        </p:txBody>
      </p:sp>
      <p:sp>
        <p:nvSpPr>
          <p:cNvPr id="1658" name="文本框 1657" descr="{&quot;isTemplate&quot;:true,&quot;type&quot;:&quot;text&quot;}"/>
          <p:cNvSpPr txBox="1"/>
          <p:nvPr/>
        </p:nvSpPr>
        <p:spPr>
          <a:xfrm>
            <a:off x="666750" y="2400300"/>
            <a:ext cx="5114925" cy="619125"/>
          </a:xfrm>
          <a:prstGeom prst="rect">
            <a:avLst/>
          </a:prstGeom>
        </p:spPr>
        <p:txBody>
          <a:bodyPr wrap="square" lIns="0" tIns="0" rIns="0" bIns="0">
            <a:normAutofit/>
          </a:bodyPr>
          <a:p>
            <a:pPr>
              <a:lnSpc>
                <a:spcPct val="150000"/>
              </a:lnSpc>
            </a:pPr>
            <a:r>
              <a:rPr lang="zh-CN" sz="1350" b="1">
                <a:solidFill>
                  <a:srgbClr val="0E3F8C"/>
                </a:solidFill>
                <a:latin typeface="微软雅黑" panose="020B0503020204020204" charset="-122"/>
                <a:ea typeface="微软雅黑" panose="020B0503020204020204" charset="-122"/>
              </a:rPr>
              <a:t>拓展城市代谢理论。</a:t>
            </a:r>
            <a:r>
              <a:rPr lang="zh-CN" sz="1350">
                <a:solidFill>
                  <a:srgbClr val="1A2230"/>
                </a:solidFill>
                <a:latin typeface="微软雅黑" panose="020B0503020204020204" charset="-122"/>
                <a:ea typeface="微软雅黑" panose="020B0503020204020204" charset="-122"/>
              </a:rPr>
              <a:t>把计算驱动的资源流识别为城市代谢新型节点，使数字基础设施与水循环形成耦合分析。</a:t>
            </a:r>
            <a:endParaRPr lang="zh-CN" sz="1350">
              <a:solidFill>
                <a:srgbClr val="1A2230"/>
              </a:solidFill>
              <a:latin typeface="微软雅黑" panose="020B0503020204020204" charset="-122"/>
              <a:ea typeface="微软雅黑" panose="020B0503020204020204" charset="-122"/>
            </a:endParaRPr>
          </a:p>
        </p:txBody>
      </p:sp>
      <p:sp>
        <p:nvSpPr>
          <p:cNvPr id="1659" name="矩形 1658"/>
          <p:cNvSpPr/>
          <p:nvPr/>
        </p:nvSpPr>
        <p:spPr>
          <a:xfrm>
            <a:off x="571500" y="3171825"/>
            <a:ext cx="5343525" cy="771525"/>
          </a:xfrm>
          <a:prstGeom prst="rect">
            <a:avLst/>
          </a:prstGeom>
          <a:solidFill>
            <a:srgbClr val="FFFFFF"/>
          </a:solidFill>
        </p:spPr>
        <p:txBody>
          <a:bodyPr/>
          <a:p/>
        </p:txBody>
      </p:sp>
      <p:sp>
        <p:nvSpPr>
          <p:cNvPr id="1660" name="任意多边形 1659"/>
          <p:cNvSpPr/>
          <p:nvPr/>
        </p:nvSpPr>
        <p:spPr>
          <a:xfrm>
            <a:off x="533400" y="3171825"/>
            <a:ext cx="5381625" cy="771525"/>
          </a:xfrm>
          <a:custGeom>
            <a:avLst/>
            <a:gdLst/>
            <a:ahLst/>
            <a:cxnLst/>
            <a:pathLst>
              <a:path w="565" h="81">
                <a:moveTo>
                  <a:pt x="0" y="0"/>
                </a:moveTo>
                <a:lnTo>
                  <a:pt x="4" y="0"/>
                </a:lnTo>
                <a:lnTo>
                  <a:pt x="4" y="81"/>
                </a:lnTo>
                <a:lnTo>
                  <a:pt x="0" y="81"/>
                </a:lnTo>
                <a:close/>
              </a:path>
            </a:pathLst>
          </a:custGeom>
          <a:solidFill>
            <a:srgbClr val="1E4FA8"/>
          </a:solidFill>
        </p:spPr>
        <p:txBody>
          <a:bodyPr/>
          <a:p/>
        </p:txBody>
      </p:sp>
      <p:sp>
        <p:nvSpPr>
          <p:cNvPr id="1661" name="文本框 1660" descr="{&quot;isTemplate&quot;:true,&quot;type&quot;:&quot;text&quot;}"/>
          <p:cNvSpPr txBox="1"/>
          <p:nvPr/>
        </p:nvSpPr>
        <p:spPr>
          <a:xfrm>
            <a:off x="666750" y="3248025"/>
            <a:ext cx="5114925" cy="619125"/>
          </a:xfrm>
          <a:prstGeom prst="rect">
            <a:avLst/>
          </a:prstGeom>
        </p:spPr>
        <p:txBody>
          <a:bodyPr wrap="square" lIns="0" tIns="0" rIns="0" bIns="0">
            <a:normAutofit/>
          </a:bodyPr>
          <a:p>
            <a:pPr>
              <a:lnSpc>
                <a:spcPct val="150000"/>
              </a:lnSpc>
            </a:pPr>
            <a:r>
              <a:rPr lang="zh-CN" sz="1350" b="1">
                <a:solidFill>
                  <a:srgbClr val="0E3F8C"/>
                </a:solidFill>
                <a:latin typeface="微软雅黑" panose="020B0503020204020204" charset="-122"/>
                <a:ea typeface="微软雅黑" panose="020B0503020204020204" charset="-122"/>
              </a:rPr>
              <a:t>发展综合水系统模拟。</a:t>
            </a:r>
            <a:r>
              <a:rPr lang="zh-CN" sz="1350">
                <a:solidFill>
                  <a:srgbClr val="1A2230"/>
                </a:solidFill>
                <a:latin typeface="微软雅黑" panose="020B0503020204020204" charset="-122"/>
                <a:ea typeface="微软雅黑" panose="020B0503020204020204" charset="-122"/>
              </a:rPr>
              <a:t>显式区分取水、消耗与回流，把水量、水质、储存与峰值服务纳入统一边界。</a:t>
            </a:r>
            <a:endParaRPr lang="zh-CN" sz="1350">
              <a:solidFill>
                <a:srgbClr val="1A2230"/>
              </a:solidFill>
              <a:latin typeface="微软雅黑" panose="020B0503020204020204" charset="-122"/>
              <a:ea typeface="微软雅黑" panose="020B0503020204020204" charset="-122"/>
            </a:endParaRPr>
          </a:p>
        </p:txBody>
      </p:sp>
      <p:sp>
        <p:nvSpPr>
          <p:cNvPr id="1662" name="矩形 1661"/>
          <p:cNvSpPr/>
          <p:nvPr/>
        </p:nvSpPr>
        <p:spPr>
          <a:xfrm>
            <a:off x="571500" y="4019550"/>
            <a:ext cx="5343525" cy="771525"/>
          </a:xfrm>
          <a:prstGeom prst="rect">
            <a:avLst/>
          </a:prstGeom>
          <a:solidFill>
            <a:srgbClr val="FFFFFF"/>
          </a:solidFill>
        </p:spPr>
        <p:txBody>
          <a:bodyPr/>
          <a:p/>
        </p:txBody>
      </p:sp>
      <p:sp>
        <p:nvSpPr>
          <p:cNvPr id="1663" name="任意多边形 1662"/>
          <p:cNvSpPr/>
          <p:nvPr/>
        </p:nvSpPr>
        <p:spPr>
          <a:xfrm>
            <a:off x="533400" y="4019550"/>
            <a:ext cx="5381625" cy="771525"/>
          </a:xfrm>
          <a:custGeom>
            <a:avLst/>
            <a:gdLst/>
            <a:ahLst/>
            <a:cxnLst/>
            <a:pathLst>
              <a:path w="565" h="81">
                <a:moveTo>
                  <a:pt x="0" y="0"/>
                </a:moveTo>
                <a:lnTo>
                  <a:pt x="4" y="0"/>
                </a:lnTo>
                <a:lnTo>
                  <a:pt x="4" y="81"/>
                </a:lnTo>
                <a:lnTo>
                  <a:pt x="0" y="81"/>
                </a:lnTo>
                <a:close/>
              </a:path>
            </a:pathLst>
          </a:custGeom>
          <a:solidFill>
            <a:srgbClr val="1E4FA8"/>
          </a:solidFill>
        </p:spPr>
        <p:txBody>
          <a:bodyPr/>
          <a:p/>
        </p:txBody>
      </p:sp>
      <p:sp>
        <p:nvSpPr>
          <p:cNvPr id="1664" name="文本框 1663" descr="{&quot;isTemplate&quot;:true,&quot;type&quot;:&quot;text&quot;}"/>
          <p:cNvSpPr txBox="1"/>
          <p:nvPr/>
        </p:nvSpPr>
        <p:spPr>
          <a:xfrm>
            <a:off x="666750" y="4095750"/>
            <a:ext cx="5114925" cy="619125"/>
          </a:xfrm>
          <a:prstGeom prst="rect">
            <a:avLst/>
          </a:prstGeom>
        </p:spPr>
        <p:txBody>
          <a:bodyPr wrap="square" lIns="0" tIns="0" rIns="0" bIns="0">
            <a:normAutofit/>
          </a:bodyPr>
          <a:p>
            <a:pPr>
              <a:lnSpc>
                <a:spcPct val="150000"/>
              </a:lnSpc>
            </a:pPr>
            <a:r>
              <a:rPr lang="zh-CN" sz="1350" b="1">
                <a:solidFill>
                  <a:srgbClr val="0E3F8C"/>
                </a:solidFill>
                <a:latin typeface="微软雅黑" panose="020B0503020204020204" charset="-122"/>
                <a:ea typeface="微软雅黑" panose="020B0503020204020204" charset="-122"/>
              </a:rPr>
              <a:t>深化承载力理论。</a:t>
            </a:r>
            <a:r>
              <a:rPr lang="zh-CN" sz="1350">
                <a:solidFill>
                  <a:srgbClr val="1A2230"/>
                </a:solidFill>
                <a:latin typeface="微软雅黑" panose="020B0503020204020204" charset="-122"/>
                <a:ea typeface="微软雅黑" panose="020B0503020204020204" charset="-122"/>
              </a:rPr>
              <a:t>承载对象转化为可度量的</a:t>
            </a:r>
            <a:r>
              <a:rPr lang="en-US" sz="1350">
                <a:solidFill>
                  <a:srgbClr val="1A2230"/>
                </a:solidFill>
                <a:latin typeface="微软雅黑" panose="020B0503020204020204" charset="-122"/>
                <a:ea typeface="微软雅黑" panose="020B0503020204020204" charset="-122"/>
              </a:rPr>
              <a:t> AI </a:t>
            </a:r>
            <a:r>
              <a:rPr lang="zh-CN" sz="1350">
                <a:solidFill>
                  <a:srgbClr val="1A2230"/>
                </a:solidFill>
                <a:latin typeface="微软雅黑" panose="020B0503020204020204" charset="-122"/>
                <a:ea typeface="微软雅黑" panose="020B0503020204020204" charset="-122"/>
              </a:rPr>
              <a:t>容量，讨论资源量、设施能力与风险容忍形成的条件边界。</a:t>
            </a:r>
            <a:endParaRPr lang="zh-CN" sz="1350">
              <a:solidFill>
                <a:srgbClr val="1A2230"/>
              </a:solidFill>
              <a:latin typeface="微软雅黑" panose="020B0503020204020204" charset="-122"/>
              <a:ea typeface="微软雅黑" panose="020B0503020204020204" charset="-122"/>
            </a:endParaRPr>
          </a:p>
        </p:txBody>
      </p:sp>
      <p:sp>
        <p:nvSpPr>
          <p:cNvPr id="1665" name="圆角矩形 1664"/>
          <p:cNvSpPr/>
          <p:nvPr/>
        </p:nvSpPr>
        <p:spPr>
          <a:xfrm>
            <a:off x="6162675" y="1762125"/>
            <a:ext cx="5648325" cy="3714750"/>
          </a:xfrm>
          <a:prstGeom prst="roundRect">
            <a:avLst>
              <a:gd name="adj" fmla="val 1538"/>
            </a:avLst>
          </a:prstGeom>
          <a:solidFill>
            <a:srgbClr val="F7F9FC"/>
          </a:solidFill>
          <a:ln w="12700">
            <a:solidFill>
              <a:srgbClr val="D6DCE5"/>
            </a:solidFill>
            <a:prstDash val="solid"/>
          </a:ln>
        </p:spPr>
        <p:txBody>
          <a:bodyPr/>
          <a:p/>
        </p:txBody>
      </p:sp>
      <p:sp>
        <p:nvSpPr>
          <p:cNvPr id="1666" name="圆角矩形 1665"/>
          <p:cNvSpPr/>
          <p:nvPr/>
        </p:nvSpPr>
        <p:spPr>
          <a:xfrm>
            <a:off x="6315075" y="1914525"/>
            <a:ext cx="323850" cy="323850"/>
          </a:xfrm>
          <a:prstGeom prst="roundRect">
            <a:avLst>
              <a:gd name="adj" fmla="val 11765"/>
            </a:avLst>
          </a:prstGeom>
          <a:solidFill>
            <a:srgbClr val="0B3A82"/>
          </a:solidFill>
        </p:spPr>
        <p:txBody>
          <a:bodyPr/>
          <a:p/>
        </p:txBody>
      </p:sp>
      <p:sp>
        <p:nvSpPr>
          <p:cNvPr id="1667" name="文本框 1666" descr="{&quot;isTemplate&quot;:true,&quot;type&quot;:&quot;text&quot;}"/>
          <p:cNvSpPr txBox="1"/>
          <p:nvPr/>
        </p:nvSpPr>
        <p:spPr>
          <a:xfrm>
            <a:off x="6391275" y="1971675"/>
            <a:ext cx="180975"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践</a:t>
            </a:r>
            <a:endParaRPr lang="zh-CN" sz="1425" b="1">
              <a:solidFill>
                <a:srgbClr val="FFFFFF"/>
              </a:solidFill>
              <a:latin typeface="微软雅黑" panose="020B0503020204020204" charset="-122"/>
              <a:ea typeface="微软雅黑" panose="020B0503020204020204" charset="-122"/>
            </a:endParaRPr>
          </a:p>
        </p:txBody>
      </p:sp>
      <p:sp>
        <p:nvSpPr>
          <p:cNvPr id="1668" name="文本框 1667" descr="{&quot;isTemplate&quot;:true,&quot;type&quot;:&quot;text&quot;}"/>
          <p:cNvSpPr txBox="1"/>
          <p:nvPr/>
        </p:nvSpPr>
        <p:spPr>
          <a:xfrm>
            <a:off x="6734175" y="1943100"/>
            <a:ext cx="2514600" cy="276225"/>
          </a:xfrm>
          <a:prstGeom prst="rect">
            <a:avLst/>
          </a:prstGeom>
        </p:spPr>
        <p:txBody>
          <a:bodyPr wrap="none" lIns="0" tIns="0" rIns="0" bIns="0"/>
          <a:p>
            <a:pPr>
              <a:lnSpc>
                <a:spcPct val="100000"/>
              </a:lnSpc>
            </a:pPr>
            <a:r>
              <a:rPr lang="zh-CN" sz="1800" b="1">
                <a:solidFill>
                  <a:srgbClr val="0E3F8C"/>
                </a:solidFill>
                <a:latin typeface="微软雅黑" panose="020B0503020204020204" charset="-122"/>
                <a:ea typeface="微软雅黑" panose="020B0503020204020204" charset="-122"/>
              </a:rPr>
              <a:t>实践意义：三类决策主体</a:t>
            </a:r>
            <a:endParaRPr lang="zh-CN" sz="1800" b="1">
              <a:solidFill>
                <a:srgbClr val="0E3F8C"/>
              </a:solidFill>
              <a:latin typeface="微软雅黑" panose="020B0503020204020204" charset="-122"/>
              <a:ea typeface="微软雅黑" panose="020B0503020204020204" charset="-122"/>
            </a:endParaRPr>
          </a:p>
        </p:txBody>
      </p:sp>
      <p:sp>
        <p:nvSpPr>
          <p:cNvPr id="1669" name="矩形 1668"/>
          <p:cNvSpPr/>
          <p:nvPr/>
        </p:nvSpPr>
        <p:spPr>
          <a:xfrm>
            <a:off x="6353175" y="2324100"/>
            <a:ext cx="5343525" cy="771525"/>
          </a:xfrm>
          <a:prstGeom prst="rect">
            <a:avLst/>
          </a:prstGeom>
          <a:solidFill>
            <a:srgbClr val="FFFFFF"/>
          </a:solidFill>
        </p:spPr>
        <p:txBody>
          <a:bodyPr/>
          <a:p/>
        </p:txBody>
      </p:sp>
      <p:sp>
        <p:nvSpPr>
          <p:cNvPr id="1670" name="任意多边形 1669"/>
          <p:cNvSpPr/>
          <p:nvPr/>
        </p:nvSpPr>
        <p:spPr>
          <a:xfrm>
            <a:off x="6315075" y="2324100"/>
            <a:ext cx="5381625" cy="771525"/>
          </a:xfrm>
          <a:custGeom>
            <a:avLst/>
            <a:gdLst/>
            <a:ahLst/>
            <a:cxnLst/>
            <a:pathLst>
              <a:path w="565" h="81">
                <a:moveTo>
                  <a:pt x="0" y="0"/>
                </a:moveTo>
                <a:lnTo>
                  <a:pt x="4" y="0"/>
                </a:lnTo>
                <a:lnTo>
                  <a:pt x="4" y="81"/>
                </a:lnTo>
                <a:lnTo>
                  <a:pt x="0" y="81"/>
                </a:lnTo>
                <a:close/>
              </a:path>
            </a:pathLst>
          </a:custGeom>
          <a:solidFill>
            <a:srgbClr val="0B3A82"/>
          </a:solidFill>
        </p:spPr>
        <p:txBody>
          <a:bodyPr/>
          <a:p/>
        </p:txBody>
      </p:sp>
      <p:sp>
        <p:nvSpPr>
          <p:cNvPr id="1671" name="文本框 1670" descr="{&quot;isTemplate&quot;:true,&quot;type&quot;:&quot;text&quot;}"/>
          <p:cNvSpPr txBox="1"/>
          <p:nvPr/>
        </p:nvSpPr>
        <p:spPr>
          <a:xfrm>
            <a:off x="6448425" y="2400300"/>
            <a:ext cx="5114925" cy="619125"/>
          </a:xfrm>
          <a:prstGeom prst="rect">
            <a:avLst/>
          </a:prstGeom>
        </p:spPr>
        <p:txBody>
          <a:bodyPr wrap="square" lIns="0" tIns="0" rIns="0" bIns="0">
            <a:normAutofit/>
          </a:bodyPr>
          <a:p>
            <a:pPr>
              <a:lnSpc>
                <a:spcPct val="150000"/>
              </a:lnSpc>
            </a:pPr>
            <a:r>
              <a:rPr lang="zh-CN" sz="1350" b="1">
                <a:solidFill>
                  <a:srgbClr val="0B3A82"/>
                </a:solidFill>
                <a:latin typeface="微软雅黑" panose="020B0503020204020204" charset="-122"/>
                <a:ea typeface="微软雅黑" panose="020B0503020204020204" charset="-122"/>
              </a:rPr>
              <a:t>地方政府。</a:t>
            </a:r>
            <a:r>
              <a:rPr lang="zh-CN" sz="1350">
                <a:solidFill>
                  <a:srgbClr val="1A2230"/>
                </a:solidFill>
                <a:latin typeface="微软雅黑" panose="020B0503020204020204" charset="-122"/>
                <a:ea typeface="微软雅黑" panose="020B0503020204020204" charset="-122"/>
              </a:rPr>
              <a:t>算力选址、取水许可与水务能力统筹考虑，年均资源量、峰值服务与设施余量一并论证。</a:t>
            </a:r>
            <a:endParaRPr lang="zh-CN" sz="1350">
              <a:solidFill>
                <a:srgbClr val="1A2230"/>
              </a:solidFill>
              <a:latin typeface="微软雅黑" panose="020B0503020204020204" charset="-122"/>
              <a:ea typeface="微软雅黑" panose="020B0503020204020204" charset="-122"/>
            </a:endParaRPr>
          </a:p>
        </p:txBody>
      </p:sp>
      <p:sp>
        <p:nvSpPr>
          <p:cNvPr id="1672" name="矩形 1671"/>
          <p:cNvSpPr/>
          <p:nvPr/>
        </p:nvSpPr>
        <p:spPr>
          <a:xfrm>
            <a:off x="6353175" y="3171825"/>
            <a:ext cx="5343525" cy="771525"/>
          </a:xfrm>
          <a:prstGeom prst="rect">
            <a:avLst/>
          </a:prstGeom>
          <a:solidFill>
            <a:srgbClr val="FFFFFF"/>
          </a:solidFill>
        </p:spPr>
        <p:txBody>
          <a:bodyPr/>
          <a:p/>
        </p:txBody>
      </p:sp>
      <p:sp>
        <p:nvSpPr>
          <p:cNvPr id="1673" name="任意多边形 1672"/>
          <p:cNvSpPr/>
          <p:nvPr/>
        </p:nvSpPr>
        <p:spPr>
          <a:xfrm>
            <a:off x="6315075" y="3171825"/>
            <a:ext cx="5381625" cy="771525"/>
          </a:xfrm>
          <a:custGeom>
            <a:avLst/>
            <a:gdLst/>
            <a:ahLst/>
            <a:cxnLst/>
            <a:pathLst>
              <a:path w="565" h="81">
                <a:moveTo>
                  <a:pt x="0" y="0"/>
                </a:moveTo>
                <a:lnTo>
                  <a:pt x="4" y="0"/>
                </a:lnTo>
                <a:lnTo>
                  <a:pt x="4" y="81"/>
                </a:lnTo>
                <a:lnTo>
                  <a:pt x="0" y="81"/>
                </a:lnTo>
                <a:close/>
              </a:path>
            </a:pathLst>
          </a:custGeom>
          <a:solidFill>
            <a:srgbClr val="0B3A82"/>
          </a:solidFill>
        </p:spPr>
        <p:txBody>
          <a:bodyPr/>
          <a:p/>
        </p:txBody>
      </p:sp>
      <p:sp>
        <p:nvSpPr>
          <p:cNvPr id="1674" name="文本框 1673" descr="{&quot;isTemplate&quot;:true,&quot;type&quot;:&quot;text&quot;}"/>
          <p:cNvSpPr txBox="1"/>
          <p:nvPr/>
        </p:nvSpPr>
        <p:spPr>
          <a:xfrm>
            <a:off x="6448425" y="3248025"/>
            <a:ext cx="5114925" cy="619125"/>
          </a:xfrm>
          <a:prstGeom prst="rect">
            <a:avLst/>
          </a:prstGeom>
        </p:spPr>
        <p:txBody>
          <a:bodyPr wrap="square" lIns="0" tIns="0" rIns="0" bIns="0">
            <a:normAutofit/>
          </a:bodyPr>
          <a:p>
            <a:pPr>
              <a:lnSpc>
                <a:spcPct val="150000"/>
              </a:lnSpc>
            </a:pPr>
            <a:r>
              <a:rPr lang="zh-CN" sz="1350" b="1">
                <a:solidFill>
                  <a:srgbClr val="0B3A82"/>
                </a:solidFill>
                <a:latin typeface="微软雅黑" panose="020B0503020204020204" charset="-122"/>
                <a:ea typeface="微软雅黑" panose="020B0503020204020204" charset="-122"/>
              </a:rPr>
              <a:t>数据中心规划者。</a:t>
            </a:r>
            <a:r>
              <a:rPr lang="zh-CN" sz="1350">
                <a:solidFill>
                  <a:srgbClr val="1A2230"/>
                </a:solidFill>
                <a:latin typeface="微软雅黑" panose="020B0503020204020204" charset="-122"/>
                <a:ea typeface="微软雅黑" panose="020B0503020204020204" charset="-122"/>
              </a:rPr>
              <a:t>比较空冷与液冷、干湿排热、淡水与再生水配置的影响，识别节水措施的能耗或碳转移。</a:t>
            </a:r>
            <a:endParaRPr lang="zh-CN" sz="1350">
              <a:solidFill>
                <a:srgbClr val="1A2230"/>
              </a:solidFill>
              <a:latin typeface="微软雅黑" panose="020B0503020204020204" charset="-122"/>
              <a:ea typeface="微软雅黑" panose="020B0503020204020204" charset="-122"/>
            </a:endParaRPr>
          </a:p>
        </p:txBody>
      </p:sp>
      <p:sp>
        <p:nvSpPr>
          <p:cNvPr id="1675" name="矩形 1674"/>
          <p:cNvSpPr/>
          <p:nvPr/>
        </p:nvSpPr>
        <p:spPr>
          <a:xfrm>
            <a:off x="6353175" y="4019550"/>
            <a:ext cx="5343525" cy="771525"/>
          </a:xfrm>
          <a:prstGeom prst="rect">
            <a:avLst/>
          </a:prstGeom>
          <a:solidFill>
            <a:srgbClr val="FFFFFF"/>
          </a:solidFill>
        </p:spPr>
        <p:txBody>
          <a:bodyPr/>
          <a:p/>
        </p:txBody>
      </p:sp>
      <p:sp>
        <p:nvSpPr>
          <p:cNvPr id="1676" name="任意多边形 1675"/>
          <p:cNvSpPr/>
          <p:nvPr/>
        </p:nvSpPr>
        <p:spPr>
          <a:xfrm>
            <a:off x="6315075" y="4019550"/>
            <a:ext cx="5381625" cy="771525"/>
          </a:xfrm>
          <a:custGeom>
            <a:avLst/>
            <a:gdLst/>
            <a:ahLst/>
            <a:cxnLst/>
            <a:pathLst>
              <a:path w="565" h="81">
                <a:moveTo>
                  <a:pt x="0" y="0"/>
                </a:moveTo>
                <a:lnTo>
                  <a:pt x="4" y="0"/>
                </a:lnTo>
                <a:lnTo>
                  <a:pt x="4" y="81"/>
                </a:lnTo>
                <a:lnTo>
                  <a:pt x="0" y="81"/>
                </a:lnTo>
                <a:close/>
              </a:path>
            </a:pathLst>
          </a:custGeom>
          <a:solidFill>
            <a:srgbClr val="0B3A82"/>
          </a:solidFill>
        </p:spPr>
        <p:txBody>
          <a:bodyPr/>
          <a:p/>
        </p:txBody>
      </p:sp>
      <p:sp>
        <p:nvSpPr>
          <p:cNvPr id="1677" name="文本框 1676" descr="{&quot;isTemplate&quot;:true,&quot;type&quot;:&quot;text&quot;}"/>
          <p:cNvSpPr txBox="1"/>
          <p:nvPr/>
        </p:nvSpPr>
        <p:spPr>
          <a:xfrm>
            <a:off x="6448425" y="4095750"/>
            <a:ext cx="5114925" cy="619125"/>
          </a:xfrm>
          <a:prstGeom prst="rect">
            <a:avLst/>
          </a:prstGeom>
        </p:spPr>
        <p:txBody>
          <a:bodyPr wrap="square" lIns="0" tIns="0" rIns="0" bIns="0">
            <a:normAutofit/>
          </a:bodyPr>
          <a:p>
            <a:pPr>
              <a:lnSpc>
                <a:spcPct val="150000"/>
              </a:lnSpc>
            </a:pPr>
            <a:r>
              <a:rPr lang="zh-CN" sz="1350" b="1">
                <a:solidFill>
                  <a:srgbClr val="0B3A82"/>
                </a:solidFill>
                <a:latin typeface="微软雅黑" panose="020B0503020204020204" charset="-122"/>
                <a:ea typeface="微软雅黑" panose="020B0503020204020204" charset="-122"/>
              </a:rPr>
              <a:t>水务部门。</a:t>
            </a:r>
            <a:r>
              <a:rPr lang="zh-CN" sz="1350">
                <a:solidFill>
                  <a:srgbClr val="1A2230"/>
                </a:solidFill>
                <a:latin typeface="微软雅黑" panose="020B0503020204020204" charset="-122"/>
                <a:ea typeface="微软雅黑" panose="020B0503020204020204" charset="-122"/>
              </a:rPr>
              <a:t>评估</a:t>
            </a:r>
            <a:r>
              <a:rPr lang="en-US" sz="1350">
                <a:solidFill>
                  <a:srgbClr val="1A2230"/>
                </a:solidFill>
                <a:latin typeface="微软雅黑" panose="020B0503020204020204" charset="-122"/>
                <a:ea typeface="微软雅黑" panose="020B0503020204020204" charset="-122"/>
              </a:rPr>
              <a:t> AI </a:t>
            </a:r>
            <a:r>
              <a:rPr lang="zh-CN" sz="1350">
                <a:solidFill>
                  <a:srgbClr val="1A2230"/>
                </a:solidFill>
                <a:latin typeface="微软雅黑" panose="020B0503020204020204" charset="-122"/>
                <a:ea typeface="微软雅黑" panose="020B0503020204020204" charset="-122"/>
              </a:rPr>
              <a:t>扩张对给水、污水、再生水与接入的增量压力，判断扩容的有效规模与时间范围。</a:t>
            </a:r>
            <a:endParaRPr lang="zh-CN" sz="1350">
              <a:solidFill>
                <a:srgbClr val="1A2230"/>
              </a:solidFill>
              <a:latin typeface="微软雅黑" panose="020B0503020204020204" charset="-122"/>
              <a:ea typeface="微软雅黑" panose="020B0503020204020204" charset="-122"/>
            </a:endParaRPr>
          </a:p>
        </p:txBody>
      </p:sp>
      <p:sp>
        <p:nvSpPr>
          <p:cNvPr id="1678" name="矩形 1677"/>
          <p:cNvSpPr/>
          <p:nvPr/>
        </p:nvSpPr>
        <p:spPr>
          <a:xfrm>
            <a:off x="428625" y="5591175"/>
            <a:ext cx="11430000" cy="495300"/>
          </a:xfrm>
          <a:prstGeom prst="rect">
            <a:avLst/>
          </a:prstGeom>
          <a:solidFill>
            <a:srgbClr val="E8EFF8"/>
          </a:solidFill>
        </p:spPr>
        <p:txBody>
          <a:bodyPr/>
          <a:p/>
        </p:txBody>
      </p:sp>
      <p:sp>
        <p:nvSpPr>
          <p:cNvPr id="1679" name="任意多边形 1678"/>
          <p:cNvSpPr/>
          <p:nvPr/>
        </p:nvSpPr>
        <p:spPr>
          <a:xfrm>
            <a:off x="381000" y="5591175"/>
            <a:ext cx="11477625" cy="495300"/>
          </a:xfrm>
          <a:custGeom>
            <a:avLst/>
            <a:gdLst/>
            <a:ahLst/>
            <a:cxnLst/>
            <a:pathLst>
              <a:path w="1205" h="52">
                <a:moveTo>
                  <a:pt x="0" y="0"/>
                </a:moveTo>
                <a:lnTo>
                  <a:pt x="5" y="0"/>
                </a:lnTo>
                <a:lnTo>
                  <a:pt x="5" y="52"/>
                </a:lnTo>
                <a:lnTo>
                  <a:pt x="0" y="52"/>
                </a:lnTo>
                <a:close/>
              </a:path>
            </a:pathLst>
          </a:custGeom>
          <a:solidFill>
            <a:srgbClr val="FFC107"/>
          </a:solidFill>
        </p:spPr>
        <p:txBody>
          <a:bodyPr/>
          <a:p/>
        </p:txBody>
      </p:sp>
      <p:sp>
        <p:nvSpPr>
          <p:cNvPr id="1680" name="文本框 1679" descr="{&quot;isTemplate&quot;:true,&quot;type&quot;:&quot;text&quot;}"/>
          <p:cNvSpPr txBox="1"/>
          <p:nvPr/>
        </p:nvSpPr>
        <p:spPr>
          <a:xfrm>
            <a:off x="600075" y="5686425"/>
            <a:ext cx="11210925" cy="304800"/>
          </a:xfrm>
          <a:prstGeom prst="rect">
            <a:avLst/>
          </a:prstGeom>
        </p:spPr>
        <p:txBody>
          <a:bodyPr wrap="none" lIns="0" tIns="0" rIns="0" bIns="0"/>
          <a:p>
            <a:pPr>
              <a:lnSpc>
                <a:spcPct val="140000"/>
              </a:lnSpc>
            </a:pPr>
            <a:r>
              <a:rPr lang="zh-CN" sz="1425">
                <a:solidFill>
                  <a:srgbClr val="1A2230"/>
                </a:solidFill>
                <a:latin typeface="微软雅黑" panose="020B0503020204020204" charset="-122"/>
                <a:ea typeface="微软雅黑" panose="020B0503020204020204" charset="-122"/>
              </a:rPr>
              <a:t>学术研究能力主线：以科学问题、可检验假设与机制解释为核心，系统训练建模、实验设计与机制解释能力</a:t>
            </a:r>
            <a:endParaRPr lang="zh-CN" sz="1425">
              <a:solidFill>
                <a:srgbClr val="1A2230"/>
              </a:solidFill>
              <a:latin typeface="微软雅黑" panose="020B0503020204020204" charset="-122"/>
              <a:ea typeface="微软雅黑" panose="020B0503020204020204" charset="-122"/>
            </a:endParaRPr>
          </a:p>
        </p:txBody>
      </p:sp>
      <p:sp>
        <p:nvSpPr>
          <p:cNvPr id="1681" name="任意多边形 1680"/>
          <p:cNvSpPr/>
          <p:nvPr/>
        </p:nvSpPr>
        <p:spPr>
          <a:xfrm>
            <a:off x="0" y="616267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682" name="文本框 1681" descr="{&quot;isTemplate&quot;:true,&quot;type&quot;:&quot;text&quot;}"/>
          <p:cNvSpPr txBox="1"/>
          <p:nvPr/>
        </p:nvSpPr>
        <p:spPr>
          <a:xfrm>
            <a:off x="381000" y="627697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683" name="文本框 1682" descr="{&quot;isTemplate&quot;:true,&quot;type&quot;:&quot;text&quot;}"/>
          <p:cNvSpPr txBox="1"/>
          <p:nvPr/>
        </p:nvSpPr>
        <p:spPr>
          <a:xfrm>
            <a:off x="11353800" y="627697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07 / 36</a:t>
            </a:r>
            <a:endParaRPr lang="en-US" sz="1050">
              <a:solidFill>
                <a:srgbClr val="1E4FA8"/>
              </a:solidFill>
              <a:latin typeface="微软雅黑" panose="020B0503020204020204" charset="-122"/>
              <a:ea typeface="微软雅黑" panose="020B0503020204020204" charset="-122"/>
            </a:endParaRPr>
          </a:p>
        </p:txBody>
      </p:sp>
      <p:sp>
        <p:nvSpPr>
          <p:cNvPr id="1684" name="矩形 1683"/>
          <p:cNvSpPr/>
          <p:nvPr/>
        </p:nvSpPr>
        <p:spPr>
          <a:xfrm>
            <a:off x="0" y="685800"/>
            <a:ext cx="57150" cy="1162050"/>
          </a:xfrm>
          <a:prstGeom prst="rect">
            <a:avLst/>
          </a:prstGeom>
          <a:solidFill>
            <a:srgbClr val="FFC107"/>
          </a:solidFill>
        </p:spPr>
        <p:txBody>
          <a:bodyPr/>
          <a:p/>
        </p:txBody>
      </p:sp>
      <p:sp>
        <p:nvSpPr>
          <p:cNvPr id="1685" name="矩形 1684"/>
          <p:cNvSpPr/>
          <p:nvPr/>
        </p:nvSpPr>
        <p:spPr>
          <a:xfrm>
            <a:off x="0" y="1847850"/>
            <a:ext cx="57150" cy="1162050"/>
          </a:xfrm>
          <a:prstGeom prst="rect">
            <a:avLst/>
          </a:prstGeom>
          <a:solidFill>
            <a:srgbClr val="C9D6E8"/>
          </a:solidFill>
        </p:spPr>
        <p:txBody>
          <a:bodyPr/>
          <a:p/>
        </p:txBody>
      </p:sp>
      <p:sp>
        <p:nvSpPr>
          <p:cNvPr id="1686" name="矩形 1685"/>
          <p:cNvSpPr/>
          <p:nvPr/>
        </p:nvSpPr>
        <p:spPr>
          <a:xfrm>
            <a:off x="0" y="3009900"/>
            <a:ext cx="57150" cy="1162050"/>
          </a:xfrm>
          <a:prstGeom prst="rect">
            <a:avLst/>
          </a:prstGeom>
          <a:solidFill>
            <a:srgbClr val="C9D6E8"/>
          </a:solidFill>
        </p:spPr>
        <p:txBody>
          <a:bodyPr/>
          <a:p/>
        </p:txBody>
      </p:sp>
      <p:sp>
        <p:nvSpPr>
          <p:cNvPr id="1687" name="矩形 1686"/>
          <p:cNvSpPr/>
          <p:nvPr/>
        </p:nvSpPr>
        <p:spPr>
          <a:xfrm>
            <a:off x="0" y="4171950"/>
            <a:ext cx="57150" cy="1162050"/>
          </a:xfrm>
          <a:prstGeom prst="rect">
            <a:avLst/>
          </a:prstGeom>
          <a:solidFill>
            <a:srgbClr val="C9D6E8"/>
          </a:solidFill>
        </p:spPr>
        <p:txBody>
          <a:bodyPr/>
          <a:p/>
        </p:txBody>
      </p:sp>
      <p:sp>
        <p:nvSpPr>
          <p:cNvPr id="1688" name="矩形 1687"/>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689" name="" descr="&lt;Slide style={{ width: '1280px', height: '720px', background: '#0B3A82', fontFamily: 'Microsoft YaHei', padding: 0 }}&gt;&#13;&#10;    &lt;Box style={{ position: 'absolute', top: 0, right: 0, width: 300, height: 720, background: '#12489A' }} /&gt;&#13;&#10;    &lt;Box style={{ position: 'absolute', top: 60, right: 40, width: 220, height: 220, opacity: 0.16 }}&gt;&#13;&#10;        &lt;svg width={220} height={220} viewBox='0 0 220 220'&gt;&#13;&#10;            &lt;rect x='20' y='20' width='76' height='98' rx='5' fill='none' stroke='#FFFFFF' strokeWidth='3' /&gt;&#13;&#10;            &lt;rect x='124' y='20' width='76' height='98' rx='5' fill='none' stroke='#FFFFFF' strokeWidth='3' /&gt;&#13;&#10;            &lt;path d='M96 69 L124 69' stroke='#FFC107' strokeWidth='4' fill='none' strokeDasharray='6 5' /&gt;&#13;&#10;            &lt;rect x='20' y='150' width='180' height='50' rx='5' fill='none' stroke='#FFFFFF' strokeWidth='3' /&gt;&#13;&#10;            &lt;path d='M58 118 L58 150' stroke='#FFFFFF' strokeWidth='3' fill='none' /&gt;&#13;&#10;            &lt;path d='M162 118 L162 150' stroke='#FFFFFF' strokeWidth='3' fill='none' /&gt;&#13;&#10;        &lt;/svg&gt;&#13;&#10;    &lt;/Box&gt;&#13;&#10;    &lt;Box style={{ position: 'absolute', top: 120, left: 90 }}&gt;&#13;&#10;        &lt;Text style={{ fontSize: 220, fontWeight: 'bold', color: '#FFFFFF', opacity: 0.12, lineHeight: 1 }}&gt;02&lt;/Text&gt;&#13;&#10;    &lt;/Box&gt;&#13;&#10;    &lt;Box style={{ position: 'absolute', top: 132, left: 96, width: 840, flexDirection: 'column', gap: 18 }}&gt;&#13;&#10;        &lt;Box style={{ flexDirection: 'row', alignItems: 'center', gap: 14 }}&gt;&#13;&#10;            &lt;Box style={{ width: 14, height: 38, background: '#FFC107' }} /&gt;&#13;&#10;            &lt;Text style={{ fontSize: 25, color: '#BFD3F2', letterSpacing: 3 }}&gt;PART TWO&lt;/Text&gt;&#13;&#10;        &lt;/Box&gt;&#13;&#10;        &lt;Text style={{ fontSize: 50, fontWeight: 'bold', color: '#FFFFFF', lineHeight: 1.25 }}&gt;国内外研究现状与研究缺口&lt;/Text&gt;&#13;&#10;        &lt;Box style={{ height: 3, background: '#3D7BD9', width: 760 }} /&gt;&#13;&#10;        &lt;Box style={{ flexDirection: 'column', gap: 11, marginTop: 4 }}&gt;&#13;&#10;            &lt;Text style={{ fontSize: 24, fontWeight: 'bold', color: '#FFFFFF', lineHeight: 1.4 }}&gt;为什么已有研究还无法回答&quot;城市可以承载多少 AI 算力&quot;？&lt;/Text&gt;&#13;&#10;            &lt;Text style={{ fontSize: 18, color: '#FFC107', letterSpacing: 1 }}&gt;设施过程模型　｜　城市水系统模型　｜　承载力模型 —— 尚未打通&lt;/Text&gt;&#13;&#10;        &lt;/Box&gt;&#13;&#10;    &lt;/Box&gt;&#13;&#10;    &lt;Box style={{ position: 'absolute', bottom: 44, left: 96 }}&gt;&#13;&#10;        &lt;Text style={{ fontSize: 16, color: '#7FA3D6' }}&gt;P09 – P11&lt;/Text&gt;&#13;&#10;    &lt;/Box&gt;&#13;&#10;&lt;/Slide&gt;&#13;&#10;"/>
        <p:cNvGrpSpPr/>
        <p:nvPr/>
      </p:nvGrpSpPr>
      <p:grpSpPr>
        <a:xfrm>
          <a:off x="0" y="0"/>
          <a:ext cx="0" cy="0"/>
          <a:chOff x="0" y="0"/>
          <a:chExt cx="0" cy="0"/>
        </a:xfrm>
      </p:grpSpPr>
      <p:sp>
        <p:nvSpPr>
          <p:cNvPr id="1690" name="矩形 1689"/>
          <p:cNvSpPr/>
          <p:nvPr/>
        </p:nvSpPr>
        <p:spPr>
          <a:xfrm>
            <a:off x="0" y="0"/>
            <a:ext cx="12192000" cy="6858000"/>
          </a:xfrm>
          <a:prstGeom prst="rect">
            <a:avLst/>
          </a:prstGeom>
          <a:solidFill>
            <a:srgbClr val="0B3A82"/>
          </a:solidFill>
        </p:spPr>
        <p:txBody>
          <a:bodyPr/>
          <a:p/>
        </p:txBody>
      </p:sp>
      <p:sp>
        <p:nvSpPr>
          <p:cNvPr id="1691" name="矩形 1690"/>
          <p:cNvSpPr/>
          <p:nvPr/>
        </p:nvSpPr>
        <p:spPr>
          <a:xfrm>
            <a:off x="9334500" y="0"/>
            <a:ext cx="2857500" cy="6858000"/>
          </a:xfrm>
          <a:prstGeom prst="rect">
            <a:avLst/>
          </a:prstGeom>
          <a:solidFill>
            <a:srgbClr val="12489A"/>
          </a:solidFill>
        </p:spPr>
        <p:txBody>
          <a:bodyPr/>
          <a:p/>
        </p:txBody>
      </p:sp>
      <p:sp>
        <p:nvSpPr>
          <p:cNvPr id="1693" name="文本框 1692" descr="{&quot;isTemplate&quot;:true,&quot;type&quot;:&quot;text&quot;}"/>
          <p:cNvSpPr txBox="1"/>
          <p:nvPr/>
        </p:nvSpPr>
        <p:spPr>
          <a:xfrm>
            <a:off x="857250" y="1143000"/>
            <a:ext cx="2590800" cy="2514600"/>
          </a:xfrm>
          <a:prstGeom prst="rect">
            <a:avLst/>
          </a:prstGeom>
        </p:spPr>
        <p:txBody>
          <a:bodyPr wrap="none" lIns="0" tIns="0" rIns="0" bIns="0"/>
          <a:p>
            <a:pPr>
              <a:lnSpc>
                <a:spcPct val="100000"/>
              </a:lnSpc>
            </a:pPr>
            <a:r>
              <a:rPr lang="en-US" sz="16500" b="1">
                <a:solidFill>
                  <a:srgbClr val="FFFFFF">
                    <a:alpha val="12000"/>
                  </a:srgbClr>
                </a:solidFill>
                <a:latin typeface="微软雅黑" panose="020B0503020204020204" charset="-122"/>
                <a:ea typeface="微软雅黑" panose="020B0503020204020204" charset="-122"/>
              </a:rPr>
              <a:t>02</a:t>
            </a:r>
            <a:endParaRPr lang="en-US" sz="16500" b="1">
              <a:solidFill>
                <a:srgbClr val="FFFFFF">
                  <a:alpha val="12000"/>
                </a:srgbClr>
              </a:solidFill>
              <a:latin typeface="微软雅黑" panose="020B0503020204020204" charset="-122"/>
              <a:ea typeface="微软雅黑" panose="020B0503020204020204" charset="-122"/>
            </a:endParaRPr>
          </a:p>
        </p:txBody>
      </p:sp>
      <p:sp>
        <p:nvSpPr>
          <p:cNvPr id="1694" name="矩形 1693"/>
          <p:cNvSpPr/>
          <p:nvPr/>
        </p:nvSpPr>
        <p:spPr>
          <a:xfrm>
            <a:off x="914400" y="1257300"/>
            <a:ext cx="133350" cy="361950"/>
          </a:xfrm>
          <a:prstGeom prst="rect">
            <a:avLst/>
          </a:prstGeom>
          <a:solidFill>
            <a:srgbClr val="FFC107"/>
          </a:solidFill>
        </p:spPr>
        <p:txBody>
          <a:bodyPr/>
          <a:p/>
        </p:txBody>
      </p:sp>
      <p:sp>
        <p:nvSpPr>
          <p:cNvPr id="1695" name="文本框 1694" descr="{&quot;isTemplate&quot;:true,&quot;type&quot;:&quot;text&quot;}"/>
          <p:cNvSpPr txBox="1"/>
          <p:nvPr/>
        </p:nvSpPr>
        <p:spPr>
          <a:xfrm>
            <a:off x="1181100" y="1295400"/>
            <a:ext cx="1485900" cy="285750"/>
          </a:xfrm>
          <a:prstGeom prst="rect">
            <a:avLst/>
          </a:prstGeom>
        </p:spPr>
        <p:txBody>
          <a:bodyPr wrap="none" lIns="0" tIns="0" rIns="0" bIns="0"/>
          <a:p>
            <a:pPr>
              <a:lnSpc>
                <a:spcPct val="100000"/>
              </a:lnSpc>
            </a:pPr>
            <a:r>
              <a:rPr lang="en-US" sz="1875" spc="225">
                <a:solidFill>
                  <a:srgbClr val="BFD3F2"/>
                </a:solidFill>
                <a:latin typeface="微软雅黑" panose="020B0503020204020204" charset="-122"/>
                <a:ea typeface="微软雅黑" panose="020B0503020204020204" charset="-122"/>
              </a:rPr>
              <a:t>PART TWO</a:t>
            </a:r>
            <a:endParaRPr lang="en-US" sz="1875" spc="225">
              <a:solidFill>
                <a:srgbClr val="BFD3F2"/>
              </a:solidFill>
              <a:latin typeface="微软雅黑" panose="020B0503020204020204" charset="-122"/>
              <a:ea typeface="微软雅黑" panose="020B0503020204020204" charset="-122"/>
            </a:endParaRPr>
          </a:p>
        </p:txBody>
      </p:sp>
      <p:sp>
        <p:nvSpPr>
          <p:cNvPr id="1696" name="文本框 1695" descr="{&quot;isTemplate&quot;:true,&quot;type&quot;:&quot;text&quot;}"/>
          <p:cNvSpPr txBox="1"/>
          <p:nvPr/>
        </p:nvSpPr>
        <p:spPr>
          <a:xfrm>
            <a:off x="914400" y="1790700"/>
            <a:ext cx="8001000" cy="714375"/>
          </a:xfrm>
          <a:prstGeom prst="rect">
            <a:avLst/>
          </a:prstGeom>
        </p:spPr>
        <p:txBody>
          <a:bodyPr wrap="none" lIns="0" tIns="0" rIns="0" bIns="0"/>
          <a:p>
            <a:pPr>
              <a:lnSpc>
                <a:spcPct val="125000"/>
              </a:lnSpc>
            </a:pPr>
            <a:r>
              <a:rPr lang="zh-CN" sz="3750" b="1">
                <a:solidFill>
                  <a:srgbClr val="FFFFFF"/>
                </a:solidFill>
                <a:latin typeface="微软雅黑" panose="020B0503020204020204" charset="-122"/>
                <a:ea typeface="微软雅黑" panose="020B0503020204020204" charset="-122"/>
              </a:rPr>
              <a:t>国内外研究现状与研究缺口</a:t>
            </a:r>
            <a:endParaRPr lang="zh-CN" sz="3750" b="1">
              <a:solidFill>
                <a:srgbClr val="FFFFFF"/>
              </a:solidFill>
              <a:latin typeface="微软雅黑" panose="020B0503020204020204" charset="-122"/>
              <a:ea typeface="微软雅黑" panose="020B0503020204020204" charset="-122"/>
            </a:endParaRPr>
          </a:p>
        </p:txBody>
      </p:sp>
      <p:sp>
        <p:nvSpPr>
          <p:cNvPr id="1697" name="矩形 1696"/>
          <p:cNvSpPr/>
          <p:nvPr/>
        </p:nvSpPr>
        <p:spPr>
          <a:xfrm>
            <a:off x="914400" y="2676525"/>
            <a:ext cx="7239000" cy="28575"/>
          </a:xfrm>
          <a:prstGeom prst="rect">
            <a:avLst/>
          </a:prstGeom>
          <a:solidFill>
            <a:srgbClr val="3D7BD9"/>
          </a:solidFill>
        </p:spPr>
        <p:txBody>
          <a:bodyPr/>
          <a:p/>
        </p:txBody>
      </p:sp>
      <p:sp>
        <p:nvSpPr>
          <p:cNvPr id="1698" name="文本框 1697" descr="{&quot;isTemplate&quot;:true,&quot;type&quot;:&quot;text&quot;}"/>
          <p:cNvSpPr txBox="1"/>
          <p:nvPr/>
        </p:nvSpPr>
        <p:spPr>
          <a:xfrm>
            <a:off x="914400" y="2914650"/>
            <a:ext cx="8001000" cy="390525"/>
          </a:xfrm>
          <a:prstGeom prst="rect">
            <a:avLst/>
          </a:prstGeom>
        </p:spPr>
        <p:txBody>
          <a:bodyPr wrap="none" lIns="0" tIns="0" rIns="0" bIns="0"/>
          <a:p>
            <a:pPr>
              <a:lnSpc>
                <a:spcPct val="140000"/>
              </a:lnSpc>
            </a:pPr>
            <a:r>
              <a:rPr lang="zh-CN" sz="1800" b="1">
                <a:solidFill>
                  <a:srgbClr val="FFFFFF"/>
                </a:solidFill>
                <a:latin typeface="微软雅黑" panose="020B0503020204020204" charset="-122"/>
                <a:ea typeface="微软雅黑" panose="020B0503020204020204" charset="-122"/>
              </a:rPr>
              <a:t>为什么已有研究还无法回答</a:t>
            </a:r>
            <a:r>
              <a:rPr lang="en-US" sz="1800" b="1">
                <a:solidFill>
                  <a:srgbClr val="FFFFFF"/>
                </a:solidFill>
                <a:latin typeface="微软雅黑" panose="020B0503020204020204" charset="-122"/>
                <a:ea typeface="微软雅黑" panose="020B0503020204020204" charset="-122"/>
              </a:rPr>
              <a:t>"</a:t>
            </a:r>
            <a:r>
              <a:rPr lang="zh-CN" sz="1800" b="1">
                <a:solidFill>
                  <a:srgbClr val="FFFFFF"/>
                </a:solidFill>
                <a:latin typeface="微软雅黑" panose="020B0503020204020204" charset="-122"/>
                <a:ea typeface="微软雅黑" panose="020B0503020204020204" charset="-122"/>
              </a:rPr>
              <a:t>城市可以承载多少</a:t>
            </a:r>
            <a:r>
              <a:rPr lang="en-US" sz="1800" b="1">
                <a:solidFill>
                  <a:srgbClr val="FFFFFF"/>
                </a:solidFill>
                <a:latin typeface="微软雅黑" panose="020B0503020204020204" charset="-122"/>
                <a:ea typeface="微软雅黑" panose="020B0503020204020204" charset="-122"/>
              </a:rPr>
              <a:t> AI </a:t>
            </a:r>
            <a:r>
              <a:rPr lang="zh-CN" sz="1800" b="1">
                <a:solidFill>
                  <a:srgbClr val="FFFFFF"/>
                </a:solidFill>
                <a:latin typeface="微软雅黑" panose="020B0503020204020204" charset="-122"/>
                <a:ea typeface="微软雅黑" panose="020B0503020204020204" charset="-122"/>
              </a:rPr>
              <a:t>算力</a:t>
            </a:r>
            <a:r>
              <a:rPr lang="en-US" sz="1800" b="1">
                <a:solidFill>
                  <a:srgbClr val="FFFFFF"/>
                </a:solidFill>
                <a:latin typeface="微软雅黑" panose="020B0503020204020204" charset="-122"/>
                <a:ea typeface="微软雅黑" panose="020B0503020204020204" charset="-122"/>
              </a:rPr>
              <a:t>"</a:t>
            </a:r>
            <a:r>
              <a:rPr lang="zh-CN" sz="1800" b="1">
                <a:solidFill>
                  <a:srgbClr val="FFFFFF"/>
                </a:solidFill>
                <a:latin typeface="微软雅黑" panose="020B0503020204020204" charset="-122"/>
                <a:ea typeface="微软雅黑" panose="020B0503020204020204" charset="-122"/>
              </a:rPr>
              <a:t>？</a:t>
            </a:r>
            <a:endParaRPr lang="zh-CN" sz="1800" b="1">
              <a:solidFill>
                <a:srgbClr val="FFFFFF"/>
              </a:solidFill>
              <a:latin typeface="微软雅黑" panose="020B0503020204020204" charset="-122"/>
              <a:ea typeface="微软雅黑" panose="020B0503020204020204" charset="-122"/>
            </a:endParaRPr>
          </a:p>
        </p:txBody>
      </p:sp>
      <p:sp>
        <p:nvSpPr>
          <p:cNvPr id="1699" name="文本框 1698" descr="{&quot;isTemplate&quot;:true,&quot;type&quot;:&quot;text&quot;}"/>
          <p:cNvSpPr txBox="1"/>
          <p:nvPr/>
        </p:nvSpPr>
        <p:spPr>
          <a:xfrm>
            <a:off x="914400" y="3409950"/>
            <a:ext cx="8001000" cy="209550"/>
          </a:xfrm>
          <a:prstGeom prst="rect">
            <a:avLst/>
          </a:prstGeom>
        </p:spPr>
        <p:txBody>
          <a:bodyPr wrap="none" lIns="0" tIns="0" rIns="0" bIns="0"/>
          <a:p>
            <a:pPr>
              <a:lnSpc>
                <a:spcPct val="100000"/>
              </a:lnSpc>
            </a:pPr>
            <a:r>
              <a:rPr lang="zh-CN" sz="1350" spc="75">
                <a:solidFill>
                  <a:srgbClr val="FFC107"/>
                </a:solidFill>
                <a:latin typeface="微软雅黑" panose="020B0503020204020204" charset="-122"/>
                <a:ea typeface="微软雅黑" panose="020B0503020204020204" charset="-122"/>
              </a:rPr>
              <a:t>设施过程模型　｜　城市水系统模型　｜　承载力模型</a:t>
            </a:r>
            <a:r>
              <a:rPr lang="en-US" sz="1350" spc="75">
                <a:solidFill>
                  <a:srgbClr val="FFC107"/>
                </a:solidFill>
                <a:latin typeface="微软雅黑" panose="020B0503020204020204" charset="-122"/>
                <a:ea typeface="微软雅黑" panose="020B0503020204020204" charset="-122"/>
              </a:rPr>
              <a:t> —— </a:t>
            </a:r>
            <a:r>
              <a:rPr lang="zh-CN" sz="1350" spc="75">
                <a:solidFill>
                  <a:srgbClr val="FFC107"/>
                </a:solidFill>
                <a:latin typeface="微软雅黑" panose="020B0503020204020204" charset="-122"/>
                <a:ea typeface="微软雅黑" panose="020B0503020204020204" charset="-122"/>
              </a:rPr>
              <a:t>尚未打通</a:t>
            </a:r>
            <a:endParaRPr lang="zh-CN" sz="1350" spc="75">
              <a:solidFill>
                <a:srgbClr val="FFC107"/>
              </a:solidFill>
              <a:latin typeface="微软雅黑" panose="020B0503020204020204" charset="-122"/>
              <a:ea typeface="微软雅黑" panose="020B0503020204020204" charset="-122"/>
            </a:endParaRPr>
          </a:p>
        </p:txBody>
      </p:sp>
      <p:sp>
        <p:nvSpPr>
          <p:cNvPr id="1700" name="文本框 1699" descr="{&quot;isTemplate&quot;:true,&quot;type&quot;:&quot;text&quot;}"/>
          <p:cNvSpPr txBox="1"/>
          <p:nvPr/>
        </p:nvSpPr>
        <p:spPr>
          <a:xfrm>
            <a:off x="914400" y="6248400"/>
            <a:ext cx="723900" cy="190500"/>
          </a:xfrm>
          <a:prstGeom prst="rect">
            <a:avLst/>
          </a:prstGeom>
        </p:spPr>
        <p:txBody>
          <a:bodyPr wrap="none" lIns="0" tIns="0" rIns="0" bIns="0"/>
          <a:p>
            <a:pPr>
              <a:lnSpc>
                <a:spcPct val="100000"/>
              </a:lnSpc>
            </a:pPr>
            <a:r>
              <a:rPr lang="en-US" sz="1200">
                <a:solidFill>
                  <a:srgbClr val="7FA3D6"/>
                </a:solidFill>
                <a:latin typeface="微软雅黑" panose="020B0503020204020204" charset="-122"/>
                <a:ea typeface="微软雅黑" panose="020B0503020204020204" charset="-122"/>
              </a:rPr>
              <a:t>P09 – P11</a:t>
            </a:r>
            <a:endParaRPr lang="en-US" sz="1200">
              <a:solidFill>
                <a:srgbClr val="7FA3D6"/>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70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book' style={{ fill: '#FFC107', width: 22, height: 22 }} /&gt;&#13;&#10;        &lt;/Box&gt;&#13;&#10;            &lt;Text style={{ fontSize: 29, fontWeight: 'bold', color: '#FFFFFF' }}&gt;五类研究已提供方法工具，但尚未形成统一的过程接口&lt;/Text&gt;&#13;&#10;        &lt;/Box&gt;&#13;&#10;        &lt;Box style={{ flexDirection: 'row', alignItems: 'center', gap: 10 }}&gt;&#13;&#10;            &lt;Text style={{ fontSize: 15, color: '#AFC6E8' }}&gt;02 国内外研究现状与研究缺口&lt;/Text&gt;&#13;&#10;            &lt;Box style={{ background: '#FFC107', paddingLeft: 9, paddingRight: 9, paddingTop: 3, paddingBottom: 3, borderRadius: 3, justifyContent: 'center', alignItems: 'center' }}&gt;&#13;&#10;                &lt;Text style={{ fontSize: 14, color: '#0B3A82', fontWeight: 'bold' }}&gt;09&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已有文献形成五条相互关联的知识链，构成本研究的工具箱；每条知识链各自解决一部分问题，也各自留下一段空白&lt;/Text&gt;&#13;&#10;        &lt;/Box&gt;&#13;&#10;        &lt;Table&#13;&#10;            style={{ width: '100%', height: 424 }}&#13;&#10;            defaultTextStyle={{ fontSize: 16, textAlign: 'left', color: '#1A2230', lineHeight: 1.35 }}&#13;&#10;            defaultCellStyle={{&#13;&#10;                paddingLeft: 12,&#13;&#10;                paddingRight: 12,&#13;&#10;                paddingTop: 6,&#13;&#10;                paddingBottom: 6,&#13;&#10;                border: {&#13;&#10;                    left: { width: 1, color: '#D6DCE5' },&#13;&#10;                    right: { width: 1, color: '#D6DCE5' },&#13;&#10;                    top: { width: 1, color: '#D6DCE5' },&#13;&#10;                    bottom: { width: 1, color: '#D6DCE5' },&#13;&#10;                },&#13;&#10;            }}&#13;&#10;            cells={[&#13;&#10;                [&#13;&#10;                    { text: '知识链', textStyle: { bold: true, color: '#FFFFFF', fontSize: 18 }, cellStyle: { background: { color: '#0B3A82' } } },&#13;&#10;                    { text: '已经解决：提供的方法与工具', textStyle: { bold: true, color: '#FFFFFF', fontSize: 18 }, cellStyle: { background: { color: '#0B3A82' } } },&#13;&#10;                    { text: '仍未解决：留下的空白', textStyle: { bold: true, color: '#FFFFFF', fontSize: 18 }, cellStyle: { background: { color: '#0B3A82' } } },&#13;&#10;                ],&#13;&#10;                [&#13;&#10;                    { text: '城市代谢与综合城市水系统', textStyle: { bold: true, color: '#0E3F8C' }, cellStyle: { background: { color: '#E8EFF8' } } },&#13;&#10;                    { text: 'Wolman (1965)、Kennedy (2007, 2011)、WaterMet²、WSIMOD：节点—路径结构、守恒检查与可组合建模，是 AI 节点的接入底座', cellStyle: { background: { color: '#F7F9FC' } } },&#13;&#10;                    { text: '以年度物质流清单为主，峰值压力与设施瓶颈刻画不足', cellStyle: { background: { color: '#F7F9FC' } } },&#13;&#10;                ],&#13;&#10;                [&#13;&#10;                    { text: '城市水—能—碳关系', textStyle: { bold: true, color: '#0E3F8C' }, cellStyle: { background: { color: '#E8EFF8' } } },&#13;&#10;                    { text: 'Kenway (2011, 2015)、Nair (2014)、Stokes 与 Horvath (2009)：取水—处理—输配—再生各环节的能源与排放代价', cellStyle: { background: { color: '#FFFFFF' } } },&#13;&#10;                    { text: '能耗边界与本地物理水流分属两套口径，难以直接合并', cellStyle: { background: { color: '#FFFFFF' } } },&#13;&#10;                ],&#13;&#10;                [&#13;&#10;                    { text: 'AI 与数据中心资源环境足迹', textStyle: { bold: true, color: '#0E3F8C' }, cellStyle: { background: { color: '#E8EFF8' } } },&#13;&#10;                    { text: 'Strubell (2019)、Patterson (2022)、Mytton (2021)、Li (2025)：训练/推理负荷差异、WUE 口径与设施水耗决定因素', cellStyle: { background: { color: '#F7F9FC' } } },&#13;&#10;                    { text: '以设施或区域足迹为终点，缺少补水来源、排污去向与设施余量', cellStyle: { background: { color: '#F7F9FC' } } },&#13;&#10;                ],&#13;&#10;                [&#13;&#10;                    { text: '冷却与再生水工程', textStyle: { bold: true, color: '#0E3F8C' }, cellStyle: { background: { color: '#E8EFF8' } } },&#13;&#10;                    { text: 'Ebrahimi (2014)、Zhang (2022)、Hsieh (2010)、Chien (2012)：热排散、浓缩倍数与水质控制的工程关系', cellStyle: { background: { color: '#FFFFFF' } } },&#13;&#10;                    { text: '工程参数与城市系统模型缺少连接，难以评价城市层面后果', cellStyle: { background: { color: '#FFFFFF' } } },&#13;&#10;                ],&#13;&#10;                [&#13;&#10;                    { text: '承载力、可靠性与不确定性', textStyle: { bold: true, color: '#0E3F8C' }, cellStyle: { background: { color: '#E8EFF8' } } },&#13;&#10;                    { text: 'Hashimoto (1982)、Mortazavi-Naeini (2015)、Haasnoot (2013)、Sobol (2001)：承载边界、稳健决策与全局敏感性方法', cellStyle: { background: { color: '#F7F9FC' } } },&#13;&#10;                    { text: '承载对象多为人口或经济规模，少有小时级连续负荷与热—水转换', cellStyle: { background: { color: '#F7F9FC' } } },&#13;&#10;                ],&#13;&#10;            ]}&#13;&#10;        /&gt;&#13;&#10;        &lt;Box style={{ background: '#E8EFF8', borderLeft: '5px solid #1E4FA8', paddingLeft: 18, paddingTop: 10, paddingBottom: 10 }}&gt;&#13;&#10;            &lt;Text style={{ fontSize: 19, color: '#1A2230', lineHeight: 1.4 }}&gt;方法并不缺，真正缺的是把“AI 设施过程—城市水网络—承载边界”打通的统一接口&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09 / 36&lt;/Text&gt;&#13;&#10;    &lt;/Box&gt;&#13;&#10;    &lt;Box style={{ position: 'absolute', left: 0, top: 72, width: 6, height: 608, flexDirection: 'column' }}&gt;&#13;&#10;                &lt;Box style={{ width: 6, height: 122, background: '#C9D6E8' }} /&gt;&#13;&#10;                &lt;Box style={{ width: 6, height: 122, background: '#FFC107' }} /&gt;&#13;&#10;                &lt;Box style={{ width: 6, height: 122, background: '#C9D6E8'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1702" name="矩形 1701"/>
          <p:cNvSpPr/>
          <p:nvPr/>
        </p:nvSpPr>
        <p:spPr>
          <a:xfrm>
            <a:off x="0" y="0"/>
            <a:ext cx="12192000" cy="6858000"/>
          </a:xfrm>
          <a:prstGeom prst="rect">
            <a:avLst/>
          </a:prstGeom>
          <a:solidFill>
            <a:srgbClr val="FFFFFF"/>
          </a:solidFill>
        </p:spPr>
        <p:txBody>
          <a:bodyPr/>
          <a:p/>
        </p:txBody>
      </p:sp>
      <p:sp>
        <p:nvSpPr>
          <p:cNvPr id="1703" name="矩形 1702"/>
          <p:cNvSpPr/>
          <p:nvPr/>
        </p:nvSpPr>
        <p:spPr>
          <a:xfrm>
            <a:off x="0" y="0"/>
            <a:ext cx="12192000" cy="685800"/>
          </a:xfrm>
          <a:prstGeom prst="rect">
            <a:avLst/>
          </a:prstGeom>
          <a:solidFill>
            <a:srgbClr val="0E3F8C"/>
          </a:solidFill>
        </p:spPr>
        <p:txBody>
          <a:bodyPr/>
          <a:p/>
        </p:txBody>
      </p:sp>
      <p:sp>
        <p:nvSpPr>
          <p:cNvPr id="1704" name="圆角矩形 1703"/>
          <p:cNvSpPr/>
          <p:nvPr/>
        </p:nvSpPr>
        <p:spPr>
          <a:xfrm>
            <a:off x="381000" y="152400"/>
            <a:ext cx="381000" cy="381000"/>
          </a:xfrm>
          <a:prstGeom prst="roundRect">
            <a:avLst>
              <a:gd name="adj" fmla="val 25000"/>
            </a:avLst>
          </a:prstGeom>
          <a:solidFill>
            <a:srgbClr val="12489A"/>
          </a:solidFill>
        </p:spPr>
        <p:txBody>
          <a:bodyPr/>
          <a:p/>
        </p:txBody>
      </p:sp>
      <p:pic>
        <p:nvPicPr>
          <p:cNvPr id="1705" name="图片 1704"/>
          <p:cNvPicPr>
            <a:picLocks noChangeAspect="1"/>
          </p:cNvPicPr>
          <p:nvPr/>
        </p:nvPicPr>
        <p:blipFill>
          <a:blip/>
          <a:stretch>
            <a:fillRect/>
          </a:stretch>
        </p:blipFill>
        <p:spPr>
          <a:xfrm>
            <a:off x="466725" y="238125"/>
            <a:ext cx="209550" cy="209550"/>
          </a:xfrm>
          <a:prstGeom prst="rect">
            <a:avLst/>
          </a:prstGeom>
        </p:spPr>
      </p:pic>
      <p:sp>
        <p:nvSpPr>
          <p:cNvPr id="1706" name="文本框 1705" descr="{&quot;isTemplate&quot;:true,&quot;type&quot;:&quot;text&quot;}"/>
          <p:cNvSpPr txBox="1"/>
          <p:nvPr/>
        </p:nvSpPr>
        <p:spPr>
          <a:xfrm>
            <a:off x="895350" y="180975"/>
            <a:ext cx="662940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五类研究已提供方法工具，但尚未形成统一的过程接口</a:t>
            </a:r>
            <a:endParaRPr lang="zh-CN" sz="2175" b="1">
              <a:solidFill>
                <a:srgbClr val="FFFFFF"/>
              </a:solidFill>
              <a:latin typeface="微软雅黑" panose="020B0503020204020204" charset="-122"/>
              <a:ea typeface="微软雅黑" panose="020B0503020204020204" charset="-122"/>
            </a:endParaRPr>
          </a:p>
        </p:txBody>
      </p:sp>
      <p:sp>
        <p:nvSpPr>
          <p:cNvPr id="1707" name="文本框 1706"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02 </a:t>
            </a:r>
            <a:r>
              <a:rPr lang="zh-CN" sz="1125">
                <a:solidFill>
                  <a:srgbClr val="AFC6E8"/>
                </a:solidFill>
                <a:latin typeface="微软雅黑" panose="020B0503020204020204" charset="-122"/>
                <a:ea typeface="微软雅黑" panose="020B0503020204020204" charset="-122"/>
              </a:rPr>
              <a:t>国内外研究现状与研究缺口</a:t>
            </a:r>
            <a:endParaRPr lang="zh-CN" sz="1125">
              <a:solidFill>
                <a:srgbClr val="AFC6E8"/>
              </a:solidFill>
              <a:latin typeface="微软雅黑" panose="020B0503020204020204" charset="-122"/>
              <a:ea typeface="微软雅黑" panose="020B0503020204020204" charset="-122"/>
            </a:endParaRPr>
          </a:p>
        </p:txBody>
      </p:sp>
      <p:sp>
        <p:nvSpPr>
          <p:cNvPr id="1708" name="圆角矩形 1707"/>
          <p:cNvSpPr/>
          <p:nvPr/>
        </p:nvSpPr>
        <p:spPr>
          <a:xfrm>
            <a:off x="11468100" y="238125"/>
            <a:ext cx="342900" cy="219075"/>
          </a:xfrm>
          <a:prstGeom prst="roundRect">
            <a:avLst>
              <a:gd name="adj" fmla="val 13043"/>
            </a:avLst>
          </a:prstGeom>
          <a:solidFill>
            <a:srgbClr val="FFC107"/>
          </a:solidFill>
        </p:spPr>
        <p:txBody>
          <a:bodyPr/>
          <a:p/>
        </p:txBody>
      </p:sp>
      <p:sp>
        <p:nvSpPr>
          <p:cNvPr id="1709" name="文本框 170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09</a:t>
            </a:r>
            <a:endParaRPr lang="en-US" sz="1050" b="1">
              <a:solidFill>
                <a:srgbClr val="0B3A82"/>
              </a:solidFill>
              <a:latin typeface="微软雅黑" panose="020B0503020204020204" charset="-122"/>
              <a:ea typeface="微软雅黑" panose="020B0503020204020204" charset="-122"/>
            </a:endParaRPr>
          </a:p>
        </p:txBody>
      </p:sp>
      <p:sp>
        <p:nvSpPr>
          <p:cNvPr id="1710" name="圆角矩形 1709"/>
          <p:cNvSpPr/>
          <p:nvPr/>
        </p:nvSpPr>
        <p:spPr>
          <a:xfrm>
            <a:off x="381000" y="800100"/>
            <a:ext cx="11430000" cy="438150"/>
          </a:xfrm>
          <a:prstGeom prst="roundRect">
            <a:avLst>
              <a:gd name="adj" fmla="val 8696"/>
            </a:avLst>
          </a:prstGeom>
          <a:solidFill>
            <a:srgbClr val="0B3A82"/>
          </a:solidFill>
        </p:spPr>
        <p:txBody>
          <a:bodyPr/>
          <a:p/>
        </p:txBody>
      </p:sp>
      <p:sp>
        <p:nvSpPr>
          <p:cNvPr id="1711" name="文本框 1710"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已有文献形成五条相互关联的知识链，构成本研究的工具箱；每条知识链各自解决一部分问题，也各自留下一段空白</a:t>
            </a:r>
            <a:endParaRPr lang="zh-CN" sz="1575">
              <a:solidFill>
                <a:srgbClr val="FFFFFF"/>
              </a:solidFill>
              <a:latin typeface="微软雅黑" panose="020B0503020204020204" charset="-122"/>
              <a:ea typeface="微软雅黑" panose="020B0503020204020204" charset="-122"/>
            </a:endParaRPr>
          </a:p>
        </p:txBody>
      </p:sp>
      <p:graphicFrame>
        <p:nvGraphicFramePr>
          <p:cNvPr id="1712" name="表格 1711"/>
          <p:cNvGraphicFramePr/>
          <p:nvPr/>
        </p:nvGraphicFramePr>
        <p:xfrm>
          <a:off x="381000" y="1352550"/>
          <a:ext cx="11430000" cy="4038600"/>
        </p:xfrm>
        <a:graphic>
          <a:graphicData uri="http://schemas.openxmlformats.org/drawingml/2006/table">
            <a:tbl>
              <a:tblPr/>
              <a:tblGrid>
                <a:gridCol w="1442581"/>
                <a:gridCol w="6698389"/>
                <a:gridCol w="3289030"/>
              </a:tblGrid>
              <a:tr h="451269">
                <a:tc>
                  <a:txBody>
                    <a:bodyPr wrap="square">
                      <a:spAutoFit/>
                    </a:bodyPr>
                    <a:p>
                      <a:pPr marL="114300" marR="114300" algn="l">
                        <a:lnSpc>
                          <a:spcPct val="120000"/>
                        </a:lnSpc>
                      </a:pPr>
                      <a:r>
                        <a:rPr sz="1350" b="1">
                          <a:solidFill>
                            <a:srgbClr val="FFFFFF"/>
                          </a:solidFill>
                          <a:latin typeface="微软雅黑" panose="020B0503020204020204" charset="-122"/>
                          <a:ea typeface="微软雅黑" panose="020B0503020204020204" charset="-122"/>
                        </a:rPr>
                        <a:t>知识链</a:t>
                      </a:r>
                      <a:endParaRPr sz="135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350" b="1">
                          <a:solidFill>
                            <a:srgbClr val="FFFFFF"/>
                          </a:solidFill>
                          <a:latin typeface="微软雅黑" panose="020B0503020204020204" charset="-122"/>
                          <a:ea typeface="微软雅黑" panose="020B0503020204020204" charset="-122"/>
                        </a:rPr>
                        <a:t>已经解决：提供的方法与工具</a:t>
                      </a:r>
                      <a:endParaRPr sz="135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350" b="1">
                          <a:solidFill>
                            <a:srgbClr val="FFFFFF"/>
                          </a:solidFill>
                          <a:latin typeface="微软雅黑" panose="020B0503020204020204" charset="-122"/>
                          <a:ea typeface="微软雅黑" panose="020B0503020204020204" charset="-122"/>
                        </a:rPr>
                        <a:t>仍未解决：留下的空白</a:t>
                      </a:r>
                      <a:endParaRPr sz="135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r>
              <a:tr h="717466">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城市代谢与综合城市水系统</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Wolman (1965)、Kennedy (2007, 2011)、WaterMet²、WSIMOD：节点—路径结构、守恒检查与可组合建模，是 AI 节点的接入底座</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以年度物质流清单为主，峰值压力与设施瓶颈刻画不足</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r>
              <a:tr h="717466">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城市水—能—碳关系</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Kenway (2011, 2015)、Nair (2014)、Stokes 与 Horvath (2009)：取水—处理—输配—再生各环节的能源与排放代价</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能耗边界与本地物理水流分属两套口径，难以直接合并</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r>
              <a:tr h="717466">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AI 与数据中心资源环境足迹</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Strubell (2019)、Patterson (2022)、Mytton (2021)、Li (2025)：训练/推理负荷差异、WUE 口径与设施水耗决定因素</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以设施或区域足迹为终点，缺少补水来源、排污去向与设施余量</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r>
              <a:tr h="717466">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冷却与再生水工程</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Ebrahimi (2014)、Zhang (2022)、Hsieh (2010)、Chien (2012)：热排散、浓缩倍数与水质控制的工程关系</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工程参数与城市系统模型缺少连接，难以评价城市层面后果</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r>
              <a:tr h="717466">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承载力、可靠性与不确定性</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Hashimoto (1982)、Mortazavi-Naeini (2015)、Haasnoot (2013)、Sobol (2001)：承载边界、稳健决策与全局敏感性方法</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承载对象多为人口或经济规模，少有小时级连续负荷与热—水转换</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r>
            </a:tbl>
          </a:graphicData>
        </a:graphic>
      </p:graphicFrame>
      <p:sp>
        <p:nvSpPr>
          <p:cNvPr id="1713" name="矩形 1712"/>
          <p:cNvSpPr/>
          <p:nvPr/>
        </p:nvSpPr>
        <p:spPr>
          <a:xfrm>
            <a:off x="428625" y="5505450"/>
            <a:ext cx="11430000" cy="495300"/>
          </a:xfrm>
          <a:prstGeom prst="rect">
            <a:avLst/>
          </a:prstGeom>
          <a:solidFill>
            <a:srgbClr val="E8EFF8"/>
          </a:solidFill>
        </p:spPr>
        <p:txBody>
          <a:bodyPr/>
          <a:p/>
        </p:txBody>
      </p:sp>
      <p:sp>
        <p:nvSpPr>
          <p:cNvPr id="1714" name="任意多边形 1713"/>
          <p:cNvSpPr/>
          <p:nvPr/>
        </p:nvSpPr>
        <p:spPr>
          <a:xfrm>
            <a:off x="381000" y="5505450"/>
            <a:ext cx="11477625" cy="495300"/>
          </a:xfrm>
          <a:custGeom>
            <a:avLst/>
            <a:gdLst/>
            <a:ahLst/>
            <a:cxnLst/>
            <a:pathLst>
              <a:path w="1205" h="52">
                <a:moveTo>
                  <a:pt x="0" y="0"/>
                </a:moveTo>
                <a:lnTo>
                  <a:pt x="5" y="0"/>
                </a:lnTo>
                <a:lnTo>
                  <a:pt x="5" y="52"/>
                </a:lnTo>
                <a:lnTo>
                  <a:pt x="0" y="52"/>
                </a:lnTo>
                <a:close/>
              </a:path>
            </a:pathLst>
          </a:custGeom>
          <a:solidFill>
            <a:srgbClr val="1E4FA8"/>
          </a:solidFill>
        </p:spPr>
        <p:txBody>
          <a:bodyPr/>
          <a:p/>
        </p:txBody>
      </p:sp>
      <p:sp>
        <p:nvSpPr>
          <p:cNvPr id="1715" name="文本框 1714" descr="{&quot;isTemplate&quot;:true,&quot;type&quot;:&quot;text&quot;}"/>
          <p:cNvSpPr txBox="1"/>
          <p:nvPr/>
        </p:nvSpPr>
        <p:spPr>
          <a:xfrm>
            <a:off x="600075" y="5600700"/>
            <a:ext cx="11210925" cy="304800"/>
          </a:xfrm>
          <a:prstGeom prst="rect">
            <a:avLst/>
          </a:prstGeom>
        </p:spPr>
        <p:txBody>
          <a:bodyPr wrap="none" lIns="0" tIns="0" rIns="0" bIns="0"/>
          <a:p>
            <a:pPr>
              <a:lnSpc>
                <a:spcPct val="140000"/>
              </a:lnSpc>
            </a:pPr>
            <a:r>
              <a:rPr lang="zh-CN" sz="1425">
                <a:solidFill>
                  <a:srgbClr val="1A2230"/>
                </a:solidFill>
                <a:latin typeface="微软雅黑" panose="020B0503020204020204" charset="-122"/>
                <a:ea typeface="微软雅黑" panose="020B0503020204020204" charset="-122"/>
              </a:rPr>
              <a:t>方法并不缺，真正缺的是把“</a:t>
            </a:r>
            <a:r>
              <a:rPr lang="en-US" sz="1425">
                <a:solidFill>
                  <a:srgbClr val="1A2230"/>
                </a:solidFill>
                <a:latin typeface="微软雅黑" panose="020B0503020204020204" charset="-122"/>
                <a:ea typeface="微软雅黑" panose="020B0503020204020204" charset="-122"/>
              </a:rPr>
              <a:t>AI </a:t>
            </a:r>
            <a:r>
              <a:rPr lang="zh-CN" sz="1425">
                <a:solidFill>
                  <a:srgbClr val="1A2230"/>
                </a:solidFill>
                <a:latin typeface="微软雅黑" panose="020B0503020204020204" charset="-122"/>
                <a:ea typeface="微软雅黑" panose="020B0503020204020204" charset="-122"/>
              </a:rPr>
              <a:t>设施过程—城市水网络—承载边界”打通的统一接口</a:t>
            </a:r>
            <a:endParaRPr lang="zh-CN" sz="1425">
              <a:solidFill>
                <a:srgbClr val="1A2230"/>
              </a:solidFill>
              <a:latin typeface="微软雅黑" panose="020B0503020204020204" charset="-122"/>
              <a:ea typeface="微软雅黑" panose="020B0503020204020204" charset="-122"/>
            </a:endParaRPr>
          </a:p>
        </p:txBody>
      </p:sp>
      <p:sp>
        <p:nvSpPr>
          <p:cNvPr id="1716" name="任意多边形 1715"/>
          <p:cNvSpPr/>
          <p:nvPr/>
        </p:nvSpPr>
        <p:spPr>
          <a:xfrm>
            <a:off x="0" y="60769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717" name="文本框 1716" descr="{&quot;isTemplate&quot;:true,&quot;type&quot;:&quot;text&quot;}"/>
          <p:cNvSpPr txBox="1"/>
          <p:nvPr/>
        </p:nvSpPr>
        <p:spPr>
          <a:xfrm>
            <a:off x="381000" y="61912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718" name="文本框 1717" descr="{&quot;isTemplate&quot;:true,&quot;type&quot;:&quot;text&quot;}"/>
          <p:cNvSpPr txBox="1"/>
          <p:nvPr/>
        </p:nvSpPr>
        <p:spPr>
          <a:xfrm>
            <a:off x="11353800" y="61912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09 / 36</a:t>
            </a:r>
            <a:endParaRPr lang="en-US" sz="1050">
              <a:solidFill>
                <a:srgbClr val="1E4FA8"/>
              </a:solidFill>
              <a:latin typeface="微软雅黑" panose="020B0503020204020204" charset="-122"/>
              <a:ea typeface="微软雅黑" panose="020B0503020204020204" charset="-122"/>
            </a:endParaRPr>
          </a:p>
        </p:txBody>
      </p:sp>
      <p:sp>
        <p:nvSpPr>
          <p:cNvPr id="1719" name="矩形 1718"/>
          <p:cNvSpPr/>
          <p:nvPr/>
        </p:nvSpPr>
        <p:spPr>
          <a:xfrm>
            <a:off x="0" y="685800"/>
            <a:ext cx="57150" cy="1162050"/>
          </a:xfrm>
          <a:prstGeom prst="rect">
            <a:avLst/>
          </a:prstGeom>
          <a:solidFill>
            <a:srgbClr val="C9D6E8"/>
          </a:solidFill>
        </p:spPr>
        <p:txBody>
          <a:bodyPr/>
          <a:p/>
        </p:txBody>
      </p:sp>
      <p:sp>
        <p:nvSpPr>
          <p:cNvPr id="1720" name="矩形 1719"/>
          <p:cNvSpPr/>
          <p:nvPr/>
        </p:nvSpPr>
        <p:spPr>
          <a:xfrm>
            <a:off x="0" y="1847850"/>
            <a:ext cx="57150" cy="1162050"/>
          </a:xfrm>
          <a:prstGeom prst="rect">
            <a:avLst/>
          </a:prstGeom>
          <a:solidFill>
            <a:srgbClr val="FFC107"/>
          </a:solidFill>
        </p:spPr>
        <p:txBody>
          <a:bodyPr/>
          <a:p/>
        </p:txBody>
      </p:sp>
      <p:sp>
        <p:nvSpPr>
          <p:cNvPr id="1721" name="矩形 1720"/>
          <p:cNvSpPr/>
          <p:nvPr/>
        </p:nvSpPr>
        <p:spPr>
          <a:xfrm>
            <a:off x="0" y="3009900"/>
            <a:ext cx="57150" cy="1162050"/>
          </a:xfrm>
          <a:prstGeom prst="rect">
            <a:avLst/>
          </a:prstGeom>
          <a:solidFill>
            <a:srgbClr val="C9D6E8"/>
          </a:solidFill>
        </p:spPr>
        <p:txBody>
          <a:bodyPr/>
          <a:p/>
        </p:txBody>
      </p:sp>
      <p:sp>
        <p:nvSpPr>
          <p:cNvPr id="1722" name="矩形 1721"/>
          <p:cNvSpPr/>
          <p:nvPr/>
        </p:nvSpPr>
        <p:spPr>
          <a:xfrm>
            <a:off x="0" y="4171950"/>
            <a:ext cx="57150" cy="1162050"/>
          </a:xfrm>
          <a:prstGeom prst="rect">
            <a:avLst/>
          </a:prstGeom>
          <a:solidFill>
            <a:srgbClr val="C9D6E8"/>
          </a:solidFill>
        </p:spPr>
        <p:txBody>
          <a:bodyPr/>
          <a:p/>
        </p:txBody>
      </p:sp>
      <p:sp>
        <p:nvSpPr>
          <p:cNvPr id="1723" name="矩形 1722"/>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0"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layer-group' style={{ fill: '#FFC107', width: 22, height: 22 }} /&gt;&#13;&#10;        &lt;/Box&gt;&#13;&#10;            &lt;Text style={{ fontSize: 29, fontWeight: 'bold', color: '#FFFFFF' }}&gt;三类核心研究之间存在尚未打通的过程接口&lt;/Text&gt;&#13;&#10;        &lt;/Box&gt;&#13;&#10;        &lt;Box style={{ flexDirection: 'row', alignItems: 'center', gap: 10 }}&gt;&#13;&#10;            &lt;Text style={{ fontSize: 15, color: '#AFC6E8' }}&gt;02 国内外研究现状与研究缺口&lt;/Text&gt;&#13;&#10;            &lt;Box style={{ background: '#FFC107', paddingLeft: 9, paddingRight: 9, paddingTop: 3, paddingBottom: 3, borderRadius: 3, justifyContent: 'center', alignItems: 'center' }}&gt;&#13;&#10;                &lt;Text style={{ fontSize: 14, color: '#0B3A82', fontWeight: 'bold' }}&gt;10&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三类模型各有擅长，但尚未形成能用同一组状态变量与守恒关系连续实验的共同接口&lt;/Text&gt;&#13;&#10;        &lt;/Box&gt;&#13;&#10;        &lt;Box style={{ flexDirection: 'row', gap: 14, height: 452 }}&gt;&#13;&#10;            &lt;Box style={{ width: 720, flexDirection: 'column', gap: 12 }}&gt;&#13;&#10;                &lt;Box style={{ flex: 1, background: '#F7F9FC', border: '1px solid #D6DCE5', borderRadius: 6, padding: 14, flexDirection: 'column' }}&gt;&#13;&#10;                    &lt;Box style={{ flexDirection: 'row', alignItems: 'center', gap: 10, marginBottom: 6 }}&gt;&#13;&#10;                        &lt;Box style={{ background: '#1E4FA8', paddingLeft: 10, paddingRight: 10, paddingTop: 3, paddingBottom: 3, borderRadius: 3 }}&gt;&#13;&#10;                            &lt;Text style={{ fontSize: 17, color: '#FFFFFF', fontWeight: 'bold' }}&gt;设施过程研究&lt;/Text&gt;&#13;&#10;                        &lt;/Box&gt;&#13;&#10;                        &lt;Box style={{ flexDirection: 'row', alignItems: 'center', gap: 8 }}&gt;&#13;&#10;                &lt;FAIcon name='server' style={{ fill: '#1E4FA8', width: 19, height: 19 }} /&gt;&#13;&#10;                &lt;Text style={{ fontSize: 20, fontWeight: 'bold', color: '#0E3F8C' }}&gt;优势：IT 负荷、PUE、冷却与设施水耗关系清晰&lt;/Text&gt;&#13;&#10;            &lt;/Box&gt;&#13;&#10;                    &lt;/Box&gt;&#13;&#10;                    &lt;Text style={{ fontSize: 17, color: '#1A2230', lineHeight: 1.5 }}&gt;局限：水源、污水去向与管网能力被外置，无法回答取水之后城市系统发生了什么。&lt;/Text&gt;&#13;&#10;                &lt;/Box&gt;&#13;&#10;                &lt;Box style={{ flex: 1, background: '#F7F9FC', border: '1px solid #D6DCE5', borderRadius: 6, padding: 14, flexDirection: 'column' }}&gt;&#13;&#10;                    &lt;Box style={{ flexDirection: 'row', alignItems: 'center', gap: 10, marginBottom: 6 }}&gt;&#13;&#10;                        &lt;Box style={{ background: '#1E4FA8', paddingLeft: 10, paddingRight: 10, paddingTop: 3, paddingBottom: 3, borderRadius: 3 }}&gt;&#13;&#10;                            &lt;Text style={{ fontSize: 17, color: '#FFFFFF', fontWeight: 'bold' }}&gt;城市水系统模型&lt;/Text&gt;&#13;&#10;                        &lt;/Box&gt;&#13;&#10;                        &lt;Box style={{ flexDirection: 'row', alignItems: 'center', gap: 8 }}&gt;&#13;&#10;                &lt;FAIcon name='route' style={{ fill: '#1E4FA8', width: 19, height: 19 }} /&gt;&#13;&#10;                &lt;Text style={{ fontSize: 20, fontWeight: 'bold', color: '#0E3F8C' }}&gt;优势：供排水路径、内部循环与环境排放完整&lt;/Text&gt;&#13;&#10;            &lt;/Box&gt;&#13;&#10;                    &lt;/Box&gt;&#13;&#10;                    &lt;Text style={{ fontSize: 17, color: '#1A2230', lineHeight: 1.5 }}&gt;局限：高密度计算负荷被简化为一般工业用户，缺少两层冷却架构与热—水转换的显式描述。&lt;/Text&gt;&#13;&#10;                &lt;/Box&gt;&#13;&#10;                &lt;Box style={{ flex: 1, background: '#F7F9FC', border: '1px solid #D6DCE5', borderRadius: 6, padding: 14, flexDirection: 'column' }}&gt;&#13;&#10;                    &lt;Box style={{ flexDirection: 'row', alignItems: 'center', gap: 10, marginBottom: 6 }}&gt;&#13;&#10;                        &lt;Box style={{ background: '#1E4FA8', paddingLeft: 10, paddingRight: 10, paddingTop: 3, paddingBottom: 3, borderRadius: 3 }}&gt;&#13;&#10;                            &lt;Text style={{ fontSize: 17, color: '#FFFFFF', fontWeight: 'bold' }}&gt;承载力研究&lt;/Text&gt;&#13;&#10;                        &lt;/Box&gt;&#13;&#10;                        &lt;Box style={{ flexDirection: 'row', alignItems: 'center', gap: 8 }}&gt;&#13;&#10;                &lt;FAIcon name='circle-nodes' style={{ fill: '#1E4FA8', width: 19, height: 19 }} /&gt;&#13;&#10;                &lt;Text style={{ fontSize: 20, fontWeight: 'bold', color: '#0E3F8C' }}&gt;优势：把资源状态与发展规模连接起来&lt;/Text&gt;&#13;&#10;            &lt;/Box&gt;&#13;&#10;                    &lt;/Box&gt;&#13;&#10;                    &lt;Text style={{ fontSize: 17, color: '#1A2230', lineHeight: 1.5 }}&gt;局限：较少把 AI 容量作为独立承载对象，少有同时考虑小时级连续负荷、冷却差异与气候敏感性。&lt;/Text&gt;&#13;&#10;                &lt;/Box&gt;&#13;&#10;            &lt;/Box&gt;&#13;&#10;            &lt;Box style={{ flex: 1, background: '#F0F5FC', border: '1px solid #D6DCE5', borderRadius: 6, padding: 18, flexDirection: 'column' }}&gt;&#13;&#10;                &lt;Box style={{ borderLeft: '5px solid #D9534F', paddingLeft: 12, marginBottom: 12 }}&gt;&#13;&#10;                    &lt;Text style={{ fontSize: 24, fontWeight: 'bold', color: '#0E3F8C' }}&gt;三处断裂指向同一个接口&lt;/Text&gt;&#13;&#10;                &lt;/Box&gt;&#13;&#10;                &lt;Box style={{ flexDirection: 'column', gap: 12 }}&gt;&#13;&#10;                    &lt;Box style={{ background: '#FFFFFF', border: '1px solid #E5E7EB', padding: 12 }}&gt;&#13;&#10;                        &lt;Text style={{ fontSize: 18, color: '#1A2230', lineHeight: 1.5 }}&gt;&lt;span style={{ fontWeight: 'bold', color: '#D9534F' }}&gt;断裂一　&lt;/span&gt;设施模型缺少城市反馈：取水来源与排水去向被当成边界条件而非状态变量。&lt;/Text&gt;&#13;&#10;                    &lt;/Box&gt;&#13;&#10;                    &lt;Box style={{ background: '#FFFFFF', border: '1px solid #E5E7EB', padding: 12 }}&gt;&#13;&#10;                        &lt;Text style={{ fontSize: 18, color: '#1A2230', lineHeight: 1.5 }}&gt;&lt;span style={{ fontWeight: 'bold', color: '#D9534F' }}&gt;断裂二　&lt;/span&gt;城市水模型缺少 AI 负荷过程：连续运行、气候敏感冷却与峰值重合未显式建模。&lt;/Text&gt;&#13;&#10;                    &lt;/Box&gt;&#13;&#10;                    &lt;Box style={{ background: '#FFFFFF', border: '1px solid #E5E7EB', padding: 12 }}&gt;&#13;&#10;                        &lt;Text style={{ fontSize: 18, color: '#1A2230', lineHeight: 1.5 }}&gt;&lt;span style={{ fontWeight: 'bold', color: '#D9534F' }}&gt;断裂三　&lt;/span&gt;承载力模型缺少对 AI 容量动态压力的刻画，边界难以落到规划口径。&lt;/Text&gt;&#13;&#10;                    &lt;/Box&gt;&#13;&#10;                &lt;/Box&gt;&#13;&#10;                &lt;Box style={{ marginTop: 12, background: '#0E3F8C', paddingLeft: 14, paddingRight: 14, paddingTop: 10, paddingBottom: 10, borderRadius: 4 }}&gt;&#13;&#10;                    &lt;Text style={{ fontSize: 18, color: '#FFFFFF', lineHeight: 1.45 }}&gt;空白是知识链条未闭合：缺少以 AI 容量为驱动、城市水系统为边界、日尺度可验证的过程接口&lt;/Text&gt;&#13;&#10;                &lt;/Box&gt;&#13;&#10;            &lt;/Box&gt;&#13;&#10;        &lt;/Box&gt;&#13;&#10;        &lt;Box style={{ background: '#E8EFF8', borderLeft: '5px solid #1E4FA8', paddingLeft: 18, paddingTop: 9, paddingBottom: 9 }}&gt;&#13;&#10;            &lt;Text style={{ fontSize: 19, color: '#1A2230' }}&gt;总量增加 ≠ 结构重构　　年用水量相同 ≠ 峰值风险相同　　单项扩容 ≠ 承载能力持续增加&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10 / 36&lt;/Text&gt;&#13;&#10;    &lt;/Box&gt;&#13;&#10;    &lt;Box style={{ position: 'absolute', left: 0, top: 72, width: 6, height: 608, flexDirection: 'column' }}&gt;&#13;&#10;                &lt;Box style={{ width: 6, height: 122, background: '#C9D6E8' }} /&gt;&#13;&#10;                &lt;Box style={{ width: 6, height: 122, background: '#FFC107' }} /&gt;&#13;&#10;                &lt;Box style={{ width: 6, height: 122, background: '#C9D6E8'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21" name="矩形 20"/>
          <p:cNvSpPr/>
          <p:nvPr/>
        </p:nvSpPr>
        <p:spPr>
          <a:xfrm>
            <a:off x="0" y="0"/>
            <a:ext cx="12192000" cy="6858000"/>
          </a:xfrm>
          <a:prstGeom prst="rect">
            <a:avLst/>
          </a:prstGeom>
          <a:solidFill>
            <a:srgbClr val="FFFFFF"/>
          </a:solidFill>
        </p:spPr>
        <p:txBody>
          <a:bodyPr/>
          <a:p/>
        </p:txBody>
      </p:sp>
      <p:sp>
        <p:nvSpPr>
          <p:cNvPr id="22" name="矩形 21"/>
          <p:cNvSpPr/>
          <p:nvPr/>
        </p:nvSpPr>
        <p:spPr>
          <a:xfrm>
            <a:off x="0" y="0"/>
            <a:ext cx="12192000" cy="685800"/>
          </a:xfrm>
          <a:prstGeom prst="rect">
            <a:avLst/>
          </a:prstGeom>
          <a:solidFill>
            <a:srgbClr val="0E3F8C"/>
          </a:solidFill>
        </p:spPr>
        <p:txBody>
          <a:bodyPr/>
          <a:p/>
        </p:txBody>
      </p:sp>
      <p:sp>
        <p:nvSpPr>
          <p:cNvPr id="23" name="圆角矩形 22"/>
          <p:cNvSpPr/>
          <p:nvPr/>
        </p:nvSpPr>
        <p:spPr>
          <a:xfrm>
            <a:off x="381000" y="152400"/>
            <a:ext cx="381000" cy="381000"/>
          </a:xfrm>
          <a:prstGeom prst="roundRect">
            <a:avLst>
              <a:gd name="adj" fmla="val 25000"/>
            </a:avLst>
          </a:prstGeom>
          <a:solidFill>
            <a:srgbClr val="12489A"/>
          </a:solidFill>
        </p:spPr>
        <p:txBody>
          <a:bodyPr/>
          <a:p/>
        </p:txBody>
      </p:sp>
      <p:pic>
        <p:nvPicPr>
          <p:cNvPr id="24" name="图片 23"/>
          <p:cNvPicPr>
            <a:picLocks noChangeAspect="1"/>
          </p:cNvPicPr>
          <p:nvPr/>
        </p:nvPicPr>
        <p:blipFill>
          <a:blip/>
          <a:stretch>
            <a:fillRect/>
          </a:stretch>
        </p:blipFill>
        <p:spPr>
          <a:xfrm>
            <a:off x="466725" y="238125"/>
            <a:ext cx="209550" cy="209550"/>
          </a:xfrm>
          <a:prstGeom prst="rect">
            <a:avLst/>
          </a:prstGeom>
        </p:spPr>
      </p:pic>
      <p:sp>
        <p:nvSpPr>
          <p:cNvPr id="25" name="文本框 24" descr="{&quot;isTemplate&quot;:true,&quot;type&quot;:&quot;text&quot;}"/>
          <p:cNvSpPr txBox="1"/>
          <p:nvPr/>
        </p:nvSpPr>
        <p:spPr>
          <a:xfrm>
            <a:off x="895350" y="180975"/>
            <a:ext cx="52482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三类核心研究之间存在尚未打通的过程接口</a:t>
            </a:r>
            <a:endParaRPr lang="zh-CN" sz="2175" b="1">
              <a:solidFill>
                <a:srgbClr val="FFFFFF"/>
              </a:solidFill>
              <a:latin typeface="微软雅黑" panose="020B0503020204020204" charset="-122"/>
              <a:ea typeface="微软雅黑" panose="020B0503020204020204" charset="-122"/>
            </a:endParaRPr>
          </a:p>
        </p:txBody>
      </p:sp>
      <p:sp>
        <p:nvSpPr>
          <p:cNvPr id="26" name="文本框 25"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02 </a:t>
            </a:r>
            <a:r>
              <a:rPr lang="zh-CN" sz="1125">
                <a:solidFill>
                  <a:srgbClr val="AFC6E8"/>
                </a:solidFill>
                <a:latin typeface="微软雅黑" panose="020B0503020204020204" charset="-122"/>
                <a:ea typeface="微软雅黑" panose="020B0503020204020204" charset="-122"/>
              </a:rPr>
              <a:t>国内外研究现状与研究缺口</a:t>
            </a:r>
            <a:endParaRPr lang="zh-CN" sz="1125">
              <a:solidFill>
                <a:srgbClr val="AFC6E8"/>
              </a:solidFill>
              <a:latin typeface="微软雅黑" panose="020B0503020204020204" charset="-122"/>
              <a:ea typeface="微软雅黑" panose="020B0503020204020204" charset="-122"/>
            </a:endParaRPr>
          </a:p>
        </p:txBody>
      </p:sp>
      <p:sp>
        <p:nvSpPr>
          <p:cNvPr id="27" name="圆角矩形 26"/>
          <p:cNvSpPr/>
          <p:nvPr/>
        </p:nvSpPr>
        <p:spPr>
          <a:xfrm>
            <a:off x="11468100" y="238125"/>
            <a:ext cx="342900" cy="219075"/>
          </a:xfrm>
          <a:prstGeom prst="roundRect">
            <a:avLst>
              <a:gd name="adj" fmla="val 13043"/>
            </a:avLst>
          </a:prstGeom>
          <a:solidFill>
            <a:srgbClr val="FFC107"/>
          </a:solidFill>
        </p:spPr>
        <p:txBody>
          <a:bodyPr/>
          <a:p/>
        </p:txBody>
      </p:sp>
      <p:sp>
        <p:nvSpPr>
          <p:cNvPr id="28" name="文本框 27"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10</a:t>
            </a:r>
            <a:endParaRPr lang="en-US" sz="1050" b="1">
              <a:solidFill>
                <a:srgbClr val="0B3A82"/>
              </a:solidFill>
              <a:latin typeface="微软雅黑" panose="020B0503020204020204" charset="-122"/>
              <a:ea typeface="微软雅黑" panose="020B0503020204020204" charset="-122"/>
            </a:endParaRPr>
          </a:p>
        </p:txBody>
      </p:sp>
      <p:sp>
        <p:nvSpPr>
          <p:cNvPr id="29" name="圆角矩形 28"/>
          <p:cNvSpPr/>
          <p:nvPr/>
        </p:nvSpPr>
        <p:spPr>
          <a:xfrm>
            <a:off x="381000" y="800100"/>
            <a:ext cx="11430000" cy="438150"/>
          </a:xfrm>
          <a:prstGeom prst="roundRect">
            <a:avLst>
              <a:gd name="adj" fmla="val 8696"/>
            </a:avLst>
          </a:prstGeom>
          <a:solidFill>
            <a:srgbClr val="0B3A82"/>
          </a:solidFill>
        </p:spPr>
        <p:txBody>
          <a:bodyPr/>
          <a:p/>
        </p:txBody>
      </p:sp>
      <p:sp>
        <p:nvSpPr>
          <p:cNvPr id="30" name="文本框 29"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三类模型各有擅长，但尚未形成能用同一组状态变量与守恒关系连续实验的共同接口</a:t>
            </a:r>
            <a:endParaRPr lang="zh-CN" sz="1575">
              <a:solidFill>
                <a:srgbClr val="FFFFFF"/>
              </a:solidFill>
              <a:latin typeface="微软雅黑" panose="020B0503020204020204" charset="-122"/>
              <a:ea typeface="微软雅黑" panose="020B0503020204020204" charset="-122"/>
            </a:endParaRPr>
          </a:p>
        </p:txBody>
      </p:sp>
      <p:sp>
        <p:nvSpPr>
          <p:cNvPr id="31" name="圆角矩形 30"/>
          <p:cNvSpPr/>
          <p:nvPr/>
        </p:nvSpPr>
        <p:spPr>
          <a:xfrm>
            <a:off x="381000" y="1352550"/>
            <a:ext cx="6858000" cy="1162050"/>
          </a:xfrm>
          <a:prstGeom prst="roundRect">
            <a:avLst>
              <a:gd name="adj" fmla="val 4918"/>
            </a:avLst>
          </a:prstGeom>
          <a:solidFill>
            <a:srgbClr val="F7F9FC"/>
          </a:solidFill>
          <a:ln w="12700">
            <a:solidFill>
              <a:srgbClr val="D6DCE5"/>
            </a:solidFill>
            <a:prstDash val="solid"/>
          </a:ln>
        </p:spPr>
        <p:txBody>
          <a:bodyPr/>
          <a:p/>
        </p:txBody>
      </p:sp>
      <p:sp>
        <p:nvSpPr>
          <p:cNvPr id="32" name="圆角矩形 31"/>
          <p:cNvSpPr/>
          <p:nvPr/>
        </p:nvSpPr>
        <p:spPr>
          <a:xfrm>
            <a:off x="514350" y="1485900"/>
            <a:ext cx="1162050" cy="257175"/>
          </a:xfrm>
          <a:prstGeom prst="roundRect">
            <a:avLst>
              <a:gd name="adj" fmla="val 11111"/>
            </a:avLst>
          </a:prstGeom>
          <a:solidFill>
            <a:srgbClr val="1E4FA8"/>
          </a:solidFill>
        </p:spPr>
        <p:txBody>
          <a:bodyPr/>
          <a:p/>
        </p:txBody>
      </p:sp>
      <p:sp>
        <p:nvSpPr>
          <p:cNvPr id="33" name="文本框 32" descr="{&quot;isTemplate&quot;:true,&quot;type&quot;:&quot;text&quot;}"/>
          <p:cNvSpPr txBox="1"/>
          <p:nvPr/>
        </p:nvSpPr>
        <p:spPr>
          <a:xfrm>
            <a:off x="609600" y="1514475"/>
            <a:ext cx="971550" cy="200025"/>
          </a:xfrm>
          <a:prstGeom prst="rect">
            <a:avLst/>
          </a:prstGeom>
        </p:spPr>
        <p:txBody>
          <a:bodyPr wrap="none" lIns="0" tIns="0" rIns="0" bIns="0"/>
          <a:p>
            <a:pPr>
              <a:lnSpc>
                <a:spcPct val="100000"/>
              </a:lnSpc>
            </a:pPr>
            <a:r>
              <a:rPr lang="zh-CN" sz="1275" b="1">
                <a:solidFill>
                  <a:srgbClr val="FFFFFF"/>
                </a:solidFill>
                <a:latin typeface="微软雅黑" panose="020B0503020204020204" charset="-122"/>
                <a:ea typeface="微软雅黑" panose="020B0503020204020204" charset="-122"/>
              </a:rPr>
              <a:t>设施过程研究</a:t>
            </a:r>
            <a:endParaRPr lang="zh-CN" sz="1275" b="1">
              <a:solidFill>
                <a:srgbClr val="FFFFFF"/>
              </a:solidFill>
              <a:latin typeface="微软雅黑" panose="020B0503020204020204" charset="-122"/>
              <a:ea typeface="微软雅黑" panose="020B0503020204020204" charset="-122"/>
            </a:endParaRPr>
          </a:p>
        </p:txBody>
      </p:sp>
      <p:pic>
        <p:nvPicPr>
          <p:cNvPr id="34" name="图片 33"/>
          <p:cNvPicPr>
            <a:picLocks noChangeAspect="1"/>
          </p:cNvPicPr>
          <p:nvPr/>
        </p:nvPicPr>
        <p:blipFill>
          <a:blip/>
          <a:stretch>
            <a:fillRect/>
          </a:stretch>
        </p:blipFill>
        <p:spPr>
          <a:xfrm>
            <a:off x="1771650" y="1533525"/>
            <a:ext cx="180975" cy="180975"/>
          </a:xfrm>
          <a:prstGeom prst="rect">
            <a:avLst/>
          </a:prstGeom>
        </p:spPr>
      </p:pic>
      <p:sp>
        <p:nvSpPr>
          <p:cNvPr id="35" name="文本框 34" descr="{&quot;isTemplate&quot;:true,&quot;type&quot;:&quot;text&quot;}"/>
          <p:cNvSpPr txBox="1"/>
          <p:nvPr/>
        </p:nvSpPr>
        <p:spPr>
          <a:xfrm>
            <a:off x="2028825" y="1504950"/>
            <a:ext cx="4057650" cy="228600"/>
          </a:xfrm>
          <a:prstGeom prst="rect">
            <a:avLst/>
          </a:prstGeom>
        </p:spPr>
        <p:txBody>
          <a:bodyPr wrap="none" lIns="0" tIns="0" rIns="0" bIns="0"/>
          <a:p>
            <a:pPr>
              <a:lnSpc>
                <a:spcPct val="100000"/>
              </a:lnSpc>
            </a:pPr>
            <a:r>
              <a:rPr lang="zh-CN" sz="1500" b="1">
                <a:solidFill>
                  <a:srgbClr val="0E3F8C"/>
                </a:solidFill>
                <a:latin typeface="微软雅黑" panose="020B0503020204020204" charset="-122"/>
                <a:ea typeface="微软雅黑" panose="020B0503020204020204" charset="-122"/>
              </a:rPr>
              <a:t>优势：</a:t>
            </a:r>
            <a:r>
              <a:rPr lang="en-US" sz="1500" b="1">
                <a:solidFill>
                  <a:srgbClr val="0E3F8C"/>
                </a:solidFill>
                <a:latin typeface="微软雅黑" panose="020B0503020204020204" charset="-122"/>
                <a:ea typeface="微软雅黑" panose="020B0503020204020204" charset="-122"/>
              </a:rPr>
              <a:t>IT </a:t>
            </a:r>
            <a:r>
              <a:rPr lang="zh-CN" sz="1500" b="1">
                <a:solidFill>
                  <a:srgbClr val="0E3F8C"/>
                </a:solidFill>
                <a:latin typeface="微软雅黑" panose="020B0503020204020204" charset="-122"/>
                <a:ea typeface="微软雅黑" panose="020B0503020204020204" charset="-122"/>
              </a:rPr>
              <a:t>负荷、</a:t>
            </a:r>
            <a:r>
              <a:rPr lang="en-US" sz="1500" b="1">
                <a:solidFill>
                  <a:srgbClr val="0E3F8C"/>
                </a:solidFill>
                <a:latin typeface="微软雅黑" panose="020B0503020204020204" charset="-122"/>
                <a:ea typeface="微软雅黑" panose="020B0503020204020204" charset="-122"/>
              </a:rPr>
              <a:t>PUE</a:t>
            </a:r>
            <a:r>
              <a:rPr lang="zh-CN" sz="1500" b="1">
                <a:solidFill>
                  <a:srgbClr val="0E3F8C"/>
                </a:solidFill>
                <a:latin typeface="微软雅黑" panose="020B0503020204020204" charset="-122"/>
                <a:ea typeface="微软雅黑" panose="020B0503020204020204" charset="-122"/>
              </a:rPr>
              <a:t>、冷却与设施水耗关系清晰</a:t>
            </a:r>
            <a:endParaRPr lang="zh-CN" sz="1500" b="1">
              <a:solidFill>
                <a:srgbClr val="0E3F8C"/>
              </a:solidFill>
              <a:latin typeface="微软雅黑" panose="020B0503020204020204" charset="-122"/>
              <a:ea typeface="微软雅黑" panose="020B0503020204020204" charset="-122"/>
            </a:endParaRPr>
          </a:p>
        </p:txBody>
      </p:sp>
      <p:sp>
        <p:nvSpPr>
          <p:cNvPr id="36" name="文本框 35" descr="{&quot;isTemplate&quot;:true,&quot;type&quot;:&quot;text&quot;}"/>
          <p:cNvSpPr txBox="1"/>
          <p:nvPr/>
        </p:nvSpPr>
        <p:spPr>
          <a:xfrm>
            <a:off x="514350" y="1800225"/>
            <a:ext cx="6591300" cy="295275"/>
          </a:xfrm>
          <a:prstGeom prst="rect">
            <a:avLst/>
          </a:prstGeom>
        </p:spPr>
        <p:txBody>
          <a:bodyPr wrap="none" lIns="0" tIns="0" rIns="0" bIns="0"/>
          <a:p>
            <a:pPr>
              <a:lnSpc>
                <a:spcPct val="150000"/>
              </a:lnSpc>
            </a:pPr>
            <a:r>
              <a:rPr lang="zh-CN" sz="1275">
                <a:solidFill>
                  <a:srgbClr val="1A2230"/>
                </a:solidFill>
                <a:latin typeface="微软雅黑" panose="020B0503020204020204" charset="-122"/>
                <a:ea typeface="微软雅黑" panose="020B0503020204020204" charset="-122"/>
              </a:rPr>
              <a:t>局限：水源、污水去向与管网能力被外置，无法回答取水之后城市系统发生了什么。</a:t>
            </a:r>
            <a:endParaRPr lang="zh-CN" sz="1275">
              <a:solidFill>
                <a:srgbClr val="1A2230"/>
              </a:solidFill>
              <a:latin typeface="微软雅黑" panose="020B0503020204020204" charset="-122"/>
              <a:ea typeface="微软雅黑" panose="020B0503020204020204" charset="-122"/>
            </a:endParaRPr>
          </a:p>
        </p:txBody>
      </p:sp>
      <p:sp>
        <p:nvSpPr>
          <p:cNvPr id="37" name="圆角矩形 36"/>
          <p:cNvSpPr/>
          <p:nvPr/>
        </p:nvSpPr>
        <p:spPr>
          <a:xfrm>
            <a:off x="381000" y="2628900"/>
            <a:ext cx="6858000" cy="1457325"/>
          </a:xfrm>
          <a:prstGeom prst="roundRect">
            <a:avLst>
              <a:gd name="adj" fmla="val 3922"/>
            </a:avLst>
          </a:prstGeom>
          <a:solidFill>
            <a:srgbClr val="F7F9FC"/>
          </a:solidFill>
          <a:ln w="12700">
            <a:solidFill>
              <a:srgbClr val="D6DCE5"/>
            </a:solidFill>
            <a:prstDash val="solid"/>
          </a:ln>
        </p:spPr>
        <p:txBody>
          <a:bodyPr/>
          <a:p/>
        </p:txBody>
      </p:sp>
      <p:sp>
        <p:nvSpPr>
          <p:cNvPr id="38" name="圆角矩形 37"/>
          <p:cNvSpPr/>
          <p:nvPr/>
        </p:nvSpPr>
        <p:spPr>
          <a:xfrm>
            <a:off x="514350" y="2762250"/>
            <a:ext cx="1323975" cy="257175"/>
          </a:xfrm>
          <a:prstGeom prst="roundRect">
            <a:avLst>
              <a:gd name="adj" fmla="val 11111"/>
            </a:avLst>
          </a:prstGeom>
          <a:solidFill>
            <a:srgbClr val="1E4FA8"/>
          </a:solidFill>
        </p:spPr>
        <p:txBody>
          <a:bodyPr/>
          <a:p/>
        </p:txBody>
      </p:sp>
      <p:sp>
        <p:nvSpPr>
          <p:cNvPr id="39" name="文本框 38" descr="{&quot;isTemplate&quot;:true,&quot;type&quot;:&quot;text&quot;}"/>
          <p:cNvSpPr txBox="1"/>
          <p:nvPr/>
        </p:nvSpPr>
        <p:spPr>
          <a:xfrm>
            <a:off x="609600" y="2790825"/>
            <a:ext cx="1133475" cy="200025"/>
          </a:xfrm>
          <a:prstGeom prst="rect">
            <a:avLst/>
          </a:prstGeom>
        </p:spPr>
        <p:txBody>
          <a:bodyPr wrap="none" lIns="0" tIns="0" rIns="0" bIns="0"/>
          <a:p>
            <a:pPr>
              <a:lnSpc>
                <a:spcPct val="100000"/>
              </a:lnSpc>
            </a:pPr>
            <a:r>
              <a:rPr lang="zh-CN" sz="1275" b="1">
                <a:solidFill>
                  <a:srgbClr val="FFFFFF"/>
                </a:solidFill>
                <a:latin typeface="微软雅黑" panose="020B0503020204020204" charset="-122"/>
                <a:ea typeface="微软雅黑" panose="020B0503020204020204" charset="-122"/>
              </a:rPr>
              <a:t>城市水系统模型</a:t>
            </a:r>
            <a:endParaRPr lang="zh-CN" sz="1275" b="1">
              <a:solidFill>
                <a:srgbClr val="FFFFFF"/>
              </a:solidFill>
              <a:latin typeface="微软雅黑" panose="020B0503020204020204" charset="-122"/>
              <a:ea typeface="微软雅黑" panose="020B0503020204020204" charset="-122"/>
            </a:endParaRPr>
          </a:p>
        </p:txBody>
      </p:sp>
      <p:pic>
        <p:nvPicPr>
          <p:cNvPr id="40" name="图片 39"/>
          <p:cNvPicPr>
            <a:picLocks noChangeAspect="1"/>
          </p:cNvPicPr>
          <p:nvPr/>
        </p:nvPicPr>
        <p:blipFill>
          <a:blip/>
          <a:stretch>
            <a:fillRect/>
          </a:stretch>
        </p:blipFill>
        <p:spPr>
          <a:xfrm>
            <a:off x="1933575" y="2809875"/>
            <a:ext cx="180975" cy="180975"/>
          </a:xfrm>
          <a:prstGeom prst="rect">
            <a:avLst/>
          </a:prstGeom>
        </p:spPr>
      </p:pic>
      <p:sp>
        <p:nvSpPr>
          <p:cNvPr id="41" name="文本框 40" descr="{&quot;isTemplate&quot;:true,&quot;type&quot;:&quot;text&quot;}"/>
          <p:cNvSpPr txBox="1"/>
          <p:nvPr/>
        </p:nvSpPr>
        <p:spPr>
          <a:xfrm>
            <a:off x="2190750" y="2781300"/>
            <a:ext cx="3810000" cy="228600"/>
          </a:xfrm>
          <a:prstGeom prst="rect">
            <a:avLst/>
          </a:prstGeom>
        </p:spPr>
        <p:txBody>
          <a:bodyPr wrap="none" lIns="0" tIns="0" rIns="0" bIns="0"/>
          <a:p>
            <a:pPr>
              <a:lnSpc>
                <a:spcPct val="100000"/>
              </a:lnSpc>
            </a:pPr>
            <a:r>
              <a:rPr lang="zh-CN" sz="1500" b="1">
                <a:solidFill>
                  <a:srgbClr val="0E3F8C"/>
                </a:solidFill>
                <a:latin typeface="微软雅黑" panose="020B0503020204020204" charset="-122"/>
                <a:ea typeface="微软雅黑" panose="020B0503020204020204" charset="-122"/>
              </a:rPr>
              <a:t>优势：供排水路径、内部循环与环境排放完整</a:t>
            </a:r>
            <a:endParaRPr lang="zh-CN" sz="1500" b="1">
              <a:solidFill>
                <a:srgbClr val="0E3F8C"/>
              </a:solidFill>
              <a:latin typeface="微软雅黑" panose="020B0503020204020204" charset="-122"/>
              <a:ea typeface="微软雅黑" panose="020B0503020204020204" charset="-122"/>
            </a:endParaRPr>
          </a:p>
        </p:txBody>
      </p:sp>
      <p:sp>
        <p:nvSpPr>
          <p:cNvPr id="42" name="文本框 41" descr="{&quot;isTemplate&quot;:true,&quot;type&quot;:&quot;text&quot;}"/>
          <p:cNvSpPr txBox="1"/>
          <p:nvPr/>
        </p:nvSpPr>
        <p:spPr>
          <a:xfrm>
            <a:off x="514350" y="3076575"/>
            <a:ext cx="6591300"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局限：高密度计算负荷被简化为一般工业用户，缺少两层冷却架构与热—水转换的显式描述。</a:t>
            </a:r>
            <a:endParaRPr lang="zh-CN" sz="1275">
              <a:solidFill>
                <a:srgbClr val="1A2230"/>
              </a:solidFill>
              <a:latin typeface="微软雅黑" panose="020B0503020204020204" charset="-122"/>
              <a:ea typeface="微软雅黑" panose="020B0503020204020204" charset="-122"/>
            </a:endParaRPr>
          </a:p>
        </p:txBody>
      </p:sp>
      <p:sp>
        <p:nvSpPr>
          <p:cNvPr id="43" name="圆角矩形 42"/>
          <p:cNvSpPr/>
          <p:nvPr/>
        </p:nvSpPr>
        <p:spPr>
          <a:xfrm>
            <a:off x="381000" y="4200525"/>
            <a:ext cx="6858000" cy="1457325"/>
          </a:xfrm>
          <a:prstGeom prst="roundRect">
            <a:avLst>
              <a:gd name="adj" fmla="val 3922"/>
            </a:avLst>
          </a:prstGeom>
          <a:solidFill>
            <a:srgbClr val="F7F9FC"/>
          </a:solidFill>
          <a:ln w="12700">
            <a:solidFill>
              <a:srgbClr val="D6DCE5"/>
            </a:solidFill>
            <a:prstDash val="solid"/>
          </a:ln>
        </p:spPr>
        <p:txBody>
          <a:bodyPr/>
          <a:p/>
        </p:txBody>
      </p:sp>
      <p:sp>
        <p:nvSpPr>
          <p:cNvPr id="44" name="圆角矩形 43"/>
          <p:cNvSpPr/>
          <p:nvPr/>
        </p:nvSpPr>
        <p:spPr>
          <a:xfrm>
            <a:off x="514350" y="4333875"/>
            <a:ext cx="1000125" cy="257175"/>
          </a:xfrm>
          <a:prstGeom prst="roundRect">
            <a:avLst>
              <a:gd name="adj" fmla="val 11111"/>
            </a:avLst>
          </a:prstGeom>
          <a:solidFill>
            <a:srgbClr val="1E4FA8"/>
          </a:solidFill>
        </p:spPr>
        <p:txBody>
          <a:bodyPr/>
          <a:p/>
        </p:txBody>
      </p:sp>
      <p:sp>
        <p:nvSpPr>
          <p:cNvPr id="45" name="文本框 44" descr="{&quot;isTemplate&quot;:true,&quot;type&quot;:&quot;text&quot;}"/>
          <p:cNvSpPr txBox="1"/>
          <p:nvPr/>
        </p:nvSpPr>
        <p:spPr>
          <a:xfrm>
            <a:off x="609600" y="4362450"/>
            <a:ext cx="809625" cy="200025"/>
          </a:xfrm>
          <a:prstGeom prst="rect">
            <a:avLst/>
          </a:prstGeom>
        </p:spPr>
        <p:txBody>
          <a:bodyPr wrap="none" lIns="0" tIns="0" rIns="0" bIns="0"/>
          <a:p>
            <a:pPr>
              <a:lnSpc>
                <a:spcPct val="100000"/>
              </a:lnSpc>
            </a:pPr>
            <a:r>
              <a:rPr lang="zh-CN" sz="1275" b="1">
                <a:solidFill>
                  <a:srgbClr val="FFFFFF"/>
                </a:solidFill>
                <a:latin typeface="微软雅黑" panose="020B0503020204020204" charset="-122"/>
                <a:ea typeface="微软雅黑" panose="020B0503020204020204" charset="-122"/>
              </a:rPr>
              <a:t>承载力研究</a:t>
            </a:r>
            <a:endParaRPr lang="zh-CN" sz="1275" b="1">
              <a:solidFill>
                <a:srgbClr val="FFFFFF"/>
              </a:solidFill>
              <a:latin typeface="微软雅黑" panose="020B0503020204020204" charset="-122"/>
              <a:ea typeface="微软雅黑" panose="020B0503020204020204" charset="-122"/>
            </a:endParaRPr>
          </a:p>
        </p:txBody>
      </p:sp>
      <p:pic>
        <p:nvPicPr>
          <p:cNvPr id="46" name="图片 45"/>
          <p:cNvPicPr>
            <a:picLocks noChangeAspect="1"/>
          </p:cNvPicPr>
          <p:nvPr/>
        </p:nvPicPr>
        <p:blipFill>
          <a:blip/>
          <a:stretch>
            <a:fillRect/>
          </a:stretch>
        </p:blipFill>
        <p:spPr>
          <a:xfrm>
            <a:off x="1609725" y="4381500"/>
            <a:ext cx="180975" cy="180975"/>
          </a:xfrm>
          <a:prstGeom prst="rect">
            <a:avLst/>
          </a:prstGeom>
        </p:spPr>
      </p:pic>
      <p:sp>
        <p:nvSpPr>
          <p:cNvPr id="47" name="文本框 46" descr="{&quot;isTemplate&quot;:true,&quot;type&quot;:&quot;text&quot;}"/>
          <p:cNvSpPr txBox="1"/>
          <p:nvPr/>
        </p:nvSpPr>
        <p:spPr>
          <a:xfrm>
            <a:off x="1866900" y="4352925"/>
            <a:ext cx="3238500" cy="228600"/>
          </a:xfrm>
          <a:prstGeom prst="rect">
            <a:avLst/>
          </a:prstGeom>
        </p:spPr>
        <p:txBody>
          <a:bodyPr wrap="none" lIns="0" tIns="0" rIns="0" bIns="0"/>
          <a:p>
            <a:pPr>
              <a:lnSpc>
                <a:spcPct val="100000"/>
              </a:lnSpc>
            </a:pPr>
            <a:r>
              <a:rPr lang="zh-CN" sz="1500" b="1">
                <a:solidFill>
                  <a:srgbClr val="0E3F8C"/>
                </a:solidFill>
                <a:latin typeface="微软雅黑" panose="020B0503020204020204" charset="-122"/>
                <a:ea typeface="微软雅黑" panose="020B0503020204020204" charset="-122"/>
              </a:rPr>
              <a:t>优势：把资源状态与发展规模连接起来</a:t>
            </a:r>
            <a:endParaRPr lang="zh-CN" sz="1500" b="1">
              <a:solidFill>
                <a:srgbClr val="0E3F8C"/>
              </a:solidFill>
              <a:latin typeface="微软雅黑" panose="020B0503020204020204" charset="-122"/>
              <a:ea typeface="微软雅黑" panose="020B0503020204020204" charset="-122"/>
            </a:endParaRPr>
          </a:p>
        </p:txBody>
      </p:sp>
      <p:sp>
        <p:nvSpPr>
          <p:cNvPr id="48" name="文本框 47" descr="{&quot;isTemplate&quot;:true,&quot;type&quot;:&quot;text&quot;}"/>
          <p:cNvSpPr txBox="1"/>
          <p:nvPr/>
        </p:nvSpPr>
        <p:spPr>
          <a:xfrm>
            <a:off x="514350" y="4648200"/>
            <a:ext cx="6591300"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局限：较少把</a:t>
            </a:r>
            <a:r>
              <a:rPr lang="en-US" sz="1275">
                <a:solidFill>
                  <a:srgbClr val="1A2230"/>
                </a:solidFill>
                <a:latin typeface="微软雅黑" panose="020B0503020204020204" charset="-122"/>
                <a:ea typeface="微软雅黑" panose="020B0503020204020204" charset="-122"/>
              </a:rPr>
              <a:t> AI </a:t>
            </a:r>
            <a:r>
              <a:rPr lang="zh-CN" sz="1275">
                <a:solidFill>
                  <a:srgbClr val="1A2230"/>
                </a:solidFill>
                <a:latin typeface="微软雅黑" panose="020B0503020204020204" charset="-122"/>
                <a:ea typeface="微软雅黑" panose="020B0503020204020204" charset="-122"/>
              </a:rPr>
              <a:t>容量作为独立承载对象，少有同时考虑小时级连续负荷、冷却差异与气候敏感性。</a:t>
            </a:r>
            <a:endParaRPr lang="zh-CN" sz="1275">
              <a:solidFill>
                <a:srgbClr val="1A2230"/>
              </a:solidFill>
              <a:latin typeface="微软雅黑" panose="020B0503020204020204" charset="-122"/>
              <a:ea typeface="微软雅黑" panose="020B0503020204020204" charset="-122"/>
            </a:endParaRPr>
          </a:p>
        </p:txBody>
      </p:sp>
      <p:sp>
        <p:nvSpPr>
          <p:cNvPr id="49" name="圆角矩形 48"/>
          <p:cNvSpPr/>
          <p:nvPr/>
        </p:nvSpPr>
        <p:spPr>
          <a:xfrm>
            <a:off x="7372350" y="1352550"/>
            <a:ext cx="4438650" cy="4410075"/>
          </a:xfrm>
          <a:prstGeom prst="roundRect">
            <a:avLst>
              <a:gd name="adj" fmla="val 1296"/>
            </a:avLst>
          </a:prstGeom>
          <a:solidFill>
            <a:srgbClr val="F0F5FC"/>
          </a:solidFill>
          <a:ln w="12700">
            <a:solidFill>
              <a:srgbClr val="D6DCE5"/>
            </a:solidFill>
            <a:prstDash val="solid"/>
          </a:ln>
        </p:spPr>
        <p:txBody>
          <a:bodyPr/>
          <a:p/>
        </p:txBody>
      </p:sp>
      <p:sp>
        <p:nvSpPr>
          <p:cNvPr id="50" name="任意多边形 49"/>
          <p:cNvSpPr/>
          <p:nvPr/>
        </p:nvSpPr>
        <p:spPr>
          <a:xfrm>
            <a:off x="7543800" y="1524000"/>
            <a:ext cx="4143375" cy="276225"/>
          </a:xfrm>
          <a:custGeom>
            <a:avLst/>
            <a:gdLst/>
            <a:ahLst/>
            <a:cxnLst/>
            <a:pathLst>
              <a:path w="435" h="29">
                <a:moveTo>
                  <a:pt x="0" y="0"/>
                </a:moveTo>
                <a:lnTo>
                  <a:pt x="5" y="0"/>
                </a:lnTo>
                <a:lnTo>
                  <a:pt x="5" y="29"/>
                </a:lnTo>
                <a:lnTo>
                  <a:pt x="0" y="29"/>
                </a:lnTo>
                <a:close/>
              </a:path>
            </a:pathLst>
          </a:custGeom>
          <a:solidFill>
            <a:srgbClr val="D9534F"/>
          </a:solidFill>
        </p:spPr>
        <p:txBody>
          <a:bodyPr/>
          <a:p/>
        </p:txBody>
      </p:sp>
      <p:sp>
        <p:nvSpPr>
          <p:cNvPr id="51" name="文本框 50" descr="{&quot;isTemplate&quot;:true,&quot;type&quot;:&quot;text&quot;}"/>
          <p:cNvSpPr txBox="1"/>
          <p:nvPr/>
        </p:nvSpPr>
        <p:spPr>
          <a:xfrm>
            <a:off x="7705725" y="1524000"/>
            <a:ext cx="3933825" cy="276225"/>
          </a:xfrm>
          <a:prstGeom prst="rect">
            <a:avLst/>
          </a:prstGeom>
        </p:spPr>
        <p:txBody>
          <a:bodyPr wrap="none" lIns="0" tIns="0" rIns="0" bIns="0"/>
          <a:p>
            <a:pPr>
              <a:lnSpc>
                <a:spcPct val="100000"/>
              </a:lnSpc>
            </a:pPr>
            <a:r>
              <a:rPr lang="zh-CN" sz="1800" b="1">
                <a:solidFill>
                  <a:srgbClr val="0E3F8C"/>
                </a:solidFill>
                <a:latin typeface="微软雅黑" panose="020B0503020204020204" charset="-122"/>
                <a:ea typeface="微软雅黑" panose="020B0503020204020204" charset="-122"/>
              </a:rPr>
              <a:t>三处断裂指向同一个接口</a:t>
            </a:r>
            <a:endParaRPr lang="zh-CN" sz="1800" b="1">
              <a:solidFill>
                <a:srgbClr val="0E3F8C"/>
              </a:solidFill>
              <a:latin typeface="微软雅黑" panose="020B0503020204020204" charset="-122"/>
              <a:ea typeface="微软雅黑" panose="020B0503020204020204" charset="-122"/>
            </a:endParaRPr>
          </a:p>
        </p:txBody>
      </p:sp>
      <p:sp>
        <p:nvSpPr>
          <p:cNvPr id="52" name="矩形 51"/>
          <p:cNvSpPr/>
          <p:nvPr/>
        </p:nvSpPr>
        <p:spPr>
          <a:xfrm>
            <a:off x="7543800" y="1914525"/>
            <a:ext cx="4095750" cy="847725"/>
          </a:xfrm>
          <a:prstGeom prst="rect">
            <a:avLst/>
          </a:prstGeom>
          <a:solidFill>
            <a:srgbClr val="FFFFFF"/>
          </a:solidFill>
          <a:ln w="12700">
            <a:solidFill>
              <a:srgbClr val="E5E7EB"/>
            </a:solidFill>
            <a:prstDash val="solid"/>
          </a:ln>
        </p:spPr>
        <p:txBody>
          <a:bodyPr/>
          <a:p/>
        </p:txBody>
      </p:sp>
      <p:sp>
        <p:nvSpPr>
          <p:cNvPr id="53" name="文本框 52" descr="{&quot;isTemplate&quot;:true,&quot;type&quot;:&quot;text&quot;}"/>
          <p:cNvSpPr txBox="1"/>
          <p:nvPr/>
        </p:nvSpPr>
        <p:spPr>
          <a:xfrm>
            <a:off x="7658100" y="2028825"/>
            <a:ext cx="3867150" cy="619125"/>
          </a:xfrm>
          <a:prstGeom prst="rect">
            <a:avLst/>
          </a:prstGeom>
        </p:spPr>
        <p:txBody>
          <a:bodyPr wrap="square" lIns="0" tIns="0" rIns="0" bIns="0">
            <a:normAutofit/>
          </a:bodyPr>
          <a:p>
            <a:pPr>
              <a:lnSpc>
                <a:spcPct val="150000"/>
              </a:lnSpc>
            </a:pPr>
            <a:r>
              <a:rPr lang="zh-CN" sz="1350" b="1">
                <a:solidFill>
                  <a:srgbClr val="D9534F"/>
                </a:solidFill>
                <a:latin typeface="微软雅黑" panose="020B0503020204020204" charset="-122"/>
                <a:ea typeface="微软雅黑" panose="020B0503020204020204" charset="-122"/>
              </a:rPr>
              <a:t>断裂一　</a:t>
            </a:r>
            <a:r>
              <a:rPr lang="zh-CN" sz="1350">
                <a:solidFill>
                  <a:srgbClr val="1A2230"/>
                </a:solidFill>
                <a:latin typeface="微软雅黑" panose="020B0503020204020204" charset="-122"/>
                <a:ea typeface="微软雅黑" panose="020B0503020204020204" charset="-122"/>
              </a:rPr>
              <a:t>设施模型缺少城市反馈：取水来源与排水去向被当成边界条件而非状态变量。</a:t>
            </a:r>
            <a:endParaRPr lang="zh-CN" sz="1350">
              <a:solidFill>
                <a:srgbClr val="1A2230"/>
              </a:solidFill>
              <a:latin typeface="微软雅黑" panose="020B0503020204020204" charset="-122"/>
              <a:ea typeface="微软雅黑" panose="020B0503020204020204" charset="-122"/>
            </a:endParaRPr>
          </a:p>
        </p:txBody>
      </p:sp>
      <p:sp>
        <p:nvSpPr>
          <p:cNvPr id="54" name="矩形 53"/>
          <p:cNvSpPr/>
          <p:nvPr/>
        </p:nvSpPr>
        <p:spPr>
          <a:xfrm>
            <a:off x="7543800" y="2876550"/>
            <a:ext cx="4095750" cy="847725"/>
          </a:xfrm>
          <a:prstGeom prst="rect">
            <a:avLst/>
          </a:prstGeom>
          <a:solidFill>
            <a:srgbClr val="FFFFFF"/>
          </a:solidFill>
          <a:ln w="12700">
            <a:solidFill>
              <a:srgbClr val="E5E7EB"/>
            </a:solidFill>
            <a:prstDash val="solid"/>
          </a:ln>
        </p:spPr>
        <p:txBody>
          <a:bodyPr/>
          <a:p/>
        </p:txBody>
      </p:sp>
      <p:sp>
        <p:nvSpPr>
          <p:cNvPr id="55" name="文本框 54" descr="{&quot;isTemplate&quot;:true,&quot;type&quot;:&quot;text&quot;}"/>
          <p:cNvSpPr txBox="1"/>
          <p:nvPr/>
        </p:nvSpPr>
        <p:spPr>
          <a:xfrm>
            <a:off x="7658100" y="2990850"/>
            <a:ext cx="3867150" cy="619125"/>
          </a:xfrm>
          <a:prstGeom prst="rect">
            <a:avLst/>
          </a:prstGeom>
        </p:spPr>
        <p:txBody>
          <a:bodyPr wrap="square" lIns="0" tIns="0" rIns="0" bIns="0">
            <a:normAutofit/>
          </a:bodyPr>
          <a:p>
            <a:pPr>
              <a:lnSpc>
                <a:spcPct val="150000"/>
              </a:lnSpc>
            </a:pPr>
            <a:r>
              <a:rPr lang="zh-CN" sz="1350" b="1">
                <a:solidFill>
                  <a:srgbClr val="D9534F"/>
                </a:solidFill>
                <a:latin typeface="微软雅黑" panose="020B0503020204020204" charset="-122"/>
                <a:ea typeface="微软雅黑" panose="020B0503020204020204" charset="-122"/>
              </a:rPr>
              <a:t>断裂二　</a:t>
            </a:r>
            <a:r>
              <a:rPr lang="zh-CN" sz="1350">
                <a:solidFill>
                  <a:srgbClr val="1A2230"/>
                </a:solidFill>
                <a:latin typeface="微软雅黑" panose="020B0503020204020204" charset="-122"/>
                <a:ea typeface="微软雅黑" panose="020B0503020204020204" charset="-122"/>
              </a:rPr>
              <a:t>城市水模型缺少</a:t>
            </a:r>
            <a:r>
              <a:rPr lang="en-US" sz="1350">
                <a:solidFill>
                  <a:srgbClr val="1A2230"/>
                </a:solidFill>
                <a:latin typeface="微软雅黑" panose="020B0503020204020204" charset="-122"/>
                <a:ea typeface="微软雅黑" panose="020B0503020204020204" charset="-122"/>
              </a:rPr>
              <a:t> AI </a:t>
            </a:r>
            <a:r>
              <a:rPr lang="zh-CN" sz="1350">
                <a:solidFill>
                  <a:srgbClr val="1A2230"/>
                </a:solidFill>
                <a:latin typeface="微软雅黑" panose="020B0503020204020204" charset="-122"/>
                <a:ea typeface="微软雅黑" panose="020B0503020204020204" charset="-122"/>
              </a:rPr>
              <a:t>负荷过程：连续运行、气候敏感冷却与峰值重合未显式建模。</a:t>
            </a:r>
            <a:endParaRPr lang="zh-CN" sz="1350">
              <a:solidFill>
                <a:srgbClr val="1A2230"/>
              </a:solidFill>
              <a:latin typeface="微软雅黑" panose="020B0503020204020204" charset="-122"/>
              <a:ea typeface="微软雅黑" panose="020B0503020204020204" charset="-122"/>
            </a:endParaRPr>
          </a:p>
        </p:txBody>
      </p:sp>
      <p:sp>
        <p:nvSpPr>
          <p:cNvPr id="56" name="矩形 55"/>
          <p:cNvSpPr/>
          <p:nvPr/>
        </p:nvSpPr>
        <p:spPr>
          <a:xfrm>
            <a:off x="7543800" y="3838575"/>
            <a:ext cx="4095750" cy="847725"/>
          </a:xfrm>
          <a:prstGeom prst="rect">
            <a:avLst/>
          </a:prstGeom>
          <a:solidFill>
            <a:srgbClr val="FFFFFF"/>
          </a:solidFill>
          <a:ln w="12700">
            <a:solidFill>
              <a:srgbClr val="E5E7EB"/>
            </a:solidFill>
            <a:prstDash val="solid"/>
          </a:ln>
        </p:spPr>
        <p:txBody>
          <a:bodyPr/>
          <a:p/>
        </p:txBody>
      </p:sp>
      <p:sp>
        <p:nvSpPr>
          <p:cNvPr id="57" name="文本框 56" descr="{&quot;isTemplate&quot;:true,&quot;type&quot;:&quot;text&quot;}"/>
          <p:cNvSpPr txBox="1"/>
          <p:nvPr/>
        </p:nvSpPr>
        <p:spPr>
          <a:xfrm>
            <a:off x="7658100" y="3952875"/>
            <a:ext cx="3867150" cy="619125"/>
          </a:xfrm>
          <a:prstGeom prst="rect">
            <a:avLst/>
          </a:prstGeom>
        </p:spPr>
        <p:txBody>
          <a:bodyPr wrap="square" lIns="0" tIns="0" rIns="0" bIns="0">
            <a:normAutofit/>
          </a:bodyPr>
          <a:p>
            <a:pPr>
              <a:lnSpc>
                <a:spcPct val="150000"/>
              </a:lnSpc>
            </a:pPr>
            <a:r>
              <a:rPr lang="zh-CN" sz="1350" b="1">
                <a:solidFill>
                  <a:srgbClr val="D9534F"/>
                </a:solidFill>
                <a:latin typeface="微软雅黑" panose="020B0503020204020204" charset="-122"/>
                <a:ea typeface="微软雅黑" panose="020B0503020204020204" charset="-122"/>
              </a:rPr>
              <a:t>断裂三　</a:t>
            </a:r>
            <a:r>
              <a:rPr lang="zh-CN" sz="1350">
                <a:solidFill>
                  <a:srgbClr val="1A2230"/>
                </a:solidFill>
                <a:latin typeface="微软雅黑" panose="020B0503020204020204" charset="-122"/>
                <a:ea typeface="微软雅黑" panose="020B0503020204020204" charset="-122"/>
              </a:rPr>
              <a:t>承载力模型缺少对</a:t>
            </a:r>
            <a:r>
              <a:rPr lang="en-US" sz="1350">
                <a:solidFill>
                  <a:srgbClr val="1A2230"/>
                </a:solidFill>
                <a:latin typeface="微软雅黑" panose="020B0503020204020204" charset="-122"/>
                <a:ea typeface="微软雅黑" panose="020B0503020204020204" charset="-122"/>
              </a:rPr>
              <a:t> AI </a:t>
            </a:r>
            <a:r>
              <a:rPr lang="zh-CN" sz="1350">
                <a:solidFill>
                  <a:srgbClr val="1A2230"/>
                </a:solidFill>
                <a:latin typeface="微软雅黑" panose="020B0503020204020204" charset="-122"/>
                <a:ea typeface="微软雅黑" panose="020B0503020204020204" charset="-122"/>
              </a:rPr>
              <a:t>容量动态压力的刻画，边界难以落到规划口径。</a:t>
            </a:r>
            <a:endParaRPr lang="zh-CN" sz="1350">
              <a:solidFill>
                <a:srgbClr val="1A2230"/>
              </a:solidFill>
              <a:latin typeface="微软雅黑" panose="020B0503020204020204" charset="-122"/>
              <a:ea typeface="微软雅黑" panose="020B0503020204020204" charset="-122"/>
            </a:endParaRPr>
          </a:p>
        </p:txBody>
      </p:sp>
      <p:sp>
        <p:nvSpPr>
          <p:cNvPr id="58" name="圆角矩形 57"/>
          <p:cNvSpPr/>
          <p:nvPr/>
        </p:nvSpPr>
        <p:spPr>
          <a:xfrm>
            <a:off x="7543800" y="4800600"/>
            <a:ext cx="4095750" cy="790575"/>
          </a:xfrm>
          <a:prstGeom prst="roundRect">
            <a:avLst>
              <a:gd name="adj" fmla="val 4819"/>
            </a:avLst>
          </a:prstGeom>
          <a:solidFill>
            <a:srgbClr val="0E3F8C"/>
          </a:solidFill>
        </p:spPr>
        <p:txBody>
          <a:bodyPr/>
          <a:p/>
        </p:txBody>
      </p:sp>
      <p:sp>
        <p:nvSpPr>
          <p:cNvPr id="59" name="文本框 58" descr="{&quot;isTemplate&quot;:true,&quot;type&quot;:&quot;text&quot;}"/>
          <p:cNvSpPr txBox="1"/>
          <p:nvPr/>
        </p:nvSpPr>
        <p:spPr>
          <a:xfrm>
            <a:off x="7677150" y="4895850"/>
            <a:ext cx="3829050" cy="600075"/>
          </a:xfrm>
          <a:prstGeom prst="rect">
            <a:avLst/>
          </a:prstGeom>
        </p:spPr>
        <p:txBody>
          <a:bodyPr wrap="square" lIns="0" tIns="0" rIns="0" bIns="0">
            <a:normAutofit/>
          </a:bodyPr>
          <a:p>
            <a:pPr>
              <a:lnSpc>
                <a:spcPct val="145000"/>
              </a:lnSpc>
            </a:pPr>
            <a:r>
              <a:rPr lang="zh-CN" sz="1350">
                <a:solidFill>
                  <a:srgbClr val="FFFFFF"/>
                </a:solidFill>
                <a:latin typeface="微软雅黑" panose="020B0503020204020204" charset="-122"/>
                <a:ea typeface="微软雅黑" panose="020B0503020204020204" charset="-122"/>
              </a:rPr>
              <a:t>空白是知识链条未闭合：缺少以</a:t>
            </a:r>
            <a:r>
              <a:rPr lang="en-US" sz="1350">
                <a:solidFill>
                  <a:srgbClr val="FFFFFF"/>
                </a:solidFill>
                <a:latin typeface="微软雅黑" panose="020B0503020204020204" charset="-122"/>
                <a:ea typeface="微软雅黑" panose="020B0503020204020204" charset="-122"/>
              </a:rPr>
              <a:t> AI </a:t>
            </a:r>
            <a:r>
              <a:rPr lang="zh-CN" sz="1350">
                <a:solidFill>
                  <a:srgbClr val="FFFFFF"/>
                </a:solidFill>
                <a:latin typeface="微软雅黑" panose="020B0503020204020204" charset="-122"/>
                <a:ea typeface="微软雅黑" panose="020B0503020204020204" charset="-122"/>
              </a:rPr>
              <a:t>容量为驱动、城市水系统为边界、日尺度可验证的过程接口</a:t>
            </a:r>
            <a:endParaRPr lang="zh-CN" sz="1350">
              <a:solidFill>
                <a:srgbClr val="FFFFFF"/>
              </a:solidFill>
              <a:latin typeface="微软雅黑" panose="020B0503020204020204" charset="-122"/>
              <a:ea typeface="微软雅黑" panose="020B0503020204020204" charset="-122"/>
            </a:endParaRPr>
          </a:p>
        </p:txBody>
      </p:sp>
      <p:sp>
        <p:nvSpPr>
          <p:cNvPr id="60" name="矩形 59"/>
          <p:cNvSpPr/>
          <p:nvPr/>
        </p:nvSpPr>
        <p:spPr>
          <a:xfrm>
            <a:off x="428625" y="5772150"/>
            <a:ext cx="11430000" cy="390525"/>
          </a:xfrm>
          <a:prstGeom prst="rect">
            <a:avLst/>
          </a:prstGeom>
          <a:solidFill>
            <a:srgbClr val="E8EFF8"/>
          </a:solidFill>
        </p:spPr>
        <p:txBody>
          <a:bodyPr/>
          <a:p/>
        </p:txBody>
      </p:sp>
      <p:sp>
        <p:nvSpPr>
          <p:cNvPr id="61" name="任意多边形 60"/>
          <p:cNvSpPr/>
          <p:nvPr/>
        </p:nvSpPr>
        <p:spPr>
          <a:xfrm>
            <a:off x="381000" y="5772150"/>
            <a:ext cx="11477625" cy="390525"/>
          </a:xfrm>
          <a:custGeom>
            <a:avLst/>
            <a:gdLst/>
            <a:ahLst/>
            <a:cxnLst/>
            <a:pathLst>
              <a:path w="1205" h="41">
                <a:moveTo>
                  <a:pt x="0" y="0"/>
                </a:moveTo>
                <a:lnTo>
                  <a:pt x="5" y="0"/>
                </a:lnTo>
                <a:lnTo>
                  <a:pt x="5" y="41"/>
                </a:lnTo>
                <a:lnTo>
                  <a:pt x="0" y="41"/>
                </a:lnTo>
                <a:close/>
              </a:path>
            </a:pathLst>
          </a:custGeom>
          <a:solidFill>
            <a:srgbClr val="1E4FA8"/>
          </a:solidFill>
        </p:spPr>
        <p:txBody>
          <a:bodyPr/>
          <a:p/>
        </p:txBody>
      </p:sp>
      <p:sp>
        <p:nvSpPr>
          <p:cNvPr id="62" name="文本框 61" descr="{&quot;isTemplate&quot;:true,&quot;type&quot;:&quot;text&quot;}"/>
          <p:cNvSpPr txBox="1"/>
          <p:nvPr/>
        </p:nvSpPr>
        <p:spPr>
          <a:xfrm>
            <a:off x="600075" y="5857875"/>
            <a:ext cx="11210925" cy="219075"/>
          </a:xfrm>
          <a:prstGeom prst="rect">
            <a:avLst/>
          </a:prstGeom>
        </p:spPr>
        <p:txBody>
          <a:bodyPr wrap="none" lIns="0" tIns="0" rIns="0" bIns="0"/>
          <a:p>
            <a:pPr>
              <a:lnSpc>
                <a:spcPct val="100000"/>
              </a:lnSpc>
            </a:pPr>
            <a:r>
              <a:rPr lang="zh-CN" sz="1425">
                <a:solidFill>
                  <a:srgbClr val="1A2230"/>
                </a:solidFill>
                <a:latin typeface="微软雅黑" panose="020B0503020204020204" charset="-122"/>
                <a:ea typeface="微软雅黑" panose="020B0503020204020204" charset="-122"/>
              </a:rPr>
              <a:t>总量增加</a:t>
            </a:r>
            <a:r>
              <a:rPr lang="en-US" sz="1425">
                <a:solidFill>
                  <a:srgbClr val="1A2230"/>
                </a:solidFill>
                <a:latin typeface="微软雅黑" panose="020B0503020204020204" charset="-122"/>
                <a:ea typeface="微软雅黑" panose="020B0503020204020204" charset="-122"/>
              </a:rPr>
              <a:t> ≠ </a:t>
            </a:r>
            <a:r>
              <a:rPr lang="zh-CN" sz="1425">
                <a:solidFill>
                  <a:srgbClr val="1A2230"/>
                </a:solidFill>
                <a:latin typeface="微软雅黑" panose="020B0503020204020204" charset="-122"/>
                <a:ea typeface="微软雅黑" panose="020B0503020204020204" charset="-122"/>
              </a:rPr>
              <a:t>结构重构　　年用水量相同</a:t>
            </a:r>
            <a:r>
              <a:rPr lang="en-US" sz="1425">
                <a:solidFill>
                  <a:srgbClr val="1A2230"/>
                </a:solidFill>
                <a:latin typeface="微软雅黑" panose="020B0503020204020204" charset="-122"/>
                <a:ea typeface="微软雅黑" panose="020B0503020204020204" charset="-122"/>
              </a:rPr>
              <a:t> ≠ </a:t>
            </a:r>
            <a:r>
              <a:rPr lang="zh-CN" sz="1425">
                <a:solidFill>
                  <a:srgbClr val="1A2230"/>
                </a:solidFill>
                <a:latin typeface="微软雅黑" panose="020B0503020204020204" charset="-122"/>
                <a:ea typeface="微软雅黑" panose="020B0503020204020204" charset="-122"/>
              </a:rPr>
              <a:t>峰值风险相同　　单项扩容</a:t>
            </a:r>
            <a:r>
              <a:rPr lang="en-US" sz="1425">
                <a:solidFill>
                  <a:srgbClr val="1A2230"/>
                </a:solidFill>
                <a:latin typeface="微软雅黑" panose="020B0503020204020204" charset="-122"/>
                <a:ea typeface="微软雅黑" panose="020B0503020204020204" charset="-122"/>
              </a:rPr>
              <a:t> ≠ </a:t>
            </a:r>
            <a:r>
              <a:rPr lang="zh-CN" sz="1425">
                <a:solidFill>
                  <a:srgbClr val="1A2230"/>
                </a:solidFill>
                <a:latin typeface="微软雅黑" panose="020B0503020204020204" charset="-122"/>
                <a:ea typeface="微软雅黑" panose="020B0503020204020204" charset="-122"/>
              </a:rPr>
              <a:t>承载能力持续增加</a:t>
            </a:r>
            <a:endParaRPr lang="zh-CN" sz="1425">
              <a:solidFill>
                <a:srgbClr val="1A2230"/>
              </a:solidFill>
              <a:latin typeface="微软雅黑" panose="020B0503020204020204" charset="-122"/>
              <a:ea typeface="微软雅黑" panose="020B0503020204020204" charset="-122"/>
            </a:endParaRPr>
          </a:p>
        </p:txBody>
      </p:sp>
      <p:sp>
        <p:nvSpPr>
          <p:cNvPr id="63" name="任意多边形 62"/>
          <p:cNvSpPr/>
          <p:nvPr/>
        </p:nvSpPr>
        <p:spPr>
          <a:xfrm>
            <a:off x="0" y="623887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64" name="文本框 63" descr="{&quot;isTemplate&quot;:true,&quot;type&quot;:&quot;text&quot;}"/>
          <p:cNvSpPr txBox="1"/>
          <p:nvPr/>
        </p:nvSpPr>
        <p:spPr>
          <a:xfrm>
            <a:off x="381000" y="635317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65" name="文本框 64" descr="{&quot;isTemplate&quot;:true,&quot;type&quot;:&quot;text&quot;}"/>
          <p:cNvSpPr txBox="1"/>
          <p:nvPr/>
        </p:nvSpPr>
        <p:spPr>
          <a:xfrm>
            <a:off x="11353800" y="635317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10 / 36</a:t>
            </a:r>
            <a:endParaRPr lang="en-US" sz="1050">
              <a:solidFill>
                <a:srgbClr val="1E4FA8"/>
              </a:solidFill>
              <a:latin typeface="微软雅黑" panose="020B0503020204020204" charset="-122"/>
              <a:ea typeface="微软雅黑" panose="020B0503020204020204" charset="-122"/>
            </a:endParaRPr>
          </a:p>
        </p:txBody>
      </p:sp>
      <p:sp>
        <p:nvSpPr>
          <p:cNvPr id="66" name="矩形 65"/>
          <p:cNvSpPr/>
          <p:nvPr/>
        </p:nvSpPr>
        <p:spPr>
          <a:xfrm>
            <a:off x="0" y="685800"/>
            <a:ext cx="57150" cy="1162050"/>
          </a:xfrm>
          <a:prstGeom prst="rect">
            <a:avLst/>
          </a:prstGeom>
          <a:solidFill>
            <a:srgbClr val="C9D6E8"/>
          </a:solidFill>
        </p:spPr>
        <p:txBody>
          <a:bodyPr/>
          <a:p/>
        </p:txBody>
      </p:sp>
      <p:sp>
        <p:nvSpPr>
          <p:cNvPr id="67" name="矩形 66"/>
          <p:cNvSpPr/>
          <p:nvPr/>
        </p:nvSpPr>
        <p:spPr>
          <a:xfrm>
            <a:off x="0" y="1847850"/>
            <a:ext cx="57150" cy="1162050"/>
          </a:xfrm>
          <a:prstGeom prst="rect">
            <a:avLst/>
          </a:prstGeom>
          <a:solidFill>
            <a:srgbClr val="FFC107"/>
          </a:solidFill>
        </p:spPr>
        <p:txBody>
          <a:bodyPr/>
          <a:p/>
        </p:txBody>
      </p:sp>
      <p:sp>
        <p:nvSpPr>
          <p:cNvPr id="68" name="矩形 67"/>
          <p:cNvSpPr/>
          <p:nvPr/>
        </p:nvSpPr>
        <p:spPr>
          <a:xfrm>
            <a:off x="0" y="3009900"/>
            <a:ext cx="57150" cy="1162050"/>
          </a:xfrm>
          <a:prstGeom prst="rect">
            <a:avLst/>
          </a:prstGeom>
          <a:solidFill>
            <a:srgbClr val="C9D6E8"/>
          </a:solidFill>
        </p:spPr>
        <p:txBody>
          <a:bodyPr/>
          <a:p/>
        </p:txBody>
      </p:sp>
      <p:sp>
        <p:nvSpPr>
          <p:cNvPr id="69" name="矩形 68"/>
          <p:cNvSpPr/>
          <p:nvPr/>
        </p:nvSpPr>
        <p:spPr>
          <a:xfrm>
            <a:off x="0" y="4171950"/>
            <a:ext cx="57150" cy="1162050"/>
          </a:xfrm>
          <a:prstGeom prst="rect">
            <a:avLst/>
          </a:prstGeom>
          <a:solidFill>
            <a:srgbClr val="C9D6E8"/>
          </a:solidFill>
        </p:spPr>
        <p:txBody>
          <a:bodyPr/>
          <a:p/>
        </p:txBody>
      </p:sp>
      <p:sp>
        <p:nvSpPr>
          <p:cNvPr id="70" name="矩形 69"/>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magnifying-glass-chart' style={{ fill: '#FFC107', width: 22, height: 22 }} /&gt;&#13;&#10;        &lt;/Box&gt;&#13;&#10;            &lt;Text style={{ fontSize: 29, fontWeight: 'bold', color: '#FFFFFF' }}&gt;三个可检验的科学缺口及其操作化判据&lt;/Text&gt;&#13;&#10;        &lt;/Box&gt;&#13;&#10;        &lt;Box style={{ flexDirection: 'row', alignItems: 'center', gap: 10 }}&gt;&#13;&#10;            &lt;Text style={{ fontSize: 15, color: '#AFC6E8' }}&gt;02 国内外研究现状与研究缺口&lt;/Text&gt;&#13;&#10;            &lt;Box style={{ background: '#FFC107', paddingLeft: 9, paddingRight: 9, paddingTop: 3, paddingBottom: 3, borderRadius: 3, justifyContent: 'center', alignItems: 'center' }}&gt;&#13;&#10;                &lt;Text style={{ fontSize: 14, color: '#0B3A82', fontWeight: 'bold' }}&gt;11&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每个缺口由输入、过程指标与边界输出构成证据链，可在同一平台连续检验&lt;/Text&gt;&#13;&#10;        &lt;/Box&gt;&#13;&#10;        &lt;Box style={{ flexDirection: 'row', gap: 14, height: 330 }}&gt;&#13;&#10;            &lt;Box style={{ flex: 1, background: '#F7F9FC', border: '1px solid #D6DCE5', borderTop: '5px solid #1E4FA8', borderRadius: 6, padding: 16, flexDirection: 'column' }}&gt;&#13;&#10;                &lt;Box style={{ flexDirection: 'row', alignItems: 'center', gap: 10, marginBottom: 8 }}&gt;&#13;&#10;                    &lt;Box style={{ width: 32, height: 32, background: '#1E4FA8', borderRadius: 4, justifyContent: 'center', alignItems: 'center' }}&gt;&#13;&#10;                        &lt;Text style={{ fontSize: 18, color: '#FFFFFF', fontWeight: 'bold' }}&gt;1&lt;/Text&gt;&#13;&#10;                    &lt;/Box&gt;&#13;&#10;                    &lt;Text style={{ fontSize: 22, fontWeight: 'bold', color: '#0E3F8C' }}&gt;代谢结构缺口&lt;/Text&gt;&#13;&#10;                &lt;/Box&gt;&#13;&#10;                &lt;Text style={{ fontSize: 18, color: '#1A2230', lineHeight: 1.55 }}&gt;&#13;&#10;                    现有研究能估算 IT 的水耗增量，但缺少&quot;多大范围近似比例放大、何时改变淡水依赖与回流结构&quot;的连续实验与判据。&#13;&#10;                &lt;/Text&gt;&#13;&#10;                &lt;Box style={{ marginTop: 10, background: '#E8EFF8', paddingLeft: 10, paddingRight: 10, paddingTop: 7, paddingBottom: 7, borderRadius: 4 }}&gt;&#13;&#10;                    &lt;Text style={{ fontSize: 16, color: '#0E3F8C', lineHeight: 1.4 }}&gt;判据：路径比例与淡水依赖率是否出现超出线性放大的持续偏移&lt;/Text&gt;&#13;&#10;                &lt;/Box&gt;&#13;&#10;            &lt;/Box&gt;&#13;&#10;            &lt;Box style={{ flex: 1, background: '#F7F9FC', border: '1px solid #D6DCE5', borderTop: '5px solid #1E4FA8', borderRadius: 6, padding: 16, flexDirection: 'column' }}&gt;&#13;&#10;                &lt;Box style={{ flexDirection: 'row', alignItems: 'center', gap: 10, marginBottom: 8 }}&gt;&#13;&#10;                    &lt;Box style={{ width: 32, height: 32, background: '#1E4FA8', borderRadius: 4, justifyContent: 'center', alignItems: 'center' }}&gt;&#13;&#10;                        &lt;Text style={{ fontSize: 18, color: '#FFFFFF', fontWeight: 'bold' }}&gt;2&lt;/Text&gt;&#13;&#10;                    &lt;/Box&gt;&#13;&#10;                    &lt;Text style={{ fontSize: 22, fontWeight: 'bold', color: '#0E3F8C' }}&gt;时间尺度缺口&lt;/Text&gt;&#13;&#10;                &lt;/Box&gt;&#13;&#10;                &lt;Text style={{ fontSize: 18, color: '#1A2230', lineHeight: 1.55 }}&gt;&#13;&#10;                    年度总量能说明长期需求，难以解释负荷、高温与峰值叠加的短期压力，年均评价可能高估容量。&#13;&#10;                &lt;/Text&gt;&#13;&#10;                &lt;Box style={{ marginTop: 10, background: '#E8EFF8', paddingLeft: 10, paddingRight: 10, paddingTop: 7, paddingBottom: 7, borderRadius: 4 }}&gt;&#13;&#10;                    &lt;Text style={{ fontSize: 16, color: '#0E3F8C', lineHeight: 1.4 }}&gt;判据：年总量可比的条件下，峰值时序与重合关系是否造成边界提前&lt;/Text&gt;&#13;&#10;                &lt;/Box&gt;&#13;&#10;            &lt;/Box&gt;&#13;&#10;            &lt;Box style={{ flex: 1, background: '#F7F9FC', border: '1px solid #D6DCE5', borderTop: '5px solid #1E4FA8', borderRadius: 6, padding: 16, flexDirection: 'column' }}&gt;&#13;&#10;                &lt;Box style={{ flexDirection: 'row', alignItems: 'center', gap: 10, marginBottom: 8 }}&gt;&#13;&#10;                    &lt;Box style={{ width: 32, height: 32, background: '#1E4FA8', borderRadius: 4, justifyContent: 'center', alignItems: 'center' }}&gt;&#13;&#10;                        &lt;Text style={{ fontSize: 18, color: '#FFFFFF', fontWeight: 'bold' }}&gt;3&lt;/Text&gt;&#13;&#10;                    &lt;/Box&gt;&#13;&#10;                    &lt;Text style={{ fontSize: 22, fontWeight: 'bold', color: '#0E3F8C' }}&gt;瓶颈控制缺口&lt;/Text&gt;&#13;&#10;                &lt;/Box&gt;&#13;&#10;                &lt;Text style={{ fontSize: 18, color: '#1A2230', lineHeight: 1.55 }}&gt;&#13;&#10;                    水源、给水、污水、再生水与水质都可能成为边界，现有研究较少识别瓶颈转换与干预有效区间。&#13;&#10;                &lt;/Text&gt;&#13;&#10;                &lt;Box style={{ marginTop: 10, background: '#E8EFF8', paddingLeft: 10, paddingRight: 10, paddingTop: 7, paddingBottom: 7, borderRadius: 4 }}&gt;&#13;&#10;                    &lt;Text style={{ fontSize: 16, color: '#0E3F8C', lineHeight: 1.4 }}&gt;判据：逐项解除约束后，主导约束是否发生可识别的迁移&lt;/Text&gt;&#13;&#10;                &lt;/Box&gt;&#13;&#10;            &lt;/Box&gt;&#13;&#10;        &lt;/Box&gt;&#13;&#10;        &lt;Box style={{ height: 92, background: '#F0F5FC', border: '1px solid #D6DCE5', borderRadius: 6, padding: 12, flexDirection: 'column', gap: 6 }}&gt;&#13;&#10;            &lt;Text style={{ fontSize: 19, fontWeight: 'bold', color: '#0E3F8C' }}&gt;为使&quot;代谢结构重构&quot;可检验，AI 边际响应划分为三个层次&lt;/Text&gt;&#13;&#10;            &lt;Box style={{ flexDirection: 'row', gap: 12 }}&gt;&#13;&#10;                &lt;Box style={{ flex: 1, background: '#FFFFFF', border: '1px solid #E5E7EB', borderLeft: '4px solid #8B97A8', paddingLeft: 10, paddingTop: 6, paddingBottom: 6 }}&gt;&#13;&#10;                    &lt;Text style={{ fontSize: 17, color: '#1A2230', lineHeight: 1.4 }}&gt;&lt;span style={{ fontWeight: 'bold' }}&gt;规模响应&lt;/span&gt;　各水流路径比例近似稳定，总量随 AI 容量同步放大&lt;/Text&gt;&#13;&#10;                &lt;/Box&gt;&#13;&#10;                &lt;Box style={{ flex: 1, background: '#FFFFFF', border: '1px solid #E5E7EB', borderLeft: '4px solid #1E4FA8', paddingLeft: 10, paddingTop: 6, paddingBottom: 6 }}&gt;&#13;&#10;                    &lt;Text style={{ fontSize: 17, color: '#1A2230', lineHeight: 1.4 }}&gt;&lt;span style={{ fontWeight: 'bold' }}&gt;结构响应&lt;/span&gt;　水源结构、消耗回流比例与再生水循环出现持续偏移&lt;/Text&gt;&#13;&#10;                &lt;/Box&gt;&#13;&#10;                &lt;Box style={{ flex: 1, background: '#FFFFFF', border: '1px solid #E5E7EB', borderLeft: '4px solid #D9534F', paddingLeft: 10, paddingTop: 6, paddingBottom: 6 }}&gt;&#13;&#10;                    &lt;Text style={{ fontSize: 17, color: '#1A2230', lineHeight: 1.4 }}&gt;&lt;span style={{ fontWeight: 'bold' }}&gt;约束状态转换&lt;/span&gt;　主导约束在子系统之间或由水量转向水质&lt;/Text&gt;&#13;&#10;                &lt;/Box&gt;&#13;&#10;            &lt;/Box&gt;&#13;&#10;        &lt;/Box&gt;&#13;&#10;        &lt;Box style={{ background: '#E8EFF8', borderLeft: '5px solid #1E4FA8', paddingLeft: 18, paddingTop: 9, paddingBottom: 9 }}&gt;&#13;&#10;            &lt;Text style={{ fontSize: 19, color: '#1A2230' }}&gt;缺口映射：缺口一 → Q1 / H1 → 实验一、二；缺口二 → Q2 / H2 → 实验三；缺口三 → Q3 / H3 → 实验四&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11 / 36&lt;/Text&gt;&#13;&#10;    &lt;/Box&gt;&#13;&#10;    &lt;Box style={{ position: 'absolute', left: 0, top: 72, width: 6, height: 608, flexDirection: 'column' }}&gt;&#13;&#10;                &lt;Box style={{ width: 6, height: 122, background: '#C9D6E8' }} /&gt;&#13;&#10;                &lt;Box style={{ width: 6, height: 122, background: '#FFC107' }} /&gt;&#13;&#10;                &lt;Box style={{ width: 6, height: 122, background: '#C9D6E8'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72" name="矩形 71"/>
          <p:cNvSpPr/>
          <p:nvPr/>
        </p:nvSpPr>
        <p:spPr>
          <a:xfrm>
            <a:off x="0" y="0"/>
            <a:ext cx="12192000" cy="6858000"/>
          </a:xfrm>
          <a:prstGeom prst="rect">
            <a:avLst/>
          </a:prstGeom>
          <a:solidFill>
            <a:srgbClr val="FFFFFF"/>
          </a:solidFill>
        </p:spPr>
        <p:txBody>
          <a:bodyPr/>
          <a:p/>
        </p:txBody>
      </p:sp>
      <p:sp>
        <p:nvSpPr>
          <p:cNvPr id="73" name="矩形 72"/>
          <p:cNvSpPr/>
          <p:nvPr/>
        </p:nvSpPr>
        <p:spPr>
          <a:xfrm>
            <a:off x="0" y="0"/>
            <a:ext cx="12192000" cy="685800"/>
          </a:xfrm>
          <a:prstGeom prst="rect">
            <a:avLst/>
          </a:prstGeom>
          <a:solidFill>
            <a:srgbClr val="0E3F8C"/>
          </a:solidFill>
        </p:spPr>
        <p:txBody>
          <a:bodyPr/>
          <a:p/>
        </p:txBody>
      </p:sp>
      <p:sp>
        <p:nvSpPr>
          <p:cNvPr id="74" name="圆角矩形 73"/>
          <p:cNvSpPr/>
          <p:nvPr/>
        </p:nvSpPr>
        <p:spPr>
          <a:xfrm>
            <a:off x="381000" y="152400"/>
            <a:ext cx="381000" cy="381000"/>
          </a:xfrm>
          <a:prstGeom prst="roundRect">
            <a:avLst>
              <a:gd name="adj" fmla="val 25000"/>
            </a:avLst>
          </a:prstGeom>
          <a:solidFill>
            <a:srgbClr val="12489A"/>
          </a:solidFill>
        </p:spPr>
        <p:txBody>
          <a:bodyPr/>
          <a:p/>
        </p:txBody>
      </p:sp>
      <p:pic>
        <p:nvPicPr>
          <p:cNvPr id="75" name="图片 74"/>
          <p:cNvPicPr>
            <a:picLocks noChangeAspect="1"/>
          </p:cNvPicPr>
          <p:nvPr/>
        </p:nvPicPr>
        <p:blipFill>
          <a:blip/>
          <a:stretch>
            <a:fillRect/>
          </a:stretch>
        </p:blipFill>
        <p:spPr>
          <a:xfrm>
            <a:off x="466725" y="238125"/>
            <a:ext cx="209550" cy="209550"/>
          </a:xfrm>
          <a:prstGeom prst="rect">
            <a:avLst/>
          </a:prstGeom>
        </p:spPr>
      </p:pic>
      <p:sp>
        <p:nvSpPr>
          <p:cNvPr id="76" name="文本框 75" descr="{&quot;isTemplate&quot;:true,&quot;type&quot;:&quot;text&quot;}"/>
          <p:cNvSpPr txBox="1"/>
          <p:nvPr/>
        </p:nvSpPr>
        <p:spPr>
          <a:xfrm>
            <a:off x="895350" y="180975"/>
            <a:ext cx="469582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三个可检验的科学缺口及其操作化判据</a:t>
            </a:r>
            <a:endParaRPr lang="zh-CN" sz="2175" b="1">
              <a:solidFill>
                <a:srgbClr val="FFFFFF"/>
              </a:solidFill>
              <a:latin typeface="微软雅黑" panose="020B0503020204020204" charset="-122"/>
              <a:ea typeface="微软雅黑" panose="020B0503020204020204" charset="-122"/>
            </a:endParaRPr>
          </a:p>
        </p:txBody>
      </p:sp>
      <p:sp>
        <p:nvSpPr>
          <p:cNvPr id="77" name="文本框 76"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02 </a:t>
            </a:r>
            <a:r>
              <a:rPr lang="zh-CN" sz="1125">
                <a:solidFill>
                  <a:srgbClr val="AFC6E8"/>
                </a:solidFill>
                <a:latin typeface="微软雅黑" panose="020B0503020204020204" charset="-122"/>
                <a:ea typeface="微软雅黑" panose="020B0503020204020204" charset="-122"/>
              </a:rPr>
              <a:t>国内外研究现状与研究缺口</a:t>
            </a:r>
            <a:endParaRPr lang="zh-CN" sz="1125">
              <a:solidFill>
                <a:srgbClr val="AFC6E8"/>
              </a:solidFill>
              <a:latin typeface="微软雅黑" panose="020B0503020204020204" charset="-122"/>
              <a:ea typeface="微软雅黑" panose="020B0503020204020204" charset="-122"/>
            </a:endParaRPr>
          </a:p>
        </p:txBody>
      </p:sp>
      <p:sp>
        <p:nvSpPr>
          <p:cNvPr id="78" name="圆角矩形 77"/>
          <p:cNvSpPr/>
          <p:nvPr/>
        </p:nvSpPr>
        <p:spPr>
          <a:xfrm>
            <a:off x="11468100" y="238125"/>
            <a:ext cx="342900" cy="219075"/>
          </a:xfrm>
          <a:prstGeom prst="roundRect">
            <a:avLst>
              <a:gd name="adj" fmla="val 13043"/>
            </a:avLst>
          </a:prstGeom>
          <a:solidFill>
            <a:srgbClr val="FFC107"/>
          </a:solidFill>
        </p:spPr>
        <p:txBody>
          <a:bodyPr/>
          <a:p/>
        </p:txBody>
      </p:sp>
      <p:sp>
        <p:nvSpPr>
          <p:cNvPr id="79" name="文本框 7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11</a:t>
            </a:r>
            <a:endParaRPr lang="en-US" sz="1050" b="1">
              <a:solidFill>
                <a:srgbClr val="0B3A82"/>
              </a:solidFill>
              <a:latin typeface="微软雅黑" panose="020B0503020204020204" charset="-122"/>
              <a:ea typeface="微软雅黑" panose="020B0503020204020204" charset="-122"/>
            </a:endParaRPr>
          </a:p>
        </p:txBody>
      </p:sp>
      <p:sp>
        <p:nvSpPr>
          <p:cNvPr id="80" name="圆角矩形 79"/>
          <p:cNvSpPr/>
          <p:nvPr/>
        </p:nvSpPr>
        <p:spPr>
          <a:xfrm>
            <a:off x="381000" y="800100"/>
            <a:ext cx="11430000" cy="438150"/>
          </a:xfrm>
          <a:prstGeom prst="roundRect">
            <a:avLst>
              <a:gd name="adj" fmla="val 8696"/>
            </a:avLst>
          </a:prstGeom>
          <a:solidFill>
            <a:srgbClr val="0B3A82"/>
          </a:solidFill>
        </p:spPr>
        <p:txBody>
          <a:bodyPr/>
          <a:p/>
        </p:txBody>
      </p:sp>
      <p:sp>
        <p:nvSpPr>
          <p:cNvPr id="81" name="文本框 80"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每个缺口由输入、过程指标与边界输出构成证据链，可在同一平台连续检验</a:t>
            </a:r>
            <a:endParaRPr lang="zh-CN" sz="1575">
              <a:solidFill>
                <a:srgbClr val="FFFFFF"/>
              </a:solidFill>
              <a:latin typeface="微软雅黑" panose="020B0503020204020204" charset="-122"/>
              <a:ea typeface="微软雅黑" panose="020B0503020204020204" charset="-122"/>
            </a:endParaRPr>
          </a:p>
        </p:txBody>
      </p:sp>
      <p:sp>
        <p:nvSpPr>
          <p:cNvPr id="82" name="圆角矩形 81"/>
          <p:cNvSpPr/>
          <p:nvPr/>
        </p:nvSpPr>
        <p:spPr>
          <a:xfrm>
            <a:off x="381000" y="1400175"/>
            <a:ext cx="3724275" cy="3143250"/>
          </a:xfrm>
          <a:prstGeom prst="roundRect">
            <a:avLst>
              <a:gd name="adj" fmla="val 1818"/>
            </a:avLst>
          </a:prstGeom>
          <a:solidFill>
            <a:srgbClr val="F7F9FC"/>
          </a:solidFill>
        </p:spPr>
        <p:txBody>
          <a:bodyPr/>
          <a:p/>
        </p:txBody>
      </p:sp>
      <p:sp>
        <p:nvSpPr>
          <p:cNvPr id="83" name="任意多边形 82"/>
          <p:cNvSpPr/>
          <p:nvPr/>
        </p:nvSpPr>
        <p:spPr>
          <a:xfrm>
            <a:off x="381000" y="1400175"/>
            <a:ext cx="3724275" cy="3143250"/>
          </a:xfrm>
          <a:custGeom>
            <a:avLst/>
            <a:gdLst/>
            <a:ahLst/>
            <a:cxnLst/>
            <a:pathLst>
              <a:path w="391" h="330">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84" name="圆角矩形 83"/>
          <p:cNvSpPr/>
          <p:nvPr/>
        </p:nvSpPr>
        <p:spPr>
          <a:xfrm>
            <a:off x="533400" y="1552575"/>
            <a:ext cx="304800" cy="304800"/>
          </a:xfrm>
          <a:prstGeom prst="roundRect">
            <a:avLst>
              <a:gd name="adj" fmla="val 12500"/>
            </a:avLst>
          </a:prstGeom>
          <a:solidFill>
            <a:srgbClr val="1E4FA8"/>
          </a:solidFill>
        </p:spPr>
        <p:txBody>
          <a:bodyPr/>
          <a:p/>
        </p:txBody>
      </p:sp>
      <p:sp>
        <p:nvSpPr>
          <p:cNvPr id="85" name="文本框 84" descr="{&quot;isTemplate&quot;:true,&quot;type&quot;:&quot;text&quot;}"/>
          <p:cNvSpPr txBox="1"/>
          <p:nvPr/>
        </p:nvSpPr>
        <p:spPr>
          <a:xfrm>
            <a:off x="628650" y="1600200"/>
            <a:ext cx="114300" cy="209550"/>
          </a:xfrm>
          <a:prstGeom prst="rect">
            <a:avLst/>
          </a:prstGeom>
        </p:spPr>
        <p:txBody>
          <a:bodyPr wrap="none" lIns="0" tIns="0" rIns="0" bIns="0"/>
          <a:p>
            <a:pPr>
              <a:lnSpc>
                <a:spcPct val="100000"/>
              </a:lnSpc>
            </a:pPr>
            <a:r>
              <a:rPr lang="en-US" sz="1350" b="1">
                <a:solidFill>
                  <a:srgbClr val="FFFFFF"/>
                </a:solidFill>
                <a:latin typeface="微软雅黑" panose="020B0503020204020204" charset="-122"/>
                <a:ea typeface="微软雅黑" panose="020B0503020204020204" charset="-122"/>
              </a:rPr>
              <a:t>1</a:t>
            </a:r>
            <a:endParaRPr lang="en-US" sz="1350" b="1">
              <a:solidFill>
                <a:srgbClr val="FFFFFF"/>
              </a:solidFill>
              <a:latin typeface="微软雅黑" panose="020B0503020204020204" charset="-122"/>
              <a:ea typeface="微软雅黑" panose="020B0503020204020204" charset="-122"/>
            </a:endParaRPr>
          </a:p>
        </p:txBody>
      </p:sp>
      <p:sp>
        <p:nvSpPr>
          <p:cNvPr id="86" name="文本框 85" descr="{&quot;isTemplate&quot;:true,&quot;type&quot;:&quot;text&quot;}"/>
          <p:cNvSpPr txBox="1"/>
          <p:nvPr/>
        </p:nvSpPr>
        <p:spPr>
          <a:xfrm>
            <a:off x="933450" y="1581150"/>
            <a:ext cx="1257300" cy="257175"/>
          </a:xfrm>
          <a:prstGeom prst="rect">
            <a:avLst/>
          </a:prstGeom>
        </p:spPr>
        <p:txBody>
          <a:bodyPr wrap="none" lIns="0" tIns="0" rIns="0" bIns="0"/>
          <a:p>
            <a:pPr>
              <a:lnSpc>
                <a:spcPct val="100000"/>
              </a:lnSpc>
            </a:pPr>
            <a:r>
              <a:rPr lang="zh-CN" sz="1650" b="1">
                <a:solidFill>
                  <a:srgbClr val="0E3F8C"/>
                </a:solidFill>
                <a:latin typeface="微软雅黑" panose="020B0503020204020204" charset="-122"/>
                <a:ea typeface="微软雅黑" panose="020B0503020204020204" charset="-122"/>
              </a:rPr>
              <a:t>代谢结构缺口</a:t>
            </a:r>
            <a:endParaRPr lang="zh-CN" sz="1650" b="1">
              <a:solidFill>
                <a:srgbClr val="0E3F8C"/>
              </a:solidFill>
              <a:latin typeface="微软雅黑" panose="020B0503020204020204" charset="-122"/>
              <a:ea typeface="微软雅黑" panose="020B0503020204020204" charset="-122"/>
            </a:endParaRPr>
          </a:p>
        </p:txBody>
      </p:sp>
      <p:sp>
        <p:nvSpPr>
          <p:cNvPr id="87" name="文本框 86" descr="{&quot;isTemplate&quot;:true,&quot;type&quot;:&quot;text&quot;}"/>
          <p:cNvSpPr txBox="1"/>
          <p:nvPr/>
        </p:nvSpPr>
        <p:spPr>
          <a:xfrm>
            <a:off x="533400" y="1933575"/>
            <a:ext cx="3419475" cy="962025"/>
          </a:xfrm>
          <a:prstGeom prst="rect">
            <a:avLst/>
          </a:prstGeom>
        </p:spPr>
        <p:txBody>
          <a:bodyPr wrap="square" lIns="0" tIns="0" rIns="0" bIns="0">
            <a:normAutofit/>
          </a:bodyPr>
          <a:p>
            <a:pPr>
              <a:lnSpc>
                <a:spcPct val="155000"/>
              </a:lnSpc>
            </a:pPr>
            <a:r>
              <a:rPr lang="zh-CN" sz="1350">
                <a:solidFill>
                  <a:srgbClr val="1A2230"/>
                </a:solidFill>
                <a:latin typeface="微软雅黑" panose="020B0503020204020204" charset="-122"/>
                <a:ea typeface="微软雅黑" panose="020B0503020204020204" charset="-122"/>
              </a:rPr>
              <a:t>现有研究能估算</a:t>
            </a:r>
            <a:r>
              <a:rPr lang="en-US" sz="1350">
                <a:solidFill>
                  <a:srgbClr val="1A2230"/>
                </a:solidFill>
                <a:latin typeface="微软雅黑" panose="020B0503020204020204" charset="-122"/>
                <a:ea typeface="微软雅黑" panose="020B0503020204020204" charset="-122"/>
              </a:rPr>
              <a:t> IT </a:t>
            </a:r>
            <a:r>
              <a:rPr lang="zh-CN" sz="1350">
                <a:solidFill>
                  <a:srgbClr val="1A2230"/>
                </a:solidFill>
                <a:latin typeface="微软雅黑" panose="020B0503020204020204" charset="-122"/>
                <a:ea typeface="微软雅黑" panose="020B0503020204020204" charset="-122"/>
              </a:rPr>
              <a:t>的水耗增量，但缺少</a:t>
            </a:r>
            <a:r>
              <a:rPr lang="en-US" sz="1350">
                <a:solidFill>
                  <a:srgbClr val="1A2230"/>
                </a:solidFill>
                <a:latin typeface="微软雅黑" panose="020B0503020204020204" charset="-122"/>
                <a:ea typeface="微软雅黑" panose="020B0503020204020204" charset="-122"/>
              </a:rPr>
              <a:t>"</a:t>
            </a:r>
            <a:r>
              <a:rPr lang="zh-CN" sz="1350">
                <a:solidFill>
                  <a:srgbClr val="1A2230"/>
                </a:solidFill>
                <a:latin typeface="微软雅黑" panose="020B0503020204020204" charset="-122"/>
                <a:ea typeface="微软雅黑" panose="020B0503020204020204" charset="-122"/>
              </a:rPr>
              <a:t>多大范围近似比例放大、何时改变淡水依赖与回流结构</a:t>
            </a:r>
            <a:r>
              <a:rPr lang="en-US" sz="1350">
                <a:solidFill>
                  <a:srgbClr val="1A2230"/>
                </a:solidFill>
                <a:latin typeface="微软雅黑" panose="020B0503020204020204" charset="-122"/>
                <a:ea typeface="微软雅黑" panose="020B0503020204020204" charset="-122"/>
              </a:rPr>
              <a:t>"</a:t>
            </a:r>
            <a:r>
              <a:rPr lang="zh-CN" sz="1350">
                <a:solidFill>
                  <a:srgbClr val="1A2230"/>
                </a:solidFill>
                <a:latin typeface="微软雅黑" panose="020B0503020204020204" charset="-122"/>
                <a:ea typeface="微软雅黑" panose="020B0503020204020204" charset="-122"/>
              </a:rPr>
              <a:t>的连续实验与判据。</a:t>
            </a:r>
            <a:endParaRPr lang="zh-CN" sz="1350">
              <a:solidFill>
                <a:srgbClr val="1A2230"/>
              </a:solidFill>
              <a:latin typeface="微软雅黑" panose="020B0503020204020204" charset="-122"/>
              <a:ea typeface="微软雅黑" panose="020B0503020204020204" charset="-122"/>
            </a:endParaRPr>
          </a:p>
        </p:txBody>
      </p:sp>
      <p:sp>
        <p:nvSpPr>
          <p:cNvPr id="88" name="圆角矩形 87"/>
          <p:cNvSpPr/>
          <p:nvPr/>
        </p:nvSpPr>
        <p:spPr>
          <a:xfrm>
            <a:off x="533400" y="2990850"/>
            <a:ext cx="3419475" cy="647700"/>
          </a:xfrm>
          <a:prstGeom prst="roundRect">
            <a:avLst>
              <a:gd name="adj" fmla="val 5882"/>
            </a:avLst>
          </a:prstGeom>
          <a:solidFill>
            <a:srgbClr val="E8EFF8"/>
          </a:solidFill>
        </p:spPr>
        <p:txBody>
          <a:bodyPr/>
          <a:p/>
        </p:txBody>
      </p:sp>
      <p:sp>
        <p:nvSpPr>
          <p:cNvPr id="89" name="文本框 88" descr="{&quot;isTemplate&quot;:true,&quot;type&quot;:&quot;text&quot;}"/>
          <p:cNvSpPr txBox="1"/>
          <p:nvPr/>
        </p:nvSpPr>
        <p:spPr>
          <a:xfrm>
            <a:off x="628650" y="3057525"/>
            <a:ext cx="3228975" cy="514350"/>
          </a:xfrm>
          <a:prstGeom prst="rect">
            <a:avLst/>
          </a:prstGeom>
        </p:spPr>
        <p:txBody>
          <a:bodyPr wrap="square" lIns="0" tIns="0" rIns="0" bIns="0">
            <a:normAutofit/>
          </a:bodyPr>
          <a:p>
            <a:pPr>
              <a:lnSpc>
                <a:spcPct val="140000"/>
              </a:lnSpc>
            </a:pPr>
            <a:r>
              <a:rPr lang="zh-CN" sz="1200">
                <a:solidFill>
                  <a:srgbClr val="0E3F8C"/>
                </a:solidFill>
                <a:latin typeface="微软雅黑" panose="020B0503020204020204" charset="-122"/>
                <a:ea typeface="微软雅黑" panose="020B0503020204020204" charset="-122"/>
              </a:rPr>
              <a:t>判据：路径比例与淡水依赖率是否出现超出线性放大的持续偏移</a:t>
            </a:r>
            <a:endParaRPr lang="zh-CN" sz="1200">
              <a:solidFill>
                <a:srgbClr val="0E3F8C"/>
              </a:solidFill>
              <a:latin typeface="微软雅黑" panose="020B0503020204020204" charset="-122"/>
              <a:ea typeface="微软雅黑" panose="020B0503020204020204" charset="-122"/>
            </a:endParaRPr>
          </a:p>
        </p:txBody>
      </p:sp>
      <p:sp>
        <p:nvSpPr>
          <p:cNvPr id="90" name="圆角矩形 89"/>
          <p:cNvSpPr/>
          <p:nvPr/>
        </p:nvSpPr>
        <p:spPr>
          <a:xfrm>
            <a:off x="4238625" y="1400175"/>
            <a:ext cx="3714750" cy="3143250"/>
          </a:xfrm>
          <a:prstGeom prst="roundRect">
            <a:avLst>
              <a:gd name="adj" fmla="val 1818"/>
            </a:avLst>
          </a:prstGeom>
          <a:solidFill>
            <a:srgbClr val="F7F9FC"/>
          </a:solidFill>
        </p:spPr>
        <p:txBody>
          <a:bodyPr/>
          <a:p/>
        </p:txBody>
      </p:sp>
      <p:sp>
        <p:nvSpPr>
          <p:cNvPr id="91" name="任意多边形 90"/>
          <p:cNvSpPr/>
          <p:nvPr/>
        </p:nvSpPr>
        <p:spPr>
          <a:xfrm>
            <a:off x="4238625" y="1400175"/>
            <a:ext cx="3714750" cy="3143250"/>
          </a:xfrm>
          <a:custGeom>
            <a:avLst/>
            <a:gdLst/>
            <a:ahLst/>
            <a:cxnLst/>
            <a:pathLst>
              <a:path w="390" h="330">
                <a:moveTo>
                  <a:pt x="384" y="0"/>
                </a:moveTo>
                <a:cubicBezTo>
                  <a:pt x="387" y="0"/>
                  <a:pt x="390" y="3"/>
                  <a:pt x="390" y="6"/>
                </a:cubicBezTo>
                <a:cubicBezTo>
                  <a:pt x="390" y="5"/>
                  <a:pt x="389" y="5"/>
                  <a:pt x="389" y="5"/>
                </a:cubicBezTo>
                <a:lnTo>
                  <a:pt x="1" y="5"/>
                </a:lnTo>
                <a:cubicBezTo>
                  <a:pt x="0" y="5"/>
                  <a:pt x="0" y="5"/>
                  <a:pt x="0" y="6"/>
                </a:cubicBezTo>
                <a:cubicBezTo>
                  <a:pt x="0" y="3"/>
                  <a:pt x="3" y="0"/>
                  <a:pt x="6" y="0"/>
                </a:cubicBezTo>
                <a:lnTo>
                  <a:pt x="384" y="0"/>
                </a:lnTo>
                <a:close/>
              </a:path>
            </a:pathLst>
          </a:custGeom>
          <a:solidFill>
            <a:srgbClr val="1E4FA8"/>
          </a:solidFill>
        </p:spPr>
        <p:txBody>
          <a:bodyPr/>
          <a:p/>
        </p:txBody>
      </p:sp>
      <p:sp>
        <p:nvSpPr>
          <p:cNvPr id="92" name="圆角矩形 91"/>
          <p:cNvSpPr/>
          <p:nvPr/>
        </p:nvSpPr>
        <p:spPr>
          <a:xfrm>
            <a:off x="4391025" y="1552575"/>
            <a:ext cx="304800" cy="304800"/>
          </a:xfrm>
          <a:prstGeom prst="roundRect">
            <a:avLst>
              <a:gd name="adj" fmla="val 12500"/>
            </a:avLst>
          </a:prstGeom>
          <a:solidFill>
            <a:srgbClr val="1E4FA8"/>
          </a:solidFill>
        </p:spPr>
        <p:txBody>
          <a:bodyPr/>
          <a:p/>
        </p:txBody>
      </p:sp>
      <p:sp>
        <p:nvSpPr>
          <p:cNvPr id="93" name="文本框 92" descr="{&quot;isTemplate&quot;:true,&quot;type&quot;:&quot;text&quot;}"/>
          <p:cNvSpPr txBox="1"/>
          <p:nvPr/>
        </p:nvSpPr>
        <p:spPr>
          <a:xfrm>
            <a:off x="4486275" y="1600200"/>
            <a:ext cx="114300" cy="209550"/>
          </a:xfrm>
          <a:prstGeom prst="rect">
            <a:avLst/>
          </a:prstGeom>
        </p:spPr>
        <p:txBody>
          <a:bodyPr wrap="none" lIns="0" tIns="0" rIns="0" bIns="0"/>
          <a:p>
            <a:pPr>
              <a:lnSpc>
                <a:spcPct val="100000"/>
              </a:lnSpc>
            </a:pPr>
            <a:r>
              <a:rPr lang="en-US" sz="1350" b="1">
                <a:solidFill>
                  <a:srgbClr val="FFFFFF"/>
                </a:solidFill>
                <a:latin typeface="微软雅黑" panose="020B0503020204020204" charset="-122"/>
                <a:ea typeface="微软雅黑" panose="020B0503020204020204" charset="-122"/>
              </a:rPr>
              <a:t>2</a:t>
            </a:r>
            <a:endParaRPr lang="en-US" sz="1350" b="1">
              <a:solidFill>
                <a:srgbClr val="FFFFFF"/>
              </a:solidFill>
              <a:latin typeface="微软雅黑" panose="020B0503020204020204" charset="-122"/>
              <a:ea typeface="微软雅黑" panose="020B0503020204020204" charset="-122"/>
            </a:endParaRPr>
          </a:p>
        </p:txBody>
      </p:sp>
      <p:sp>
        <p:nvSpPr>
          <p:cNvPr id="94" name="文本框 93" descr="{&quot;isTemplate&quot;:true,&quot;type&quot;:&quot;text&quot;}"/>
          <p:cNvSpPr txBox="1"/>
          <p:nvPr/>
        </p:nvSpPr>
        <p:spPr>
          <a:xfrm>
            <a:off x="4791075" y="1581150"/>
            <a:ext cx="1257300" cy="257175"/>
          </a:xfrm>
          <a:prstGeom prst="rect">
            <a:avLst/>
          </a:prstGeom>
        </p:spPr>
        <p:txBody>
          <a:bodyPr wrap="none" lIns="0" tIns="0" rIns="0" bIns="0"/>
          <a:p>
            <a:pPr>
              <a:lnSpc>
                <a:spcPct val="100000"/>
              </a:lnSpc>
            </a:pPr>
            <a:r>
              <a:rPr lang="zh-CN" sz="1650" b="1">
                <a:solidFill>
                  <a:srgbClr val="0E3F8C"/>
                </a:solidFill>
                <a:latin typeface="微软雅黑" panose="020B0503020204020204" charset="-122"/>
                <a:ea typeface="微软雅黑" panose="020B0503020204020204" charset="-122"/>
              </a:rPr>
              <a:t>时间尺度缺口</a:t>
            </a:r>
            <a:endParaRPr lang="zh-CN" sz="1650" b="1">
              <a:solidFill>
                <a:srgbClr val="0E3F8C"/>
              </a:solidFill>
              <a:latin typeface="微软雅黑" panose="020B0503020204020204" charset="-122"/>
              <a:ea typeface="微软雅黑" panose="020B0503020204020204" charset="-122"/>
            </a:endParaRPr>
          </a:p>
        </p:txBody>
      </p:sp>
      <p:sp>
        <p:nvSpPr>
          <p:cNvPr id="95" name="文本框 94" descr="{&quot;isTemplate&quot;:true,&quot;type&quot;:&quot;text&quot;}"/>
          <p:cNvSpPr txBox="1"/>
          <p:nvPr/>
        </p:nvSpPr>
        <p:spPr>
          <a:xfrm>
            <a:off x="4391025" y="1933575"/>
            <a:ext cx="3409950" cy="962025"/>
          </a:xfrm>
          <a:prstGeom prst="rect">
            <a:avLst/>
          </a:prstGeom>
        </p:spPr>
        <p:txBody>
          <a:bodyPr wrap="square" lIns="0" tIns="0" rIns="0" bIns="0">
            <a:normAutofit/>
          </a:bodyPr>
          <a:p>
            <a:pPr>
              <a:lnSpc>
                <a:spcPct val="155000"/>
              </a:lnSpc>
            </a:pPr>
            <a:r>
              <a:rPr lang="zh-CN" sz="1350">
                <a:solidFill>
                  <a:srgbClr val="1A2230"/>
                </a:solidFill>
                <a:latin typeface="微软雅黑" panose="020B0503020204020204" charset="-122"/>
                <a:ea typeface="微软雅黑" panose="020B0503020204020204" charset="-122"/>
              </a:rPr>
              <a:t>年度总量能说明长期需求，难以解释负荷、高温与峰值叠加的短期压力，年均评价可能高估容量。</a:t>
            </a:r>
            <a:endParaRPr lang="zh-CN" sz="1350">
              <a:solidFill>
                <a:srgbClr val="1A2230"/>
              </a:solidFill>
              <a:latin typeface="微软雅黑" panose="020B0503020204020204" charset="-122"/>
              <a:ea typeface="微软雅黑" panose="020B0503020204020204" charset="-122"/>
            </a:endParaRPr>
          </a:p>
        </p:txBody>
      </p:sp>
      <p:sp>
        <p:nvSpPr>
          <p:cNvPr id="96" name="圆角矩形 95"/>
          <p:cNvSpPr/>
          <p:nvPr/>
        </p:nvSpPr>
        <p:spPr>
          <a:xfrm>
            <a:off x="4391025" y="2990850"/>
            <a:ext cx="3409950" cy="647700"/>
          </a:xfrm>
          <a:prstGeom prst="roundRect">
            <a:avLst>
              <a:gd name="adj" fmla="val 5882"/>
            </a:avLst>
          </a:prstGeom>
          <a:solidFill>
            <a:srgbClr val="E8EFF8"/>
          </a:solidFill>
        </p:spPr>
        <p:txBody>
          <a:bodyPr/>
          <a:p/>
        </p:txBody>
      </p:sp>
      <p:sp>
        <p:nvSpPr>
          <p:cNvPr id="97" name="文本框 96" descr="{&quot;isTemplate&quot;:true,&quot;type&quot;:&quot;text&quot;}"/>
          <p:cNvSpPr txBox="1"/>
          <p:nvPr/>
        </p:nvSpPr>
        <p:spPr>
          <a:xfrm>
            <a:off x="4486275" y="3057525"/>
            <a:ext cx="3219450" cy="514350"/>
          </a:xfrm>
          <a:prstGeom prst="rect">
            <a:avLst/>
          </a:prstGeom>
        </p:spPr>
        <p:txBody>
          <a:bodyPr wrap="square" lIns="0" tIns="0" rIns="0" bIns="0">
            <a:normAutofit/>
          </a:bodyPr>
          <a:p>
            <a:pPr>
              <a:lnSpc>
                <a:spcPct val="140000"/>
              </a:lnSpc>
            </a:pPr>
            <a:r>
              <a:rPr lang="zh-CN" sz="1200">
                <a:solidFill>
                  <a:srgbClr val="0E3F8C"/>
                </a:solidFill>
                <a:latin typeface="微软雅黑" panose="020B0503020204020204" charset="-122"/>
                <a:ea typeface="微软雅黑" panose="020B0503020204020204" charset="-122"/>
              </a:rPr>
              <a:t>判据：年总量可比的条件下，峰值时序与重合关系是否造成边界提前</a:t>
            </a:r>
            <a:endParaRPr lang="zh-CN" sz="1200">
              <a:solidFill>
                <a:srgbClr val="0E3F8C"/>
              </a:solidFill>
              <a:latin typeface="微软雅黑" panose="020B0503020204020204" charset="-122"/>
              <a:ea typeface="微软雅黑" panose="020B0503020204020204" charset="-122"/>
            </a:endParaRPr>
          </a:p>
        </p:txBody>
      </p:sp>
      <p:sp>
        <p:nvSpPr>
          <p:cNvPr id="98" name="圆角矩形 97"/>
          <p:cNvSpPr/>
          <p:nvPr/>
        </p:nvSpPr>
        <p:spPr>
          <a:xfrm>
            <a:off x="8086725" y="1400175"/>
            <a:ext cx="3724275" cy="3143250"/>
          </a:xfrm>
          <a:prstGeom prst="roundRect">
            <a:avLst>
              <a:gd name="adj" fmla="val 1818"/>
            </a:avLst>
          </a:prstGeom>
          <a:solidFill>
            <a:srgbClr val="F7F9FC"/>
          </a:solidFill>
        </p:spPr>
        <p:txBody>
          <a:bodyPr/>
          <a:p/>
        </p:txBody>
      </p:sp>
      <p:sp>
        <p:nvSpPr>
          <p:cNvPr id="99" name="任意多边形 98"/>
          <p:cNvSpPr/>
          <p:nvPr/>
        </p:nvSpPr>
        <p:spPr>
          <a:xfrm>
            <a:off x="8086725" y="1400175"/>
            <a:ext cx="3724275" cy="3143250"/>
          </a:xfrm>
          <a:custGeom>
            <a:avLst/>
            <a:gdLst/>
            <a:ahLst/>
            <a:cxnLst/>
            <a:pathLst>
              <a:path w="391" h="330">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100" name="圆角矩形 99"/>
          <p:cNvSpPr/>
          <p:nvPr/>
        </p:nvSpPr>
        <p:spPr>
          <a:xfrm>
            <a:off x="8239125" y="1552575"/>
            <a:ext cx="304800" cy="304800"/>
          </a:xfrm>
          <a:prstGeom prst="roundRect">
            <a:avLst>
              <a:gd name="adj" fmla="val 12500"/>
            </a:avLst>
          </a:prstGeom>
          <a:solidFill>
            <a:srgbClr val="1E4FA8"/>
          </a:solidFill>
        </p:spPr>
        <p:txBody>
          <a:bodyPr/>
          <a:p/>
        </p:txBody>
      </p:sp>
      <p:sp>
        <p:nvSpPr>
          <p:cNvPr id="101" name="文本框 100" descr="{&quot;isTemplate&quot;:true,&quot;type&quot;:&quot;text&quot;}"/>
          <p:cNvSpPr txBox="1"/>
          <p:nvPr/>
        </p:nvSpPr>
        <p:spPr>
          <a:xfrm>
            <a:off x="8334375" y="1600200"/>
            <a:ext cx="114300" cy="209550"/>
          </a:xfrm>
          <a:prstGeom prst="rect">
            <a:avLst/>
          </a:prstGeom>
        </p:spPr>
        <p:txBody>
          <a:bodyPr wrap="none" lIns="0" tIns="0" rIns="0" bIns="0"/>
          <a:p>
            <a:pPr>
              <a:lnSpc>
                <a:spcPct val="100000"/>
              </a:lnSpc>
            </a:pPr>
            <a:r>
              <a:rPr lang="en-US" sz="1350" b="1">
                <a:solidFill>
                  <a:srgbClr val="FFFFFF"/>
                </a:solidFill>
                <a:latin typeface="微软雅黑" panose="020B0503020204020204" charset="-122"/>
                <a:ea typeface="微软雅黑" panose="020B0503020204020204" charset="-122"/>
              </a:rPr>
              <a:t>3</a:t>
            </a:r>
            <a:endParaRPr lang="en-US" sz="1350" b="1">
              <a:solidFill>
                <a:srgbClr val="FFFFFF"/>
              </a:solidFill>
              <a:latin typeface="微软雅黑" panose="020B0503020204020204" charset="-122"/>
              <a:ea typeface="微软雅黑" panose="020B0503020204020204" charset="-122"/>
            </a:endParaRPr>
          </a:p>
        </p:txBody>
      </p:sp>
      <p:sp>
        <p:nvSpPr>
          <p:cNvPr id="102" name="文本框 101" descr="{&quot;isTemplate&quot;:true,&quot;type&quot;:&quot;text&quot;}"/>
          <p:cNvSpPr txBox="1"/>
          <p:nvPr/>
        </p:nvSpPr>
        <p:spPr>
          <a:xfrm>
            <a:off x="8639175" y="1581150"/>
            <a:ext cx="1257300" cy="257175"/>
          </a:xfrm>
          <a:prstGeom prst="rect">
            <a:avLst/>
          </a:prstGeom>
        </p:spPr>
        <p:txBody>
          <a:bodyPr wrap="none" lIns="0" tIns="0" rIns="0" bIns="0"/>
          <a:p>
            <a:pPr>
              <a:lnSpc>
                <a:spcPct val="100000"/>
              </a:lnSpc>
            </a:pPr>
            <a:r>
              <a:rPr lang="zh-CN" sz="1650" b="1">
                <a:solidFill>
                  <a:srgbClr val="0E3F8C"/>
                </a:solidFill>
                <a:latin typeface="微软雅黑" panose="020B0503020204020204" charset="-122"/>
                <a:ea typeface="微软雅黑" panose="020B0503020204020204" charset="-122"/>
              </a:rPr>
              <a:t>瓶颈控制缺口</a:t>
            </a:r>
            <a:endParaRPr lang="zh-CN" sz="1650" b="1">
              <a:solidFill>
                <a:srgbClr val="0E3F8C"/>
              </a:solidFill>
              <a:latin typeface="微软雅黑" panose="020B0503020204020204" charset="-122"/>
              <a:ea typeface="微软雅黑" panose="020B0503020204020204" charset="-122"/>
            </a:endParaRPr>
          </a:p>
        </p:txBody>
      </p:sp>
      <p:sp>
        <p:nvSpPr>
          <p:cNvPr id="103" name="文本框 102" descr="{&quot;isTemplate&quot;:true,&quot;type&quot;:&quot;text&quot;}"/>
          <p:cNvSpPr txBox="1"/>
          <p:nvPr/>
        </p:nvSpPr>
        <p:spPr>
          <a:xfrm>
            <a:off x="8239125" y="1933575"/>
            <a:ext cx="3419475" cy="962025"/>
          </a:xfrm>
          <a:prstGeom prst="rect">
            <a:avLst/>
          </a:prstGeom>
        </p:spPr>
        <p:txBody>
          <a:bodyPr wrap="square" lIns="0" tIns="0" rIns="0" bIns="0">
            <a:normAutofit/>
          </a:bodyPr>
          <a:p>
            <a:pPr>
              <a:lnSpc>
                <a:spcPct val="155000"/>
              </a:lnSpc>
            </a:pPr>
            <a:r>
              <a:rPr lang="zh-CN" sz="1350">
                <a:solidFill>
                  <a:srgbClr val="1A2230"/>
                </a:solidFill>
                <a:latin typeface="微软雅黑" panose="020B0503020204020204" charset="-122"/>
                <a:ea typeface="微软雅黑" panose="020B0503020204020204" charset="-122"/>
              </a:rPr>
              <a:t>水源、给水、污水、再生水与水质都可能成为边界，现有研究较少识别瓶颈转换与干预有效区间。</a:t>
            </a:r>
            <a:endParaRPr lang="zh-CN" sz="1350">
              <a:solidFill>
                <a:srgbClr val="1A2230"/>
              </a:solidFill>
              <a:latin typeface="微软雅黑" panose="020B0503020204020204" charset="-122"/>
              <a:ea typeface="微软雅黑" panose="020B0503020204020204" charset="-122"/>
            </a:endParaRPr>
          </a:p>
        </p:txBody>
      </p:sp>
      <p:sp>
        <p:nvSpPr>
          <p:cNvPr id="104" name="圆角矩形 103"/>
          <p:cNvSpPr/>
          <p:nvPr/>
        </p:nvSpPr>
        <p:spPr>
          <a:xfrm>
            <a:off x="8239125" y="2990850"/>
            <a:ext cx="3419475" cy="647700"/>
          </a:xfrm>
          <a:prstGeom prst="roundRect">
            <a:avLst>
              <a:gd name="adj" fmla="val 5882"/>
            </a:avLst>
          </a:prstGeom>
          <a:solidFill>
            <a:srgbClr val="E8EFF8"/>
          </a:solidFill>
        </p:spPr>
        <p:txBody>
          <a:bodyPr/>
          <a:p/>
        </p:txBody>
      </p:sp>
      <p:sp>
        <p:nvSpPr>
          <p:cNvPr id="105" name="文本框 104" descr="{&quot;isTemplate&quot;:true,&quot;type&quot;:&quot;text&quot;}"/>
          <p:cNvSpPr txBox="1"/>
          <p:nvPr/>
        </p:nvSpPr>
        <p:spPr>
          <a:xfrm>
            <a:off x="8334375" y="3057525"/>
            <a:ext cx="3228975" cy="514350"/>
          </a:xfrm>
          <a:prstGeom prst="rect">
            <a:avLst/>
          </a:prstGeom>
        </p:spPr>
        <p:txBody>
          <a:bodyPr wrap="square" lIns="0" tIns="0" rIns="0" bIns="0">
            <a:normAutofit/>
          </a:bodyPr>
          <a:p>
            <a:pPr>
              <a:lnSpc>
                <a:spcPct val="140000"/>
              </a:lnSpc>
            </a:pPr>
            <a:r>
              <a:rPr lang="zh-CN" sz="1200">
                <a:solidFill>
                  <a:srgbClr val="0E3F8C"/>
                </a:solidFill>
                <a:latin typeface="微软雅黑" panose="020B0503020204020204" charset="-122"/>
                <a:ea typeface="微软雅黑" panose="020B0503020204020204" charset="-122"/>
              </a:rPr>
              <a:t>判据：逐项解除约束后，主导约束是否发生可识别的迁移</a:t>
            </a:r>
            <a:endParaRPr lang="zh-CN" sz="1200">
              <a:solidFill>
                <a:srgbClr val="0E3F8C"/>
              </a:solidFill>
              <a:latin typeface="微软雅黑" panose="020B0503020204020204" charset="-122"/>
              <a:ea typeface="微软雅黑" panose="020B0503020204020204" charset="-122"/>
            </a:endParaRPr>
          </a:p>
        </p:txBody>
      </p:sp>
      <p:sp>
        <p:nvSpPr>
          <p:cNvPr id="106" name="圆角矩形 105"/>
          <p:cNvSpPr/>
          <p:nvPr/>
        </p:nvSpPr>
        <p:spPr>
          <a:xfrm>
            <a:off x="381000" y="4610100"/>
            <a:ext cx="11430000" cy="876300"/>
          </a:xfrm>
          <a:prstGeom prst="roundRect">
            <a:avLst>
              <a:gd name="adj" fmla="val 6522"/>
            </a:avLst>
          </a:prstGeom>
          <a:solidFill>
            <a:srgbClr val="F0F5FC"/>
          </a:solidFill>
          <a:ln w="12700">
            <a:solidFill>
              <a:srgbClr val="D6DCE5"/>
            </a:solidFill>
            <a:prstDash val="solid"/>
          </a:ln>
        </p:spPr>
        <p:txBody>
          <a:bodyPr/>
          <a:p/>
        </p:txBody>
      </p:sp>
      <p:sp>
        <p:nvSpPr>
          <p:cNvPr id="107" name="文本框 106" descr="{&quot;isTemplate&quot;:true,&quot;type&quot;:&quot;text&quot;}"/>
          <p:cNvSpPr txBox="1"/>
          <p:nvPr/>
        </p:nvSpPr>
        <p:spPr>
          <a:xfrm>
            <a:off x="495300" y="4724400"/>
            <a:ext cx="11201400"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为使</a:t>
            </a:r>
            <a:r>
              <a:rPr lang="en-US" sz="1425" b="1">
                <a:solidFill>
                  <a:srgbClr val="0E3F8C"/>
                </a:solidFill>
                <a:latin typeface="微软雅黑" panose="020B0503020204020204" charset="-122"/>
                <a:ea typeface="微软雅黑" panose="020B0503020204020204" charset="-122"/>
              </a:rPr>
              <a:t>"</a:t>
            </a:r>
            <a:r>
              <a:rPr lang="zh-CN" sz="1425" b="1">
                <a:solidFill>
                  <a:srgbClr val="0E3F8C"/>
                </a:solidFill>
                <a:latin typeface="微软雅黑" panose="020B0503020204020204" charset="-122"/>
                <a:ea typeface="微软雅黑" panose="020B0503020204020204" charset="-122"/>
              </a:rPr>
              <a:t>代谢结构重构</a:t>
            </a:r>
            <a:r>
              <a:rPr lang="en-US" sz="1425" b="1">
                <a:solidFill>
                  <a:srgbClr val="0E3F8C"/>
                </a:solidFill>
                <a:latin typeface="微软雅黑" panose="020B0503020204020204" charset="-122"/>
                <a:ea typeface="微软雅黑" panose="020B0503020204020204" charset="-122"/>
              </a:rPr>
              <a:t>"</a:t>
            </a:r>
            <a:r>
              <a:rPr lang="zh-CN" sz="1425" b="1">
                <a:solidFill>
                  <a:srgbClr val="0E3F8C"/>
                </a:solidFill>
                <a:latin typeface="微软雅黑" panose="020B0503020204020204" charset="-122"/>
                <a:ea typeface="微软雅黑" panose="020B0503020204020204" charset="-122"/>
              </a:rPr>
              <a:t>可检验，</a:t>
            </a:r>
            <a:r>
              <a:rPr lang="en-US" sz="1425" b="1">
                <a:solidFill>
                  <a:srgbClr val="0E3F8C"/>
                </a:solidFill>
                <a:latin typeface="微软雅黑" panose="020B0503020204020204" charset="-122"/>
                <a:ea typeface="微软雅黑" panose="020B0503020204020204" charset="-122"/>
              </a:rPr>
              <a:t>AI </a:t>
            </a:r>
            <a:r>
              <a:rPr lang="zh-CN" sz="1425" b="1">
                <a:solidFill>
                  <a:srgbClr val="0E3F8C"/>
                </a:solidFill>
                <a:latin typeface="微软雅黑" panose="020B0503020204020204" charset="-122"/>
                <a:ea typeface="微软雅黑" panose="020B0503020204020204" charset="-122"/>
              </a:rPr>
              <a:t>边际响应划分为三个层次</a:t>
            </a:r>
            <a:endParaRPr lang="zh-CN" sz="1425" b="1">
              <a:solidFill>
                <a:srgbClr val="0E3F8C"/>
              </a:solidFill>
              <a:latin typeface="微软雅黑" panose="020B0503020204020204" charset="-122"/>
              <a:ea typeface="微软雅黑" panose="020B0503020204020204" charset="-122"/>
            </a:endParaRPr>
          </a:p>
        </p:txBody>
      </p:sp>
      <p:sp>
        <p:nvSpPr>
          <p:cNvPr id="108" name="矩形 107"/>
          <p:cNvSpPr/>
          <p:nvPr/>
        </p:nvSpPr>
        <p:spPr>
          <a:xfrm>
            <a:off x="533400" y="5000625"/>
            <a:ext cx="3657600" cy="666750"/>
          </a:xfrm>
          <a:prstGeom prst="rect">
            <a:avLst/>
          </a:prstGeom>
          <a:solidFill>
            <a:srgbClr val="FFFFFF"/>
          </a:solidFill>
        </p:spPr>
        <p:txBody>
          <a:bodyPr/>
          <a:p/>
        </p:txBody>
      </p:sp>
      <p:sp>
        <p:nvSpPr>
          <p:cNvPr id="109" name="任意多边形 108"/>
          <p:cNvSpPr/>
          <p:nvPr/>
        </p:nvSpPr>
        <p:spPr>
          <a:xfrm>
            <a:off x="495300" y="5000625"/>
            <a:ext cx="3695700" cy="666750"/>
          </a:xfrm>
          <a:custGeom>
            <a:avLst/>
            <a:gdLst/>
            <a:ahLst/>
            <a:cxnLst/>
            <a:pathLst>
              <a:path w="388" h="70">
                <a:moveTo>
                  <a:pt x="0" y="0"/>
                </a:moveTo>
                <a:lnTo>
                  <a:pt x="4" y="0"/>
                </a:lnTo>
                <a:lnTo>
                  <a:pt x="4" y="70"/>
                </a:lnTo>
                <a:lnTo>
                  <a:pt x="0" y="70"/>
                </a:lnTo>
                <a:close/>
              </a:path>
            </a:pathLst>
          </a:custGeom>
          <a:solidFill>
            <a:srgbClr val="8B97A8"/>
          </a:solidFill>
        </p:spPr>
        <p:txBody>
          <a:bodyPr/>
          <a:p/>
        </p:txBody>
      </p:sp>
      <p:sp>
        <p:nvSpPr>
          <p:cNvPr id="110" name="文本框 109" descr="{&quot;isTemplate&quot;:true,&quot;type&quot;:&quot;text&quot;}"/>
          <p:cNvSpPr txBox="1"/>
          <p:nvPr/>
        </p:nvSpPr>
        <p:spPr>
          <a:xfrm>
            <a:off x="628650" y="5057775"/>
            <a:ext cx="3524250" cy="552450"/>
          </a:xfrm>
          <a:prstGeom prst="rect">
            <a:avLst/>
          </a:prstGeom>
        </p:spPr>
        <p:txBody>
          <a:bodyPr wrap="square" lIns="0" tIns="0" rIns="0" bIns="0">
            <a:normAutofit/>
          </a:bodyPr>
          <a:p>
            <a:pPr>
              <a:lnSpc>
                <a:spcPct val="140000"/>
              </a:lnSpc>
            </a:pPr>
            <a:r>
              <a:rPr lang="zh-CN" sz="1275" b="1">
                <a:solidFill>
                  <a:srgbClr val="1A2230"/>
                </a:solidFill>
                <a:latin typeface="微软雅黑" panose="020B0503020204020204" charset="-122"/>
                <a:ea typeface="微软雅黑" panose="020B0503020204020204" charset="-122"/>
              </a:rPr>
              <a:t>规模响应</a:t>
            </a:r>
            <a:r>
              <a:rPr lang="zh-CN" sz="1275">
                <a:solidFill>
                  <a:srgbClr val="1A2230"/>
                </a:solidFill>
                <a:latin typeface="微软雅黑" panose="020B0503020204020204" charset="-122"/>
                <a:ea typeface="微软雅黑" panose="020B0503020204020204" charset="-122"/>
              </a:rPr>
              <a:t>　各水流路径比例近似稳定，总量随</a:t>
            </a:r>
            <a:r>
              <a:rPr lang="en-US" sz="1275">
                <a:solidFill>
                  <a:srgbClr val="1A2230"/>
                </a:solidFill>
                <a:latin typeface="微软雅黑" panose="020B0503020204020204" charset="-122"/>
                <a:ea typeface="微软雅黑" panose="020B0503020204020204" charset="-122"/>
              </a:rPr>
              <a:t> AI </a:t>
            </a:r>
            <a:r>
              <a:rPr lang="zh-CN" sz="1275">
                <a:solidFill>
                  <a:srgbClr val="1A2230"/>
                </a:solidFill>
                <a:latin typeface="微软雅黑" panose="020B0503020204020204" charset="-122"/>
                <a:ea typeface="微软雅黑" panose="020B0503020204020204" charset="-122"/>
              </a:rPr>
              <a:t>容量同步放大</a:t>
            </a:r>
            <a:endParaRPr lang="zh-CN" sz="1275">
              <a:solidFill>
                <a:srgbClr val="1A2230"/>
              </a:solidFill>
              <a:latin typeface="微软雅黑" panose="020B0503020204020204" charset="-122"/>
              <a:ea typeface="微软雅黑" panose="020B0503020204020204" charset="-122"/>
            </a:endParaRPr>
          </a:p>
        </p:txBody>
      </p:sp>
      <p:sp>
        <p:nvSpPr>
          <p:cNvPr id="111" name="矩形 110"/>
          <p:cNvSpPr/>
          <p:nvPr/>
        </p:nvSpPr>
        <p:spPr>
          <a:xfrm>
            <a:off x="4305300" y="5000625"/>
            <a:ext cx="3657600" cy="666750"/>
          </a:xfrm>
          <a:prstGeom prst="rect">
            <a:avLst/>
          </a:prstGeom>
          <a:solidFill>
            <a:srgbClr val="FFFFFF"/>
          </a:solidFill>
        </p:spPr>
        <p:txBody>
          <a:bodyPr/>
          <a:p/>
        </p:txBody>
      </p:sp>
      <p:sp>
        <p:nvSpPr>
          <p:cNvPr id="112" name="任意多边形 111"/>
          <p:cNvSpPr/>
          <p:nvPr/>
        </p:nvSpPr>
        <p:spPr>
          <a:xfrm>
            <a:off x="4267200" y="5000625"/>
            <a:ext cx="3695700" cy="666750"/>
          </a:xfrm>
          <a:custGeom>
            <a:avLst/>
            <a:gdLst/>
            <a:ahLst/>
            <a:cxnLst/>
            <a:pathLst>
              <a:path w="388" h="70">
                <a:moveTo>
                  <a:pt x="0" y="0"/>
                </a:moveTo>
                <a:lnTo>
                  <a:pt x="4" y="0"/>
                </a:lnTo>
                <a:lnTo>
                  <a:pt x="4" y="70"/>
                </a:lnTo>
                <a:lnTo>
                  <a:pt x="0" y="70"/>
                </a:lnTo>
                <a:close/>
              </a:path>
            </a:pathLst>
          </a:custGeom>
          <a:solidFill>
            <a:srgbClr val="1E4FA8"/>
          </a:solidFill>
        </p:spPr>
        <p:txBody>
          <a:bodyPr/>
          <a:p/>
        </p:txBody>
      </p:sp>
      <p:sp>
        <p:nvSpPr>
          <p:cNvPr id="113" name="文本框 112" descr="{&quot;isTemplate&quot;:true,&quot;type&quot;:&quot;text&quot;}"/>
          <p:cNvSpPr txBox="1"/>
          <p:nvPr/>
        </p:nvSpPr>
        <p:spPr>
          <a:xfrm>
            <a:off x="4400550" y="5057775"/>
            <a:ext cx="3524250" cy="552450"/>
          </a:xfrm>
          <a:prstGeom prst="rect">
            <a:avLst/>
          </a:prstGeom>
        </p:spPr>
        <p:txBody>
          <a:bodyPr wrap="square" lIns="0" tIns="0" rIns="0" bIns="0">
            <a:normAutofit/>
          </a:bodyPr>
          <a:p>
            <a:pPr>
              <a:lnSpc>
                <a:spcPct val="140000"/>
              </a:lnSpc>
            </a:pPr>
            <a:r>
              <a:rPr lang="zh-CN" sz="1275" b="1">
                <a:solidFill>
                  <a:srgbClr val="1A2230"/>
                </a:solidFill>
                <a:latin typeface="微软雅黑" panose="020B0503020204020204" charset="-122"/>
                <a:ea typeface="微软雅黑" panose="020B0503020204020204" charset="-122"/>
              </a:rPr>
              <a:t>结构响应</a:t>
            </a:r>
            <a:r>
              <a:rPr lang="zh-CN" sz="1275">
                <a:solidFill>
                  <a:srgbClr val="1A2230"/>
                </a:solidFill>
                <a:latin typeface="微软雅黑" panose="020B0503020204020204" charset="-122"/>
                <a:ea typeface="微软雅黑" panose="020B0503020204020204" charset="-122"/>
              </a:rPr>
              <a:t>　水源结构、消耗回流比例与再生水循环出现持续偏移</a:t>
            </a:r>
            <a:endParaRPr lang="zh-CN" sz="1275">
              <a:solidFill>
                <a:srgbClr val="1A2230"/>
              </a:solidFill>
              <a:latin typeface="微软雅黑" panose="020B0503020204020204" charset="-122"/>
              <a:ea typeface="微软雅黑" panose="020B0503020204020204" charset="-122"/>
            </a:endParaRPr>
          </a:p>
        </p:txBody>
      </p:sp>
      <p:sp>
        <p:nvSpPr>
          <p:cNvPr id="114" name="矩形 113"/>
          <p:cNvSpPr/>
          <p:nvPr/>
        </p:nvSpPr>
        <p:spPr>
          <a:xfrm>
            <a:off x="8077200" y="5000625"/>
            <a:ext cx="3657600" cy="666750"/>
          </a:xfrm>
          <a:prstGeom prst="rect">
            <a:avLst/>
          </a:prstGeom>
          <a:solidFill>
            <a:srgbClr val="FFFFFF"/>
          </a:solidFill>
        </p:spPr>
        <p:txBody>
          <a:bodyPr/>
          <a:p/>
        </p:txBody>
      </p:sp>
      <p:sp>
        <p:nvSpPr>
          <p:cNvPr id="115" name="任意多边形 114"/>
          <p:cNvSpPr/>
          <p:nvPr/>
        </p:nvSpPr>
        <p:spPr>
          <a:xfrm>
            <a:off x="8039100" y="5000625"/>
            <a:ext cx="3695700" cy="666750"/>
          </a:xfrm>
          <a:custGeom>
            <a:avLst/>
            <a:gdLst/>
            <a:ahLst/>
            <a:cxnLst/>
            <a:pathLst>
              <a:path w="388" h="70">
                <a:moveTo>
                  <a:pt x="0" y="0"/>
                </a:moveTo>
                <a:lnTo>
                  <a:pt x="4" y="0"/>
                </a:lnTo>
                <a:lnTo>
                  <a:pt x="4" y="70"/>
                </a:lnTo>
                <a:lnTo>
                  <a:pt x="0" y="70"/>
                </a:lnTo>
                <a:close/>
              </a:path>
            </a:pathLst>
          </a:custGeom>
          <a:solidFill>
            <a:srgbClr val="D9534F"/>
          </a:solidFill>
        </p:spPr>
        <p:txBody>
          <a:bodyPr/>
          <a:p/>
        </p:txBody>
      </p:sp>
      <p:sp>
        <p:nvSpPr>
          <p:cNvPr id="116" name="文本框 115" descr="{&quot;isTemplate&quot;:true,&quot;type&quot;:&quot;text&quot;}"/>
          <p:cNvSpPr txBox="1"/>
          <p:nvPr/>
        </p:nvSpPr>
        <p:spPr>
          <a:xfrm>
            <a:off x="8172450" y="5057775"/>
            <a:ext cx="3524250" cy="552450"/>
          </a:xfrm>
          <a:prstGeom prst="rect">
            <a:avLst/>
          </a:prstGeom>
        </p:spPr>
        <p:txBody>
          <a:bodyPr wrap="square" lIns="0" tIns="0" rIns="0" bIns="0">
            <a:normAutofit/>
          </a:bodyPr>
          <a:p>
            <a:pPr>
              <a:lnSpc>
                <a:spcPct val="140000"/>
              </a:lnSpc>
            </a:pPr>
            <a:r>
              <a:rPr lang="zh-CN" sz="1275" b="1">
                <a:solidFill>
                  <a:srgbClr val="1A2230"/>
                </a:solidFill>
                <a:latin typeface="微软雅黑" panose="020B0503020204020204" charset="-122"/>
                <a:ea typeface="微软雅黑" panose="020B0503020204020204" charset="-122"/>
              </a:rPr>
              <a:t>约束状态转换</a:t>
            </a:r>
            <a:r>
              <a:rPr lang="zh-CN" sz="1275">
                <a:solidFill>
                  <a:srgbClr val="1A2230"/>
                </a:solidFill>
                <a:latin typeface="微软雅黑" panose="020B0503020204020204" charset="-122"/>
                <a:ea typeface="微软雅黑" panose="020B0503020204020204" charset="-122"/>
              </a:rPr>
              <a:t>　主导约束在子系统之间或由水量转向水质</a:t>
            </a:r>
            <a:endParaRPr lang="zh-CN" sz="1275">
              <a:solidFill>
                <a:srgbClr val="1A2230"/>
              </a:solidFill>
              <a:latin typeface="微软雅黑" panose="020B0503020204020204" charset="-122"/>
              <a:ea typeface="微软雅黑" panose="020B0503020204020204" charset="-122"/>
            </a:endParaRPr>
          </a:p>
        </p:txBody>
      </p:sp>
      <p:sp>
        <p:nvSpPr>
          <p:cNvPr id="117" name="矩形 116"/>
          <p:cNvSpPr/>
          <p:nvPr/>
        </p:nvSpPr>
        <p:spPr>
          <a:xfrm>
            <a:off x="428625" y="5600700"/>
            <a:ext cx="11430000" cy="390525"/>
          </a:xfrm>
          <a:prstGeom prst="rect">
            <a:avLst/>
          </a:prstGeom>
          <a:solidFill>
            <a:srgbClr val="E8EFF8"/>
          </a:solidFill>
        </p:spPr>
        <p:txBody>
          <a:bodyPr/>
          <a:p/>
        </p:txBody>
      </p:sp>
      <p:sp>
        <p:nvSpPr>
          <p:cNvPr id="118" name="任意多边形 117"/>
          <p:cNvSpPr/>
          <p:nvPr/>
        </p:nvSpPr>
        <p:spPr>
          <a:xfrm>
            <a:off x="381000" y="5600700"/>
            <a:ext cx="11477625" cy="390525"/>
          </a:xfrm>
          <a:custGeom>
            <a:avLst/>
            <a:gdLst/>
            <a:ahLst/>
            <a:cxnLst/>
            <a:pathLst>
              <a:path w="1205" h="41">
                <a:moveTo>
                  <a:pt x="0" y="0"/>
                </a:moveTo>
                <a:lnTo>
                  <a:pt x="5" y="0"/>
                </a:lnTo>
                <a:lnTo>
                  <a:pt x="5" y="41"/>
                </a:lnTo>
                <a:lnTo>
                  <a:pt x="0" y="41"/>
                </a:lnTo>
                <a:close/>
              </a:path>
            </a:pathLst>
          </a:custGeom>
          <a:solidFill>
            <a:srgbClr val="1E4FA8"/>
          </a:solidFill>
        </p:spPr>
        <p:txBody>
          <a:bodyPr/>
          <a:p/>
        </p:txBody>
      </p:sp>
      <p:sp>
        <p:nvSpPr>
          <p:cNvPr id="119" name="文本框 118" descr="{&quot;isTemplate&quot;:true,&quot;type&quot;:&quot;text&quot;}"/>
          <p:cNvSpPr txBox="1"/>
          <p:nvPr/>
        </p:nvSpPr>
        <p:spPr>
          <a:xfrm>
            <a:off x="600075" y="5686425"/>
            <a:ext cx="11210925" cy="219075"/>
          </a:xfrm>
          <a:prstGeom prst="rect">
            <a:avLst/>
          </a:prstGeom>
        </p:spPr>
        <p:txBody>
          <a:bodyPr wrap="none" lIns="0" tIns="0" rIns="0" bIns="0"/>
          <a:p>
            <a:pPr>
              <a:lnSpc>
                <a:spcPct val="100000"/>
              </a:lnSpc>
            </a:pPr>
            <a:r>
              <a:rPr lang="zh-CN" sz="1425">
                <a:solidFill>
                  <a:srgbClr val="1A2230"/>
                </a:solidFill>
                <a:latin typeface="微软雅黑" panose="020B0503020204020204" charset="-122"/>
                <a:ea typeface="微软雅黑" panose="020B0503020204020204" charset="-122"/>
              </a:rPr>
              <a:t>缺口映射：缺口一</a:t>
            </a:r>
            <a:r>
              <a:rPr lang="en-US" sz="1425">
                <a:solidFill>
                  <a:srgbClr val="1A2230"/>
                </a:solidFill>
                <a:latin typeface="微软雅黑" panose="020B0503020204020204" charset="-122"/>
                <a:ea typeface="微软雅黑" panose="020B0503020204020204" charset="-122"/>
              </a:rPr>
              <a:t> → Q1 / H1 → </a:t>
            </a:r>
            <a:r>
              <a:rPr lang="zh-CN" sz="1425">
                <a:solidFill>
                  <a:srgbClr val="1A2230"/>
                </a:solidFill>
                <a:latin typeface="微软雅黑" panose="020B0503020204020204" charset="-122"/>
                <a:ea typeface="微软雅黑" panose="020B0503020204020204" charset="-122"/>
              </a:rPr>
              <a:t>实验一、二；缺口二</a:t>
            </a:r>
            <a:r>
              <a:rPr lang="en-US" sz="1425">
                <a:solidFill>
                  <a:srgbClr val="1A2230"/>
                </a:solidFill>
                <a:latin typeface="微软雅黑" panose="020B0503020204020204" charset="-122"/>
                <a:ea typeface="微软雅黑" panose="020B0503020204020204" charset="-122"/>
              </a:rPr>
              <a:t> → Q2 / H2 → </a:t>
            </a:r>
            <a:r>
              <a:rPr lang="zh-CN" sz="1425">
                <a:solidFill>
                  <a:srgbClr val="1A2230"/>
                </a:solidFill>
                <a:latin typeface="微软雅黑" panose="020B0503020204020204" charset="-122"/>
                <a:ea typeface="微软雅黑" panose="020B0503020204020204" charset="-122"/>
              </a:rPr>
              <a:t>实验三；缺口三</a:t>
            </a:r>
            <a:r>
              <a:rPr lang="en-US" sz="1425">
                <a:solidFill>
                  <a:srgbClr val="1A2230"/>
                </a:solidFill>
                <a:latin typeface="微软雅黑" panose="020B0503020204020204" charset="-122"/>
                <a:ea typeface="微软雅黑" panose="020B0503020204020204" charset="-122"/>
              </a:rPr>
              <a:t> → Q3 / H3 → </a:t>
            </a:r>
            <a:r>
              <a:rPr lang="zh-CN" sz="1425">
                <a:solidFill>
                  <a:srgbClr val="1A2230"/>
                </a:solidFill>
                <a:latin typeface="微软雅黑" panose="020B0503020204020204" charset="-122"/>
                <a:ea typeface="微软雅黑" panose="020B0503020204020204" charset="-122"/>
              </a:rPr>
              <a:t>实验四</a:t>
            </a:r>
            <a:endParaRPr lang="zh-CN" sz="1425">
              <a:solidFill>
                <a:srgbClr val="1A2230"/>
              </a:solidFill>
              <a:latin typeface="微软雅黑" panose="020B0503020204020204" charset="-122"/>
              <a:ea typeface="微软雅黑" panose="020B0503020204020204" charset="-122"/>
            </a:endParaRPr>
          </a:p>
        </p:txBody>
      </p:sp>
      <p:sp>
        <p:nvSpPr>
          <p:cNvPr id="120" name="任意多边形 119"/>
          <p:cNvSpPr/>
          <p:nvPr/>
        </p:nvSpPr>
        <p:spPr>
          <a:xfrm>
            <a:off x="0" y="606742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21" name="文本框 120" descr="{&quot;isTemplate&quot;:true,&quot;type&quot;:&quot;text&quot;}"/>
          <p:cNvSpPr txBox="1"/>
          <p:nvPr/>
        </p:nvSpPr>
        <p:spPr>
          <a:xfrm>
            <a:off x="381000" y="618172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22" name="文本框 121" descr="{&quot;isTemplate&quot;:true,&quot;type&quot;:&quot;text&quot;}"/>
          <p:cNvSpPr txBox="1"/>
          <p:nvPr/>
        </p:nvSpPr>
        <p:spPr>
          <a:xfrm>
            <a:off x="11353800" y="618172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11 / 36</a:t>
            </a:r>
            <a:endParaRPr lang="en-US" sz="1050">
              <a:solidFill>
                <a:srgbClr val="1E4FA8"/>
              </a:solidFill>
              <a:latin typeface="微软雅黑" panose="020B0503020204020204" charset="-122"/>
              <a:ea typeface="微软雅黑" panose="020B0503020204020204" charset="-122"/>
            </a:endParaRPr>
          </a:p>
        </p:txBody>
      </p:sp>
      <p:sp>
        <p:nvSpPr>
          <p:cNvPr id="123" name="矩形 122"/>
          <p:cNvSpPr/>
          <p:nvPr/>
        </p:nvSpPr>
        <p:spPr>
          <a:xfrm>
            <a:off x="0" y="685800"/>
            <a:ext cx="57150" cy="1162050"/>
          </a:xfrm>
          <a:prstGeom prst="rect">
            <a:avLst/>
          </a:prstGeom>
          <a:solidFill>
            <a:srgbClr val="C9D6E8"/>
          </a:solidFill>
        </p:spPr>
        <p:txBody>
          <a:bodyPr/>
          <a:p/>
        </p:txBody>
      </p:sp>
      <p:sp>
        <p:nvSpPr>
          <p:cNvPr id="124" name="矩形 123"/>
          <p:cNvSpPr/>
          <p:nvPr/>
        </p:nvSpPr>
        <p:spPr>
          <a:xfrm>
            <a:off x="0" y="1847850"/>
            <a:ext cx="57150" cy="1162050"/>
          </a:xfrm>
          <a:prstGeom prst="rect">
            <a:avLst/>
          </a:prstGeom>
          <a:solidFill>
            <a:srgbClr val="FFC107"/>
          </a:solidFill>
        </p:spPr>
        <p:txBody>
          <a:bodyPr/>
          <a:p/>
        </p:txBody>
      </p:sp>
      <p:sp>
        <p:nvSpPr>
          <p:cNvPr id="125" name="矩形 124"/>
          <p:cNvSpPr/>
          <p:nvPr/>
        </p:nvSpPr>
        <p:spPr>
          <a:xfrm>
            <a:off x="0" y="3009900"/>
            <a:ext cx="57150" cy="1162050"/>
          </a:xfrm>
          <a:prstGeom prst="rect">
            <a:avLst/>
          </a:prstGeom>
          <a:solidFill>
            <a:srgbClr val="C9D6E8"/>
          </a:solidFill>
        </p:spPr>
        <p:txBody>
          <a:bodyPr/>
          <a:p/>
        </p:txBody>
      </p:sp>
      <p:sp>
        <p:nvSpPr>
          <p:cNvPr id="126" name="矩形 125"/>
          <p:cNvSpPr/>
          <p:nvPr/>
        </p:nvSpPr>
        <p:spPr>
          <a:xfrm>
            <a:off x="0" y="4171950"/>
            <a:ext cx="57150" cy="1162050"/>
          </a:xfrm>
          <a:prstGeom prst="rect">
            <a:avLst/>
          </a:prstGeom>
          <a:solidFill>
            <a:srgbClr val="C9D6E8"/>
          </a:solidFill>
        </p:spPr>
        <p:txBody>
          <a:bodyPr/>
          <a:p/>
        </p:txBody>
      </p:sp>
      <p:sp>
        <p:nvSpPr>
          <p:cNvPr id="127" name="矩形 126"/>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8" name="" descr="&lt;Slide style={{ width: '1280px', height: '720px', background: '#0B3A82', fontFamily: 'Microsoft YaHei', padding: 0 }}&gt;&#13;&#10;    &lt;Box style={{ position: 'absolute', top: 0, right: 0, width: 300, height: 720, background: '#12489A' }} /&gt;&#13;&#10;    &lt;Box style={{ position: 'absolute', top: 60, right: 40, width: 220, height: 220, opacity: 0.16 }}&gt;&#13;&#10;        &lt;svg width={220} height={220} viewBox='0 0 220 220'&gt;&#13;&#10;            &lt;circle cx='110' cy='42' r='24' fill='none' stroke='#FFFFFF' strokeWidth='3' /&gt;&#13;&#10;            &lt;circle cx='110' cy='110' r='24' fill='none' stroke='#FFFFFF' strokeWidth='3' /&gt;&#13;&#10;            &lt;circle cx='110' cy='178' r='24' fill='none' stroke='#FFFFFF' strokeWidth='3' /&gt;&#13;&#10;            &lt;path d='M110 66 L110 86' stroke='#FFC107' strokeWidth='4' fill='none' /&gt;&#13;&#10;            &lt;path d='M110 134 L110 154' stroke='#FFC107' strokeWidth='4' fill='none' /&gt;&#13;&#10;        &lt;/svg&gt;&#13;&#10;    &lt;/Box&gt;&#13;&#10;    &lt;Box style={{ position: 'absolute', top: 120, left: 90 }}&gt;&#13;&#10;        &lt;Text style={{ fontSize: 220, fontWeight: 'bold', color: '#FFFFFF', opacity: 0.12, lineHeight: 1 }}&gt;03&lt;/Text&gt;&#13;&#10;    &lt;/Box&gt;&#13;&#10;    &lt;Box style={{ position: 'absolute', top: 132, left: 96, width: 840, flexDirection: 'column', gap: 18 }}&gt;&#13;&#10;        &lt;Box style={{ flexDirection: 'row', alignItems: 'center', gap: 14 }}&gt;&#13;&#10;            &lt;Box style={{ width: 14, height: 38, background: '#FFC107' }} /&gt;&#13;&#10;            &lt;Text style={{ fontSize: 25, color: '#BFD3F2', letterSpacing: 3 }}&gt;PART THREE&lt;/Text&gt;&#13;&#10;        &lt;/Box&gt;&#13;&#10;        &lt;Text style={{ fontSize: 50, fontWeight: 'bold', color: '#FFFFFF', lineHeight: 1.25 }}&gt;科学问题、假设与研究内容&lt;/Text&gt;&#13;&#10;        &lt;Box style={{ height: 3, background: '#3D7BD9', width: 760 }} /&gt;&#13;&#10;        &lt;Box style={{ flexDirection: 'column', gap: 11, marginTop: 4 }}&gt;&#13;&#10;            &lt;Text style={{ fontSize: 24, fontWeight: 'bold', color: '#FFFFFF', lineHeight: 1.4 }}&gt;城市水系统究竟能支持多少 AI 容量，为什么这个边界会变化？&lt;/Text&gt;&#13;&#10;            &lt;Text style={{ fontSize: 18, color: '#FFC107', letterSpacing: 1 }}&gt;CAWCC 定义　｜　三个科学问题　｜　三个可证伪假设&lt;/Text&gt;&#13;&#10;        &lt;/Box&gt;&#13;&#10;    &lt;/Box&gt;&#13;&#10;    &lt;Box style={{ position: 'absolute', bottom: 44, left: 96 }}&gt;&#13;&#10;        &lt;Text style={{ fontSize: 16, color: '#7FA3D6' }}&gt;P13 – P16&lt;/Text&gt;&#13;&#10;    &lt;/Box&gt;&#13;&#10;&lt;/Slide&gt;&#13;&#10;"/>
        <p:cNvGrpSpPr/>
        <p:nvPr/>
      </p:nvGrpSpPr>
      <p:grpSpPr>
        <a:xfrm>
          <a:off x="0" y="0"/>
          <a:ext cx="0" cy="0"/>
          <a:chOff x="0" y="0"/>
          <a:chExt cx="0" cy="0"/>
        </a:xfrm>
      </p:grpSpPr>
      <p:sp>
        <p:nvSpPr>
          <p:cNvPr id="129" name="矩形 128"/>
          <p:cNvSpPr/>
          <p:nvPr/>
        </p:nvSpPr>
        <p:spPr>
          <a:xfrm>
            <a:off x="0" y="0"/>
            <a:ext cx="12192000" cy="6858000"/>
          </a:xfrm>
          <a:prstGeom prst="rect">
            <a:avLst/>
          </a:prstGeom>
          <a:solidFill>
            <a:srgbClr val="0B3A82"/>
          </a:solidFill>
        </p:spPr>
        <p:txBody>
          <a:bodyPr/>
          <a:p/>
        </p:txBody>
      </p:sp>
      <p:sp>
        <p:nvSpPr>
          <p:cNvPr id="130" name="矩形 129"/>
          <p:cNvSpPr/>
          <p:nvPr/>
        </p:nvSpPr>
        <p:spPr>
          <a:xfrm>
            <a:off x="9334500" y="0"/>
            <a:ext cx="2857500" cy="6858000"/>
          </a:xfrm>
          <a:prstGeom prst="rect">
            <a:avLst/>
          </a:prstGeom>
          <a:solidFill>
            <a:srgbClr val="12489A"/>
          </a:solidFill>
        </p:spPr>
        <p:txBody>
          <a:bodyPr/>
          <a:p/>
        </p:txBody>
      </p:sp>
      <p:pic>
        <p:nvPicPr>
          <p:cNvPr id="131" name="图片 130"/>
          <p:cNvPicPr>
            <a:picLocks noChangeAspect="1"/>
          </p:cNvPicPr>
          <p:nvPr/>
        </p:nvPicPr>
        <p:blipFill>
          <a:blip r:embed="rId1">
            <a:alphaModFix amt="16000"/>
            <a:extLst>
              <a:ext uri="{96DAC541-7B7A-43D3-8B79-37D633B846F1}">
                <asvg:svgBlip xmlns:asvg="http://schemas.microsoft.com/office/drawing/2016/SVG/main" r:embed="rId2"/>
              </a:ext>
            </a:extLst>
          </a:blip>
          <a:stretch>
            <a:fillRect/>
          </a:stretch>
        </p:blipFill>
        <p:spPr>
          <a:xfrm>
            <a:off x="9715500" y="571500"/>
            <a:ext cx="2095500" cy="2095500"/>
          </a:xfrm>
          <a:prstGeom prst="rect">
            <a:avLst/>
          </a:prstGeom>
        </p:spPr>
      </p:pic>
      <p:sp>
        <p:nvSpPr>
          <p:cNvPr id="132" name="文本框 131" descr="{&quot;isTemplate&quot;:true,&quot;type&quot;:&quot;text&quot;}"/>
          <p:cNvSpPr txBox="1"/>
          <p:nvPr/>
        </p:nvSpPr>
        <p:spPr>
          <a:xfrm>
            <a:off x="857250" y="1143000"/>
            <a:ext cx="2590800" cy="2514600"/>
          </a:xfrm>
          <a:prstGeom prst="rect">
            <a:avLst/>
          </a:prstGeom>
        </p:spPr>
        <p:txBody>
          <a:bodyPr wrap="none" lIns="0" tIns="0" rIns="0" bIns="0"/>
          <a:p>
            <a:pPr>
              <a:lnSpc>
                <a:spcPct val="100000"/>
              </a:lnSpc>
            </a:pPr>
            <a:r>
              <a:rPr lang="en-US" sz="16500" b="1">
                <a:solidFill>
                  <a:srgbClr val="FFFFFF">
                    <a:alpha val="12000"/>
                  </a:srgbClr>
                </a:solidFill>
                <a:latin typeface="微软雅黑" panose="020B0503020204020204" charset="-122"/>
                <a:ea typeface="微软雅黑" panose="020B0503020204020204" charset="-122"/>
              </a:rPr>
              <a:t>03</a:t>
            </a:r>
            <a:endParaRPr lang="en-US" sz="16500" b="1">
              <a:solidFill>
                <a:srgbClr val="FFFFFF">
                  <a:alpha val="12000"/>
                </a:srgbClr>
              </a:solidFill>
              <a:latin typeface="微软雅黑" panose="020B0503020204020204" charset="-122"/>
              <a:ea typeface="微软雅黑" panose="020B0503020204020204" charset="-122"/>
            </a:endParaRPr>
          </a:p>
        </p:txBody>
      </p:sp>
      <p:sp>
        <p:nvSpPr>
          <p:cNvPr id="133" name="矩形 132"/>
          <p:cNvSpPr/>
          <p:nvPr/>
        </p:nvSpPr>
        <p:spPr>
          <a:xfrm>
            <a:off x="914400" y="1257300"/>
            <a:ext cx="133350" cy="361950"/>
          </a:xfrm>
          <a:prstGeom prst="rect">
            <a:avLst/>
          </a:prstGeom>
          <a:solidFill>
            <a:srgbClr val="FFC107"/>
          </a:solidFill>
        </p:spPr>
        <p:txBody>
          <a:bodyPr/>
          <a:p/>
        </p:txBody>
      </p:sp>
      <p:sp>
        <p:nvSpPr>
          <p:cNvPr id="134" name="文本框 133" descr="{&quot;isTemplate&quot;:true,&quot;type&quot;:&quot;text&quot;}"/>
          <p:cNvSpPr txBox="1"/>
          <p:nvPr/>
        </p:nvSpPr>
        <p:spPr>
          <a:xfrm>
            <a:off x="1181100" y="1295400"/>
            <a:ext cx="1704975" cy="285750"/>
          </a:xfrm>
          <a:prstGeom prst="rect">
            <a:avLst/>
          </a:prstGeom>
        </p:spPr>
        <p:txBody>
          <a:bodyPr wrap="none" lIns="0" tIns="0" rIns="0" bIns="0"/>
          <a:p>
            <a:pPr>
              <a:lnSpc>
                <a:spcPct val="100000"/>
              </a:lnSpc>
            </a:pPr>
            <a:r>
              <a:rPr lang="en-US" sz="1875" spc="225">
                <a:solidFill>
                  <a:srgbClr val="BFD3F2"/>
                </a:solidFill>
                <a:latin typeface="微软雅黑" panose="020B0503020204020204" charset="-122"/>
                <a:ea typeface="微软雅黑" panose="020B0503020204020204" charset="-122"/>
              </a:rPr>
              <a:t>PART THREE</a:t>
            </a:r>
            <a:endParaRPr lang="en-US" sz="1875" spc="225">
              <a:solidFill>
                <a:srgbClr val="BFD3F2"/>
              </a:solidFill>
              <a:latin typeface="微软雅黑" panose="020B0503020204020204" charset="-122"/>
              <a:ea typeface="微软雅黑" panose="020B0503020204020204" charset="-122"/>
            </a:endParaRPr>
          </a:p>
        </p:txBody>
      </p:sp>
      <p:sp>
        <p:nvSpPr>
          <p:cNvPr id="135" name="文本框 134" descr="{&quot;isTemplate&quot;:true,&quot;type&quot;:&quot;text&quot;}"/>
          <p:cNvSpPr txBox="1"/>
          <p:nvPr/>
        </p:nvSpPr>
        <p:spPr>
          <a:xfrm>
            <a:off x="914400" y="1790700"/>
            <a:ext cx="8001000" cy="714375"/>
          </a:xfrm>
          <a:prstGeom prst="rect">
            <a:avLst/>
          </a:prstGeom>
        </p:spPr>
        <p:txBody>
          <a:bodyPr wrap="none" lIns="0" tIns="0" rIns="0" bIns="0"/>
          <a:p>
            <a:pPr>
              <a:lnSpc>
                <a:spcPct val="125000"/>
              </a:lnSpc>
            </a:pPr>
            <a:r>
              <a:rPr lang="zh-CN" sz="3750" b="1">
                <a:solidFill>
                  <a:srgbClr val="FFFFFF"/>
                </a:solidFill>
                <a:latin typeface="微软雅黑" panose="020B0503020204020204" charset="-122"/>
                <a:ea typeface="微软雅黑" panose="020B0503020204020204" charset="-122"/>
              </a:rPr>
              <a:t>科学问题、假设与研究内容</a:t>
            </a:r>
            <a:endParaRPr lang="zh-CN" sz="3750" b="1">
              <a:solidFill>
                <a:srgbClr val="FFFFFF"/>
              </a:solidFill>
              <a:latin typeface="微软雅黑" panose="020B0503020204020204" charset="-122"/>
              <a:ea typeface="微软雅黑" panose="020B0503020204020204" charset="-122"/>
            </a:endParaRPr>
          </a:p>
        </p:txBody>
      </p:sp>
      <p:sp>
        <p:nvSpPr>
          <p:cNvPr id="136" name="矩形 135"/>
          <p:cNvSpPr/>
          <p:nvPr/>
        </p:nvSpPr>
        <p:spPr>
          <a:xfrm>
            <a:off x="914400" y="2676525"/>
            <a:ext cx="7239000" cy="28575"/>
          </a:xfrm>
          <a:prstGeom prst="rect">
            <a:avLst/>
          </a:prstGeom>
          <a:solidFill>
            <a:srgbClr val="3D7BD9"/>
          </a:solidFill>
        </p:spPr>
        <p:txBody>
          <a:bodyPr/>
          <a:p/>
        </p:txBody>
      </p:sp>
      <p:sp>
        <p:nvSpPr>
          <p:cNvPr id="137" name="文本框 136" descr="{&quot;isTemplate&quot;:true,&quot;type&quot;:&quot;text&quot;}"/>
          <p:cNvSpPr txBox="1"/>
          <p:nvPr/>
        </p:nvSpPr>
        <p:spPr>
          <a:xfrm>
            <a:off x="914400" y="2914650"/>
            <a:ext cx="8001000" cy="390525"/>
          </a:xfrm>
          <a:prstGeom prst="rect">
            <a:avLst/>
          </a:prstGeom>
        </p:spPr>
        <p:txBody>
          <a:bodyPr wrap="none" lIns="0" tIns="0" rIns="0" bIns="0"/>
          <a:p>
            <a:pPr>
              <a:lnSpc>
                <a:spcPct val="140000"/>
              </a:lnSpc>
            </a:pPr>
            <a:r>
              <a:rPr lang="zh-CN" sz="1800" b="1">
                <a:solidFill>
                  <a:srgbClr val="FFFFFF"/>
                </a:solidFill>
                <a:latin typeface="微软雅黑" panose="020B0503020204020204" charset="-122"/>
                <a:ea typeface="微软雅黑" panose="020B0503020204020204" charset="-122"/>
              </a:rPr>
              <a:t>城市水系统究竟能支持多少</a:t>
            </a:r>
            <a:r>
              <a:rPr lang="en-US" sz="1800" b="1">
                <a:solidFill>
                  <a:srgbClr val="FFFFFF"/>
                </a:solidFill>
                <a:latin typeface="微软雅黑" panose="020B0503020204020204" charset="-122"/>
                <a:ea typeface="微软雅黑" panose="020B0503020204020204" charset="-122"/>
              </a:rPr>
              <a:t> AI </a:t>
            </a:r>
            <a:r>
              <a:rPr lang="zh-CN" sz="1800" b="1">
                <a:solidFill>
                  <a:srgbClr val="FFFFFF"/>
                </a:solidFill>
                <a:latin typeface="微软雅黑" panose="020B0503020204020204" charset="-122"/>
                <a:ea typeface="微软雅黑" panose="020B0503020204020204" charset="-122"/>
              </a:rPr>
              <a:t>容量，为什么这个边界会变化？</a:t>
            </a:r>
            <a:endParaRPr lang="zh-CN" sz="1800" b="1">
              <a:solidFill>
                <a:srgbClr val="FFFFFF"/>
              </a:solidFill>
              <a:latin typeface="微软雅黑" panose="020B0503020204020204" charset="-122"/>
              <a:ea typeface="微软雅黑" panose="020B0503020204020204" charset="-122"/>
            </a:endParaRPr>
          </a:p>
        </p:txBody>
      </p:sp>
      <p:sp>
        <p:nvSpPr>
          <p:cNvPr id="138" name="文本框 137" descr="{&quot;isTemplate&quot;:true,&quot;type&quot;:&quot;text&quot;}"/>
          <p:cNvSpPr txBox="1"/>
          <p:nvPr/>
        </p:nvSpPr>
        <p:spPr>
          <a:xfrm>
            <a:off x="914400" y="3409950"/>
            <a:ext cx="8001000" cy="209550"/>
          </a:xfrm>
          <a:prstGeom prst="rect">
            <a:avLst/>
          </a:prstGeom>
        </p:spPr>
        <p:txBody>
          <a:bodyPr wrap="none" lIns="0" tIns="0" rIns="0" bIns="0"/>
          <a:p>
            <a:pPr>
              <a:lnSpc>
                <a:spcPct val="100000"/>
              </a:lnSpc>
            </a:pPr>
            <a:r>
              <a:rPr lang="en-US" sz="1350" spc="75">
                <a:solidFill>
                  <a:srgbClr val="FFC107"/>
                </a:solidFill>
                <a:latin typeface="微软雅黑" panose="020B0503020204020204" charset="-122"/>
                <a:ea typeface="微软雅黑" panose="020B0503020204020204" charset="-122"/>
              </a:rPr>
              <a:t>CAWCC </a:t>
            </a:r>
            <a:r>
              <a:rPr lang="zh-CN" sz="1350" spc="75">
                <a:solidFill>
                  <a:srgbClr val="FFC107"/>
                </a:solidFill>
                <a:latin typeface="微软雅黑" panose="020B0503020204020204" charset="-122"/>
                <a:ea typeface="微软雅黑" panose="020B0503020204020204" charset="-122"/>
              </a:rPr>
              <a:t>定义　｜　三个科学问题　｜　三个可证伪假设</a:t>
            </a:r>
            <a:endParaRPr lang="zh-CN" sz="1350" spc="75">
              <a:solidFill>
                <a:srgbClr val="FFC107"/>
              </a:solidFill>
              <a:latin typeface="微软雅黑" panose="020B0503020204020204" charset="-122"/>
              <a:ea typeface="微软雅黑" panose="020B0503020204020204" charset="-122"/>
            </a:endParaRPr>
          </a:p>
        </p:txBody>
      </p:sp>
      <p:sp>
        <p:nvSpPr>
          <p:cNvPr id="139" name="文本框 138" descr="{&quot;isTemplate&quot;:true,&quot;type&quot;:&quot;text&quot;}"/>
          <p:cNvSpPr txBox="1"/>
          <p:nvPr/>
        </p:nvSpPr>
        <p:spPr>
          <a:xfrm>
            <a:off x="914400" y="6248400"/>
            <a:ext cx="723900" cy="190500"/>
          </a:xfrm>
          <a:prstGeom prst="rect">
            <a:avLst/>
          </a:prstGeom>
        </p:spPr>
        <p:txBody>
          <a:bodyPr wrap="none" lIns="0" tIns="0" rIns="0" bIns="0"/>
          <a:p>
            <a:pPr>
              <a:lnSpc>
                <a:spcPct val="100000"/>
              </a:lnSpc>
            </a:pPr>
            <a:r>
              <a:rPr lang="en-US" sz="1200">
                <a:solidFill>
                  <a:srgbClr val="7FA3D6"/>
                </a:solidFill>
                <a:latin typeface="微软雅黑" panose="020B0503020204020204" charset="-122"/>
                <a:ea typeface="微软雅黑" panose="020B0503020204020204" charset="-122"/>
              </a:rPr>
              <a:t>P13 – P16</a:t>
            </a:r>
            <a:endParaRPr lang="en-US" sz="1200">
              <a:solidFill>
                <a:srgbClr val="7FA3D6"/>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0"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gauge-high' style={{ fill: '#FFC107', width: 22, height: 22 }} /&gt;&#13;&#10;            &lt;/Box&gt;&#13;&#10;            &lt;Text style={{ fontSize: 29, fontWeight: 'bold', color: '#FFFFFF' }}&gt;CAWCC：把城市资源状态与 AI 发展规模连成可计算边界&lt;/Text&gt;&#13;&#10;        &lt;/Box&gt;&#13;&#10;        &lt;Box style={{ flexDirection: 'row', alignItems: 'center', gap: 10 }}&gt;&#13;&#10;            &lt;Text style={{ fontSize: 15, color: '#AFC6E8' }}&gt;03 科学问题、假设与研究内容&lt;/Text&gt;&#13;&#10;            &lt;Box style={{ background: '#FFC107', paddingLeft: 9, paddingRight: 9, paddingTop: 3, paddingBottom: 3, borderRadius: 3, justifyContent: 'center', alignItems: 'center' }}&gt;&#13;&#10;                &lt;Text style={{ fontSize: 14, color: '#0B3A82', fontWeight: 'bold' }}&gt;13&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CAWCC 随城市状态与管理选择变化，非固定常数；求解方式：连续增加 AI 容量，直至核心约束不再满足&lt;/Text&gt;&#13;&#10;        &lt;/Box&gt;&#13;&#10;        &lt;Box style={{ flexDirection: 'row', gap: 14, height: 196 }}&gt;&#13;&#10;            &lt;Box style={{ width: 452, background: '#E8EFF8', borderRadius: 6, padding: 14, flexDirection: 'row', alignItems: 'center', gap: 10 }}&gt;&#13;&#10;                &lt;Box style={{ flex: 1, flexDirection: 'column', justifyContent: 'center' }}&gt;&#13;&#10;                    &lt;Text style={{ fontSize: 62, fontWeight: 'bold', color: '#0B3A82', lineHeight: 1.1 }}&gt;CAWCC&lt;/Text&gt;&#13;&#10;                    &lt;Text style={{ fontSize: 17, color: '#0E3F8C', lineHeight: 1.35, marginTop: 6 }}&gt;Conditional AI Water-system Carrying Capacity&lt;/Text&gt;&#13;&#10;                    &lt;Text style={{ fontSize: 19, color: '#4A5568', lineHeight: 1.35, marginTop: 4 }}&gt;条件化 AI 水系统承载容量&lt;/Text&gt;&#13;&#10;                &lt;/Box&gt;&#13;&#10;                &lt;Box style={{ width: 132, height: 132 }}&gt;&#13;&#10;                    &lt;svg width={132} height={132} viewBox='0 0 140 132'&gt;&#13;&#10;                        &lt;path d='M18 104 A52 52 0 0 1 122 104' stroke='#C9D6E8' strokeWidth='13' fill='none' strokeLinecap='round' /&gt;&#13;&#10;                        &lt;path d='M18 104 A52 52 0 0 1 122 104' stroke='#FFC107' strokeWidth='13' fill='none' strokeLinecap='round' strokeDasharray='106 164' /&gt;&#13;&#10;                        &lt;line x1='70' y1='104' x2='92' y2='66' stroke='#0B3A82' strokeWidth='4' strokeLinecap='round' /&gt;&#13;&#10;                        &lt;circle cx='70' cy='104' r='8' fill='#0B3A82' /&gt;&#13;&#10;                        &lt;text x='70' y='126' font-size='13' fill='#0E3F8C' font-family='Microsoft YaHei' text-anchor='middle'&gt;可行容量边界&lt;/text&gt;&#13;&#10;                    &lt;/svg&gt;&#13;&#10;                &lt;/Box&gt;&#13;&#10;            &lt;/Box&gt;&#13;&#10;            &lt;Box style={{ flex: 1, flexDirection: 'column', gap: 10 }}&gt;&#13;&#10;                &lt;Box style={{ background: '#0E3F8C', borderRadius: 6, padding: 14, flexDirection: 'column' }}&gt;&#13;&#10;                    &lt;Text style={{ fontSize: 20, color: '#FFFFFF', fontWeight: 'bold', lineHeight: 1.45 }}&gt;定义：给定城市状态、技术架构、水源政策、气候情景、服务优先级与风险容忍条件下，城市水系统可支持的最大可行 AI 容量&lt;/Text&gt;&#13;&#10;                &lt;/Box&gt;&#13;&#10;                &lt;Box style={{ background: '#F0F5FC', border: '1px solid #D6DCE5', borderRadius: 6, padding: 12, flexDirection: 'column', gap: 5 }}&gt;&#13;&#10;                    &lt;Text style={{ fontSize: 20, fontWeight: 'bold', color: '#0B3A82' }}&gt;CAWCC = max C_AI　　s.t.　g_j(C_AI, X) ≤ 0&lt;/Text&gt;&#13;&#10;                    &lt;Text style={{ fontSize: 15.5, color: '#4A5568', lineHeight: 1.4 }}&gt;C_AI：AI 数据中心 IT 设计容量（MW_IT），跨芯片代际可比；可行＝水源与许可、给排水与再生水设施、基本服务、水质与风险阈值同时满足&lt;/Text&gt;&#13;&#10;                &lt;/Box&gt;&#13;&#10;            &lt;/Box&gt;&#13;&#10;        &lt;/Box&gt;&#13;&#10;        &lt;Box style={{ flexDirection: 'row', gap: 12, height: 116 }}&gt;&#13;&#10;            &lt;Box style={{ flex: 1, background: '#F7F9FC', border: '1px solid #D6DCE5', borderTop: '4px solid #1E4FA8', borderRadius: 6, padding: 12, flexDirection: 'column' }}&gt;&#13;&#10;                &lt;Box style={{ flexDirection: 'row', alignItems: 'center', gap: 8, marginBottom: 4 }}&gt;&#13;&#10;                    &lt;FAIcon name='city' style={{ fill: '#1E4FA8', width: 21, height: 21 }} /&gt;&#13;&#10;                    &lt;Text style={{ fontSize: 19, fontWeight: 'bold', color: '#0E3F8C' }}&gt;① 城市状态&lt;/Text&gt;&#13;&#10;                &lt;/Box&gt;&#13;&#10;                &lt;Text style={{ fontSize: 16, color: '#4A5568', lineHeight: 1.45 }}&gt;水源可供量、给排水处理能力、储存输配、既有需求与设施余量&lt;/Text&gt;&#13;&#10;            &lt;/Box&gt;&#13;&#10;            &lt;Box style={{ flex: 1, background: '#F7F9FC', border: '1px solid #D6DCE5', borderTop: '4px solid #1E4FA8', borderRadius: 6, padding: 12, flexDirection: 'column' }}&gt;&#13;&#10;                &lt;Box style={{ flexDirection: 'row', alignItems: 'center', gap: 8, marginBottom: 4 }}&gt;&#13;&#10;                    &lt;FAIcon name='server' style={{ fill: '#1E4FA8', width: 21, height: 21 }} /&gt;&#13;&#10;                    &lt;Text style={{ fontSize: 19, fontWeight: 'bold', color: '#0E3F8C' }}&gt;② 技术架构&lt;/Text&gt;&#13;&#10;                &lt;/Box&gt;&#13;&#10;                &lt;Text style={{ fontSize: 16, color: '#4A5568', lineHeight: 1.45 }}&gt;服务器侧热捕集、末端排热方式、PUE、浓缩倍数与回用比例&lt;/Text&gt;&#13;&#10;            &lt;/Box&gt;&#13;&#10;            &lt;Box style={{ flex: 1, background: '#F7F9FC', border: '1px solid #D6DCE5', borderTop: '4px solid #1E4FA8', borderRadius: 6, padding: 12, flexDirection: 'column' }}&gt;&#13;&#10;                &lt;Box style={{ flexDirection: 'row', alignItems: 'center', gap: 8, marginBottom: 4 }}&gt;&#13;&#10;                    &lt;FAIcon name='faucet-drip' style={{ fill: '#1E4FA8', width: 21, height: 21 }} /&gt;&#13;&#10;                    &lt;Text style={{ fontSize: 19, fontWeight: 'bold', color: '#0E3F8C' }}&gt;③ 水源政策&lt;/Text&gt;&#13;&#10;                &lt;/Box&gt;&#13;&#10;                &lt;Text style={{ fontSize: 16, color: '#4A5568', lineHeight: 1.45 }}&gt;再生水目标份额、取水许可与分配规则、水源配置意图与优先级&lt;/Text&gt;&#13;&#10;            &lt;/Box&gt;&#13;&#10;        &lt;/Box&gt;&#13;&#10;        &lt;Box style={{ flexDirection: 'row', gap: 12, height: 116 }}&gt;&#13;&#10;            &lt;Box style={{ flex: 1, background: '#F7F9FC', border: '1px solid #D6DCE5', borderTop: '4px solid #1E4FA8', borderRadius: 6, padding: 12, flexDirection: 'column' }}&gt;&#13;&#10;                &lt;Box style={{ flexDirection: 'row', alignItems: 'center', gap: 8, marginBottom: 4 }}&gt;&#13;&#10;                    &lt;FAIcon name='temperature-half' style={{ fill: '#1E4FA8', width: 21, height: 21 }} /&gt;&#13;&#10;                    &lt;Text style={{ fontSize: 19, fontWeight: 'bold', color: '#0E3F8C' }}&gt;④ 气候情景&lt;/Text&gt;&#13;&#10;                &lt;/Box&gt;&#13;&#10;                &lt;Text style={{ fontSize: 16, color: '#4A5568', lineHeight: 1.45 }}&gt;湿球温度序列、高温干旱复合事件、与需水峰值的重合关系&lt;/Text&gt;&#13;&#10;            &lt;/Box&gt;&#13;&#10;            &lt;Box style={{ flex: 1, background: '#F7F9FC', border: '1px solid #D6DCE5', borderTop: '4px solid #1E4FA8', borderRadius: 6, padding: 12, flexDirection: 'column' }}&gt;&#13;&#10;                &lt;Box style={{ flexDirection: 'row', alignItems: 'center', gap: 8, marginBottom: 4 }}&gt;&#13;&#10;                    &lt;FAIcon name='users' style={{ fill: '#1E4FA8', width: 21, height: 21 }} /&gt;&#13;&#10;                    &lt;Text style={{ fontSize: 19, fontWeight: 'bold', color: '#0E3F8C' }}&gt;⑤ 服务优先级&lt;/Text&gt;&#13;&#10;                &lt;/Box&gt;&#13;&#10;                &lt;Text style={{ fontSize: 16, color: '#4A5568', lineHeight: 1.45 }}&gt;居民基本用水与公共服务优先，可调度用户按规则削减&lt;/Text&gt;&#13;&#10;            &lt;/Box&gt;&#13;&#10;            &lt;Box style={{ flex: 1, background: '#F7F9FC', border: '1px solid #D6DCE5', borderTop: '4px solid #D9534F', borderRadius: 6, padding: 12, flexDirection: 'column' }}&gt;&#13;&#10;                &lt;Box style={{ flexDirection: 'row', alignItems: 'center', gap: 8, marginBottom: 4 }}&gt;&#13;&#10;                    &lt;FAIcon name='shield' style={{ fill: '#D9534F', width: 21, height: 21 }} /&gt;&#13;&#10;                    &lt;Text style={{ fontSize: 19, fontWeight: 'bold', color: '#0E3F8C' }}&gt;⑥ 风险容忍&lt;/Text&gt;&#13;&#10;                &lt;/Box&gt;&#13;&#10;                &lt;Text style={{ fontSize: 16, color: '#4A5568', lineHeight: 1.45 }}&gt;可接受的失效频率、持续时长、恢复时间与水质超标容许范围&lt;/Text&gt;&#13;&#10;            &lt;/Box&gt;&#13;&#10;        &lt;/Box&gt;&#13;&#10;    &lt;/Box&gt;&#13;&#10;    &lt;Box style={{ position: 'absolute', left: 0, top: 72, width: 6, height: 608, flexDirection: 'column' }}&gt;&#13;&#10;        &lt;Box style={{ width: 6, height: 122, background: '#C9D6E8' }} /&gt;&#13;&#10;        &lt;Box style={{ width: 6, height: 122, background: '#C9D6E8' }} /&gt;&#13;&#10;        &lt;Box style={{ width: 6, height: 122, background: '#FFC107' }} /&gt;&#13;&#10;        &lt;Box style={{ width: 6, height: 122, background: '#C9D6E8' }} /&gt;&#13;&#10;        &lt;Box style={{ width: 6, height: 120, background: '#C9D6E8' }} /&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13 / 36&lt;/Text&gt;&#13;&#10;    &lt;/Box&gt;&#13;&#10;&lt;/Slide&gt;&#13;&#10;"/>
        <p:cNvGrpSpPr/>
        <p:nvPr/>
      </p:nvGrpSpPr>
      <p:grpSpPr>
        <a:xfrm>
          <a:off x="0" y="0"/>
          <a:ext cx="0" cy="0"/>
          <a:chOff x="0" y="0"/>
          <a:chExt cx="0" cy="0"/>
        </a:xfrm>
      </p:grpSpPr>
      <p:sp>
        <p:nvSpPr>
          <p:cNvPr id="141" name="矩形 140"/>
          <p:cNvSpPr/>
          <p:nvPr/>
        </p:nvSpPr>
        <p:spPr>
          <a:xfrm>
            <a:off x="0" y="0"/>
            <a:ext cx="12192000" cy="6858000"/>
          </a:xfrm>
          <a:prstGeom prst="rect">
            <a:avLst/>
          </a:prstGeom>
          <a:solidFill>
            <a:srgbClr val="FFFFFF"/>
          </a:solidFill>
        </p:spPr>
        <p:txBody>
          <a:bodyPr/>
          <a:p/>
        </p:txBody>
      </p:sp>
      <p:sp>
        <p:nvSpPr>
          <p:cNvPr id="142" name="矩形 141"/>
          <p:cNvSpPr/>
          <p:nvPr/>
        </p:nvSpPr>
        <p:spPr>
          <a:xfrm>
            <a:off x="0" y="0"/>
            <a:ext cx="12192000" cy="685800"/>
          </a:xfrm>
          <a:prstGeom prst="rect">
            <a:avLst/>
          </a:prstGeom>
          <a:solidFill>
            <a:srgbClr val="0E3F8C"/>
          </a:solidFill>
        </p:spPr>
        <p:txBody>
          <a:bodyPr/>
          <a:p/>
        </p:txBody>
      </p:sp>
      <p:sp>
        <p:nvSpPr>
          <p:cNvPr id="143" name="圆角矩形 142"/>
          <p:cNvSpPr/>
          <p:nvPr/>
        </p:nvSpPr>
        <p:spPr>
          <a:xfrm>
            <a:off x="381000" y="152400"/>
            <a:ext cx="381000" cy="381000"/>
          </a:xfrm>
          <a:prstGeom prst="roundRect">
            <a:avLst>
              <a:gd name="adj" fmla="val 25000"/>
            </a:avLst>
          </a:prstGeom>
          <a:solidFill>
            <a:srgbClr val="12489A"/>
          </a:solidFill>
        </p:spPr>
        <p:txBody>
          <a:bodyPr/>
          <a:p/>
        </p:txBody>
      </p:sp>
      <p:pic>
        <p:nvPicPr>
          <p:cNvPr id="144" name="图片 143"/>
          <p:cNvPicPr>
            <a:picLocks noChangeAspect="1"/>
          </p:cNvPicPr>
          <p:nvPr/>
        </p:nvPicPr>
        <p:blipFill>
          <a:blip/>
          <a:stretch>
            <a:fillRect/>
          </a:stretch>
        </p:blipFill>
        <p:spPr>
          <a:xfrm>
            <a:off x="466725" y="238125"/>
            <a:ext cx="209550" cy="209550"/>
          </a:xfrm>
          <a:prstGeom prst="rect">
            <a:avLst/>
          </a:prstGeom>
        </p:spPr>
      </p:pic>
      <p:sp>
        <p:nvSpPr>
          <p:cNvPr id="145" name="文本框 144" descr="{&quot;isTemplate&quot;:true,&quot;type&quot;:&quot;text&quot;}"/>
          <p:cNvSpPr txBox="1"/>
          <p:nvPr/>
        </p:nvSpPr>
        <p:spPr>
          <a:xfrm>
            <a:off x="895350" y="180975"/>
            <a:ext cx="7038975" cy="333375"/>
          </a:xfrm>
          <a:prstGeom prst="rect">
            <a:avLst/>
          </a:prstGeom>
        </p:spPr>
        <p:txBody>
          <a:bodyPr wrap="none" lIns="0" tIns="0" rIns="0" bIns="0"/>
          <a:p>
            <a:pPr>
              <a:lnSpc>
                <a:spcPct val="100000"/>
              </a:lnSpc>
            </a:pPr>
            <a:r>
              <a:rPr lang="en-US" sz="2175" b="1">
                <a:solidFill>
                  <a:srgbClr val="FFFFFF"/>
                </a:solidFill>
                <a:latin typeface="微软雅黑" panose="020B0503020204020204" charset="-122"/>
                <a:ea typeface="微软雅黑" panose="020B0503020204020204" charset="-122"/>
              </a:rPr>
              <a:t>CAWCC</a:t>
            </a:r>
            <a:r>
              <a:rPr lang="zh-CN" sz="2175" b="1">
                <a:solidFill>
                  <a:srgbClr val="FFFFFF"/>
                </a:solidFill>
                <a:latin typeface="微软雅黑" panose="020B0503020204020204" charset="-122"/>
                <a:ea typeface="微软雅黑" panose="020B0503020204020204" charset="-122"/>
              </a:rPr>
              <a:t>：把城市资源状态与</a:t>
            </a:r>
            <a:r>
              <a:rPr lang="en-US" sz="2175" b="1">
                <a:solidFill>
                  <a:srgbClr val="FFFFFF"/>
                </a:solidFill>
                <a:latin typeface="微软雅黑" panose="020B0503020204020204" charset="-122"/>
                <a:ea typeface="微软雅黑" panose="020B0503020204020204" charset="-122"/>
              </a:rPr>
              <a:t> AI </a:t>
            </a:r>
            <a:r>
              <a:rPr lang="zh-CN" sz="2175" b="1">
                <a:solidFill>
                  <a:srgbClr val="FFFFFF"/>
                </a:solidFill>
                <a:latin typeface="微软雅黑" panose="020B0503020204020204" charset="-122"/>
                <a:ea typeface="微软雅黑" panose="020B0503020204020204" charset="-122"/>
              </a:rPr>
              <a:t>发展规模连成可计算边界</a:t>
            </a:r>
            <a:endParaRPr lang="zh-CN" sz="2175" b="1">
              <a:solidFill>
                <a:srgbClr val="FFFFFF"/>
              </a:solidFill>
              <a:latin typeface="微软雅黑" panose="020B0503020204020204" charset="-122"/>
              <a:ea typeface="微软雅黑" panose="020B0503020204020204" charset="-122"/>
            </a:endParaRPr>
          </a:p>
        </p:txBody>
      </p:sp>
      <p:sp>
        <p:nvSpPr>
          <p:cNvPr id="146" name="文本框 145"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03 </a:t>
            </a:r>
            <a:r>
              <a:rPr lang="zh-CN" sz="1125">
                <a:solidFill>
                  <a:srgbClr val="AFC6E8"/>
                </a:solidFill>
                <a:latin typeface="微软雅黑" panose="020B0503020204020204" charset="-122"/>
                <a:ea typeface="微软雅黑" panose="020B0503020204020204" charset="-122"/>
              </a:rPr>
              <a:t>科学问题、假设与研究内容</a:t>
            </a:r>
            <a:endParaRPr lang="zh-CN" sz="1125">
              <a:solidFill>
                <a:srgbClr val="AFC6E8"/>
              </a:solidFill>
              <a:latin typeface="微软雅黑" panose="020B0503020204020204" charset="-122"/>
              <a:ea typeface="微软雅黑" panose="020B0503020204020204" charset="-122"/>
            </a:endParaRPr>
          </a:p>
        </p:txBody>
      </p:sp>
      <p:sp>
        <p:nvSpPr>
          <p:cNvPr id="147" name="圆角矩形 146"/>
          <p:cNvSpPr/>
          <p:nvPr/>
        </p:nvSpPr>
        <p:spPr>
          <a:xfrm>
            <a:off x="11468100" y="238125"/>
            <a:ext cx="342900" cy="219075"/>
          </a:xfrm>
          <a:prstGeom prst="roundRect">
            <a:avLst>
              <a:gd name="adj" fmla="val 13043"/>
            </a:avLst>
          </a:prstGeom>
          <a:solidFill>
            <a:srgbClr val="FFC107"/>
          </a:solidFill>
        </p:spPr>
        <p:txBody>
          <a:bodyPr/>
          <a:p/>
        </p:txBody>
      </p:sp>
      <p:sp>
        <p:nvSpPr>
          <p:cNvPr id="148" name="文本框 147"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13</a:t>
            </a:r>
            <a:endParaRPr lang="en-US" sz="1050" b="1">
              <a:solidFill>
                <a:srgbClr val="0B3A82"/>
              </a:solidFill>
              <a:latin typeface="微软雅黑" panose="020B0503020204020204" charset="-122"/>
              <a:ea typeface="微软雅黑" panose="020B0503020204020204" charset="-122"/>
            </a:endParaRPr>
          </a:p>
        </p:txBody>
      </p:sp>
      <p:sp>
        <p:nvSpPr>
          <p:cNvPr id="149" name="圆角矩形 148"/>
          <p:cNvSpPr/>
          <p:nvPr/>
        </p:nvSpPr>
        <p:spPr>
          <a:xfrm>
            <a:off x="381000" y="800100"/>
            <a:ext cx="11430000" cy="438150"/>
          </a:xfrm>
          <a:prstGeom prst="roundRect">
            <a:avLst>
              <a:gd name="adj" fmla="val 8696"/>
            </a:avLst>
          </a:prstGeom>
          <a:solidFill>
            <a:srgbClr val="0B3A82"/>
          </a:solidFill>
        </p:spPr>
        <p:txBody>
          <a:bodyPr/>
          <a:p/>
        </p:txBody>
      </p:sp>
      <p:sp>
        <p:nvSpPr>
          <p:cNvPr id="150" name="文本框 149"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en-US" sz="1575">
                <a:solidFill>
                  <a:srgbClr val="FFFFFF"/>
                </a:solidFill>
                <a:latin typeface="微软雅黑" panose="020B0503020204020204" charset="-122"/>
                <a:ea typeface="微软雅黑" panose="020B0503020204020204" charset="-122"/>
              </a:rPr>
              <a:t>CAWCC </a:t>
            </a:r>
            <a:r>
              <a:rPr lang="zh-CN" sz="1575">
                <a:solidFill>
                  <a:srgbClr val="FFFFFF"/>
                </a:solidFill>
                <a:latin typeface="微软雅黑" panose="020B0503020204020204" charset="-122"/>
                <a:ea typeface="微软雅黑" panose="020B0503020204020204" charset="-122"/>
              </a:rPr>
              <a:t>随城市状态与管理选择变化，非固定常数；求解方式：连续增加</a:t>
            </a:r>
            <a:r>
              <a:rPr lang="en-US" sz="1575">
                <a:solidFill>
                  <a:srgbClr val="FFFFFF"/>
                </a:solidFill>
                <a:latin typeface="微软雅黑" panose="020B0503020204020204" charset="-122"/>
                <a:ea typeface="微软雅黑" panose="020B0503020204020204" charset="-122"/>
              </a:rPr>
              <a:t> AI </a:t>
            </a:r>
            <a:r>
              <a:rPr lang="zh-CN" sz="1575">
                <a:solidFill>
                  <a:srgbClr val="FFFFFF"/>
                </a:solidFill>
                <a:latin typeface="微软雅黑" panose="020B0503020204020204" charset="-122"/>
                <a:ea typeface="微软雅黑" panose="020B0503020204020204" charset="-122"/>
              </a:rPr>
              <a:t>容量，直至核心约束不再满足</a:t>
            </a:r>
            <a:endParaRPr lang="zh-CN" sz="1575">
              <a:solidFill>
                <a:srgbClr val="FFFFFF"/>
              </a:solidFill>
              <a:latin typeface="微软雅黑" panose="020B0503020204020204" charset="-122"/>
              <a:ea typeface="微软雅黑" panose="020B0503020204020204" charset="-122"/>
            </a:endParaRPr>
          </a:p>
        </p:txBody>
      </p:sp>
      <p:sp>
        <p:nvSpPr>
          <p:cNvPr id="151" name="圆角矩形 150"/>
          <p:cNvSpPr/>
          <p:nvPr/>
        </p:nvSpPr>
        <p:spPr>
          <a:xfrm>
            <a:off x="381000" y="1352550"/>
            <a:ext cx="4305300" cy="1971675"/>
          </a:xfrm>
          <a:prstGeom prst="roundRect">
            <a:avLst>
              <a:gd name="adj" fmla="val 2899"/>
            </a:avLst>
          </a:prstGeom>
          <a:solidFill>
            <a:srgbClr val="E8EFF8"/>
          </a:solidFill>
        </p:spPr>
        <p:txBody>
          <a:bodyPr/>
          <a:p/>
        </p:txBody>
      </p:sp>
      <p:sp>
        <p:nvSpPr>
          <p:cNvPr id="152" name="文本框 151" descr="{&quot;isTemplate&quot;:true,&quot;type&quot;:&quot;text&quot;}"/>
          <p:cNvSpPr txBox="1"/>
          <p:nvPr/>
        </p:nvSpPr>
        <p:spPr>
          <a:xfrm>
            <a:off x="514350" y="1485900"/>
            <a:ext cx="2686050" cy="781050"/>
          </a:xfrm>
          <a:prstGeom prst="rect">
            <a:avLst/>
          </a:prstGeom>
        </p:spPr>
        <p:txBody>
          <a:bodyPr wrap="none" lIns="0" tIns="0" rIns="0" bIns="0"/>
          <a:p>
            <a:pPr>
              <a:lnSpc>
                <a:spcPct val="110000"/>
              </a:lnSpc>
            </a:pPr>
            <a:r>
              <a:rPr lang="en-US" sz="4650" b="1">
                <a:solidFill>
                  <a:srgbClr val="0B3A82"/>
                </a:solidFill>
                <a:latin typeface="微软雅黑" panose="020B0503020204020204" charset="-122"/>
                <a:ea typeface="微软雅黑" panose="020B0503020204020204" charset="-122"/>
              </a:rPr>
              <a:t>CAWCC</a:t>
            </a:r>
            <a:endParaRPr lang="en-US" sz="4650" b="1">
              <a:solidFill>
                <a:srgbClr val="0B3A82"/>
              </a:solidFill>
              <a:latin typeface="微软雅黑" panose="020B0503020204020204" charset="-122"/>
              <a:ea typeface="微软雅黑" panose="020B0503020204020204" charset="-122"/>
            </a:endParaRPr>
          </a:p>
        </p:txBody>
      </p:sp>
      <p:sp>
        <p:nvSpPr>
          <p:cNvPr id="153" name="文本框 152" descr="{&quot;isTemplate&quot;:true,&quot;type&quot;:&quot;text&quot;}"/>
          <p:cNvSpPr txBox="1"/>
          <p:nvPr/>
        </p:nvSpPr>
        <p:spPr>
          <a:xfrm>
            <a:off x="514350" y="2324100"/>
            <a:ext cx="2686050" cy="533400"/>
          </a:xfrm>
          <a:prstGeom prst="rect">
            <a:avLst/>
          </a:prstGeom>
        </p:spPr>
        <p:txBody>
          <a:bodyPr wrap="square" lIns="0" tIns="0" rIns="0" bIns="0">
            <a:normAutofit/>
          </a:bodyPr>
          <a:p>
            <a:pPr>
              <a:lnSpc>
                <a:spcPct val="135000"/>
              </a:lnSpc>
            </a:pPr>
            <a:r>
              <a:rPr lang="en-US" sz="1275">
                <a:solidFill>
                  <a:srgbClr val="0E3F8C"/>
                </a:solidFill>
                <a:latin typeface="微软雅黑" panose="020B0503020204020204" charset="-122"/>
                <a:ea typeface="微软雅黑" panose="020B0503020204020204" charset="-122"/>
              </a:rPr>
              <a:t>Conditional AI Water-system Carrying Capacity</a:t>
            </a:r>
            <a:endParaRPr lang="en-US" sz="1275">
              <a:solidFill>
                <a:srgbClr val="0E3F8C"/>
              </a:solidFill>
              <a:latin typeface="微软雅黑" panose="020B0503020204020204" charset="-122"/>
              <a:ea typeface="微软雅黑" panose="020B0503020204020204" charset="-122"/>
            </a:endParaRPr>
          </a:p>
        </p:txBody>
      </p:sp>
      <p:sp>
        <p:nvSpPr>
          <p:cNvPr id="154" name="文本框 153" descr="{&quot;isTemplate&quot;:true,&quot;type&quot;:&quot;text&quot;}"/>
          <p:cNvSpPr txBox="1"/>
          <p:nvPr/>
        </p:nvSpPr>
        <p:spPr>
          <a:xfrm>
            <a:off x="514350" y="2895600"/>
            <a:ext cx="2686050" cy="295275"/>
          </a:xfrm>
          <a:prstGeom prst="rect">
            <a:avLst/>
          </a:prstGeom>
        </p:spPr>
        <p:txBody>
          <a:bodyPr wrap="none" lIns="0" tIns="0" rIns="0" bIns="0"/>
          <a:p>
            <a:pPr>
              <a:lnSpc>
                <a:spcPct val="135000"/>
              </a:lnSpc>
            </a:pPr>
            <a:r>
              <a:rPr lang="zh-CN" sz="1425">
                <a:solidFill>
                  <a:srgbClr val="4A5568"/>
                </a:solidFill>
                <a:latin typeface="微软雅黑" panose="020B0503020204020204" charset="-122"/>
                <a:ea typeface="微软雅黑" panose="020B0503020204020204" charset="-122"/>
              </a:rPr>
              <a:t>条件化</a:t>
            </a:r>
            <a:r>
              <a:rPr lang="en-US" sz="1425">
                <a:solidFill>
                  <a:srgbClr val="4A5568"/>
                </a:solidFill>
                <a:latin typeface="微软雅黑" panose="020B0503020204020204" charset="-122"/>
                <a:ea typeface="微软雅黑" panose="020B0503020204020204" charset="-122"/>
              </a:rPr>
              <a:t> AI </a:t>
            </a:r>
            <a:r>
              <a:rPr lang="zh-CN" sz="1425">
                <a:solidFill>
                  <a:srgbClr val="4A5568"/>
                </a:solidFill>
                <a:latin typeface="微软雅黑" panose="020B0503020204020204" charset="-122"/>
                <a:ea typeface="微软雅黑" panose="020B0503020204020204" charset="-122"/>
              </a:rPr>
              <a:t>水系统承载容量</a:t>
            </a:r>
            <a:endParaRPr lang="zh-CN" sz="1425">
              <a:solidFill>
                <a:srgbClr val="4A5568"/>
              </a:solidFill>
              <a:latin typeface="微软雅黑" panose="020B0503020204020204" charset="-122"/>
              <a:ea typeface="微软雅黑" panose="020B0503020204020204" charset="-122"/>
            </a:endParaRPr>
          </a:p>
        </p:txBody>
      </p:sp>
      <p:pic>
        <p:nvPicPr>
          <p:cNvPr id="155" name="图片 15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95650" y="1714500"/>
            <a:ext cx="1257300" cy="1257300"/>
          </a:xfrm>
          <a:prstGeom prst="rect">
            <a:avLst/>
          </a:prstGeom>
        </p:spPr>
      </p:pic>
      <p:sp>
        <p:nvSpPr>
          <p:cNvPr id="156" name="圆角矩形 155"/>
          <p:cNvSpPr/>
          <p:nvPr/>
        </p:nvSpPr>
        <p:spPr>
          <a:xfrm>
            <a:off x="4819650" y="1352550"/>
            <a:ext cx="6991350" cy="933450"/>
          </a:xfrm>
          <a:prstGeom prst="roundRect">
            <a:avLst>
              <a:gd name="adj" fmla="val 6122"/>
            </a:avLst>
          </a:prstGeom>
          <a:solidFill>
            <a:srgbClr val="0E3F8C"/>
          </a:solidFill>
        </p:spPr>
        <p:txBody>
          <a:bodyPr/>
          <a:p/>
        </p:txBody>
      </p:sp>
      <p:sp>
        <p:nvSpPr>
          <p:cNvPr id="157" name="文本框 156" descr="{&quot;isTemplate&quot;:true,&quot;type&quot;:&quot;text&quot;}"/>
          <p:cNvSpPr txBox="1"/>
          <p:nvPr/>
        </p:nvSpPr>
        <p:spPr>
          <a:xfrm>
            <a:off x="4953000" y="1485900"/>
            <a:ext cx="6724650" cy="666750"/>
          </a:xfrm>
          <a:prstGeom prst="rect">
            <a:avLst/>
          </a:prstGeom>
        </p:spPr>
        <p:txBody>
          <a:bodyPr wrap="square" lIns="0" tIns="0" rIns="0" bIns="0">
            <a:normAutofit/>
          </a:bodyPr>
          <a:p>
            <a:pPr>
              <a:lnSpc>
                <a:spcPct val="145000"/>
              </a:lnSpc>
            </a:pPr>
            <a:r>
              <a:rPr lang="zh-CN" sz="1500" b="1">
                <a:solidFill>
                  <a:srgbClr val="FFFFFF"/>
                </a:solidFill>
                <a:latin typeface="微软雅黑" panose="020B0503020204020204" charset="-122"/>
                <a:ea typeface="微软雅黑" panose="020B0503020204020204" charset="-122"/>
              </a:rPr>
              <a:t>定义：给定城市状态、技术架构、水源政策、气候情景、服务优先级与风险容忍条件下，城市水系统可支持的最大可行</a:t>
            </a:r>
            <a:r>
              <a:rPr lang="en-US" sz="1500" b="1">
                <a:solidFill>
                  <a:srgbClr val="FFFFFF"/>
                </a:solidFill>
                <a:latin typeface="微软雅黑" panose="020B0503020204020204" charset="-122"/>
                <a:ea typeface="微软雅黑" panose="020B0503020204020204" charset="-122"/>
              </a:rPr>
              <a:t> AI </a:t>
            </a:r>
            <a:r>
              <a:rPr lang="zh-CN" sz="1500" b="1">
                <a:solidFill>
                  <a:srgbClr val="FFFFFF"/>
                </a:solidFill>
                <a:latin typeface="微软雅黑" panose="020B0503020204020204" charset="-122"/>
                <a:ea typeface="微软雅黑" panose="020B0503020204020204" charset="-122"/>
              </a:rPr>
              <a:t>容量</a:t>
            </a:r>
            <a:endParaRPr lang="zh-CN" sz="1500" b="1">
              <a:solidFill>
                <a:srgbClr val="FFFFFF"/>
              </a:solidFill>
              <a:latin typeface="微软雅黑" panose="020B0503020204020204" charset="-122"/>
              <a:ea typeface="微软雅黑" panose="020B0503020204020204" charset="-122"/>
            </a:endParaRPr>
          </a:p>
        </p:txBody>
      </p:sp>
      <p:sp>
        <p:nvSpPr>
          <p:cNvPr id="158" name="圆角矩形 157"/>
          <p:cNvSpPr/>
          <p:nvPr/>
        </p:nvSpPr>
        <p:spPr>
          <a:xfrm>
            <a:off x="4819650" y="2381250"/>
            <a:ext cx="6991350" cy="1009650"/>
          </a:xfrm>
          <a:prstGeom prst="roundRect">
            <a:avLst>
              <a:gd name="adj" fmla="val 5660"/>
            </a:avLst>
          </a:prstGeom>
          <a:solidFill>
            <a:srgbClr val="F0F5FC"/>
          </a:solidFill>
          <a:ln w="12700">
            <a:solidFill>
              <a:srgbClr val="D6DCE5"/>
            </a:solidFill>
            <a:prstDash val="solid"/>
          </a:ln>
        </p:spPr>
        <p:txBody>
          <a:bodyPr/>
          <a:p/>
        </p:txBody>
      </p:sp>
      <p:sp>
        <p:nvSpPr>
          <p:cNvPr id="159" name="文本框 158" descr="{&quot;isTemplate&quot;:true,&quot;type&quot;:&quot;text&quot;}"/>
          <p:cNvSpPr txBox="1"/>
          <p:nvPr/>
        </p:nvSpPr>
        <p:spPr>
          <a:xfrm>
            <a:off x="4933950" y="2495550"/>
            <a:ext cx="6762750" cy="228600"/>
          </a:xfrm>
          <a:prstGeom prst="rect">
            <a:avLst/>
          </a:prstGeom>
        </p:spPr>
        <p:txBody>
          <a:bodyPr wrap="none" lIns="0" tIns="0" rIns="0" bIns="0"/>
          <a:p>
            <a:pPr>
              <a:lnSpc>
                <a:spcPct val="100000"/>
              </a:lnSpc>
            </a:pPr>
            <a:r>
              <a:rPr lang="en-US" sz="1500" b="1">
                <a:solidFill>
                  <a:srgbClr val="0B3A82"/>
                </a:solidFill>
                <a:latin typeface="微软雅黑" panose="020B0503020204020204" charset="-122"/>
                <a:ea typeface="微软雅黑" panose="020B0503020204020204" charset="-122"/>
              </a:rPr>
              <a:t>CAWCC = max C_AI</a:t>
            </a:r>
            <a:r>
              <a:rPr lang="zh-CN" sz="1500" b="1">
                <a:solidFill>
                  <a:srgbClr val="0B3A82"/>
                </a:solidFill>
                <a:latin typeface="微软雅黑" panose="020B0503020204020204" charset="-122"/>
                <a:ea typeface="微软雅黑" panose="020B0503020204020204" charset="-122"/>
              </a:rPr>
              <a:t>　　</a:t>
            </a:r>
            <a:r>
              <a:rPr lang="en-US" sz="1500" b="1">
                <a:solidFill>
                  <a:srgbClr val="0B3A82"/>
                </a:solidFill>
                <a:latin typeface="微软雅黑" panose="020B0503020204020204" charset="-122"/>
                <a:ea typeface="微软雅黑" panose="020B0503020204020204" charset="-122"/>
              </a:rPr>
              <a:t>s.t.</a:t>
            </a:r>
            <a:r>
              <a:rPr lang="zh-CN" sz="1500" b="1">
                <a:solidFill>
                  <a:srgbClr val="0B3A82"/>
                </a:solidFill>
                <a:latin typeface="微软雅黑" panose="020B0503020204020204" charset="-122"/>
                <a:ea typeface="微软雅黑" panose="020B0503020204020204" charset="-122"/>
              </a:rPr>
              <a:t>　</a:t>
            </a:r>
            <a:r>
              <a:rPr lang="en-US" sz="1500" b="1">
                <a:solidFill>
                  <a:srgbClr val="0B3A82"/>
                </a:solidFill>
                <a:latin typeface="微软雅黑" panose="020B0503020204020204" charset="-122"/>
                <a:ea typeface="微软雅黑" panose="020B0503020204020204" charset="-122"/>
              </a:rPr>
              <a:t>g_j(C_AI, X) ≤ 0</a:t>
            </a:r>
            <a:endParaRPr lang="en-US" sz="1500" b="1">
              <a:solidFill>
                <a:srgbClr val="0B3A82"/>
              </a:solidFill>
              <a:latin typeface="微软雅黑" panose="020B0503020204020204" charset="-122"/>
              <a:ea typeface="微软雅黑" panose="020B0503020204020204" charset="-122"/>
            </a:endParaRPr>
          </a:p>
        </p:txBody>
      </p:sp>
      <p:sp>
        <p:nvSpPr>
          <p:cNvPr id="160" name="文本框 159" descr="{&quot;isTemplate&quot;:true,&quot;type&quot;:&quot;text&quot;}"/>
          <p:cNvSpPr txBox="1"/>
          <p:nvPr/>
        </p:nvSpPr>
        <p:spPr>
          <a:xfrm>
            <a:off x="4933950" y="2771775"/>
            <a:ext cx="6762750" cy="504825"/>
          </a:xfrm>
          <a:prstGeom prst="rect">
            <a:avLst/>
          </a:prstGeom>
        </p:spPr>
        <p:txBody>
          <a:bodyPr wrap="square" lIns="0" tIns="0" rIns="0" bIns="0">
            <a:normAutofit/>
          </a:bodyPr>
          <a:p>
            <a:pPr>
              <a:lnSpc>
                <a:spcPct val="140000"/>
              </a:lnSpc>
            </a:pPr>
            <a:r>
              <a:rPr lang="en-US" sz="1165">
                <a:solidFill>
                  <a:srgbClr val="4A5568"/>
                </a:solidFill>
                <a:latin typeface="微软雅黑" panose="020B0503020204020204" charset="-122"/>
                <a:ea typeface="微软雅黑" panose="020B0503020204020204" charset="-122"/>
              </a:rPr>
              <a:t>C_AI</a:t>
            </a:r>
            <a:r>
              <a:rPr lang="zh-CN" sz="1165">
                <a:solidFill>
                  <a:srgbClr val="4A5568"/>
                </a:solidFill>
                <a:latin typeface="微软雅黑" panose="020B0503020204020204" charset="-122"/>
                <a:ea typeface="微软雅黑" panose="020B0503020204020204" charset="-122"/>
              </a:rPr>
              <a:t>：</a:t>
            </a:r>
            <a:r>
              <a:rPr lang="en-US" sz="1165">
                <a:solidFill>
                  <a:srgbClr val="4A5568"/>
                </a:solidFill>
                <a:latin typeface="微软雅黑" panose="020B0503020204020204" charset="-122"/>
                <a:ea typeface="微软雅黑" panose="020B0503020204020204" charset="-122"/>
              </a:rPr>
              <a:t>AI </a:t>
            </a:r>
            <a:r>
              <a:rPr lang="zh-CN" sz="1165">
                <a:solidFill>
                  <a:srgbClr val="4A5568"/>
                </a:solidFill>
                <a:latin typeface="微软雅黑" panose="020B0503020204020204" charset="-122"/>
                <a:ea typeface="微软雅黑" panose="020B0503020204020204" charset="-122"/>
              </a:rPr>
              <a:t>数据中心</a:t>
            </a:r>
            <a:r>
              <a:rPr lang="en-US" sz="1165">
                <a:solidFill>
                  <a:srgbClr val="4A5568"/>
                </a:solidFill>
                <a:latin typeface="微软雅黑" panose="020B0503020204020204" charset="-122"/>
                <a:ea typeface="微软雅黑" panose="020B0503020204020204" charset="-122"/>
              </a:rPr>
              <a:t> IT </a:t>
            </a:r>
            <a:r>
              <a:rPr lang="zh-CN" sz="1165">
                <a:solidFill>
                  <a:srgbClr val="4A5568"/>
                </a:solidFill>
                <a:latin typeface="微软雅黑" panose="020B0503020204020204" charset="-122"/>
                <a:ea typeface="微软雅黑" panose="020B0503020204020204" charset="-122"/>
              </a:rPr>
              <a:t>设计容量（</a:t>
            </a:r>
            <a:r>
              <a:rPr lang="en-US" sz="1165">
                <a:solidFill>
                  <a:srgbClr val="4A5568"/>
                </a:solidFill>
                <a:latin typeface="微软雅黑" panose="020B0503020204020204" charset="-122"/>
                <a:ea typeface="微软雅黑" panose="020B0503020204020204" charset="-122"/>
              </a:rPr>
              <a:t>MW_IT</a:t>
            </a:r>
            <a:r>
              <a:rPr lang="zh-CN" sz="1165">
                <a:solidFill>
                  <a:srgbClr val="4A5568"/>
                </a:solidFill>
                <a:latin typeface="微软雅黑" panose="020B0503020204020204" charset="-122"/>
                <a:ea typeface="微软雅黑" panose="020B0503020204020204" charset="-122"/>
              </a:rPr>
              <a:t>），跨芯片代际可比；可行＝水源与许可、给排水与再生水设施、基本服务、水质与风险阈值同时满足</a:t>
            </a:r>
            <a:endParaRPr lang="zh-CN" sz="1165">
              <a:solidFill>
                <a:srgbClr val="4A5568"/>
              </a:solidFill>
              <a:latin typeface="微软雅黑" panose="020B0503020204020204" charset="-122"/>
              <a:ea typeface="微软雅黑" panose="020B0503020204020204" charset="-122"/>
            </a:endParaRPr>
          </a:p>
        </p:txBody>
      </p:sp>
      <p:sp>
        <p:nvSpPr>
          <p:cNvPr id="161" name="圆角矩形 160"/>
          <p:cNvSpPr/>
          <p:nvPr/>
        </p:nvSpPr>
        <p:spPr>
          <a:xfrm>
            <a:off x="381000" y="3371850"/>
            <a:ext cx="3733800" cy="1104900"/>
          </a:xfrm>
          <a:prstGeom prst="roundRect">
            <a:avLst>
              <a:gd name="adj" fmla="val 5172"/>
            </a:avLst>
          </a:prstGeom>
          <a:solidFill>
            <a:srgbClr val="F7F9FC"/>
          </a:solidFill>
        </p:spPr>
        <p:txBody>
          <a:bodyPr/>
          <a:p/>
        </p:txBody>
      </p:sp>
      <p:sp>
        <p:nvSpPr>
          <p:cNvPr id="162" name="任意多边形 161"/>
          <p:cNvSpPr/>
          <p:nvPr/>
        </p:nvSpPr>
        <p:spPr>
          <a:xfrm>
            <a:off x="381000" y="3371850"/>
            <a:ext cx="3733800" cy="1104900"/>
          </a:xfrm>
          <a:custGeom>
            <a:avLst/>
            <a:gdLst/>
            <a:ahLst/>
            <a:cxnLst/>
            <a:pathLst>
              <a:path w="392" h="116">
                <a:moveTo>
                  <a:pt x="386" y="0"/>
                </a:moveTo>
                <a:cubicBezTo>
                  <a:pt x="389" y="0"/>
                  <a:pt x="392" y="2"/>
                  <a:pt x="392" y="5"/>
                </a:cubicBezTo>
                <a:cubicBezTo>
                  <a:pt x="392" y="5"/>
                  <a:pt x="391" y="4"/>
                  <a:pt x="390" y="4"/>
                </a:cubicBezTo>
                <a:lnTo>
                  <a:pt x="2" y="4"/>
                </a:lnTo>
                <a:cubicBezTo>
                  <a:pt x="1" y="4"/>
                  <a:pt x="0" y="5"/>
                  <a:pt x="0" y="6"/>
                </a:cubicBezTo>
                <a:cubicBezTo>
                  <a:pt x="0" y="3"/>
                  <a:pt x="3" y="0"/>
                  <a:pt x="6" y="0"/>
                </a:cubicBezTo>
                <a:lnTo>
                  <a:pt x="386" y="0"/>
                </a:lnTo>
                <a:close/>
              </a:path>
            </a:pathLst>
          </a:custGeom>
          <a:solidFill>
            <a:srgbClr val="1E4FA8"/>
          </a:solidFill>
        </p:spPr>
        <p:txBody>
          <a:bodyPr/>
          <a:p/>
        </p:txBody>
      </p:sp>
      <p:pic>
        <p:nvPicPr>
          <p:cNvPr id="163" name="图片 162"/>
          <p:cNvPicPr>
            <a:picLocks noChangeAspect="1"/>
          </p:cNvPicPr>
          <p:nvPr/>
        </p:nvPicPr>
        <p:blipFill>
          <a:blip/>
          <a:stretch>
            <a:fillRect/>
          </a:stretch>
        </p:blipFill>
        <p:spPr>
          <a:xfrm>
            <a:off x="495300" y="3495675"/>
            <a:ext cx="200025" cy="200025"/>
          </a:xfrm>
          <a:prstGeom prst="rect">
            <a:avLst/>
          </a:prstGeom>
        </p:spPr>
      </p:pic>
      <p:sp>
        <p:nvSpPr>
          <p:cNvPr id="164" name="文本框 163" descr="{&quot;isTemplate&quot;:true,&quot;type&quot;:&quot;text&quot;}"/>
          <p:cNvSpPr txBox="1"/>
          <p:nvPr/>
        </p:nvSpPr>
        <p:spPr>
          <a:xfrm>
            <a:off x="771525" y="3486150"/>
            <a:ext cx="962025" cy="219075"/>
          </a:xfrm>
          <a:prstGeom prst="rect">
            <a:avLst/>
          </a:prstGeom>
        </p:spPr>
        <p:txBody>
          <a:bodyPr wrap="none" lIns="0" tIns="0" rIns="0" bIns="0"/>
          <a:p>
            <a:pPr>
              <a:lnSpc>
                <a:spcPct val="100000"/>
              </a:lnSpc>
            </a:pPr>
            <a:r>
              <a:rPr lang="en-US" sz="1425" b="1">
                <a:solidFill>
                  <a:srgbClr val="0E3F8C"/>
                </a:solidFill>
                <a:latin typeface="微软雅黑" panose="020B0503020204020204" charset="-122"/>
                <a:ea typeface="微软雅黑" panose="020B0503020204020204" charset="-122"/>
              </a:rPr>
              <a:t>① </a:t>
            </a:r>
            <a:r>
              <a:rPr lang="zh-CN" sz="1425" b="1">
                <a:solidFill>
                  <a:srgbClr val="0E3F8C"/>
                </a:solidFill>
                <a:latin typeface="微软雅黑" panose="020B0503020204020204" charset="-122"/>
                <a:ea typeface="微软雅黑" panose="020B0503020204020204" charset="-122"/>
              </a:rPr>
              <a:t>城市状态</a:t>
            </a:r>
            <a:endParaRPr lang="zh-CN" sz="1425" b="1">
              <a:solidFill>
                <a:srgbClr val="0E3F8C"/>
              </a:solidFill>
              <a:latin typeface="微软雅黑" panose="020B0503020204020204" charset="-122"/>
              <a:ea typeface="微软雅黑" panose="020B0503020204020204" charset="-122"/>
            </a:endParaRPr>
          </a:p>
        </p:txBody>
      </p:sp>
      <p:sp>
        <p:nvSpPr>
          <p:cNvPr id="165" name="文本框 164" descr="{&quot;isTemplate&quot;:true,&quot;type&quot;:&quot;text&quot;}"/>
          <p:cNvSpPr txBox="1"/>
          <p:nvPr/>
        </p:nvSpPr>
        <p:spPr>
          <a:xfrm>
            <a:off x="495300" y="3743325"/>
            <a:ext cx="3505200"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水源可供量、给排水处理能力、储存输配、既有需求与设施余量</a:t>
            </a:r>
            <a:endParaRPr lang="zh-CN" sz="1200">
              <a:solidFill>
                <a:srgbClr val="4A5568"/>
              </a:solidFill>
              <a:latin typeface="微软雅黑" panose="020B0503020204020204" charset="-122"/>
              <a:ea typeface="微软雅黑" panose="020B0503020204020204" charset="-122"/>
            </a:endParaRPr>
          </a:p>
        </p:txBody>
      </p:sp>
      <p:sp>
        <p:nvSpPr>
          <p:cNvPr id="166" name="圆角矩形 165"/>
          <p:cNvSpPr/>
          <p:nvPr/>
        </p:nvSpPr>
        <p:spPr>
          <a:xfrm>
            <a:off x="4229100" y="3371850"/>
            <a:ext cx="3733800" cy="1104900"/>
          </a:xfrm>
          <a:prstGeom prst="roundRect">
            <a:avLst>
              <a:gd name="adj" fmla="val 5172"/>
            </a:avLst>
          </a:prstGeom>
          <a:solidFill>
            <a:srgbClr val="F7F9FC"/>
          </a:solidFill>
        </p:spPr>
        <p:txBody>
          <a:bodyPr/>
          <a:p/>
        </p:txBody>
      </p:sp>
      <p:sp>
        <p:nvSpPr>
          <p:cNvPr id="167" name="任意多边形 166"/>
          <p:cNvSpPr/>
          <p:nvPr/>
        </p:nvSpPr>
        <p:spPr>
          <a:xfrm>
            <a:off x="4229100" y="3371850"/>
            <a:ext cx="3733800" cy="1104900"/>
          </a:xfrm>
          <a:custGeom>
            <a:avLst/>
            <a:gdLst/>
            <a:ahLst/>
            <a:cxnLst/>
            <a:pathLst>
              <a:path w="392" h="116">
                <a:moveTo>
                  <a:pt x="386" y="0"/>
                </a:moveTo>
                <a:cubicBezTo>
                  <a:pt x="389" y="0"/>
                  <a:pt x="392" y="2"/>
                  <a:pt x="392" y="5"/>
                </a:cubicBezTo>
                <a:cubicBezTo>
                  <a:pt x="392" y="5"/>
                  <a:pt x="391" y="4"/>
                  <a:pt x="390" y="4"/>
                </a:cubicBezTo>
                <a:lnTo>
                  <a:pt x="2" y="4"/>
                </a:lnTo>
                <a:cubicBezTo>
                  <a:pt x="1" y="4"/>
                  <a:pt x="0" y="5"/>
                  <a:pt x="0" y="6"/>
                </a:cubicBezTo>
                <a:cubicBezTo>
                  <a:pt x="0" y="3"/>
                  <a:pt x="3" y="0"/>
                  <a:pt x="6" y="0"/>
                </a:cubicBezTo>
                <a:lnTo>
                  <a:pt x="386" y="0"/>
                </a:lnTo>
                <a:close/>
              </a:path>
            </a:pathLst>
          </a:custGeom>
          <a:solidFill>
            <a:srgbClr val="1E4FA8"/>
          </a:solidFill>
        </p:spPr>
        <p:txBody>
          <a:bodyPr/>
          <a:p/>
        </p:txBody>
      </p:sp>
      <p:pic>
        <p:nvPicPr>
          <p:cNvPr id="168" name="图片 167"/>
          <p:cNvPicPr>
            <a:picLocks noChangeAspect="1"/>
          </p:cNvPicPr>
          <p:nvPr/>
        </p:nvPicPr>
        <p:blipFill>
          <a:blip/>
          <a:stretch>
            <a:fillRect/>
          </a:stretch>
        </p:blipFill>
        <p:spPr>
          <a:xfrm>
            <a:off x="4343400" y="3495675"/>
            <a:ext cx="200025" cy="200025"/>
          </a:xfrm>
          <a:prstGeom prst="rect">
            <a:avLst/>
          </a:prstGeom>
        </p:spPr>
      </p:pic>
      <p:sp>
        <p:nvSpPr>
          <p:cNvPr id="169" name="文本框 168" descr="{&quot;isTemplate&quot;:true,&quot;type&quot;:&quot;text&quot;}"/>
          <p:cNvSpPr txBox="1"/>
          <p:nvPr/>
        </p:nvSpPr>
        <p:spPr>
          <a:xfrm>
            <a:off x="4619625" y="3486150"/>
            <a:ext cx="962025" cy="219075"/>
          </a:xfrm>
          <a:prstGeom prst="rect">
            <a:avLst/>
          </a:prstGeom>
        </p:spPr>
        <p:txBody>
          <a:bodyPr wrap="none" lIns="0" tIns="0" rIns="0" bIns="0"/>
          <a:p>
            <a:pPr>
              <a:lnSpc>
                <a:spcPct val="100000"/>
              </a:lnSpc>
            </a:pPr>
            <a:r>
              <a:rPr lang="en-US" sz="1425" b="1">
                <a:solidFill>
                  <a:srgbClr val="0E3F8C"/>
                </a:solidFill>
                <a:latin typeface="微软雅黑" panose="020B0503020204020204" charset="-122"/>
                <a:ea typeface="微软雅黑" panose="020B0503020204020204" charset="-122"/>
              </a:rPr>
              <a:t>② </a:t>
            </a:r>
            <a:r>
              <a:rPr lang="zh-CN" sz="1425" b="1">
                <a:solidFill>
                  <a:srgbClr val="0E3F8C"/>
                </a:solidFill>
                <a:latin typeface="微软雅黑" panose="020B0503020204020204" charset="-122"/>
                <a:ea typeface="微软雅黑" panose="020B0503020204020204" charset="-122"/>
              </a:rPr>
              <a:t>技术架构</a:t>
            </a:r>
            <a:endParaRPr lang="zh-CN" sz="1425" b="1">
              <a:solidFill>
                <a:srgbClr val="0E3F8C"/>
              </a:solidFill>
              <a:latin typeface="微软雅黑" panose="020B0503020204020204" charset="-122"/>
              <a:ea typeface="微软雅黑" panose="020B0503020204020204" charset="-122"/>
            </a:endParaRPr>
          </a:p>
        </p:txBody>
      </p:sp>
      <p:sp>
        <p:nvSpPr>
          <p:cNvPr id="170" name="文本框 169" descr="{&quot;isTemplate&quot;:true,&quot;type&quot;:&quot;text&quot;}"/>
          <p:cNvSpPr txBox="1"/>
          <p:nvPr/>
        </p:nvSpPr>
        <p:spPr>
          <a:xfrm>
            <a:off x="4343400" y="3743325"/>
            <a:ext cx="3505200"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服务器侧热捕集、末端排热方式、</a:t>
            </a:r>
            <a:r>
              <a:rPr lang="en-US" sz="1200">
                <a:solidFill>
                  <a:srgbClr val="4A5568"/>
                </a:solidFill>
                <a:latin typeface="微软雅黑" panose="020B0503020204020204" charset="-122"/>
                <a:ea typeface="微软雅黑" panose="020B0503020204020204" charset="-122"/>
              </a:rPr>
              <a:t>PUE</a:t>
            </a:r>
            <a:r>
              <a:rPr lang="zh-CN" sz="1200">
                <a:solidFill>
                  <a:srgbClr val="4A5568"/>
                </a:solidFill>
                <a:latin typeface="微软雅黑" panose="020B0503020204020204" charset="-122"/>
                <a:ea typeface="微软雅黑" panose="020B0503020204020204" charset="-122"/>
              </a:rPr>
              <a:t>、浓缩倍数与回用比例</a:t>
            </a:r>
            <a:endParaRPr lang="zh-CN" sz="1200">
              <a:solidFill>
                <a:srgbClr val="4A5568"/>
              </a:solidFill>
              <a:latin typeface="微软雅黑" panose="020B0503020204020204" charset="-122"/>
              <a:ea typeface="微软雅黑" panose="020B0503020204020204" charset="-122"/>
            </a:endParaRPr>
          </a:p>
        </p:txBody>
      </p:sp>
      <p:sp>
        <p:nvSpPr>
          <p:cNvPr id="171" name="圆角矩形 170"/>
          <p:cNvSpPr/>
          <p:nvPr/>
        </p:nvSpPr>
        <p:spPr>
          <a:xfrm>
            <a:off x="8077200" y="3371850"/>
            <a:ext cx="3733800" cy="1104900"/>
          </a:xfrm>
          <a:prstGeom prst="roundRect">
            <a:avLst>
              <a:gd name="adj" fmla="val 5172"/>
            </a:avLst>
          </a:prstGeom>
          <a:solidFill>
            <a:srgbClr val="F7F9FC"/>
          </a:solidFill>
        </p:spPr>
        <p:txBody>
          <a:bodyPr/>
          <a:p/>
        </p:txBody>
      </p:sp>
      <p:sp>
        <p:nvSpPr>
          <p:cNvPr id="172" name="任意多边形 171"/>
          <p:cNvSpPr/>
          <p:nvPr/>
        </p:nvSpPr>
        <p:spPr>
          <a:xfrm>
            <a:off x="8077200" y="3371850"/>
            <a:ext cx="3733800" cy="1104900"/>
          </a:xfrm>
          <a:custGeom>
            <a:avLst/>
            <a:gdLst/>
            <a:ahLst/>
            <a:cxnLst/>
            <a:pathLst>
              <a:path w="392" h="116">
                <a:moveTo>
                  <a:pt x="386" y="0"/>
                </a:moveTo>
                <a:cubicBezTo>
                  <a:pt x="389" y="0"/>
                  <a:pt x="392" y="2"/>
                  <a:pt x="392" y="5"/>
                </a:cubicBezTo>
                <a:cubicBezTo>
                  <a:pt x="392" y="5"/>
                  <a:pt x="391" y="4"/>
                  <a:pt x="390" y="4"/>
                </a:cubicBezTo>
                <a:lnTo>
                  <a:pt x="2" y="4"/>
                </a:lnTo>
                <a:cubicBezTo>
                  <a:pt x="1" y="4"/>
                  <a:pt x="0" y="5"/>
                  <a:pt x="0" y="6"/>
                </a:cubicBezTo>
                <a:cubicBezTo>
                  <a:pt x="0" y="3"/>
                  <a:pt x="3" y="0"/>
                  <a:pt x="6" y="0"/>
                </a:cubicBezTo>
                <a:lnTo>
                  <a:pt x="386" y="0"/>
                </a:lnTo>
                <a:close/>
              </a:path>
            </a:pathLst>
          </a:custGeom>
          <a:solidFill>
            <a:srgbClr val="1E4FA8"/>
          </a:solidFill>
        </p:spPr>
        <p:txBody>
          <a:bodyPr/>
          <a:p/>
        </p:txBody>
      </p:sp>
      <p:pic>
        <p:nvPicPr>
          <p:cNvPr id="173" name="图片 172"/>
          <p:cNvPicPr>
            <a:picLocks noChangeAspect="1"/>
          </p:cNvPicPr>
          <p:nvPr/>
        </p:nvPicPr>
        <p:blipFill>
          <a:blip/>
          <a:stretch>
            <a:fillRect/>
          </a:stretch>
        </p:blipFill>
        <p:spPr>
          <a:xfrm>
            <a:off x="8191500" y="3495675"/>
            <a:ext cx="200025" cy="200025"/>
          </a:xfrm>
          <a:prstGeom prst="rect">
            <a:avLst/>
          </a:prstGeom>
        </p:spPr>
      </p:pic>
      <p:sp>
        <p:nvSpPr>
          <p:cNvPr id="174" name="文本框 173" descr="{&quot;isTemplate&quot;:true,&quot;type&quot;:&quot;text&quot;}"/>
          <p:cNvSpPr txBox="1"/>
          <p:nvPr/>
        </p:nvSpPr>
        <p:spPr>
          <a:xfrm>
            <a:off x="8467725" y="3486150"/>
            <a:ext cx="962025" cy="219075"/>
          </a:xfrm>
          <a:prstGeom prst="rect">
            <a:avLst/>
          </a:prstGeom>
        </p:spPr>
        <p:txBody>
          <a:bodyPr wrap="none" lIns="0" tIns="0" rIns="0" bIns="0"/>
          <a:p>
            <a:pPr>
              <a:lnSpc>
                <a:spcPct val="100000"/>
              </a:lnSpc>
            </a:pPr>
            <a:r>
              <a:rPr lang="en-US" sz="1425" b="1">
                <a:solidFill>
                  <a:srgbClr val="0E3F8C"/>
                </a:solidFill>
                <a:latin typeface="微软雅黑" panose="020B0503020204020204" charset="-122"/>
                <a:ea typeface="微软雅黑" panose="020B0503020204020204" charset="-122"/>
              </a:rPr>
              <a:t>③ </a:t>
            </a:r>
            <a:r>
              <a:rPr lang="zh-CN" sz="1425" b="1">
                <a:solidFill>
                  <a:srgbClr val="0E3F8C"/>
                </a:solidFill>
                <a:latin typeface="微软雅黑" panose="020B0503020204020204" charset="-122"/>
                <a:ea typeface="微软雅黑" panose="020B0503020204020204" charset="-122"/>
              </a:rPr>
              <a:t>水源政策</a:t>
            </a:r>
            <a:endParaRPr lang="zh-CN" sz="1425" b="1">
              <a:solidFill>
                <a:srgbClr val="0E3F8C"/>
              </a:solidFill>
              <a:latin typeface="微软雅黑" panose="020B0503020204020204" charset="-122"/>
              <a:ea typeface="微软雅黑" panose="020B0503020204020204" charset="-122"/>
            </a:endParaRPr>
          </a:p>
        </p:txBody>
      </p:sp>
      <p:sp>
        <p:nvSpPr>
          <p:cNvPr id="175" name="文本框 174" descr="{&quot;isTemplate&quot;:true,&quot;type&quot;:&quot;text&quot;}"/>
          <p:cNvSpPr txBox="1"/>
          <p:nvPr/>
        </p:nvSpPr>
        <p:spPr>
          <a:xfrm>
            <a:off x="8191500" y="3743325"/>
            <a:ext cx="3505200"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再生水目标份额、取水许可与分配规则、水源配置意图与优先级</a:t>
            </a:r>
            <a:endParaRPr lang="zh-CN" sz="1200">
              <a:solidFill>
                <a:srgbClr val="4A5568"/>
              </a:solidFill>
              <a:latin typeface="微软雅黑" panose="020B0503020204020204" charset="-122"/>
              <a:ea typeface="微软雅黑" panose="020B0503020204020204" charset="-122"/>
            </a:endParaRPr>
          </a:p>
        </p:txBody>
      </p:sp>
      <p:sp>
        <p:nvSpPr>
          <p:cNvPr id="176" name="圆角矩形 175"/>
          <p:cNvSpPr/>
          <p:nvPr/>
        </p:nvSpPr>
        <p:spPr>
          <a:xfrm>
            <a:off x="381000" y="4591050"/>
            <a:ext cx="3733800" cy="1104900"/>
          </a:xfrm>
          <a:prstGeom prst="roundRect">
            <a:avLst>
              <a:gd name="adj" fmla="val 5172"/>
            </a:avLst>
          </a:prstGeom>
          <a:solidFill>
            <a:srgbClr val="F7F9FC"/>
          </a:solidFill>
        </p:spPr>
        <p:txBody>
          <a:bodyPr/>
          <a:p/>
        </p:txBody>
      </p:sp>
      <p:sp>
        <p:nvSpPr>
          <p:cNvPr id="177" name="任意多边形 176"/>
          <p:cNvSpPr/>
          <p:nvPr/>
        </p:nvSpPr>
        <p:spPr>
          <a:xfrm>
            <a:off x="381000" y="4591050"/>
            <a:ext cx="3733800" cy="1104900"/>
          </a:xfrm>
          <a:custGeom>
            <a:avLst/>
            <a:gdLst/>
            <a:ahLst/>
            <a:cxnLst/>
            <a:pathLst>
              <a:path w="392" h="116">
                <a:moveTo>
                  <a:pt x="386" y="0"/>
                </a:moveTo>
                <a:cubicBezTo>
                  <a:pt x="389" y="0"/>
                  <a:pt x="392" y="2"/>
                  <a:pt x="392" y="5"/>
                </a:cubicBezTo>
                <a:cubicBezTo>
                  <a:pt x="392" y="5"/>
                  <a:pt x="391" y="4"/>
                  <a:pt x="390" y="4"/>
                </a:cubicBezTo>
                <a:lnTo>
                  <a:pt x="2" y="4"/>
                </a:lnTo>
                <a:cubicBezTo>
                  <a:pt x="1" y="4"/>
                  <a:pt x="0" y="5"/>
                  <a:pt x="0" y="6"/>
                </a:cubicBezTo>
                <a:cubicBezTo>
                  <a:pt x="0" y="3"/>
                  <a:pt x="3" y="0"/>
                  <a:pt x="6" y="0"/>
                </a:cubicBezTo>
                <a:lnTo>
                  <a:pt x="386" y="0"/>
                </a:lnTo>
                <a:close/>
              </a:path>
            </a:pathLst>
          </a:custGeom>
          <a:solidFill>
            <a:srgbClr val="1E4FA8"/>
          </a:solidFill>
        </p:spPr>
        <p:txBody>
          <a:bodyPr/>
          <a:p/>
        </p:txBody>
      </p:sp>
      <p:pic>
        <p:nvPicPr>
          <p:cNvPr id="178" name="图片 177"/>
          <p:cNvPicPr>
            <a:picLocks noChangeAspect="1"/>
          </p:cNvPicPr>
          <p:nvPr/>
        </p:nvPicPr>
        <p:blipFill>
          <a:blip/>
          <a:stretch>
            <a:fillRect/>
          </a:stretch>
        </p:blipFill>
        <p:spPr>
          <a:xfrm>
            <a:off x="495300" y="4714875"/>
            <a:ext cx="200025" cy="200025"/>
          </a:xfrm>
          <a:prstGeom prst="rect">
            <a:avLst/>
          </a:prstGeom>
        </p:spPr>
      </p:pic>
      <p:sp>
        <p:nvSpPr>
          <p:cNvPr id="179" name="文本框 178" descr="{&quot;isTemplate&quot;:true,&quot;type&quot;:&quot;text&quot;}"/>
          <p:cNvSpPr txBox="1"/>
          <p:nvPr/>
        </p:nvSpPr>
        <p:spPr>
          <a:xfrm>
            <a:off x="771525" y="4705350"/>
            <a:ext cx="962025" cy="219075"/>
          </a:xfrm>
          <a:prstGeom prst="rect">
            <a:avLst/>
          </a:prstGeom>
        </p:spPr>
        <p:txBody>
          <a:bodyPr wrap="none" lIns="0" tIns="0" rIns="0" bIns="0"/>
          <a:p>
            <a:pPr>
              <a:lnSpc>
                <a:spcPct val="100000"/>
              </a:lnSpc>
            </a:pPr>
            <a:r>
              <a:rPr lang="en-US" sz="1425" b="1">
                <a:solidFill>
                  <a:srgbClr val="0E3F8C"/>
                </a:solidFill>
                <a:latin typeface="微软雅黑" panose="020B0503020204020204" charset="-122"/>
                <a:ea typeface="微软雅黑" panose="020B0503020204020204" charset="-122"/>
              </a:rPr>
              <a:t>④ </a:t>
            </a:r>
            <a:r>
              <a:rPr lang="zh-CN" sz="1425" b="1">
                <a:solidFill>
                  <a:srgbClr val="0E3F8C"/>
                </a:solidFill>
                <a:latin typeface="微软雅黑" panose="020B0503020204020204" charset="-122"/>
                <a:ea typeface="微软雅黑" panose="020B0503020204020204" charset="-122"/>
              </a:rPr>
              <a:t>气候情景</a:t>
            </a:r>
            <a:endParaRPr lang="zh-CN" sz="1425" b="1">
              <a:solidFill>
                <a:srgbClr val="0E3F8C"/>
              </a:solidFill>
              <a:latin typeface="微软雅黑" panose="020B0503020204020204" charset="-122"/>
              <a:ea typeface="微软雅黑" panose="020B0503020204020204" charset="-122"/>
            </a:endParaRPr>
          </a:p>
        </p:txBody>
      </p:sp>
      <p:sp>
        <p:nvSpPr>
          <p:cNvPr id="180" name="文本框 179" descr="{&quot;isTemplate&quot;:true,&quot;type&quot;:&quot;text&quot;}"/>
          <p:cNvSpPr txBox="1"/>
          <p:nvPr/>
        </p:nvSpPr>
        <p:spPr>
          <a:xfrm>
            <a:off x="495300" y="4962525"/>
            <a:ext cx="3505200"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湿球温度序列、高温干旱复合事件、与需水峰值的重合关系</a:t>
            </a:r>
            <a:endParaRPr lang="zh-CN" sz="1200">
              <a:solidFill>
                <a:srgbClr val="4A5568"/>
              </a:solidFill>
              <a:latin typeface="微软雅黑" panose="020B0503020204020204" charset="-122"/>
              <a:ea typeface="微软雅黑" panose="020B0503020204020204" charset="-122"/>
            </a:endParaRPr>
          </a:p>
        </p:txBody>
      </p:sp>
      <p:sp>
        <p:nvSpPr>
          <p:cNvPr id="181" name="圆角矩形 180"/>
          <p:cNvSpPr/>
          <p:nvPr/>
        </p:nvSpPr>
        <p:spPr>
          <a:xfrm>
            <a:off x="4229100" y="4591050"/>
            <a:ext cx="3733800" cy="1104900"/>
          </a:xfrm>
          <a:prstGeom prst="roundRect">
            <a:avLst>
              <a:gd name="adj" fmla="val 5172"/>
            </a:avLst>
          </a:prstGeom>
          <a:solidFill>
            <a:srgbClr val="F7F9FC"/>
          </a:solidFill>
        </p:spPr>
        <p:txBody>
          <a:bodyPr/>
          <a:p/>
        </p:txBody>
      </p:sp>
      <p:sp>
        <p:nvSpPr>
          <p:cNvPr id="182" name="任意多边形 181"/>
          <p:cNvSpPr/>
          <p:nvPr/>
        </p:nvSpPr>
        <p:spPr>
          <a:xfrm>
            <a:off x="4229100" y="4591050"/>
            <a:ext cx="3733800" cy="1104900"/>
          </a:xfrm>
          <a:custGeom>
            <a:avLst/>
            <a:gdLst/>
            <a:ahLst/>
            <a:cxnLst/>
            <a:pathLst>
              <a:path w="392" h="116">
                <a:moveTo>
                  <a:pt x="386" y="0"/>
                </a:moveTo>
                <a:cubicBezTo>
                  <a:pt x="389" y="0"/>
                  <a:pt x="392" y="2"/>
                  <a:pt x="392" y="5"/>
                </a:cubicBezTo>
                <a:cubicBezTo>
                  <a:pt x="392" y="5"/>
                  <a:pt x="391" y="4"/>
                  <a:pt x="390" y="4"/>
                </a:cubicBezTo>
                <a:lnTo>
                  <a:pt x="2" y="4"/>
                </a:lnTo>
                <a:cubicBezTo>
                  <a:pt x="1" y="4"/>
                  <a:pt x="0" y="5"/>
                  <a:pt x="0" y="6"/>
                </a:cubicBezTo>
                <a:cubicBezTo>
                  <a:pt x="0" y="3"/>
                  <a:pt x="3" y="0"/>
                  <a:pt x="6" y="0"/>
                </a:cubicBezTo>
                <a:lnTo>
                  <a:pt x="386" y="0"/>
                </a:lnTo>
                <a:close/>
              </a:path>
            </a:pathLst>
          </a:custGeom>
          <a:solidFill>
            <a:srgbClr val="1E4FA8"/>
          </a:solidFill>
        </p:spPr>
        <p:txBody>
          <a:bodyPr/>
          <a:p/>
        </p:txBody>
      </p:sp>
      <p:pic>
        <p:nvPicPr>
          <p:cNvPr id="183" name="图片 182"/>
          <p:cNvPicPr>
            <a:picLocks noChangeAspect="1"/>
          </p:cNvPicPr>
          <p:nvPr/>
        </p:nvPicPr>
        <p:blipFill>
          <a:blip/>
          <a:stretch>
            <a:fillRect/>
          </a:stretch>
        </p:blipFill>
        <p:spPr>
          <a:xfrm>
            <a:off x="4343400" y="4714875"/>
            <a:ext cx="200025" cy="200025"/>
          </a:xfrm>
          <a:prstGeom prst="rect">
            <a:avLst/>
          </a:prstGeom>
        </p:spPr>
      </p:pic>
      <p:sp>
        <p:nvSpPr>
          <p:cNvPr id="184" name="文本框 183" descr="{&quot;isTemplate&quot;:true,&quot;type&quot;:&quot;text&quot;}"/>
          <p:cNvSpPr txBox="1"/>
          <p:nvPr/>
        </p:nvSpPr>
        <p:spPr>
          <a:xfrm>
            <a:off x="4619625" y="4705350"/>
            <a:ext cx="1143000" cy="219075"/>
          </a:xfrm>
          <a:prstGeom prst="rect">
            <a:avLst/>
          </a:prstGeom>
        </p:spPr>
        <p:txBody>
          <a:bodyPr wrap="none" lIns="0" tIns="0" rIns="0" bIns="0"/>
          <a:p>
            <a:pPr>
              <a:lnSpc>
                <a:spcPct val="100000"/>
              </a:lnSpc>
            </a:pPr>
            <a:r>
              <a:rPr lang="en-US" sz="1425" b="1">
                <a:solidFill>
                  <a:srgbClr val="0E3F8C"/>
                </a:solidFill>
                <a:latin typeface="微软雅黑" panose="020B0503020204020204" charset="-122"/>
                <a:ea typeface="微软雅黑" panose="020B0503020204020204" charset="-122"/>
              </a:rPr>
              <a:t>⑤ </a:t>
            </a:r>
            <a:r>
              <a:rPr lang="zh-CN" sz="1425" b="1">
                <a:solidFill>
                  <a:srgbClr val="0E3F8C"/>
                </a:solidFill>
                <a:latin typeface="微软雅黑" panose="020B0503020204020204" charset="-122"/>
                <a:ea typeface="微软雅黑" panose="020B0503020204020204" charset="-122"/>
              </a:rPr>
              <a:t>服务优先级</a:t>
            </a:r>
            <a:endParaRPr lang="zh-CN" sz="1425" b="1">
              <a:solidFill>
                <a:srgbClr val="0E3F8C"/>
              </a:solidFill>
              <a:latin typeface="微软雅黑" panose="020B0503020204020204" charset="-122"/>
              <a:ea typeface="微软雅黑" panose="020B0503020204020204" charset="-122"/>
            </a:endParaRPr>
          </a:p>
        </p:txBody>
      </p:sp>
      <p:sp>
        <p:nvSpPr>
          <p:cNvPr id="185" name="文本框 184" descr="{&quot;isTemplate&quot;:true,&quot;type&quot;:&quot;text&quot;}"/>
          <p:cNvSpPr txBox="1"/>
          <p:nvPr/>
        </p:nvSpPr>
        <p:spPr>
          <a:xfrm>
            <a:off x="4343400" y="4962525"/>
            <a:ext cx="3505200"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居民基本用水与公共服务优先，可调度用户按规则削减</a:t>
            </a:r>
            <a:endParaRPr lang="zh-CN" sz="1200">
              <a:solidFill>
                <a:srgbClr val="4A5568"/>
              </a:solidFill>
              <a:latin typeface="微软雅黑" panose="020B0503020204020204" charset="-122"/>
              <a:ea typeface="微软雅黑" panose="020B0503020204020204" charset="-122"/>
            </a:endParaRPr>
          </a:p>
        </p:txBody>
      </p:sp>
      <p:sp>
        <p:nvSpPr>
          <p:cNvPr id="186" name="圆角矩形 185"/>
          <p:cNvSpPr/>
          <p:nvPr/>
        </p:nvSpPr>
        <p:spPr>
          <a:xfrm>
            <a:off x="8077200" y="4591050"/>
            <a:ext cx="3733800" cy="1104900"/>
          </a:xfrm>
          <a:prstGeom prst="roundRect">
            <a:avLst>
              <a:gd name="adj" fmla="val 5172"/>
            </a:avLst>
          </a:prstGeom>
          <a:solidFill>
            <a:srgbClr val="F7F9FC"/>
          </a:solidFill>
        </p:spPr>
        <p:txBody>
          <a:bodyPr/>
          <a:p/>
        </p:txBody>
      </p:sp>
      <p:sp>
        <p:nvSpPr>
          <p:cNvPr id="187" name="任意多边形 186"/>
          <p:cNvSpPr/>
          <p:nvPr/>
        </p:nvSpPr>
        <p:spPr>
          <a:xfrm>
            <a:off x="8077200" y="4591050"/>
            <a:ext cx="3733800" cy="1104900"/>
          </a:xfrm>
          <a:custGeom>
            <a:avLst/>
            <a:gdLst/>
            <a:ahLst/>
            <a:cxnLst/>
            <a:pathLst>
              <a:path w="392" h="116">
                <a:moveTo>
                  <a:pt x="386" y="0"/>
                </a:moveTo>
                <a:cubicBezTo>
                  <a:pt x="389" y="0"/>
                  <a:pt x="392" y="2"/>
                  <a:pt x="392" y="5"/>
                </a:cubicBezTo>
                <a:cubicBezTo>
                  <a:pt x="392" y="5"/>
                  <a:pt x="391" y="4"/>
                  <a:pt x="390" y="4"/>
                </a:cubicBezTo>
                <a:lnTo>
                  <a:pt x="2" y="4"/>
                </a:lnTo>
                <a:cubicBezTo>
                  <a:pt x="1" y="4"/>
                  <a:pt x="0" y="5"/>
                  <a:pt x="0" y="6"/>
                </a:cubicBezTo>
                <a:cubicBezTo>
                  <a:pt x="0" y="3"/>
                  <a:pt x="3" y="0"/>
                  <a:pt x="6" y="0"/>
                </a:cubicBezTo>
                <a:lnTo>
                  <a:pt x="386" y="0"/>
                </a:lnTo>
                <a:close/>
              </a:path>
            </a:pathLst>
          </a:custGeom>
          <a:solidFill>
            <a:srgbClr val="D9534F"/>
          </a:solidFill>
        </p:spPr>
        <p:txBody>
          <a:bodyPr/>
          <a:p/>
        </p:txBody>
      </p:sp>
      <p:pic>
        <p:nvPicPr>
          <p:cNvPr id="188" name="图片 187"/>
          <p:cNvPicPr>
            <a:picLocks noChangeAspect="1"/>
          </p:cNvPicPr>
          <p:nvPr/>
        </p:nvPicPr>
        <p:blipFill>
          <a:blip/>
          <a:stretch>
            <a:fillRect/>
          </a:stretch>
        </p:blipFill>
        <p:spPr>
          <a:xfrm>
            <a:off x="8191500" y="4714875"/>
            <a:ext cx="200025" cy="200025"/>
          </a:xfrm>
          <a:prstGeom prst="rect">
            <a:avLst/>
          </a:prstGeom>
        </p:spPr>
      </p:pic>
      <p:sp>
        <p:nvSpPr>
          <p:cNvPr id="189" name="文本框 188" descr="{&quot;isTemplate&quot;:true,&quot;type&quot;:&quot;text&quot;}"/>
          <p:cNvSpPr txBox="1"/>
          <p:nvPr/>
        </p:nvSpPr>
        <p:spPr>
          <a:xfrm>
            <a:off x="8467725" y="4705350"/>
            <a:ext cx="962025" cy="219075"/>
          </a:xfrm>
          <a:prstGeom prst="rect">
            <a:avLst/>
          </a:prstGeom>
        </p:spPr>
        <p:txBody>
          <a:bodyPr wrap="none" lIns="0" tIns="0" rIns="0" bIns="0"/>
          <a:p>
            <a:pPr>
              <a:lnSpc>
                <a:spcPct val="100000"/>
              </a:lnSpc>
            </a:pPr>
            <a:r>
              <a:rPr lang="en-US" sz="1425" b="1">
                <a:solidFill>
                  <a:srgbClr val="0E3F8C"/>
                </a:solidFill>
                <a:latin typeface="微软雅黑" panose="020B0503020204020204" charset="-122"/>
                <a:ea typeface="微软雅黑" panose="020B0503020204020204" charset="-122"/>
              </a:rPr>
              <a:t>⑥ </a:t>
            </a:r>
            <a:r>
              <a:rPr lang="zh-CN" sz="1425" b="1">
                <a:solidFill>
                  <a:srgbClr val="0E3F8C"/>
                </a:solidFill>
                <a:latin typeface="微软雅黑" panose="020B0503020204020204" charset="-122"/>
                <a:ea typeface="微软雅黑" panose="020B0503020204020204" charset="-122"/>
              </a:rPr>
              <a:t>风险容忍</a:t>
            </a:r>
            <a:endParaRPr lang="zh-CN" sz="1425" b="1">
              <a:solidFill>
                <a:srgbClr val="0E3F8C"/>
              </a:solidFill>
              <a:latin typeface="微软雅黑" panose="020B0503020204020204" charset="-122"/>
              <a:ea typeface="微软雅黑" panose="020B0503020204020204" charset="-122"/>
            </a:endParaRPr>
          </a:p>
        </p:txBody>
      </p:sp>
      <p:sp>
        <p:nvSpPr>
          <p:cNvPr id="190" name="文本框 189" descr="{&quot;isTemplate&quot;:true,&quot;type&quot;:&quot;text&quot;}"/>
          <p:cNvSpPr txBox="1"/>
          <p:nvPr/>
        </p:nvSpPr>
        <p:spPr>
          <a:xfrm>
            <a:off x="8191500" y="4962525"/>
            <a:ext cx="3505200"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可接受的失效频率、持续时长、恢复时间与水质超标容许范围</a:t>
            </a:r>
            <a:endParaRPr lang="zh-CN" sz="1200">
              <a:solidFill>
                <a:srgbClr val="4A5568"/>
              </a:solidFill>
              <a:latin typeface="微软雅黑" panose="020B0503020204020204" charset="-122"/>
              <a:ea typeface="微软雅黑" panose="020B0503020204020204" charset="-122"/>
            </a:endParaRPr>
          </a:p>
        </p:txBody>
      </p:sp>
      <p:sp>
        <p:nvSpPr>
          <p:cNvPr id="191" name="任意多边形 190"/>
          <p:cNvSpPr/>
          <p:nvPr/>
        </p:nvSpPr>
        <p:spPr>
          <a:xfrm>
            <a:off x="0" y="57340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92" name="文本框 191" descr="{&quot;isTemplate&quot;:true,&quot;type&quot;:&quot;text&quot;}"/>
          <p:cNvSpPr txBox="1"/>
          <p:nvPr/>
        </p:nvSpPr>
        <p:spPr>
          <a:xfrm>
            <a:off x="381000" y="58483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93" name="文本框 192" descr="{&quot;isTemplate&quot;:true,&quot;type&quot;:&quot;text&quot;}"/>
          <p:cNvSpPr txBox="1"/>
          <p:nvPr/>
        </p:nvSpPr>
        <p:spPr>
          <a:xfrm>
            <a:off x="11353800" y="58483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13 / 36</a:t>
            </a:r>
            <a:endParaRPr lang="en-US" sz="1050">
              <a:solidFill>
                <a:srgbClr val="1E4FA8"/>
              </a:solidFill>
              <a:latin typeface="微软雅黑" panose="020B0503020204020204" charset="-122"/>
              <a:ea typeface="微软雅黑" panose="020B0503020204020204" charset="-122"/>
            </a:endParaRPr>
          </a:p>
        </p:txBody>
      </p:sp>
      <p:sp>
        <p:nvSpPr>
          <p:cNvPr id="194" name="矩形 193"/>
          <p:cNvSpPr/>
          <p:nvPr/>
        </p:nvSpPr>
        <p:spPr>
          <a:xfrm>
            <a:off x="0" y="685800"/>
            <a:ext cx="57150" cy="1162050"/>
          </a:xfrm>
          <a:prstGeom prst="rect">
            <a:avLst/>
          </a:prstGeom>
          <a:solidFill>
            <a:srgbClr val="C9D6E8"/>
          </a:solidFill>
        </p:spPr>
        <p:txBody>
          <a:bodyPr/>
          <a:p/>
        </p:txBody>
      </p:sp>
      <p:sp>
        <p:nvSpPr>
          <p:cNvPr id="195" name="矩形 194"/>
          <p:cNvSpPr/>
          <p:nvPr/>
        </p:nvSpPr>
        <p:spPr>
          <a:xfrm>
            <a:off x="0" y="1847850"/>
            <a:ext cx="57150" cy="1162050"/>
          </a:xfrm>
          <a:prstGeom prst="rect">
            <a:avLst/>
          </a:prstGeom>
          <a:solidFill>
            <a:srgbClr val="C9D6E8"/>
          </a:solidFill>
        </p:spPr>
        <p:txBody>
          <a:bodyPr/>
          <a:p/>
        </p:txBody>
      </p:sp>
      <p:sp>
        <p:nvSpPr>
          <p:cNvPr id="196" name="矩形 195"/>
          <p:cNvSpPr/>
          <p:nvPr/>
        </p:nvSpPr>
        <p:spPr>
          <a:xfrm>
            <a:off x="0" y="3009900"/>
            <a:ext cx="57150" cy="1162050"/>
          </a:xfrm>
          <a:prstGeom prst="rect">
            <a:avLst/>
          </a:prstGeom>
          <a:solidFill>
            <a:srgbClr val="FFC107"/>
          </a:solidFill>
        </p:spPr>
        <p:txBody>
          <a:bodyPr/>
          <a:p/>
        </p:txBody>
      </p:sp>
      <p:sp>
        <p:nvSpPr>
          <p:cNvPr id="197" name="矩形 196"/>
          <p:cNvSpPr/>
          <p:nvPr/>
        </p:nvSpPr>
        <p:spPr>
          <a:xfrm>
            <a:off x="0" y="4171950"/>
            <a:ext cx="57150" cy="1162050"/>
          </a:xfrm>
          <a:prstGeom prst="rect">
            <a:avLst/>
          </a:prstGeom>
          <a:solidFill>
            <a:srgbClr val="C9D6E8"/>
          </a:solidFill>
        </p:spPr>
        <p:txBody>
          <a:bodyPr/>
          <a:p/>
        </p:txBody>
      </p:sp>
      <p:sp>
        <p:nvSpPr>
          <p:cNvPr id="198" name="矩形 197"/>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99"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flask' style={{ fill: '#FFC107', width: 22, height: 22 }} /&gt;&#13;&#10;        &lt;/Box&gt;&#13;&#10;            &lt;Text style={{ fontSize: 29, fontWeight: 'bold', color: '#FFFFFF' }}&gt;三个科学问题沿代谢响应、时间尺度与瓶颈控制逐级递进&lt;/Text&gt;&#13;&#10;        &lt;/Box&gt;&#13;&#10;        &lt;Box style={{ flexDirection: 'row', alignItems: 'center', gap: 10 }}&gt;&#13;&#10;            &lt;Text style={{ fontSize: 15, color: '#AFC6E8' }}&gt;03 科学问题、假设与研究内容&lt;/Text&gt;&#13;&#10;            &lt;Box style={{ background: '#FFC107', paddingLeft: 9, paddingRight: 9, paddingTop: 3, paddingBottom: 3, borderRadius: 3, justifyContent: 'center', alignItems: 'center' }}&gt;&#13;&#10;                &lt;Text style={{ fontSize: 14, color: '#0B3A82', fontWeight: 'bold' }}&gt;14&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总问题分解为三个递进子问题，分别回答发生了什么、边界为何不同、边界由谁控制&lt;/Text&gt;&#13;&#10;        &lt;/Box&gt;&#13;&#10;        &lt;Box style={{ height: 136, background: '#F7F9FC', border: '1px solid #D6DCE5', borderLeft: '6px solid #1E4FA8', borderRadius: 6, padding: 14, flexDirection: 'row', gap: 14 }}&gt;&#13;&#10;            &lt;Box style={{ width: 62, height: 62, background: '#1E4FA8', borderRadius: 6, justifyContent: 'center', alignItems: 'center' }}&gt;&#13;&#10;                &lt;Text style={{ fontSize: 24, color: '#FFFFFF', fontWeight: 'bold' }}&gt;Q1&lt;/Text&gt;&#13;&#10;            &lt;/Box&gt;&#13;&#10;            &lt;Box style={{ flex: 1, flexDirection: 'column' }}&gt;&#13;&#10;                &lt;Text style={{ fontSize: 23, fontWeight: 'bold', color: '#0E3F8C' }}&gt;科学问题一　代谢响应&lt;/Text&gt;&#13;&#10;                &lt;Text style={{ fontSize: 18, color: '#1A2230', lineHeight: 1.5, marginTop: 4 }}&gt;AI 设施经怎样的取水、消耗、回流与再生链条影响城市水系统？接近设施剩余容量时，响应何时由水量增加转为结构重构？&lt;/Text&gt;&#13;&#10;            &lt;/Box&gt;&#13;&#10;            &lt;Box style={{ width: 300, background: '#E8EFF8', borderRadius: 4, padding: 10 }}&gt;&#13;&#10;                &lt;Text style={{ fontSize: 16, color: '#0E3F8C', lineHeight: 1.45 }}&gt;&lt;span style={{ fontWeight: 'bold' }}&gt;处理路径：&lt;/span&gt;沿容量梯度改变负荷率、冷却架构与水源配置，设普通工业对照，识别转折容量区间&lt;/Text&gt;&#13;&#10;            &lt;/Box&gt;&#13;&#10;        &lt;/Box&gt;&#13;&#10;        &lt;Box style={{ height: 136, background: '#F7F9FC', border: '1px solid #D6DCE5', borderLeft: '6px solid #1E4FA8', borderRadius: 6, padding: 14, flexDirection: 'row', gap: 14 }}&gt;&#13;&#10;            &lt;Box style={{ width: 62, height: 62, background: '#1E4FA8', borderRadius: 6, justifyContent: 'center', alignItems: 'center' }}&gt;&#13;&#10;                &lt;Text style={{ fontSize: 24, color: '#FFFFFF', fontWeight: 'bold' }}&gt;Q2&lt;/Text&gt;&#13;&#10;            &lt;/Box&gt;&#13;&#10;            &lt;Box style={{ flex: 1, flexDirection: 'column' }}&gt;&#13;&#10;                &lt;Text style={{ fontSize: 23, fontWeight: 'bold', color: '#0E3F8C' }}&gt;科学问题二　时间尺度边界&lt;/Text&gt;&#13;&#10;                &lt;Text style={{ fontSize: 18, color: '#1A2230', lineHeight: 1.5, marginTop: 4 }}&gt;负荷连续性、冷却高温敏感性与峰值耦合，如何造成年均、日尺度与极端小时边界的差异？&lt;/Text&gt;&#13;&#10;            &lt;/Box&gt;&#13;&#10;            &lt;Box style={{ width: 300, background: '#E8EFF8', borderRadius: 4, padding: 10 }}&gt;&#13;&#10;                &lt;Text style={{ fontSize: 16, color: '#0E3F8C', lineHeight: 1.45 }}&gt;&lt;span style={{ fontWeight: 'bold' }}&gt;处理路径：&lt;/span&gt;同一城市状态分别求解年均、日尺度与极端周小时边界，逐步叠加高温与干旱，量化边界提前量&lt;/Text&gt;&#13;&#10;            &lt;/Box&gt;&#13;&#10;        &lt;/Box&gt;&#13;&#10;        &lt;Box style={{ height: 136, background: '#F7F9FC', border: '1px solid #D6DCE5', borderLeft: '6px solid #1E4FA8', borderRadius: 6, padding: 14, flexDirection: 'row', gap: 14 }}&gt;&#13;&#10;            &lt;Box style={{ width: 62, height: 62, background: '#1E4FA8', borderRadius: 6, justifyContent: 'center', alignItems: 'center' }}&gt;&#13;&#10;                &lt;Text style={{ fontSize: 24, color: '#FFFFFF', fontWeight: 'bold' }}&gt;Q3&lt;/Text&gt;&#13;&#10;            &lt;/Box&gt;&#13;&#10;            &lt;Box style={{ flex: 1, flexDirection: 'column' }}&gt;&#13;&#10;                &lt;Text style={{ fontSize: 23, fontWeight: 'bold', color: '#0E3F8C' }}&gt;科学问题三　瓶颈转换&lt;/Text&gt;&#13;&#10;                &lt;Text style={{ fontSize: 18, color: '#1A2230', lineHeight: 1.5, marginTop: 4 }}&gt;随容量、设施裕度与再生水配置变化，各约束如何成为主导瓶颈？干预有效区间与收益转折由什么决定？&lt;/Text&gt;&#13;&#10;            &lt;/Box&gt;&#13;&#10;            &lt;Box style={{ width: 300, background: '#E8EFF8', borderRadius: 4, padding: 10 }}&gt;&#13;&#10;                &lt;Text style={{ fontSize: 16, color: '#0E3F8C', lineHeight: 1.45 }}&gt;&lt;span style={{ fontWeight: 'bold' }}&gt;处理路径：&lt;/span&gt;记录各约束首次失效的 AI 容量，绘制瓶颈转换图，以单位干预增量衡量边际收益&lt;/Text&gt;&#13;&#10;            &lt;/Box&gt;&#13;&#10;        &lt;/Box&gt;&#13;&#10;        &lt;Box style={{ background: '#E8EFF8', borderLeft: '5px solid #FFC107', paddingLeft: 18, paddingTop: 10, paddingBottom: 10 }}&gt;&#13;&#10;            &lt;Text style={{ fontSize: 19, color: '#1A2230', lineHeight: 1.4 }}&gt;三个问题共享状态变量与守恒关系，前问输出即后问输入，形成&quot;现象—边界—控制&quot;证据链&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14 / 36&lt;/Text&gt;&#13;&#10;    &lt;/Box&gt;&#13;&#10;    &lt;Box style={{ position: 'absolute', left: 0, top: 72, width: 6, height: 608, flexDirection: 'column' }}&gt;&#13;&#10;                &lt;Box style={{ width: 6, height: 122, background: '#C9D6E8' }} /&gt;&#13;&#10;                &lt;Box style={{ width: 6, height: 122, background: '#C9D6E8' }} /&gt;&#13;&#10;                &lt;Box style={{ width: 6, height: 122, background: '#FFC107'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200" name="矩形 199"/>
          <p:cNvSpPr/>
          <p:nvPr/>
        </p:nvSpPr>
        <p:spPr>
          <a:xfrm>
            <a:off x="0" y="0"/>
            <a:ext cx="12192000" cy="6858000"/>
          </a:xfrm>
          <a:prstGeom prst="rect">
            <a:avLst/>
          </a:prstGeom>
          <a:solidFill>
            <a:srgbClr val="FFFFFF"/>
          </a:solidFill>
        </p:spPr>
        <p:txBody>
          <a:bodyPr/>
          <a:p/>
        </p:txBody>
      </p:sp>
      <p:sp>
        <p:nvSpPr>
          <p:cNvPr id="201" name="矩形 200"/>
          <p:cNvSpPr/>
          <p:nvPr/>
        </p:nvSpPr>
        <p:spPr>
          <a:xfrm>
            <a:off x="0" y="0"/>
            <a:ext cx="12192000" cy="685800"/>
          </a:xfrm>
          <a:prstGeom prst="rect">
            <a:avLst/>
          </a:prstGeom>
          <a:solidFill>
            <a:srgbClr val="0E3F8C"/>
          </a:solidFill>
        </p:spPr>
        <p:txBody>
          <a:bodyPr/>
          <a:p/>
        </p:txBody>
      </p:sp>
      <p:sp>
        <p:nvSpPr>
          <p:cNvPr id="202" name="圆角矩形 201"/>
          <p:cNvSpPr/>
          <p:nvPr/>
        </p:nvSpPr>
        <p:spPr>
          <a:xfrm>
            <a:off x="381000" y="152400"/>
            <a:ext cx="381000" cy="381000"/>
          </a:xfrm>
          <a:prstGeom prst="roundRect">
            <a:avLst>
              <a:gd name="adj" fmla="val 25000"/>
            </a:avLst>
          </a:prstGeom>
          <a:solidFill>
            <a:srgbClr val="12489A"/>
          </a:solidFill>
        </p:spPr>
        <p:txBody>
          <a:bodyPr/>
          <a:p/>
        </p:txBody>
      </p:sp>
      <p:pic>
        <p:nvPicPr>
          <p:cNvPr id="203" name="图片 202"/>
          <p:cNvPicPr>
            <a:picLocks noChangeAspect="1"/>
          </p:cNvPicPr>
          <p:nvPr/>
        </p:nvPicPr>
        <p:blipFill>
          <a:blip/>
          <a:stretch>
            <a:fillRect/>
          </a:stretch>
        </p:blipFill>
        <p:spPr>
          <a:xfrm>
            <a:off x="466725" y="238125"/>
            <a:ext cx="209550" cy="209550"/>
          </a:xfrm>
          <a:prstGeom prst="rect">
            <a:avLst/>
          </a:prstGeom>
        </p:spPr>
      </p:pic>
      <p:sp>
        <p:nvSpPr>
          <p:cNvPr id="204" name="文本框 203" descr="{&quot;isTemplate&quot;:true,&quot;type&quot;:&quot;text&quot;}"/>
          <p:cNvSpPr txBox="1"/>
          <p:nvPr/>
        </p:nvSpPr>
        <p:spPr>
          <a:xfrm>
            <a:off x="895350" y="180975"/>
            <a:ext cx="690562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三个科学问题沿代谢响应、时间尺度与瓶颈控制逐级递进</a:t>
            </a:r>
            <a:endParaRPr lang="zh-CN" sz="2175" b="1">
              <a:solidFill>
                <a:srgbClr val="FFFFFF"/>
              </a:solidFill>
              <a:latin typeface="微软雅黑" panose="020B0503020204020204" charset="-122"/>
              <a:ea typeface="微软雅黑" panose="020B0503020204020204" charset="-122"/>
            </a:endParaRPr>
          </a:p>
        </p:txBody>
      </p:sp>
      <p:sp>
        <p:nvSpPr>
          <p:cNvPr id="205" name="文本框 204"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03 </a:t>
            </a:r>
            <a:r>
              <a:rPr lang="zh-CN" sz="1125">
                <a:solidFill>
                  <a:srgbClr val="AFC6E8"/>
                </a:solidFill>
                <a:latin typeface="微软雅黑" panose="020B0503020204020204" charset="-122"/>
                <a:ea typeface="微软雅黑" panose="020B0503020204020204" charset="-122"/>
              </a:rPr>
              <a:t>科学问题、假设与研究内容</a:t>
            </a:r>
            <a:endParaRPr lang="zh-CN" sz="1125">
              <a:solidFill>
                <a:srgbClr val="AFC6E8"/>
              </a:solidFill>
              <a:latin typeface="微软雅黑" panose="020B0503020204020204" charset="-122"/>
              <a:ea typeface="微软雅黑" panose="020B0503020204020204" charset="-122"/>
            </a:endParaRPr>
          </a:p>
        </p:txBody>
      </p:sp>
      <p:sp>
        <p:nvSpPr>
          <p:cNvPr id="206" name="圆角矩形 205"/>
          <p:cNvSpPr/>
          <p:nvPr/>
        </p:nvSpPr>
        <p:spPr>
          <a:xfrm>
            <a:off x="11468100" y="238125"/>
            <a:ext cx="342900" cy="219075"/>
          </a:xfrm>
          <a:prstGeom prst="roundRect">
            <a:avLst>
              <a:gd name="adj" fmla="val 13043"/>
            </a:avLst>
          </a:prstGeom>
          <a:solidFill>
            <a:srgbClr val="FFC107"/>
          </a:solidFill>
        </p:spPr>
        <p:txBody>
          <a:bodyPr/>
          <a:p/>
        </p:txBody>
      </p:sp>
      <p:sp>
        <p:nvSpPr>
          <p:cNvPr id="207" name="文本框 206"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14</a:t>
            </a:r>
            <a:endParaRPr lang="en-US" sz="1050" b="1">
              <a:solidFill>
                <a:srgbClr val="0B3A82"/>
              </a:solidFill>
              <a:latin typeface="微软雅黑" panose="020B0503020204020204" charset="-122"/>
              <a:ea typeface="微软雅黑" panose="020B0503020204020204" charset="-122"/>
            </a:endParaRPr>
          </a:p>
        </p:txBody>
      </p:sp>
      <p:sp>
        <p:nvSpPr>
          <p:cNvPr id="208" name="圆角矩形 207"/>
          <p:cNvSpPr/>
          <p:nvPr/>
        </p:nvSpPr>
        <p:spPr>
          <a:xfrm>
            <a:off x="381000" y="800100"/>
            <a:ext cx="11430000" cy="438150"/>
          </a:xfrm>
          <a:prstGeom prst="roundRect">
            <a:avLst>
              <a:gd name="adj" fmla="val 8696"/>
            </a:avLst>
          </a:prstGeom>
          <a:solidFill>
            <a:srgbClr val="0B3A82"/>
          </a:solidFill>
        </p:spPr>
        <p:txBody>
          <a:bodyPr/>
          <a:p/>
        </p:txBody>
      </p:sp>
      <p:sp>
        <p:nvSpPr>
          <p:cNvPr id="209" name="文本框 208"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总问题分解为三个递进子问题，分别回答发生了什么、边界为何不同、边界由谁控制</a:t>
            </a:r>
            <a:endParaRPr lang="zh-CN" sz="1575">
              <a:solidFill>
                <a:srgbClr val="FFFFFF"/>
              </a:solidFill>
              <a:latin typeface="微软雅黑" panose="020B0503020204020204" charset="-122"/>
              <a:ea typeface="微软雅黑" panose="020B0503020204020204" charset="-122"/>
            </a:endParaRPr>
          </a:p>
        </p:txBody>
      </p:sp>
      <p:sp>
        <p:nvSpPr>
          <p:cNvPr id="210" name="圆角矩形 209"/>
          <p:cNvSpPr/>
          <p:nvPr/>
        </p:nvSpPr>
        <p:spPr>
          <a:xfrm>
            <a:off x="438150" y="1352550"/>
            <a:ext cx="11430000" cy="1295400"/>
          </a:xfrm>
          <a:prstGeom prst="roundRect">
            <a:avLst>
              <a:gd name="adj" fmla="val 4412"/>
            </a:avLst>
          </a:prstGeom>
          <a:solidFill>
            <a:srgbClr val="F7F9FC"/>
          </a:solidFill>
        </p:spPr>
        <p:txBody>
          <a:bodyPr/>
          <a:p/>
        </p:txBody>
      </p:sp>
      <p:sp>
        <p:nvSpPr>
          <p:cNvPr id="211" name="任意多边形 210"/>
          <p:cNvSpPr/>
          <p:nvPr/>
        </p:nvSpPr>
        <p:spPr>
          <a:xfrm>
            <a:off x="438150" y="1352550"/>
            <a:ext cx="11430000" cy="1295400"/>
          </a:xfrm>
          <a:custGeom>
            <a:avLst/>
            <a:gdLst/>
            <a:ahLst/>
            <a:cxnLst/>
            <a:pathLst>
              <a:path w="1200" h="136">
                <a:moveTo>
                  <a:pt x="6" y="136"/>
                </a:moveTo>
                <a:cubicBezTo>
                  <a:pt x="3" y="136"/>
                  <a:pt x="0" y="133"/>
                  <a:pt x="0" y="130"/>
                </a:cubicBezTo>
                <a:lnTo>
                  <a:pt x="0" y="6"/>
                </a:lnTo>
                <a:cubicBezTo>
                  <a:pt x="0" y="4"/>
                  <a:pt x="1" y="3"/>
                  <a:pt x="2" y="2"/>
                </a:cubicBezTo>
                <a:cubicBezTo>
                  <a:pt x="3" y="1"/>
                  <a:pt x="4" y="0"/>
                  <a:pt x="6" y="0"/>
                </a:cubicBezTo>
                <a:lnTo>
                  <a:pt x="6" y="136"/>
                </a:lnTo>
                <a:close/>
              </a:path>
            </a:pathLst>
          </a:custGeom>
          <a:solidFill>
            <a:srgbClr val="1E4FA8"/>
          </a:solidFill>
        </p:spPr>
        <p:txBody>
          <a:bodyPr/>
          <a:p/>
        </p:txBody>
      </p:sp>
      <p:sp>
        <p:nvSpPr>
          <p:cNvPr id="212" name="圆角矩形 211"/>
          <p:cNvSpPr/>
          <p:nvPr/>
        </p:nvSpPr>
        <p:spPr>
          <a:xfrm>
            <a:off x="571500" y="1485900"/>
            <a:ext cx="590550" cy="590550"/>
          </a:xfrm>
          <a:prstGeom prst="roundRect">
            <a:avLst>
              <a:gd name="adj" fmla="val 9677"/>
            </a:avLst>
          </a:prstGeom>
          <a:solidFill>
            <a:srgbClr val="1E4FA8"/>
          </a:solidFill>
        </p:spPr>
        <p:txBody>
          <a:bodyPr/>
          <a:p/>
        </p:txBody>
      </p:sp>
      <p:sp>
        <p:nvSpPr>
          <p:cNvPr id="213" name="文本框 212" descr="{&quot;isTemplate&quot;:true,&quot;type&quot;:&quot;text&quot;}"/>
          <p:cNvSpPr txBox="1"/>
          <p:nvPr/>
        </p:nvSpPr>
        <p:spPr>
          <a:xfrm>
            <a:off x="704850" y="1647825"/>
            <a:ext cx="333375" cy="276225"/>
          </a:xfrm>
          <a:prstGeom prst="rect">
            <a:avLst/>
          </a:prstGeom>
        </p:spPr>
        <p:txBody>
          <a:bodyPr wrap="none" lIns="0" tIns="0" rIns="0" bIns="0"/>
          <a:p>
            <a:pPr>
              <a:lnSpc>
                <a:spcPct val="100000"/>
              </a:lnSpc>
            </a:pPr>
            <a:r>
              <a:rPr lang="en-US" sz="1800" b="1">
                <a:solidFill>
                  <a:srgbClr val="FFFFFF"/>
                </a:solidFill>
                <a:latin typeface="微软雅黑" panose="020B0503020204020204" charset="-122"/>
                <a:ea typeface="微软雅黑" panose="020B0503020204020204" charset="-122"/>
              </a:rPr>
              <a:t>Q1</a:t>
            </a:r>
            <a:endParaRPr lang="en-US" sz="1800" b="1">
              <a:solidFill>
                <a:srgbClr val="FFFFFF"/>
              </a:solidFill>
              <a:latin typeface="微软雅黑" panose="020B0503020204020204" charset="-122"/>
              <a:ea typeface="微软雅黑" panose="020B0503020204020204" charset="-122"/>
            </a:endParaRPr>
          </a:p>
        </p:txBody>
      </p:sp>
      <p:sp>
        <p:nvSpPr>
          <p:cNvPr id="214" name="文本框 213" descr="{&quot;isTemplate&quot;:true,&quot;type&quot;:&quot;text&quot;}"/>
          <p:cNvSpPr txBox="1"/>
          <p:nvPr/>
        </p:nvSpPr>
        <p:spPr>
          <a:xfrm>
            <a:off x="1295400" y="1485900"/>
            <a:ext cx="7391400"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科学问题一　代谢响应</a:t>
            </a:r>
            <a:endParaRPr lang="zh-CN" sz="1725" b="1">
              <a:solidFill>
                <a:srgbClr val="0E3F8C"/>
              </a:solidFill>
              <a:latin typeface="微软雅黑" panose="020B0503020204020204" charset="-122"/>
              <a:ea typeface="微软雅黑" panose="020B0503020204020204" charset="-122"/>
            </a:endParaRPr>
          </a:p>
        </p:txBody>
      </p:sp>
      <p:sp>
        <p:nvSpPr>
          <p:cNvPr id="215" name="文本框 214" descr="{&quot;isTemplate&quot;:true,&quot;type&quot;:&quot;text&quot;}"/>
          <p:cNvSpPr txBox="1"/>
          <p:nvPr/>
        </p:nvSpPr>
        <p:spPr>
          <a:xfrm>
            <a:off x="1295400" y="1790700"/>
            <a:ext cx="7391400" cy="619125"/>
          </a:xfrm>
          <a:prstGeom prst="rect">
            <a:avLst/>
          </a:prstGeom>
        </p:spPr>
        <p:txBody>
          <a:bodyPr wrap="square" lIns="0" tIns="0" rIns="0" bIns="0">
            <a:normAutofit/>
          </a:bodyPr>
          <a:p>
            <a:pPr>
              <a:lnSpc>
                <a:spcPct val="150000"/>
              </a:lnSpc>
            </a:pPr>
            <a:r>
              <a:rPr lang="en-US" sz="1350">
                <a:solidFill>
                  <a:srgbClr val="1A2230"/>
                </a:solidFill>
                <a:latin typeface="微软雅黑" panose="020B0503020204020204" charset="-122"/>
                <a:ea typeface="微软雅黑" panose="020B0503020204020204" charset="-122"/>
              </a:rPr>
              <a:t>AI </a:t>
            </a:r>
            <a:r>
              <a:rPr lang="zh-CN" sz="1350">
                <a:solidFill>
                  <a:srgbClr val="1A2230"/>
                </a:solidFill>
                <a:latin typeface="微软雅黑" panose="020B0503020204020204" charset="-122"/>
                <a:ea typeface="微软雅黑" panose="020B0503020204020204" charset="-122"/>
              </a:rPr>
              <a:t>设施经怎样的取水、消耗、回流与再生链条影响城市水系统？接近设施剩余容量时，响应何时由水量增加转为结构重构？</a:t>
            </a:r>
            <a:endParaRPr lang="zh-CN" sz="1350">
              <a:solidFill>
                <a:srgbClr val="1A2230"/>
              </a:solidFill>
              <a:latin typeface="微软雅黑" panose="020B0503020204020204" charset="-122"/>
              <a:ea typeface="微软雅黑" panose="020B0503020204020204" charset="-122"/>
            </a:endParaRPr>
          </a:p>
        </p:txBody>
      </p:sp>
      <p:sp>
        <p:nvSpPr>
          <p:cNvPr id="216" name="圆角矩形 215"/>
          <p:cNvSpPr/>
          <p:nvPr/>
        </p:nvSpPr>
        <p:spPr>
          <a:xfrm>
            <a:off x="8820150" y="1485900"/>
            <a:ext cx="2857500" cy="1028700"/>
          </a:xfrm>
          <a:prstGeom prst="roundRect">
            <a:avLst>
              <a:gd name="adj" fmla="val 3704"/>
            </a:avLst>
          </a:prstGeom>
          <a:solidFill>
            <a:srgbClr val="E8EFF8"/>
          </a:solidFill>
        </p:spPr>
        <p:txBody>
          <a:bodyPr/>
          <a:p/>
        </p:txBody>
      </p:sp>
      <p:sp>
        <p:nvSpPr>
          <p:cNvPr id="217" name="文本框 216" descr="{&quot;isTemplate&quot;:true,&quot;type&quot;:&quot;text&quot;}"/>
          <p:cNvSpPr txBox="1"/>
          <p:nvPr/>
        </p:nvSpPr>
        <p:spPr>
          <a:xfrm>
            <a:off x="8915400" y="1581150"/>
            <a:ext cx="2667000" cy="800100"/>
          </a:xfrm>
          <a:prstGeom prst="rect">
            <a:avLst/>
          </a:prstGeom>
        </p:spPr>
        <p:txBody>
          <a:bodyPr wrap="square" lIns="0" tIns="0" rIns="0" bIns="0">
            <a:normAutofit/>
          </a:bodyPr>
          <a:p>
            <a:pPr>
              <a:lnSpc>
                <a:spcPct val="145000"/>
              </a:lnSpc>
            </a:pPr>
            <a:r>
              <a:rPr lang="zh-CN" sz="1200" b="1">
                <a:solidFill>
                  <a:srgbClr val="0E3F8C"/>
                </a:solidFill>
                <a:latin typeface="微软雅黑" panose="020B0503020204020204" charset="-122"/>
                <a:ea typeface="微软雅黑" panose="020B0503020204020204" charset="-122"/>
              </a:rPr>
              <a:t>处理路径：</a:t>
            </a:r>
            <a:r>
              <a:rPr lang="zh-CN" sz="1200">
                <a:solidFill>
                  <a:srgbClr val="0E3F8C"/>
                </a:solidFill>
                <a:latin typeface="微软雅黑" panose="020B0503020204020204" charset="-122"/>
                <a:ea typeface="微软雅黑" panose="020B0503020204020204" charset="-122"/>
              </a:rPr>
              <a:t>沿容量梯度改变负荷率、冷却架构与水源配置，设普通工业对照，识别转折容量区间</a:t>
            </a:r>
            <a:endParaRPr lang="zh-CN" sz="1200">
              <a:solidFill>
                <a:srgbClr val="0E3F8C"/>
              </a:solidFill>
              <a:latin typeface="微软雅黑" panose="020B0503020204020204" charset="-122"/>
              <a:ea typeface="微软雅黑" panose="020B0503020204020204" charset="-122"/>
            </a:endParaRPr>
          </a:p>
        </p:txBody>
      </p:sp>
      <p:sp>
        <p:nvSpPr>
          <p:cNvPr id="218" name="圆角矩形 217"/>
          <p:cNvSpPr/>
          <p:nvPr/>
        </p:nvSpPr>
        <p:spPr>
          <a:xfrm>
            <a:off x="438150" y="2762250"/>
            <a:ext cx="11430000" cy="1295400"/>
          </a:xfrm>
          <a:prstGeom prst="roundRect">
            <a:avLst>
              <a:gd name="adj" fmla="val 4412"/>
            </a:avLst>
          </a:prstGeom>
          <a:solidFill>
            <a:srgbClr val="F7F9FC"/>
          </a:solidFill>
        </p:spPr>
        <p:txBody>
          <a:bodyPr/>
          <a:p/>
        </p:txBody>
      </p:sp>
      <p:sp>
        <p:nvSpPr>
          <p:cNvPr id="219" name="任意多边形 218"/>
          <p:cNvSpPr/>
          <p:nvPr/>
        </p:nvSpPr>
        <p:spPr>
          <a:xfrm>
            <a:off x="438150" y="2762250"/>
            <a:ext cx="11430000" cy="1295400"/>
          </a:xfrm>
          <a:custGeom>
            <a:avLst/>
            <a:gdLst/>
            <a:ahLst/>
            <a:cxnLst/>
            <a:pathLst>
              <a:path w="1200" h="136">
                <a:moveTo>
                  <a:pt x="6" y="136"/>
                </a:moveTo>
                <a:cubicBezTo>
                  <a:pt x="3" y="136"/>
                  <a:pt x="0" y="133"/>
                  <a:pt x="0" y="130"/>
                </a:cubicBezTo>
                <a:lnTo>
                  <a:pt x="0" y="6"/>
                </a:lnTo>
                <a:cubicBezTo>
                  <a:pt x="0" y="4"/>
                  <a:pt x="1" y="3"/>
                  <a:pt x="2" y="2"/>
                </a:cubicBezTo>
                <a:cubicBezTo>
                  <a:pt x="3" y="1"/>
                  <a:pt x="4" y="0"/>
                  <a:pt x="6" y="0"/>
                </a:cubicBezTo>
                <a:lnTo>
                  <a:pt x="6" y="136"/>
                </a:lnTo>
                <a:close/>
              </a:path>
            </a:pathLst>
          </a:custGeom>
          <a:solidFill>
            <a:srgbClr val="1E4FA8"/>
          </a:solidFill>
        </p:spPr>
        <p:txBody>
          <a:bodyPr/>
          <a:p/>
        </p:txBody>
      </p:sp>
      <p:sp>
        <p:nvSpPr>
          <p:cNvPr id="220" name="圆角矩形 219"/>
          <p:cNvSpPr/>
          <p:nvPr/>
        </p:nvSpPr>
        <p:spPr>
          <a:xfrm>
            <a:off x="571500" y="2895600"/>
            <a:ext cx="590550" cy="590550"/>
          </a:xfrm>
          <a:prstGeom prst="roundRect">
            <a:avLst>
              <a:gd name="adj" fmla="val 9677"/>
            </a:avLst>
          </a:prstGeom>
          <a:solidFill>
            <a:srgbClr val="1E4FA8"/>
          </a:solidFill>
        </p:spPr>
        <p:txBody>
          <a:bodyPr/>
          <a:p/>
        </p:txBody>
      </p:sp>
      <p:sp>
        <p:nvSpPr>
          <p:cNvPr id="221" name="文本框 220" descr="{&quot;isTemplate&quot;:true,&quot;type&quot;:&quot;text&quot;}"/>
          <p:cNvSpPr txBox="1"/>
          <p:nvPr/>
        </p:nvSpPr>
        <p:spPr>
          <a:xfrm>
            <a:off x="704850" y="3057525"/>
            <a:ext cx="333375" cy="276225"/>
          </a:xfrm>
          <a:prstGeom prst="rect">
            <a:avLst/>
          </a:prstGeom>
        </p:spPr>
        <p:txBody>
          <a:bodyPr wrap="none" lIns="0" tIns="0" rIns="0" bIns="0"/>
          <a:p>
            <a:pPr>
              <a:lnSpc>
                <a:spcPct val="100000"/>
              </a:lnSpc>
            </a:pPr>
            <a:r>
              <a:rPr lang="en-US" sz="1800" b="1">
                <a:solidFill>
                  <a:srgbClr val="FFFFFF"/>
                </a:solidFill>
                <a:latin typeface="微软雅黑" panose="020B0503020204020204" charset="-122"/>
                <a:ea typeface="微软雅黑" panose="020B0503020204020204" charset="-122"/>
              </a:rPr>
              <a:t>Q2</a:t>
            </a:r>
            <a:endParaRPr lang="en-US" sz="1800" b="1">
              <a:solidFill>
                <a:srgbClr val="FFFFFF"/>
              </a:solidFill>
              <a:latin typeface="微软雅黑" panose="020B0503020204020204" charset="-122"/>
              <a:ea typeface="微软雅黑" panose="020B0503020204020204" charset="-122"/>
            </a:endParaRPr>
          </a:p>
        </p:txBody>
      </p:sp>
      <p:sp>
        <p:nvSpPr>
          <p:cNvPr id="222" name="文本框 221" descr="{&quot;isTemplate&quot;:true,&quot;type&quot;:&quot;text&quot;}"/>
          <p:cNvSpPr txBox="1"/>
          <p:nvPr/>
        </p:nvSpPr>
        <p:spPr>
          <a:xfrm>
            <a:off x="1295400" y="2895600"/>
            <a:ext cx="7391400"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科学问题二　时间尺度边界</a:t>
            </a:r>
            <a:endParaRPr lang="zh-CN" sz="1725" b="1">
              <a:solidFill>
                <a:srgbClr val="0E3F8C"/>
              </a:solidFill>
              <a:latin typeface="微软雅黑" panose="020B0503020204020204" charset="-122"/>
              <a:ea typeface="微软雅黑" panose="020B0503020204020204" charset="-122"/>
            </a:endParaRPr>
          </a:p>
        </p:txBody>
      </p:sp>
      <p:sp>
        <p:nvSpPr>
          <p:cNvPr id="223" name="文本框 222" descr="{&quot;isTemplate&quot;:true,&quot;type&quot;:&quot;text&quot;}"/>
          <p:cNvSpPr txBox="1"/>
          <p:nvPr/>
        </p:nvSpPr>
        <p:spPr>
          <a:xfrm>
            <a:off x="1295400" y="3200400"/>
            <a:ext cx="7391400" cy="314325"/>
          </a:xfrm>
          <a:prstGeom prst="rect">
            <a:avLst/>
          </a:prstGeom>
        </p:spPr>
        <p:txBody>
          <a:bodyPr wrap="none" lIns="0" tIns="0" rIns="0" bIns="0"/>
          <a:p>
            <a:pPr>
              <a:lnSpc>
                <a:spcPct val="150000"/>
              </a:lnSpc>
            </a:pPr>
            <a:r>
              <a:rPr lang="zh-CN" sz="1350">
                <a:solidFill>
                  <a:srgbClr val="1A2230"/>
                </a:solidFill>
                <a:latin typeface="微软雅黑" panose="020B0503020204020204" charset="-122"/>
                <a:ea typeface="微软雅黑" panose="020B0503020204020204" charset="-122"/>
              </a:rPr>
              <a:t>负荷连续性、冷却高温敏感性与峰值耦合，如何造成年均、日尺度与极端小时边界的差异？</a:t>
            </a:r>
            <a:endParaRPr lang="zh-CN" sz="1350">
              <a:solidFill>
                <a:srgbClr val="1A2230"/>
              </a:solidFill>
              <a:latin typeface="微软雅黑" panose="020B0503020204020204" charset="-122"/>
              <a:ea typeface="微软雅黑" panose="020B0503020204020204" charset="-122"/>
            </a:endParaRPr>
          </a:p>
        </p:txBody>
      </p:sp>
      <p:sp>
        <p:nvSpPr>
          <p:cNvPr id="224" name="圆角矩形 223"/>
          <p:cNvSpPr/>
          <p:nvPr/>
        </p:nvSpPr>
        <p:spPr>
          <a:xfrm>
            <a:off x="8820150" y="2895600"/>
            <a:ext cx="2857500" cy="1028700"/>
          </a:xfrm>
          <a:prstGeom prst="roundRect">
            <a:avLst>
              <a:gd name="adj" fmla="val 3704"/>
            </a:avLst>
          </a:prstGeom>
          <a:solidFill>
            <a:srgbClr val="E8EFF8"/>
          </a:solidFill>
        </p:spPr>
        <p:txBody>
          <a:bodyPr/>
          <a:p/>
        </p:txBody>
      </p:sp>
      <p:sp>
        <p:nvSpPr>
          <p:cNvPr id="225" name="文本框 224" descr="{&quot;isTemplate&quot;:true,&quot;type&quot;:&quot;text&quot;}"/>
          <p:cNvSpPr txBox="1"/>
          <p:nvPr/>
        </p:nvSpPr>
        <p:spPr>
          <a:xfrm>
            <a:off x="8915400" y="2990850"/>
            <a:ext cx="2667000" cy="800100"/>
          </a:xfrm>
          <a:prstGeom prst="rect">
            <a:avLst/>
          </a:prstGeom>
        </p:spPr>
        <p:txBody>
          <a:bodyPr wrap="square" lIns="0" tIns="0" rIns="0" bIns="0">
            <a:normAutofit/>
          </a:bodyPr>
          <a:p>
            <a:pPr>
              <a:lnSpc>
                <a:spcPct val="145000"/>
              </a:lnSpc>
            </a:pPr>
            <a:r>
              <a:rPr lang="zh-CN" sz="1200" b="1">
                <a:solidFill>
                  <a:srgbClr val="0E3F8C"/>
                </a:solidFill>
                <a:latin typeface="微软雅黑" panose="020B0503020204020204" charset="-122"/>
                <a:ea typeface="微软雅黑" panose="020B0503020204020204" charset="-122"/>
              </a:rPr>
              <a:t>处理路径：</a:t>
            </a:r>
            <a:r>
              <a:rPr lang="zh-CN" sz="1200">
                <a:solidFill>
                  <a:srgbClr val="0E3F8C"/>
                </a:solidFill>
                <a:latin typeface="微软雅黑" panose="020B0503020204020204" charset="-122"/>
                <a:ea typeface="微软雅黑" panose="020B0503020204020204" charset="-122"/>
              </a:rPr>
              <a:t>同一城市状态分别求解年均、日尺度与极端周小时边界，逐步叠加高温与干旱，量化边界提前量</a:t>
            </a:r>
            <a:endParaRPr lang="zh-CN" sz="1200">
              <a:solidFill>
                <a:srgbClr val="0E3F8C"/>
              </a:solidFill>
              <a:latin typeface="微软雅黑" panose="020B0503020204020204" charset="-122"/>
              <a:ea typeface="微软雅黑" panose="020B0503020204020204" charset="-122"/>
            </a:endParaRPr>
          </a:p>
        </p:txBody>
      </p:sp>
      <p:sp>
        <p:nvSpPr>
          <p:cNvPr id="226" name="圆角矩形 225"/>
          <p:cNvSpPr/>
          <p:nvPr/>
        </p:nvSpPr>
        <p:spPr>
          <a:xfrm>
            <a:off x="438150" y="4171950"/>
            <a:ext cx="11430000" cy="1295400"/>
          </a:xfrm>
          <a:prstGeom prst="roundRect">
            <a:avLst>
              <a:gd name="adj" fmla="val 4412"/>
            </a:avLst>
          </a:prstGeom>
          <a:solidFill>
            <a:srgbClr val="F7F9FC"/>
          </a:solidFill>
        </p:spPr>
        <p:txBody>
          <a:bodyPr/>
          <a:p/>
        </p:txBody>
      </p:sp>
      <p:sp>
        <p:nvSpPr>
          <p:cNvPr id="227" name="任意多边形 226"/>
          <p:cNvSpPr/>
          <p:nvPr/>
        </p:nvSpPr>
        <p:spPr>
          <a:xfrm>
            <a:off x="438150" y="4171950"/>
            <a:ext cx="11430000" cy="1295400"/>
          </a:xfrm>
          <a:custGeom>
            <a:avLst/>
            <a:gdLst/>
            <a:ahLst/>
            <a:cxnLst/>
            <a:pathLst>
              <a:path w="1200" h="136">
                <a:moveTo>
                  <a:pt x="6" y="136"/>
                </a:moveTo>
                <a:cubicBezTo>
                  <a:pt x="3" y="136"/>
                  <a:pt x="0" y="133"/>
                  <a:pt x="0" y="130"/>
                </a:cubicBezTo>
                <a:lnTo>
                  <a:pt x="0" y="6"/>
                </a:lnTo>
                <a:cubicBezTo>
                  <a:pt x="0" y="4"/>
                  <a:pt x="1" y="3"/>
                  <a:pt x="2" y="2"/>
                </a:cubicBezTo>
                <a:cubicBezTo>
                  <a:pt x="3" y="1"/>
                  <a:pt x="4" y="0"/>
                  <a:pt x="6" y="0"/>
                </a:cubicBezTo>
                <a:lnTo>
                  <a:pt x="6" y="136"/>
                </a:lnTo>
                <a:close/>
              </a:path>
            </a:pathLst>
          </a:custGeom>
          <a:solidFill>
            <a:srgbClr val="1E4FA8"/>
          </a:solidFill>
        </p:spPr>
        <p:txBody>
          <a:bodyPr/>
          <a:p/>
        </p:txBody>
      </p:sp>
      <p:sp>
        <p:nvSpPr>
          <p:cNvPr id="228" name="圆角矩形 227"/>
          <p:cNvSpPr/>
          <p:nvPr/>
        </p:nvSpPr>
        <p:spPr>
          <a:xfrm>
            <a:off x="571500" y="4305300"/>
            <a:ext cx="590550" cy="590550"/>
          </a:xfrm>
          <a:prstGeom prst="roundRect">
            <a:avLst>
              <a:gd name="adj" fmla="val 9677"/>
            </a:avLst>
          </a:prstGeom>
          <a:solidFill>
            <a:srgbClr val="1E4FA8"/>
          </a:solidFill>
        </p:spPr>
        <p:txBody>
          <a:bodyPr/>
          <a:p/>
        </p:txBody>
      </p:sp>
      <p:sp>
        <p:nvSpPr>
          <p:cNvPr id="229" name="文本框 228" descr="{&quot;isTemplate&quot;:true,&quot;type&quot;:&quot;text&quot;}"/>
          <p:cNvSpPr txBox="1"/>
          <p:nvPr/>
        </p:nvSpPr>
        <p:spPr>
          <a:xfrm>
            <a:off x="704850" y="4467225"/>
            <a:ext cx="333375" cy="276225"/>
          </a:xfrm>
          <a:prstGeom prst="rect">
            <a:avLst/>
          </a:prstGeom>
        </p:spPr>
        <p:txBody>
          <a:bodyPr wrap="none" lIns="0" tIns="0" rIns="0" bIns="0"/>
          <a:p>
            <a:pPr>
              <a:lnSpc>
                <a:spcPct val="100000"/>
              </a:lnSpc>
            </a:pPr>
            <a:r>
              <a:rPr lang="en-US" sz="1800" b="1">
                <a:solidFill>
                  <a:srgbClr val="FFFFFF"/>
                </a:solidFill>
                <a:latin typeface="微软雅黑" panose="020B0503020204020204" charset="-122"/>
                <a:ea typeface="微软雅黑" panose="020B0503020204020204" charset="-122"/>
              </a:rPr>
              <a:t>Q3</a:t>
            </a:r>
            <a:endParaRPr lang="en-US" sz="1800" b="1">
              <a:solidFill>
                <a:srgbClr val="FFFFFF"/>
              </a:solidFill>
              <a:latin typeface="微软雅黑" panose="020B0503020204020204" charset="-122"/>
              <a:ea typeface="微软雅黑" panose="020B0503020204020204" charset="-122"/>
            </a:endParaRPr>
          </a:p>
        </p:txBody>
      </p:sp>
      <p:sp>
        <p:nvSpPr>
          <p:cNvPr id="230" name="文本框 229" descr="{&quot;isTemplate&quot;:true,&quot;type&quot;:&quot;text&quot;}"/>
          <p:cNvSpPr txBox="1"/>
          <p:nvPr/>
        </p:nvSpPr>
        <p:spPr>
          <a:xfrm>
            <a:off x="1295400" y="4305300"/>
            <a:ext cx="7391400" cy="266700"/>
          </a:xfrm>
          <a:prstGeom prst="rect">
            <a:avLst/>
          </a:prstGeom>
        </p:spPr>
        <p:txBody>
          <a:bodyPr wrap="none" lIns="0" tIns="0" rIns="0" bIns="0"/>
          <a:p>
            <a:pPr>
              <a:lnSpc>
                <a:spcPct val="100000"/>
              </a:lnSpc>
            </a:pPr>
            <a:r>
              <a:rPr lang="zh-CN" sz="1725" b="1">
                <a:solidFill>
                  <a:srgbClr val="0E3F8C"/>
                </a:solidFill>
                <a:latin typeface="微软雅黑" panose="020B0503020204020204" charset="-122"/>
                <a:ea typeface="微软雅黑" panose="020B0503020204020204" charset="-122"/>
              </a:rPr>
              <a:t>科学问题三　瓶颈转换</a:t>
            </a:r>
            <a:endParaRPr lang="zh-CN" sz="1725" b="1">
              <a:solidFill>
                <a:srgbClr val="0E3F8C"/>
              </a:solidFill>
              <a:latin typeface="微软雅黑" panose="020B0503020204020204" charset="-122"/>
              <a:ea typeface="微软雅黑" panose="020B0503020204020204" charset="-122"/>
            </a:endParaRPr>
          </a:p>
        </p:txBody>
      </p:sp>
      <p:sp>
        <p:nvSpPr>
          <p:cNvPr id="231" name="文本框 230" descr="{&quot;isTemplate&quot;:true,&quot;type&quot;:&quot;text&quot;}"/>
          <p:cNvSpPr txBox="1"/>
          <p:nvPr/>
        </p:nvSpPr>
        <p:spPr>
          <a:xfrm>
            <a:off x="1295400" y="4610100"/>
            <a:ext cx="7391400" cy="619125"/>
          </a:xfrm>
          <a:prstGeom prst="rect">
            <a:avLst/>
          </a:prstGeom>
        </p:spPr>
        <p:txBody>
          <a:bodyPr wrap="square" lIns="0" tIns="0" rIns="0" bIns="0">
            <a:normAutofit/>
          </a:bodyPr>
          <a:p>
            <a:pPr>
              <a:lnSpc>
                <a:spcPct val="150000"/>
              </a:lnSpc>
            </a:pPr>
            <a:r>
              <a:rPr lang="zh-CN" sz="1350">
                <a:solidFill>
                  <a:srgbClr val="1A2230"/>
                </a:solidFill>
                <a:latin typeface="微软雅黑" panose="020B0503020204020204" charset="-122"/>
                <a:ea typeface="微软雅黑" panose="020B0503020204020204" charset="-122"/>
              </a:rPr>
              <a:t>随容量、设施裕度与再生水配置变化，各约束如何成为主导瓶颈？干预有效区间与收益转折由什么决定？</a:t>
            </a:r>
            <a:endParaRPr lang="zh-CN" sz="1350">
              <a:solidFill>
                <a:srgbClr val="1A2230"/>
              </a:solidFill>
              <a:latin typeface="微软雅黑" panose="020B0503020204020204" charset="-122"/>
              <a:ea typeface="微软雅黑" panose="020B0503020204020204" charset="-122"/>
            </a:endParaRPr>
          </a:p>
        </p:txBody>
      </p:sp>
      <p:sp>
        <p:nvSpPr>
          <p:cNvPr id="232" name="圆角矩形 231"/>
          <p:cNvSpPr/>
          <p:nvPr/>
        </p:nvSpPr>
        <p:spPr>
          <a:xfrm>
            <a:off x="8820150" y="4305300"/>
            <a:ext cx="2857500" cy="1028700"/>
          </a:xfrm>
          <a:prstGeom prst="roundRect">
            <a:avLst>
              <a:gd name="adj" fmla="val 3704"/>
            </a:avLst>
          </a:prstGeom>
          <a:solidFill>
            <a:srgbClr val="E8EFF8"/>
          </a:solidFill>
        </p:spPr>
        <p:txBody>
          <a:bodyPr/>
          <a:p/>
        </p:txBody>
      </p:sp>
      <p:sp>
        <p:nvSpPr>
          <p:cNvPr id="233" name="文本框 232" descr="{&quot;isTemplate&quot;:true,&quot;type&quot;:&quot;text&quot;}"/>
          <p:cNvSpPr txBox="1"/>
          <p:nvPr/>
        </p:nvSpPr>
        <p:spPr>
          <a:xfrm>
            <a:off x="8915400" y="4400550"/>
            <a:ext cx="2667000" cy="800100"/>
          </a:xfrm>
          <a:prstGeom prst="rect">
            <a:avLst/>
          </a:prstGeom>
        </p:spPr>
        <p:txBody>
          <a:bodyPr wrap="square" lIns="0" tIns="0" rIns="0" bIns="0">
            <a:normAutofit/>
          </a:bodyPr>
          <a:p>
            <a:pPr>
              <a:lnSpc>
                <a:spcPct val="145000"/>
              </a:lnSpc>
            </a:pPr>
            <a:r>
              <a:rPr lang="zh-CN" sz="1200" b="1">
                <a:solidFill>
                  <a:srgbClr val="0E3F8C"/>
                </a:solidFill>
                <a:latin typeface="微软雅黑" panose="020B0503020204020204" charset="-122"/>
                <a:ea typeface="微软雅黑" panose="020B0503020204020204" charset="-122"/>
              </a:rPr>
              <a:t>处理路径：</a:t>
            </a:r>
            <a:r>
              <a:rPr lang="zh-CN" sz="1200">
                <a:solidFill>
                  <a:srgbClr val="0E3F8C"/>
                </a:solidFill>
                <a:latin typeface="微软雅黑" panose="020B0503020204020204" charset="-122"/>
                <a:ea typeface="微软雅黑" panose="020B0503020204020204" charset="-122"/>
              </a:rPr>
              <a:t>记录各约束首次失效的</a:t>
            </a:r>
            <a:r>
              <a:rPr lang="en-US" sz="1200">
                <a:solidFill>
                  <a:srgbClr val="0E3F8C"/>
                </a:solidFill>
                <a:latin typeface="微软雅黑" panose="020B0503020204020204" charset="-122"/>
                <a:ea typeface="微软雅黑" panose="020B0503020204020204" charset="-122"/>
              </a:rPr>
              <a:t> AI </a:t>
            </a:r>
            <a:r>
              <a:rPr lang="zh-CN" sz="1200">
                <a:solidFill>
                  <a:srgbClr val="0E3F8C"/>
                </a:solidFill>
                <a:latin typeface="微软雅黑" panose="020B0503020204020204" charset="-122"/>
                <a:ea typeface="微软雅黑" panose="020B0503020204020204" charset="-122"/>
              </a:rPr>
              <a:t>容量，绘制瓶颈转换图，以单位干预增量衡量边际收益</a:t>
            </a:r>
            <a:endParaRPr lang="zh-CN" sz="1200">
              <a:solidFill>
                <a:srgbClr val="0E3F8C"/>
              </a:solidFill>
              <a:latin typeface="微软雅黑" panose="020B0503020204020204" charset="-122"/>
              <a:ea typeface="微软雅黑" panose="020B0503020204020204" charset="-122"/>
            </a:endParaRPr>
          </a:p>
        </p:txBody>
      </p:sp>
      <p:sp>
        <p:nvSpPr>
          <p:cNvPr id="234" name="矩形 233"/>
          <p:cNvSpPr/>
          <p:nvPr/>
        </p:nvSpPr>
        <p:spPr>
          <a:xfrm>
            <a:off x="428625" y="5581650"/>
            <a:ext cx="11430000" cy="495300"/>
          </a:xfrm>
          <a:prstGeom prst="rect">
            <a:avLst/>
          </a:prstGeom>
          <a:solidFill>
            <a:srgbClr val="E8EFF8"/>
          </a:solidFill>
        </p:spPr>
        <p:txBody>
          <a:bodyPr/>
          <a:p/>
        </p:txBody>
      </p:sp>
      <p:sp>
        <p:nvSpPr>
          <p:cNvPr id="235" name="任意多边形 234"/>
          <p:cNvSpPr/>
          <p:nvPr/>
        </p:nvSpPr>
        <p:spPr>
          <a:xfrm>
            <a:off x="381000" y="5581650"/>
            <a:ext cx="11477625" cy="495300"/>
          </a:xfrm>
          <a:custGeom>
            <a:avLst/>
            <a:gdLst/>
            <a:ahLst/>
            <a:cxnLst/>
            <a:pathLst>
              <a:path w="1205" h="52">
                <a:moveTo>
                  <a:pt x="0" y="0"/>
                </a:moveTo>
                <a:lnTo>
                  <a:pt x="5" y="0"/>
                </a:lnTo>
                <a:lnTo>
                  <a:pt x="5" y="52"/>
                </a:lnTo>
                <a:lnTo>
                  <a:pt x="0" y="52"/>
                </a:lnTo>
                <a:close/>
              </a:path>
            </a:pathLst>
          </a:custGeom>
          <a:solidFill>
            <a:srgbClr val="FFC107"/>
          </a:solidFill>
        </p:spPr>
        <p:txBody>
          <a:bodyPr/>
          <a:p/>
        </p:txBody>
      </p:sp>
      <p:sp>
        <p:nvSpPr>
          <p:cNvPr id="236" name="文本框 235" descr="{&quot;isTemplate&quot;:true,&quot;type&quot;:&quot;text&quot;}"/>
          <p:cNvSpPr txBox="1"/>
          <p:nvPr/>
        </p:nvSpPr>
        <p:spPr>
          <a:xfrm>
            <a:off x="600075" y="5676900"/>
            <a:ext cx="11210925" cy="304800"/>
          </a:xfrm>
          <a:prstGeom prst="rect">
            <a:avLst/>
          </a:prstGeom>
        </p:spPr>
        <p:txBody>
          <a:bodyPr wrap="none" lIns="0" tIns="0" rIns="0" bIns="0"/>
          <a:p>
            <a:pPr>
              <a:lnSpc>
                <a:spcPct val="140000"/>
              </a:lnSpc>
            </a:pPr>
            <a:r>
              <a:rPr lang="zh-CN" sz="1425">
                <a:solidFill>
                  <a:srgbClr val="1A2230"/>
                </a:solidFill>
                <a:latin typeface="微软雅黑" panose="020B0503020204020204" charset="-122"/>
                <a:ea typeface="微软雅黑" panose="020B0503020204020204" charset="-122"/>
              </a:rPr>
              <a:t>三个问题共享状态变量与守恒关系，前问输出即后问输入，形成</a:t>
            </a:r>
            <a:r>
              <a:rPr lang="en-US" sz="1425">
                <a:solidFill>
                  <a:srgbClr val="1A2230"/>
                </a:solidFill>
                <a:latin typeface="微软雅黑" panose="020B0503020204020204" charset="-122"/>
                <a:ea typeface="微软雅黑" panose="020B0503020204020204" charset="-122"/>
              </a:rPr>
              <a:t>"</a:t>
            </a:r>
            <a:r>
              <a:rPr lang="zh-CN" sz="1425">
                <a:solidFill>
                  <a:srgbClr val="1A2230"/>
                </a:solidFill>
                <a:latin typeface="微软雅黑" panose="020B0503020204020204" charset="-122"/>
                <a:ea typeface="微软雅黑" panose="020B0503020204020204" charset="-122"/>
              </a:rPr>
              <a:t>现象—边界—控制</a:t>
            </a:r>
            <a:r>
              <a:rPr lang="en-US" sz="1425">
                <a:solidFill>
                  <a:srgbClr val="1A2230"/>
                </a:solidFill>
                <a:latin typeface="微软雅黑" panose="020B0503020204020204" charset="-122"/>
                <a:ea typeface="微软雅黑" panose="020B0503020204020204" charset="-122"/>
              </a:rPr>
              <a:t>"</a:t>
            </a:r>
            <a:r>
              <a:rPr lang="zh-CN" sz="1425">
                <a:solidFill>
                  <a:srgbClr val="1A2230"/>
                </a:solidFill>
                <a:latin typeface="微软雅黑" panose="020B0503020204020204" charset="-122"/>
                <a:ea typeface="微软雅黑" panose="020B0503020204020204" charset="-122"/>
              </a:rPr>
              <a:t>证据链</a:t>
            </a:r>
            <a:endParaRPr lang="zh-CN" sz="1425">
              <a:solidFill>
                <a:srgbClr val="1A2230"/>
              </a:solidFill>
              <a:latin typeface="微软雅黑" panose="020B0503020204020204" charset="-122"/>
              <a:ea typeface="微软雅黑" panose="020B0503020204020204" charset="-122"/>
            </a:endParaRPr>
          </a:p>
        </p:txBody>
      </p:sp>
      <p:sp>
        <p:nvSpPr>
          <p:cNvPr id="237" name="任意多边形 236"/>
          <p:cNvSpPr/>
          <p:nvPr/>
        </p:nvSpPr>
        <p:spPr>
          <a:xfrm>
            <a:off x="0" y="61531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238" name="文本框 237" descr="{&quot;isTemplate&quot;:true,&quot;type&quot;:&quot;text&quot;}"/>
          <p:cNvSpPr txBox="1"/>
          <p:nvPr/>
        </p:nvSpPr>
        <p:spPr>
          <a:xfrm>
            <a:off x="381000" y="62674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239" name="文本框 238" descr="{&quot;isTemplate&quot;:true,&quot;type&quot;:&quot;text&quot;}"/>
          <p:cNvSpPr txBox="1"/>
          <p:nvPr/>
        </p:nvSpPr>
        <p:spPr>
          <a:xfrm>
            <a:off x="11353800" y="62674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14 / 36</a:t>
            </a:r>
            <a:endParaRPr lang="en-US" sz="1050">
              <a:solidFill>
                <a:srgbClr val="1E4FA8"/>
              </a:solidFill>
              <a:latin typeface="微软雅黑" panose="020B0503020204020204" charset="-122"/>
              <a:ea typeface="微软雅黑" panose="020B0503020204020204" charset="-122"/>
            </a:endParaRPr>
          </a:p>
        </p:txBody>
      </p:sp>
      <p:sp>
        <p:nvSpPr>
          <p:cNvPr id="240" name="矩形 239"/>
          <p:cNvSpPr/>
          <p:nvPr/>
        </p:nvSpPr>
        <p:spPr>
          <a:xfrm>
            <a:off x="0" y="685800"/>
            <a:ext cx="57150" cy="1162050"/>
          </a:xfrm>
          <a:prstGeom prst="rect">
            <a:avLst/>
          </a:prstGeom>
          <a:solidFill>
            <a:srgbClr val="C9D6E8"/>
          </a:solidFill>
        </p:spPr>
        <p:txBody>
          <a:bodyPr/>
          <a:p/>
        </p:txBody>
      </p:sp>
      <p:sp>
        <p:nvSpPr>
          <p:cNvPr id="241" name="矩形 240"/>
          <p:cNvSpPr/>
          <p:nvPr/>
        </p:nvSpPr>
        <p:spPr>
          <a:xfrm>
            <a:off x="0" y="1847850"/>
            <a:ext cx="57150" cy="1162050"/>
          </a:xfrm>
          <a:prstGeom prst="rect">
            <a:avLst/>
          </a:prstGeom>
          <a:solidFill>
            <a:srgbClr val="C9D6E8"/>
          </a:solidFill>
        </p:spPr>
        <p:txBody>
          <a:bodyPr/>
          <a:p/>
        </p:txBody>
      </p:sp>
      <p:sp>
        <p:nvSpPr>
          <p:cNvPr id="242" name="矩形 241"/>
          <p:cNvSpPr/>
          <p:nvPr/>
        </p:nvSpPr>
        <p:spPr>
          <a:xfrm>
            <a:off x="0" y="3009900"/>
            <a:ext cx="57150" cy="1162050"/>
          </a:xfrm>
          <a:prstGeom prst="rect">
            <a:avLst/>
          </a:prstGeom>
          <a:solidFill>
            <a:srgbClr val="FFC107"/>
          </a:solidFill>
        </p:spPr>
        <p:txBody>
          <a:bodyPr/>
          <a:p/>
        </p:txBody>
      </p:sp>
      <p:sp>
        <p:nvSpPr>
          <p:cNvPr id="243" name="矩形 242"/>
          <p:cNvSpPr/>
          <p:nvPr/>
        </p:nvSpPr>
        <p:spPr>
          <a:xfrm>
            <a:off x="0" y="4171950"/>
            <a:ext cx="57150" cy="1162050"/>
          </a:xfrm>
          <a:prstGeom prst="rect">
            <a:avLst/>
          </a:prstGeom>
          <a:solidFill>
            <a:srgbClr val="C9D6E8"/>
          </a:solidFill>
        </p:spPr>
        <p:txBody>
          <a:bodyPr/>
          <a:p/>
        </p:txBody>
      </p:sp>
      <p:sp>
        <p:nvSpPr>
          <p:cNvPr id="244" name="矩形 243"/>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45"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lightbulb' style={{ fill: '#FFC107', width: 22, height: 22 }} /&gt;&#13;&#10;        &lt;/Box&gt;&#13;&#10;            &lt;Text style={{ fontSize: 29, fontWeight: 'bold', color: '#FFFFFF' }}&gt;三个研究假设均可由模拟实验证伪&lt;/Text&gt;&#13;&#10;        &lt;/Box&gt;&#13;&#10;        &lt;Box style={{ flexDirection: 'row', alignItems: 'center', gap: 10 }}&gt;&#13;&#10;            &lt;Text style={{ fontSize: 15, color: '#AFC6E8' }}&gt;03 科学问题、假设与研究内容&lt;/Text&gt;&#13;&#10;            &lt;Box style={{ background: '#FFC107', paddingLeft: 9, paddingRight: 9, paddingTop: 3, paddingBottom: 3, borderRadius: 3, justifyContent: 'center', alignItems: 'center' }}&gt;&#13;&#10;                &lt;Text style={{ fontSize: 14, color: '#0B3A82', fontWeight: 'bold' }}&gt;15&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每个假设都给出触发条件、观测量与证伪路径，保证假设可检验&lt;/Text&gt;&#13;&#10;        &lt;/Box&gt;&#13;&#10;        &lt;Box style={{ flexDirection: 'row', gap: 14, height: 452 }}&gt;&#13;&#10;            &lt;Box style={{ flex: 1, background: '#F7F9FC', border: '1px solid #D6DCE5', borderTop: '5px solid #1E4FA8', borderRadius: 6, padding: 14, flexDirection: 'column' }}&gt;&#13;&#10;                &lt;Box style={{ flexDirection: 'row', alignItems: 'center', gap: 10, marginBottom: 8 }}&gt;&#13;&#10;                    &lt;Box style={{ width: 46, height: 34, background: '#1E4FA8', borderRadius: 4, justifyContent: 'center', alignItems: 'center' }}&gt;&#13;&#10;                        &lt;Text style={{ fontSize: 18, color: '#FFFFFF', fontWeight: 'bold' }}&gt;H1&lt;/Text&gt;&#13;&#10;                    &lt;/Box&gt;&#13;&#10;                    &lt;Text style={{ fontSize: 22, fontWeight: 'bold', color: '#0E3F8C' }}&gt;代谢结构假设&lt;/Text&gt;&#13;&#10;                &lt;/Box&gt;&#13;&#10;                &lt;Box style={{ flexDirection: 'column', gap: 8 }}&gt;&#13;&#10;                    &lt;Box style={{ flexDirection: 'row', gap: 8 }}&gt;&#13;&#10;                        &lt;Box style={{ width: 66, background: '#E8EFF8', borderRadius: 3, paddingTop: 4, paddingBottom: 4, alignItems: 'center' }}&gt;&#13;&#10;                            &lt;Text style={{ fontSize: 15, color: '#0E3F8C', fontWeight: 'bold' }}&gt;内容&lt;/Text&gt;&#13;&#10;                        &lt;/Box&gt;&#13;&#10;                        &lt;Text style={{ fontSize: 17, color: '#1A2230', lineHeight: 1.45, flex: 1 }}&gt;低负荷主要是规模效应；接近设施剩余容量或改变水源时，比例关系出现非线性变化&lt;/Text&gt;&#13;&#10;                    &lt;/Box&gt;&#13;&#10;                    &lt;Box style={{ flexDirection: 'row', gap: 8 }}&gt;&#13;&#10;                        &lt;Box style={{ width: 66, background: '#E8EFF8', borderRadius: 3, paddingTop: 4, paddingBottom: 4, alignItems: 'center' }}&gt;&#13;&#10;                            &lt;Text style={{ fontSize: 15, color: '#0E3F8C', fontWeight: 'bold' }}&gt;触发&lt;/Text&gt;&#13;&#10;                        &lt;/Box&gt;&#13;&#10;                        &lt;Text style={{ fontSize: 17, color: '#1A2230', lineHeight: 1.45, flex: 1 }}&gt;AI 取水占基准供水、或峰值需求占接入能力达到某区间&lt;/Text&gt;&#13;&#10;                    &lt;/Box&gt;&#13;&#10;                    &lt;Box style={{ flexDirection: 'row', gap: 8 }}&gt;&#13;&#10;                        &lt;Box style={{ width: 66, background: '#E8EFF8', borderRadius: 3, paddingTop: 4, paddingBottom: 4, alignItems: 'center' }}&gt;&#13;&#10;                            &lt;Text style={{ fontSize: 15, color: '#0E3F8C', fontWeight: 'bold' }}&gt;观测&lt;/Text&gt;&#13;&#10;                        &lt;/Box&gt;&#13;&#10;                        &lt;Text style={{ fontSize: 17, color: '#1A2230', lineHeight: 1.45, flex: 1 }}&gt;结构距离、淡水依赖率、内部循环率、消耗率与回流率的导数变化&lt;/Text&gt;&#13;&#10;                    &lt;/Box&gt;&#13;&#10;                    &lt;Box style={{ flexDirection: 'row', gap: 8 }}&gt;&#13;&#10;                        &lt;Box style={{ width: 66, background: '#FDECEC', borderRadius: 3, paddingTop: 4, paddingBottom: 4, alignItems: 'center' }}&gt;&#13;&#10;                            &lt;Text style={{ fontSize: 15, color: '#D9534F', fontWeight: 'bold' }}&gt;证伪&lt;/Text&gt;&#13;&#10;                        &lt;/Box&gt;&#13;&#10;                        &lt;Text style={{ fontSize: 17, color: '#1A2230', lineHeight: 1.45, flex: 1 }}&gt;若全容量区间内结构指标保持线性，且折点可由单一容量截断解释，则 H1 不成立&lt;/Text&gt;&#13;&#10;                    &lt;/Box&gt;&#13;&#10;                &lt;/Box&gt;&#13;&#10;            &lt;/Box&gt;&#13;&#10;            &lt;Box style={{ flex: 1, background: '#F7F9FC', border: '1px solid #D6DCE5', borderTop: '5px solid #1E4FA8', borderRadius: 6, padding: 14, flexDirection: 'column' }}&gt;&#13;&#10;                &lt;Box style={{ flexDirection: 'row', alignItems: 'center', gap: 10, marginBottom: 8 }}&gt;&#13;&#10;                    &lt;Box style={{ width: 46, height: 34, background: '#1E4FA8', borderRadius: 4, justifyContent: 'center', alignItems: 'center' }}&gt;&#13;&#10;                        &lt;Text style={{ fontSize: 18, color: '#FFFFFF', fontWeight: 'bold' }}&gt;H2&lt;/Text&gt;&#13;&#10;                    &lt;/Box&gt;&#13;&#10;                    &lt;Text style={{ fontSize: 22, fontWeight: 'bold', color: '#0E3F8C' }}&gt;时间尺度假设&lt;/Text&gt;&#13;&#10;                &lt;/Box&gt;&#13;&#10;                &lt;Box style={{ flexDirection: 'column', gap: 8 }}&gt;&#13;&#10;                    &lt;Box style={{ flexDirection: 'row', gap: 8 }}&gt;&#13;&#10;                        &lt;Box style={{ width: 66, background: '#E8EFF8', borderRadius: 3, paddingTop: 4, paddingBottom: 4, alignItems: 'center' }}&gt;&#13;&#10;                            &lt;Text style={{ fontSize: 15, color: '#0E3F8C', fontWeight: 'bold' }}&gt;内容&lt;/Text&gt;&#13;&#10;                        &lt;/Box&gt;&#13;&#10;                        &lt;Text style={{ fontSize: 17, color: '#1A2230', lineHeight: 1.45, flex: 1 }}&gt;时间聚合可能掩盖短时能力约束；偏差幅度由负荷、气候与传统需求峰值重合决定，不预设严格单调&lt;/Text&gt;&#13;&#10;                    &lt;/Box&gt;&#13;&#10;                    &lt;Box style={{ flexDirection: 'row', gap: 8 }}&gt;&#13;&#10;                        &lt;Box style={{ width: 66, background: '#E8EFF8', borderRadius: 3, paddingTop: 4, paddingBottom: 4, alignItems: 'center' }}&gt;&#13;&#10;                            &lt;Text style={{ fontSize: 15, color: '#0E3F8C', fontWeight: 'bold' }}&gt;触发&lt;/Text&gt;&#13;&#10;                        &lt;/Box&gt;&#13;&#10;                        &lt;Text style={{ fontSize: 17, color: '#1A2230', lineHeight: 1.45, flex: 1 }}&gt;保持年总水量与总负荷可比，仅改变峰值时长与湿球温度、需求峰值的重合&lt;/Text&gt;&#13;&#10;                    &lt;/Box&gt;&#13;&#10;                    &lt;Box style={{ flexDirection: 'row', gap: 8 }}&gt;&#13;&#10;                        &lt;Box style={{ width: 66, background: '#E8EFF8', borderRadius: 3, paddingTop: 4, paddingBottom: 4, alignItems: 'center' }}&gt;&#13;&#10;                            &lt;Text style={{ fontSize: 15, color: '#0E3F8C', fontWeight: 'bold' }}&gt;观测&lt;/Text&gt;&#13;&#10;                        &lt;/Box&gt;&#13;&#10;                        &lt;Text style={{ fontSize: 17, color: '#1A2230', lineHeight: 1.45, flex: 1 }}&gt;年均与峰值 CAWCC 之差、失效时长、恢复时间与峰值重合指数&lt;/Text&gt;&#13;&#10;                    &lt;/Box&gt;&#13;&#10;                    &lt;Box style={{ flexDirection: 'row', gap: 8 }}&gt;&#13;&#10;                        &lt;Box style={{ width: 66, background: '#FDECEC', borderRadius: 3, paddingTop: 4, paddingBottom: 4, alignItems: 'center' }}&gt;&#13;&#10;                            &lt;Text style={{ fontSize: 15, color: '#D9534F', fontWeight: 'bold' }}&gt;证伪&lt;/Text&gt;&#13;&#10;                        &lt;/Box&gt;&#13;&#10;                        &lt;Text style={{ fontSize: 17, color: '#1A2230', lineHeight: 1.45, flex: 1 }}&gt;若边界提前量在气候变化与负荷时序扰动下始终接近零，则 H2 不成立&lt;/Text&gt;&#13;&#10;                    &lt;/Box&gt;&#13;&#10;                &lt;/Box&gt;&#13;&#10;            &lt;/Box&gt;&#13;&#10;            &lt;Box style={{ flex: 1, background: '#F7F9FC', border: '1px solid #D6DCE5', borderTop: '5px solid #1E4FA8', borderRadius: 6, padding: 14, flexDirection: 'column' }}&gt;&#13;&#10;                &lt;Box style={{ flexDirection: 'row', alignItems: 'center', gap: 10, marginBottom: 8 }}&gt;&#13;&#10;                    &lt;Box style={{ width: 46, height: 34, background: '#1E4FA8', borderRadius: 4, justifyContent: 'center', alignItems: 'center' }}&gt;&#13;&#10;                        &lt;Text style={{ fontSize: 18, color: '#FFFFFF', fontWeight: 'bold' }}&gt;H3&lt;/Text&gt;&#13;&#10;                    &lt;/Box&gt;&#13;&#10;                    &lt;Text style={{ fontSize: 22, fontWeight: 'bold', color: '#0E3F8C' }}&gt;瓶颈迁移假设&lt;/Text&gt;&#13;&#10;                &lt;/Box&gt;&#13;&#10;                &lt;Box style={{ flexDirection: 'column', gap: 8 }}&gt;&#13;&#10;                    &lt;Box style={{ flexDirection: 'row', gap: 8 }}&gt;&#13;&#10;                        &lt;Box style={{ width: 66, background: '#E8EFF8', borderRadius: 3, paddingTop: 4, paddingBottom: 4, alignItems: 'center' }}&gt;&#13;&#10;                            &lt;Text style={{ fontSize: 15, color: '#0E3F8C', fontWeight: 'bold' }}&gt;内容&lt;/Text&gt;&#13;&#10;                        &lt;/Box&gt;&#13;&#10;                        &lt;Text style={{ fontSize: 17, color: '#1A2230', lineHeight: 1.45, flex: 1 }}&gt;干预会改变主导约束，单项扩容的 CAWCC 增益具有阶段性；再生水作为重点案例检验&lt;/Text&gt;&#13;&#10;                    &lt;/Box&gt;&#13;&#10;                    &lt;Box style={{ flexDirection: 'row', gap: 8 }}&gt;&#13;&#10;                        &lt;Box style={{ width: 66, background: '#E8EFF8', borderRadius: 3, paddingTop: 4, paddingBottom: 4, alignItems: 'center' }}&gt;&#13;&#10;                            &lt;Text style={{ fontSize: 15, color: '#0E3F8C', fontWeight: 'bold' }}&gt;触发&lt;/Text&gt;&#13;&#10;                        &lt;/Box&gt;&#13;&#10;                        &lt;Text style={{ fontSize: 17, color: '#1A2230', lineHeight: 1.45, flex: 1 }}&gt;逐项解除水源、给水、污水、再生水、储存与冷却约束，其余条件不变&lt;/Text&gt;&#13;&#10;                    &lt;/Box&gt;&#13;&#10;                    &lt;Box style={{ flexDirection: 'row', gap: 8 }}&gt;&#13;&#10;                        &lt;Box style={{ width: 66, background: '#E8EFF8', borderRadius: 3, paddingTop: 4, paddingBottom: 4, alignItems: 'center' }}&gt;&#13;&#10;                            &lt;Text style={{ fontSize: 15, color: '#0E3F8C', fontWeight: 'bold' }}&gt;观测&lt;/Text&gt;&#13;&#10;                        &lt;/Box&gt;&#13;&#10;                        &lt;Text style={{ fontSize: 17, color: '#1A2230', lineHeight: 1.45, flex: 1 }}&gt;各约束剩余裕度、首次失效容量、瓶颈类型与单位干预 CAWCC 增量&lt;/Text&gt;&#13;&#10;                    &lt;/Box&gt;&#13;&#10;                    &lt;Box style={{ flexDirection: 'row', gap: 8 }}&gt;&#13;&#10;                        &lt;Box style={{ width: 66, background: '#FDECEC', borderRadius: 3, paddingTop: 4, paddingBottom: 4, alignItems: 'center' }}&gt;&#13;&#10;                            &lt;Text style={{ fontSize: 15, color: '#D9534F', fontWeight: 'bold' }}&gt;证伪&lt;/Text&gt;&#13;&#10;                        &lt;/Box&gt;&#13;&#10;                        &lt;Text style={{ fontSize: 17, color: '#1A2230', lineHeight: 1.45, flex: 1 }}&gt;若干预后主导瓶颈不变且边际收益近似线性，则不存在可识别的迁移与转折&lt;/Text&gt;&#13;&#10;                    &lt;/Box&gt;&#13;&#10;                &lt;/Box&gt;&#13;&#10;            &lt;/Box&gt;&#13;&#10;        &lt;/Box&gt;&#13;&#10;        &lt;Box style={{ background: '#E8EFF8', borderLeft: '5px solid #1E4FA8', paddingLeft: 18, paddingTop: 10, paddingBottom: 10 }}&gt;&#13;&#10;            &lt;Text style={{ fontSize: 19, color: '#1A2230' }}&gt;三假设共用同一套输出指标与证据等级，过三重筛选才列为主要结论&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15 / 36&lt;/Text&gt;&#13;&#10;    &lt;/Box&gt;&#13;&#10;    &lt;Box style={{ position: 'absolute', left: 0, top: 72, width: 6, height: 608, flexDirection: 'column' }}&gt;&#13;&#10;                &lt;Box style={{ width: 6, height: 122, background: '#C9D6E8' }} /&gt;&#13;&#10;                &lt;Box style={{ width: 6, height: 122, background: '#C9D6E8' }} /&gt;&#13;&#10;                &lt;Box style={{ width: 6, height: 122, background: '#FFC107'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246" name="矩形 245"/>
          <p:cNvSpPr/>
          <p:nvPr/>
        </p:nvSpPr>
        <p:spPr>
          <a:xfrm>
            <a:off x="0" y="0"/>
            <a:ext cx="12192000" cy="6858000"/>
          </a:xfrm>
          <a:prstGeom prst="rect">
            <a:avLst/>
          </a:prstGeom>
          <a:solidFill>
            <a:srgbClr val="FFFFFF"/>
          </a:solidFill>
        </p:spPr>
        <p:txBody>
          <a:bodyPr/>
          <a:p/>
        </p:txBody>
      </p:sp>
      <p:sp>
        <p:nvSpPr>
          <p:cNvPr id="247" name="矩形 246"/>
          <p:cNvSpPr/>
          <p:nvPr/>
        </p:nvSpPr>
        <p:spPr>
          <a:xfrm>
            <a:off x="0" y="0"/>
            <a:ext cx="12192000" cy="685800"/>
          </a:xfrm>
          <a:prstGeom prst="rect">
            <a:avLst/>
          </a:prstGeom>
          <a:solidFill>
            <a:srgbClr val="0E3F8C"/>
          </a:solidFill>
        </p:spPr>
        <p:txBody>
          <a:bodyPr/>
          <a:p/>
        </p:txBody>
      </p:sp>
      <p:sp>
        <p:nvSpPr>
          <p:cNvPr id="248" name="圆角矩形 247"/>
          <p:cNvSpPr/>
          <p:nvPr/>
        </p:nvSpPr>
        <p:spPr>
          <a:xfrm>
            <a:off x="381000" y="152400"/>
            <a:ext cx="381000" cy="381000"/>
          </a:xfrm>
          <a:prstGeom prst="roundRect">
            <a:avLst>
              <a:gd name="adj" fmla="val 25000"/>
            </a:avLst>
          </a:prstGeom>
          <a:solidFill>
            <a:srgbClr val="12489A"/>
          </a:solidFill>
        </p:spPr>
        <p:txBody>
          <a:bodyPr/>
          <a:p/>
        </p:txBody>
      </p:sp>
      <p:pic>
        <p:nvPicPr>
          <p:cNvPr id="249" name="图片 248"/>
          <p:cNvPicPr>
            <a:picLocks noChangeAspect="1"/>
          </p:cNvPicPr>
          <p:nvPr/>
        </p:nvPicPr>
        <p:blipFill>
          <a:blip/>
          <a:stretch>
            <a:fillRect/>
          </a:stretch>
        </p:blipFill>
        <p:spPr>
          <a:xfrm>
            <a:off x="466725" y="238125"/>
            <a:ext cx="209550" cy="209550"/>
          </a:xfrm>
          <a:prstGeom prst="rect">
            <a:avLst/>
          </a:prstGeom>
        </p:spPr>
      </p:pic>
      <p:sp>
        <p:nvSpPr>
          <p:cNvPr id="250" name="文本框 249" descr="{&quot;isTemplate&quot;:true,&quot;type&quot;:&quot;text&quot;}"/>
          <p:cNvSpPr txBox="1"/>
          <p:nvPr/>
        </p:nvSpPr>
        <p:spPr>
          <a:xfrm>
            <a:off x="895350" y="180975"/>
            <a:ext cx="41433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三个研究假设均可由模拟实验证伪</a:t>
            </a:r>
            <a:endParaRPr lang="zh-CN" sz="2175" b="1">
              <a:solidFill>
                <a:srgbClr val="FFFFFF"/>
              </a:solidFill>
              <a:latin typeface="微软雅黑" panose="020B0503020204020204" charset="-122"/>
              <a:ea typeface="微软雅黑" panose="020B0503020204020204" charset="-122"/>
            </a:endParaRPr>
          </a:p>
        </p:txBody>
      </p:sp>
      <p:sp>
        <p:nvSpPr>
          <p:cNvPr id="251" name="文本框 250"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03 </a:t>
            </a:r>
            <a:r>
              <a:rPr lang="zh-CN" sz="1125">
                <a:solidFill>
                  <a:srgbClr val="AFC6E8"/>
                </a:solidFill>
                <a:latin typeface="微软雅黑" panose="020B0503020204020204" charset="-122"/>
                <a:ea typeface="微软雅黑" panose="020B0503020204020204" charset="-122"/>
              </a:rPr>
              <a:t>科学问题、假设与研究内容</a:t>
            </a:r>
            <a:endParaRPr lang="zh-CN" sz="1125">
              <a:solidFill>
                <a:srgbClr val="AFC6E8"/>
              </a:solidFill>
              <a:latin typeface="微软雅黑" panose="020B0503020204020204" charset="-122"/>
              <a:ea typeface="微软雅黑" panose="020B0503020204020204" charset="-122"/>
            </a:endParaRPr>
          </a:p>
        </p:txBody>
      </p:sp>
      <p:sp>
        <p:nvSpPr>
          <p:cNvPr id="252" name="圆角矩形 251"/>
          <p:cNvSpPr/>
          <p:nvPr/>
        </p:nvSpPr>
        <p:spPr>
          <a:xfrm>
            <a:off x="11468100" y="238125"/>
            <a:ext cx="342900" cy="219075"/>
          </a:xfrm>
          <a:prstGeom prst="roundRect">
            <a:avLst>
              <a:gd name="adj" fmla="val 13043"/>
            </a:avLst>
          </a:prstGeom>
          <a:solidFill>
            <a:srgbClr val="FFC107"/>
          </a:solidFill>
        </p:spPr>
        <p:txBody>
          <a:bodyPr/>
          <a:p/>
        </p:txBody>
      </p:sp>
      <p:sp>
        <p:nvSpPr>
          <p:cNvPr id="253" name="文本框 252"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15</a:t>
            </a:r>
            <a:endParaRPr lang="en-US" sz="1050" b="1">
              <a:solidFill>
                <a:srgbClr val="0B3A82"/>
              </a:solidFill>
              <a:latin typeface="微软雅黑" panose="020B0503020204020204" charset="-122"/>
              <a:ea typeface="微软雅黑" panose="020B0503020204020204" charset="-122"/>
            </a:endParaRPr>
          </a:p>
        </p:txBody>
      </p:sp>
      <p:sp>
        <p:nvSpPr>
          <p:cNvPr id="254" name="圆角矩形 253"/>
          <p:cNvSpPr/>
          <p:nvPr/>
        </p:nvSpPr>
        <p:spPr>
          <a:xfrm>
            <a:off x="381000" y="800100"/>
            <a:ext cx="11430000" cy="438150"/>
          </a:xfrm>
          <a:prstGeom prst="roundRect">
            <a:avLst>
              <a:gd name="adj" fmla="val 8696"/>
            </a:avLst>
          </a:prstGeom>
          <a:solidFill>
            <a:srgbClr val="0B3A82"/>
          </a:solidFill>
        </p:spPr>
        <p:txBody>
          <a:bodyPr/>
          <a:p/>
        </p:txBody>
      </p:sp>
      <p:sp>
        <p:nvSpPr>
          <p:cNvPr id="255" name="文本框 254"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每个假设都给出触发条件、观测量与证伪路径，保证假设可检验</a:t>
            </a:r>
            <a:endParaRPr lang="zh-CN" sz="1575">
              <a:solidFill>
                <a:srgbClr val="FFFFFF"/>
              </a:solidFill>
              <a:latin typeface="微软雅黑" panose="020B0503020204020204" charset="-122"/>
              <a:ea typeface="微软雅黑" panose="020B0503020204020204" charset="-122"/>
            </a:endParaRPr>
          </a:p>
        </p:txBody>
      </p:sp>
      <p:sp>
        <p:nvSpPr>
          <p:cNvPr id="256" name="圆角矩形 255"/>
          <p:cNvSpPr/>
          <p:nvPr/>
        </p:nvSpPr>
        <p:spPr>
          <a:xfrm>
            <a:off x="381000" y="1400175"/>
            <a:ext cx="3724275" cy="4305300"/>
          </a:xfrm>
          <a:prstGeom prst="roundRect">
            <a:avLst>
              <a:gd name="adj" fmla="val 1535"/>
            </a:avLst>
          </a:prstGeom>
          <a:solidFill>
            <a:srgbClr val="F7F9FC"/>
          </a:solidFill>
        </p:spPr>
        <p:txBody>
          <a:bodyPr/>
          <a:p/>
        </p:txBody>
      </p:sp>
      <p:sp>
        <p:nvSpPr>
          <p:cNvPr id="257" name="任意多边形 256"/>
          <p:cNvSpPr/>
          <p:nvPr/>
        </p:nvSpPr>
        <p:spPr>
          <a:xfrm>
            <a:off x="381000" y="1400175"/>
            <a:ext cx="3724275" cy="4305300"/>
          </a:xfrm>
          <a:custGeom>
            <a:avLst/>
            <a:gdLst/>
            <a:ahLst/>
            <a:cxnLst/>
            <a:pathLst>
              <a:path w="391" h="452">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258" name="圆角矩形 257"/>
          <p:cNvSpPr/>
          <p:nvPr/>
        </p:nvSpPr>
        <p:spPr>
          <a:xfrm>
            <a:off x="514350" y="1533525"/>
            <a:ext cx="438150" cy="323850"/>
          </a:xfrm>
          <a:prstGeom prst="roundRect">
            <a:avLst>
              <a:gd name="adj" fmla="val 11765"/>
            </a:avLst>
          </a:prstGeom>
          <a:solidFill>
            <a:srgbClr val="1E4FA8"/>
          </a:solidFill>
        </p:spPr>
        <p:txBody>
          <a:bodyPr/>
          <a:p/>
        </p:txBody>
      </p:sp>
      <p:sp>
        <p:nvSpPr>
          <p:cNvPr id="259" name="文本框 258" descr="{&quot;isTemplate&quot;:true,&quot;type&quot;:&quot;text&quot;}"/>
          <p:cNvSpPr txBox="1"/>
          <p:nvPr/>
        </p:nvSpPr>
        <p:spPr>
          <a:xfrm>
            <a:off x="609600" y="1590675"/>
            <a:ext cx="247650" cy="209550"/>
          </a:xfrm>
          <a:prstGeom prst="rect">
            <a:avLst/>
          </a:prstGeom>
        </p:spPr>
        <p:txBody>
          <a:bodyPr wrap="none" lIns="0" tIns="0" rIns="0" bIns="0"/>
          <a:p>
            <a:pPr>
              <a:lnSpc>
                <a:spcPct val="100000"/>
              </a:lnSpc>
            </a:pPr>
            <a:r>
              <a:rPr lang="en-US" sz="1350" b="1">
                <a:solidFill>
                  <a:srgbClr val="FFFFFF"/>
                </a:solidFill>
                <a:latin typeface="微软雅黑" panose="020B0503020204020204" charset="-122"/>
                <a:ea typeface="微软雅黑" panose="020B0503020204020204" charset="-122"/>
              </a:rPr>
              <a:t>H1</a:t>
            </a:r>
            <a:endParaRPr lang="en-US" sz="1350" b="1">
              <a:solidFill>
                <a:srgbClr val="FFFFFF"/>
              </a:solidFill>
              <a:latin typeface="微软雅黑" panose="020B0503020204020204" charset="-122"/>
              <a:ea typeface="微软雅黑" panose="020B0503020204020204" charset="-122"/>
            </a:endParaRPr>
          </a:p>
        </p:txBody>
      </p:sp>
      <p:sp>
        <p:nvSpPr>
          <p:cNvPr id="260" name="文本框 259" descr="{&quot;isTemplate&quot;:true,&quot;type&quot;:&quot;text&quot;}"/>
          <p:cNvSpPr txBox="1"/>
          <p:nvPr/>
        </p:nvSpPr>
        <p:spPr>
          <a:xfrm>
            <a:off x="1047750" y="1571625"/>
            <a:ext cx="1257300" cy="257175"/>
          </a:xfrm>
          <a:prstGeom prst="rect">
            <a:avLst/>
          </a:prstGeom>
        </p:spPr>
        <p:txBody>
          <a:bodyPr wrap="none" lIns="0" tIns="0" rIns="0" bIns="0"/>
          <a:p>
            <a:pPr>
              <a:lnSpc>
                <a:spcPct val="100000"/>
              </a:lnSpc>
            </a:pPr>
            <a:r>
              <a:rPr lang="zh-CN" sz="1650" b="1">
                <a:solidFill>
                  <a:srgbClr val="0E3F8C"/>
                </a:solidFill>
                <a:latin typeface="微软雅黑" panose="020B0503020204020204" charset="-122"/>
                <a:ea typeface="微软雅黑" panose="020B0503020204020204" charset="-122"/>
              </a:rPr>
              <a:t>代谢结构假设</a:t>
            </a:r>
            <a:endParaRPr lang="zh-CN" sz="1650" b="1">
              <a:solidFill>
                <a:srgbClr val="0E3F8C"/>
              </a:solidFill>
              <a:latin typeface="微软雅黑" panose="020B0503020204020204" charset="-122"/>
              <a:ea typeface="微软雅黑" panose="020B0503020204020204" charset="-122"/>
            </a:endParaRPr>
          </a:p>
        </p:txBody>
      </p:sp>
      <p:sp>
        <p:nvSpPr>
          <p:cNvPr id="261" name="圆角矩形 260"/>
          <p:cNvSpPr/>
          <p:nvPr/>
        </p:nvSpPr>
        <p:spPr>
          <a:xfrm>
            <a:off x="514350" y="1933575"/>
            <a:ext cx="628650" cy="847725"/>
          </a:xfrm>
          <a:prstGeom prst="roundRect">
            <a:avLst>
              <a:gd name="adj" fmla="val 4545"/>
            </a:avLst>
          </a:prstGeom>
          <a:solidFill>
            <a:srgbClr val="E8EFF8"/>
          </a:solidFill>
        </p:spPr>
        <p:txBody>
          <a:bodyPr/>
          <a:p/>
        </p:txBody>
      </p:sp>
      <p:sp>
        <p:nvSpPr>
          <p:cNvPr id="262" name="文本框 261" descr="{&quot;isTemplate&quot;:true,&quot;type&quot;:&quot;text&quot;}"/>
          <p:cNvSpPr txBox="1"/>
          <p:nvPr/>
        </p:nvSpPr>
        <p:spPr>
          <a:xfrm>
            <a:off x="685800" y="1971675"/>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内容</a:t>
            </a:r>
            <a:endParaRPr lang="zh-CN" sz="1125" b="1">
              <a:solidFill>
                <a:srgbClr val="0E3F8C"/>
              </a:solidFill>
              <a:latin typeface="微软雅黑" panose="020B0503020204020204" charset="-122"/>
              <a:ea typeface="微软雅黑" panose="020B0503020204020204" charset="-122"/>
            </a:endParaRPr>
          </a:p>
        </p:txBody>
      </p:sp>
      <p:sp>
        <p:nvSpPr>
          <p:cNvPr id="263" name="文本框 262" descr="{&quot;isTemplate&quot;:true,&quot;type&quot;:&quot;text&quot;}"/>
          <p:cNvSpPr txBox="1"/>
          <p:nvPr/>
        </p:nvSpPr>
        <p:spPr>
          <a:xfrm>
            <a:off x="1219200" y="1933575"/>
            <a:ext cx="2752725" cy="847725"/>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低负荷主要是规模效应；接近设施剩余容量或改变水源时，比例关系出现非线性变化</a:t>
            </a:r>
            <a:endParaRPr lang="zh-CN" sz="1275">
              <a:solidFill>
                <a:srgbClr val="1A2230"/>
              </a:solidFill>
              <a:latin typeface="微软雅黑" panose="020B0503020204020204" charset="-122"/>
              <a:ea typeface="微软雅黑" panose="020B0503020204020204" charset="-122"/>
            </a:endParaRPr>
          </a:p>
        </p:txBody>
      </p:sp>
      <p:sp>
        <p:nvSpPr>
          <p:cNvPr id="264" name="圆角矩形 263"/>
          <p:cNvSpPr/>
          <p:nvPr/>
        </p:nvSpPr>
        <p:spPr>
          <a:xfrm>
            <a:off x="514350" y="2857500"/>
            <a:ext cx="628650" cy="571500"/>
          </a:xfrm>
          <a:prstGeom prst="roundRect">
            <a:avLst>
              <a:gd name="adj" fmla="val 5000"/>
            </a:avLst>
          </a:prstGeom>
          <a:solidFill>
            <a:srgbClr val="E8EFF8"/>
          </a:solidFill>
        </p:spPr>
        <p:txBody>
          <a:bodyPr/>
          <a:p/>
        </p:txBody>
      </p:sp>
      <p:sp>
        <p:nvSpPr>
          <p:cNvPr id="265" name="文本框 264" descr="{&quot;isTemplate&quot;:true,&quot;type&quot;:&quot;text&quot;}"/>
          <p:cNvSpPr txBox="1"/>
          <p:nvPr/>
        </p:nvSpPr>
        <p:spPr>
          <a:xfrm>
            <a:off x="685800" y="2895600"/>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触发</a:t>
            </a:r>
            <a:endParaRPr lang="zh-CN" sz="1125" b="1">
              <a:solidFill>
                <a:srgbClr val="0E3F8C"/>
              </a:solidFill>
              <a:latin typeface="微软雅黑" panose="020B0503020204020204" charset="-122"/>
              <a:ea typeface="微软雅黑" panose="020B0503020204020204" charset="-122"/>
            </a:endParaRPr>
          </a:p>
        </p:txBody>
      </p:sp>
      <p:sp>
        <p:nvSpPr>
          <p:cNvPr id="266" name="文本框 265" descr="{&quot;isTemplate&quot;:true,&quot;type&quot;:&quot;text&quot;}"/>
          <p:cNvSpPr txBox="1"/>
          <p:nvPr/>
        </p:nvSpPr>
        <p:spPr>
          <a:xfrm>
            <a:off x="1219200" y="2857500"/>
            <a:ext cx="2752725" cy="571500"/>
          </a:xfrm>
          <a:prstGeom prst="rect">
            <a:avLst/>
          </a:prstGeom>
        </p:spPr>
        <p:txBody>
          <a:bodyPr wrap="square" lIns="0" tIns="0" rIns="0" bIns="0">
            <a:normAutofit/>
          </a:bodyPr>
          <a:p>
            <a:pPr>
              <a:lnSpc>
                <a:spcPct val="145000"/>
              </a:lnSpc>
            </a:pPr>
            <a:r>
              <a:rPr lang="en-US" sz="1275">
                <a:solidFill>
                  <a:srgbClr val="1A2230"/>
                </a:solidFill>
                <a:latin typeface="微软雅黑" panose="020B0503020204020204" charset="-122"/>
                <a:ea typeface="微软雅黑" panose="020B0503020204020204" charset="-122"/>
              </a:rPr>
              <a:t>AI </a:t>
            </a:r>
            <a:r>
              <a:rPr lang="zh-CN" sz="1275">
                <a:solidFill>
                  <a:srgbClr val="1A2230"/>
                </a:solidFill>
                <a:latin typeface="微软雅黑" panose="020B0503020204020204" charset="-122"/>
                <a:ea typeface="微软雅黑" panose="020B0503020204020204" charset="-122"/>
              </a:rPr>
              <a:t>取水占基准供水、或峰值需求占接入能力达到某区间</a:t>
            </a:r>
            <a:endParaRPr lang="zh-CN" sz="1275">
              <a:solidFill>
                <a:srgbClr val="1A2230"/>
              </a:solidFill>
              <a:latin typeface="微软雅黑" panose="020B0503020204020204" charset="-122"/>
              <a:ea typeface="微软雅黑" panose="020B0503020204020204" charset="-122"/>
            </a:endParaRPr>
          </a:p>
        </p:txBody>
      </p:sp>
      <p:sp>
        <p:nvSpPr>
          <p:cNvPr id="267" name="圆角矩形 266"/>
          <p:cNvSpPr/>
          <p:nvPr/>
        </p:nvSpPr>
        <p:spPr>
          <a:xfrm>
            <a:off x="514350" y="3505200"/>
            <a:ext cx="628650" cy="571500"/>
          </a:xfrm>
          <a:prstGeom prst="roundRect">
            <a:avLst>
              <a:gd name="adj" fmla="val 5000"/>
            </a:avLst>
          </a:prstGeom>
          <a:solidFill>
            <a:srgbClr val="E8EFF8"/>
          </a:solidFill>
        </p:spPr>
        <p:txBody>
          <a:bodyPr/>
          <a:p/>
        </p:txBody>
      </p:sp>
      <p:sp>
        <p:nvSpPr>
          <p:cNvPr id="268" name="文本框 267" descr="{&quot;isTemplate&quot;:true,&quot;type&quot;:&quot;text&quot;}"/>
          <p:cNvSpPr txBox="1"/>
          <p:nvPr/>
        </p:nvSpPr>
        <p:spPr>
          <a:xfrm>
            <a:off x="685800" y="3543300"/>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观测</a:t>
            </a:r>
            <a:endParaRPr lang="zh-CN" sz="1125" b="1">
              <a:solidFill>
                <a:srgbClr val="0E3F8C"/>
              </a:solidFill>
              <a:latin typeface="微软雅黑" panose="020B0503020204020204" charset="-122"/>
              <a:ea typeface="微软雅黑" panose="020B0503020204020204" charset="-122"/>
            </a:endParaRPr>
          </a:p>
        </p:txBody>
      </p:sp>
      <p:sp>
        <p:nvSpPr>
          <p:cNvPr id="269" name="文本框 268" descr="{&quot;isTemplate&quot;:true,&quot;type&quot;:&quot;text&quot;}"/>
          <p:cNvSpPr txBox="1"/>
          <p:nvPr/>
        </p:nvSpPr>
        <p:spPr>
          <a:xfrm>
            <a:off x="1219200" y="3505200"/>
            <a:ext cx="2752725" cy="571500"/>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结构距离、淡水依赖率、内部循环率、消耗率与回流率的导数变化</a:t>
            </a:r>
            <a:endParaRPr lang="zh-CN" sz="1275">
              <a:solidFill>
                <a:srgbClr val="1A2230"/>
              </a:solidFill>
              <a:latin typeface="微软雅黑" panose="020B0503020204020204" charset="-122"/>
              <a:ea typeface="微软雅黑" panose="020B0503020204020204" charset="-122"/>
            </a:endParaRPr>
          </a:p>
        </p:txBody>
      </p:sp>
      <p:sp>
        <p:nvSpPr>
          <p:cNvPr id="270" name="圆角矩形 269"/>
          <p:cNvSpPr/>
          <p:nvPr/>
        </p:nvSpPr>
        <p:spPr>
          <a:xfrm>
            <a:off x="514350" y="4152900"/>
            <a:ext cx="628650" cy="847725"/>
          </a:xfrm>
          <a:prstGeom prst="roundRect">
            <a:avLst>
              <a:gd name="adj" fmla="val 4545"/>
            </a:avLst>
          </a:prstGeom>
          <a:solidFill>
            <a:srgbClr val="FDECEC"/>
          </a:solidFill>
        </p:spPr>
        <p:txBody>
          <a:bodyPr/>
          <a:p/>
        </p:txBody>
      </p:sp>
      <p:sp>
        <p:nvSpPr>
          <p:cNvPr id="271" name="文本框 270" descr="{&quot;isTemplate&quot;:true,&quot;type&quot;:&quot;text&quot;}"/>
          <p:cNvSpPr txBox="1"/>
          <p:nvPr/>
        </p:nvSpPr>
        <p:spPr>
          <a:xfrm>
            <a:off x="685800" y="4191000"/>
            <a:ext cx="285750" cy="171450"/>
          </a:xfrm>
          <a:prstGeom prst="rect">
            <a:avLst/>
          </a:prstGeom>
        </p:spPr>
        <p:txBody>
          <a:bodyPr wrap="none" lIns="0" tIns="0" rIns="0" bIns="0"/>
          <a:p>
            <a:pPr>
              <a:lnSpc>
                <a:spcPct val="100000"/>
              </a:lnSpc>
            </a:pPr>
            <a:r>
              <a:rPr lang="zh-CN" sz="1125" b="1">
                <a:solidFill>
                  <a:srgbClr val="D9534F"/>
                </a:solidFill>
                <a:latin typeface="微软雅黑" panose="020B0503020204020204" charset="-122"/>
                <a:ea typeface="微软雅黑" panose="020B0503020204020204" charset="-122"/>
              </a:rPr>
              <a:t>证伪</a:t>
            </a:r>
            <a:endParaRPr lang="zh-CN" sz="1125" b="1">
              <a:solidFill>
                <a:srgbClr val="D9534F"/>
              </a:solidFill>
              <a:latin typeface="微软雅黑" panose="020B0503020204020204" charset="-122"/>
              <a:ea typeface="微软雅黑" panose="020B0503020204020204" charset="-122"/>
            </a:endParaRPr>
          </a:p>
        </p:txBody>
      </p:sp>
      <p:sp>
        <p:nvSpPr>
          <p:cNvPr id="272" name="文本框 271" descr="{&quot;isTemplate&quot;:true,&quot;type&quot;:&quot;text&quot;}"/>
          <p:cNvSpPr txBox="1"/>
          <p:nvPr/>
        </p:nvSpPr>
        <p:spPr>
          <a:xfrm>
            <a:off x="1219200" y="4152900"/>
            <a:ext cx="2752725" cy="847725"/>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若全容量区间内结构指标保持线性，且折点可由单一容量截断解释，则</a:t>
            </a:r>
            <a:r>
              <a:rPr lang="en-US" sz="1275">
                <a:solidFill>
                  <a:srgbClr val="1A2230"/>
                </a:solidFill>
                <a:latin typeface="微软雅黑" panose="020B0503020204020204" charset="-122"/>
                <a:ea typeface="微软雅黑" panose="020B0503020204020204" charset="-122"/>
              </a:rPr>
              <a:t> H1 </a:t>
            </a:r>
            <a:r>
              <a:rPr lang="zh-CN" sz="1275">
                <a:solidFill>
                  <a:srgbClr val="1A2230"/>
                </a:solidFill>
                <a:latin typeface="微软雅黑" panose="020B0503020204020204" charset="-122"/>
                <a:ea typeface="微软雅黑" panose="020B0503020204020204" charset="-122"/>
              </a:rPr>
              <a:t>不成立</a:t>
            </a:r>
            <a:endParaRPr lang="zh-CN" sz="1275">
              <a:solidFill>
                <a:srgbClr val="1A2230"/>
              </a:solidFill>
              <a:latin typeface="微软雅黑" panose="020B0503020204020204" charset="-122"/>
              <a:ea typeface="微软雅黑" panose="020B0503020204020204" charset="-122"/>
            </a:endParaRPr>
          </a:p>
        </p:txBody>
      </p:sp>
      <p:sp>
        <p:nvSpPr>
          <p:cNvPr id="273" name="圆角矩形 272"/>
          <p:cNvSpPr/>
          <p:nvPr/>
        </p:nvSpPr>
        <p:spPr>
          <a:xfrm>
            <a:off x="4238625" y="1400175"/>
            <a:ext cx="3714750" cy="4305300"/>
          </a:xfrm>
          <a:prstGeom prst="roundRect">
            <a:avLst>
              <a:gd name="adj" fmla="val 1538"/>
            </a:avLst>
          </a:prstGeom>
          <a:solidFill>
            <a:srgbClr val="F7F9FC"/>
          </a:solidFill>
        </p:spPr>
        <p:txBody>
          <a:bodyPr/>
          <a:p/>
        </p:txBody>
      </p:sp>
      <p:sp>
        <p:nvSpPr>
          <p:cNvPr id="274" name="任意多边形 273"/>
          <p:cNvSpPr/>
          <p:nvPr/>
        </p:nvSpPr>
        <p:spPr>
          <a:xfrm>
            <a:off x="4238625" y="1400175"/>
            <a:ext cx="3714750" cy="4305300"/>
          </a:xfrm>
          <a:custGeom>
            <a:avLst/>
            <a:gdLst/>
            <a:ahLst/>
            <a:cxnLst/>
            <a:pathLst>
              <a:path w="390" h="452">
                <a:moveTo>
                  <a:pt x="384" y="0"/>
                </a:moveTo>
                <a:cubicBezTo>
                  <a:pt x="387" y="0"/>
                  <a:pt x="390" y="3"/>
                  <a:pt x="390" y="6"/>
                </a:cubicBezTo>
                <a:cubicBezTo>
                  <a:pt x="390" y="5"/>
                  <a:pt x="389" y="5"/>
                  <a:pt x="389" y="5"/>
                </a:cubicBezTo>
                <a:lnTo>
                  <a:pt x="1" y="5"/>
                </a:lnTo>
                <a:cubicBezTo>
                  <a:pt x="0" y="5"/>
                  <a:pt x="0" y="5"/>
                  <a:pt x="0" y="6"/>
                </a:cubicBezTo>
                <a:cubicBezTo>
                  <a:pt x="0" y="3"/>
                  <a:pt x="3" y="0"/>
                  <a:pt x="6" y="0"/>
                </a:cubicBezTo>
                <a:lnTo>
                  <a:pt x="384" y="0"/>
                </a:lnTo>
                <a:close/>
              </a:path>
            </a:pathLst>
          </a:custGeom>
          <a:solidFill>
            <a:srgbClr val="1E4FA8"/>
          </a:solidFill>
        </p:spPr>
        <p:txBody>
          <a:bodyPr/>
          <a:p/>
        </p:txBody>
      </p:sp>
      <p:sp>
        <p:nvSpPr>
          <p:cNvPr id="275" name="圆角矩形 274"/>
          <p:cNvSpPr/>
          <p:nvPr/>
        </p:nvSpPr>
        <p:spPr>
          <a:xfrm>
            <a:off x="4371975" y="1533525"/>
            <a:ext cx="438150" cy="323850"/>
          </a:xfrm>
          <a:prstGeom prst="roundRect">
            <a:avLst>
              <a:gd name="adj" fmla="val 11765"/>
            </a:avLst>
          </a:prstGeom>
          <a:solidFill>
            <a:srgbClr val="1E4FA8"/>
          </a:solidFill>
        </p:spPr>
        <p:txBody>
          <a:bodyPr/>
          <a:p/>
        </p:txBody>
      </p:sp>
      <p:sp>
        <p:nvSpPr>
          <p:cNvPr id="276" name="文本框 275" descr="{&quot;isTemplate&quot;:true,&quot;type&quot;:&quot;text&quot;}"/>
          <p:cNvSpPr txBox="1"/>
          <p:nvPr/>
        </p:nvSpPr>
        <p:spPr>
          <a:xfrm>
            <a:off x="4467225" y="1590675"/>
            <a:ext cx="247650" cy="209550"/>
          </a:xfrm>
          <a:prstGeom prst="rect">
            <a:avLst/>
          </a:prstGeom>
        </p:spPr>
        <p:txBody>
          <a:bodyPr wrap="none" lIns="0" tIns="0" rIns="0" bIns="0"/>
          <a:p>
            <a:pPr>
              <a:lnSpc>
                <a:spcPct val="100000"/>
              </a:lnSpc>
            </a:pPr>
            <a:r>
              <a:rPr lang="en-US" sz="1350" b="1">
                <a:solidFill>
                  <a:srgbClr val="FFFFFF"/>
                </a:solidFill>
                <a:latin typeface="微软雅黑" panose="020B0503020204020204" charset="-122"/>
                <a:ea typeface="微软雅黑" panose="020B0503020204020204" charset="-122"/>
              </a:rPr>
              <a:t>H2</a:t>
            </a:r>
            <a:endParaRPr lang="en-US" sz="1350" b="1">
              <a:solidFill>
                <a:srgbClr val="FFFFFF"/>
              </a:solidFill>
              <a:latin typeface="微软雅黑" panose="020B0503020204020204" charset="-122"/>
              <a:ea typeface="微软雅黑" panose="020B0503020204020204" charset="-122"/>
            </a:endParaRPr>
          </a:p>
        </p:txBody>
      </p:sp>
      <p:sp>
        <p:nvSpPr>
          <p:cNvPr id="277" name="文本框 276" descr="{&quot;isTemplate&quot;:true,&quot;type&quot;:&quot;text&quot;}"/>
          <p:cNvSpPr txBox="1"/>
          <p:nvPr/>
        </p:nvSpPr>
        <p:spPr>
          <a:xfrm>
            <a:off x="4905375" y="1571625"/>
            <a:ext cx="1257300" cy="257175"/>
          </a:xfrm>
          <a:prstGeom prst="rect">
            <a:avLst/>
          </a:prstGeom>
        </p:spPr>
        <p:txBody>
          <a:bodyPr wrap="none" lIns="0" tIns="0" rIns="0" bIns="0"/>
          <a:p>
            <a:pPr>
              <a:lnSpc>
                <a:spcPct val="100000"/>
              </a:lnSpc>
            </a:pPr>
            <a:r>
              <a:rPr lang="zh-CN" sz="1650" b="1">
                <a:solidFill>
                  <a:srgbClr val="0E3F8C"/>
                </a:solidFill>
                <a:latin typeface="微软雅黑" panose="020B0503020204020204" charset="-122"/>
                <a:ea typeface="微软雅黑" panose="020B0503020204020204" charset="-122"/>
              </a:rPr>
              <a:t>时间尺度假设</a:t>
            </a:r>
            <a:endParaRPr lang="zh-CN" sz="1650" b="1">
              <a:solidFill>
                <a:srgbClr val="0E3F8C"/>
              </a:solidFill>
              <a:latin typeface="微软雅黑" panose="020B0503020204020204" charset="-122"/>
              <a:ea typeface="微软雅黑" panose="020B0503020204020204" charset="-122"/>
            </a:endParaRPr>
          </a:p>
        </p:txBody>
      </p:sp>
      <p:sp>
        <p:nvSpPr>
          <p:cNvPr id="278" name="圆角矩形 277"/>
          <p:cNvSpPr/>
          <p:nvPr/>
        </p:nvSpPr>
        <p:spPr>
          <a:xfrm>
            <a:off x="4371975" y="1933575"/>
            <a:ext cx="628650" cy="847725"/>
          </a:xfrm>
          <a:prstGeom prst="roundRect">
            <a:avLst>
              <a:gd name="adj" fmla="val 4545"/>
            </a:avLst>
          </a:prstGeom>
          <a:solidFill>
            <a:srgbClr val="E8EFF8"/>
          </a:solidFill>
        </p:spPr>
        <p:txBody>
          <a:bodyPr/>
          <a:p/>
        </p:txBody>
      </p:sp>
      <p:sp>
        <p:nvSpPr>
          <p:cNvPr id="279" name="文本框 278" descr="{&quot;isTemplate&quot;:true,&quot;type&quot;:&quot;text&quot;}"/>
          <p:cNvSpPr txBox="1"/>
          <p:nvPr/>
        </p:nvSpPr>
        <p:spPr>
          <a:xfrm>
            <a:off x="4543425" y="1971675"/>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内容</a:t>
            </a:r>
            <a:endParaRPr lang="zh-CN" sz="1125" b="1">
              <a:solidFill>
                <a:srgbClr val="0E3F8C"/>
              </a:solidFill>
              <a:latin typeface="微软雅黑" panose="020B0503020204020204" charset="-122"/>
              <a:ea typeface="微软雅黑" panose="020B0503020204020204" charset="-122"/>
            </a:endParaRPr>
          </a:p>
        </p:txBody>
      </p:sp>
      <p:sp>
        <p:nvSpPr>
          <p:cNvPr id="280" name="文本框 279" descr="{&quot;isTemplate&quot;:true,&quot;type&quot;:&quot;text&quot;}"/>
          <p:cNvSpPr txBox="1"/>
          <p:nvPr/>
        </p:nvSpPr>
        <p:spPr>
          <a:xfrm>
            <a:off x="5076825" y="1933575"/>
            <a:ext cx="2743200" cy="847725"/>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时间聚合可能掩盖短时能力约束；偏差幅度由负荷、气候与传统需求峰值重合决定，不预设严格单调</a:t>
            </a:r>
            <a:endParaRPr lang="zh-CN" sz="1275">
              <a:solidFill>
                <a:srgbClr val="1A2230"/>
              </a:solidFill>
              <a:latin typeface="微软雅黑" panose="020B0503020204020204" charset="-122"/>
              <a:ea typeface="微软雅黑" panose="020B0503020204020204" charset="-122"/>
            </a:endParaRPr>
          </a:p>
        </p:txBody>
      </p:sp>
      <p:sp>
        <p:nvSpPr>
          <p:cNvPr id="281" name="圆角矩形 280"/>
          <p:cNvSpPr/>
          <p:nvPr/>
        </p:nvSpPr>
        <p:spPr>
          <a:xfrm>
            <a:off x="4371975" y="2857500"/>
            <a:ext cx="628650" cy="847725"/>
          </a:xfrm>
          <a:prstGeom prst="roundRect">
            <a:avLst>
              <a:gd name="adj" fmla="val 4545"/>
            </a:avLst>
          </a:prstGeom>
          <a:solidFill>
            <a:srgbClr val="E8EFF8"/>
          </a:solidFill>
        </p:spPr>
        <p:txBody>
          <a:bodyPr/>
          <a:p/>
        </p:txBody>
      </p:sp>
      <p:sp>
        <p:nvSpPr>
          <p:cNvPr id="282" name="文本框 281" descr="{&quot;isTemplate&quot;:true,&quot;type&quot;:&quot;text&quot;}"/>
          <p:cNvSpPr txBox="1"/>
          <p:nvPr/>
        </p:nvSpPr>
        <p:spPr>
          <a:xfrm>
            <a:off x="4543425" y="2895600"/>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触发</a:t>
            </a:r>
            <a:endParaRPr lang="zh-CN" sz="1125" b="1">
              <a:solidFill>
                <a:srgbClr val="0E3F8C"/>
              </a:solidFill>
              <a:latin typeface="微软雅黑" panose="020B0503020204020204" charset="-122"/>
              <a:ea typeface="微软雅黑" panose="020B0503020204020204" charset="-122"/>
            </a:endParaRPr>
          </a:p>
        </p:txBody>
      </p:sp>
      <p:sp>
        <p:nvSpPr>
          <p:cNvPr id="283" name="文本框 282" descr="{&quot;isTemplate&quot;:true,&quot;type&quot;:&quot;text&quot;}"/>
          <p:cNvSpPr txBox="1"/>
          <p:nvPr/>
        </p:nvSpPr>
        <p:spPr>
          <a:xfrm>
            <a:off x="5076825" y="2857500"/>
            <a:ext cx="2743200" cy="847725"/>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保持年总水量与总负荷可比，仅改变峰值时长与湿球温度、需求峰值的重合</a:t>
            </a:r>
            <a:endParaRPr lang="zh-CN" sz="1275">
              <a:solidFill>
                <a:srgbClr val="1A2230"/>
              </a:solidFill>
              <a:latin typeface="微软雅黑" panose="020B0503020204020204" charset="-122"/>
              <a:ea typeface="微软雅黑" panose="020B0503020204020204" charset="-122"/>
            </a:endParaRPr>
          </a:p>
        </p:txBody>
      </p:sp>
      <p:sp>
        <p:nvSpPr>
          <p:cNvPr id="284" name="圆角矩形 283"/>
          <p:cNvSpPr/>
          <p:nvPr/>
        </p:nvSpPr>
        <p:spPr>
          <a:xfrm>
            <a:off x="4371975" y="3781425"/>
            <a:ext cx="628650" cy="571500"/>
          </a:xfrm>
          <a:prstGeom prst="roundRect">
            <a:avLst>
              <a:gd name="adj" fmla="val 5000"/>
            </a:avLst>
          </a:prstGeom>
          <a:solidFill>
            <a:srgbClr val="E8EFF8"/>
          </a:solidFill>
        </p:spPr>
        <p:txBody>
          <a:bodyPr/>
          <a:p/>
        </p:txBody>
      </p:sp>
      <p:sp>
        <p:nvSpPr>
          <p:cNvPr id="285" name="文本框 284" descr="{&quot;isTemplate&quot;:true,&quot;type&quot;:&quot;text&quot;}"/>
          <p:cNvSpPr txBox="1"/>
          <p:nvPr/>
        </p:nvSpPr>
        <p:spPr>
          <a:xfrm>
            <a:off x="4543425" y="3819525"/>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观测</a:t>
            </a:r>
            <a:endParaRPr lang="zh-CN" sz="1125" b="1">
              <a:solidFill>
                <a:srgbClr val="0E3F8C"/>
              </a:solidFill>
              <a:latin typeface="微软雅黑" panose="020B0503020204020204" charset="-122"/>
              <a:ea typeface="微软雅黑" panose="020B0503020204020204" charset="-122"/>
            </a:endParaRPr>
          </a:p>
        </p:txBody>
      </p:sp>
      <p:sp>
        <p:nvSpPr>
          <p:cNvPr id="286" name="文本框 285" descr="{&quot;isTemplate&quot;:true,&quot;type&quot;:&quot;text&quot;}"/>
          <p:cNvSpPr txBox="1"/>
          <p:nvPr/>
        </p:nvSpPr>
        <p:spPr>
          <a:xfrm>
            <a:off x="5076825" y="3781425"/>
            <a:ext cx="2743200" cy="571500"/>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年均与峰值</a:t>
            </a:r>
            <a:r>
              <a:rPr lang="en-US" sz="1275">
                <a:solidFill>
                  <a:srgbClr val="1A2230"/>
                </a:solidFill>
                <a:latin typeface="微软雅黑" panose="020B0503020204020204" charset="-122"/>
                <a:ea typeface="微软雅黑" panose="020B0503020204020204" charset="-122"/>
              </a:rPr>
              <a:t> CAWCC </a:t>
            </a:r>
            <a:r>
              <a:rPr lang="zh-CN" sz="1275">
                <a:solidFill>
                  <a:srgbClr val="1A2230"/>
                </a:solidFill>
                <a:latin typeface="微软雅黑" panose="020B0503020204020204" charset="-122"/>
                <a:ea typeface="微软雅黑" panose="020B0503020204020204" charset="-122"/>
              </a:rPr>
              <a:t>之差、失效时长、恢复时间与峰值重合指数</a:t>
            </a:r>
            <a:endParaRPr lang="zh-CN" sz="1275">
              <a:solidFill>
                <a:srgbClr val="1A2230"/>
              </a:solidFill>
              <a:latin typeface="微软雅黑" panose="020B0503020204020204" charset="-122"/>
              <a:ea typeface="微软雅黑" panose="020B0503020204020204" charset="-122"/>
            </a:endParaRPr>
          </a:p>
        </p:txBody>
      </p:sp>
      <p:sp>
        <p:nvSpPr>
          <p:cNvPr id="287" name="圆角矩形 286"/>
          <p:cNvSpPr/>
          <p:nvPr/>
        </p:nvSpPr>
        <p:spPr>
          <a:xfrm>
            <a:off x="4371975" y="4429125"/>
            <a:ext cx="628650" cy="571500"/>
          </a:xfrm>
          <a:prstGeom prst="roundRect">
            <a:avLst>
              <a:gd name="adj" fmla="val 5000"/>
            </a:avLst>
          </a:prstGeom>
          <a:solidFill>
            <a:srgbClr val="FDECEC"/>
          </a:solidFill>
        </p:spPr>
        <p:txBody>
          <a:bodyPr/>
          <a:p/>
        </p:txBody>
      </p:sp>
      <p:sp>
        <p:nvSpPr>
          <p:cNvPr id="288" name="文本框 287" descr="{&quot;isTemplate&quot;:true,&quot;type&quot;:&quot;text&quot;}"/>
          <p:cNvSpPr txBox="1"/>
          <p:nvPr/>
        </p:nvSpPr>
        <p:spPr>
          <a:xfrm>
            <a:off x="4543425" y="4467225"/>
            <a:ext cx="285750" cy="171450"/>
          </a:xfrm>
          <a:prstGeom prst="rect">
            <a:avLst/>
          </a:prstGeom>
        </p:spPr>
        <p:txBody>
          <a:bodyPr wrap="none" lIns="0" tIns="0" rIns="0" bIns="0"/>
          <a:p>
            <a:pPr>
              <a:lnSpc>
                <a:spcPct val="100000"/>
              </a:lnSpc>
            </a:pPr>
            <a:r>
              <a:rPr lang="zh-CN" sz="1125" b="1">
                <a:solidFill>
                  <a:srgbClr val="D9534F"/>
                </a:solidFill>
                <a:latin typeface="微软雅黑" panose="020B0503020204020204" charset="-122"/>
                <a:ea typeface="微软雅黑" panose="020B0503020204020204" charset="-122"/>
              </a:rPr>
              <a:t>证伪</a:t>
            </a:r>
            <a:endParaRPr lang="zh-CN" sz="1125" b="1">
              <a:solidFill>
                <a:srgbClr val="D9534F"/>
              </a:solidFill>
              <a:latin typeface="微软雅黑" panose="020B0503020204020204" charset="-122"/>
              <a:ea typeface="微软雅黑" panose="020B0503020204020204" charset="-122"/>
            </a:endParaRPr>
          </a:p>
        </p:txBody>
      </p:sp>
      <p:sp>
        <p:nvSpPr>
          <p:cNvPr id="289" name="文本框 288" descr="{&quot;isTemplate&quot;:true,&quot;type&quot;:&quot;text&quot;}"/>
          <p:cNvSpPr txBox="1"/>
          <p:nvPr/>
        </p:nvSpPr>
        <p:spPr>
          <a:xfrm>
            <a:off x="5076825" y="4429125"/>
            <a:ext cx="2743200" cy="571500"/>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若边界提前量在气候变化与负荷时序扰动下始终接近零，则</a:t>
            </a:r>
            <a:r>
              <a:rPr lang="en-US" sz="1275">
                <a:solidFill>
                  <a:srgbClr val="1A2230"/>
                </a:solidFill>
                <a:latin typeface="微软雅黑" panose="020B0503020204020204" charset="-122"/>
                <a:ea typeface="微软雅黑" panose="020B0503020204020204" charset="-122"/>
              </a:rPr>
              <a:t> H2 </a:t>
            </a:r>
            <a:r>
              <a:rPr lang="zh-CN" sz="1275">
                <a:solidFill>
                  <a:srgbClr val="1A2230"/>
                </a:solidFill>
                <a:latin typeface="微软雅黑" panose="020B0503020204020204" charset="-122"/>
                <a:ea typeface="微软雅黑" panose="020B0503020204020204" charset="-122"/>
              </a:rPr>
              <a:t>不成立</a:t>
            </a:r>
            <a:endParaRPr lang="zh-CN" sz="1275">
              <a:solidFill>
                <a:srgbClr val="1A2230"/>
              </a:solidFill>
              <a:latin typeface="微软雅黑" panose="020B0503020204020204" charset="-122"/>
              <a:ea typeface="微软雅黑" panose="020B0503020204020204" charset="-122"/>
            </a:endParaRPr>
          </a:p>
        </p:txBody>
      </p:sp>
      <p:sp>
        <p:nvSpPr>
          <p:cNvPr id="290" name="圆角矩形 289"/>
          <p:cNvSpPr/>
          <p:nvPr/>
        </p:nvSpPr>
        <p:spPr>
          <a:xfrm>
            <a:off x="8086725" y="1400175"/>
            <a:ext cx="3724275" cy="4305300"/>
          </a:xfrm>
          <a:prstGeom prst="roundRect">
            <a:avLst>
              <a:gd name="adj" fmla="val 1535"/>
            </a:avLst>
          </a:prstGeom>
          <a:solidFill>
            <a:srgbClr val="F7F9FC"/>
          </a:solidFill>
        </p:spPr>
        <p:txBody>
          <a:bodyPr/>
          <a:p/>
        </p:txBody>
      </p:sp>
      <p:sp>
        <p:nvSpPr>
          <p:cNvPr id="291" name="任意多边形 290"/>
          <p:cNvSpPr/>
          <p:nvPr/>
        </p:nvSpPr>
        <p:spPr>
          <a:xfrm>
            <a:off x="8086725" y="1400175"/>
            <a:ext cx="3724275" cy="4305300"/>
          </a:xfrm>
          <a:custGeom>
            <a:avLst/>
            <a:gdLst/>
            <a:ahLst/>
            <a:cxnLst/>
            <a:pathLst>
              <a:path w="391" h="452">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292" name="圆角矩形 291"/>
          <p:cNvSpPr/>
          <p:nvPr/>
        </p:nvSpPr>
        <p:spPr>
          <a:xfrm>
            <a:off x="8220075" y="1533525"/>
            <a:ext cx="438150" cy="323850"/>
          </a:xfrm>
          <a:prstGeom prst="roundRect">
            <a:avLst>
              <a:gd name="adj" fmla="val 11765"/>
            </a:avLst>
          </a:prstGeom>
          <a:solidFill>
            <a:srgbClr val="1E4FA8"/>
          </a:solidFill>
        </p:spPr>
        <p:txBody>
          <a:bodyPr/>
          <a:p/>
        </p:txBody>
      </p:sp>
      <p:sp>
        <p:nvSpPr>
          <p:cNvPr id="293" name="文本框 292" descr="{&quot;isTemplate&quot;:true,&quot;type&quot;:&quot;text&quot;}"/>
          <p:cNvSpPr txBox="1"/>
          <p:nvPr/>
        </p:nvSpPr>
        <p:spPr>
          <a:xfrm>
            <a:off x="8315325" y="1590675"/>
            <a:ext cx="247650" cy="209550"/>
          </a:xfrm>
          <a:prstGeom prst="rect">
            <a:avLst/>
          </a:prstGeom>
        </p:spPr>
        <p:txBody>
          <a:bodyPr wrap="none" lIns="0" tIns="0" rIns="0" bIns="0"/>
          <a:p>
            <a:pPr>
              <a:lnSpc>
                <a:spcPct val="100000"/>
              </a:lnSpc>
            </a:pPr>
            <a:r>
              <a:rPr lang="en-US" sz="1350" b="1">
                <a:solidFill>
                  <a:srgbClr val="FFFFFF"/>
                </a:solidFill>
                <a:latin typeface="微软雅黑" panose="020B0503020204020204" charset="-122"/>
                <a:ea typeface="微软雅黑" panose="020B0503020204020204" charset="-122"/>
              </a:rPr>
              <a:t>H3</a:t>
            </a:r>
            <a:endParaRPr lang="en-US" sz="1350" b="1">
              <a:solidFill>
                <a:srgbClr val="FFFFFF"/>
              </a:solidFill>
              <a:latin typeface="微软雅黑" panose="020B0503020204020204" charset="-122"/>
              <a:ea typeface="微软雅黑" panose="020B0503020204020204" charset="-122"/>
            </a:endParaRPr>
          </a:p>
        </p:txBody>
      </p:sp>
      <p:sp>
        <p:nvSpPr>
          <p:cNvPr id="294" name="文本框 293" descr="{&quot;isTemplate&quot;:true,&quot;type&quot;:&quot;text&quot;}"/>
          <p:cNvSpPr txBox="1"/>
          <p:nvPr/>
        </p:nvSpPr>
        <p:spPr>
          <a:xfrm>
            <a:off x="8753475" y="1571625"/>
            <a:ext cx="1257300" cy="257175"/>
          </a:xfrm>
          <a:prstGeom prst="rect">
            <a:avLst/>
          </a:prstGeom>
        </p:spPr>
        <p:txBody>
          <a:bodyPr wrap="none" lIns="0" tIns="0" rIns="0" bIns="0"/>
          <a:p>
            <a:pPr>
              <a:lnSpc>
                <a:spcPct val="100000"/>
              </a:lnSpc>
            </a:pPr>
            <a:r>
              <a:rPr lang="zh-CN" sz="1650" b="1">
                <a:solidFill>
                  <a:srgbClr val="0E3F8C"/>
                </a:solidFill>
                <a:latin typeface="微软雅黑" panose="020B0503020204020204" charset="-122"/>
                <a:ea typeface="微软雅黑" panose="020B0503020204020204" charset="-122"/>
              </a:rPr>
              <a:t>瓶颈迁移假设</a:t>
            </a:r>
            <a:endParaRPr lang="zh-CN" sz="1650" b="1">
              <a:solidFill>
                <a:srgbClr val="0E3F8C"/>
              </a:solidFill>
              <a:latin typeface="微软雅黑" panose="020B0503020204020204" charset="-122"/>
              <a:ea typeface="微软雅黑" panose="020B0503020204020204" charset="-122"/>
            </a:endParaRPr>
          </a:p>
        </p:txBody>
      </p:sp>
      <p:sp>
        <p:nvSpPr>
          <p:cNvPr id="295" name="圆角矩形 294"/>
          <p:cNvSpPr/>
          <p:nvPr/>
        </p:nvSpPr>
        <p:spPr>
          <a:xfrm>
            <a:off x="8220075" y="1933575"/>
            <a:ext cx="628650" cy="847725"/>
          </a:xfrm>
          <a:prstGeom prst="roundRect">
            <a:avLst>
              <a:gd name="adj" fmla="val 4545"/>
            </a:avLst>
          </a:prstGeom>
          <a:solidFill>
            <a:srgbClr val="E8EFF8"/>
          </a:solidFill>
        </p:spPr>
        <p:txBody>
          <a:bodyPr/>
          <a:p/>
        </p:txBody>
      </p:sp>
      <p:sp>
        <p:nvSpPr>
          <p:cNvPr id="296" name="文本框 295" descr="{&quot;isTemplate&quot;:true,&quot;type&quot;:&quot;text&quot;}"/>
          <p:cNvSpPr txBox="1"/>
          <p:nvPr/>
        </p:nvSpPr>
        <p:spPr>
          <a:xfrm>
            <a:off x="8391525" y="1971675"/>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内容</a:t>
            </a:r>
            <a:endParaRPr lang="zh-CN" sz="1125" b="1">
              <a:solidFill>
                <a:srgbClr val="0E3F8C"/>
              </a:solidFill>
              <a:latin typeface="微软雅黑" panose="020B0503020204020204" charset="-122"/>
              <a:ea typeface="微软雅黑" panose="020B0503020204020204" charset="-122"/>
            </a:endParaRPr>
          </a:p>
        </p:txBody>
      </p:sp>
      <p:sp>
        <p:nvSpPr>
          <p:cNvPr id="297" name="文本框 296" descr="{&quot;isTemplate&quot;:true,&quot;type&quot;:&quot;text&quot;}"/>
          <p:cNvSpPr txBox="1"/>
          <p:nvPr/>
        </p:nvSpPr>
        <p:spPr>
          <a:xfrm>
            <a:off x="8924925" y="1933575"/>
            <a:ext cx="2752725" cy="847725"/>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干预会改变主导约束，单项扩容的</a:t>
            </a:r>
            <a:r>
              <a:rPr lang="en-US" sz="1275">
                <a:solidFill>
                  <a:srgbClr val="1A2230"/>
                </a:solidFill>
                <a:latin typeface="微软雅黑" panose="020B0503020204020204" charset="-122"/>
                <a:ea typeface="微软雅黑" panose="020B0503020204020204" charset="-122"/>
              </a:rPr>
              <a:t> CAWCC </a:t>
            </a:r>
            <a:r>
              <a:rPr lang="zh-CN" sz="1275">
                <a:solidFill>
                  <a:srgbClr val="1A2230"/>
                </a:solidFill>
                <a:latin typeface="微软雅黑" panose="020B0503020204020204" charset="-122"/>
                <a:ea typeface="微软雅黑" panose="020B0503020204020204" charset="-122"/>
              </a:rPr>
              <a:t>增益具有阶段性；再生水作为重点案例检验</a:t>
            </a:r>
            <a:endParaRPr lang="zh-CN" sz="1275">
              <a:solidFill>
                <a:srgbClr val="1A2230"/>
              </a:solidFill>
              <a:latin typeface="微软雅黑" panose="020B0503020204020204" charset="-122"/>
              <a:ea typeface="微软雅黑" panose="020B0503020204020204" charset="-122"/>
            </a:endParaRPr>
          </a:p>
        </p:txBody>
      </p:sp>
      <p:sp>
        <p:nvSpPr>
          <p:cNvPr id="298" name="圆角矩形 297"/>
          <p:cNvSpPr/>
          <p:nvPr/>
        </p:nvSpPr>
        <p:spPr>
          <a:xfrm>
            <a:off x="8220075" y="2857500"/>
            <a:ext cx="628650" cy="571500"/>
          </a:xfrm>
          <a:prstGeom prst="roundRect">
            <a:avLst>
              <a:gd name="adj" fmla="val 5000"/>
            </a:avLst>
          </a:prstGeom>
          <a:solidFill>
            <a:srgbClr val="E8EFF8"/>
          </a:solidFill>
        </p:spPr>
        <p:txBody>
          <a:bodyPr/>
          <a:p/>
        </p:txBody>
      </p:sp>
      <p:sp>
        <p:nvSpPr>
          <p:cNvPr id="299" name="文本框 298" descr="{&quot;isTemplate&quot;:true,&quot;type&quot;:&quot;text&quot;}"/>
          <p:cNvSpPr txBox="1"/>
          <p:nvPr/>
        </p:nvSpPr>
        <p:spPr>
          <a:xfrm>
            <a:off x="8391525" y="2895600"/>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触发</a:t>
            </a:r>
            <a:endParaRPr lang="zh-CN" sz="1125" b="1">
              <a:solidFill>
                <a:srgbClr val="0E3F8C"/>
              </a:solidFill>
              <a:latin typeface="微软雅黑" panose="020B0503020204020204" charset="-122"/>
              <a:ea typeface="微软雅黑" panose="020B0503020204020204" charset="-122"/>
            </a:endParaRPr>
          </a:p>
        </p:txBody>
      </p:sp>
      <p:sp>
        <p:nvSpPr>
          <p:cNvPr id="300" name="文本框 299" descr="{&quot;isTemplate&quot;:true,&quot;type&quot;:&quot;text&quot;}"/>
          <p:cNvSpPr txBox="1"/>
          <p:nvPr/>
        </p:nvSpPr>
        <p:spPr>
          <a:xfrm>
            <a:off x="8924925" y="2857500"/>
            <a:ext cx="2752725" cy="571500"/>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逐项解除水源、给水、污水、再生水、储存与冷却约束，其余条件不变</a:t>
            </a:r>
            <a:endParaRPr lang="zh-CN" sz="1275">
              <a:solidFill>
                <a:srgbClr val="1A2230"/>
              </a:solidFill>
              <a:latin typeface="微软雅黑" panose="020B0503020204020204" charset="-122"/>
              <a:ea typeface="微软雅黑" panose="020B0503020204020204" charset="-122"/>
            </a:endParaRPr>
          </a:p>
        </p:txBody>
      </p:sp>
      <p:sp>
        <p:nvSpPr>
          <p:cNvPr id="301" name="圆角矩形 300"/>
          <p:cNvSpPr/>
          <p:nvPr/>
        </p:nvSpPr>
        <p:spPr>
          <a:xfrm>
            <a:off x="8220075" y="3505200"/>
            <a:ext cx="628650" cy="571500"/>
          </a:xfrm>
          <a:prstGeom prst="roundRect">
            <a:avLst>
              <a:gd name="adj" fmla="val 5000"/>
            </a:avLst>
          </a:prstGeom>
          <a:solidFill>
            <a:srgbClr val="E8EFF8"/>
          </a:solidFill>
        </p:spPr>
        <p:txBody>
          <a:bodyPr/>
          <a:p/>
        </p:txBody>
      </p:sp>
      <p:sp>
        <p:nvSpPr>
          <p:cNvPr id="302" name="文本框 301" descr="{&quot;isTemplate&quot;:true,&quot;type&quot;:&quot;text&quot;}"/>
          <p:cNvSpPr txBox="1"/>
          <p:nvPr/>
        </p:nvSpPr>
        <p:spPr>
          <a:xfrm>
            <a:off x="8391525" y="3543300"/>
            <a:ext cx="285750" cy="171450"/>
          </a:xfrm>
          <a:prstGeom prst="rect">
            <a:avLst/>
          </a:prstGeom>
        </p:spPr>
        <p:txBody>
          <a:bodyPr wrap="none" lIns="0" tIns="0" rIns="0" bIns="0"/>
          <a:p>
            <a:pPr>
              <a:lnSpc>
                <a:spcPct val="100000"/>
              </a:lnSpc>
            </a:pPr>
            <a:r>
              <a:rPr lang="zh-CN" sz="1125" b="1">
                <a:solidFill>
                  <a:srgbClr val="0E3F8C"/>
                </a:solidFill>
                <a:latin typeface="微软雅黑" panose="020B0503020204020204" charset="-122"/>
                <a:ea typeface="微软雅黑" panose="020B0503020204020204" charset="-122"/>
              </a:rPr>
              <a:t>观测</a:t>
            </a:r>
            <a:endParaRPr lang="zh-CN" sz="1125" b="1">
              <a:solidFill>
                <a:srgbClr val="0E3F8C"/>
              </a:solidFill>
              <a:latin typeface="微软雅黑" panose="020B0503020204020204" charset="-122"/>
              <a:ea typeface="微软雅黑" panose="020B0503020204020204" charset="-122"/>
            </a:endParaRPr>
          </a:p>
        </p:txBody>
      </p:sp>
      <p:sp>
        <p:nvSpPr>
          <p:cNvPr id="303" name="文本框 302" descr="{&quot;isTemplate&quot;:true,&quot;type&quot;:&quot;text&quot;}"/>
          <p:cNvSpPr txBox="1"/>
          <p:nvPr/>
        </p:nvSpPr>
        <p:spPr>
          <a:xfrm>
            <a:off x="8924925" y="3505200"/>
            <a:ext cx="2752725" cy="571500"/>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各约束剩余裕度、首次失效容量、瓶颈类型与单位干预</a:t>
            </a:r>
            <a:r>
              <a:rPr lang="en-US" sz="1275">
                <a:solidFill>
                  <a:srgbClr val="1A2230"/>
                </a:solidFill>
                <a:latin typeface="微软雅黑" panose="020B0503020204020204" charset="-122"/>
                <a:ea typeface="微软雅黑" panose="020B0503020204020204" charset="-122"/>
              </a:rPr>
              <a:t> CAWCC </a:t>
            </a:r>
            <a:r>
              <a:rPr lang="zh-CN" sz="1275">
                <a:solidFill>
                  <a:srgbClr val="1A2230"/>
                </a:solidFill>
                <a:latin typeface="微软雅黑" panose="020B0503020204020204" charset="-122"/>
                <a:ea typeface="微软雅黑" panose="020B0503020204020204" charset="-122"/>
              </a:rPr>
              <a:t>增量</a:t>
            </a:r>
            <a:endParaRPr lang="zh-CN" sz="1275">
              <a:solidFill>
                <a:srgbClr val="1A2230"/>
              </a:solidFill>
              <a:latin typeface="微软雅黑" panose="020B0503020204020204" charset="-122"/>
              <a:ea typeface="微软雅黑" panose="020B0503020204020204" charset="-122"/>
            </a:endParaRPr>
          </a:p>
        </p:txBody>
      </p:sp>
      <p:sp>
        <p:nvSpPr>
          <p:cNvPr id="304" name="圆角矩形 303"/>
          <p:cNvSpPr/>
          <p:nvPr/>
        </p:nvSpPr>
        <p:spPr>
          <a:xfrm>
            <a:off x="8220075" y="4152900"/>
            <a:ext cx="628650" cy="571500"/>
          </a:xfrm>
          <a:prstGeom prst="roundRect">
            <a:avLst>
              <a:gd name="adj" fmla="val 5000"/>
            </a:avLst>
          </a:prstGeom>
          <a:solidFill>
            <a:srgbClr val="FDECEC"/>
          </a:solidFill>
        </p:spPr>
        <p:txBody>
          <a:bodyPr/>
          <a:p/>
        </p:txBody>
      </p:sp>
      <p:sp>
        <p:nvSpPr>
          <p:cNvPr id="305" name="文本框 304" descr="{&quot;isTemplate&quot;:true,&quot;type&quot;:&quot;text&quot;}"/>
          <p:cNvSpPr txBox="1"/>
          <p:nvPr/>
        </p:nvSpPr>
        <p:spPr>
          <a:xfrm>
            <a:off x="8391525" y="4191000"/>
            <a:ext cx="285750" cy="171450"/>
          </a:xfrm>
          <a:prstGeom prst="rect">
            <a:avLst/>
          </a:prstGeom>
        </p:spPr>
        <p:txBody>
          <a:bodyPr wrap="none" lIns="0" tIns="0" rIns="0" bIns="0"/>
          <a:p>
            <a:pPr>
              <a:lnSpc>
                <a:spcPct val="100000"/>
              </a:lnSpc>
            </a:pPr>
            <a:r>
              <a:rPr lang="zh-CN" sz="1125" b="1">
                <a:solidFill>
                  <a:srgbClr val="D9534F"/>
                </a:solidFill>
                <a:latin typeface="微软雅黑" panose="020B0503020204020204" charset="-122"/>
                <a:ea typeface="微软雅黑" panose="020B0503020204020204" charset="-122"/>
              </a:rPr>
              <a:t>证伪</a:t>
            </a:r>
            <a:endParaRPr lang="zh-CN" sz="1125" b="1">
              <a:solidFill>
                <a:srgbClr val="D9534F"/>
              </a:solidFill>
              <a:latin typeface="微软雅黑" panose="020B0503020204020204" charset="-122"/>
              <a:ea typeface="微软雅黑" panose="020B0503020204020204" charset="-122"/>
            </a:endParaRPr>
          </a:p>
        </p:txBody>
      </p:sp>
      <p:sp>
        <p:nvSpPr>
          <p:cNvPr id="306" name="文本框 305" descr="{&quot;isTemplate&quot;:true,&quot;type&quot;:&quot;text&quot;}"/>
          <p:cNvSpPr txBox="1"/>
          <p:nvPr/>
        </p:nvSpPr>
        <p:spPr>
          <a:xfrm>
            <a:off x="8924925" y="4152900"/>
            <a:ext cx="2752725" cy="571500"/>
          </a:xfrm>
          <a:prstGeom prst="rect">
            <a:avLst/>
          </a:prstGeom>
        </p:spPr>
        <p:txBody>
          <a:bodyPr wrap="square" lIns="0" tIns="0" rIns="0" bIns="0">
            <a:normAutofit/>
          </a:bodyPr>
          <a:p>
            <a:pPr>
              <a:lnSpc>
                <a:spcPct val="145000"/>
              </a:lnSpc>
            </a:pPr>
            <a:r>
              <a:rPr lang="zh-CN" sz="1275">
                <a:solidFill>
                  <a:srgbClr val="1A2230"/>
                </a:solidFill>
                <a:latin typeface="微软雅黑" panose="020B0503020204020204" charset="-122"/>
                <a:ea typeface="微软雅黑" panose="020B0503020204020204" charset="-122"/>
              </a:rPr>
              <a:t>若干预后主导瓶颈不变且边际收益近似线性，则不存在可识别的迁移与转折</a:t>
            </a:r>
            <a:endParaRPr lang="zh-CN" sz="1275">
              <a:solidFill>
                <a:srgbClr val="1A2230"/>
              </a:solidFill>
              <a:latin typeface="微软雅黑" panose="020B0503020204020204" charset="-122"/>
              <a:ea typeface="微软雅黑" panose="020B0503020204020204" charset="-122"/>
            </a:endParaRPr>
          </a:p>
        </p:txBody>
      </p:sp>
      <p:sp>
        <p:nvSpPr>
          <p:cNvPr id="307" name="矩形 306"/>
          <p:cNvSpPr/>
          <p:nvPr/>
        </p:nvSpPr>
        <p:spPr>
          <a:xfrm>
            <a:off x="428625" y="5772150"/>
            <a:ext cx="11430000" cy="409575"/>
          </a:xfrm>
          <a:prstGeom prst="rect">
            <a:avLst/>
          </a:prstGeom>
          <a:solidFill>
            <a:srgbClr val="E8EFF8"/>
          </a:solidFill>
        </p:spPr>
        <p:txBody>
          <a:bodyPr/>
          <a:p/>
        </p:txBody>
      </p:sp>
      <p:sp>
        <p:nvSpPr>
          <p:cNvPr id="308" name="任意多边形 307"/>
          <p:cNvSpPr/>
          <p:nvPr/>
        </p:nvSpPr>
        <p:spPr>
          <a:xfrm>
            <a:off x="381000" y="5772150"/>
            <a:ext cx="11477625" cy="409575"/>
          </a:xfrm>
          <a:custGeom>
            <a:avLst/>
            <a:gdLst/>
            <a:ahLst/>
            <a:cxnLst/>
            <a:pathLst>
              <a:path w="1205" h="43">
                <a:moveTo>
                  <a:pt x="0" y="0"/>
                </a:moveTo>
                <a:lnTo>
                  <a:pt x="5" y="0"/>
                </a:lnTo>
                <a:lnTo>
                  <a:pt x="5" y="43"/>
                </a:lnTo>
                <a:lnTo>
                  <a:pt x="0" y="43"/>
                </a:lnTo>
                <a:close/>
              </a:path>
            </a:pathLst>
          </a:custGeom>
          <a:solidFill>
            <a:srgbClr val="1E4FA8"/>
          </a:solidFill>
        </p:spPr>
        <p:txBody>
          <a:bodyPr/>
          <a:p/>
        </p:txBody>
      </p:sp>
      <p:sp>
        <p:nvSpPr>
          <p:cNvPr id="309" name="文本框 308" descr="{&quot;isTemplate&quot;:true,&quot;type&quot;:&quot;text&quot;}"/>
          <p:cNvSpPr txBox="1"/>
          <p:nvPr/>
        </p:nvSpPr>
        <p:spPr>
          <a:xfrm>
            <a:off x="600075" y="5867400"/>
            <a:ext cx="11210925" cy="219075"/>
          </a:xfrm>
          <a:prstGeom prst="rect">
            <a:avLst/>
          </a:prstGeom>
        </p:spPr>
        <p:txBody>
          <a:bodyPr wrap="none" lIns="0" tIns="0" rIns="0" bIns="0"/>
          <a:p>
            <a:pPr>
              <a:lnSpc>
                <a:spcPct val="100000"/>
              </a:lnSpc>
            </a:pPr>
            <a:r>
              <a:rPr lang="zh-CN" sz="1425">
                <a:solidFill>
                  <a:srgbClr val="1A2230"/>
                </a:solidFill>
                <a:latin typeface="微软雅黑" panose="020B0503020204020204" charset="-122"/>
                <a:ea typeface="微软雅黑" panose="020B0503020204020204" charset="-122"/>
              </a:rPr>
              <a:t>三假设共用同一套输出指标与证据等级，过三重筛选才列为主要结论</a:t>
            </a:r>
            <a:endParaRPr lang="zh-CN" sz="1425">
              <a:solidFill>
                <a:srgbClr val="1A2230"/>
              </a:solidFill>
              <a:latin typeface="微软雅黑" panose="020B0503020204020204" charset="-122"/>
              <a:ea typeface="微软雅黑" panose="020B0503020204020204" charset="-122"/>
            </a:endParaRPr>
          </a:p>
        </p:txBody>
      </p:sp>
      <p:sp>
        <p:nvSpPr>
          <p:cNvPr id="310" name="任意多边形 309"/>
          <p:cNvSpPr/>
          <p:nvPr/>
        </p:nvSpPr>
        <p:spPr>
          <a:xfrm>
            <a:off x="0" y="625792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311" name="文本框 310" descr="{&quot;isTemplate&quot;:true,&quot;type&quot;:&quot;text&quot;}"/>
          <p:cNvSpPr txBox="1"/>
          <p:nvPr/>
        </p:nvSpPr>
        <p:spPr>
          <a:xfrm>
            <a:off x="381000" y="637222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312" name="文本框 311" descr="{&quot;isTemplate&quot;:true,&quot;type&quot;:&quot;text&quot;}"/>
          <p:cNvSpPr txBox="1"/>
          <p:nvPr/>
        </p:nvSpPr>
        <p:spPr>
          <a:xfrm>
            <a:off x="11353800" y="637222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15 / 36</a:t>
            </a:r>
            <a:endParaRPr lang="en-US" sz="1050">
              <a:solidFill>
                <a:srgbClr val="1E4FA8"/>
              </a:solidFill>
              <a:latin typeface="微软雅黑" panose="020B0503020204020204" charset="-122"/>
              <a:ea typeface="微软雅黑" panose="020B0503020204020204" charset="-122"/>
            </a:endParaRPr>
          </a:p>
        </p:txBody>
      </p:sp>
      <p:sp>
        <p:nvSpPr>
          <p:cNvPr id="313" name="矩形 312"/>
          <p:cNvSpPr/>
          <p:nvPr/>
        </p:nvSpPr>
        <p:spPr>
          <a:xfrm>
            <a:off x="0" y="685800"/>
            <a:ext cx="57150" cy="1162050"/>
          </a:xfrm>
          <a:prstGeom prst="rect">
            <a:avLst/>
          </a:prstGeom>
          <a:solidFill>
            <a:srgbClr val="C9D6E8"/>
          </a:solidFill>
        </p:spPr>
        <p:txBody>
          <a:bodyPr/>
          <a:p/>
        </p:txBody>
      </p:sp>
      <p:sp>
        <p:nvSpPr>
          <p:cNvPr id="314" name="矩形 313"/>
          <p:cNvSpPr/>
          <p:nvPr/>
        </p:nvSpPr>
        <p:spPr>
          <a:xfrm>
            <a:off x="0" y="1847850"/>
            <a:ext cx="57150" cy="1162050"/>
          </a:xfrm>
          <a:prstGeom prst="rect">
            <a:avLst/>
          </a:prstGeom>
          <a:solidFill>
            <a:srgbClr val="C9D6E8"/>
          </a:solidFill>
        </p:spPr>
        <p:txBody>
          <a:bodyPr/>
          <a:p/>
        </p:txBody>
      </p:sp>
      <p:sp>
        <p:nvSpPr>
          <p:cNvPr id="315" name="矩形 314"/>
          <p:cNvSpPr/>
          <p:nvPr/>
        </p:nvSpPr>
        <p:spPr>
          <a:xfrm>
            <a:off x="0" y="3009900"/>
            <a:ext cx="57150" cy="1162050"/>
          </a:xfrm>
          <a:prstGeom prst="rect">
            <a:avLst/>
          </a:prstGeom>
          <a:solidFill>
            <a:srgbClr val="FFC107"/>
          </a:solidFill>
        </p:spPr>
        <p:txBody>
          <a:bodyPr/>
          <a:p/>
        </p:txBody>
      </p:sp>
      <p:sp>
        <p:nvSpPr>
          <p:cNvPr id="316" name="矩形 315"/>
          <p:cNvSpPr/>
          <p:nvPr/>
        </p:nvSpPr>
        <p:spPr>
          <a:xfrm>
            <a:off x="0" y="4171950"/>
            <a:ext cx="57150" cy="1162050"/>
          </a:xfrm>
          <a:prstGeom prst="rect">
            <a:avLst/>
          </a:prstGeom>
          <a:solidFill>
            <a:srgbClr val="C9D6E8"/>
          </a:solidFill>
        </p:spPr>
        <p:txBody>
          <a:bodyPr/>
          <a:p/>
        </p:txBody>
      </p:sp>
      <p:sp>
        <p:nvSpPr>
          <p:cNvPr id="317" name="矩形 316"/>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18"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clipboard-list' style={{ fill: '#FFC107', width: 22, height: 22 }} /&gt;&#13;&#10;        &lt;/Box&gt;&#13;&#10;            &lt;Text style={{ fontSize: 29, fontWeight: 'bold', color: '#FFFFFF' }}&gt;四项研究内容构成平台—现象—边界—干预的闭合主线&lt;/Text&gt;&#13;&#10;        &lt;/Box&gt;&#13;&#10;        &lt;Box style={{ flexDirection: 'row', alignItems: 'center', gap: 10 }}&gt;&#13;&#10;            &lt;Text style={{ fontSize: 15, color: '#AFC6E8' }}&gt;03 科学问题、假设与研究内容&lt;/Text&gt;&#13;&#10;            &lt;Box style={{ background: '#FFC107', paddingLeft: 9, paddingRight: 9, paddingTop: 3, paddingBottom: 3, borderRadius: 3, justifyContent: 'center', alignItems: 'center' }}&gt;&#13;&#10;                &lt;Text style={{ fontSize: 14, color: '#0B3A82', fontWeight: 'bold' }}&gt;16&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四项内容为&quot;一个平台 + 三个认识&quot;：第一项是实验平台，后三项分别承担现象识别、边界解释与干预分析&lt;/Text&gt;&#13;&#10;        &lt;/Box&gt;&#13;&#10;        &lt;Table&#13;&#10;            style={{ width: '100%', height: 356 }}&#13;&#10;            defaultTextStyle={{ fontSize: 17, textAlign: 'left', color: '#1A2230', lineHeight: 1.4 }}&#13;&#10;            defaultCellStyle={{&#13;&#10;                paddingLeft: 14,&#13;&#10;                paddingRight: 14,&#13;&#10;                paddingTop: 8,&#13;&#10;                paddingBottom: 8,&#13;&#10;                border: {&#13;&#10;                    left: { width: 1, color: '#D6DCE5' },&#13;&#10;                    right: { width: 1, color: '#D6DCE5' },&#13;&#10;                    top: { width: 1, color: '#D6DCE5' },&#13;&#10;                    bottom: { width: 1, color: '#D6DCE5' },&#13;&#10;                },&#13;&#10;            }}&#13;&#10;            cells={[&#13;&#10;                [&#13;&#10;                    { text: '研究内容', textStyle: { bold: true, color: '#FFFFFF', fontSize: 18 }, cellStyle: { background: { color: '#0B3A82' } } },&#13;&#10;                    { text: '核心任务', textStyle: { bold: true, color: '#FFFFFF', fontSize: 18 }, cellStyle: { background: { color: '#0B3A82' } } },&#13;&#10;                    { text: '拟回答的问题', textStyle: { bold: true, color: '#FFFFFF', fontSize: 18 }, cellStyle: { background: { color: '#0B3A82' } } },&#13;&#10;                    { text: '预期形成', textStyle: { bold: true, color: '#FFFFFF', fontSize: 18 }, cellStyle: { background: { color: '#0B3A82' } } },&#13;&#10;                ],&#13;&#10;                [&#13;&#10;                    { text: '一、AI—城市水系统耦合模型', textStyle: { bold: true, color: '#0E3F8C' }, cellStyle: { background: { color: '#E8EFF8' } } },&#13;&#10;                    { text: '建立 AI 节点、城市水循环、水量水质守恒与参数证据库，完成最小闭环与验证', cellStyle: { background: { color: '#F7F9FC' } } },&#13;&#10;                    { text: 'AI 负荷如何进入城市水流网络，并分解为取水、消耗与回流', cellStyle: { background: { color: '#F7F9FC' } } },&#13;&#10;                    { text: '可验证的 AI-UWM 模型与版本化代码', cellStyle: { background: { color: '#F7F9FC' } } },&#13;&#10;                ],&#13;&#10;                [&#13;&#10;                    { text: '二、AI 扩张下城市水代谢响应', textStyle: { bold: true, color: '#0E3F8C' }, cellStyle: { background: { color: '#E8EFF8' } } },&#13;&#10;                    { text: '容量梯度实验、冷却与水源对照、AI 与等年用水量普通工业对照', cellStyle: { background: { color: '#FFFFFF' } } },&#13;&#10;                    { text: '系统响应何时由规模效应转为代谢结构重构', cellStyle: { background: { color: '#FFFFFF' } } },&#13;&#10;                    { text: '代谢响应规律与结构转折阈值', cellStyle: { background: { color: '#FFFFFF' } } },&#13;&#10;                ],&#13;&#10;                [&#13;&#10;                    { text: '三、时间尺度依赖的 CAWCC', textStyle: { bold: true, color: '#0E3F8C' }, cellStyle: { background: { color: '#E8EFF8' } } },&#13;&#10;                    { text: '年均、日尺度与极端周小时边界求解，叠加高温、干旱与传统需求峰值', cellStyle: { background: { color: '#F7F9FC' } } },&#13;&#10;                    { text: '平均边界与峰值边界为何不同，年均评价何时高估', cellStyle: { background: { color: '#F7F9FC' } } },&#13;&#10;                    { text: '条件化边界图谱与边界提前量', cellStyle: { background: { color: '#F7F9FC' } } },&#13;&#10;                ],&#13;&#10;                [&#13;&#10;                    { text: '四、瓶颈转换与干预边界', textStyle: { bold: true, color: '#0E3F8C' }, cellStyle: { background: { color: '#E8EFF8' } } },&#13;&#10;                    { text: '约束转换识别、再生水边际收益分析、负担转移与反事实干预实验', cellStyle: { background: { color: '#FFFFFF' } } },&#13;&#10;                    { text: '什么措施在什么条件下有效，收益何时递减或转移', cellStyle: { background: { color: '#FFFFFF' } } },&#13;&#10;                    { text: '瓶颈迁移图谱与规划建议', cellStyle: { background: { color: '#FFFFFF' } } },&#13;&#10;                ],&#13;&#10;            ]}&#13;&#10;        /&gt;&#13;&#10;        &lt;Box style={{ flexDirection: 'row', gap: 14, height: 128 }}&gt;&#13;&#10;            &lt;Box style={{ flex: 1, background: '#F0F5FC', border: '1px solid #D6DCE5', borderRadius: 6, padding: 14, flexDirection: 'column' }}&gt;&#13;&#10;                &lt;Box style={{ borderLeft: '5px solid #1E4FA8', paddingLeft: 10, marginBottom: 6 }}&gt;&#13;&#10;                    &lt;Box style={{ flexDirection: 'row', alignItems: 'center', gap: 8 }}&gt;&#13;&#10;                &lt;FAIcon name='list-check' style={{ fill: '#1E4FA8', width: 19, height: 19 }} /&gt;&#13;&#10;                &lt;Text style={{ fontSize: 21, fontWeight: 'bold', color: '#0E3F8C' }}&gt;任务优先级安排&lt;/Text&gt;&#13;&#10;            &lt;/Box&gt;&#13;&#10;                &lt;/Box&gt;&#13;&#10;                &lt;Text style={{ fontSize: 17, color: '#1A2230', lineHeight: 1.5 }}&gt;优先级一：物理闭合、代谢响应、时间尺度 CAWCC 与瓶颈转换；优先级二：再生水收益与参数不确定性；稳定后拓展水质、水—能—碳与泛化。&lt;/Text&gt;&#13;&#10;            &lt;/Box&gt;&#13;&#10;            &lt;Box style={{ flex: 1, background: '#0E3F8C', borderRadius: 6, padding: 14, flexDirection: 'column' }}&gt;&#13;&#10;                &lt;Box style={{ borderLeft: '5px solid #FFC107', paddingLeft: 10, marginBottom: 6 }}&gt;&#13;&#10;                    &lt;Box style={{ flexDirection: 'row', alignItems: 'center', gap: 8 }}&gt;&#13;&#10;                &lt;FAIcon name='graduation-cap' style={{ fill: '#FFC107', width: 19, height: 19 }} /&gt;&#13;&#10;                &lt;Text style={{ fontSize: 21, fontWeight: 'bold', color: '#FFFFFF' }}&gt;学术研究能力主线&lt;/Text&gt;&#13;&#10;            &lt;/Box&gt;&#13;&#10;                &lt;/Box&gt;&#13;&#10;                &lt;Text style={{ fontSize: 17, color: '#E4EDF9', lineHeight: 1.5 }}&gt;科学贡献集中在代谢响应、时间尺度边界与瓶颈转换；CAWCC 响应面与干预边界同时为布局与规划提供解释。&lt;/Text&gt;&#13;&#10;            &lt;/Box&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16 / 36&lt;/Text&gt;&#13;&#10;    &lt;/Box&gt;&#13;&#10;    &lt;Box style={{ position: 'absolute', left: 0, top: 72, width: 6, height: 608, flexDirection: 'column' }}&gt;&#13;&#10;                &lt;Box style={{ width: 6, height: 122, background: '#C9D6E8' }} /&gt;&#13;&#10;                &lt;Box style={{ width: 6, height: 122, background: '#C9D6E8' }} /&gt;&#13;&#10;                &lt;Box style={{ width: 6, height: 122, background: '#FFC107' }} /&gt;&#13;&#10;                &lt;Box style={{ width: 6, height: 122, background: '#C9D6E8' }} /&gt;&#13;&#10;                &lt;Box style={{ width: 6, height: 120, background: '#C9D6E8' }} /&gt;&#13;&#10;    &lt;/Box&gt;&#13;&#10;&lt;/Slide&gt;&#13;&#10;"/>
        <p:cNvGrpSpPr/>
        <p:nvPr/>
      </p:nvGrpSpPr>
      <p:grpSpPr>
        <a:xfrm>
          <a:off x="0" y="0"/>
          <a:ext cx="0" cy="0"/>
          <a:chOff x="0" y="0"/>
          <a:chExt cx="0" cy="0"/>
        </a:xfrm>
      </p:grpSpPr>
      <p:sp>
        <p:nvSpPr>
          <p:cNvPr id="319" name="矩形 318"/>
          <p:cNvSpPr/>
          <p:nvPr/>
        </p:nvSpPr>
        <p:spPr>
          <a:xfrm>
            <a:off x="0" y="0"/>
            <a:ext cx="12192000" cy="6858000"/>
          </a:xfrm>
          <a:prstGeom prst="rect">
            <a:avLst/>
          </a:prstGeom>
          <a:solidFill>
            <a:srgbClr val="FFFFFF"/>
          </a:solidFill>
        </p:spPr>
        <p:txBody>
          <a:bodyPr/>
          <a:p/>
        </p:txBody>
      </p:sp>
      <p:sp>
        <p:nvSpPr>
          <p:cNvPr id="320" name="矩形 319"/>
          <p:cNvSpPr/>
          <p:nvPr/>
        </p:nvSpPr>
        <p:spPr>
          <a:xfrm>
            <a:off x="0" y="0"/>
            <a:ext cx="12192000" cy="685800"/>
          </a:xfrm>
          <a:prstGeom prst="rect">
            <a:avLst/>
          </a:prstGeom>
          <a:solidFill>
            <a:srgbClr val="0E3F8C"/>
          </a:solidFill>
        </p:spPr>
        <p:txBody>
          <a:bodyPr/>
          <a:p/>
        </p:txBody>
      </p:sp>
      <p:sp>
        <p:nvSpPr>
          <p:cNvPr id="321" name="圆角矩形 320"/>
          <p:cNvSpPr/>
          <p:nvPr/>
        </p:nvSpPr>
        <p:spPr>
          <a:xfrm>
            <a:off x="381000" y="152400"/>
            <a:ext cx="381000" cy="381000"/>
          </a:xfrm>
          <a:prstGeom prst="roundRect">
            <a:avLst>
              <a:gd name="adj" fmla="val 25000"/>
            </a:avLst>
          </a:prstGeom>
          <a:solidFill>
            <a:srgbClr val="12489A"/>
          </a:solidFill>
        </p:spPr>
        <p:txBody>
          <a:bodyPr/>
          <a:p/>
        </p:txBody>
      </p:sp>
      <p:pic>
        <p:nvPicPr>
          <p:cNvPr id="322" name="图片 321"/>
          <p:cNvPicPr>
            <a:picLocks noChangeAspect="1"/>
          </p:cNvPicPr>
          <p:nvPr/>
        </p:nvPicPr>
        <p:blipFill>
          <a:blip/>
          <a:stretch>
            <a:fillRect/>
          </a:stretch>
        </p:blipFill>
        <p:spPr>
          <a:xfrm>
            <a:off x="466725" y="238125"/>
            <a:ext cx="209550" cy="209550"/>
          </a:xfrm>
          <a:prstGeom prst="rect">
            <a:avLst/>
          </a:prstGeom>
        </p:spPr>
      </p:pic>
      <p:sp>
        <p:nvSpPr>
          <p:cNvPr id="323" name="文本框 322" descr="{&quot;isTemplate&quot;:true,&quot;type&quot;:&quot;text&quot;}"/>
          <p:cNvSpPr txBox="1"/>
          <p:nvPr/>
        </p:nvSpPr>
        <p:spPr>
          <a:xfrm>
            <a:off x="895350" y="180975"/>
            <a:ext cx="66960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四项研究内容构成平台—现象—边界—干预的闭合主线</a:t>
            </a:r>
            <a:endParaRPr lang="zh-CN" sz="2175" b="1">
              <a:solidFill>
                <a:srgbClr val="FFFFFF"/>
              </a:solidFill>
              <a:latin typeface="微软雅黑" panose="020B0503020204020204" charset="-122"/>
              <a:ea typeface="微软雅黑" panose="020B0503020204020204" charset="-122"/>
            </a:endParaRPr>
          </a:p>
        </p:txBody>
      </p:sp>
      <p:sp>
        <p:nvSpPr>
          <p:cNvPr id="324" name="文本框 323"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03 </a:t>
            </a:r>
            <a:r>
              <a:rPr lang="zh-CN" sz="1125">
                <a:solidFill>
                  <a:srgbClr val="AFC6E8"/>
                </a:solidFill>
                <a:latin typeface="微软雅黑" panose="020B0503020204020204" charset="-122"/>
                <a:ea typeface="微软雅黑" panose="020B0503020204020204" charset="-122"/>
              </a:rPr>
              <a:t>科学问题、假设与研究内容</a:t>
            </a:r>
            <a:endParaRPr lang="zh-CN" sz="1125">
              <a:solidFill>
                <a:srgbClr val="AFC6E8"/>
              </a:solidFill>
              <a:latin typeface="微软雅黑" panose="020B0503020204020204" charset="-122"/>
              <a:ea typeface="微软雅黑" panose="020B0503020204020204" charset="-122"/>
            </a:endParaRPr>
          </a:p>
        </p:txBody>
      </p:sp>
      <p:sp>
        <p:nvSpPr>
          <p:cNvPr id="325" name="圆角矩形 324"/>
          <p:cNvSpPr/>
          <p:nvPr/>
        </p:nvSpPr>
        <p:spPr>
          <a:xfrm>
            <a:off x="11468100" y="238125"/>
            <a:ext cx="342900" cy="219075"/>
          </a:xfrm>
          <a:prstGeom prst="roundRect">
            <a:avLst>
              <a:gd name="adj" fmla="val 13043"/>
            </a:avLst>
          </a:prstGeom>
          <a:solidFill>
            <a:srgbClr val="FFC107"/>
          </a:solidFill>
        </p:spPr>
        <p:txBody>
          <a:bodyPr/>
          <a:p/>
        </p:txBody>
      </p:sp>
      <p:sp>
        <p:nvSpPr>
          <p:cNvPr id="326" name="文本框 325"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16</a:t>
            </a:r>
            <a:endParaRPr lang="en-US" sz="1050" b="1">
              <a:solidFill>
                <a:srgbClr val="0B3A82"/>
              </a:solidFill>
              <a:latin typeface="微软雅黑" panose="020B0503020204020204" charset="-122"/>
              <a:ea typeface="微软雅黑" panose="020B0503020204020204" charset="-122"/>
            </a:endParaRPr>
          </a:p>
        </p:txBody>
      </p:sp>
      <p:sp>
        <p:nvSpPr>
          <p:cNvPr id="327" name="圆角矩形 326"/>
          <p:cNvSpPr/>
          <p:nvPr/>
        </p:nvSpPr>
        <p:spPr>
          <a:xfrm>
            <a:off x="381000" y="800100"/>
            <a:ext cx="11430000" cy="438150"/>
          </a:xfrm>
          <a:prstGeom prst="roundRect">
            <a:avLst>
              <a:gd name="adj" fmla="val 8696"/>
            </a:avLst>
          </a:prstGeom>
          <a:solidFill>
            <a:srgbClr val="0B3A82"/>
          </a:solidFill>
        </p:spPr>
        <p:txBody>
          <a:bodyPr/>
          <a:p/>
        </p:txBody>
      </p:sp>
      <p:sp>
        <p:nvSpPr>
          <p:cNvPr id="328" name="文本框 327"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四项内容为</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一个平台</a:t>
            </a:r>
            <a:r>
              <a:rPr lang="en-US" sz="1575">
                <a:solidFill>
                  <a:srgbClr val="FFFFFF"/>
                </a:solidFill>
                <a:latin typeface="微软雅黑" panose="020B0503020204020204" charset="-122"/>
                <a:ea typeface="微软雅黑" panose="020B0503020204020204" charset="-122"/>
              </a:rPr>
              <a:t> + </a:t>
            </a:r>
            <a:r>
              <a:rPr lang="zh-CN" sz="1575">
                <a:solidFill>
                  <a:srgbClr val="FFFFFF"/>
                </a:solidFill>
                <a:latin typeface="微软雅黑" panose="020B0503020204020204" charset="-122"/>
                <a:ea typeface="微软雅黑" panose="020B0503020204020204" charset="-122"/>
              </a:rPr>
              <a:t>三个认识</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：第一项是实验平台，后三项分别承担现象识别、边界解释与干预分析</a:t>
            </a:r>
            <a:endParaRPr lang="zh-CN" sz="1575">
              <a:solidFill>
                <a:srgbClr val="FFFFFF"/>
              </a:solidFill>
              <a:latin typeface="微软雅黑" panose="020B0503020204020204" charset="-122"/>
              <a:ea typeface="微软雅黑" panose="020B0503020204020204" charset="-122"/>
            </a:endParaRPr>
          </a:p>
        </p:txBody>
      </p:sp>
      <p:graphicFrame>
        <p:nvGraphicFramePr>
          <p:cNvPr id="329" name="表格 328"/>
          <p:cNvGraphicFramePr/>
          <p:nvPr/>
        </p:nvGraphicFramePr>
        <p:xfrm>
          <a:off x="381000" y="1352550"/>
          <a:ext cx="11430001" cy="3390900"/>
        </p:xfrm>
        <a:graphic>
          <a:graphicData uri="http://schemas.openxmlformats.org/drawingml/2006/table">
            <a:tbl>
              <a:tblPr/>
              <a:tblGrid>
                <a:gridCol w="1710828"/>
                <a:gridCol w="4310192"/>
                <a:gridCol w="3287727"/>
                <a:gridCol w="2121254"/>
              </a:tblGrid>
              <a:tr h="447096">
                <a:tc>
                  <a:txBody>
                    <a:bodyPr wrap="square">
                      <a:spAutoFit/>
                    </a:bodyPr>
                    <a:p>
                      <a:pPr marL="114300" marR="114300" algn="l">
                        <a:lnSpc>
                          <a:spcPct val="120000"/>
                        </a:lnSpc>
                      </a:pPr>
                      <a:r>
                        <a:rPr sz="1350" b="1">
                          <a:solidFill>
                            <a:srgbClr val="FFFFFF"/>
                          </a:solidFill>
                          <a:latin typeface="微软雅黑" panose="020B0503020204020204" charset="-122"/>
                          <a:ea typeface="微软雅黑" panose="020B0503020204020204" charset="-122"/>
                        </a:rPr>
                        <a:t>研究内容</a:t>
                      </a:r>
                      <a:endParaRPr sz="135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350" b="1">
                          <a:solidFill>
                            <a:srgbClr val="FFFFFF"/>
                          </a:solidFill>
                          <a:latin typeface="微软雅黑" panose="020B0503020204020204" charset="-122"/>
                          <a:ea typeface="微软雅黑" panose="020B0503020204020204" charset="-122"/>
                        </a:rPr>
                        <a:t>核心任务</a:t>
                      </a:r>
                      <a:endParaRPr sz="135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350" b="1">
                          <a:solidFill>
                            <a:srgbClr val="FFFFFF"/>
                          </a:solidFill>
                          <a:latin typeface="微软雅黑" panose="020B0503020204020204" charset="-122"/>
                          <a:ea typeface="微软雅黑" panose="020B0503020204020204" charset="-122"/>
                        </a:rPr>
                        <a:t>拟回答的问题</a:t>
                      </a:r>
                      <a:endParaRPr sz="135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350" b="1">
                          <a:solidFill>
                            <a:srgbClr val="FFFFFF"/>
                          </a:solidFill>
                          <a:latin typeface="微软雅黑" panose="020B0503020204020204" charset="-122"/>
                          <a:ea typeface="微软雅黑" panose="020B0503020204020204" charset="-122"/>
                        </a:rPr>
                        <a:t>预期形成</a:t>
                      </a:r>
                      <a:endParaRPr sz="135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r>
              <a:tr h="735951">
                <a:tc>
                  <a:txBody>
                    <a:bodyPr wrap="square">
                      <a:spAutoFit/>
                    </a:bodyPr>
                    <a:p>
                      <a:pPr marL="114300" marR="114300" algn="l">
                        <a:lnSpc>
                          <a:spcPct val="120000"/>
                        </a:lnSpc>
                      </a:pPr>
                      <a:r>
                        <a:rPr sz="1275" b="1">
                          <a:solidFill>
                            <a:srgbClr val="0E3F8C"/>
                          </a:solidFill>
                          <a:latin typeface="微软雅黑" panose="020B0503020204020204" charset="-122"/>
                          <a:ea typeface="微软雅黑" panose="020B0503020204020204" charset="-122"/>
                        </a:rPr>
                        <a:t>一、AI—城市水系统耦合模型</a:t>
                      </a:r>
                      <a:endParaRPr sz="127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建立 AI 节点、城市水循环、水量水质守恒与参数证据库，完成最小闭环与验证</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AI 负荷如何进入城市水流网络，并分解为取水、消耗与回流</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可验证的 AI-UWM 模型与版本化代码</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r>
              <a:tr h="735951">
                <a:tc>
                  <a:txBody>
                    <a:bodyPr wrap="square">
                      <a:spAutoFit/>
                    </a:bodyPr>
                    <a:p>
                      <a:pPr marL="114300" marR="114300" algn="l">
                        <a:lnSpc>
                          <a:spcPct val="120000"/>
                        </a:lnSpc>
                      </a:pPr>
                      <a:r>
                        <a:rPr sz="1275" b="1">
                          <a:solidFill>
                            <a:srgbClr val="0E3F8C"/>
                          </a:solidFill>
                          <a:latin typeface="微软雅黑" panose="020B0503020204020204" charset="-122"/>
                          <a:ea typeface="微软雅黑" panose="020B0503020204020204" charset="-122"/>
                        </a:rPr>
                        <a:t>二、AI 扩张下城市水代谢响应</a:t>
                      </a:r>
                      <a:endParaRPr sz="127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容量梯度实验、冷却与水源对照、AI 与等年用水量普通工业对照</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系统响应何时由规模效应转为代谢结构重构</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代谢响应规律与结构转折阈值</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r>
              <a:tr h="735951">
                <a:tc>
                  <a:txBody>
                    <a:bodyPr wrap="square">
                      <a:spAutoFit/>
                    </a:bodyPr>
                    <a:p>
                      <a:pPr marL="114300" marR="114300" algn="l">
                        <a:lnSpc>
                          <a:spcPct val="120000"/>
                        </a:lnSpc>
                      </a:pPr>
                      <a:r>
                        <a:rPr sz="1275" b="1">
                          <a:solidFill>
                            <a:srgbClr val="0E3F8C"/>
                          </a:solidFill>
                          <a:latin typeface="微软雅黑" panose="020B0503020204020204" charset="-122"/>
                          <a:ea typeface="微软雅黑" panose="020B0503020204020204" charset="-122"/>
                        </a:rPr>
                        <a:t>三、时间尺度依赖的 CAWCC</a:t>
                      </a:r>
                      <a:endParaRPr sz="127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年均、日尺度与极端周小时边界求解，叠加高温、干旱与传统需求峰值</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平均边界与峰值边界为何不同，年均评价何时高估</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条件化边界图谱与边界提前量</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r>
              <a:tr h="735951">
                <a:tc>
                  <a:txBody>
                    <a:bodyPr wrap="square">
                      <a:spAutoFit/>
                    </a:bodyPr>
                    <a:p>
                      <a:pPr marL="114300" marR="114300" algn="l">
                        <a:lnSpc>
                          <a:spcPct val="120000"/>
                        </a:lnSpc>
                      </a:pPr>
                      <a:r>
                        <a:rPr sz="1275" b="1">
                          <a:solidFill>
                            <a:srgbClr val="0E3F8C"/>
                          </a:solidFill>
                          <a:latin typeface="微软雅黑" panose="020B0503020204020204" charset="-122"/>
                          <a:ea typeface="微软雅黑" panose="020B0503020204020204" charset="-122"/>
                        </a:rPr>
                        <a:t>四、瓶颈转换与干预边界</a:t>
                      </a:r>
                      <a:endParaRPr sz="127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约束转换识别、再生水边际收益分析、负担转移与反事实干预实验</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什么措施在什么条件下有效，收益何时递减或转移</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75">
                          <a:solidFill>
                            <a:srgbClr val="1A2230"/>
                          </a:solidFill>
                          <a:latin typeface="微软雅黑" panose="020B0503020204020204" charset="-122"/>
                          <a:ea typeface="微软雅黑" panose="020B0503020204020204" charset="-122"/>
                        </a:rPr>
                        <a:t>瓶颈迁移图谱与规划建议</a:t>
                      </a:r>
                      <a:endParaRPr sz="127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r>
            </a:tbl>
          </a:graphicData>
        </a:graphic>
      </p:graphicFrame>
      <p:sp>
        <p:nvSpPr>
          <p:cNvPr id="330" name="圆角矩形 329"/>
          <p:cNvSpPr/>
          <p:nvPr/>
        </p:nvSpPr>
        <p:spPr>
          <a:xfrm>
            <a:off x="381000" y="4857750"/>
            <a:ext cx="5648325" cy="1219200"/>
          </a:xfrm>
          <a:prstGeom prst="roundRect">
            <a:avLst>
              <a:gd name="adj" fmla="val 4688"/>
            </a:avLst>
          </a:prstGeom>
          <a:solidFill>
            <a:srgbClr val="F0F5FC"/>
          </a:solidFill>
          <a:ln w="12700">
            <a:solidFill>
              <a:srgbClr val="D6DCE5"/>
            </a:solidFill>
            <a:prstDash val="solid"/>
          </a:ln>
        </p:spPr>
        <p:txBody>
          <a:bodyPr/>
          <a:p/>
        </p:txBody>
      </p:sp>
      <p:sp>
        <p:nvSpPr>
          <p:cNvPr id="331" name="任意多边形 330"/>
          <p:cNvSpPr/>
          <p:nvPr/>
        </p:nvSpPr>
        <p:spPr>
          <a:xfrm>
            <a:off x="514350" y="4991100"/>
            <a:ext cx="5429250" cy="247650"/>
          </a:xfrm>
          <a:custGeom>
            <a:avLst/>
            <a:gdLst/>
            <a:ahLst/>
            <a:cxnLst/>
            <a:pathLst>
              <a:path w="570" h="26">
                <a:moveTo>
                  <a:pt x="0" y="0"/>
                </a:moveTo>
                <a:lnTo>
                  <a:pt x="5" y="0"/>
                </a:lnTo>
                <a:lnTo>
                  <a:pt x="5" y="26"/>
                </a:lnTo>
                <a:lnTo>
                  <a:pt x="0" y="26"/>
                </a:lnTo>
                <a:close/>
              </a:path>
            </a:pathLst>
          </a:custGeom>
          <a:solidFill>
            <a:srgbClr val="1E4FA8"/>
          </a:solidFill>
        </p:spPr>
        <p:txBody>
          <a:bodyPr/>
          <a:p/>
        </p:txBody>
      </p:sp>
      <p:pic>
        <p:nvPicPr>
          <p:cNvPr id="332" name="图片 331"/>
          <p:cNvPicPr>
            <a:picLocks noChangeAspect="1"/>
          </p:cNvPicPr>
          <p:nvPr/>
        </p:nvPicPr>
        <p:blipFill>
          <a:blip/>
          <a:stretch>
            <a:fillRect/>
          </a:stretch>
        </p:blipFill>
        <p:spPr>
          <a:xfrm>
            <a:off x="657225" y="5029200"/>
            <a:ext cx="180975" cy="180975"/>
          </a:xfrm>
          <a:prstGeom prst="rect">
            <a:avLst/>
          </a:prstGeom>
        </p:spPr>
      </p:pic>
      <p:sp>
        <p:nvSpPr>
          <p:cNvPr id="333" name="文本框 332" descr="{&quot;isTemplate&quot;:true,&quot;type&quot;:&quot;text&quot;}"/>
          <p:cNvSpPr txBox="1"/>
          <p:nvPr/>
        </p:nvSpPr>
        <p:spPr>
          <a:xfrm>
            <a:off x="914400" y="4991100"/>
            <a:ext cx="140017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任务优先级安排</a:t>
            </a:r>
            <a:endParaRPr lang="zh-CN" sz="1575" b="1">
              <a:solidFill>
                <a:srgbClr val="0E3F8C"/>
              </a:solidFill>
              <a:latin typeface="微软雅黑" panose="020B0503020204020204" charset="-122"/>
              <a:ea typeface="微软雅黑" panose="020B0503020204020204" charset="-122"/>
            </a:endParaRPr>
          </a:p>
        </p:txBody>
      </p:sp>
      <p:sp>
        <p:nvSpPr>
          <p:cNvPr id="334" name="文本框 333" descr="{&quot;isTemplate&quot;:true,&quot;type&quot;:&quot;text&quot;}"/>
          <p:cNvSpPr txBox="1"/>
          <p:nvPr/>
        </p:nvSpPr>
        <p:spPr>
          <a:xfrm>
            <a:off x="514350" y="5295900"/>
            <a:ext cx="538162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优先级一：物理闭合、代谢响应、时间尺度</a:t>
            </a:r>
            <a:r>
              <a:rPr lang="en-US" sz="1275">
                <a:solidFill>
                  <a:srgbClr val="1A2230"/>
                </a:solidFill>
                <a:latin typeface="微软雅黑" panose="020B0503020204020204" charset="-122"/>
                <a:ea typeface="微软雅黑" panose="020B0503020204020204" charset="-122"/>
              </a:rPr>
              <a:t> CAWCC </a:t>
            </a:r>
            <a:r>
              <a:rPr lang="zh-CN" sz="1275">
                <a:solidFill>
                  <a:srgbClr val="1A2230"/>
                </a:solidFill>
                <a:latin typeface="微软雅黑" panose="020B0503020204020204" charset="-122"/>
                <a:ea typeface="微软雅黑" panose="020B0503020204020204" charset="-122"/>
              </a:rPr>
              <a:t>与瓶颈转换；优先级二：再生水收益与参数不确定性；稳定后拓展水质、水—能—碳与泛化。</a:t>
            </a:r>
            <a:endParaRPr lang="zh-CN" sz="1275">
              <a:solidFill>
                <a:srgbClr val="1A2230"/>
              </a:solidFill>
              <a:latin typeface="微软雅黑" panose="020B0503020204020204" charset="-122"/>
              <a:ea typeface="微软雅黑" panose="020B0503020204020204" charset="-122"/>
            </a:endParaRPr>
          </a:p>
        </p:txBody>
      </p:sp>
      <p:sp>
        <p:nvSpPr>
          <p:cNvPr id="335" name="圆角矩形 334"/>
          <p:cNvSpPr/>
          <p:nvPr/>
        </p:nvSpPr>
        <p:spPr>
          <a:xfrm>
            <a:off x="6162675" y="4857750"/>
            <a:ext cx="5648325" cy="1219200"/>
          </a:xfrm>
          <a:prstGeom prst="roundRect">
            <a:avLst>
              <a:gd name="adj" fmla="val 4688"/>
            </a:avLst>
          </a:prstGeom>
          <a:solidFill>
            <a:srgbClr val="0E3F8C"/>
          </a:solidFill>
        </p:spPr>
        <p:txBody>
          <a:bodyPr/>
          <a:p/>
        </p:txBody>
      </p:sp>
      <p:sp>
        <p:nvSpPr>
          <p:cNvPr id="336" name="任意多边形 335"/>
          <p:cNvSpPr/>
          <p:nvPr/>
        </p:nvSpPr>
        <p:spPr>
          <a:xfrm>
            <a:off x="6296025" y="4991100"/>
            <a:ext cx="5429250" cy="247650"/>
          </a:xfrm>
          <a:custGeom>
            <a:avLst/>
            <a:gdLst/>
            <a:ahLst/>
            <a:cxnLst/>
            <a:pathLst>
              <a:path w="570" h="26">
                <a:moveTo>
                  <a:pt x="0" y="0"/>
                </a:moveTo>
                <a:lnTo>
                  <a:pt x="5" y="0"/>
                </a:lnTo>
                <a:lnTo>
                  <a:pt x="5" y="26"/>
                </a:lnTo>
                <a:lnTo>
                  <a:pt x="0" y="26"/>
                </a:lnTo>
                <a:close/>
              </a:path>
            </a:pathLst>
          </a:custGeom>
          <a:solidFill>
            <a:srgbClr val="FFC107"/>
          </a:solidFill>
        </p:spPr>
        <p:txBody>
          <a:bodyPr/>
          <a:p/>
        </p:txBody>
      </p:sp>
      <p:pic>
        <p:nvPicPr>
          <p:cNvPr id="337" name="图片 336"/>
          <p:cNvPicPr>
            <a:picLocks noChangeAspect="1"/>
          </p:cNvPicPr>
          <p:nvPr/>
        </p:nvPicPr>
        <p:blipFill>
          <a:blip/>
          <a:stretch>
            <a:fillRect/>
          </a:stretch>
        </p:blipFill>
        <p:spPr>
          <a:xfrm>
            <a:off x="6438900" y="5029200"/>
            <a:ext cx="180975" cy="180975"/>
          </a:xfrm>
          <a:prstGeom prst="rect">
            <a:avLst/>
          </a:prstGeom>
        </p:spPr>
      </p:pic>
      <p:sp>
        <p:nvSpPr>
          <p:cNvPr id="338" name="文本框 337" descr="{&quot;isTemplate&quot;:true,&quot;type&quot;:&quot;text&quot;}"/>
          <p:cNvSpPr txBox="1"/>
          <p:nvPr/>
        </p:nvSpPr>
        <p:spPr>
          <a:xfrm>
            <a:off x="6696075" y="4991100"/>
            <a:ext cx="1600200" cy="247650"/>
          </a:xfrm>
          <a:prstGeom prst="rect">
            <a:avLst/>
          </a:prstGeom>
        </p:spPr>
        <p:txBody>
          <a:bodyPr wrap="none" lIns="0" tIns="0" rIns="0" bIns="0"/>
          <a:p>
            <a:pPr>
              <a:lnSpc>
                <a:spcPct val="100000"/>
              </a:lnSpc>
            </a:pPr>
            <a:r>
              <a:rPr lang="zh-CN" sz="1575" b="1">
                <a:solidFill>
                  <a:srgbClr val="FFFFFF"/>
                </a:solidFill>
                <a:latin typeface="微软雅黑" panose="020B0503020204020204" charset="-122"/>
                <a:ea typeface="微软雅黑" panose="020B0503020204020204" charset="-122"/>
              </a:rPr>
              <a:t>学术研究能力主线</a:t>
            </a:r>
            <a:endParaRPr lang="zh-CN" sz="1575" b="1">
              <a:solidFill>
                <a:srgbClr val="FFFFFF"/>
              </a:solidFill>
              <a:latin typeface="微软雅黑" panose="020B0503020204020204" charset="-122"/>
              <a:ea typeface="微软雅黑" panose="020B0503020204020204" charset="-122"/>
            </a:endParaRPr>
          </a:p>
        </p:txBody>
      </p:sp>
      <p:sp>
        <p:nvSpPr>
          <p:cNvPr id="339" name="文本框 338" descr="{&quot;isTemplate&quot;:true,&quot;type&quot;:&quot;text&quot;}"/>
          <p:cNvSpPr txBox="1"/>
          <p:nvPr/>
        </p:nvSpPr>
        <p:spPr>
          <a:xfrm>
            <a:off x="6296025" y="5295900"/>
            <a:ext cx="5381625" cy="590550"/>
          </a:xfrm>
          <a:prstGeom prst="rect">
            <a:avLst/>
          </a:prstGeom>
        </p:spPr>
        <p:txBody>
          <a:bodyPr wrap="square" lIns="0" tIns="0" rIns="0" bIns="0">
            <a:normAutofit/>
          </a:bodyPr>
          <a:p>
            <a:pPr>
              <a:lnSpc>
                <a:spcPct val="150000"/>
              </a:lnSpc>
            </a:pPr>
            <a:r>
              <a:rPr lang="zh-CN" sz="1275">
                <a:solidFill>
                  <a:srgbClr val="E4EDF9"/>
                </a:solidFill>
                <a:latin typeface="微软雅黑" panose="020B0503020204020204" charset="-122"/>
                <a:ea typeface="微软雅黑" panose="020B0503020204020204" charset="-122"/>
              </a:rPr>
              <a:t>科学贡献集中在代谢响应、时间尺度边界与瓶颈转换；</a:t>
            </a:r>
            <a:r>
              <a:rPr lang="en-US" sz="1275">
                <a:solidFill>
                  <a:srgbClr val="E4EDF9"/>
                </a:solidFill>
                <a:latin typeface="微软雅黑" panose="020B0503020204020204" charset="-122"/>
                <a:ea typeface="微软雅黑" panose="020B0503020204020204" charset="-122"/>
              </a:rPr>
              <a:t>CAWCC </a:t>
            </a:r>
            <a:r>
              <a:rPr lang="zh-CN" sz="1275">
                <a:solidFill>
                  <a:srgbClr val="E4EDF9"/>
                </a:solidFill>
                <a:latin typeface="微软雅黑" panose="020B0503020204020204" charset="-122"/>
                <a:ea typeface="微软雅黑" panose="020B0503020204020204" charset="-122"/>
              </a:rPr>
              <a:t>响应面与干预边界同时为布局与规划提供解释。</a:t>
            </a:r>
            <a:endParaRPr lang="zh-CN" sz="1275">
              <a:solidFill>
                <a:srgbClr val="E4EDF9"/>
              </a:solidFill>
              <a:latin typeface="微软雅黑" panose="020B0503020204020204" charset="-122"/>
              <a:ea typeface="微软雅黑" panose="020B0503020204020204" charset="-122"/>
            </a:endParaRPr>
          </a:p>
        </p:txBody>
      </p:sp>
      <p:sp>
        <p:nvSpPr>
          <p:cNvPr id="340" name="任意多边形 339"/>
          <p:cNvSpPr/>
          <p:nvPr/>
        </p:nvSpPr>
        <p:spPr>
          <a:xfrm>
            <a:off x="0" y="61531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341" name="文本框 340" descr="{&quot;isTemplate&quot;:true,&quot;type&quot;:&quot;text&quot;}"/>
          <p:cNvSpPr txBox="1"/>
          <p:nvPr/>
        </p:nvSpPr>
        <p:spPr>
          <a:xfrm>
            <a:off x="381000" y="62674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342" name="文本框 341" descr="{&quot;isTemplate&quot;:true,&quot;type&quot;:&quot;text&quot;}"/>
          <p:cNvSpPr txBox="1"/>
          <p:nvPr/>
        </p:nvSpPr>
        <p:spPr>
          <a:xfrm>
            <a:off x="11353800" y="62674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16 / 36</a:t>
            </a:r>
            <a:endParaRPr lang="en-US" sz="1050">
              <a:solidFill>
                <a:srgbClr val="1E4FA8"/>
              </a:solidFill>
              <a:latin typeface="微软雅黑" panose="020B0503020204020204" charset="-122"/>
              <a:ea typeface="微软雅黑" panose="020B0503020204020204" charset="-122"/>
            </a:endParaRPr>
          </a:p>
        </p:txBody>
      </p:sp>
      <p:sp>
        <p:nvSpPr>
          <p:cNvPr id="343" name="矩形 342"/>
          <p:cNvSpPr/>
          <p:nvPr/>
        </p:nvSpPr>
        <p:spPr>
          <a:xfrm>
            <a:off x="0" y="685800"/>
            <a:ext cx="57150" cy="1162050"/>
          </a:xfrm>
          <a:prstGeom prst="rect">
            <a:avLst/>
          </a:prstGeom>
          <a:solidFill>
            <a:srgbClr val="C9D6E8"/>
          </a:solidFill>
        </p:spPr>
        <p:txBody>
          <a:bodyPr/>
          <a:p/>
        </p:txBody>
      </p:sp>
      <p:sp>
        <p:nvSpPr>
          <p:cNvPr id="344" name="矩形 343"/>
          <p:cNvSpPr/>
          <p:nvPr/>
        </p:nvSpPr>
        <p:spPr>
          <a:xfrm>
            <a:off x="0" y="1847850"/>
            <a:ext cx="57150" cy="1162050"/>
          </a:xfrm>
          <a:prstGeom prst="rect">
            <a:avLst/>
          </a:prstGeom>
          <a:solidFill>
            <a:srgbClr val="C9D6E8"/>
          </a:solidFill>
        </p:spPr>
        <p:txBody>
          <a:bodyPr/>
          <a:p/>
        </p:txBody>
      </p:sp>
      <p:sp>
        <p:nvSpPr>
          <p:cNvPr id="345" name="矩形 344"/>
          <p:cNvSpPr/>
          <p:nvPr/>
        </p:nvSpPr>
        <p:spPr>
          <a:xfrm>
            <a:off x="0" y="3009900"/>
            <a:ext cx="57150" cy="1162050"/>
          </a:xfrm>
          <a:prstGeom prst="rect">
            <a:avLst/>
          </a:prstGeom>
          <a:solidFill>
            <a:srgbClr val="FFC107"/>
          </a:solidFill>
        </p:spPr>
        <p:txBody>
          <a:bodyPr/>
          <a:p/>
        </p:txBody>
      </p:sp>
      <p:sp>
        <p:nvSpPr>
          <p:cNvPr id="346" name="矩形 345"/>
          <p:cNvSpPr/>
          <p:nvPr/>
        </p:nvSpPr>
        <p:spPr>
          <a:xfrm>
            <a:off x="0" y="4171950"/>
            <a:ext cx="57150" cy="1162050"/>
          </a:xfrm>
          <a:prstGeom prst="rect">
            <a:avLst/>
          </a:prstGeom>
          <a:solidFill>
            <a:srgbClr val="C9D6E8"/>
          </a:solidFill>
        </p:spPr>
        <p:txBody>
          <a:bodyPr/>
          <a:p/>
        </p:txBody>
      </p:sp>
      <p:sp>
        <p:nvSpPr>
          <p:cNvPr id="347" name="矩形 346"/>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48" name="" descr="&lt;Slide style={{ width: '1280px', height: '720px', background: '#0B3A82', fontFamily: 'Microsoft YaHei', padding: 0 }}&gt;&#13;&#10;    &lt;Box style={{ position: 'absolute', top: 0, right: 0, width: 300, height: 720, background: '#12489A' }} /&gt;&#13;&#10;    &lt;Box style={{ position: 'absolute', top: 70, right: 40, width: 220, height: 220, opacity: 0.16 }}&gt;&#13;&#10;        &lt;svg width={220} height={220} viewBox='0 0 220 220'&gt;&#13;&#10;            &lt;rect x='20' y='20' width='180' height='52' rx='5' fill='none' stroke='#FFFFFF' strokeWidth='3' /&gt;&#13;&#10;            &lt;rect x='20' y='96' width='180' height='52' rx='5' fill='none' stroke='#FFFFFF' strokeWidth='3' /&gt;&#13;&#10;            &lt;rect x='20' y='172' width='180' height='36' rx='5' fill='none' stroke='#FFFFFF' strokeWidth='3' /&gt;&#13;&#10;            &lt;path d='M110 72 L110 96' stroke='#FFC107' strokeWidth='4' fill='none' /&gt;&#13;&#10;            &lt;path d='M110 148 L110 172' stroke='#FFC107' strokeWidth='4' fill='none' /&gt;&#13;&#10;        &lt;/svg&gt;&#13;&#10;    &lt;/Box&gt;&#13;&#10;    &lt;Box style={{ position: 'absolute', top: 120, left: 90 }}&gt;&#13;&#10;        &lt;Text style={{ fontSize: 220, fontWeight: 'bold', color: '#FFFFFF', opacity: 0.12, lineHeight: 1 }}&gt;04&lt;/Text&gt;&#13;&#10;    &lt;/Box&gt;&#13;&#10;    &lt;Box style={{ position: 'absolute', top: 132, left: 96, width: 840, flexDirection: 'column', gap: 18 }}&gt;&#13;&#10;        &lt;Box style={{ flexDirection: 'row', alignItems: 'center', gap: 14 }}&gt;&#13;&#10;            &lt;Box style={{ width: 14, height: 38, background: '#FFC107' }} /&gt;&#13;&#10;            &lt;Text style={{ fontSize: 25, color: '#BFD3F2', letterSpacing: 3 }}&gt;PART FOUR&lt;/Text&gt;&#13;&#10;        &lt;/Box&gt;&#13;&#10;        &lt;Text style={{ fontSize: 50, fontWeight: 'bold', color: '#FFFFFF', lineHeight: 1.25 }}&gt;研究方案：模型、实验与验证&lt;/Text&gt;&#13;&#10;        &lt;Box style={{ height: 3, background: '#3D7BD9', width: 760 }} /&gt;&#13;&#10;        &lt;Box style={{ flexDirection: 'column', gap: 11, marginTop: 4 }}&gt;&#13;&#10;            &lt;Text style={{ fontSize: 24, fontWeight: 'bold', color: '#FFFFFF', lineHeight: 1.4 }}&gt;如何把三个科学问题转化为可重复、可证伪的模拟实验？&lt;/Text&gt;&#13;&#10;            &lt;Text style={{ fontSize: 18, color: '#FFC107', letterSpacing: 1 }}&gt;模型闭合　｜　控制实验　｜　边界求解　｜　稳健验证&lt;/Text&gt;&#13;&#10;        &lt;/Box&gt;&#13;&#10;    &lt;/Box&gt;&#13;&#10;    &lt;Box style={{ position: 'absolute', bottom: 44, left: 96 }}&gt;&#13;&#10;        &lt;Text style={{ fontSize: 16, color: '#7FA3D6' }}&gt;P18 – P30&lt;/Text&gt;&#13;&#10;    &lt;/Box&gt;&#13;&#10;&lt;/Slide&gt;&#13;&#10;"/>
        <p:cNvGrpSpPr/>
        <p:nvPr/>
      </p:nvGrpSpPr>
      <p:grpSpPr>
        <a:xfrm>
          <a:off x="0" y="0"/>
          <a:ext cx="0" cy="0"/>
          <a:chOff x="0" y="0"/>
          <a:chExt cx="0" cy="0"/>
        </a:xfrm>
      </p:grpSpPr>
      <p:sp>
        <p:nvSpPr>
          <p:cNvPr id="349" name="矩形 348"/>
          <p:cNvSpPr/>
          <p:nvPr/>
        </p:nvSpPr>
        <p:spPr>
          <a:xfrm>
            <a:off x="0" y="0"/>
            <a:ext cx="12192000" cy="6858000"/>
          </a:xfrm>
          <a:prstGeom prst="rect">
            <a:avLst/>
          </a:prstGeom>
          <a:solidFill>
            <a:srgbClr val="0B3A82"/>
          </a:solidFill>
        </p:spPr>
        <p:txBody>
          <a:bodyPr/>
          <a:p/>
        </p:txBody>
      </p:sp>
      <p:sp>
        <p:nvSpPr>
          <p:cNvPr id="350" name="矩形 349"/>
          <p:cNvSpPr/>
          <p:nvPr/>
        </p:nvSpPr>
        <p:spPr>
          <a:xfrm>
            <a:off x="9334500" y="0"/>
            <a:ext cx="2857500" cy="6858000"/>
          </a:xfrm>
          <a:prstGeom prst="rect">
            <a:avLst/>
          </a:prstGeom>
          <a:solidFill>
            <a:srgbClr val="12489A"/>
          </a:solidFill>
        </p:spPr>
        <p:txBody>
          <a:bodyPr/>
          <a:p/>
        </p:txBody>
      </p:sp>
      <p:pic>
        <p:nvPicPr>
          <p:cNvPr id="351" name="图片 350"/>
          <p:cNvPicPr>
            <a:picLocks noChangeAspect="1"/>
          </p:cNvPicPr>
          <p:nvPr/>
        </p:nvPicPr>
        <p:blipFill>
          <a:blip r:embed="rId1">
            <a:alphaModFix amt="16000"/>
            <a:extLst>
              <a:ext uri="{96DAC541-7B7A-43D3-8B79-37D633B846F1}">
                <asvg:svgBlip xmlns:asvg="http://schemas.microsoft.com/office/drawing/2016/SVG/main" r:embed="rId2"/>
              </a:ext>
            </a:extLst>
          </a:blip>
          <a:stretch>
            <a:fillRect/>
          </a:stretch>
        </p:blipFill>
        <p:spPr>
          <a:xfrm>
            <a:off x="9715500" y="666750"/>
            <a:ext cx="2095500" cy="2095500"/>
          </a:xfrm>
          <a:prstGeom prst="rect">
            <a:avLst/>
          </a:prstGeom>
        </p:spPr>
      </p:pic>
      <p:sp>
        <p:nvSpPr>
          <p:cNvPr id="352" name="文本框 351" descr="{&quot;isTemplate&quot;:true,&quot;type&quot;:&quot;text&quot;}"/>
          <p:cNvSpPr txBox="1"/>
          <p:nvPr/>
        </p:nvSpPr>
        <p:spPr>
          <a:xfrm>
            <a:off x="857250" y="1143000"/>
            <a:ext cx="2590800" cy="2514600"/>
          </a:xfrm>
          <a:prstGeom prst="rect">
            <a:avLst/>
          </a:prstGeom>
        </p:spPr>
        <p:txBody>
          <a:bodyPr wrap="none" lIns="0" tIns="0" rIns="0" bIns="0"/>
          <a:p>
            <a:pPr>
              <a:lnSpc>
                <a:spcPct val="100000"/>
              </a:lnSpc>
            </a:pPr>
            <a:r>
              <a:rPr lang="en-US" sz="16500" b="1">
                <a:solidFill>
                  <a:srgbClr val="FFFFFF">
                    <a:alpha val="12000"/>
                  </a:srgbClr>
                </a:solidFill>
                <a:latin typeface="微软雅黑" panose="020B0503020204020204" charset="-122"/>
                <a:ea typeface="微软雅黑" panose="020B0503020204020204" charset="-122"/>
              </a:rPr>
              <a:t>04</a:t>
            </a:r>
            <a:endParaRPr lang="en-US" sz="16500" b="1">
              <a:solidFill>
                <a:srgbClr val="FFFFFF">
                  <a:alpha val="12000"/>
                </a:srgbClr>
              </a:solidFill>
              <a:latin typeface="微软雅黑" panose="020B0503020204020204" charset="-122"/>
              <a:ea typeface="微软雅黑" panose="020B0503020204020204" charset="-122"/>
            </a:endParaRPr>
          </a:p>
        </p:txBody>
      </p:sp>
      <p:sp>
        <p:nvSpPr>
          <p:cNvPr id="353" name="矩形 352"/>
          <p:cNvSpPr/>
          <p:nvPr/>
        </p:nvSpPr>
        <p:spPr>
          <a:xfrm>
            <a:off x="914400" y="1257300"/>
            <a:ext cx="133350" cy="361950"/>
          </a:xfrm>
          <a:prstGeom prst="rect">
            <a:avLst/>
          </a:prstGeom>
          <a:solidFill>
            <a:srgbClr val="FFC107"/>
          </a:solidFill>
        </p:spPr>
        <p:txBody>
          <a:bodyPr/>
          <a:p/>
        </p:txBody>
      </p:sp>
      <p:sp>
        <p:nvSpPr>
          <p:cNvPr id="354" name="文本框 353" descr="{&quot;isTemplate&quot;:true,&quot;type&quot;:&quot;text&quot;}"/>
          <p:cNvSpPr txBox="1"/>
          <p:nvPr/>
        </p:nvSpPr>
        <p:spPr>
          <a:xfrm>
            <a:off x="1181100" y="1295400"/>
            <a:ext cx="1590675" cy="285750"/>
          </a:xfrm>
          <a:prstGeom prst="rect">
            <a:avLst/>
          </a:prstGeom>
        </p:spPr>
        <p:txBody>
          <a:bodyPr wrap="none" lIns="0" tIns="0" rIns="0" bIns="0"/>
          <a:p>
            <a:pPr>
              <a:lnSpc>
                <a:spcPct val="100000"/>
              </a:lnSpc>
            </a:pPr>
            <a:r>
              <a:rPr lang="en-US" sz="1875" spc="225">
                <a:solidFill>
                  <a:srgbClr val="BFD3F2"/>
                </a:solidFill>
                <a:latin typeface="微软雅黑" panose="020B0503020204020204" charset="-122"/>
                <a:ea typeface="微软雅黑" panose="020B0503020204020204" charset="-122"/>
              </a:rPr>
              <a:t>PART FOUR</a:t>
            </a:r>
            <a:endParaRPr lang="en-US" sz="1875" spc="225">
              <a:solidFill>
                <a:srgbClr val="BFD3F2"/>
              </a:solidFill>
              <a:latin typeface="微软雅黑" panose="020B0503020204020204" charset="-122"/>
              <a:ea typeface="微软雅黑" panose="020B0503020204020204" charset="-122"/>
            </a:endParaRPr>
          </a:p>
        </p:txBody>
      </p:sp>
      <p:sp>
        <p:nvSpPr>
          <p:cNvPr id="355" name="文本框 354" descr="{&quot;isTemplate&quot;:true,&quot;type&quot;:&quot;text&quot;}"/>
          <p:cNvSpPr txBox="1"/>
          <p:nvPr/>
        </p:nvSpPr>
        <p:spPr>
          <a:xfrm>
            <a:off x="914400" y="1790700"/>
            <a:ext cx="8001000" cy="714375"/>
          </a:xfrm>
          <a:prstGeom prst="rect">
            <a:avLst/>
          </a:prstGeom>
        </p:spPr>
        <p:txBody>
          <a:bodyPr wrap="none" lIns="0" tIns="0" rIns="0" bIns="0"/>
          <a:p>
            <a:pPr>
              <a:lnSpc>
                <a:spcPct val="125000"/>
              </a:lnSpc>
            </a:pPr>
            <a:r>
              <a:rPr lang="zh-CN" sz="3750" b="1">
                <a:solidFill>
                  <a:srgbClr val="FFFFFF"/>
                </a:solidFill>
                <a:latin typeface="微软雅黑" panose="020B0503020204020204" charset="-122"/>
                <a:ea typeface="微软雅黑" panose="020B0503020204020204" charset="-122"/>
              </a:rPr>
              <a:t>研究方案：模型、实验与验证</a:t>
            </a:r>
            <a:endParaRPr lang="zh-CN" sz="3750" b="1">
              <a:solidFill>
                <a:srgbClr val="FFFFFF"/>
              </a:solidFill>
              <a:latin typeface="微软雅黑" panose="020B0503020204020204" charset="-122"/>
              <a:ea typeface="微软雅黑" panose="020B0503020204020204" charset="-122"/>
            </a:endParaRPr>
          </a:p>
        </p:txBody>
      </p:sp>
      <p:sp>
        <p:nvSpPr>
          <p:cNvPr id="356" name="矩形 355"/>
          <p:cNvSpPr/>
          <p:nvPr/>
        </p:nvSpPr>
        <p:spPr>
          <a:xfrm>
            <a:off x="914400" y="2676525"/>
            <a:ext cx="7239000" cy="28575"/>
          </a:xfrm>
          <a:prstGeom prst="rect">
            <a:avLst/>
          </a:prstGeom>
          <a:solidFill>
            <a:srgbClr val="3D7BD9"/>
          </a:solidFill>
        </p:spPr>
        <p:txBody>
          <a:bodyPr/>
          <a:p/>
        </p:txBody>
      </p:sp>
      <p:sp>
        <p:nvSpPr>
          <p:cNvPr id="357" name="文本框 356" descr="{&quot;isTemplate&quot;:true,&quot;type&quot;:&quot;text&quot;}"/>
          <p:cNvSpPr txBox="1"/>
          <p:nvPr/>
        </p:nvSpPr>
        <p:spPr>
          <a:xfrm>
            <a:off x="914400" y="2914650"/>
            <a:ext cx="8001000" cy="390525"/>
          </a:xfrm>
          <a:prstGeom prst="rect">
            <a:avLst/>
          </a:prstGeom>
        </p:spPr>
        <p:txBody>
          <a:bodyPr wrap="none" lIns="0" tIns="0" rIns="0" bIns="0"/>
          <a:p>
            <a:pPr>
              <a:lnSpc>
                <a:spcPct val="140000"/>
              </a:lnSpc>
            </a:pPr>
            <a:r>
              <a:rPr lang="zh-CN" sz="1800" b="1">
                <a:solidFill>
                  <a:srgbClr val="FFFFFF"/>
                </a:solidFill>
                <a:latin typeface="微软雅黑" panose="020B0503020204020204" charset="-122"/>
                <a:ea typeface="微软雅黑" panose="020B0503020204020204" charset="-122"/>
              </a:rPr>
              <a:t>如何把三个科学问题转化为可重复、可证伪的模拟实验？</a:t>
            </a:r>
            <a:endParaRPr lang="zh-CN" sz="1800" b="1">
              <a:solidFill>
                <a:srgbClr val="FFFFFF"/>
              </a:solidFill>
              <a:latin typeface="微软雅黑" panose="020B0503020204020204" charset="-122"/>
              <a:ea typeface="微软雅黑" panose="020B0503020204020204" charset="-122"/>
            </a:endParaRPr>
          </a:p>
        </p:txBody>
      </p:sp>
      <p:sp>
        <p:nvSpPr>
          <p:cNvPr id="358" name="文本框 357" descr="{&quot;isTemplate&quot;:true,&quot;type&quot;:&quot;text&quot;}"/>
          <p:cNvSpPr txBox="1"/>
          <p:nvPr/>
        </p:nvSpPr>
        <p:spPr>
          <a:xfrm>
            <a:off x="914400" y="3409950"/>
            <a:ext cx="8001000" cy="209550"/>
          </a:xfrm>
          <a:prstGeom prst="rect">
            <a:avLst/>
          </a:prstGeom>
        </p:spPr>
        <p:txBody>
          <a:bodyPr wrap="none" lIns="0" tIns="0" rIns="0" bIns="0"/>
          <a:p>
            <a:pPr>
              <a:lnSpc>
                <a:spcPct val="100000"/>
              </a:lnSpc>
            </a:pPr>
            <a:r>
              <a:rPr lang="zh-CN" sz="1350" spc="75">
                <a:solidFill>
                  <a:srgbClr val="FFC107"/>
                </a:solidFill>
                <a:latin typeface="微软雅黑" panose="020B0503020204020204" charset="-122"/>
                <a:ea typeface="微软雅黑" panose="020B0503020204020204" charset="-122"/>
              </a:rPr>
              <a:t>模型闭合　｜　控制实验　｜　边界求解　｜　稳健验证</a:t>
            </a:r>
            <a:endParaRPr lang="zh-CN" sz="1350" spc="75">
              <a:solidFill>
                <a:srgbClr val="FFC107"/>
              </a:solidFill>
              <a:latin typeface="微软雅黑" panose="020B0503020204020204" charset="-122"/>
              <a:ea typeface="微软雅黑" panose="020B0503020204020204" charset="-122"/>
            </a:endParaRPr>
          </a:p>
        </p:txBody>
      </p:sp>
      <p:sp>
        <p:nvSpPr>
          <p:cNvPr id="359" name="文本框 358" descr="{&quot;isTemplate&quot;:true,&quot;type&quot;:&quot;text&quot;}"/>
          <p:cNvSpPr txBox="1"/>
          <p:nvPr/>
        </p:nvSpPr>
        <p:spPr>
          <a:xfrm>
            <a:off x="914400" y="6248400"/>
            <a:ext cx="723900" cy="190500"/>
          </a:xfrm>
          <a:prstGeom prst="rect">
            <a:avLst/>
          </a:prstGeom>
        </p:spPr>
        <p:txBody>
          <a:bodyPr wrap="none" lIns="0" tIns="0" rIns="0" bIns="0"/>
          <a:p>
            <a:pPr>
              <a:lnSpc>
                <a:spcPct val="100000"/>
              </a:lnSpc>
            </a:pPr>
            <a:r>
              <a:rPr lang="en-US" sz="1200">
                <a:solidFill>
                  <a:srgbClr val="7FA3D6"/>
                </a:solidFill>
                <a:latin typeface="微软雅黑" panose="020B0503020204020204" charset="-122"/>
                <a:ea typeface="微软雅黑" panose="020B0503020204020204" charset="-122"/>
              </a:rPr>
              <a:t>P18 – P30</a:t>
            </a:r>
            <a:endParaRPr lang="en-US" sz="1200">
              <a:solidFill>
                <a:srgbClr val="7FA3D6"/>
              </a:solidFill>
              <a:latin typeface="微软雅黑" panose="020B0503020204020204" charset="-122"/>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60"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route' style={{ fill: '#FFC107', width: 22, height: 22 }} /&gt;&#13;&#10;        &lt;/Box&gt;&#13;&#10;            &lt;Text style={{ fontSize: 29, fontWeight: 'bold', color: '#FFFFFF' }}&gt;总体技术路线沿&quot;物理闭合→机制实验→边界求解→稳健验证&quot;推进&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18&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遵循&quot;先物理闭合再机制实验，先核心边界再扩展分析&quot;原则，四个阶段各解决一类可信度问题&lt;/Text&gt;&#13;&#10;        &lt;/Box&gt;&#13;&#10;        &lt;Box style={{ flexDirection: 'row', gap: 12, height: 464 }}&gt;&#13;&#10;            &lt;Box style={{ flex: 1, background: '#F7F9FC', border: '1px solid #D6DCE5', borderRadius: 6, padding: 10, flexDirection: 'column', gap: 8 }}&gt;&#13;&#10;                &lt;Box style={{ background: '#1E4FA8', borderRadius: 4, padding: 8, flexDirection: 'row', alignItems: 'center', justifyContent: 'center', gap: 8 }}&gt;&#13;&#10;                    &lt;Text style={{ fontSize: 18, fontWeight: 'bold', color: '#FFFFFF' }}&gt;阶段Ⅰ 物理闭合&lt;/Text&gt;&#13;&#10;                &lt;/Box&gt;&#13;&#10;                &lt;Box style={{ flex: 1, background: '#FFFFFF', border: '1px solid #D6DCE5', borderRadius: 5, padding: 10, flexDirection: 'column', justifyContent: 'center' }}&gt;&#13;&#10;                    &lt;Text style={{ fontSize: 16.5, fontWeight: 'bold', color: '#0E3F8C' }}&gt;01 证据审计与参数字典&lt;/Text&gt;&#13;&#10;                    &lt;Text style={{ fontSize: 14.5, color: '#4A5568', lineHeight: 1.4, marginTop: 3 }}&gt;梳理五类文献与标准，建立参数证据分级&lt;/Text&gt;&#13;&#10;                &lt;/Box&gt;&#13;&#10;                &lt;Box style={{ flex: 1, background: '#FFFFFF', border: '1px solid #D6DCE5', borderRadius: 5, padding: 10, flexDirection: 'column', justifyContent: 'center' }}&gt;&#13;&#10;                    &lt;Text style={{ fontSize: 16.5, fontWeight: 'bold', color: '#0E3F8C' }}&gt;02 系统边界与状态变量&lt;/Text&gt;&#13;&#10;                    &lt;Text style={{ fontSize: 14.5, color: '#4A5568', lineHeight: 1.4, marginTop: 3 }}&gt;定义节点、路径、储量与守恒账户&lt;/Text&gt;&#13;&#10;                &lt;/Box&gt;&#13;&#10;                &lt;Box style={{ flex: 1, background: '#FFFFFF', border: '1px solid #D6DCE5', borderRadius: 5, padding: 10, flexDirection: 'column', justifyContent: 'center' }}&gt;&#13;&#10;                    &lt;Text style={{ fontSize: 16.5, fontWeight: 'bold', color: '#0E3F8C' }}&gt;03 热—水过程闭合&lt;/Text&gt;&#13;&#10;                    &lt;Text style={{ fontSize: 14.5, color: '#4A5568', lineHeight: 1.4, marginTop: 3 }}&gt;AI 接入城市水网络，逐步水量水质闭合&lt;/Text&gt;&#13;&#10;                &lt;/Box&gt;&#13;&#10;            &lt;/Box&gt;&#13;&#10;            &lt;Box style={{ flex: 1, background: '#F7F9FC', border: '1px solid #D6DCE5', borderRadius: 6, padding: 10, flexDirection: 'column', gap: 8 }}&gt;&#13;&#10;                &lt;Box style={{ background: '#3D7BD9', borderRadius: 4, padding: 8, flexDirection: 'row', alignItems: 'center', justifyContent: 'center', gap: 8 }}&gt;&#13;&#10;                    &lt;Text style={{ fontSize: 18, fontWeight: 'bold', color: '#FFFFFF' }}&gt;阶段Ⅱ 机制实验&lt;/Text&gt;&#13;&#10;                &lt;/Box&gt;&#13;&#10;                &lt;Box style={{ flex: 1, background: '#FFFFFF', border: '1px solid #D6DCE5', borderRadius: 5, padding: 10, flexDirection: 'column', justifyContent: 'center' }}&gt;&#13;&#10;                    &lt;Text style={{ fontSize: 16.5, fontWeight: 'bold', color: '#0E3F8C' }}&gt;04 参数空间与状态生成&lt;/Text&gt;&#13;&#10;                    &lt;Text style={{ fontSize: 14.5, color: '#4A5568', lineHeight: 1.4, marginTop: 3 }}&gt;硬约束、相关结构与分层抽样，控制非物理组合&lt;/Text&gt;&#13;&#10;                &lt;/Box&gt;&#13;&#10;                &lt;Box style={{ flex: 1, background: '#FFFFFF', border: '1px solid #D6DCE5', borderRadius: 5, padding: 10, flexDirection: 'column', justifyContent: 'center' }}&gt;&#13;&#10;                    &lt;Text style={{ fontSize: 16.5, fontWeight: 'bold', color: '#0E3F8C' }}&gt;05 容量梯度与结构对照&lt;/Text&gt;&#13;&#10;                    &lt;Text style={{ fontSize: 14.5, color: '#4A5568', lineHeight: 1.4, marginTop: 3 }}&gt;仅提高 AI 容量，叠加普通工业、冷却与水源对照&lt;/Text&gt;&#13;&#10;                    &lt;Box style={{ background: '#E8EFF8', borderRadius: 3, paddingLeft: 8, paddingRight: 8, paddingTop: 3, paddingBottom: 3, marginTop: 6, alignSelf: 'flex-start' }}&gt;&#13;&#10;                        &lt;Text style={{ fontSize: 13, color: '#1E4FA8', fontWeight: 'bold' }}&gt;检验 Q1 / H1&lt;/Text&gt;&#13;&#10;                    &lt;/Box&gt;&#13;&#10;                &lt;/Box&gt;&#13;&#10;            &lt;/Box&gt;&#13;&#10;            &lt;Box style={{ flex: 1, background: '#F7F9FC', border: '1px solid #D6DCE5', borderRadius: 6, padding: 10, flexDirection: 'column', gap: 8 }}&gt;&#13;&#10;                &lt;Box style={{ background: '#0B3A82', borderRadius: 4, padding: 8, flexDirection: 'row', alignItems: 'center', justifyContent: 'center', gap: 8 }}&gt;&#13;&#10;                    &lt;Text style={{ fontSize: 18, fontWeight: 'bold', color: '#FFFFFF' }}&gt;阶段Ⅲ 边界求解&lt;/Text&gt;&#13;&#10;                &lt;/Box&gt;&#13;&#10;                &lt;Box style={{ flex: 1, background: '#FFFFFF', border: '1px solid #D6DCE5', borderRadius: 5, padding: 10, flexDirection: 'column', justifyContent: 'center' }}&gt;&#13;&#10;                    &lt;Text style={{ fontSize: 16.5, fontWeight: 'bold', color: '#0E3F8C' }}&gt;06 多时间尺度 CAWCC&lt;/Text&gt;&#13;&#10;                    &lt;Text style={{ fontSize: 14.5, color: '#4A5568', lineHeight: 1.4, marginTop: 3 }}&gt;年均、日尺度与极端周小时边界比较&lt;/Text&gt;&#13;&#10;                    &lt;Box style={{ background: '#E8EFF8', borderRadius: 3, paddingLeft: 8, paddingRight: 8, paddingTop: 3, paddingBottom: 3, marginTop: 6, alignSelf: 'flex-start' }}&gt;&#13;&#10;                        &lt;Text style={{ fontSize: 13, color: '#1E4FA8', fontWeight: 'bold' }}&gt;检验 Q2 / H2&lt;/Text&gt;&#13;&#10;                    &lt;/Box&gt;&#13;&#10;                &lt;/Box&gt;&#13;&#10;                &lt;Box style={{ flex: 1, background: '#FFFFFF', border: '1px solid #D6DCE5', borderRadius: 5, padding: 10, flexDirection: 'column', justifyContent: 'center' }}&gt;&#13;&#10;                    &lt;Text style={{ fontSize: 16.5, fontWeight: 'bold', color: '#0E3F8C' }}&gt;07 瓶颈识别与结构化干预&lt;/Text&gt;&#13;&#10;                    &lt;Text style={{ fontSize: 14.5, color: '#4A5568', lineHeight: 1.4, marginTop: 3 }}&gt;诊断性解除约束与梯度干预，识别迁移与收益区间&lt;/Text&gt;&#13;&#10;                    &lt;Box style={{ background: '#E8EFF8', borderRadius: 3, paddingLeft: 8, paddingRight: 8, paddingTop: 3, paddingBottom: 3, marginTop: 6, alignSelf: 'flex-start' }}&gt;&#13;&#10;                        &lt;Text style={{ fontSize: 13, color: '#1E4FA8', fontWeight: 'bold' }}&gt;检验 Q3 / H3&lt;/Text&gt;&#13;&#10;                    &lt;/Box&gt;&#13;&#10;                &lt;/Box&gt;&#13;&#10;            &lt;/Box&gt;&#13;&#10;            &lt;Box style={{ flex: 1, background: '#F7F9FC', border: '1px solid #D6DCE5', borderRadius: 6, padding: 10, flexDirection: 'column', gap: 8 }}&gt;&#13;&#10;                &lt;Box style={{ background: '#12489A', borderRadius: 4, padding: 8, flexDirection: 'row', alignItems: 'center', justifyContent: 'center', gap: 8 }}&gt;&#13;&#10;                    &lt;Text style={{ fontSize: 18, fontWeight: 'bold', color: '#FFFFFF' }}&gt;阶段Ⅳ 稳健验证&lt;/Text&gt;&#13;&#10;                &lt;/Box&gt;&#13;&#10;                &lt;Box style={{ flex: 1, background: '#FFFFFF', border: '1px solid #D6DCE5', borderRadius: 5, padding: 10, flexDirection: 'column', justifyContent: 'center' }}&gt;&#13;&#10;                    &lt;Text style={{ fontSize: 16.5, fontWeight: 'bold', color: '#0E3F8C' }}&gt;08 全局敏感性与不确定性&lt;/Text&gt;&#13;&#10;                    &lt;Text style={{ fontSize: 14.5, color: '#4A5568', lineHeight: 1.4, marginTop: 3 }}&gt;初筛→分解→归因的条件式流程，检验稳定区间&lt;/Text&gt;&#13;&#10;                &lt;/Box&gt;&#13;&#10;                &lt;Box style={{ flex: 1, background: '#0E3F8C', borderRadius: 5, padding: 10, flexDirection: 'column', justifyContent: 'center' }}&gt;&#13;&#10;                    &lt;Text style={{ fontSize: 16.5, fontWeight: 'bold', color: '#FFC107' }}&gt;09 机制归纳与工程解释&lt;/Text&gt;&#13;&#10;                    &lt;Text style={{ fontSize: 14.5, color: '#D6E3F7', lineHeight: 1.4, marginTop: 3 }}&gt;机制结果翻译为容量区间、参数域与主导瓶颈&lt;/Text&gt;&#13;&#10;                &lt;/Box&gt;&#13;&#10;            &lt;/Box&gt;&#13;&#10;        &lt;/Box&gt;&#13;&#10;        &lt;Box style={{ background: '#E8EFF8', borderLeft: '5px solid #1E4FA8', paddingLeft: 18, paddingTop: 9, paddingBottom: 9 }}&gt;&#13;&#10;            &lt;Text style={{ fontSize: 18.5, color: '#1A2230' }}&gt;每阶段设检查点：物理闭合通过守恒与量级校核后方进入机制实验；输入参数、模型版本与随机种子全程记录，形成可追溯证据链&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18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361" name="矩形 360"/>
          <p:cNvSpPr/>
          <p:nvPr/>
        </p:nvSpPr>
        <p:spPr>
          <a:xfrm>
            <a:off x="0" y="0"/>
            <a:ext cx="12192000" cy="6858000"/>
          </a:xfrm>
          <a:prstGeom prst="rect">
            <a:avLst/>
          </a:prstGeom>
          <a:solidFill>
            <a:srgbClr val="FFFFFF"/>
          </a:solidFill>
        </p:spPr>
        <p:txBody>
          <a:bodyPr/>
          <a:p/>
        </p:txBody>
      </p:sp>
      <p:sp>
        <p:nvSpPr>
          <p:cNvPr id="362" name="矩形 361"/>
          <p:cNvSpPr/>
          <p:nvPr/>
        </p:nvSpPr>
        <p:spPr>
          <a:xfrm>
            <a:off x="0" y="0"/>
            <a:ext cx="12192000" cy="685800"/>
          </a:xfrm>
          <a:prstGeom prst="rect">
            <a:avLst/>
          </a:prstGeom>
          <a:solidFill>
            <a:srgbClr val="0E3F8C"/>
          </a:solidFill>
        </p:spPr>
        <p:txBody>
          <a:bodyPr/>
          <a:p/>
        </p:txBody>
      </p:sp>
      <p:sp>
        <p:nvSpPr>
          <p:cNvPr id="363" name="圆角矩形 362"/>
          <p:cNvSpPr/>
          <p:nvPr/>
        </p:nvSpPr>
        <p:spPr>
          <a:xfrm>
            <a:off x="381000" y="152400"/>
            <a:ext cx="381000" cy="381000"/>
          </a:xfrm>
          <a:prstGeom prst="roundRect">
            <a:avLst>
              <a:gd name="adj" fmla="val 25000"/>
            </a:avLst>
          </a:prstGeom>
          <a:solidFill>
            <a:srgbClr val="12489A"/>
          </a:solidFill>
        </p:spPr>
        <p:txBody>
          <a:bodyPr/>
          <a:p/>
        </p:txBody>
      </p:sp>
      <p:pic>
        <p:nvPicPr>
          <p:cNvPr id="364" name="图片 363"/>
          <p:cNvPicPr>
            <a:picLocks noChangeAspect="1"/>
          </p:cNvPicPr>
          <p:nvPr/>
        </p:nvPicPr>
        <p:blipFill>
          <a:blip/>
          <a:stretch>
            <a:fillRect/>
          </a:stretch>
        </p:blipFill>
        <p:spPr>
          <a:xfrm>
            <a:off x="466725" y="238125"/>
            <a:ext cx="209550" cy="209550"/>
          </a:xfrm>
          <a:prstGeom prst="rect">
            <a:avLst/>
          </a:prstGeom>
        </p:spPr>
      </p:pic>
      <p:sp>
        <p:nvSpPr>
          <p:cNvPr id="365" name="文本框 364" descr="{&quot;isTemplate&quot;:true,&quot;type&quot;:&quot;text&quot;}"/>
          <p:cNvSpPr txBox="1"/>
          <p:nvPr/>
        </p:nvSpPr>
        <p:spPr>
          <a:xfrm>
            <a:off x="895350" y="180975"/>
            <a:ext cx="80295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总体技术路线沿</a:t>
            </a:r>
            <a:r>
              <a:rPr lang="en-US" sz="2175" b="1">
                <a:solidFill>
                  <a:srgbClr val="FFFFFF"/>
                </a:solidFill>
                <a:latin typeface="微软雅黑" panose="020B0503020204020204" charset="-122"/>
                <a:ea typeface="微软雅黑" panose="020B0503020204020204" charset="-122"/>
              </a:rPr>
              <a:t>"</a:t>
            </a:r>
            <a:r>
              <a:rPr lang="zh-CN" sz="2175" b="1">
                <a:solidFill>
                  <a:srgbClr val="FFFFFF"/>
                </a:solidFill>
                <a:latin typeface="微软雅黑" panose="020B0503020204020204" charset="-122"/>
                <a:ea typeface="微软雅黑" panose="020B0503020204020204" charset="-122"/>
              </a:rPr>
              <a:t>物理闭合→机制实验→边界求解→稳健验证</a:t>
            </a:r>
            <a:r>
              <a:rPr lang="en-US" sz="2175" b="1">
                <a:solidFill>
                  <a:srgbClr val="FFFFFF"/>
                </a:solidFill>
                <a:latin typeface="微软雅黑" panose="020B0503020204020204" charset="-122"/>
                <a:ea typeface="微软雅黑" panose="020B0503020204020204" charset="-122"/>
              </a:rPr>
              <a:t>"</a:t>
            </a:r>
            <a:r>
              <a:rPr lang="zh-CN" sz="2175" b="1">
                <a:solidFill>
                  <a:srgbClr val="FFFFFF"/>
                </a:solidFill>
                <a:latin typeface="微软雅黑" panose="020B0503020204020204" charset="-122"/>
                <a:ea typeface="微软雅黑" panose="020B0503020204020204" charset="-122"/>
              </a:rPr>
              <a:t>推进</a:t>
            </a:r>
            <a:endParaRPr lang="zh-CN" sz="2175" b="1">
              <a:solidFill>
                <a:srgbClr val="FFFFFF"/>
              </a:solidFill>
              <a:latin typeface="微软雅黑" panose="020B0503020204020204" charset="-122"/>
              <a:ea typeface="微软雅黑" panose="020B0503020204020204" charset="-122"/>
            </a:endParaRPr>
          </a:p>
        </p:txBody>
      </p:sp>
      <p:sp>
        <p:nvSpPr>
          <p:cNvPr id="366" name="文本框 365"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367" name="圆角矩形 366"/>
          <p:cNvSpPr/>
          <p:nvPr/>
        </p:nvSpPr>
        <p:spPr>
          <a:xfrm>
            <a:off x="11468100" y="238125"/>
            <a:ext cx="342900" cy="219075"/>
          </a:xfrm>
          <a:prstGeom prst="roundRect">
            <a:avLst>
              <a:gd name="adj" fmla="val 13043"/>
            </a:avLst>
          </a:prstGeom>
          <a:solidFill>
            <a:srgbClr val="FFC107"/>
          </a:solidFill>
        </p:spPr>
        <p:txBody>
          <a:bodyPr/>
          <a:p/>
        </p:txBody>
      </p:sp>
      <p:sp>
        <p:nvSpPr>
          <p:cNvPr id="368" name="文本框 367"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18</a:t>
            </a:r>
            <a:endParaRPr lang="en-US" sz="1050" b="1">
              <a:solidFill>
                <a:srgbClr val="0B3A82"/>
              </a:solidFill>
              <a:latin typeface="微软雅黑" panose="020B0503020204020204" charset="-122"/>
              <a:ea typeface="微软雅黑" panose="020B0503020204020204" charset="-122"/>
            </a:endParaRPr>
          </a:p>
        </p:txBody>
      </p:sp>
      <p:sp>
        <p:nvSpPr>
          <p:cNvPr id="369" name="圆角矩形 368"/>
          <p:cNvSpPr/>
          <p:nvPr/>
        </p:nvSpPr>
        <p:spPr>
          <a:xfrm>
            <a:off x="381000" y="800100"/>
            <a:ext cx="11430000" cy="438150"/>
          </a:xfrm>
          <a:prstGeom prst="roundRect">
            <a:avLst>
              <a:gd name="adj" fmla="val 8696"/>
            </a:avLst>
          </a:prstGeom>
          <a:solidFill>
            <a:srgbClr val="0B3A82"/>
          </a:solidFill>
        </p:spPr>
        <p:txBody>
          <a:bodyPr/>
          <a:p/>
        </p:txBody>
      </p:sp>
      <p:sp>
        <p:nvSpPr>
          <p:cNvPr id="370" name="文本框 369"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遵循</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先物理闭合再机制实验，先核心边界再扩展分析</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原则，四个阶段各解决一类可信度问题</a:t>
            </a:r>
            <a:endParaRPr lang="zh-CN" sz="1575">
              <a:solidFill>
                <a:srgbClr val="FFFFFF"/>
              </a:solidFill>
              <a:latin typeface="微软雅黑" panose="020B0503020204020204" charset="-122"/>
              <a:ea typeface="微软雅黑" panose="020B0503020204020204" charset="-122"/>
            </a:endParaRPr>
          </a:p>
        </p:txBody>
      </p:sp>
      <p:sp>
        <p:nvSpPr>
          <p:cNvPr id="371" name="圆角矩形 370"/>
          <p:cNvSpPr/>
          <p:nvPr/>
        </p:nvSpPr>
        <p:spPr>
          <a:xfrm>
            <a:off x="381000" y="1352550"/>
            <a:ext cx="2771775" cy="4419600"/>
          </a:xfrm>
          <a:prstGeom prst="roundRect">
            <a:avLst>
              <a:gd name="adj" fmla="val 2062"/>
            </a:avLst>
          </a:prstGeom>
          <a:solidFill>
            <a:srgbClr val="F7F9FC"/>
          </a:solidFill>
          <a:ln w="12700">
            <a:solidFill>
              <a:srgbClr val="D6DCE5"/>
            </a:solidFill>
            <a:prstDash val="solid"/>
          </a:ln>
        </p:spPr>
        <p:txBody>
          <a:bodyPr/>
          <a:p/>
        </p:txBody>
      </p:sp>
      <p:sp>
        <p:nvSpPr>
          <p:cNvPr id="372" name="圆角矩形 371"/>
          <p:cNvSpPr/>
          <p:nvPr/>
        </p:nvSpPr>
        <p:spPr>
          <a:xfrm>
            <a:off x="476250" y="1447800"/>
            <a:ext cx="2581275" cy="361950"/>
          </a:xfrm>
          <a:prstGeom prst="roundRect">
            <a:avLst>
              <a:gd name="adj" fmla="val 10526"/>
            </a:avLst>
          </a:prstGeom>
          <a:solidFill>
            <a:srgbClr val="1E4FA8"/>
          </a:solidFill>
        </p:spPr>
        <p:txBody>
          <a:bodyPr/>
          <a:p/>
        </p:txBody>
      </p:sp>
      <p:sp>
        <p:nvSpPr>
          <p:cNvPr id="373" name="文本框 372" descr="{&quot;isTemplate&quot;:true,&quot;type&quot;:&quot;text&quot;}"/>
          <p:cNvSpPr txBox="1"/>
          <p:nvPr/>
        </p:nvSpPr>
        <p:spPr>
          <a:xfrm>
            <a:off x="1143000" y="1524000"/>
            <a:ext cx="1257300" cy="209550"/>
          </a:xfrm>
          <a:prstGeom prst="rect">
            <a:avLst/>
          </a:prstGeom>
        </p:spPr>
        <p:txBody>
          <a:bodyPr wrap="none" lIns="0" tIns="0" rIns="0" bIns="0"/>
          <a:p>
            <a:pPr>
              <a:lnSpc>
                <a:spcPct val="100000"/>
              </a:lnSpc>
            </a:pPr>
            <a:r>
              <a:rPr lang="zh-CN" sz="1350" b="1">
                <a:solidFill>
                  <a:srgbClr val="FFFFFF"/>
                </a:solidFill>
                <a:latin typeface="微软雅黑" panose="020B0503020204020204" charset="-122"/>
                <a:ea typeface="微软雅黑" panose="020B0503020204020204" charset="-122"/>
              </a:rPr>
              <a:t>阶段Ⅰ</a:t>
            </a:r>
            <a:r>
              <a:rPr lang="en-US" sz="1350" b="1">
                <a:solidFill>
                  <a:srgbClr val="FFFFFF"/>
                </a:solidFill>
                <a:latin typeface="微软雅黑" panose="020B0503020204020204" charset="-122"/>
                <a:ea typeface="微软雅黑" panose="020B0503020204020204" charset="-122"/>
              </a:rPr>
              <a:t> </a:t>
            </a:r>
            <a:r>
              <a:rPr lang="zh-CN" sz="1350" b="1">
                <a:solidFill>
                  <a:srgbClr val="FFFFFF"/>
                </a:solidFill>
                <a:latin typeface="微软雅黑" panose="020B0503020204020204" charset="-122"/>
                <a:ea typeface="微软雅黑" panose="020B0503020204020204" charset="-122"/>
              </a:rPr>
              <a:t>物理闭合</a:t>
            </a:r>
            <a:endParaRPr lang="zh-CN" sz="1350" b="1">
              <a:solidFill>
                <a:srgbClr val="FFFFFF"/>
              </a:solidFill>
              <a:latin typeface="微软雅黑" panose="020B0503020204020204" charset="-122"/>
              <a:ea typeface="微软雅黑" panose="020B0503020204020204" charset="-122"/>
            </a:endParaRPr>
          </a:p>
        </p:txBody>
      </p:sp>
      <p:sp>
        <p:nvSpPr>
          <p:cNvPr id="374" name="圆角矩形 373"/>
          <p:cNvSpPr/>
          <p:nvPr/>
        </p:nvSpPr>
        <p:spPr>
          <a:xfrm>
            <a:off x="476250" y="1885950"/>
            <a:ext cx="2581275" cy="1362075"/>
          </a:xfrm>
          <a:prstGeom prst="roundRect">
            <a:avLst>
              <a:gd name="adj" fmla="val 3497"/>
            </a:avLst>
          </a:prstGeom>
          <a:solidFill>
            <a:srgbClr val="FFFFFF"/>
          </a:solidFill>
          <a:ln w="12700">
            <a:solidFill>
              <a:srgbClr val="D6DCE5"/>
            </a:solidFill>
            <a:prstDash val="solid"/>
          </a:ln>
        </p:spPr>
        <p:txBody>
          <a:bodyPr/>
          <a:p/>
        </p:txBody>
      </p:sp>
      <p:sp>
        <p:nvSpPr>
          <p:cNvPr id="375" name="文本框 374" descr="{&quot;isTemplate&quot;:true,&quot;type&quot;:&quot;text&quot;}"/>
          <p:cNvSpPr txBox="1"/>
          <p:nvPr/>
        </p:nvSpPr>
        <p:spPr>
          <a:xfrm>
            <a:off x="571500" y="2228850"/>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01 </a:t>
            </a:r>
            <a:r>
              <a:rPr lang="zh-CN" sz="1240" b="1">
                <a:solidFill>
                  <a:srgbClr val="0E3F8C"/>
                </a:solidFill>
                <a:latin typeface="微软雅黑" panose="020B0503020204020204" charset="-122"/>
                <a:ea typeface="微软雅黑" panose="020B0503020204020204" charset="-122"/>
              </a:rPr>
              <a:t>证据审计与参数字典</a:t>
            </a:r>
            <a:endParaRPr lang="zh-CN" sz="1240" b="1">
              <a:solidFill>
                <a:srgbClr val="0E3F8C"/>
              </a:solidFill>
              <a:latin typeface="微软雅黑" panose="020B0503020204020204" charset="-122"/>
              <a:ea typeface="微软雅黑" panose="020B0503020204020204" charset="-122"/>
            </a:endParaRPr>
          </a:p>
        </p:txBody>
      </p:sp>
      <p:sp>
        <p:nvSpPr>
          <p:cNvPr id="376" name="文本框 375" descr="{&quot;isTemplate&quot;:true,&quot;type&quot;:&quot;text&quot;}"/>
          <p:cNvSpPr txBox="1"/>
          <p:nvPr/>
        </p:nvSpPr>
        <p:spPr>
          <a:xfrm>
            <a:off x="571500" y="2447925"/>
            <a:ext cx="2390775" cy="466725"/>
          </a:xfrm>
          <a:prstGeom prst="rect">
            <a:avLst/>
          </a:prstGeom>
        </p:spPr>
        <p:txBody>
          <a:bodyPr wrap="square" lIns="0" tIns="0" rIns="0" bIns="0">
            <a:normAutofit/>
          </a:bodyPr>
          <a:p>
            <a:pPr>
              <a:lnSpc>
                <a:spcPct val="140000"/>
              </a:lnSpc>
            </a:pPr>
            <a:r>
              <a:rPr lang="zh-CN" sz="1090">
                <a:solidFill>
                  <a:srgbClr val="4A5568"/>
                </a:solidFill>
                <a:latin typeface="微软雅黑" panose="020B0503020204020204" charset="-122"/>
                <a:ea typeface="微软雅黑" panose="020B0503020204020204" charset="-122"/>
              </a:rPr>
              <a:t>梳理五类文献与标准，建立参数证据分级</a:t>
            </a:r>
            <a:endParaRPr lang="zh-CN" sz="1090">
              <a:solidFill>
                <a:srgbClr val="4A5568"/>
              </a:solidFill>
              <a:latin typeface="微软雅黑" panose="020B0503020204020204" charset="-122"/>
              <a:ea typeface="微软雅黑" panose="020B0503020204020204" charset="-122"/>
            </a:endParaRPr>
          </a:p>
        </p:txBody>
      </p:sp>
      <p:sp>
        <p:nvSpPr>
          <p:cNvPr id="377" name="圆角矩形 376"/>
          <p:cNvSpPr/>
          <p:nvPr/>
        </p:nvSpPr>
        <p:spPr>
          <a:xfrm>
            <a:off x="476250" y="3324225"/>
            <a:ext cx="2581275" cy="1143000"/>
          </a:xfrm>
          <a:prstGeom prst="roundRect">
            <a:avLst>
              <a:gd name="adj" fmla="val 4167"/>
            </a:avLst>
          </a:prstGeom>
          <a:solidFill>
            <a:srgbClr val="FFFFFF"/>
          </a:solidFill>
          <a:ln w="12700">
            <a:solidFill>
              <a:srgbClr val="D6DCE5"/>
            </a:solidFill>
            <a:prstDash val="solid"/>
          </a:ln>
        </p:spPr>
        <p:txBody>
          <a:bodyPr/>
          <a:p/>
        </p:txBody>
      </p:sp>
      <p:sp>
        <p:nvSpPr>
          <p:cNvPr id="378" name="文本框 377" descr="{&quot;isTemplate&quot;:true,&quot;type&quot;:&quot;text&quot;}"/>
          <p:cNvSpPr txBox="1"/>
          <p:nvPr/>
        </p:nvSpPr>
        <p:spPr>
          <a:xfrm>
            <a:off x="571500" y="3667125"/>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02 </a:t>
            </a:r>
            <a:r>
              <a:rPr lang="zh-CN" sz="1240" b="1">
                <a:solidFill>
                  <a:srgbClr val="0E3F8C"/>
                </a:solidFill>
                <a:latin typeface="微软雅黑" panose="020B0503020204020204" charset="-122"/>
                <a:ea typeface="微软雅黑" panose="020B0503020204020204" charset="-122"/>
              </a:rPr>
              <a:t>系统边界与状态变量</a:t>
            </a:r>
            <a:endParaRPr lang="zh-CN" sz="1240" b="1">
              <a:solidFill>
                <a:srgbClr val="0E3F8C"/>
              </a:solidFill>
              <a:latin typeface="微软雅黑" panose="020B0503020204020204" charset="-122"/>
              <a:ea typeface="微软雅黑" panose="020B0503020204020204" charset="-122"/>
            </a:endParaRPr>
          </a:p>
        </p:txBody>
      </p:sp>
      <p:sp>
        <p:nvSpPr>
          <p:cNvPr id="379" name="文本框 378" descr="{&quot;isTemplate&quot;:true,&quot;type&quot;:&quot;text&quot;}"/>
          <p:cNvSpPr txBox="1"/>
          <p:nvPr/>
        </p:nvSpPr>
        <p:spPr>
          <a:xfrm>
            <a:off x="571500" y="3886200"/>
            <a:ext cx="2390775" cy="238125"/>
          </a:xfrm>
          <a:prstGeom prst="rect">
            <a:avLst/>
          </a:prstGeom>
        </p:spPr>
        <p:txBody>
          <a:bodyPr wrap="none" lIns="0" tIns="0" rIns="0" bIns="0"/>
          <a:p>
            <a:pPr>
              <a:lnSpc>
                <a:spcPct val="140000"/>
              </a:lnSpc>
            </a:pPr>
            <a:r>
              <a:rPr lang="zh-CN" sz="1090">
                <a:solidFill>
                  <a:srgbClr val="4A5568"/>
                </a:solidFill>
                <a:latin typeface="微软雅黑" panose="020B0503020204020204" charset="-122"/>
                <a:ea typeface="微软雅黑" panose="020B0503020204020204" charset="-122"/>
              </a:rPr>
              <a:t>定义节点、路径、储量与守恒账户</a:t>
            </a:r>
            <a:endParaRPr lang="zh-CN" sz="1090">
              <a:solidFill>
                <a:srgbClr val="4A5568"/>
              </a:solidFill>
              <a:latin typeface="微软雅黑" panose="020B0503020204020204" charset="-122"/>
              <a:ea typeface="微软雅黑" panose="020B0503020204020204" charset="-122"/>
            </a:endParaRPr>
          </a:p>
        </p:txBody>
      </p:sp>
      <p:sp>
        <p:nvSpPr>
          <p:cNvPr id="380" name="圆角矩形 379"/>
          <p:cNvSpPr/>
          <p:nvPr/>
        </p:nvSpPr>
        <p:spPr>
          <a:xfrm>
            <a:off x="476250" y="4543425"/>
            <a:ext cx="2581275" cy="1133475"/>
          </a:xfrm>
          <a:prstGeom prst="roundRect">
            <a:avLst>
              <a:gd name="adj" fmla="val 4202"/>
            </a:avLst>
          </a:prstGeom>
          <a:solidFill>
            <a:srgbClr val="FFFFFF"/>
          </a:solidFill>
          <a:ln w="12700">
            <a:solidFill>
              <a:srgbClr val="D6DCE5"/>
            </a:solidFill>
            <a:prstDash val="solid"/>
          </a:ln>
        </p:spPr>
        <p:txBody>
          <a:bodyPr/>
          <a:p/>
        </p:txBody>
      </p:sp>
      <p:sp>
        <p:nvSpPr>
          <p:cNvPr id="381" name="文本框 380" descr="{&quot;isTemplate&quot;:true,&quot;type&quot;:&quot;text&quot;}"/>
          <p:cNvSpPr txBox="1"/>
          <p:nvPr/>
        </p:nvSpPr>
        <p:spPr>
          <a:xfrm>
            <a:off x="571500" y="4886325"/>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03 </a:t>
            </a:r>
            <a:r>
              <a:rPr lang="zh-CN" sz="1240" b="1">
                <a:solidFill>
                  <a:srgbClr val="0E3F8C"/>
                </a:solidFill>
                <a:latin typeface="微软雅黑" panose="020B0503020204020204" charset="-122"/>
                <a:ea typeface="微软雅黑" panose="020B0503020204020204" charset="-122"/>
              </a:rPr>
              <a:t>热—水过程闭合</a:t>
            </a:r>
            <a:endParaRPr lang="zh-CN" sz="1240" b="1">
              <a:solidFill>
                <a:srgbClr val="0E3F8C"/>
              </a:solidFill>
              <a:latin typeface="微软雅黑" panose="020B0503020204020204" charset="-122"/>
              <a:ea typeface="微软雅黑" panose="020B0503020204020204" charset="-122"/>
            </a:endParaRPr>
          </a:p>
        </p:txBody>
      </p:sp>
      <p:sp>
        <p:nvSpPr>
          <p:cNvPr id="382" name="文本框 381" descr="{&quot;isTemplate&quot;:true,&quot;type&quot;:&quot;text&quot;}"/>
          <p:cNvSpPr txBox="1"/>
          <p:nvPr/>
        </p:nvSpPr>
        <p:spPr>
          <a:xfrm>
            <a:off x="571500" y="5105400"/>
            <a:ext cx="2390775" cy="238125"/>
          </a:xfrm>
          <a:prstGeom prst="rect">
            <a:avLst/>
          </a:prstGeom>
        </p:spPr>
        <p:txBody>
          <a:bodyPr wrap="none" lIns="0" tIns="0" rIns="0" bIns="0"/>
          <a:p>
            <a:pPr>
              <a:lnSpc>
                <a:spcPct val="140000"/>
              </a:lnSpc>
            </a:pPr>
            <a:r>
              <a:rPr lang="en-US" sz="1090">
                <a:solidFill>
                  <a:srgbClr val="4A5568"/>
                </a:solidFill>
                <a:latin typeface="微软雅黑" panose="020B0503020204020204" charset="-122"/>
                <a:ea typeface="微软雅黑" panose="020B0503020204020204" charset="-122"/>
              </a:rPr>
              <a:t>AI </a:t>
            </a:r>
            <a:r>
              <a:rPr lang="zh-CN" sz="1090">
                <a:solidFill>
                  <a:srgbClr val="4A5568"/>
                </a:solidFill>
                <a:latin typeface="微软雅黑" panose="020B0503020204020204" charset="-122"/>
                <a:ea typeface="微软雅黑" panose="020B0503020204020204" charset="-122"/>
              </a:rPr>
              <a:t>接入城市水网络，逐步水量水质闭合</a:t>
            </a:r>
            <a:endParaRPr lang="zh-CN" sz="1090">
              <a:solidFill>
                <a:srgbClr val="4A5568"/>
              </a:solidFill>
              <a:latin typeface="微软雅黑" panose="020B0503020204020204" charset="-122"/>
              <a:ea typeface="微软雅黑" panose="020B0503020204020204" charset="-122"/>
            </a:endParaRPr>
          </a:p>
        </p:txBody>
      </p:sp>
      <p:sp>
        <p:nvSpPr>
          <p:cNvPr id="383" name="圆角矩形 382"/>
          <p:cNvSpPr/>
          <p:nvPr/>
        </p:nvSpPr>
        <p:spPr>
          <a:xfrm>
            <a:off x="3267075" y="1352550"/>
            <a:ext cx="2771775" cy="4419600"/>
          </a:xfrm>
          <a:prstGeom prst="roundRect">
            <a:avLst>
              <a:gd name="adj" fmla="val 2062"/>
            </a:avLst>
          </a:prstGeom>
          <a:solidFill>
            <a:srgbClr val="F7F9FC"/>
          </a:solidFill>
          <a:ln w="12700">
            <a:solidFill>
              <a:srgbClr val="D6DCE5"/>
            </a:solidFill>
            <a:prstDash val="solid"/>
          </a:ln>
        </p:spPr>
        <p:txBody>
          <a:bodyPr/>
          <a:p/>
        </p:txBody>
      </p:sp>
      <p:sp>
        <p:nvSpPr>
          <p:cNvPr id="384" name="圆角矩形 383"/>
          <p:cNvSpPr/>
          <p:nvPr/>
        </p:nvSpPr>
        <p:spPr>
          <a:xfrm>
            <a:off x="3362325" y="1447800"/>
            <a:ext cx="2581275" cy="361950"/>
          </a:xfrm>
          <a:prstGeom prst="roundRect">
            <a:avLst>
              <a:gd name="adj" fmla="val 10526"/>
            </a:avLst>
          </a:prstGeom>
          <a:solidFill>
            <a:srgbClr val="3D7BD9"/>
          </a:solidFill>
        </p:spPr>
        <p:txBody>
          <a:bodyPr/>
          <a:p/>
        </p:txBody>
      </p:sp>
      <p:sp>
        <p:nvSpPr>
          <p:cNvPr id="385" name="文本框 384" descr="{&quot;isTemplate&quot;:true,&quot;type&quot;:&quot;text&quot;}"/>
          <p:cNvSpPr txBox="1"/>
          <p:nvPr/>
        </p:nvSpPr>
        <p:spPr>
          <a:xfrm>
            <a:off x="4029075" y="1524000"/>
            <a:ext cx="1257300" cy="209550"/>
          </a:xfrm>
          <a:prstGeom prst="rect">
            <a:avLst/>
          </a:prstGeom>
        </p:spPr>
        <p:txBody>
          <a:bodyPr wrap="none" lIns="0" tIns="0" rIns="0" bIns="0"/>
          <a:p>
            <a:pPr>
              <a:lnSpc>
                <a:spcPct val="100000"/>
              </a:lnSpc>
            </a:pPr>
            <a:r>
              <a:rPr lang="zh-CN" sz="1350" b="1">
                <a:solidFill>
                  <a:srgbClr val="FFFFFF"/>
                </a:solidFill>
                <a:latin typeface="微软雅黑" panose="020B0503020204020204" charset="-122"/>
                <a:ea typeface="微软雅黑" panose="020B0503020204020204" charset="-122"/>
              </a:rPr>
              <a:t>阶段Ⅱ</a:t>
            </a:r>
            <a:r>
              <a:rPr lang="en-US" sz="1350" b="1">
                <a:solidFill>
                  <a:srgbClr val="FFFFFF"/>
                </a:solidFill>
                <a:latin typeface="微软雅黑" panose="020B0503020204020204" charset="-122"/>
                <a:ea typeface="微软雅黑" panose="020B0503020204020204" charset="-122"/>
              </a:rPr>
              <a:t> </a:t>
            </a:r>
            <a:r>
              <a:rPr lang="zh-CN" sz="1350" b="1">
                <a:solidFill>
                  <a:srgbClr val="FFFFFF"/>
                </a:solidFill>
                <a:latin typeface="微软雅黑" panose="020B0503020204020204" charset="-122"/>
                <a:ea typeface="微软雅黑" panose="020B0503020204020204" charset="-122"/>
              </a:rPr>
              <a:t>机制实验</a:t>
            </a:r>
            <a:endParaRPr lang="zh-CN" sz="1350" b="1">
              <a:solidFill>
                <a:srgbClr val="FFFFFF"/>
              </a:solidFill>
              <a:latin typeface="微软雅黑" panose="020B0503020204020204" charset="-122"/>
              <a:ea typeface="微软雅黑" panose="020B0503020204020204" charset="-122"/>
            </a:endParaRPr>
          </a:p>
        </p:txBody>
      </p:sp>
      <p:sp>
        <p:nvSpPr>
          <p:cNvPr id="386" name="圆角矩形 385"/>
          <p:cNvSpPr/>
          <p:nvPr/>
        </p:nvSpPr>
        <p:spPr>
          <a:xfrm>
            <a:off x="3362325" y="1885950"/>
            <a:ext cx="2581275" cy="1724025"/>
          </a:xfrm>
          <a:prstGeom prst="roundRect">
            <a:avLst>
              <a:gd name="adj" fmla="val 2762"/>
            </a:avLst>
          </a:prstGeom>
          <a:solidFill>
            <a:srgbClr val="FFFFFF"/>
          </a:solidFill>
          <a:ln w="12700">
            <a:solidFill>
              <a:srgbClr val="D6DCE5"/>
            </a:solidFill>
            <a:prstDash val="solid"/>
          </a:ln>
        </p:spPr>
        <p:txBody>
          <a:bodyPr/>
          <a:p/>
        </p:txBody>
      </p:sp>
      <p:sp>
        <p:nvSpPr>
          <p:cNvPr id="387" name="文本框 386" descr="{&quot;isTemplate&quot;:true,&quot;type&quot;:&quot;text&quot;}"/>
          <p:cNvSpPr txBox="1"/>
          <p:nvPr/>
        </p:nvSpPr>
        <p:spPr>
          <a:xfrm>
            <a:off x="3457575" y="2409825"/>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04 </a:t>
            </a:r>
            <a:r>
              <a:rPr lang="zh-CN" sz="1240" b="1">
                <a:solidFill>
                  <a:srgbClr val="0E3F8C"/>
                </a:solidFill>
                <a:latin typeface="微软雅黑" panose="020B0503020204020204" charset="-122"/>
                <a:ea typeface="微软雅黑" panose="020B0503020204020204" charset="-122"/>
              </a:rPr>
              <a:t>参数空间与状态生成</a:t>
            </a:r>
            <a:endParaRPr lang="zh-CN" sz="1240" b="1">
              <a:solidFill>
                <a:srgbClr val="0E3F8C"/>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3457575" y="2628900"/>
            <a:ext cx="2390775" cy="466725"/>
          </a:xfrm>
          <a:prstGeom prst="rect">
            <a:avLst/>
          </a:prstGeom>
        </p:spPr>
        <p:txBody>
          <a:bodyPr wrap="square" lIns="0" tIns="0" rIns="0" bIns="0">
            <a:normAutofit/>
          </a:bodyPr>
          <a:p>
            <a:pPr>
              <a:lnSpc>
                <a:spcPct val="140000"/>
              </a:lnSpc>
            </a:pPr>
            <a:r>
              <a:rPr lang="zh-CN" sz="1090">
                <a:solidFill>
                  <a:srgbClr val="4A5568"/>
                </a:solidFill>
                <a:latin typeface="微软雅黑" panose="020B0503020204020204" charset="-122"/>
                <a:ea typeface="微软雅黑" panose="020B0503020204020204" charset="-122"/>
              </a:rPr>
              <a:t>硬约束、相关结构与分层抽样，控制非物理组合</a:t>
            </a:r>
            <a:endParaRPr lang="zh-CN" sz="1090">
              <a:solidFill>
                <a:srgbClr val="4A5568"/>
              </a:solidFill>
              <a:latin typeface="微软雅黑" panose="020B0503020204020204" charset="-122"/>
              <a:ea typeface="微软雅黑" panose="020B0503020204020204" charset="-122"/>
            </a:endParaRPr>
          </a:p>
        </p:txBody>
      </p:sp>
      <p:sp>
        <p:nvSpPr>
          <p:cNvPr id="389" name="圆角矩形 388"/>
          <p:cNvSpPr/>
          <p:nvPr/>
        </p:nvSpPr>
        <p:spPr>
          <a:xfrm>
            <a:off x="3362325" y="3686175"/>
            <a:ext cx="2581275" cy="1990725"/>
          </a:xfrm>
          <a:prstGeom prst="roundRect">
            <a:avLst>
              <a:gd name="adj" fmla="val 2392"/>
            </a:avLst>
          </a:prstGeom>
          <a:solidFill>
            <a:srgbClr val="FFFFFF"/>
          </a:solidFill>
          <a:ln w="12700">
            <a:solidFill>
              <a:srgbClr val="D6DCE5"/>
            </a:solidFill>
            <a:prstDash val="solid"/>
          </a:ln>
        </p:spPr>
        <p:txBody>
          <a:bodyPr/>
          <a:p/>
        </p:txBody>
      </p:sp>
      <p:sp>
        <p:nvSpPr>
          <p:cNvPr id="390" name="文本框 389" descr="{&quot;isTemplate&quot;:true,&quot;type&quot;:&quot;text&quot;}"/>
          <p:cNvSpPr txBox="1"/>
          <p:nvPr/>
        </p:nvSpPr>
        <p:spPr>
          <a:xfrm>
            <a:off x="3457575" y="4210050"/>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05 </a:t>
            </a:r>
            <a:r>
              <a:rPr lang="zh-CN" sz="1240" b="1">
                <a:solidFill>
                  <a:srgbClr val="0E3F8C"/>
                </a:solidFill>
                <a:latin typeface="微软雅黑" panose="020B0503020204020204" charset="-122"/>
                <a:ea typeface="微软雅黑" panose="020B0503020204020204" charset="-122"/>
              </a:rPr>
              <a:t>容量梯度与结构对照</a:t>
            </a:r>
            <a:endParaRPr lang="zh-CN" sz="1240" b="1">
              <a:solidFill>
                <a:srgbClr val="0E3F8C"/>
              </a:solidFill>
              <a:latin typeface="微软雅黑" panose="020B0503020204020204" charset="-122"/>
              <a:ea typeface="微软雅黑" panose="020B0503020204020204" charset="-122"/>
            </a:endParaRPr>
          </a:p>
        </p:txBody>
      </p:sp>
      <p:sp>
        <p:nvSpPr>
          <p:cNvPr id="391" name="文本框 390" descr="{&quot;isTemplate&quot;:true,&quot;type&quot;:&quot;text&quot;}"/>
          <p:cNvSpPr txBox="1"/>
          <p:nvPr/>
        </p:nvSpPr>
        <p:spPr>
          <a:xfrm>
            <a:off x="3457575" y="4429125"/>
            <a:ext cx="2390775" cy="466725"/>
          </a:xfrm>
          <a:prstGeom prst="rect">
            <a:avLst/>
          </a:prstGeom>
        </p:spPr>
        <p:txBody>
          <a:bodyPr wrap="square" lIns="0" tIns="0" rIns="0" bIns="0">
            <a:normAutofit/>
          </a:bodyPr>
          <a:p>
            <a:pPr>
              <a:lnSpc>
                <a:spcPct val="140000"/>
              </a:lnSpc>
            </a:pPr>
            <a:r>
              <a:rPr lang="zh-CN" sz="1090">
                <a:solidFill>
                  <a:srgbClr val="4A5568"/>
                </a:solidFill>
                <a:latin typeface="微软雅黑" panose="020B0503020204020204" charset="-122"/>
                <a:ea typeface="微软雅黑" panose="020B0503020204020204" charset="-122"/>
              </a:rPr>
              <a:t>仅提高</a:t>
            </a:r>
            <a:r>
              <a:rPr lang="en-US" sz="1090">
                <a:solidFill>
                  <a:srgbClr val="4A5568"/>
                </a:solidFill>
                <a:latin typeface="微软雅黑" panose="020B0503020204020204" charset="-122"/>
                <a:ea typeface="微软雅黑" panose="020B0503020204020204" charset="-122"/>
              </a:rPr>
              <a:t> AI </a:t>
            </a:r>
            <a:r>
              <a:rPr lang="zh-CN" sz="1090">
                <a:solidFill>
                  <a:srgbClr val="4A5568"/>
                </a:solidFill>
                <a:latin typeface="微软雅黑" panose="020B0503020204020204" charset="-122"/>
                <a:ea typeface="微软雅黑" panose="020B0503020204020204" charset="-122"/>
              </a:rPr>
              <a:t>容量，叠加普通工业、冷却与水源对照</a:t>
            </a:r>
            <a:endParaRPr lang="zh-CN" sz="1090">
              <a:solidFill>
                <a:srgbClr val="4A5568"/>
              </a:solidFill>
              <a:latin typeface="微软雅黑" panose="020B0503020204020204" charset="-122"/>
              <a:ea typeface="微软雅黑" panose="020B0503020204020204" charset="-122"/>
            </a:endParaRPr>
          </a:p>
        </p:txBody>
      </p:sp>
      <p:sp>
        <p:nvSpPr>
          <p:cNvPr id="392" name="圆角矩形 391"/>
          <p:cNvSpPr/>
          <p:nvPr/>
        </p:nvSpPr>
        <p:spPr>
          <a:xfrm>
            <a:off x="3457575" y="4953000"/>
            <a:ext cx="933450" cy="209550"/>
          </a:xfrm>
          <a:prstGeom prst="roundRect">
            <a:avLst>
              <a:gd name="adj" fmla="val 13636"/>
            </a:avLst>
          </a:prstGeom>
          <a:solidFill>
            <a:srgbClr val="E8EFF8"/>
          </a:solidFill>
        </p:spPr>
        <p:txBody>
          <a:bodyPr/>
          <a:p/>
        </p:txBody>
      </p:sp>
      <p:sp>
        <p:nvSpPr>
          <p:cNvPr id="393" name="文本框 392" descr="{&quot;isTemplate&quot;:true,&quot;type&quot;:&quot;text&quot;}"/>
          <p:cNvSpPr txBox="1"/>
          <p:nvPr/>
        </p:nvSpPr>
        <p:spPr>
          <a:xfrm>
            <a:off x="3533775" y="4981575"/>
            <a:ext cx="781050" cy="152400"/>
          </a:xfrm>
          <a:prstGeom prst="rect">
            <a:avLst/>
          </a:prstGeom>
        </p:spPr>
        <p:txBody>
          <a:bodyPr wrap="none" lIns="0" tIns="0" rIns="0" bIns="0"/>
          <a:p>
            <a:pPr>
              <a:lnSpc>
                <a:spcPct val="100000"/>
              </a:lnSpc>
            </a:pPr>
            <a:r>
              <a:rPr lang="zh-CN" sz="975" b="1">
                <a:solidFill>
                  <a:srgbClr val="1E4FA8"/>
                </a:solidFill>
                <a:latin typeface="微软雅黑" panose="020B0503020204020204" charset="-122"/>
                <a:ea typeface="微软雅黑" panose="020B0503020204020204" charset="-122"/>
              </a:rPr>
              <a:t>检验</a:t>
            </a:r>
            <a:r>
              <a:rPr lang="en-US" sz="975" b="1">
                <a:solidFill>
                  <a:srgbClr val="1E4FA8"/>
                </a:solidFill>
                <a:latin typeface="微软雅黑" panose="020B0503020204020204" charset="-122"/>
                <a:ea typeface="微软雅黑" panose="020B0503020204020204" charset="-122"/>
              </a:rPr>
              <a:t> Q1 / H1</a:t>
            </a:r>
            <a:endParaRPr lang="en-US" sz="975" b="1">
              <a:solidFill>
                <a:srgbClr val="1E4FA8"/>
              </a:solidFill>
              <a:latin typeface="微软雅黑" panose="020B0503020204020204" charset="-122"/>
              <a:ea typeface="微软雅黑" panose="020B0503020204020204" charset="-122"/>
            </a:endParaRPr>
          </a:p>
        </p:txBody>
      </p:sp>
      <p:sp>
        <p:nvSpPr>
          <p:cNvPr id="394" name="圆角矩形 393"/>
          <p:cNvSpPr/>
          <p:nvPr/>
        </p:nvSpPr>
        <p:spPr>
          <a:xfrm>
            <a:off x="6153150" y="1352550"/>
            <a:ext cx="2771775" cy="4419600"/>
          </a:xfrm>
          <a:prstGeom prst="roundRect">
            <a:avLst>
              <a:gd name="adj" fmla="val 2062"/>
            </a:avLst>
          </a:prstGeom>
          <a:solidFill>
            <a:srgbClr val="F7F9FC"/>
          </a:solidFill>
          <a:ln w="12700">
            <a:solidFill>
              <a:srgbClr val="D6DCE5"/>
            </a:solidFill>
            <a:prstDash val="solid"/>
          </a:ln>
        </p:spPr>
        <p:txBody>
          <a:bodyPr/>
          <a:p/>
        </p:txBody>
      </p:sp>
      <p:sp>
        <p:nvSpPr>
          <p:cNvPr id="395" name="圆角矩形 394"/>
          <p:cNvSpPr/>
          <p:nvPr/>
        </p:nvSpPr>
        <p:spPr>
          <a:xfrm>
            <a:off x="6248400" y="1447800"/>
            <a:ext cx="2581275" cy="361950"/>
          </a:xfrm>
          <a:prstGeom prst="roundRect">
            <a:avLst>
              <a:gd name="adj" fmla="val 10526"/>
            </a:avLst>
          </a:prstGeom>
          <a:solidFill>
            <a:srgbClr val="0B3A82"/>
          </a:solidFill>
        </p:spPr>
        <p:txBody>
          <a:bodyPr/>
          <a:p/>
        </p:txBody>
      </p:sp>
      <p:sp>
        <p:nvSpPr>
          <p:cNvPr id="396" name="文本框 395" descr="{&quot;isTemplate&quot;:true,&quot;type&quot;:&quot;text&quot;}"/>
          <p:cNvSpPr txBox="1"/>
          <p:nvPr/>
        </p:nvSpPr>
        <p:spPr>
          <a:xfrm>
            <a:off x="6915150" y="1524000"/>
            <a:ext cx="1257300" cy="209550"/>
          </a:xfrm>
          <a:prstGeom prst="rect">
            <a:avLst/>
          </a:prstGeom>
        </p:spPr>
        <p:txBody>
          <a:bodyPr wrap="none" lIns="0" tIns="0" rIns="0" bIns="0"/>
          <a:p>
            <a:pPr>
              <a:lnSpc>
                <a:spcPct val="100000"/>
              </a:lnSpc>
            </a:pPr>
            <a:r>
              <a:rPr lang="zh-CN" sz="1350" b="1">
                <a:solidFill>
                  <a:srgbClr val="FFFFFF"/>
                </a:solidFill>
                <a:latin typeface="微软雅黑" panose="020B0503020204020204" charset="-122"/>
                <a:ea typeface="微软雅黑" panose="020B0503020204020204" charset="-122"/>
              </a:rPr>
              <a:t>阶段Ⅲ</a:t>
            </a:r>
            <a:r>
              <a:rPr lang="en-US" sz="1350" b="1">
                <a:solidFill>
                  <a:srgbClr val="FFFFFF"/>
                </a:solidFill>
                <a:latin typeface="微软雅黑" panose="020B0503020204020204" charset="-122"/>
                <a:ea typeface="微软雅黑" panose="020B0503020204020204" charset="-122"/>
              </a:rPr>
              <a:t> </a:t>
            </a:r>
            <a:r>
              <a:rPr lang="zh-CN" sz="1350" b="1">
                <a:solidFill>
                  <a:srgbClr val="FFFFFF"/>
                </a:solidFill>
                <a:latin typeface="微软雅黑" panose="020B0503020204020204" charset="-122"/>
                <a:ea typeface="微软雅黑" panose="020B0503020204020204" charset="-122"/>
              </a:rPr>
              <a:t>边界求解</a:t>
            </a:r>
            <a:endParaRPr lang="zh-CN" sz="1350" b="1">
              <a:solidFill>
                <a:srgbClr val="FFFFFF"/>
              </a:solidFill>
              <a:latin typeface="微软雅黑" panose="020B0503020204020204" charset="-122"/>
              <a:ea typeface="微软雅黑" panose="020B0503020204020204" charset="-122"/>
            </a:endParaRPr>
          </a:p>
        </p:txBody>
      </p:sp>
      <p:sp>
        <p:nvSpPr>
          <p:cNvPr id="397" name="圆角矩形 396"/>
          <p:cNvSpPr/>
          <p:nvPr/>
        </p:nvSpPr>
        <p:spPr>
          <a:xfrm>
            <a:off x="6248400" y="1885950"/>
            <a:ext cx="2581275" cy="1743075"/>
          </a:xfrm>
          <a:prstGeom prst="roundRect">
            <a:avLst>
              <a:gd name="adj" fmla="val 2732"/>
            </a:avLst>
          </a:prstGeom>
          <a:solidFill>
            <a:srgbClr val="FFFFFF"/>
          </a:solidFill>
          <a:ln w="12700">
            <a:solidFill>
              <a:srgbClr val="D6DCE5"/>
            </a:solidFill>
            <a:prstDash val="solid"/>
          </a:ln>
        </p:spPr>
        <p:txBody>
          <a:bodyPr/>
          <a:p/>
        </p:txBody>
      </p:sp>
      <p:sp>
        <p:nvSpPr>
          <p:cNvPr id="398" name="文本框 397" descr="{&quot;isTemplate&quot;:true,&quot;type&quot;:&quot;text&quot;}"/>
          <p:cNvSpPr txBox="1"/>
          <p:nvPr/>
        </p:nvSpPr>
        <p:spPr>
          <a:xfrm>
            <a:off x="6343650" y="2400300"/>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06 </a:t>
            </a:r>
            <a:r>
              <a:rPr lang="zh-CN" sz="1240" b="1">
                <a:solidFill>
                  <a:srgbClr val="0E3F8C"/>
                </a:solidFill>
                <a:latin typeface="微软雅黑" panose="020B0503020204020204" charset="-122"/>
                <a:ea typeface="微软雅黑" panose="020B0503020204020204" charset="-122"/>
              </a:rPr>
              <a:t>多时间尺度</a:t>
            </a:r>
            <a:r>
              <a:rPr lang="en-US" sz="1240" b="1">
                <a:solidFill>
                  <a:srgbClr val="0E3F8C"/>
                </a:solidFill>
                <a:latin typeface="微软雅黑" panose="020B0503020204020204" charset="-122"/>
                <a:ea typeface="微软雅黑" panose="020B0503020204020204" charset="-122"/>
              </a:rPr>
              <a:t> CAWCC</a:t>
            </a:r>
            <a:endParaRPr lang="en-US" sz="1240" b="1">
              <a:solidFill>
                <a:srgbClr val="0E3F8C"/>
              </a:solidFill>
              <a:latin typeface="微软雅黑" panose="020B0503020204020204" charset="-122"/>
              <a:ea typeface="微软雅黑" panose="020B0503020204020204" charset="-122"/>
            </a:endParaRPr>
          </a:p>
        </p:txBody>
      </p:sp>
      <p:sp>
        <p:nvSpPr>
          <p:cNvPr id="399" name="文本框 398" descr="{&quot;isTemplate&quot;:true,&quot;type&quot;:&quot;text&quot;}"/>
          <p:cNvSpPr txBox="1"/>
          <p:nvPr/>
        </p:nvSpPr>
        <p:spPr>
          <a:xfrm>
            <a:off x="6343650" y="2619375"/>
            <a:ext cx="2390775" cy="238125"/>
          </a:xfrm>
          <a:prstGeom prst="rect">
            <a:avLst/>
          </a:prstGeom>
        </p:spPr>
        <p:txBody>
          <a:bodyPr wrap="none" lIns="0" tIns="0" rIns="0" bIns="0"/>
          <a:p>
            <a:pPr>
              <a:lnSpc>
                <a:spcPct val="140000"/>
              </a:lnSpc>
            </a:pPr>
            <a:r>
              <a:rPr lang="zh-CN" sz="1090">
                <a:solidFill>
                  <a:srgbClr val="4A5568"/>
                </a:solidFill>
                <a:latin typeface="微软雅黑" panose="020B0503020204020204" charset="-122"/>
                <a:ea typeface="微软雅黑" panose="020B0503020204020204" charset="-122"/>
              </a:rPr>
              <a:t>年均、日尺度与极端周小时边界比较</a:t>
            </a:r>
            <a:endParaRPr lang="zh-CN" sz="1090">
              <a:solidFill>
                <a:srgbClr val="4A5568"/>
              </a:solidFill>
              <a:latin typeface="微软雅黑" panose="020B0503020204020204" charset="-122"/>
              <a:ea typeface="微软雅黑" panose="020B0503020204020204" charset="-122"/>
            </a:endParaRPr>
          </a:p>
        </p:txBody>
      </p:sp>
      <p:sp>
        <p:nvSpPr>
          <p:cNvPr id="400" name="圆角矩形 399"/>
          <p:cNvSpPr/>
          <p:nvPr/>
        </p:nvSpPr>
        <p:spPr>
          <a:xfrm>
            <a:off x="6343650" y="2914650"/>
            <a:ext cx="933450" cy="209550"/>
          </a:xfrm>
          <a:prstGeom prst="roundRect">
            <a:avLst>
              <a:gd name="adj" fmla="val 13636"/>
            </a:avLst>
          </a:prstGeom>
          <a:solidFill>
            <a:srgbClr val="E8EFF8"/>
          </a:solidFill>
        </p:spPr>
        <p:txBody>
          <a:bodyPr/>
          <a:p/>
        </p:txBody>
      </p:sp>
      <p:sp>
        <p:nvSpPr>
          <p:cNvPr id="401" name="文本框 400" descr="{&quot;isTemplate&quot;:true,&quot;type&quot;:&quot;text&quot;}"/>
          <p:cNvSpPr txBox="1"/>
          <p:nvPr/>
        </p:nvSpPr>
        <p:spPr>
          <a:xfrm>
            <a:off x="6419850" y="2943225"/>
            <a:ext cx="781050" cy="152400"/>
          </a:xfrm>
          <a:prstGeom prst="rect">
            <a:avLst/>
          </a:prstGeom>
        </p:spPr>
        <p:txBody>
          <a:bodyPr wrap="none" lIns="0" tIns="0" rIns="0" bIns="0"/>
          <a:p>
            <a:pPr>
              <a:lnSpc>
                <a:spcPct val="100000"/>
              </a:lnSpc>
            </a:pPr>
            <a:r>
              <a:rPr lang="zh-CN" sz="975" b="1">
                <a:solidFill>
                  <a:srgbClr val="1E4FA8"/>
                </a:solidFill>
                <a:latin typeface="微软雅黑" panose="020B0503020204020204" charset="-122"/>
                <a:ea typeface="微软雅黑" panose="020B0503020204020204" charset="-122"/>
              </a:rPr>
              <a:t>检验</a:t>
            </a:r>
            <a:r>
              <a:rPr lang="en-US" sz="975" b="1">
                <a:solidFill>
                  <a:srgbClr val="1E4FA8"/>
                </a:solidFill>
                <a:latin typeface="微软雅黑" panose="020B0503020204020204" charset="-122"/>
                <a:ea typeface="微软雅黑" panose="020B0503020204020204" charset="-122"/>
              </a:rPr>
              <a:t> Q2 / H2</a:t>
            </a:r>
            <a:endParaRPr lang="en-US" sz="975" b="1">
              <a:solidFill>
                <a:srgbClr val="1E4FA8"/>
              </a:solidFill>
              <a:latin typeface="微软雅黑" panose="020B0503020204020204" charset="-122"/>
              <a:ea typeface="微软雅黑" panose="020B0503020204020204" charset="-122"/>
            </a:endParaRPr>
          </a:p>
        </p:txBody>
      </p:sp>
      <p:sp>
        <p:nvSpPr>
          <p:cNvPr id="402" name="圆角矩形 401"/>
          <p:cNvSpPr/>
          <p:nvPr/>
        </p:nvSpPr>
        <p:spPr>
          <a:xfrm>
            <a:off x="6248400" y="3705225"/>
            <a:ext cx="2581275" cy="1971675"/>
          </a:xfrm>
          <a:prstGeom prst="roundRect">
            <a:avLst>
              <a:gd name="adj" fmla="val 2415"/>
            </a:avLst>
          </a:prstGeom>
          <a:solidFill>
            <a:srgbClr val="FFFFFF"/>
          </a:solidFill>
          <a:ln w="12700">
            <a:solidFill>
              <a:srgbClr val="D6DCE5"/>
            </a:solidFill>
            <a:prstDash val="solid"/>
          </a:ln>
        </p:spPr>
        <p:txBody>
          <a:bodyPr/>
          <a:p/>
        </p:txBody>
      </p:sp>
      <p:sp>
        <p:nvSpPr>
          <p:cNvPr id="403" name="文本框 402" descr="{&quot;isTemplate&quot;:true,&quot;type&quot;:&quot;text&quot;}"/>
          <p:cNvSpPr txBox="1"/>
          <p:nvPr/>
        </p:nvSpPr>
        <p:spPr>
          <a:xfrm>
            <a:off x="6343650" y="4219575"/>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07 </a:t>
            </a:r>
            <a:r>
              <a:rPr lang="zh-CN" sz="1240" b="1">
                <a:solidFill>
                  <a:srgbClr val="0E3F8C"/>
                </a:solidFill>
                <a:latin typeface="微软雅黑" panose="020B0503020204020204" charset="-122"/>
                <a:ea typeface="微软雅黑" panose="020B0503020204020204" charset="-122"/>
              </a:rPr>
              <a:t>瓶颈识别与结构化干预</a:t>
            </a:r>
            <a:endParaRPr lang="zh-CN" sz="1240" b="1">
              <a:solidFill>
                <a:srgbClr val="0E3F8C"/>
              </a:solidFill>
              <a:latin typeface="微软雅黑" panose="020B0503020204020204" charset="-122"/>
              <a:ea typeface="微软雅黑" panose="020B0503020204020204" charset="-122"/>
            </a:endParaRPr>
          </a:p>
        </p:txBody>
      </p:sp>
      <p:sp>
        <p:nvSpPr>
          <p:cNvPr id="404" name="文本框 403" descr="{&quot;isTemplate&quot;:true,&quot;type&quot;:&quot;text&quot;}"/>
          <p:cNvSpPr txBox="1"/>
          <p:nvPr/>
        </p:nvSpPr>
        <p:spPr>
          <a:xfrm>
            <a:off x="6343650" y="4438650"/>
            <a:ext cx="2390775" cy="466725"/>
          </a:xfrm>
          <a:prstGeom prst="rect">
            <a:avLst/>
          </a:prstGeom>
        </p:spPr>
        <p:txBody>
          <a:bodyPr wrap="square" lIns="0" tIns="0" rIns="0" bIns="0">
            <a:normAutofit/>
          </a:bodyPr>
          <a:p>
            <a:pPr>
              <a:lnSpc>
                <a:spcPct val="140000"/>
              </a:lnSpc>
            </a:pPr>
            <a:r>
              <a:rPr lang="zh-CN" sz="1090">
                <a:solidFill>
                  <a:srgbClr val="4A5568"/>
                </a:solidFill>
                <a:latin typeface="微软雅黑" panose="020B0503020204020204" charset="-122"/>
                <a:ea typeface="微软雅黑" panose="020B0503020204020204" charset="-122"/>
              </a:rPr>
              <a:t>诊断性解除约束与梯度干预，识别迁移与收益区间</a:t>
            </a:r>
            <a:endParaRPr lang="zh-CN" sz="1090">
              <a:solidFill>
                <a:srgbClr val="4A5568"/>
              </a:solidFill>
              <a:latin typeface="微软雅黑" panose="020B0503020204020204" charset="-122"/>
              <a:ea typeface="微软雅黑" panose="020B0503020204020204" charset="-122"/>
            </a:endParaRPr>
          </a:p>
        </p:txBody>
      </p:sp>
      <p:sp>
        <p:nvSpPr>
          <p:cNvPr id="405" name="圆角矩形 404"/>
          <p:cNvSpPr/>
          <p:nvPr/>
        </p:nvSpPr>
        <p:spPr>
          <a:xfrm>
            <a:off x="6343650" y="4962525"/>
            <a:ext cx="933450" cy="209550"/>
          </a:xfrm>
          <a:prstGeom prst="roundRect">
            <a:avLst>
              <a:gd name="adj" fmla="val 13636"/>
            </a:avLst>
          </a:prstGeom>
          <a:solidFill>
            <a:srgbClr val="E8EFF8"/>
          </a:solidFill>
        </p:spPr>
        <p:txBody>
          <a:bodyPr/>
          <a:p/>
        </p:txBody>
      </p:sp>
      <p:sp>
        <p:nvSpPr>
          <p:cNvPr id="406" name="文本框 405" descr="{&quot;isTemplate&quot;:true,&quot;type&quot;:&quot;text&quot;}"/>
          <p:cNvSpPr txBox="1"/>
          <p:nvPr/>
        </p:nvSpPr>
        <p:spPr>
          <a:xfrm>
            <a:off x="6419850" y="4991100"/>
            <a:ext cx="781050" cy="152400"/>
          </a:xfrm>
          <a:prstGeom prst="rect">
            <a:avLst/>
          </a:prstGeom>
        </p:spPr>
        <p:txBody>
          <a:bodyPr wrap="none" lIns="0" tIns="0" rIns="0" bIns="0"/>
          <a:p>
            <a:pPr>
              <a:lnSpc>
                <a:spcPct val="100000"/>
              </a:lnSpc>
            </a:pPr>
            <a:r>
              <a:rPr lang="zh-CN" sz="975" b="1">
                <a:solidFill>
                  <a:srgbClr val="1E4FA8"/>
                </a:solidFill>
                <a:latin typeface="微软雅黑" panose="020B0503020204020204" charset="-122"/>
                <a:ea typeface="微软雅黑" panose="020B0503020204020204" charset="-122"/>
              </a:rPr>
              <a:t>检验</a:t>
            </a:r>
            <a:r>
              <a:rPr lang="en-US" sz="975" b="1">
                <a:solidFill>
                  <a:srgbClr val="1E4FA8"/>
                </a:solidFill>
                <a:latin typeface="微软雅黑" panose="020B0503020204020204" charset="-122"/>
                <a:ea typeface="微软雅黑" panose="020B0503020204020204" charset="-122"/>
              </a:rPr>
              <a:t> Q3 / H3</a:t>
            </a:r>
            <a:endParaRPr lang="en-US" sz="975" b="1">
              <a:solidFill>
                <a:srgbClr val="1E4FA8"/>
              </a:solidFill>
              <a:latin typeface="微软雅黑" panose="020B0503020204020204" charset="-122"/>
              <a:ea typeface="微软雅黑" panose="020B0503020204020204" charset="-122"/>
            </a:endParaRPr>
          </a:p>
        </p:txBody>
      </p:sp>
      <p:sp>
        <p:nvSpPr>
          <p:cNvPr id="407" name="圆角矩形 406"/>
          <p:cNvSpPr/>
          <p:nvPr/>
        </p:nvSpPr>
        <p:spPr>
          <a:xfrm>
            <a:off x="9039225" y="1352550"/>
            <a:ext cx="2771775" cy="4419600"/>
          </a:xfrm>
          <a:prstGeom prst="roundRect">
            <a:avLst>
              <a:gd name="adj" fmla="val 2062"/>
            </a:avLst>
          </a:prstGeom>
          <a:solidFill>
            <a:srgbClr val="F7F9FC"/>
          </a:solidFill>
          <a:ln w="12700">
            <a:solidFill>
              <a:srgbClr val="D6DCE5"/>
            </a:solidFill>
            <a:prstDash val="solid"/>
          </a:ln>
        </p:spPr>
        <p:txBody>
          <a:bodyPr/>
          <a:p/>
        </p:txBody>
      </p:sp>
      <p:sp>
        <p:nvSpPr>
          <p:cNvPr id="408" name="圆角矩形 407"/>
          <p:cNvSpPr/>
          <p:nvPr/>
        </p:nvSpPr>
        <p:spPr>
          <a:xfrm>
            <a:off x="9134475" y="1447800"/>
            <a:ext cx="2581275" cy="361950"/>
          </a:xfrm>
          <a:prstGeom prst="roundRect">
            <a:avLst>
              <a:gd name="adj" fmla="val 10526"/>
            </a:avLst>
          </a:prstGeom>
          <a:solidFill>
            <a:srgbClr val="12489A"/>
          </a:solidFill>
        </p:spPr>
        <p:txBody>
          <a:bodyPr/>
          <a:p/>
        </p:txBody>
      </p:sp>
      <p:sp>
        <p:nvSpPr>
          <p:cNvPr id="409" name="文本框 408" descr="{&quot;isTemplate&quot;:true,&quot;type&quot;:&quot;text&quot;}"/>
          <p:cNvSpPr txBox="1"/>
          <p:nvPr/>
        </p:nvSpPr>
        <p:spPr>
          <a:xfrm>
            <a:off x="9801225" y="1524000"/>
            <a:ext cx="1257300" cy="209550"/>
          </a:xfrm>
          <a:prstGeom prst="rect">
            <a:avLst/>
          </a:prstGeom>
        </p:spPr>
        <p:txBody>
          <a:bodyPr wrap="none" lIns="0" tIns="0" rIns="0" bIns="0"/>
          <a:p>
            <a:pPr>
              <a:lnSpc>
                <a:spcPct val="100000"/>
              </a:lnSpc>
            </a:pPr>
            <a:r>
              <a:rPr lang="zh-CN" sz="1350" b="1">
                <a:solidFill>
                  <a:srgbClr val="FFFFFF"/>
                </a:solidFill>
                <a:latin typeface="微软雅黑" panose="020B0503020204020204" charset="-122"/>
                <a:ea typeface="微软雅黑" panose="020B0503020204020204" charset="-122"/>
              </a:rPr>
              <a:t>阶段Ⅳ</a:t>
            </a:r>
            <a:r>
              <a:rPr lang="en-US" sz="1350" b="1">
                <a:solidFill>
                  <a:srgbClr val="FFFFFF"/>
                </a:solidFill>
                <a:latin typeface="微软雅黑" panose="020B0503020204020204" charset="-122"/>
                <a:ea typeface="微软雅黑" panose="020B0503020204020204" charset="-122"/>
              </a:rPr>
              <a:t> </a:t>
            </a:r>
            <a:r>
              <a:rPr lang="zh-CN" sz="1350" b="1">
                <a:solidFill>
                  <a:srgbClr val="FFFFFF"/>
                </a:solidFill>
                <a:latin typeface="微软雅黑" panose="020B0503020204020204" charset="-122"/>
                <a:ea typeface="微软雅黑" panose="020B0503020204020204" charset="-122"/>
              </a:rPr>
              <a:t>稳健验证</a:t>
            </a:r>
            <a:endParaRPr lang="zh-CN" sz="1350" b="1">
              <a:solidFill>
                <a:srgbClr val="FFFFFF"/>
              </a:solidFill>
              <a:latin typeface="微软雅黑" panose="020B0503020204020204" charset="-122"/>
              <a:ea typeface="微软雅黑" panose="020B0503020204020204" charset="-122"/>
            </a:endParaRPr>
          </a:p>
        </p:txBody>
      </p:sp>
      <p:sp>
        <p:nvSpPr>
          <p:cNvPr id="410" name="圆角矩形 409"/>
          <p:cNvSpPr/>
          <p:nvPr/>
        </p:nvSpPr>
        <p:spPr>
          <a:xfrm>
            <a:off x="9134475" y="1885950"/>
            <a:ext cx="2581275" cy="1857375"/>
          </a:xfrm>
          <a:prstGeom prst="roundRect">
            <a:avLst>
              <a:gd name="adj" fmla="val 2564"/>
            </a:avLst>
          </a:prstGeom>
          <a:solidFill>
            <a:srgbClr val="FFFFFF"/>
          </a:solidFill>
          <a:ln w="12700">
            <a:solidFill>
              <a:srgbClr val="D6DCE5"/>
            </a:solidFill>
            <a:prstDash val="solid"/>
          </a:ln>
        </p:spPr>
        <p:txBody>
          <a:bodyPr/>
          <a:p/>
        </p:txBody>
      </p:sp>
      <p:sp>
        <p:nvSpPr>
          <p:cNvPr id="411" name="文本框 410" descr="{&quot;isTemplate&quot;:true,&quot;type&quot;:&quot;text&quot;}"/>
          <p:cNvSpPr txBox="1"/>
          <p:nvPr/>
        </p:nvSpPr>
        <p:spPr>
          <a:xfrm>
            <a:off x="9229725" y="2476500"/>
            <a:ext cx="2390775" cy="190500"/>
          </a:xfrm>
          <a:prstGeom prst="rect">
            <a:avLst/>
          </a:prstGeom>
        </p:spPr>
        <p:txBody>
          <a:bodyPr wrap="none" lIns="0" tIns="0" rIns="0" bIns="0"/>
          <a:p>
            <a:pPr>
              <a:lnSpc>
                <a:spcPct val="100000"/>
              </a:lnSpc>
            </a:pPr>
            <a:r>
              <a:rPr lang="en-US" sz="1240" b="1">
                <a:solidFill>
                  <a:srgbClr val="0E3F8C"/>
                </a:solidFill>
                <a:latin typeface="微软雅黑" panose="020B0503020204020204" charset="-122"/>
                <a:ea typeface="微软雅黑" panose="020B0503020204020204" charset="-122"/>
              </a:rPr>
              <a:t>08 </a:t>
            </a:r>
            <a:r>
              <a:rPr lang="zh-CN" sz="1240" b="1">
                <a:solidFill>
                  <a:srgbClr val="0E3F8C"/>
                </a:solidFill>
                <a:latin typeface="微软雅黑" panose="020B0503020204020204" charset="-122"/>
                <a:ea typeface="微软雅黑" panose="020B0503020204020204" charset="-122"/>
              </a:rPr>
              <a:t>全局敏感性与不确定性</a:t>
            </a:r>
            <a:endParaRPr lang="zh-CN" sz="1240" b="1">
              <a:solidFill>
                <a:srgbClr val="0E3F8C"/>
              </a:solidFill>
              <a:latin typeface="微软雅黑" panose="020B0503020204020204" charset="-122"/>
              <a:ea typeface="微软雅黑" panose="020B0503020204020204" charset="-122"/>
            </a:endParaRPr>
          </a:p>
        </p:txBody>
      </p:sp>
      <p:sp>
        <p:nvSpPr>
          <p:cNvPr id="412" name="文本框 411" descr="{&quot;isTemplate&quot;:true,&quot;type&quot;:&quot;text&quot;}"/>
          <p:cNvSpPr txBox="1"/>
          <p:nvPr/>
        </p:nvSpPr>
        <p:spPr>
          <a:xfrm>
            <a:off x="9229725" y="2695575"/>
            <a:ext cx="2390775" cy="466725"/>
          </a:xfrm>
          <a:prstGeom prst="rect">
            <a:avLst/>
          </a:prstGeom>
        </p:spPr>
        <p:txBody>
          <a:bodyPr wrap="square" lIns="0" tIns="0" rIns="0" bIns="0">
            <a:normAutofit/>
          </a:bodyPr>
          <a:p>
            <a:pPr>
              <a:lnSpc>
                <a:spcPct val="140000"/>
              </a:lnSpc>
            </a:pPr>
            <a:r>
              <a:rPr lang="zh-CN" sz="1090">
                <a:solidFill>
                  <a:srgbClr val="4A5568"/>
                </a:solidFill>
                <a:latin typeface="微软雅黑" panose="020B0503020204020204" charset="-122"/>
                <a:ea typeface="微软雅黑" panose="020B0503020204020204" charset="-122"/>
              </a:rPr>
              <a:t>初筛→分解→归因的条件式流程，检验稳定区间</a:t>
            </a:r>
            <a:endParaRPr lang="zh-CN" sz="1090">
              <a:solidFill>
                <a:srgbClr val="4A5568"/>
              </a:solidFill>
              <a:latin typeface="微软雅黑" panose="020B0503020204020204" charset="-122"/>
              <a:ea typeface="微软雅黑" panose="020B0503020204020204" charset="-122"/>
            </a:endParaRPr>
          </a:p>
        </p:txBody>
      </p:sp>
      <p:sp>
        <p:nvSpPr>
          <p:cNvPr id="413" name="圆角矩形 412"/>
          <p:cNvSpPr/>
          <p:nvPr/>
        </p:nvSpPr>
        <p:spPr>
          <a:xfrm>
            <a:off x="9134475" y="3819525"/>
            <a:ext cx="2581275" cy="1857375"/>
          </a:xfrm>
          <a:prstGeom prst="roundRect">
            <a:avLst>
              <a:gd name="adj" fmla="val 2564"/>
            </a:avLst>
          </a:prstGeom>
          <a:solidFill>
            <a:srgbClr val="0E3F8C"/>
          </a:solidFill>
        </p:spPr>
        <p:txBody>
          <a:bodyPr/>
          <a:p/>
        </p:txBody>
      </p:sp>
      <p:sp>
        <p:nvSpPr>
          <p:cNvPr id="414" name="文本框 413" descr="{&quot;isTemplate&quot;:true,&quot;type&quot;:&quot;text&quot;}"/>
          <p:cNvSpPr txBox="1"/>
          <p:nvPr/>
        </p:nvSpPr>
        <p:spPr>
          <a:xfrm>
            <a:off x="9229725" y="4410075"/>
            <a:ext cx="2390775" cy="190500"/>
          </a:xfrm>
          <a:prstGeom prst="rect">
            <a:avLst/>
          </a:prstGeom>
        </p:spPr>
        <p:txBody>
          <a:bodyPr wrap="none" lIns="0" tIns="0" rIns="0" bIns="0"/>
          <a:p>
            <a:pPr>
              <a:lnSpc>
                <a:spcPct val="100000"/>
              </a:lnSpc>
            </a:pPr>
            <a:r>
              <a:rPr lang="en-US" sz="1240" b="1">
                <a:solidFill>
                  <a:srgbClr val="FFC107"/>
                </a:solidFill>
                <a:latin typeface="微软雅黑" panose="020B0503020204020204" charset="-122"/>
                <a:ea typeface="微软雅黑" panose="020B0503020204020204" charset="-122"/>
              </a:rPr>
              <a:t>09 </a:t>
            </a:r>
            <a:r>
              <a:rPr lang="zh-CN" sz="1240" b="1">
                <a:solidFill>
                  <a:srgbClr val="FFC107"/>
                </a:solidFill>
                <a:latin typeface="微软雅黑" panose="020B0503020204020204" charset="-122"/>
                <a:ea typeface="微软雅黑" panose="020B0503020204020204" charset="-122"/>
              </a:rPr>
              <a:t>机制归纳与工程解释</a:t>
            </a:r>
            <a:endParaRPr lang="zh-CN" sz="1240" b="1">
              <a:solidFill>
                <a:srgbClr val="FFC107"/>
              </a:solidFill>
              <a:latin typeface="微软雅黑" panose="020B0503020204020204" charset="-122"/>
              <a:ea typeface="微软雅黑" panose="020B0503020204020204" charset="-122"/>
            </a:endParaRPr>
          </a:p>
        </p:txBody>
      </p:sp>
      <p:sp>
        <p:nvSpPr>
          <p:cNvPr id="415" name="文本框 414" descr="{&quot;isTemplate&quot;:true,&quot;type&quot;:&quot;text&quot;}"/>
          <p:cNvSpPr txBox="1"/>
          <p:nvPr/>
        </p:nvSpPr>
        <p:spPr>
          <a:xfrm>
            <a:off x="9229725" y="4629150"/>
            <a:ext cx="2390775" cy="466725"/>
          </a:xfrm>
          <a:prstGeom prst="rect">
            <a:avLst/>
          </a:prstGeom>
        </p:spPr>
        <p:txBody>
          <a:bodyPr wrap="square" lIns="0" tIns="0" rIns="0" bIns="0">
            <a:normAutofit/>
          </a:bodyPr>
          <a:p>
            <a:pPr>
              <a:lnSpc>
                <a:spcPct val="140000"/>
              </a:lnSpc>
            </a:pPr>
            <a:r>
              <a:rPr lang="zh-CN" sz="1090">
                <a:solidFill>
                  <a:srgbClr val="D6E3F7"/>
                </a:solidFill>
                <a:latin typeface="微软雅黑" panose="020B0503020204020204" charset="-122"/>
                <a:ea typeface="微软雅黑" panose="020B0503020204020204" charset="-122"/>
              </a:rPr>
              <a:t>机制结果翻译为容量区间、参数域与主导瓶颈</a:t>
            </a:r>
            <a:endParaRPr lang="zh-CN" sz="1090">
              <a:solidFill>
                <a:srgbClr val="D6E3F7"/>
              </a:solidFill>
              <a:latin typeface="微软雅黑" panose="020B0503020204020204" charset="-122"/>
              <a:ea typeface="微软雅黑" panose="020B0503020204020204" charset="-122"/>
            </a:endParaRPr>
          </a:p>
        </p:txBody>
      </p:sp>
      <p:sp>
        <p:nvSpPr>
          <p:cNvPr id="416" name="矩形 415"/>
          <p:cNvSpPr/>
          <p:nvPr/>
        </p:nvSpPr>
        <p:spPr>
          <a:xfrm>
            <a:off x="428625" y="5886450"/>
            <a:ext cx="11430000" cy="390525"/>
          </a:xfrm>
          <a:prstGeom prst="rect">
            <a:avLst/>
          </a:prstGeom>
          <a:solidFill>
            <a:srgbClr val="E8EFF8"/>
          </a:solidFill>
        </p:spPr>
        <p:txBody>
          <a:bodyPr/>
          <a:p/>
        </p:txBody>
      </p:sp>
      <p:sp>
        <p:nvSpPr>
          <p:cNvPr id="417" name="任意多边形 416"/>
          <p:cNvSpPr/>
          <p:nvPr/>
        </p:nvSpPr>
        <p:spPr>
          <a:xfrm>
            <a:off x="381000" y="5886450"/>
            <a:ext cx="11477625" cy="390525"/>
          </a:xfrm>
          <a:custGeom>
            <a:avLst/>
            <a:gdLst/>
            <a:ahLst/>
            <a:cxnLst/>
            <a:pathLst>
              <a:path w="1205" h="41">
                <a:moveTo>
                  <a:pt x="0" y="0"/>
                </a:moveTo>
                <a:lnTo>
                  <a:pt x="5" y="0"/>
                </a:lnTo>
                <a:lnTo>
                  <a:pt x="5" y="41"/>
                </a:lnTo>
                <a:lnTo>
                  <a:pt x="0" y="41"/>
                </a:lnTo>
                <a:close/>
              </a:path>
            </a:pathLst>
          </a:custGeom>
          <a:solidFill>
            <a:srgbClr val="1E4FA8"/>
          </a:solidFill>
        </p:spPr>
        <p:txBody>
          <a:bodyPr/>
          <a:p/>
        </p:txBody>
      </p:sp>
      <p:sp>
        <p:nvSpPr>
          <p:cNvPr id="418" name="文本框 417" descr="{&quot;isTemplate&quot;:true,&quot;type&quot;:&quot;text&quot;}"/>
          <p:cNvSpPr txBox="1"/>
          <p:nvPr/>
        </p:nvSpPr>
        <p:spPr>
          <a:xfrm>
            <a:off x="600075" y="5972175"/>
            <a:ext cx="11210925" cy="219075"/>
          </a:xfrm>
          <a:prstGeom prst="rect">
            <a:avLst/>
          </a:prstGeom>
        </p:spPr>
        <p:txBody>
          <a:bodyPr wrap="none" lIns="0" tIns="0" rIns="0" bIns="0"/>
          <a:p>
            <a:pPr>
              <a:lnSpc>
                <a:spcPct val="100000"/>
              </a:lnSpc>
            </a:pPr>
            <a:r>
              <a:rPr lang="zh-CN" sz="1390">
                <a:solidFill>
                  <a:srgbClr val="1A2230"/>
                </a:solidFill>
                <a:latin typeface="微软雅黑" panose="020B0503020204020204" charset="-122"/>
                <a:ea typeface="微软雅黑" panose="020B0503020204020204" charset="-122"/>
              </a:rPr>
              <a:t>每阶段设检查点：物理闭合通过守恒与量级校核后方进入机制实验；输入参数、模型版本与随机种子全程记录，形成可追溯证据链</a:t>
            </a:r>
            <a:endParaRPr lang="zh-CN" sz="1390">
              <a:solidFill>
                <a:srgbClr val="1A2230"/>
              </a:solidFill>
              <a:latin typeface="微软雅黑" panose="020B0503020204020204" charset="-122"/>
              <a:ea typeface="微软雅黑" panose="020B0503020204020204" charset="-122"/>
            </a:endParaRPr>
          </a:p>
        </p:txBody>
      </p:sp>
      <p:sp>
        <p:nvSpPr>
          <p:cNvPr id="419" name="任意多边形 418"/>
          <p:cNvSpPr/>
          <p:nvPr/>
        </p:nvSpPr>
        <p:spPr>
          <a:xfrm>
            <a:off x="0" y="635317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420" name="文本框 419" descr="{&quot;isTemplate&quot;:true,&quot;type&quot;:&quot;text&quot;}"/>
          <p:cNvSpPr txBox="1"/>
          <p:nvPr/>
        </p:nvSpPr>
        <p:spPr>
          <a:xfrm>
            <a:off x="381000" y="646747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421" name="文本框 420" descr="{&quot;isTemplate&quot;:true,&quot;type&quot;:&quot;text&quot;}"/>
          <p:cNvSpPr txBox="1"/>
          <p:nvPr/>
        </p:nvSpPr>
        <p:spPr>
          <a:xfrm>
            <a:off x="11353800" y="646747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18 / 36</a:t>
            </a:r>
            <a:endParaRPr lang="en-US" sz="1050">
              <a:solidFill>
                <a:srgbClr val="1E4FA8"/>
              </a:solidFill>
              <a:latin typeface="微软雅黑" panose="020B0503020204020204" charset="-122"/>
              <a:ea typeface="微软雅黑" panose="020B0503020204020204" charset="-122"/>
            </a:endParaRPr>
          </a:p>
        </p:txBody>
      </p:sp>
      <p:sp>
        <p:nvSpPr>
          <p:cNvPr id="422" name="矩形 421"/>
          <p:cNvSpPr/>
          <p:nvPr/>
        </p:nvSpPr>
        <p:spPr>
          <a:xfrm>
            <a:off x="0" y="685800"/>
            <a:ext cx="57150" cy="1162050"/>
          </a:xfrm>
          <a:prstGeom prst="rect">
            <a:avLst/>
          </a:prstGeom>
          <a:solidFill>
            <a:srgbClr val="C9D6E8"/>
          </a:solidFill>
        </p:spPr>
        <p:txBody>
          <a:bodyPr/>
          <a:p/>
        </p:txBody>
      </p:sp>
      <p:sp>
        <p:nvSpPr>
          <p:cNvPr id="423" name="矩形 422"/>
          <p:cNvSpPr/>
          <p:nvPr/>
        </p:nvSpPr>
        <p:spPr>
          <a:xfrm>
            <a:off x="0" y="1847850"/>
            <a:ext cx="57150" cy="1162050"/>
          </a:xfrm>
          <a:prstGeom prst="rect">
            <a:avLst/>
          </a:prstGeom>
          <a:solidFill>
            <a:srgbClr val="C9D6E8"/>
          </a:solidFill>
        </p:spPr>
        <p:txBody>
          <a:bodyPr/>
          <a:p/>
        </p:txBody>
      </p:sp>
      <p:sp>
        <p:nvSpPr>
          <p:cNvPr id="424" name="矩形 423"/>
          <p:cNvSpPr/>
          <p:nvPr/>
        </p:nvSpPr>
        <p:spPr>
          <a:xfrm>
            <a:off x="0" y="3009900"/>
            <a:ext cx="57150" cy="1162050"/>
          </a:xfrm>
          <a:prstGeom prst="rect">
            <a:avLst/>
          </a:prstGeom>
          <a:solidFill>
            <a:srgbClr val="C9D6E8"/>
          </a:solidFill>
        </p:spPr>
        <p:txBody>
          <a:bodyPr/>
          <a:p/>
        </p:txBody>
      </p:sp>
      <p:sp>
        <p:nvSpPr>
          <p:cNvPr id="425" name="矩形 424"/>
          <p:cNvSpPr/>
          <p:nvPr/>
        </p:nvSpPr>
        <p:spPr>
          <a:xfrm>
            <a:off x="0" y="4171950"/>
            <a:ext cx="57150" cy="1162050"/>
          </a:xfrm>
          <a:prstGeom prst="rect">
            <a:avLst/>
          </a:prstGeom>
          <a:solidFill>
            <a:srgbClr val="FFC107"/>
          </a:solidFill>
        </p:spPr>
        <p:txBody>
          <a:bodyPr/>
          <a:p/>
        </p:txBody>
      </p:sp>
      <p:sp>
        <p:nvSpPr>
          <p:cNvPr id="426" name="矩形 425"/>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ai_uwm三级架构研究方案示意图.png"/>
          <p:cNvPicPr>
            <a:picLocks noChangeAspect="1"/>
          </p:cNvPicPr>
          <p:nvPr/>
        </p:nvPicPr>
        <p:blipFill>
          <a:blip r:embed="rId1"/>
          <a:stretch>
            <a:fillRect/>
          </a:stretch>
        </p:blipFill>
        <p:spPr>
          <a:xfrm>
            <a:off x="318"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08"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server' style={{ fill: '#FFC107', width: 22, height: 22 }} /&gt;&#13;&#10;        &lt;/Box&gt;&#13;&#10;            &lt;Text style={{ fontSize: 29, fontWeight: 'bold', color: '#FFFFFF' }}&gt;AI 设施过程模型建立 IT 容量到冷却补水之间的过程联系&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0&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计算活动经能耗、热排散与冷却形成城市水负荷，每步有参数与工程依据&lt;/Text&gt;&#13;&#10;        &lt;/Box&gt;&#13;&#10;        &lt;Box style={{ flexDirection: 'row', gap: 14, height: 466 }}&gt;&#13;&#10;            &lt;Box style={{ width: 790, flexDirection: 'column', gap: 10 }}&gt;&#13;&#10;                &lt;Box style={{ flex: 1, background: '#F7F9FC', border: '1px solid #D6DCE5', borderLeft: '6px solid #1E4FA8', borderRadius: 6, padding: 12, flexDirection: 'column' }}&gt;&#13;&#10;                    &lt;Box style={{ flexDirection: 'row', alignItems: 'center', gap: 10, marginBottom: 4 }}&gt;&#13;&#10;                        &lt;Box style={{ background: '#1E4FA8', borderRadius: 3, paddingLeft: 8, paddingRight: 8, paddingTop: 2, paddingBottom: 2 }}&gt;&#13;&#10;                            &lt;Text style={{ fontSize: 16, color: '#FFFFFF', fontWeight: 'bold' }}&gt;步骤一　规模与能耗&lt;/Text&gt;&#13;&#10;                        &lt;/Box&gt;&#13;&#10;                        &lt;Text style={{ fontSize: 18, color: '#4A5568' }}&gt;P_IT(t) = C_AI × LF(t)　→　P_facility(t) = PUE(t) × P_IT(t)&lt;/Text&gt;&#13;&#10;                    &lt;/Box&gt;&#13;&#10;                    &lt;Text style={{ fontSize: 17, color: '#1A2230', lineHeight: 1.5 }}&gt;总能耗由 IT 能耗与 PUE 得到，大部分电能转化为待排散热，算力规模变为可计量的能量流。&lt;/Text&gt;&#13;&#10;                &lt;/Box&gt;&#13;&#10;                &lt;Box style={{ flex: 1, background: '#F7F9FC', border: '1px solid #D6DCE5', borderLeft: '6px solid #1E4FA8', borderRadius: 6, padding: 12, flexDirection: 'column' }}&gt;&#13;&#10;                    &lt;Box style={{ flexDirection: 'row', alignItems: 'center', gap: 10, marginBottom: 4 }}&gt;&#13;&#10;                        &lt;Box style={{ background: '#1E4FA8', borderRadius: 3, paddingLeft: 8, paddingRight: 8, paddingTop: 2, paddingBottom: 2 }}&gt;&#13;&#10;                            &lt;Text style={{ fontSize: 16, color: '#FFFFFF', fontWeight: 'bold' }}&gt;步骤二　两层冷却架构&lt;/Text&gt;&#13;&#10;                        &lt;/Box&gt;&#13;&#10;                        &lt;Text style={{ fontSize: 18, color: '#4A5568' }}&gt;服务器侧热捕集 × 设施侧末端排热&lt;/Text&gt;&#13;&#10;                    &lt;/Box&gt;&#13;&#10;                    &lt;Text style={{ fontSize: 17, color: '#1A2230', lineHeight: 1.5 }}&gt;服务器侧设空冷、液冷与浸没液冷，转移热量至冷却介质；设施侧设干式、湿式与混合排热。耗水由两层架构与运行条件决定。&lt;/Text&gt;&#13;&#10;                &lt;/Box&gt;&#13;&#10;                &lt;Box style={{ flex: 1, background: '#F7F9FC', border: '1px solid #D6DCE5', borderLeft: '6px solid #1E4FA8', borderRadius: 6, padding: 12, flexDirection: 'column' }}&gt;&#13;&#10;                    &lt;Box style={{ flexDirection: 'row', alignItems: 'center', gap: 10, marginBottom: 4 }}&gt;&#13;&#10;                        &lt;Box style={{ background: '#1E4FA8', borderRadius: 3, paddingLeft: 8, paddingRight: 8, paddingTop: 2, paddingBottom: 2 }}&gt;&#13;&#10;                            &lt;Text style={{ fontSize: 16, color: '#FFFFFF', fontWeight: 'bold' }}&gt;步骤三　蒸发与排污&lt;/Text&gt;&#13;&#10;                        &lt;/Box&gt;&#13;&#10;                        &lt;Text style={{ fontSize: 18, color: '#4A5568' }}&gt;湿侧热负荷 → 显热 / 潜热分解 → 蒸发量，浓缩倍数与水质约束 → 排污量&lt;/Text&gt;&#13;&#10;                    &lt;/Box&gt;&#13;&#10;                    &lt;Text style={{ fontSize: 17, color: '#1A2230', lineHeight: 1.5 }}&gt;补水由蒸发、漂水与排污决定。湿球温度影响潜热比例，浓缩倍数限定含盐量上限，共同控制单位热负荷补水。&lt;/Text&gt;&#13;&#10;                &lt;/Box&gt;&#13;&#10;                &lt;Box style={{ flex: 1, background: '#F0F5FC', border: '1px solid #D6DCE5', borderLeft: '6px solid #D9534F', borderRadius: 6, padding: 12, flexDirection: 'column' }}&gt;&#13;&#10;                    &lt;Box style={{ flexDirection: 'row', alignItems: 'center', gap: 10, marginBottom: 4 }}&gt;&#13;&#10;                        &lt;Box style={{ background: '#D9534F', borderRadius: 3, paddingLeft: 8, paddingRight: 8, paddingTop: 2, paddingBottom: 2 }}&gt;&#13;&#10;                            &lt;Text style={{ fontSize: 16, color: '#FFFFFF', fontWeight: 'bold' }}&gt;步骤四　排污去向&lt;/Text&gt;&#13;&#10;                        &lt;/Box&gt;&#13;&#10;                        &lt;Text style={{ fontSize: 18, color: '#4A5568' }}&gt;厂内回用与处理损失 → 城市污水回流 或 独立水质约束&lt;/Text&gt;&#13;&#10;                    &lt;/Box&gt;&#13;&#10;                    &lt;Text style={{ fontSize: 17, color: '#1A2230', lineHeight: 1.5 }}&gt;排污不自动等于污水回流。先算厂内回收与损失，剩余接入污水系统；水质超标时加独立约束。&lt;/Text&gt;&#13;&#10;                &lt;/Box&gt;&#13;&#10;            &lt;/Box&gt;&#13;&#10;            &lt;Box style={{ flex: 1, flexDirection: 'column', gap: 12 }}&gt;&#13;&#10;                &lt;Box style={{ flex: 1, background: '#0E3F8C', borderRadius: 6, padding: 16, flexDirection: 'column' }}&gt;&#13;&#10;                    &lt;Box style={{ borderLeft: '5px solid #FFC107', paddingLeft: 10, marginBottom: 8 }}&gt;&#13;&#10;                        &lt;Box style={{ flexDirection: 'row', alignItems: 'center', gap: 8 }}&gt;&#13;&#10;                &lt;FAIcon name='sliders' style={{ fill: '#FFC107', width: 19, height: 19 }} /&gt;&#13;&#10;                &lt;Text style={{ fontSize: 21, fontWeight: 'bold', color: '#FFFFFF' }}&gt;关键过程参数&lt;/Text&gt;&#13;&#10;            &lt;/Box&gt;&#13;&#10;                    &lt;/Box&gt;&#13;&#10;                    &lt;Box style={{ flexDirection: 'column', gap: 7 }}&gt;&#13;&#10;                        &lt;Text style={{ fontSize: 17, color: '#E4EDF9', lineHeight: 1.45 }}&gt;·　IT 容量与负载率：电耗与热负荷的规模基数&lt;/Text&gt;&#13;&#10;                        &lt;Text style={{ fontSize: 17, color: '#E4EDF9', lineHeight: 1.45 }}&gt;·　PUE：IT 能耗折算为设施总能耗的系数&lt;/Text&gt;&#13;&#10;                        &lt;Text style={{ fontSize: 17, color: '#E4EDF9', lineHeight: 1.45 }}&gt;·　湿球温度：影响潜热比例与蒸发强度&lt;/Text&gt;&#13;&#10;                        &lt;Text style={{ fontSize: 17, color: '#E4EDF9', lineHeight: 1.45 }}&gt;·　浓缩倍数 CoC：决定排污量与水质上限&lt;/Text&gt;&#13;&#10;                        &lt;Text style={{ fontSize: 17, color: '#E4EDF9', lineHeight: 1.45 }}&gt;·　厂内回用率：决定实际进入城市污水的水量&lt;/Text&gt;&#13;&#10;                    &lt;/Box&gt;&#13;&#10;                &lt;/Box&gt;&#13;&#10;                &lt;Box style={{ flex: 1, background: '#F7F9FC', border: '1px solid #D6DCE5', borderRadius: 6, padding: 16, flexDirection: 'column' }}&gt;&#13;&#10;                    &lt;Box style={{ borderLeft: '5px solid #1E4FA8', paddingLeft: 10, marginBottom: 8 }}&gt;&#13;&#10;                        &lt;Box style={{ flexDirection: 'row', alignItems: 'center', gap: 8 }}&gt;&#13;&#10;                &lt;FAIcon name='layer-group' style={{ fill: '#1E4FA8', width: 19, height: 19 }} /&gt;&#13;&#10;                &lt;Text style={{ fontSize: 21, fontWeight: 'bold', color: '#0E3F8C' }}&gt;为什么要区分两层架构&lt;/Text&gt;&#13;&#10;            &lt;/Box&gt;&#13;&#10;                    &lt;/Box&gt;&#13;&#10;                    &lt;Text style={{ fontSize: 17, color: '#1A2230', lineHeight: 1.5 }}&gt;液冷不等于节水：液冷改变热捕集效率，是否耗水取决于末端排热。两层分开建模，区分技术效率与供水约束。&lt;/Text&gt;&#13;&#10;                &lt;/Box&gt;&#13;&#10;            &lt;/Box&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0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609" name="矩形 608"/>
          <p:cNvSpPr/>
          <p:nvPr/>
        </p:nvSpPr>
        <p:spPr>
          <a:xfrm>
            <a:off x="0" y="0"/>
            <a:ext cx="12192000" cy="6858000"/>
          </a:xfrm>
          <a:prstGeom prst="rect">
            <a:avLst/>
          </a:prstGeom>
          <a:solidFill>
            <a:srgbClr val="FFFFFF"/>
          </a:solidFill>
        </p:spPr>
        <p:txBody>
          <a:bodyPr/>
          <a:p/>
        </p:txBody>
      </p:sp>
      <p:sp>
        <p:nvSpPr>
          <p:cNvPr id="610" name="矩形 609"/>
          <p:cNvSpPr/>
          <p:nvPr/>
        </p:nvSpPr>
        <p:spPr>
          <a:xfrm>
            <a:off x="0" y="0"/>
            <a:ext cx="12192000" cy="685800"/>
          </a:xfrm>
          <a:prstGeom prst="rect">
            <a:avLst/>
          </a:prstGeom>
          <a:solidFill>
            <a:srgbClr val="0E3F8C"/>
          </a:solidFill>
        </p:spPr>
        <p:txBody>
          <a:bodyPr/>
          <a:p/>
        </p:txBody>
      </p:sp>
      <p:sp>
        <p:nvSpPr>
          <p:cNvPr id="611" name="圆角矩形 610"/>
          <p:cNvSpPr/>
          <p:nvPr/>
        </p:nvSpPr>
        <p:spPr>
          <a:xfrm>
            <a:off x="381000" y="152400"/>
            <a:ext cx="381000" cy="381000"/>
          </a:xfrm>
          <a:prstGeom prst="roundRect">
            <a:avLst>
              <a:gd name="adj" fmla="val 25000"/>
            </a:avLst>
          </a:prstGeom>
          <a:solidFill>
            <a:srgbClr val="12489A"/>
          </a:solidFill>
        </p:spPr>
        <p:txBody>
          <a:bodyPr/>
          <a:p/>
        </p:txBody>
      </p:sp>
      <p:pic>
        <p:nvPicPr>
          <p:cNvPr id="612" name="图片 611"/>
          <p:cNvPicPr>
            <a:picLocks noChangeAspect="1"/>
          </p:cNvPicPr>
          <p:nvPr/>
        </p:nvPicPr>
        <p:blipFill>
          <a:blip/>
          <a:stretch>
            <a:fillRect/>
          </a:stretch>
        </p:blipFill>
        <p:spPr>
          <a:xfrm>
            <a:off x="466725" y="238125"/>
            <a:ext cx="209550" cy="209550"/>
          </a:xfrm>
          <a:prstGeom prst="rect">
            <a:avLst/>
          </a:prstGeom>
        </p:spPr>
      </p:pic>
      <p:sp>
        <p:nvSpPr>
          <p:cNvPr id="613" name="文本框 612" descr="{&quot;isTemplate&quot;:true,&quot;type&quot;:&quot;text&quot;}"/>
          <p:cNvSpPr txBox="1"/>
          <p:nvPr/>
        </p:nvSpPr>
        <p:spPr>
          <a:xfrm>
            <a:off x="895350" y="180975"/>
            <a:ext cx="6896100" cy="333375"/>
          </a:xfrm>
          <a:prstGeom prst="rect">
            <a:avLst/>
          </a:prstGeom>
        </p:spPr>
        <p:txBody>
          <a:bodyPr wrap="none" lIns="0" tIns="0" rIns="0" bIns="0"/>
          <a:p>
            <a:pPr>
              <a:lnSpc>
                <a:spcPct val="100000"/>
              </a:lnSpc>
            </a:pPr>
            <a:r>
              <a:rPr lang="en-US" sz="2175" b="1">
                <a:solidFill>
                  <a:srgbClr val="FFFFFF"/>
                </a:solidFill>
                <a:latin typeface="微软雅黑" panose="020B0503020204020204" charset="-122"/>
                <a:ea typeface="微软雅黑" panose="020B0503020204020204" charset="-122"/>
              </a:rPr>
              <a:t>AI </a:t>
            </a:r>
            <a:r>
              <a:rPr lang="zh-CN" sz="2175" b="1">
                <a:solidFill>
                  <a:srgbClr val="FFFFFF"/>
                </a:solidFill>
                <a:latin typeface="微软雅黑" panose="020B0503020204020204" charset="-122"/>
                <a:ea typeface="微软雅黑" panose="020B0503020204020204" charset="-122"/>
              </a:rPr>
              <a:t>设施过程模型建立</a:t>
            </a:r>
            <a:r>
              <a:rPr lang="en-US" sz="2175" b="1">
                <a:solidFill>
                  <a:srgbClr val="FFFFFF"/>
                </a:solidFill>
                <a:latin typeface="微软雅黑" panose="020B0503020204020204" charset="-122"/>
                <a:ea typeface="微软雅黑" panose="020B0503020204020204" charset="-122"/>
              </a:rPr>
              <a:t> IT </a:t>
            </a:r>
            <a:r>
              <a:rPr lang="zh-CN" sz="2175" b="1">
                <a:solidFill>
                  <a:srgbClr val="FFFFFF"/>
                </a:solidFill>
                <a:latin typeface="微软雅黑" panose="020B0503020204020204" charset="-122"/>
                <a:ea typeface="微软雅黑" panose="020B0503020204020204" charset="-122"/>
              </a:rPr>
              <a:t>容量到冷却补水之间的过程联系</a:t>
            </a:r>
            <a:endParaRPr lang="zh-CN" sz="2175" b="1">
              <a:solidFill>
                <a:srgbClr val="FFFFFF"/>
              </a:solidFill>
              <a:latin typeface="微软雅黑" panose="020B0503020204020204" charset="-122"/>
              <a:ea typeface="微软雅黑" panose="020B0503020204020204" charset="-122"/>
            </a:endParaRPr>
          </a:p>
        </p:txBody>
      </p:sp>
      <p:sp>
        <p:nvSpPr>
          <p:cNvPr id="614" name="文本框 613"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615" name="圆角矩形 614"/>
          <p:cNvSpPr/>
          <p:nvPr/>
        </p:nvSpPr>
        <p:spPr>
          <a:xfrm>
            <a:off x="11468100" y="238125"/>
            <a:ext cx="342900" cy="219075"/>
          </a:xfrm>
          <a:prstGeom prst="roundRect">
            <a:avLst>
              <a:gd name="adj" fmla="val 13043"/>
            </a:avLst>
          </a:prstGeom>
          <a:solidFill>
            <a:srgbClr val="FFC107"/>
          </a:solidFill>
        </p:spPr>
        <p:txBody>
          <a:bodyPr/>
          <a:p/>
        </p:txBody>
      </p:sp>
      <p:sp>
        <p:nvSpPr>
          <p:cNvPr id="616" name="文本框 615"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20</a:t>
            </a:r>
            <a:endParaRPr lang="en-US" sz="1050" b="1">
              <a:solidFill>
                <a:srgbClr val="0B3A82"/>
              </a:solidFill>
              <a:latin typeface="微软雅黑" panose="020B0503020204020204" charset="-122"/>
              <a:ea typeface="微软雅黑" panose="020B0503020204020204" charset="-122"/>
            </a:endParaRPr>
          </a:p>
        </p:txBody>
      </p:sp>
      <p:sp>
        <p:nvSpPr>
          <p:cNvPr id="617" name="圆角矩形 616"/>
          <p:cNvSpPr/>
          <p:nvPr/>
        </p:nvSpPr>
        <p:spPr>
          <a:xfrm>
            <a:off x="381000" y="800100"/>
            <a:ext cx="11430000" cy="438150"/>
          </a:xfrm>
          <a:prstGeom prst="roundRect">
            <a:avLst>
              <a:gd name="adj" fmla="val 8696"/>
            </a:avLst>
          </a:prstGeom>
          <a:solidFill>
            <a:srgbClr val="0B3A82"/>
          </a:solidFill>
        </p:spPr>
        <p:txBody>
          <a:bodyPr/>
          <a:p/>
        </p:txBody>
      </p:sp>
      <p:sp>
        <p:nvSpPr>
          <p:cNvPr id="618" name="文本框 617"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计算活动经能耗、热排散与冷却形成城市水负荷，每步有参数与工程依据</a:t>
            </a:r>
            <a:endParaRPr lang="zh-CN" sz="1575">
              <a:solidFill>
                <a:srgbClr val="FFFFFF"/>
              </a:solidFill>
              <a:latin typeface="微软雅黑" panose="020B0503020204020204" charset="-122"/>
              <a:ea typeface="微软雅黑" panose="020B0503020204020204" charset="-122"/>
            </a:endParaRPr>
          </a:p>
        </p:txBody>
      </p:sp>
      <p:sp>
        <p:nvSpPr>
          <p:cNvPr id="619" name="圆角矩形 618"/>
          <p:cNvSpPr/>
          <p:nvPr/>
        </p:nvSpPr>
        <p:spPr>
          <a:xfrm>
            <a:off x="438150" y="1352550"/>
            <a:ext cx="7524750" cy="895350"/>
          </a:xfrm>
          <a:prstGeom prst="roundRect">
            <a:avLst>
              <a:gd name="adj" fmla="val 6383"/>
            </a:avLst>
          </a:prstGeom>
          <a:solidFill>
            <a:srgbClr val="F7F9FC"/>
          </a:solidFill>
        </p:spPr>
        <p:txBody>
          <a:bodyPr/>
          <a:p/>
        </p:txBody>
      </p:sp>
      <p:sp>
        <p:nvSpPr>
          <p:cNvPr id="620" name="任意多边形 619"/>
          <p:cNvSpPr/>
          <p:nvPr/>
        </p:nvSpPr>
        <p:spPr>
          <a:xfrm>
            <a:off x="438150" y="1352550"/>
            <a:ext cx="7524750" cy="895350"/>
          </a:xfrm>
          <a:custGeom>
            <a:avLst/>
            <a:gdLst/>
            <a:ahLst/>
            <a:cxnLst/>
            <a:pathLst>
              <a:path w="790" h="94">
                <a:moveTo>
                  <a:pt x="6" y="94"/>
                </a:moveTo>
                <a:cubicBezTo>
                  <a:pt x="3" y="94"/>
                  <a:pt x="0" y="91"/>
                  <a:pt x="0" y="88"/>
                </a:cubicBezTo>
                <a:lnTo>
                  <a:pt x="0" y="6"/>
                </a:lnTo>
                <a:cubicBezTo>
                  <a:pt x="0" y="4"/>
                  <a:pt x="1" y="3"/>
                  <a:pt x="2" y="2"/>
                </a:cubicBezTo>
                <a:cubicBezTo>
                  <a:pt x="3" y="1"/>
                  <a:pt x="4" y="0"/>
                  <a:pt x="6" y="0"/>
                </a:cubicBezTo>
                <a:lnTo>
                  <a:pt x="6" y="94"/>
                </a:lnTo>
                <a:close/>
              </a:path>
            </a:pathLst>
          </a:custGeom>
          <a:solidFill>
            <a:srgbClr val="1E4FA8"/>
          </a:solidFill>
        </p:spPr>
        <p:txBody>
          <a:bodyPr/>
          <a:p/>
        </p:txBody>
      </p:sp>
      <p:sp>
        <p:nvSpPr>
          <p:cNvPr id="621" name="圆角矩形 620"/>
          <p:cNvSpPr/>
          <p:nvPr/>
        </p:nvSpPr>
        <p:spPr>
          <a:xfrm>
            <a:off x="552450" y="1466850"/>
            <a:ext cx="1524000" cy="228600"/>
          </a:xfrm>
          <a:prstGeom prst="roundRect">
            <a:avLst>
              <a:gd name="adj" fmla="val 12500"/>
            </a:avLst>
          </a:prstGeom>
          <a:solidFill>
            <a:srgbClr val="1E4FA8"/>
          </a:solidFill>
        </p:spPr>
        <p:txBody>
          <a:bodyPr/>
          <a:p/>
        </p:txBody>
      </p:sp>
      <p:sp>
        <p:nvSpPr>
          <p:cNvPr id="622" name="文本框 621" descr="{&quot;isTemplate&quot;:true,&quot;type&quot;:&quot;text&quot;}"/>
          <p:cNvSpPr txBox="1"/>
          <p:nvPr/>
        </p:nvSpPr>
        <p:spPr>
          <a:xfrm>
            <a:off x="628650" y="1485900"/>
            <a:ext cx="1371600" cy="190500"/>
          </a:xfrm>
          <a:prstGeom prst="rect">
            <a:avLst/>
          </a:prstGeom>
        </p:spPr>
        <p:txBody>
          <a:bodyPr wrap="none" lIns="0" tIns="0" rIns="0" bIns="0"/>
          <a:p>
            <a:pPr>
              <a:lnSpc>
                <a:spcPct val="100000"/>
              </a:lnSpc>
            </a:pPr>
            <a:r>
              <a:rPr lang="zh-CN" sz="1200" b="1">
                <a:solidFill>
                  <a:srgbClr val="FFFFFF"/>
                </a:solidFill>
                <a:latin typeface="微软雅黑" panose="020B0503020204020204" charset="-122"/>
                <a:ea typeface="微软雅黑" panose="020B0503020204020204" charset="-122"/>
              </a:rPr>
              <a:t>步骤一　规模与能耗</a:t>
            </a:r>
            <a:endParaRPr lang="zh-CN" sz="1200" b="1">
              <a:solidFill>
                <a:srgbClr val="FFFFFF"/>
              </a:solidFill>
              <a:latin typeface="微软雅黑" panose="020B0503020204020204" charset="-122"/>
              <a:ea typeface="微软雅黑" panose="020B0503020204020204" charset="-122"/>
            </a:endParaRPr>
          </a:p>
        </p:txBody>
      </p:sp>
      <p:sp>
        <p:nvSpPr>
          <p:cNvPr id="623" name="文本框 622" descr="{&quot;isTemplate&quot;:true,&quot;type&quot;:&quot;text&quot;}"/>
          <p:cNvSpPr txBox="1"/>
          <p:nvPr/>
        </p:nvSpPr>
        <p:spPr>
          <a:xfrm>
            <a:off x="2171700" y="1476375"/>
            <a:ext cx="4572000" cy="209550"/>
          </a:xfrm>
          <a:prstGeom prst="rect">
            <a:avLst/>
          </a:prstGeom>
        </p:spPr>
        <p:txBody>
          <a:bodyPr wrap="none" lIns="0" tIns="0" rIns="0" bIns="0"/>
          <a:p>
            <a:pPr>
              <a:lnSpc>
                <a:spcPct val="100000"/>
              </a:lnSpc>
            </a:pPr>
            <a:r>
              <a:rPr lang="en-US" sz="1350">
                <a:solidFill>
                  <a:srgbClr val="4A5568"/>
                </a:solidFill>
                <a:latin typeface="微软雅黑" panose="020B0503020204020204" charset="-122"/>
                <a:ea typeface="微软雅黑" panose="020B0503020204020204" charset="-122"/>
              </a:rPr>
              <a:t>P_IT(t) = C_AI × LF(t)</a:t>
            </a:r>
            <a:r>
              <a:rPr lang="zh-CN" sz="1350">
                <a:solidFill>
                  <a:srgbClr val="4A5568"/>
                </a:solidFill>
                <a:latin typeface="微软雅黑" panose="020B0503020204020204" charset="-122"/>
                <a:ea typeface="微软雅黑" panose="020B0503020204020204" charset="-122"/>
              </a:rPr>
              <a:t>　→　</a:t>
            </a:r>
            <a:r>
              <a:rPr lang="en-US" sz="1350">
                <a:solidFill>
                  <a:srgbClr val="4A5568"/>
                </a:solidFill>
                <a:latin typeface="微软雅黑" panose="020B0503020204020204" charset="-122"/>
                <a:ea typeface="微软雅黑" panose="020B0503020204020204" charset="-122"/>
              </a:rPr>
              <a:t>P_facility(t) = PUE(t) × P_IT(t)</a:t>
            </a:r>
            <a:endParaRPr lang="en-US" sz="1350">
              <a:solidFill>
                <a:srgbClr val="4A5568"/>
              </a:solidFill>
              <a:latin typeface="微软雅黑" panose="020B0503020204020204" charset="-122"/>
              <a:ea typeface="微软雅黑" panose="020B0503020204020204" charset="-122"/>
            </a:endParaRPr>
          </a:p>
        </p:txBody>
      </p:sp>
      <p:sp>
        <p:nvSpPr>
          <p:cNvPr id="624" name="文本框 623" descr="{&quot;isTemplate&quot;:true,&quot;type&quot;:&quot;text&quot;}"/>
          <p:cNvSpPr txBox="1"/>
          <p:nvPr/>
        </p:nvSpPr>
        <p:spPr>
          <a:xfrm>
            <a:off x="552450" y="1733550"/>
            <a:ext cx="7239000" cy="295275"/>
          </a:xfrm>
          <a:prstGeom prst="rect">
            <a:avLst/>
          </a:prstGeom>
        </p:spPr>
        <p:txBody>
          <a:bodyPr wrap="none" lIns="0" tIns="0" rIns="0" bIns="0"/>
          <a:p>
            <a:pPr>
              <a:lnSpc>
                <a:spcPct val="150000"/>
              </a:lnSpc>
            </a:pPr>
            <a:r>
              <a:rPr lang="zh-CN" sz="1275">
                <a:solidFill>
                  <a:srgbClr val="1A2230"/>
                </a:solidFill>
                <a:latin typeface="微软雅黑" panose="020B0503020204020204" charset="-122"/>
                <a:ea typeface="微软雅黑" panose="020B0503020204020204" charset="-122"/>
              </a:rPr>
              <a:t>总能耗由</a:t>
            </a:r>
            <a:r>
              <a:rPr lang="en-US" sz="1275">
                <a:solidFill>
                  <a:srgbClr val="1A2230"/>
                </a:solidFill>
                <a:latin typeface="微软雅黑" panose="020B0503020204020204" charset="-122"/>
                <a:ea typeface="微软雅黑" panose="020B0503020204020204" charset="-122"/>
              </a:rPr>
              <a:t> IT </a:t>
            </a:r>
            <a:r>
              <a:rPr lang="zh-CN" sz="1275">
                <a:solidFill>
                  <a:srgbClr val="1A2230"/>
                </a:solidFill>
                <a:latin typeface="微软雅黑" panose="020B0503020204020204" charset="-122"/>
                <a:ea typeface="微软雅黑" panose="020B0503020204020204" charset="-122"/>
              </a:rPr>
              <a:t>能耗与</a:t>
            </a:r>
            <a:r>
              <a:rPr lang="en-US" sz="1275">
                <a:solidFill>
                  <a:srgbClr val="1A2230"/>
                </a:solidFill>
                <a:latin typeface="微软雅黑" panose="020B0503020204020204" charset="-122"/>
                <a:ea typeface="微软雅黑" panose="020B0503020204020204" charset="-122"/>
              </a:rPr>
              <a:t> PUE </a:t>
            </a:r>
            <a:r>
              <a:rPr lang="zh-CN" sz="1275">
                <a:solidFill>
                  <a:srgbClr val="1A2230"/>
                </a:solidFill>
                <a:latin typeface="微软雅黑" panose="020B0503020204020204" charset="-122"/>
                <a:ea typeface="微软雅黑" panose="020B0503020204020204" charset="-122"/>
              </a:rPr>
              <a:t>得到，大部分电能转化为待排散热，算力规模变为可计量的能量流。</a:t>
            </a:r>
            <a:endParaRPr lang="zh-CN" sz="1275">
              <a:solidFill>
                <a:srgbClr val="1A2230"/>
              </a:solidFill>
              <a:latin typeface="微软雅黑" panose="020B0503020204020204" charset="-122"/>
              <a:ea typeface="微软雅黑" panose="020B0503020204020204" charset="-122"/>
            </a:endParaRPr>
          </a:p>
        </p:txBody>
      </p:sp>
      <p:sp>
        <p:nvSpPr>
          <p:cNvPr id="625" name="圆角矩形 624"/>
          <p:cNvSpPr/>
          <p:nvPr/>
        </p:nvSpPr>
        <p:spPr>
          <a:xfrm>
            <a:off x="438150" y="2343150"/>
            <a:ext cx="7524750" cy="1181100"/>
          </a:xfrm>
          <a:prstGeom prst="roundRect">
            <a:avLst>
              <a:gd name="adj" fmla="val 4839"/>
            </a:avLst>
          </a:prstGeom>
          <a:solidFill>
            <a:srgbClr val="F7F9FC"/>
          </a:solidFill>
        </p:spPr>
        <p:txBody>
          <a:bodyPr/>
          <a:p/>
        </p:txBody>
      </p:sp>
      <p:sp>
        <p:nvSpPr>
          <p:cNvPr id="626" name="任意多边形 625"/>
          <p:cNvSpPr/>
          <p:nvPr/>
        </p:nvSpPr>
        <p:spPr>
          <a:xfrm>
            <a:off x="438150" y="2343150"/>
            <a:ext cx="7524750" cy="1181100"/>
          </a:xfrm>
          <a:custGeom>
            <a:avLst/>
            <a:gdLst/>
            <a:ahLst/>
            <a:cxnLst/>
            <a:pathLst>
              <a:path w="790" h="124">
                <a:moveTo>
                  <a:pt x="6" y="124"/>
                </a:moveTo>
                <a:cubicBezTo>
                  <a:pt x="3" y="124"/>
                  <a:pt x="0" y="121"/>
                  <a:pt x="0" y="118"/>
                </a:cubicBezTo>
                <a:lnTo>
                  <a:pt x="0" y="6"/>
                </a:lnTo>
                <a:cubicBezTo>
                  <a:pt x="0" y="4"/>
                  <a:pt x="1" y="3"/>
                  <a:pt x="2" y="2"/>
                </a:cubicBezTo>
                <a:cubicBezTo>
                  <a:pt x="3" y="1"/>
                  <a:pt x="4" y="0"/>
                  <a:pt x="6" y="0"/>
                </a:cubicBezTo>
                <a:lnTo>
                  <a:pt x="6" y="124"/>
                </a:lnTo>
                <a:close/>
              </a:path>
            </a:pathLst>
          </a:custGeom>
          <a:solidFill>
            <a:srgbClr val="1E4FA8"/>
          </a:solidFill>
        </p:spPr>
        <p:txBody>
          <a:bodyPr/>
          <a:p/>
        </p:txBody>
      </p:sp>
      <p:sp>
        <p:nvSpPr>
          <p:cNvPr id="627" name="圆角矩形 626"/>
          <p:cNvSpPr/>
          <p:nvPr/>
        </p:nvSpPr>
        <p:spPr>
          <a:xfrm>
            <a:off x="552450" y="2457450"/>
            <a:ext cx="1676400" cy="228600"/>
          </a:xfrm>
          <a:prstGeom prst="roundRect">
            <a:avLst>
              <a:gd name="adj" fmla="val 12500"/>
            </a:avLst>
          </a:prstGeom>
          <a:solidFill>
            <a:srgbClr val="1E4FA8"/>
          </a:solidFill>
        </p:spPr>
        <p:txBody>
          <a:bodyPr/>
          <a:p/>
        </p:txBody>
      </p:sp>
      <p:sp>
        <p:nvSpPr>
          <p:cNvPr id="628" name="文本框 627" descr="{&quot;isTemplate&quot;:true,&quot;type&quot;:&quot;text&quot;}"/>
          <p:cNvSpPr txBox="1"/>
          <p:nvPr/>
        </p:nvSpPr>
        <p:spPr>
          <a:xfrm>
            <a:off x="628650" y="2476500"/>
            <a:ext cx="1524000" cy="190500"/>
          </a:xfrm>
          <a:prstGeom prst="rect">
            <a:avLst/>
          </a:prstGeom>
        </p:spPr>
        <p:txBody>
          <a:bodyPr wrap="none" lIns="0" tIns="0" rIns="0" bIns="0"/>
          <a:p>
            <a:pPr>
              <a:lnSpc>
                <a:spcPct val="100000"/>
              </a:lnSpc>
            </a:pPr>
            <a:r>
              <a:rPr lang="zh-CN" sz="1200" b="1">
                <a:solidFill>
                  <a:srgbClr val="FFFFFF"/>
                </a:solidFill>
                <a:latin typeface="微软雅黑" panose="020B0503020204020204" charset="-122"/>
                <a:ea typeface="微软雅黑" panose="020B0503020204020204" charset="-122"/>
              </a:rPr>
              <a:t>步骤二　两层冷却架构</a:t>
            </a:r>
            <a:endParaRPr lang="zh-CN" sz="1200" b="1">
              <a:solidFill>
                <a:srgbClr val="FFFFFF"/>
              </a:solidFill>
              <a:latin typeface="微软雅黑" panose="020B0503020204020204" charset="-122"/>
              <a:ea typeface="微软雅黑" panose="020B0503020204020204" charset="-122"/>
            </a:endParaRPr>
          </a:p>
        </p:txBody>
      </p:sp>
      <p:sp>
        <p:nvSpPr>
          <p:cNvPr id="629" name="文本框 628" descr="{&quot;isTemplate&quot;:true,&quot;type&quot;:&quot;text&quot;}"/>
          <p:cNvSpPr txBox="1"/>
          <p:nvPr/>
        </p:nvSpPr>
        <p:spPr>
          <a:xfrm>
            <a:off x="2324100" y="2466975"/>
            <a:ext cx="2638425" cy="209550"/>
          </a:xfrm>
          <a:prstGeom prst="rect">
            <a:avLst/>
          </a:prstGeom>
        </p:spPr>
        <p:txBody>
          <a:bodyPr wrap="none" lIns="0" tIns="0" rIns="0" bIns="0"/>
          <a:p>
            <a:pPr>
              <a:lnSpc>
                <a:spcPct val="100000"/>
              </a:lnSpc>
            </a:pPr>
            <a:r>
              <a:rPr lang="zh-CN" sz="1350">
                <a:solidFill>
                  <a:srgbClr val="4A5568"/>
                </a:solidFill>
                <a:latin typeface="微软雅黑" panose="020B0503020204020204" charset="-122"/>
                <a:ea typeface="微软雅黑" panose="020B0503020204020204" charset="-122"/>
              </a:rPr>
              <a:t>服务器侧热捕集</a:t>
            </a:r>
            <a:r>
              <a:rPr lang="en-US" sz="1350">
                <a:solidFill>
                  <a:srgbClr val="4A5568"/>
                </a:solidFill>
                <a:latin typeface="微软雅黑" panose="020B0503020204020204" charset="-122"/>
                <a:ea typeface="微软雅黑" panose="020B0503020204020204" charset="-122"/>
              </a:rPr>
              <a:t> × </a:t>
            </a:r>
            <a:r>
              <a:rPr lang="zh-CN" sz="1350">
                <a:solidFill>
                  <a:srgbClr val="4A5568"/>
                </a:solidFill>
                <a:latin typeface="微软雅黑" panose="020B0503020204020204" charset="-122"/>
                <a:ea typeface="微软雅黑" panose="020B0503020204020204" charset="-122"/>
              </a:rPr>
              <a:t>设施侧末端排热</a:t>
            </a:r>
            <a:endParaRPr lang="zh-CN" sz="1350">
              <a:solidFill>
                <a:srgbClr val="4A5568"/>
              </a:solidFill>
              <a:latin typeface="微软雅黑" panose="020B0503020204020204" charset="-122"/>
              <a:ea typeface="微软雅黑" panose="020B0503020204020204" charset="-122"/>
            </a:endParaRPr>
          </a:p>
        </p:txBody>
      </p:sp>
      <p:sp>
        <p:nvSpPr>
          <p:cNvPr id="630" name="文本框 629" descr="{&quot;isTemplate&quot;:true,&quot;type&quot;:&quot;text&quot;}"/>
          <p:cNvSpPr txBox="1"/>
          <p:nvPr/>
        </p:nvSpPr>
        <p:spPr>
          <a:xfrm>
            <a:off x="552450" y="2724150"/>
            <a:ext cx="7239000"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服务器侧设空冷、液冷与浸没液冷，转移热量至冷却介质；设施侧设干式、湿式与混合排热。耗水由两层架构与运行条件决定。</a:t>
            </a:r>
            <a:endParaRPr lang="zh-CN" sz="1275">
              <a:solidFill>
                <a:srgbClr val="1A2230"/>
              </a:solidFill>
              <a:latin typeface="微软雅黑" panose="020B0503020204020204" charset="-122"/>
              <a:ea typeface="微软雅黑" panose="020B0503020204020204" charset="-122"/>
            </a:endParaRPr>
          </a:p>
        </p:txBody>
      </p:sp>
      <p:sp>
        <p:nvSpPr>
          <p:cNvPr id="631" name="圆角矩形 630"/>
          <p:cNvSpPr/>
          <p:nvPr/>
        </p:nvSpPr>
        <p:spPr>
          <a:xfrm>
            <a:off x="438150" y="3619500"/>
            <a:ext cx="7524750" cy="1190625"/>
          </a:xfrm>
          <a:prstGeom prst="roundRect">
            <a:avLst>
              <a:gd name="adj" fmla="val 4800"/>
            </a:avLst>
          </a:prstGeom>
          <a:solidFill>
            <a:srgbClr val="F7F9FC"/>
          </a:solidFill>
        </p:spPr>
        <p:txBody>
          <a:bodyPr/>
          <a:p/>
        </p:txBody>
      </p:sp>
      <p:sp>
        <p:nvSpPr>
          <p:cNvPr id="632" name="任意多边形 631"/>
          <p:cNvSpPr/>
          <p:nvPr/>
        </p:nvSpPr>
        <p:spPr>
          <a:xfrm>
            <a:off x="438150" y="3619500"/>
            <a:ext cx="7524750" cy="1190625"/>
          </a:xfrm>
          <a:custGeom>
            <a:avLst/>
            <a:gdLst/>
            <a:ahLst/>
            <a:cxnLst/>
            <a:pathLst>
              <a:path w="790" h="125">
                <a:moveTo>
                  <a:pt x="6" y="125"/>
                </a:moveTo>
                <a:cubicBezTo>
                  <a:pt x="3" y="125"/>
                  <a:pt x="0" y="122"/>
                  <a:pt x="0" y="119"/>
                </a:cubicBezTo>
                <a:lnTo>
                  <a:pt x="0" y="6"/>
                </a:lnTo>
                <a:cubicBezTo>
                  <a:pt x="0" y="4"/>
                  <a:pt x="1" y="3"/>
                  <a:pt x="2" y="2"/>
                </a:cubicBezTo>
                <a:cubicBezTo>
                  <a:pt x="3" y="1"/>
                  <a:pt x="4" y="0"/>
                  <a:pt x="6" y="0"/>
                </a:cubicBezTo>
                <a:lnTo>
                  <a:pt x="6" y="125"/>
                </a:lnTo>
                <a:close/>
              </a:path>
            </a:pathLst>
          </a:custGeom>
          <a:solidFill>
            <a:srgbClr val="1E4FA8"/>
          </a:solidFill>
        </p:spPr>
        <p:txBody>
          <a:bodyPr/>
          <a:p/>
        </p:txBody>
      </p:sp>
      <p:sp>
        <p:nvSpPr>
          <p:cNvPr id="633" name="圆角矩形 632"/>
          <p:cNvSpPr/>
          <p:nvPr/>
        </p:nvSpPr>
        <p:spPr>
          <a:xfrm>
            <a:off x="552450" y="3733800"/>
            <a:ext cx="1524000" cy="228600"/>
          </a:xfrm>
          <a:prstGeom prst="roundRect">
            <a:avLst>
              <a:gd name="adj" fmla="val 12500"/>
            </a:avLst>
          </a:prstGeom>
          <a:solidFill>
            <a:srgbClr val="1E4FA8"/>
          </a:solidFill>
        </p:spPr>
        <p:txBody>
          <a:bodyPr/>
          <a:p/>
        </p:txBody>
      </p:sp>
      <p:sp>
        <p:nvSpPr>
          <p:cNvPr id="634" name="文本框 633" descr="{&quot;isTemplate&quot;:true,&quot;type&quot;:&quot;text&quot;}"/>
          <p:cNvSpPr txBox="1"/>
          <p:nvPr/>
        </p:nvSpPr>
        <p:spPr>
          <a:xfrm>
            <a:off x="628650" y="3752850"/>
            <a:ext cx="1371600" cy="190500"/>
          </a:xfrm>
          <a:prstGeom prst="rect">
            <a:avLst/>
          </a:prstGeom>
        </p:spPr>
        <p:txBody>
          <a:bodyPr wrap="none" lIns="0" tIns="0" rIns="0" bIns="0"/>
          <a:p>
            <a:pPr>
              <a:lnSpc>
                <a:spcPct val="100000"/>
              </a:lnSpc>
            </a:pPr>
            <a:r>
              <a:rPr lang="zh-CN" sz="1200" b="1">
                <a:solidFill>
                  <a:srgbClr val="FFFFFF"/>
                </a:solidFill>
                <a:latin typeface="微软雅黑" panose="020B0503020204020204" charset="-122"/>
                <a:ea typeface="微软雅黑" panose="020B0503020204020204" charset="-122"/>
              </a:rPr>
              <a:t>步骤三　蒸发与排污</a:t>
            </a:r>
            <a:endParaRPr lang="zh-CN" sz="1200" b="1">
              <a:solidFill>
                <a:srgbClr val="FFFFFF"/>
              </a:solidFill>
              <a:latin typeface="微软雅黑" panose="020B0503020204020204" charset="-122"/>
              <a:ea typeface="微软雅黑" panose="020B0503020204020204" charset="-122"/>
            </a:endParaRPr>
          </a:p>
        </p:txBody>
      </p:sp>
      <p:sp>
        <p:nvSpPr>
          <p:cNvPr id="635" name="文本框 634" descr="{&quot;isTemplate&quot;:true,&quot;type&quot;:&quot;text&quot;}"/>
          <p:cNvSpPr txBox="1"/>
          <p:nvPr/>
        </p:nvSpPr>
        <p:spPr>
          <a:xfrm>
            <a:off x="2171700" y="3743325"/>
            <a:ext cx="5619750" cy="209550"/>
          </a:xfrm>
          <a:prstGeom prst="rect">
            <a:avLst/>
          </a:prstGeom>
        </p:spPr>
        <p:txBody>
          <a:bodyPr wrap="none" lIns="0" tIns="0" rIns="0" bIns="0"/>
          <a:p>
            <a:pPr>
              <a:lnSpc>
                <a:spcPct val="100000"/>
              </a:lnSpc>
            </a:pPr>
            <a:r>
              <a:rPr lang="zh-CN" sz="1350">
                <a:solidFill>
                  <a:srgbClr val="4A5568"/>
                </a:solidFill>
                <a:latin typeface="微软雅黑" panose="020B0503020204020204" charset="-122"/>
                <a:ea typeface="微软雅黑" panose="020B0503020204020204" charset="-122"/>
              </a:rPr>
              <a:t>湿侧热负荷</a:t>
            </a:r>
            <a:r>
              <a:rPr lang="en-US" sz="1350">
                <a:solidFill>
                  <a:srgbClr val="4A5568"/>
                </a:solidFill>
                <a:latin typeface="微软雅黑" panose="020B0503020204020204" charset="-122"/>
                <a:ea typeface="微软雅黑" panose="020B0503020204020204" charset="-122"/>
              </a:rPr>
              <a:t> → </a:t>
            </a:r>
            <a:r>
              <a:rPr lang="zh-CN" sz="1350">
                <a:solidFill>
                  <a:srgbClr val="4A5568"/>
                </a:solidFill>
                <a:latin typeface="微软雅黑" panose="020B0503020204020204" charset="-122"/>
                <a:ea typeface="微软雅黑" panose="020B0503020204020204" charset="-122"/>
              </a:rPr>
              <a:t>显热</a:t>
            </a:r>
            <a:r>
              <a:rPr lang="en-US" sz="1350">
                <a:solidFill>
                  <a:srgbClr val="4A5568"/>
                </a:solidFill>
                <a:latin typeface="微软雅黑" panose="020B0503020204020204" charset="-122"/>
                <a:ea typeface="微软雅黑" panose="020B0503020204020204" charset="-122"/>
              </a:rPr>
              <a:t> / </a:t>
            </a:r>
            <a:r>
              <a:rPr lang="zh-CN" sz="1350">
                <a:solidFill>
                  <a:srgbClr val="4A5568"/>
                </a:solidFill>
                <a:latin typeface="微软雅黑" panose="020B0503020204020204" charset="-122"/>
                <a:ea typeface="微软雅黑" panose="020B0503020204020204" charset="-122"/>
              </a:rPr>
              <a:t>潜热分解</a:t>
            </a:r>
            <a:r>
              <a:rPr lang="en-US" sz="1350">
                <a:solidFill>
                  <a:srgbClr val="4A5568"/>
                </a:solidFill>
                <a:latin typeface="微软雅黑" panose="020B0503020204020204" charset="-122"/>
                <a:ea typeface="微软雅黑" panose="020B0503020204020204" charset="-122"/>
              </a:rPr>
              <a:t> → </a:t>
            </a:r>
            <a:r>
              <a:rPr lang="zh-CN" sz="1350">
                <a:solidFill>
                  <a:srgbClr val="4A5568"/>
                </a:solidFill>
                <a:latin typeface="微软雅黑" panose="020B0503020204020204" charset="-122"/>
                <a:ea typeface="微软雅黑" panose="020B0503020204020204" charset="-122"/>
              </a:rPr>
              <a:t>蒸发量，浓缩倍数与水质约束</a:t>
            </a:r>
            <a:r>
              <a:rPr lang="en-US" sz="1350">
                <a:solidFill>
                  <a:srgbClr val="4A5568"/>
                </a:solidFill>
                <a:latin typeface="微软雅黑" panose="020B0503020204020204" charset="-122"/>
                <a:ea typeface="微软雅黑" panose="020B0503020204020204" charset="-122"/>
              </a:rPr>
              <a:t> → </a:t>
            </a:r>
            <a:r>
              <a:rPr lang="zh-CN" sz="1350">
                <a:solidFill>
                  <a:srgbClr val="4A5568"/>
                </a:solidFill>
                <a:latin typeface="微软雅黑" panose="020B0503020204020204" charset="-122"/>
                <a:ea typeface="微软雅黑" panose="020B0503020204020204" charset="-122"/>
              </a:rPr>
              <a:t>排污量</a:t>
            </a:r>
            <a:endParaRPr lang="zh-CN" sz="1350">
              <a:solidFill>
                <a:srgbClr val="4A5568"/>
              </a:solidFill>
              <a:latin typeface="微软雅黑" panose="020B0503020204020204" charset="-122"/>
              <a:ea typeface="微软雅黑" panose="020B0503020204020204" charset="-122"/>
            </a:endParaRPr>
          </a:p>
        </p:txBody>
      </p:sp>
      <p:sp>
        <p:nvSpPr>
          <p:cNvPr id="636" name="文本框 635" descr="{&quot;isTemplate&quot;:true,&quot;type&quot;:&quot;text&quot;}"/>
          <p:cNvSpPr txBox="1"/>
          <p:nvPr/>
        </p:nvSpPr>
        <p:spPr>
          <a:xfrm>
            <a:off x="552450" y="4000500"/>
            <a:ext cx="7239000"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补水由蒸发、漂水与排污决定。湿球温度影响潜热比例，浓缩倍数限定含盐量上限，共同控制单位热负荷补水。</a:t>
            </a:r>
            <a:endParaRPr lang="zh-CN" sz="1275">
              <a:solidFill>
                <a:srgbClr val="1A2230"/>
              </a:solidFill>
              <a:latin typeface="微软雅黑" panose="020B0503020204020204" charset="-122"/>
              <a:ea typeface="微软雅黑" panose="020B0503020204020204" charset="-122"/>
            </a:endParaRPr>
          </a:p>
        </p:txBody>
      </p:sp>
      <p:sp>
        <p:nvSpPr>
          <p:cNvPr id="637" name="圆角矩形 636"/>
          <p:cNvSpPr/>
          <p:nvPr/>
        </p:nvSpPr>
        <p:spPr>
          <a:xfrm>
            <a:off x="438150" y="4905375"/>
            <a:ext cx="7524750" cy="885825"/>
          </a:xfrm>
          <a:prstGeom prst="roundRect">
            <a:avLst>
              <a:gd name="adj" fmla="val 6452"/>
            </a:avLst>
          </a:prstGeom>
          <a:solidFill>
            <a:srgbClr val="F0F5FC"/>
          </a:solidFill>
        </p:spPr>
        <p:txBody>
          <a:bodyPr/>
          <a:p/>
        </p:txBody>
      </p:sp>
      <p:sp>
        <p:nvSpPr>
          <p:cNvPr id="638" name="任意多边形 637"/>
          <p:cNvSpPr/>
          <p:nvPr/>
        </p:nvSpPr>
        <p:spPr>
          <a:xfrm>
            <a:off x="438150" y="4905375"/>
            <a:ext cx="7524750" cy="885825"/>
          </a:xfrm>
          <a:custGeom>
            <a:avLst/>
            <a:gdLst/>
            <a:ahLst/>
            <a:cxnLst/>
            <a:pathLst>
              <a:path w="790" h="93">
                <a:moveTo>
                  <a:pt x="6" y="93"/>
                </a:moveTo>
                <a:cubicBezTo>
                  <a:pt x="3" y="93"/>
                  <a:pt x="0" y="90"/>
                  <a:pt x="0" y="87"/>
                </a:cubicBezTo>
                <a:lnTo>
                  <a:pt x="0" y="6"/>
                </a:lnTo>
                <a:cubicBezTo>
                  <a:pt x="0" y="4"/>
                  <a:pt x="1" y="3"/>
                  <a:pt x="2" y="2"/>
                </a:cubicBezTo>
                <a:cubicBezTo>
                  <a:pt x="3" y="1"/>
                  <a:pt x="4" y="0"/>
                  <a:pt x="6" y="0"/>
                </a:cubicBezTo>
                <a:lnTo>
                  <a:pt x="6" y="93"/>
                </a:lnTo>
                <a:close/>
              </a:path>
            </a:pathLst>
          </a:custGeom>
          <a:solidFill>
            <a:srgbClr val="D9534F"/>
          </a:solidFill>
        </p:spPr>
        <p:txBody>
          <a:bodyPr/>
          <a:p/>
        </p:txBody>
      </p:sp>
      <p:sp>
        <p:nvSpPr>
          <p:cNvPr id="639" name="圆角矩形 638"/>
          <p:cNvSpPr/>
          <p:nvPr/>
        </p:nvSpPr>
        <p:spPr>
          <a:xfrm>
            <a:off x="552450" y="5019675"/>
            <a:ext cx="1371600" cy="228600"/>
          </a:xfrm>
          <a:prstGeom prst="roundRect">
            <a:avLst>
              <a:gd name="adj" fmla="val 12500"/>
            </a:avLst>
          </a:prstGeom>
          <a:solidFill>
            <a:srgbClr val="D9534F"/>
          </a:solidFill>
        </p:spPr>
        <p:txBody>
          <a:bodyPr/>
          <a:p/>
        </p:txBody>
      </p:sp>
      <p:sp>
        <p:nvSpPr>
          <p:cNvPr id="640" name="文本框 639" descr="{&quot;isTemplate&quot;:true,&quot;type&quot;:&quot;text&quot;}"/>
          <p:cNvSpPr txBox="1"/>
          <p:nvPr/>
        </p:nvSpPr>
        <p:spPr>
          <a:xfrm>
            <a:off x="628650" y="5038725"/>
            <a:ext cx="1219200" cy="190500"/>
          </a:xfrm>
          <a:prstGeom prst="rect">
            <a:avLst/>
          </a:prstGeom>
        </p:spPr>
        <p:txBody>
          <a:bodyPr wrap="none" lIns="0" tIns="0" rIns="0" bIns="0"/>
          <a:p>
            <a:pPr>
              <a:lnSpc>
                <a:spcPct val="100000"/>
              </a:lnSpc>
            </a:pPr>
            <a:r>
              <a:rPr lang="zh-CN" sz="1200" b="1">
                <a:solidFill>
                  <a:srgbClr val="FFFFFF"/>
                </a:solidFill>
                <a:latin typeface="微软雅黑" panose="020B0503020204020204" charset="-122"/>
                <a:ea typeface="微软雅黑" panose="020B0503020204020204" charset="-122"/>
              </a:rPr>
              <a:t>步骤四　排污去向</a:t>
            </a:r>
            <a:endParaRPr lang="zh-CN" sz="1200" b="1">
              <a:solidFill>
                <a:srgbClr val="FFFFFF"/>
              </a:solidFill>
              <a:latin typeface="微软雅黑" panose="020B0503020204020204" charset="-122"/>
              <a:ea typeface="微软雅黑" panose="020B0503020204020204" charset="-122"/>
            </a:endParaRPr>
          </a:p>
        </p:txBody>
      </p:sp>
      <p:sp>
        <p:nvSpPr>
          <p:cNvPr id="641" name="文本框 640" descr="{&quot;isTemplate&quot;:true,&quot;type&quot;:&quot;text&quot;}"/>
          <p:cNvSpPr txBox="1"/>
          <p:nvPr/>
        </p:nvSpPr>
        <p:spPr>
          <a:xfrm>
            <a:off x="2019300" y="5029200"/>
            <a:ext cx="4152900" cy="209550"/>
          </a:xfrm>
          <a:prstGeom prst="rect">
            <a:avLst/>
          </a:prstGeom>
        </p:spPr>
        <p:txBody>
          <a:bodyPr wrap="none" lIns="0" tIns="0" rIns="0" bIns="0"/>
          <a:p>
            <a:pPr>
              <a:lnSpc>
                <a:spcPct val="100000"/>
              </a:lnSpc>
            </a:pPr>
            <a:r>
              <a:rPr lang="zh-CN" sz="1350">
                <a:solidFill>
                  <a:srgbClr val="4A5568"/>
                </a:solidFill>
                <a:latin typeface="微软雅黑" panose="020B0503020204020204" charset="-122"/>
                <a:ea typeface="微软雅黑" panose="020B0503020204020204" charset="-122"/>
              </a:rPr>
              <a:t>厂内回用与处理损失</a:t>
            </a:r>
            <a:r>
              <a:rPr lang="en-US" sz="1350">
                <a:solidFill>
                  <a:srgbClr val="4A5568"/>
                </a:solidFill>
                <a:latin typeface="微软雅黑" panose="020B0503020204020204" charset="-122"/>
                <a:ea typeface="微软雅黑" panose="020B0503020204020204" charset="-122"/>
              </a:rPr>
              <a:t> → </a:t>
            </a:r>
            <a:r>
              <a:rPr lang="zh-CN" sz="1350">
                <a:solidFill>
                  <a:srgbClr val="4A5568"/>
                </a:solidFill>
                <a:latin typeface="微软雅黑" panose="020B0503020204020204" charset="-122"/>
                <a:ea typeface="微软雅黑" panose="020B0503020204020204" charset="-122"/>
              </a:rPr>
              <a:t>城市污水回流</a:t>
            </a:r>
            <a:r>
              <a:rPr lang="en-US" sz="1350">
                <a:solidFill>
                  <a:srgbClr val="4A5568"/>
                </a:solidFill>
                <a:latin typeface="微软雅黑" panose="020B0503020204020204" charset="-122"/>
                <a:ea typeface="微软雅黑" panose="020B0503020204020204" charset="-122"/>
              </a:rPr>
              <a:t> </a:t>
            </a:r>
            <a:r>
              <a:rPr lang="zh-CN" sz="1350">
                <a:solidFill>
                  <a:srgbClr val="4A5568"/>
                </a:solidFill>
                <a:latin typeface="微软雅黑" panose="020B0503020204020204" charset="-122"/>
                <a:ea typeface="微软雅黑" panose="020B0503020204020204" charset="-122"/>
              </a:rPr>
              <a:t>或</a:t>
            </a:r>
            <a:r>
              <a:rPr lang="en-US" sz="1350">
                <a:solidFill>
                  <a:srgbClr val="4A5568"/>
                </a:solidFill>
                <a:latin typeface="微软雅黑" panose="020B0503020204020204" charset="-122"/>
                <a:ea typeface="微软雅黑" panose="020B0503020204020204" charset="-122"/>
              </a:rPr>
              <a:t> </a:t>
            </a:r>
            <a:r>
              <a:rPr lang="zh-CN" sz="1350">
                <a:solidFill>
                  <a:srgbClr val="4A5568"/>
                </a:solidFill>
                <a:latin typeface="微软雅黑" panose="020B0503020204020204" charset="-122"/>
                <a:ea typeface="微软雅黑" panose="020B0503020204020204" charset="-122"/>
              </a:rPr>
              <a:t>独立水质约束</a:t>
            </a:r>
            <a:endParaRPr lang="zh-CN" sz="1350">
              <a:solidFill>
                <a:srgbClr val="4A5568"/>
              </a:solidFill>
              <a:latin typeface="微软雅黑" panose="020B0503020204020204" charset="-122"/>
              <a:ea typeface="微软雅黑" panose="020B0503020204020204" charset="-122"/>
            </a:endParaRPr>
          </a:p>
        </p:txBody>
      </p:sp>
      <p:sp>
        <p:nvSpPr>
          <p:cNvPr id="642" name="文本框 641" descr="{&quot;isTemplate&quot;:true,&quot;type&quot;:&quot;text&quot;}"/>
          <p:cNvSpPr txBox="1"/>
          <p:nvPr/>
        </p:nvSpPr>
        <p:spPr>
          <a:xfrm>
            <a:off x="552450" y="5286375"/>
            <a:ext cx="7239000" cy="295275"/>
          </a:xfrm>
          <a:prstGeom prst="rect">
            <a:avLst/>
          </a:prstGeom>
        </p:spPr>
        <p:txBody>
          <a:bodyPr wrap="none" lIns="0" tIns="0" rIns="0" bIns="0"/>
          <a:p>
            <a:pPr>
              <a:lnSpc>
                <a:spcPct val="150000"/>
              </a:lnSpc>
            </a:pPr>
            <a:r>
              <a:rPr lang="zh-CN" sz="1275">
                <a:solidFill>
                  <a:srgbClr val="1A2230"/>
                </a:solidFill>
                <a:latin typeface="微软雅黑" panose="020B0503020204020204" charset="-122"/>
                <a:ea typeface="微软雅黑" panose="020B0503020204020204" charset="-122"/>
              </a:rPr>
              <a:t>排污不自动等于污水回流。先算厂内回收与损失，剩余接入污水系统；水质超标时加独立约束。</a:t>
            </a:r>
            <a:endParaRPr lang="zh-CN" sz="1275">
              <a:solidFill>
                <a:srgbClr val="1A2230"/>
              </a:solidFill>
              <a:latin typeface="微软雅黑" panose="020B0503020204020204" charset="-122"/>
              <a:ea typeface="微软雅黑" panose="020B0503020204020204" charset="-122"/>
            </a:endParaRPr>
          </a:p>
        </p:txBody>
      </p:sp>
      <p:sp>
        <p:nvSpPr>
          <p:cNvPr id="643" name="圆角矩形 642"/>
          <p:cNvSpPr/>
          <p:nvPr/>
        </p:nvSpPr>
        <p:spPr>
          <a:xfrm>
            <a:off x="8039100" y="1352550"/>
            <a:ext cx="3771900" cy="2571750"/>
          </a:xfrm>
          <a:prstGeom prst="roundRect">
            <a:avLst>
              <a:gd name="adj" fmla="val 2222"/>
            </a:avLst>
          </a:prstGeom>
          <a:solidFill>
            <a:srgbClr val="0E3F8C"/>
          </a:solidFill>
        </p:spPr>
        <p:txBody>
          <a:bodyPr/>
          <a:p/>
        </p:txBody>
      </p:sp>
      <p:sp>
        <p:nvSpPr>
          <p:cNvPr id="644" name="任意多边形 643"/>
          <p:cNvSpPr/>
          <p:nvPr/>
        </p:nvSpPr>
        <p:spPr>
          <a:xfrm>
            <a:off x="8191500" y="1504950"/>
            <a:ext cx="3514725" cy="247650"/>
          </a:xfrm>
          <a:custGeom>
            <a:avLst/>
            <a:gdLst/>
            <a:ahLst/>
            <a:cxnLst/>
            <a:pathLst>
              <a:path w="369" h="26">
                <a:moveTo>
                  <a:pt x="0" y="0"/>
                </a:moveTo>
                <a:lnTo>
                  <a:pt x="5" y="0"/>
                </a:lnTo>
                <a:lnTo>
                  <a:pt x="5" y="26"/>
                </a:lnTo>
                <a:lnTo>
                  <a:pt x="0" y="26"/>
                </a:lnTo>
                <a:close/>
              </a:path>
            </a:pathLst>
          </a:custGeom>
          <a:solidFill>
            <a:srgbClr val="FFC107"/>
          </a:solidFill>
        </p:spPr>
        <p:txBody>
          <a:bodyPr/>
          <a:p/>
        </p:txBody>
      </p:sp>
      <p:pic>
        <p:nvPicPr>
          <p:cNvPr id="645" name="图片 644"/>
          <p:cNvPicPr>
            <a:picLocks noChangeAspect="1"/>
          </p:cNvPicPr>
          <p:nvPr/>
        </p:nvPicPr>
        <p:blipFill>
          <a:blip/>
          <a:stretch>
            <a:fillRect/>
          </a:stretch>
        </p:blipFill>
        <p:spPr>
          <a:xfrm>
            <a:off x="8334375" y="1543050"/>
            <a:ext cx="180975" cy="180975"/>
          </a:xfrm>
          <a:prstGeom prst="rect">
            <a:avLst/>
          </a:prstGeom>
        </p:spPr>
      </p:pic>
      <p:sp>
        <p:nvSpPr>
          <p:cNvPr id="646" name="文本框 645" descr="{&quot;isTemplate&quot;:true,&quot;type&quot;:&quot;text&quot;}"/>
          <p:cNvSpPr txBox="1"/>
          <p:nvPr/>
        </p:nvSpPr>
        <p:spPr>
          <a:xfrm>
            <a:off x="8591550" y="1504950"/>
            <a:ext cx="1200150" cy="247650"/>
          </a:xfrm>
          <a:prstGeom prst="rect">
            <a:avLst/>
          </a:prstGeom>
        </p:spPr>
        <p:txBody>
          <a:bodyPr wrap="none" lIns="0" tIns="0" rIns="0" bIns="0"/>
          <a:p>
            <a:pPr>
              <a:lnSpc>
                <a:spcPct val="100000"/>
              </a:lnSpc>
            </a:pPr>
            <a:r>
              <a:rPr lang="zh-CN" sz="1575" b="1">
                <a:solidFill>
                  <a:srgbClr val="FFFFFF"/>
                </a:solidFill>
                <a:latin typeface="微软雅黑" panose="020B0503020204020204" charset="-122"/>
                <a:ea typeface="微软雅黑" panose="020B0503020204020204" charset="-122"/>
              </a:rPr>
              <a:t>关键过程参数</a:t>
            </a:r>
            <a:endParaRPr lang="zh-CN" sz="1575" b="1">
              <a:solidFill>
                <a:srgbClr val="FFFFFF"/>
              </a:solidFill>
              <a:latin typeface="微软雅黑" panose="020B0503020204020204" charset="-122"/>
              <a:ea typeface="微软雅黑" panose="020B0503020204020204" charset="-122"/>
            </a:endParaRPr>
          </a:p>
        </p:txBody>
      </p:sp>
      <p:sp>
        <p:nvSpPr>
          <p:cNvPr id="647" name="文本框 646" descr="{&quot;isTemplate&quot;:true,&quot;type&quot;:&quot;text&quot;}"/>
          <p:cNvSpPr txBox="1"/>
          <p:nvPr/>
        </p:nvSpPr>
        <p:spPr>
          <a:xfrm>
            <a:off x="8191500" y="1828800"/>
            <a:ext cx="3467100" cy="285750"/>
          </a:xfrm>
          <a:prstGeom prst="rect">
            <a:avLst/>
          </a:prstGeom>
        </p:spPr>
        <p:txBody>
          <a:bodyPr wrap="none" lIns="0" tIns="0" rIns="0" bIns="0"/>
          <a:p>
            <a:pPr>
              <a:lnSpc>
                <a:spcPct val="145000"/>
              </a:lnSpc>
            </a:pPr>
            <a:r>
              <a:rPr lang="zh-CN" sz="1275">
                <a:solidFill>
                  <a:srgbClr val="E4EDF9"/>
                </a:solidFill>
                <a:latin typeface="微软雅黑" panose="020B0503020204020204" charset="-122"/>
                <a:ea typeface="微软雅黑" panose="020B0503020204020204" charset="-122"/>
              </a:rPr>
              <a:t>·　</a:t>
            </a:r>
            <a:r>
              <a:rPr lang="en-US" sz="1275">
                <a:solidFill>
                  <a:srgbClr val="E4EDF9"/>
                </a:solidFill>
                <a:latin typeface="微软雅黑" panose="020B0503020204020204" charset="-122"/>
                <a:ea typeface="微软雅黑" panose="020B0503020204020204" charset="-122"/>
              </a:rPr>
              <a:t>IT </a:t>
            </a:r>
            <a:r>
              <a:rPr lang="zh-CN" sz="1275">
                <a:solidFill>
                  <a:srgbClr val="E4EDF9"/>
                </a:solidFill>
                <a:latin typeface="微软雅黑" panose="020B0503020204020204" charset="-122"/>
                <a:ea typeface="微软雅黑" panose="020B0503020204020204" charset="-122"/>
              </a:rPr>
              <a:t>容量与负载率：电耗与热负荷的规模基数</a:t>
            </a:r>
            <a:endParaRPr lang="zh-CN" sz="1275">
              <a:solidFill>
                <a:srgbClr val="E4EDF9"/>
              </a:solidFill>
              <a:latin typeface="微软雅黑" panose="020B0503020204020204" charset="-122"/>
              <a:ea typeface="微软雅黑" panose="020B0503020204020204" charset="-122"/>
            </a:endParaRPr>
          </a:p>
        </p:txBody>
      </p:sp>
      <p:sp>
        <p:nvSpPr>
          <p:cNvPr id="648" name="文本框 647" descr="{&quot;isTemplate&quot;:true,&quot;type&quot;:&quot;text&quot;}"/>
          <p:cNvSpPr txBox="1"/>
          <p:nvPr/>
        </p:nvSpPr>
        <p:spPr>
          <a:xfrm>
            <a:off x="8191500" y="2181225"/>
            <a:ext cx="3467100" cy="285750"/>
          </a:xfrm>
          <a:prstGeom prst="rect">
            <a:avLst/>
          </a:prstGeom>
        </p:spPr>
        <p:txBody>
          <a:bodyPr wrap="none" lIns="0" tIns="0" rIns="0" bIns="0"/>
          <a:p>
            <a:pPr>
              <a:lnSpc>
                <a:spcPct val="145000"/>
              </a:lnSpc>
            </a:pPr>
            <a:r>
              <a:rPr lang="zh-CN" sz="1275">
                <a:solidFill>
                  <a:srgbClr val="E4EDF9"/>
                </a:solidFill>
                <a:latin typeface="微软雅黑" panose="020B0503020204020204" charset="-122"/>
                <a:ea typeface="微软雅黑" panose="020B0503020204020204" charset="-122"/>
              </a:rPr>
              <a:t>·　</a:t>
            </a:r>
            <a:r>
              <a:rPr lang="en-US" sz="1275">
                <a:solidFill>
                  <a:srgbClr val="E4EDF9"/>
                </a:solidFill>
                <a:latin typeface="微软雅黑" panose="020B0503020204020204" charset="-122"/>
                <a:ea typeface="微软雅黑" panose="020B0503020204020204" charset="-122"/>
              </a:rPr>
              <a:t>PUE</a:t>
            </a:r>
            <a:r>
              <a:rPr lang="zh-CN" sz="1275">
                <a:solidFill>
                  <a:srgbClr val="E4EDF9"/>
                </a:solidFill>
                <a:latin typeface="微软雅黑" panose="020B0503020204020204" charset="-122"/>
                <a:ea typeface="微软雅黑" panose="020B0503020204020204" charset="-122"/>
              </a:rPr>
              <a:t>：</a:t>
            </a:r>
            <a:r>
              <a:rPr lang="en-US" sz="1275">
                <a:solidFill>
                  <a:srgbClr val="E4EDF9"/>
                </a:solidFill>
                <a:latin typeface="微软雅黑" panose="020B0503020204020204" charset="-122"/>
                <a:ea typeface="微软雅黑" panose="020B0503020204020204" charset="-122"/>
              </a:rPr>
              <a:t>IT </a:t>
            </a:r>
            <a:r>
              <a:rPr lang="zh-CN" sz="1275">
                <a:solidFill>
                  <a:srgbClr val="E4EDF9"/>
                </a:solidFill>
                <a:latin typeface="微软雅黑" panose="020B0503020204020204" charset="-122"/>
                <a:ea typeface="微软雅黑" panose="020B0503020204020204" charset="-122"/>
              </a:rPr>
              <a:t>能耗折算为设施总能耗的系数</a:t>
            </a:r>
            <a:endParaRPr lang="zh-CN" sz="1275">
              <a:solidFill>
                <a:srgbClr val="E4EDF9"/>
              </a:solidFill>
              <a:latin typeface="微软雅黑" panose="020B0503020204020204" charset="-122"/>
              <a:ea typeface="微软雅黑" panose="020B0503020204020204" charset="-122"/>
            </a:endParaRPr>
          </a:p>
        </p:txBody>
      </p:sp>
      <p:sp>
        <p:nvSpPr>
          <p:cNvPr id="649" name="文本框 648" descr="{&quot;isTemplate&quot;:true,&quot;type&quot;:&quot;text&quot;}"/>
          <p:cNvSpPr txBox="1"/>
          <p:nvPr/>
        </p:nvSpPr>
        <p:spPr>
          <a:xfrm>
            <a:off x="8191500" y="2533650"/>
            <a:ext cx="3467100" cy="285750"/>
          </a:xfrm>
          <a:prstGeom prst="rect">
            <a:avLst/>
          </a:prstGeom>
        </p:spPr>
        <p:txBody>
          <a:bodyPr wrap="none" lIns="0" tIns="0" rIns="0" bIns="0"/>
          <a:p>
            <a:pPr>
              <a:lnSpc>
                <a:spcPct val="145000"/>
              </a:lnSpc>
            </a:pPr>
            <a:r>
              <a:rPr lang="zh-CN" sz="1275">
                <a:solidFill>
                  <a:srgbClr val="E4EDF9"/>
                </a:solidFill>
                <a:latin typeface="微软雅黑" panose="020B0503020204020204" charset="-122"/>
                <a:ea typeface="微软雅黑" panose="020B0503020204020204" charset="-122"/>
              </a:rPr>
              <a:t>·　湿球温度：影响潜热比例与蒸发强度</a:t>
            </a:r>
            <a:endParaRPr lang="zh-CN" sz="1275">
              <a:solidFill>
                <a:srgbClr val="E4EDF9"/>
              </a:solidFill>
              <a:latin typeface="微软雅黑" panose="020B0503020204020204" charset="-122"/>
              <a:ea typeface="微软雅黑" panose="020B0503020204020204" charset="-122"/>
            </a:endParaRPr>
          </a:p>
        </p:txBody>
      </p:sp>
      <p:sp>
        <p:nvSpPr>
          <p:cNvPr id="650" name="文本框 649" descr="{&quot;isTemplate&quot;:true,&quot;type&quot;:&quot;text&quot;}"/>
          <p:cNvSpPr txBox="1"/>
          <p:nvPr/>
        </p:nvSpPr>
        <p:spPr>
          <a:xfrm>
            <a:off x="8191500" y="2886075"/>
            <a:ext cx="3467100" cy="285750"/>
          </a:xfrm>
          <a:prstGeom prst="rect">
            <a:avLst/>
          </a:prstGeom>
        </p:spPr>
        <p:txBody>
          <a:bodyPr wrap="none" lIns="0" tIns="0" rIns="0" bIns="0"/>
          <a:p>
            <a:pPr>
              <a:lnSpc>
                <a:spcPct val="145000"/>
              </a:lnSpc>
            </a:pPr>
            <a:r>
              <a:rPr lang="zh-CN" sz="1275">
                <a:solidFill>
                  <a:srgbClr val="E4EDF9"/>
                </a:solidFill>
                <a:latin typeface="微软雅黑" panose="020B0503020204020204" charset="-122"/>
                <a:ea typeface="微软雅黑" panose="020B0503020204020204" charset="-122"/>
              </a:rPr>
              <a:t>·　浓缩倍数</a:t>
            </a:r>
            <a:r>
              <a:rPr lang="en-US" sz="1275">
                <a:solidFill>
                  <a:srgbClr val="E4EDF9"/>
                </a:solidFill>
                <a:latin typeface="微软雅黑" panose="020B0503020204020204" charset="-122"/>
                <a:ea typeface="微软雅黑" panose="020B0503020204020204" charset="-122"/>
              </a:rPr>
              <a:t> CoC</a:t>
            </a:r>
            <a:r>
              <a:rPr lang="zh-CN" sz="1275">
                <a:solidFill>
                  <a:srgbClr val="E4EDF9"/>
                </a:solidFill>
                <a:latin typeface="微软雅黑" panose="020B0503020204020204" charset="-122"/>
                <a:ea typeface="微软雅黑" panose="020B0503020204020204" charset="-122"/>
              </a:rPr>
              <a:t>：决定排污量与水质上限</a:t>
            </a:r>
            <a:endParaRPr lang="zh-CN" sz="1275">
              <a:solidFill>
                <a:srgbClr val="E4EDF9"/>
              </a:solidFill>
              <a:latin typeface="微软雅黑" panose="020B0503020204020204" charset="-122"/>
              <a:ea typeface="微软雅黑" panose="020B0503020204020204" charset="-122"/>
            </a:endParaRPr>
          </a:p>
        </p:txBody>
      </p:sp>
      <p:sp>
        <p:nvSpPr>
          <p:cNvPr id="651" name="文本框 650" descr="{&quot;isTemplate&quot;:true,&quot;type&quot;:&quot;text&quot;}"/>
          <p:cNvSpPr txBox="1"/>
          <p:nvPr/>
        </p:nvSpPr>
        <p:spPr>
          <a:xfrm>
            <a:off x="8191500" y="3238500"/>
            <a:ext cx="3467100" cy="285750"/>
          </a:xfrm>
          <a:prstGeom prst="rect">
            <a:avLst/>
          </a:prstGeom>
        </p:spPr>
        <p:txBody>
          <a:bodyPr wrap="none" lIns="0" tIns="0" rIns="0" bIns="0"/>
          <a:p>
            <a:pPr>
              <a:lnSpc>
                <a:spcPct val="145000"/>
              </a:lnSpc>
            </a:pPr>
            <a:r>
              <a:rPr lang="zh-CN" sz="1275">
                <a:solidFill>
                  <a:srgbClr val="E4EDF9"/>
                </a:solidFill>
                <a:latin typeface="微软雅黑" panose="020B0503020204020204" charset="-122"/>
                <a:ea typeface="微软雅黑" panose="020B0503020204020204" charset="-122"/>
              </a:rPr>
              <a:t>·　厂内回用率：决定实际进入城市污水的水量</a:t>
            </a:r>
            <a:endParaRPr lang="zh-CN" sz="1275">
              <a:solidFill>
                <a:srgbClr val="E4EDF9"/>
              </a:solidFill>
              <a:latin typeface="微软雅黑" panose="020B0503020204020204" charset="-122"/>
              <a:ea typeface="微软雅黑" panose="020B0503020204020204" charset="-122"/>
            </a:endParaRPr>
          </a:p>
        </p:txBody>
      </p:sp>
      <p:sp>
        <p:nvSpPr>
          <p:cNvPr id="652" name="圆角矩形 651"/>
          <p:cNvSpPr/>
          <p:nvPr/>
        </p:nvSpPr>
        <p:spPr>
          <a:xfrm>
            <a:off x="8039100" y="4038600"/>
            <a:ext cx="3771900" cy="1752600"/>
          </a:xfrm>
          <a:prstGeom prst="roundRect">
            <a:avLst>
              <a:gd name="adj" fmla="val 3261"/>
            </a:avLst>
          </a:prstGeom>
          <a:solidFill>
            <a:srgbClr val="F7F9FC"/>
          </a:solidFill>
          <a:ln w="12700">
            <a:solidFill>
              <a:srgbClr val="D6DCE5"/>
            </a:solidFill>
            <a:prstDash val="solid"/>
          </a:ln>
        </p:spPr>
        <p:txBody>
          <a:bodyPr/>
          <a:p/>
        </p:txBody>
      </p:sp>
      <p:sp>
        <p:nvSpPr>
          <p:cNvPr id="653" name="任意多边形 652"/>
          <p:cNvSpPr/>
          <p:nvPr/>
        </p:nvSpPr>
        <p:spPr>
          <a:xfrm>
            <a:off x="8191500" y="4191000"/>
            <a:ext cx="3514725" cy="247650"/>
          </a:xfrm>
          <a:custGeom>
            <a:avLst/>
            <a:gdLst/>
            <a:ahLst/>
            <a:cxnLst/>
            <a:pathLst>
              <a:path w="369" h="26">
                <a:moveTo>
                  <a:pt x="0" y="0"/>
                </a:moveTo>
                <a:lnTo>
                  <a:pt x="5" y="0"/>
                </a:lnTo>
                <a:lnTo>
                  <a:pt x="5" y="26"/>
                </a:lnTo>
                <a:lnTo>
                  <a:pt x="0" y="26"/>
                </a:lnTo>
                <a:close/>
              </a:path>
            </a:pathLst>
          </a:custGeom>
          <a:solidFill>
            <a:srgbClr val="1E4FA8"/>
          </a:solidFill>
        </p:spPr>
        <p:txBody>
          <a:bodyPr/>
          <a:p/>
        </p:txBody>
      </p:sp>
      <p:pic>
        <p:nvPicPr>
          <p:cNvPr id="654" name="图片 653"/>
          <p:cNvPicPr>
            <a:picLocks noChangeAspect="1"/>
          </p:cNvPicPr>
          <p:nvPr/>
        </p:nvPicPr>
        <p:blipFill>
          <a:blip/>
          <a:stretch>
            <a:fillRect/>
          </a:stretch>
        </p:blipFill>
        <p:spPr>
          <a:xfrm>
            <a:off x="8334375" y="4229100"/>
            <a:ext cx="180975" cy="180975"/>
          </a:xfrm>
          <a:prstGeom prst="rect">
            <a:avLst/>
          </a:prstGeom>
        </p:spPr>
      </p:pic>
      <p:sp>
        <p:nvSpPr>
          <p:cNvPr id="655" name="文本框 654" descr="{&quot;isTemplate&quot;:true,&quot;type&quot;:&quot;text&quot;}"/>
          <p:cNvSpPr txBox="1"/>
          <p:nvPr/>
        </p:nvSpPr>
        <p:spPr>
          <a:xfrm>
            <a:off x="8591550" y="4191000"/>
            <a:ext cx="2000250"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为什么要区分两层架构</a:t>
            </a:r>
            <a:endParaRPr lang="zh-CN" sz="1575" b="1">
              <a:solidFill>
                <a:srgbClr val="0E3F8C"/>
              </a:solidFill>
              <a:latin typeface="微软雅黑" panose="020B0503020204020204" charset="-122"/>
              <a:ea typeface="微软雅黑" panose="020B0503020204020204" charset="-122"/>
            </a:endParaRPr>
          </a:p>
        </p:txBody>
      </p:sp>
      <p:sp>
        <p:nvSpPr>
          <p:cNvPr id="656" name="文本框 655" descr="{&quot;isTemplate&quot;:true,&quot;type&quot;:&quot;text&quot;}"/>
          <p:cNvSpPr txBox="1"/>
          <p:nvPr/>
        </p:nvSpPr>
        <p:spPr>
          <a:xfrm>
            <a:off x="8191500" y="4514850"/>
            <a:ext cx="3467100" cy="87630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液冷不等于节水：液冷改变热捕集效率，是否耗水取决于末端排热。两层分开建模，区分技术效率与供水约束。</a:t>
            </a:r>
            <a:endParaRPr lang="zh-CN" sz="1275">
              <a:solidFill>
                <a:srgbClr val="1A2230"/>
              </a:solidFill>
              <a:latin typeface="微软雅黑" panose="020B0503020204020204" charset="-122"/>
              <a:ea typeface="微软雅黑" panose="020B0503020204020204" charset="-122"/>
            </a:endParaRPr>
          </a:p>
        </p:txBody>
      </p:sp>
      <p:sp>
        <p:nvSpPr>
          <p:cNvPr id="657" name="任意多边形 656"/>
          <p:cNvSpPr/>
          <p:nvPr/>
        </p:nvSpPr>
        <p:spPr>
          <a:xfrm>
            <a:off x="0" y="586740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658" name="文本框 657" descr="{&quot;isTemplate&quot;:true,&quot;type&quot;:&quot;text&quot;}"/>
          <p:cNvSpPr txBox="1"/>
          <p:nvPr/>
        </p:nvSpPr>
        <p:spPr>
          <a:xfrm>
            <a:off x="381000" y="598170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659" name="文本框 658" descr="{&quot;isTemplate&quot;:true,&quot;type&quot;:&quot;text&quot;}"/>
          <p:cNvSpPr txBox="1"/>
          <p:nvPr/>
        </p:nvSpPr>
        <p:spPr>
          <a:xfrm>
            <a:off x="11353800" y="598170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20 / 36</a:t>
            </a:r>
            <a:endParaRPr lang="en-US" sz="1050">
              <a:solidFill>
                <a:srgbClr val="1E4FA8"/>
              </a:solidFill>
              <a:latin typeface="微软雅黑" panose="020B0503020204020204" charset="-122"/>
              <a:ea typeface="微软雅黑" panose="020B0503020204020204" charset="-122"/>
            </a:endParaRPr>
          </a:p>
        </p:txBody>
      </p:sp>
      <p:sp>
        <p:nvSpPr>
          <p:cNvPr id="660" name="矩形 659"/>
          <p:cNvSpPr/>
          <p:nvPr/>
        </p:nvSpPr>
        <p:spPr>
          <a:xfrm>
            <a:off x="0" y="685800"/>
            <a:ext cx="57150" cy="1162050"/>
          </a:xfrm>
          <a:prstGeom prst="rect">
            <a:avLst/>
          </a:prstGeom>
          <a:solidFill>
            <a:srgbClr val="C9D6E8"/>
          </a:solidFill>
        </p:spPr>
        <p:txBody>
          <a:bodyPr/>
          <a:p/>
        </p:txBody>
      </p:sp>
      <p:sp>
        <p:nvSpPr>
          <p:cNvPr id="661" name="矩形 660"/>
          <p:cNvSpPr/>
          <p:nvPr/>
        </p:nvSpPr>
        <p:spPr>
          <a:xfrm>
            <a:off x="0" y="1847850"/>
            <a:ext cx="57150" cy="1162050"/>
          </a:xfrm>
          <a:prstGeom prst="rect">
            <a:avLst/>
          </a:prstGeom>
          <a:solidFill>
            <a:srgbClr val="C9D6E8"/>
          </a:solidFill>
        </p:spPr>
        <p:txBody>
          <a:bodyPr/>
          <a:p/>
        </p:txBody>
      </p:sp>
      <p:sp>
        <p:nvSpPr>
          <p:cNvPr id="662" name="矩形 661"/>
          <p:cNvSpPr/>
          <p:nvPr/>
        </p:nvSpPr>
        <p:spPr>
          <a:xfrm>
            <a:off x="0" y="3009900"/>
            <a:ext cx="57150" cy="1162050"/>
          </a:xfrm>
          <a:prstGeom prst="rect">
            <a:avLst/>
          </a:prstGeom>
          <a:solidFill>
            <a:srgbClr val="C9D6E8"/>
          </a:solidFill>
        </p:spPr>
        <p:txBody>
          <a:bodyPr/>
          <a:p/>
        </p:txBody>
      </p:sp>
      <p:sp>
        <p:nvSpPr>
          <p:cNvPr id="663" name="矩形 662"/>
          <p:cNvSpPr/>
          <p:nvPr/>
        </p:nvSpPr>
        <p:spPr>
          <a:xfrm>
            <a:off x="0" y="4171950"/>
            <a:ext cx="57150" cy="1162050"/>
          </a:xfrm>
          <a:prstGeom prst="rect">
            <a:avLst/>
          </a:prstGeom>
          <a:solidFill>
            <a:srgbClr val="FFC107"/>
          </a:solidFill>
        </p:spPr>
        <p:txBody>
          <a:bodyPr/>
          <a:p/>
        </p:txBody>
      </p:sp>
      <p:sp>
        <p:nvSpPr>
          <p:cNvPr id="664" name="矩形 663"/>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65"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recycle' style={{ fill: '#FFC107', width: 22, height: 22 }} /&gt;&#13;&#10;        &lt;/Box&gt;&#13;&#10;            &lt;Text style={{ fontSize: 29, fontWeight: 'bold', color: '#FFFFFF' }}&gt;城市系统层同时执行守恒、设施能力与服务优先级约束&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1&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顶层守恒与取用—消耗—回流分解并行，居民基本服务始终优先&lt;/Text&gt;&#13;&#10;        &lt;/Box&gt;&#13;&#10;        &lt;Box style={{ height: 92, background: '#E8EFF8', border: '1px solid #D6DCE5', borderRadius: 6, padding: 14, flexDirection: 'row', alignItems: 'center', gap: 20 }}&gt;&#13;&#10;            &lt;Box style={{ flexDirection: 'row', alignItems: 'center', gap: 14 }}&gt;&#13;&#10;                &lt;Box style={{ width: 250, height: 60 }}&gt;&#13;&#10;                    &lt;svg width={250} height={60} viewBox='0 0 250 60'&gt;&#13;&#10;                        &lt;rect x='0' y='18' width='44' height='26' rx='4' fill='#0B3A82' /&gt;&#13;&#10;                        &lt;text x='22' y='36' font-size='15' fill='#FFFFFF' font-family='Microsoft YaHei' text-anchor='middle' font-weight='bold'&gt;I&lt;/text&gt;&#13;&#10;                        &lt;path d='M44 31 L66 31' stroke='#3D7BD9' strokeWidth='2.5' /&gt;&#13;&#10;                        &lt;path d='M66 31 L76 9 M66 31 L76 31 M66 31 L76 53' stroke='#3D7BD9' strokeWidth='2' fill='none' /&gt;&#13;&#10;                        &lt;rect x='78' y='1' width='54' height='16' rx='3' fill='#1E4FA8' /&gt;&#13;&#10;                        &lt;text x='105' y='13' font-size='11' fill='#FFFFFF' font-family='Microsoft YaHei' text-anchor='middle'&gt;E 排放&lt;/text&gt;&#13;&#10;                        &lt;rect x='78' y='22' width='54' height='16' rx='3' fill='#D9534F' /&gt;&#13;&#10;                        &lt;text x='105' y='34' font-size='11' fill='#FFFFFF' font-family='Microsoft YaHei' text-anchor='middle'&gt;C 消耗&lt;/text&gt;&#13;&#10;                        &lt;rect x='78' y='43' width='54' height='16' rx='3' fill='#3D7BD9' /&gt;&#13;&#10;                        &lt;text x='105' y='55' font-size='11' fill='#FFFFFF' font-family='Microsoft YaHei' text-anchor='middle'&gt;ΔS 储量&lt;/text&gt;&#13;&#10;                        &lt;text x='140' y='13' font-size='11.5' fill='#5A6B80' font-family='Microsoft YaHei'&gt;排向环境&lt;/text&gt;&#13;&#10;                        &lt;text x='140' y='34' font-size='11.5' fill='#5A6B80' font-family='Microsoft YaHei'&gt;蒸发与产品含水&lt;/text&gt;&#13;&#10;                        &lt;text x='140' y='55' font-size='11.5' fill='#5A6B80' font-family='Microsoft YaHei'&gt;水库与管网储量变化&lt;/text&gt;&#13;&#10;                    &lt;/svg&gt;&#13;&#10;                &lt;/Box&gt;&#13;&#10;            &lt;/Box&gt;&#13;&#10;            &lt;Box style={{ flex: 1, flexDirection: 'column', gap: 3 }}&gt;&#13;&#10;                &lt;Text style={{ fontSize: 17, color: '#1A2230', lineHeight: 1.45 }}&gt;第 t 日外部输入 I 加内部回用 R，等于排放 E、消耗 C、储量变化 ΔS 与损失 L 之和；未满足需求单独记账。&lt;/Text&gt;&#13;&#10;            &lt;/Box&gt;&#13;&#10;        &lt;/Box&gt;&#13;&#10;        &lt;Box style={{ flexDirection: 'row', gap: 14, height: 118 }}&gt;&#13;&#10;            &lt;Box style={{ flex: 1, background: '#F7F9FC', border: '1px solid #D6DCE5', borderRadius: 6, padding: 12, flexDirection: 'column' }}&gt;&#13;&#10;                &lt;Box style={{ flexDirection: 'row', alignItems: 'center', gap: 8, marginBottom: 4, gap: 7 }}&gt;&#13;&#10;                    &lt;Box style={{ background: '#1E4FA8', borderRadius: 3, paddingLeft: 8, paddingRight: 8, paddingTop: 2, paddingBottom: 2 }}&gt;&#13;&#10;                        &lt;Text style={{ fontSize: 15, color: '#FFFFFF', fontWeight: 'bold' }}&gt;Withdrawal&lt;/Text&gt;&#13;&#10;                    &lt;/Box&gt;&#13;&#10;                    &lt;FAIcon name='arrow-right' style={{ fill: '#0E3F8C', width: 19, height: 19 }} /&gt;&#13;&#10;                    &lt;Text style={{ fontSize: 18, fontWeight: 'bold', color: '#0E3F8C' }}&gt;取水量&lt;/Text&gt;&#13;&#10;                &lt;/Box&gt;&#13;&#10;                &lt;Text style={{ fontSize: 16, color: '#4A5568', lineHeight: 1.45 }}&gt;从外部水源或管网取得的总水量，是资源压力的直接口径。&lt;/Text&gt;&#13;&#10;            &lt;/Box&gt;&#13;&#10;            &lt;Box style={{ flex: 1, background: '#F7F9FC', border: '1px solid #D6DCE5', borderRadius: 6, padding: 12, flexDirection: 'column' }}&gt;&#13;&#10;                &lt;Box style={{ flexDirection: 'row', alignItems: 'center', gap: 8, marginBottom: 4 }}&gt;&#13;&#10;                    &lt;Box style={{ background: '#D9534F', borderRadius: 3, paddingLeft: 8, paddingRight: 8, paddingTop: 2, paddingBottom: 2 }}&gt;&#13;&#10;                        &lt;Text style={{ fontSize: 15, color: '#FFFFFF', fontWeight: 'bold' }}&gt;Consumption&lt;/Text&gt;&#13;&#10;                    &lt;/Box&gt;&#13;&#10;                    &lt;FAIcon name='fire' style={{ fill: '#0E3F8C', width: 19, height: 19 }} /&gt;&#13;&#10;                    &lt;Text style={{ fontSize: 18, fontWeight: 'bold', color: '#0E3F8C' }}&gt;消耗量&lt;/Text&gt;&#13;&#10;                &lt;/Box&gt;&#13;&#10;                &lt;Text style={{ fontSize: 16, color: '#4A5568', lineHeight: 1.45 }}&gt;以蒸发等形式离开系统的部分，冷却蒸发是 AI 最典型的不可回收水量。&lt;/Text&gt;&#13;&#10;            &lt;/Box&gt;&#13;&#10;            &lt;Box style={{ flex: 1, background: '#F7F9FC', border: '1px solid #D6DCE5', borderRadius: 6, padding: 12, flexDirection: 'column' }}&gt;&#13;&#10;                &lt;Box style={{ flexDirection: 'row', alignItems: 'center', gap: 8, marginBottom: 4 }}&gt;&#13;&#10;                    &lt;Box style={{ background: '#3D7BD9', borderRadius: 3, paddingLeft: 8, paddingRight: 8, paddingTop: 2, paddingBottom: 2 }}&gt;&#13;&#10;                        &lt;Text style={{ fontSize: 15, color: '#FFFFFF', fontWeight: 'bold' }}&gt;Return Flow&lt;/Text&gt;&#13;&#10;                    &lt;/Box&gt;&#13;&#10;                    &lt;FAIcon name='recycle' style={{ fill: '#0E3F8C', width: 19, height: 19 }} /&gt;&#13;&#10;                    &lt;Text style={{ fontSize: 18, fontWeight: 'bold', color: '#0E3F8C' }}&gt;回流量&lt;/Text&gt;&#13;&#10;                &lt;/Box&gt;&#13;&#10;                &lt;Text style={{ fontSize: 16, color: '#4A5568', lineHeight: 1.45 }}&gt;返回污水系统的水量，构成再生水的潜在源量，水质决定其能否被有效利用。&lt;/Text&gt;&#13;&#10;            &lt;/Box&gt;&#13;&#10;        &lt;/Box&gt;&#13;&#10;        &lt;Box style={{ flexDirection: 'row', gap: 14, height: 198 }}&gt;&#13;&#10;            &lt;Box style={{ flex: 1, background: '#F7F9FC', border: '1px solid #D6DCE5', borderRadius: 6, padding: 14, flexDirection: 'column' }}&gt;&#13;&#10;                &lt;Box style={{ borderLeft: '5px solid #1E4FA8', paddingLeft: 10, marginBottom: 8 }}&gt;&#13;&#10;                    &lt;FAIcon name='list-check' style={{ fill: '#1E4FA8', width: 20, height: 20 }} /&gt;&#13;&#10;                    &lt;Text style={{ fontSize: 21, fontWeight: 'bold', color: '#0E3F8C' }}&gt;逐时间步执行的设施能力约束&lt;/Text&gt;&#13;&#10;                &lt;/Box&gt;&#13;&#10;                &lt;Box style={{ flexDirection: 'column', gap: 6 }}&gt;&#13;&#10;                    &lt;Text style={{ fontSize: 17, color: '#1A2230', lineHeight: 1.45 }}&gt;·　给水处理与局部接入能力：决定峰值时段能否把水送到 AI 节点&lt;/Text&gt;&#13;&#10;                    &lt;Text style={{ fontSize: 17, color: '#1A2230', lineHeight: 1.45 }}&gt;·　污水收集与处理能力：决定回流量增加后是否出现溢流风险&lt;/Text&gt;&#13;&#10;                    &lt;Text style={{ fontSize: 17, color: '#1A2230', lineHeight: 1.45 }}&gt;·　再生水深度处理、储存与输配能力：决定实际可供量而非目标份额&lt;/Text&gt;&#13;&#10;                    &lt;Text style={{ fontSize: 17, color: '#1A2230', lineHeight: 1.45 }}&gt;·　水质可接纳能力：TDS、温度与药剂负荷超标时触发独立约束&lt;/Text&gt;&#13;&#10;                &lt;/Box&gt;&#13;&#10;            &lt;/Box&gt;&#13;&#10;            &lt;Box style={{ flex: 1, background: '#0E3F8C', borderRadius: 6, padding: 14, flexDirection: 'column' }}&gt;&#13;&#10;                &lt;Box style={{ borderLeft: '5px solid #FFC107', paddingLeft: 10, marginBottom: 8 }}&gt;&#13;&#10;                    &lt;FAIcon name='users' style={{ fill: '#FFC107', width: 20, height: 20 }} /&gt;&#13;&#10;                    &lt;Text style={{ fontSize: 21, fontWeight: 'bold', color: '#FFFFFF' }}&gt;再生水分配与服务优先级机制&lt;/Text&gt;&#13;&#10;                &lt;/Box&gt;&#13;&#10;                &lt;Text style={{ fontSize: 17, color: '#E4EDF9', lineHeight: 1.5 }}&gt;目标份额只是意图，实际可供量受源量、深度处理、储量、输配与既有需求决定。满足居民与关键公共服务后，再按规则分配给 AI。&lt;/Text&gt;&#13;&#10;                &lt;Text style={{ fontSize: 17, color: '#FFC107', lineHeight: 1.5, marginTop: 8 }}&gt;分别记录目标份额、实际供应、淡水补足与未满足需求，承载容量以基本服务不被破坏为前提。&lt;/Text&gt;&#13;&#10;            &lt;/Box&gt;&#13;&#10;        &lt;/Box&gt;&#13;&#10;        &lt;Box style={{ background: '#E8EFF8', borderLeft: '5px solid #1E4FA8', paddingLeft: 18, paddingTop: 9, paddingBottom: 9 }}&gt;&#13;&#10;            &lt;Text style={{ fontSize: 19, color: '#1A2230' }}&gt;给排水与接入参数参照《室外给水设计标准》《室外排水设计标准》，WUE 按 GB/T 32910.6 统一统计边界&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1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666" name="矩形 665"/>
          <p:cNvSpPr/>
          <p:nvPr/>
        </p:nvSpPr>
        <p:spPr>
          <a:xfrm>
            <a:off x="0" y="0"/>
            <a:ext cx="12192000" cy="6858000"/>
          </a:xfrm>
          <a:prstGeom prst="rect">
            <a:avLst/>
          </a:prstGeom>
          <a:solidFill>
            <a:srgbClr val="FFFFFF"/>
          </a:solidFill>
        </p:spPr>
        <p:txBody>
          <a:bodyPr/>
          <a:p/>
        </p:txBody>
      </p:sp>
      <p:sp>
        <p:nvSpPr>
          <p:cNvPr id="667" name="矩形 666"/>
          <p:cNvSpPr/>
          <p:nvPr/>
        </p:nvSpPr>
        <p:spPr>
          <a:xfrm>
            <a:off x="0" y="0"/>
            <a:ext cx="12192000" cy="685800"/>
          </a:xfrm>
          <a:prstGeom prst="rect">
            <a:avLst/>
          </a:prstGeom>
          <a:solidFill>
            <a:srgbClr val="0E3F8C"/>
          </a:solidFill>
        </p:spPr>
        <p:txBody>
          <a:bodyPr/>
          <a:p/>
        </p:txBody>
      </p:sp>
      <p:sp>
        <p:nvSpPr>
          <p:cNvPr id="668" name="圆角矩形 667"/>
          <p:cNvSpPr/>
          <p:nvPr/>
        </p:nvSpPr>
        <p:spPr>
          <a:xfrm>
            <a:off x="381000" y="152400"/>
            <a:ext cx="381000" cy="381000"/>
          </a:xfrm>
          <a:prstGeom prst="roundRect">
            <a:avLst>
              <a:gd name="adj" fmla="val 25000"/>
            </a:avLst>
          </a:prstGeom>
          <a:solidFill>
            <a:srgbClr val="12489A"/>
          </a:solidFill>
        </p:spPr>
        <p:txBody>
          <a:bodyPr/>
          <a:p/>
        </p:txBody>
      </p:sp>
      <p:pic>
        <p:nvPicPr>
          <p:cNvPr id="669" name="图片 668"/>
          <p:cNvPicPr>
            <a:picLocks noChangeAspect="1"/>
          </p:cNvPicPr>
          <p:nvPr/>
        </p:nvPicPr>
        <p:blipFill>
          <a:blip/>
          <a:stretch>
            <a:fillRect/>
          </a:stretch>
        </p:blipFill>
        <p:spPr>
          <a:xfrm>
            <a:off x="466725" y="238125"/>
            <a:ext cx="209550" cy="209550"/>
          </a:xfrm>
          <a:prstGeom prst="rect">
            <a:avLst/>
          </a:prstGeom>
        </p:spPr>
      </p:pic>
      <p:sp>
        <p:nvSpPr>
          <p:cNvPr id="670" name="文本框 669" descr="{&quot;isTemplate&quot;:true,&quot;type&quot;:&quot;text&quot;}"/>
          <p:cNvSpPr txBox="1"/>
          <p:nvPr/>
        </p:nvSpPr>
        <p:spPr>
          <a:xfrm>
            <a:off x="895350" y="180975"/>
            <a:ext cx="662940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城市系统层同时执行守恒、设施能力与服务优先级约束</a:t>
            </a:r>
            <a:endParaRPr lang="zh-CN" sz="2175" b="1">
              <a:solidFill>
                <a:srgbClr val="FFFFFF"/>
              </a:solidFill>
              <a:latin typeface="微软雅黑" panose="020B0503020204020204" charset="-122"/>
              <a:ea typeface="微软雅黑" panose="020B0503020204020204" charset="-122"/>
            </a:endParaRPr>
          </a:p>
        </p:txBody>
      </p:sp>
      <p:sp>
        <p:nvSpPr>
          <p:cNvPr id="671" name="文本框 670"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672" name="圆角矩形 671"/>
          <p:cNvSpPr/>
          <p:nvPr/>
        </p:nvSpPr>
        <p:spPr>
          <a:xfrm>
            <a:off x="11468100" y="238125"/>
            <a:ext cx="342900" cy="219075"/>
          </a:xfrm>
          <a:prstGeom prst="roundRect">
            <a:avLst>
              <a:gd name="adj" fmla="val 13043"/>
            </a:avLst>
          </a:prstGeom>
          <a:solidFill>
            <a:srgbClr val="FFC107"/>
          </a:solidFill>
        </p:spPr>
        <p:txBody>
          <a:bodyPr/>
          <a:p/>
        </p:txBody>
      </p:sp>
      <p:sp>
        <p:nvSpPr>
          <p:cNvPr id="673" name="文本框 672"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21</a:t>
            </a:r>
            <a:endParaRPr lang="en-US" sz="1050" b="1">
              <a:solidFill>
                <a:srgbClr val="0B3A82"/>
              </a:solidFill>
              <a:latin typeface="微软雅黑" panose="020B0503020204020204" charset="-122"/>
              <a:ea typeface="微软雅黑" panose="020B0503020204020204" charset="-122"/>
            </a:endParaRPr>
          </a:p>
        </p:txBody>
      </p:sp>
      <p:sp>
        <p:nvSpPr>
          <p:cNvPr id="674" name="圆角矩形 673"/>
          <p:cNvSpPr/>
          <p:nvPr/>
        </p:nvSpPr>
        <p:spPr>
          <a:xfrm>
            <a:off x="381000" y="800100"/>
            <a:ext cx="11430000" cy="438150"/>
          </a:xfrm>
          <a:prstGeom prst="roundRect">
            <a:avLst>
              <a:gd name="adj" fmla="val 8696"/>
            </a:avLst>
          </a:prstGeom>
          <a:solidFill>
            <a:srgbClr val="0B3A82"/>
          </a:solidFill>
        </p:spPr>
        <p:txBody>
          <a:bodyPr/>
          <a:p/>
        </p:txBody>
      </p:sp>
      <p:sp>
        <p:nvSpPr>
          <p:cNvPr id="675" name="文本框 674"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顶层守恒与取用—消耗—回流分解并行，居民基本服务始终优先</a:t>
            </a:r>
            <a:endParaRPr lang="zh-CN" sz="1575">
              <a:solidFill>
                <a:srgbClr val="FFFFFF"/>
              </a:solidFill>
              <a:latin typeface="微软雅黑" panose="020B0503020204020204" charset="-122"/>
              <a:ea typeface="微软雅黑" panose="020B0503020204020204" charset="-122"/>
            </a:endParaRPr>
          </a:p>
        </p:txBody>
      </p:sp>
      <p:sp>
        <p:nvSpPr>
          <p:cNvPr id="676" name="圆角矩形 675"/>
          <p:cNvSpPr/>
          <p:nvPr/>
        </p:nvSpPr>
        <p:spPr>
          <a:xfrm>
            <a:off x="381000" y="1352550"/>
            <a:ext cx="11430000" cy="876300"/>
          </a:xfrm>
          <a:prstGeom prst="roundRect">
            <a:avLst>
              <a:gd name="adj" fmla="val 6522"/>
            </a:avLst>
          </a:prstGeom>
          <a:solidFill>
            <a:srgbClr val="E8EFF8"/>
          </a:solidFill>
          <a:ln w="12700">
            <a:solidFill>
              <a:srgbClr val="D6DCE5"/>
            </a:solidFill>
            <a:prstDash val="solid"/>
          </a:ln>
        </p:spPr>
        <p:txBody>
          <a:bodyPr/>
          <a:p/>
        </p:txBody>
      </p:sp>
      <p:pic>
        <p:nvPicPr>
          <p:cNvPr id="677" name="图片 67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4350" y="1504950"/>
            <a:ext cx="2381250" cy="571500"/>
          </a:xfrm>
          <a:prstGeom prst="rect">
            <a:avLst/>
          </a:prstGeom>
        </p:spPr>
      </p:pic>
      <p:sp>
        <p:nvSpPr>
          <p:cNvPr id="678" name="文本框 677" descr="{&quot;isTemplate&quot;:true,&quot;type&quot;:&quot;text&quot;}"/>
          <p:cNvSpPr txBox="1"/>
          <p:nvPr/>
        </p:nvSpPr>
        <p:spPr>
          <a:xfrm>
            <a:off x="3086100" y="1647825"/>
            <a:ext cx="8591550" cy="285750"/>
          </a:xfrm>
          <a:prstGeom prst="rect">
            <a:avLst/>
          </a:prstGeom>
        </p:spPr>
        <p:txBody>
          <a:bodyPr wrap="none" lIns="0" tIns="0" rIns="0" bIns="0"/>
          <a:p>
            <a:pPr>
              <a:lnSpc>
                <a:spcPct val="145000"/>
              </a:lnSpc>
            </a:pPr>
            <a:r>
              <a:rPr lang="zh-CN" sz="1275">
                <a:solidFill>
                  <a:srgbClr val="1A2230"/>
                </a:solidFill>
                <a:latin typeface="微软雅黑" panose="020B0503020204020204" charset="-122"/>
                <a:ea typeface="微软雅黑" panose="020B0503020204020204" charset="-122"/>
              </a:rPr>
              <a:t>第</a:t>
            </a:r>
            <a:r>
              <a:rPr lang="en-US" sz="1275">
                <a:solidFill>
                  <a:srgbClr val="1A2230"/>
                </a:solidFill>
                <a:latin typeface="微软雅黑" panose="020B0503020204020204" charset="-122"/>
                <a:ea typeface="微软雅黑" panose="020B0503020204020204" charset="-122"/>
              </a:rPr>
              <a:t> t </a:t>
            </a:r>
            <a:r>
              <a:rPr lang="zh-CN" sz="1275">
                <a:solidFill>
                  <a:srgbClr val="1A2230"/>
                </a:solidFill>
                <a:latin typeface="微软雅黑" panose="020B0503020204020204" charset="-122"/>
                <a:ea typeface="微软雅黑" panose="020B0503020204020204" charset="-122"/>
              </a:rPr>
              <a:t>日外部输入</a:t>
            </a:r>
            <a:r>
              <a:rPr lang="en-US" sz="1275">
                <a:solidFill>
                  <a:srgbClr val="1A2230"/>
                </a:solidFill>
                <a:latin typeface="微软雅黑" panose="020B0503020204020204" charset="-122"/>
                <a:ea typeface="微软雅黑" panose="020B0503020204020204" charset="-122"/>
              </a:rPr>
              <a:t> I </a:t>
            </a:r>
            <a:r>
              <a:rPr lang="zh-CN" sz="1275">
                <a:solidFill>
                  <a:srgbClr val="1A2230"/>
                </a:solidFill>
                <a:latin typeface="微软雅黑" panose="020B0503020204020204" charset="-122"/>
                <a:ea typeface="微软雅黑" panose="020B0503020204020204" charset="-122"/>
              </a:rPr>
              <a:t>加内部回用</a:t>
            </a:r>
            <a:r>
              <a:rPr lang="en-US" sz="1275">
                <a:solidFill>
                  <a:srgbClr val="1A2230"/>
                </a:solidFill>
                <a:latin typeface="微软雅黑" panose="020B0503020204020204" charset="-122"/>
                <a:ea typeface="微软雅黑" panose="020B0503020204020204" charset="-122"/>
              </a:rPr>
              <a:t> R</a:t>
            </a:r>
            <a:r>
              <a:rPr lang="zh-CN" sz="1275">
                <a:solidFill>
                  <a:srgbClr val="1A2230"/>
                </a:solidFill>
                <a:latin typeface="微软雅黑" panose="020B0503020204020204" charset="-122"/>
                <a:ea typeface="微软雅黑" panose="020B0503020204020204" charset="-122"/>
              </a:rPr>
              <a:t>，等于排放</a:t>
            </a:r>
            <a:r>
              <a:rPr lang="en-US" sz="1275">
                <a:solidFill>
                  <a:srgbClr val="1A2230"/>
                </a:solidFill>
                <a:latin typeface="微软雅黑" panose="020B0503020204020204" charset="-122"/>
                <a:ea typeface="微软雅黑" panose="020B0503020204020204" charset="-122"/>
              </a:rPr>
              <a:t> E</a:t>
            </a:r>
            <a:r>
              <a:rPr lang="zh-CN" sz="1275">
                <a:solidFill>
                  <a:srgbClr val="1A2230"/>
                </a:solidFill>
                <a:latin typeface="微软雅黑" panose="020B0503020204020204" charset="-122"/>
                <a:ea typeface="微软雅黑" panose="020B0503020204020204" charset="-122"/>
              </a:rPr>
              <a:t>、消耗</a:t>
            </a:r>
            <a:r>
              <a:rPr lang="en-US" sz="1275">
                <a:solidFill>
                  <a:srgbClr val="1A2230"/>
                </a:solidFill>
                <a:latin typeface="微软雅黑" panose="020B0503020204020204" charset="-122"/>
                <a:ea typeface="微软雅黑" panose="020B0503020204020204" charset="-122"/>
              </a:rPr>
              <a:t> C</a:t>
            </a:r>
            <a:r>
              <a:rPr lang="zh-CN" sz="1275">
                <a:solidFill>
                  <a:srgbClr val="1A2230"/>
                </a:solidFill>
                <a:latin typeface="微软雅黑" panose="020B0503020204020204" charset="-122"/>
                <a:ea typeface="微软雅黑" panose="020B0503020204020204" charset="-122"/>
              </a:rPr>
              <a:t>、储量变化</a:t>
            </a:r>
            <a:r>
              <a:rPr lang="en-US" sz="1275">
                <a:solidFill>
                  <a:srgbClr val="1A2230"/>
                </a:solidFill>
                <a:latin typeface="微软雅黑" panose="020B0503020204020204" charset="-122"/>
                <a:ea typeface="微软雅黑" panose="020B0503020204020204" charset="-122"/>
              </a:rPr>
              <a:t> ΔS </a:t>
            </a:r>
            <a:r>
              <a:rPr lang="zh-CN" sz="1275">
                <a:solidFill>
                  <a:srgbClr val="1A2230"/>
                </a:solidFill>
                <a:latin typeface="微软雅黑" panose="020B0503020204020204" charset="-122"/>
                <a:ea typeface="微软雅黑" panose="020B0503020204020204" charset="-122"/>
              </a:rPr>
              <a:t>与损失</a:t>
            </a:r>
            <a:r>
              <a:rPr lang="en-US" sz="1275">
                <a:solidFill>
                  <a:srgbClr val="1A2230"/>
                </a:solidFill>
                <a:latin typeface="微软雅黑" panose="020B0503020204020204" charset="-122"/>
                <a:ea typeface="微软雅黑" panose="020B0503020204020204" charset="-122"/>
              </a:rPr>
              <a:t> L </a:t>
            </a:r>
            <a:r>
              <a:rPr lang="zh-CN" sz="1275">
                <a:solidFill>
                  <a:srgbClr val="1A2230"/>
                </a:solidFill>
                <a:latin typeface="微软雅黑" panose="020B0503020204020204" charset="-122"/>
                <a:ea typeface="微软雅黑" panose="020B0503020204020204" charset="-122"/>
              </a:rPr>
              <a:t>之和；未满足需求单独记账。</a:t>
            </a:r>
            <a:endParaRPr lang="zh-CN" sz="1275">
              <a:solidFill>
                <a:srgbClr val="1A2230"/>
              </a:solidFill>
              <a:latin typeface="微软雅黑" panose="020B0503020204020204" charset="-122"/>
              <a:ea typeface="微软雅黑" panose="020B0503020204020204" charset="-122"/>
            </a:endParaRPr>
          </a:p>
        </p:txBody>
      </p:sp>
      <p:sp>
        <p:nvSpPr>
          <p:cNvPr id="679" name="圆角矩形 678"/>
          <p:cNvSpPr/>
          <p:nvPr/>
        </p:nvSpPr>
        <p:spPr>
          <a:xfrm>
            <a:off x="381000" y="2343150"/>
            <a:ext cx="3724275" cy="1123950"/>
          </a:xfrm>
          <a:prstGeom prst="roundRect">
            <a:avLst>
              <a:gd name="adj" fmla="val 5085"/>
            </a:avLst>
          </a:prstGeom>
          <a:solidFill>
            <a:srgbClr val="F7F9FC"/>
          </a:solidFill>
          <a:ln w="12700">
            <a:solidFill>
              <a:srgbClr val="D6DCE5"/>
            </a:solidFill>
            <a:prstDash val="solid"/>
          </a:ln>
        </p:spPr>
        <p:txBody>
          <a:bodyPr/>
          <a:p/>
        </p:txBody>
      </p:sp>
      <p:sp>
        <p:nvSpPr>
          <p:cNvPr id="680" name="圆角矩形 679"/>
          <p:cNvSpPr/>
          <p:nvPr/>
        </p:nvSpPr>
        <p:spPr>
          <a:xfrm>
            <a:off x="495300" y="2457450"/>
            <a:ext cx="990600" cy="209550"/>
          </a:xfrm>
          <a:prstGeom prst="roundRect">
            <a:avLst>
              <a:gd name="adj" fmla="val 13636"/>
            </a:avLst>
          </a:prstGeom>
          <a:solidFill>
            <a:srgbClr val="1E4FA8"/>
          </a:solidFill>
        </p:spPr>
        <p:txBody>
          <a:bodyPr/>
          <a:p/>
        </p:txBody>
      </p:sp>
      <p:sp>
        <p:nvSpPr>
          <p:cNvPr id="681" name="文本框 680" descr="{&quot;isTemplate&quot;:true,&quot;type&quot;:&quot;text&quot;}"/>
          <p:cNvSpPr txBox="1"/>
          <p:nvPr/>
        </p:nvSpPr>
        <p:spPr>
          <a:xfrm>
            <a:off x="571500" y="2476500"/>
            <a:ext cx="838200" cy="171450"/>
          </a:xfrm>
          <a:prstGeom prst="rect">
            <a:avLst/>
          </a:prstGeom>
        </p:spPr>
        <p:txBody>
          <a:bodyPr wrap="none" lIns="0" tIns="0" rIns="0" bIns="0"/>
          <a:p>
            <a:pPr>
              <a:lnSpc>
                <a:spcPct val="100000"/>
              </a:lnSpc>
            </a:pPr>
            <a:r>
              <a:rPr lang="en-US" sz="1125" b="1">
                <a:solidFill>
                  <a:srgbClr val="FFFFFF"/>
                </a:solidFill>
                <a:latin typeface="微软雅黑" panose="020B0503020204020204" charset="-122"/>
                <a:ea typeface="微软雅黑" panose="020B0503020204020204" charset="-122"/>
              </a:rPr>
              <a:t>Withdrawal</a:t>
            </a:r>
            <a:endParaRPr lang="en-US" sz="1125" b="1">
              <a:solidFill>
                <a:srgbClr val="FFFFFF"/>
              </a:solidFill>
              <a:latin typeface="微软雅黑" panose="020B0503020204020204" charset="-122"/>
              <a:ea typeface="微软雅黑" panose="020B0503020204020204" charset="-122"/>
            </a:endParaRPr>
          </a:p>
        </p:txBody>
      </p:sp>
      <p:pic>
        <p:nvPicPr>
          <p:cNvPr id="682" name="图片 681"/>
          <p:cNvPicPr>
            <a:picLocks noChangeAspect="1"/>
          </p:cNvPicPr>
          <p:nvPr/>
        </p:nvPicPr>
        <p:blipFill>
          <a:blip/>
          <a:stretch>
            <a:fillRect/>
          </a:stretch>
        </p:blipFill>
        <p:spPr>
          <a:xfrm>
            <a:off x="1552575" y="2476500"/>
            <a:ext cx="180975" cy="180975"/>
          </a:xfrm>
          <a:prstGeom prst="rect">
            <a:avLst/>
          </a:prstGeom>
        </p:spPr>
      </p:pic>
      <p:sp>
        <p:nvSpPr>
          <p:cNvPr id="683" name="文本框 682" descr="{&quot;isTemplate&quot;:true,&quot;type&quot;:&quot;text&quot;}"/>
          <p:cNvSpPr txBox="1"/>
          <p:nvPr/>
        </p:nvSpPr>
        <p:spPr>
          <a:xfrm>
            <a:off x="1800225" y="2457450"/>
            <a:ext cx="51435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取水量</a:t>
            </a:r>
            <a:endParaRPr lang="zh-CN" sz="1350" b="1">
              <a:solidFill>
                <a:srgbClr val="0E3F8C"/>
              </a:solidFill>
              <a:latin typeface="微软雅黑" panose="020B0503020204020204" charset="-122"/>
              <a:ea typeface="微软雅黑" panose="020B0503020204020204" charset="-122"/>
            </a:endParaRPr>
          </a:p>
        </p:txBody>
      </p:sp>
      <p:sp>
        <p:nvSpPr>
          <p:cNvPr id="684" name="文本框 683" descr="{&quot;isTemplate&quot;:true,&quot;type&quot;:&quot;text&quot;}"/>
          <p:cNvSpPr txBox="1"/>
          <p:nvPr/>
        </p:nvSpPr>
        <p:spPr>
          <a:xfrm>
            <a:off x="495300" y="2705100"/>
            <a:ext cx="3495675"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从外部水源或管网取得的总水量，是资源压力的直接口径。</a:t>
            </a:r>
            <a:endParaRPr lang="zh-CN" sz="1200">
              <a:solidFill>
                <a:srgbClr val="4A5568"/>
              </a:solidFill>
              <a:latin typeface="微软雅黑" panose="020B0503020204020204" charset="-122"/>
              <a:ea typeface="微软雅黑" panose="020B0503020204020204" charset="-122"/>
            </a:endParaRPr>
          </a:p>
        </p:txBody>
      </p:sp>
      <p:sp>
        <p:nvSpPr>
          <p:cNvPr id="685" name="圆角矩形 684"/>
          <p:cNvSpPr/>
          <p:nvPr/>
        </p:nvSpPr>
        <p:spPr>
          <a:xfrm>
            <a:off x="4238625" y="2343150"/>
            <a:ext cx="3714750" cy="1123950"/>
          </a:xfrm>
          <a:prstGeom prst="roundRect">
            <a:avLst>
              <a:gd name="adj" fmla="val 5085"/>
            </a:avLst>
          </a:prstGeom>
          <a:solidFill>
            <a:srgbClr val="F7F9FC"/>
          </a:solidFill>
          <a:ln w="12700">
            <a:solidFill>
              <a:srgbClr val="D6DCE5"/>
            </a:solidFill>
            <a:prstDash val="solid"/>
          </a:ln>
        </p:spPr>
        <p:txBody>
          <a:bodyPr/>
          <a:p/>
        </p:txBody>
      </p:sp>
      <p:sp>
        <p:nvSpPr>
          <p:cNvPr id="686" name="圆角矩形 685"/>
          <p:cNvSpPr/>
          <p:nvPr/>
        </p:nvSpPr>
        <p:spPr>
          <a:xfrm>
            <a:off x="4352925" y="2457450"/>
            <a:ext cx="1123950" cy="209550"/>
          </a:xfrm>
          <a:prstGeom prst="roundRect">
            <a:avLst>
              <a:gd name="adj" fmla="val 13636"/>
            </a:avLst>
          </a:prstGeom>
          <a:solidFill>
            <a:srgbClr val="D9534F"/>
          </a:solidFill>
        </p:spPr>
        <p:txBody>
          <a:bodyPr/>
          <a:p/>
        </p:txBody>
      </p:sp>
      <p:sp>
        <p:nvSpPr>
          <p:cNvPr id="687" name="文本框 686" descr="{&quot;isTemplate&quot;:true,&quot;type&quot;:&quot;text&quot;}"/>
          <p:cNvSpPr txBox="1"/>
          <p:nvPr/>
        </p:nvSpPr>
        <p:spPr>
          <a:xfrm>
            <a:off x="4429125" y="2476500"/>
            <a:ext cx="971550" cy="171450"/>
          </a:xfrm>
          <a:prstGeom prst="rect">
            <a:avLst/>
          </a:prstGeom>
        </p:spPr>
        <p:txBody>
          <a:bodyPr wrap="none" lIns="0" tIns="0" rIns="0" bIns="0"/>
          <a:p>
            <a:pPr>
              <a:lnSpc>
                <a:spcPct val="100000"/>
              </a:lnSpc>
            </a:pPr>
            <a:r>
              <a:rPr lang="en-US" sz="1125" b="1">
                <a:solidFill>
                  <a:srgbClr val="FFFFFF"/>
                </a:solidFill>
                <a:latin typeface="微软雅黑" panose="020B0503020204020204" charset="-122"/>
                <a:ea typeface="微软雅黑" panose="020B0503020204020204" charset="-122"/>
              </a:rPr>
              <a:t>Consumption</a:t>
            </a:r>
            <a:endParaRPr lang="en-US" sz="1125" b="1">
              <a:solidFill>
                <a:srgbClr val="FFFFFF"/>
              </a:solidFill>
              <a:latin typeface="微软雅黑" panose="020B0503020204020204" charset="-122"/>
              <a:ea typeface="微软雅黑" panose="020B0503020204020204" charset="-122"/>
            </a:endParaRPr>
          </a:p>
        </p:txBody>
      </p:sp>
      <p:pic>
        <p:nvPicPr>
          <p:cNvPr id="688" name="图片 687"/>
          <p:cNvPicPr>
            <a:picLocks noChangeAspect="1"/>
          </p:cNvPicPr>
          <p:nvPr/>
        </p:nvPicPr>
        <p:blipFill>
          <a:blip/>
          <a:stretch>
            <a:fillRect/>
          </a:stretch>
        </p:blipFill>
        <p:spPr>
          <a:xfrm>
            <a:off x="5553075" y="2476500"/>
            <a:ext cx="180975" cy="180975"/>
          </a:xfrm>
          <a:prstGeom prst="rect">
            <a:avLst/>
          </a:prstGeom>
        </p:spPr>
      </p:pic>
      <p:sp>
        <p:nvSpPr>
          <p:cNvPr id="689" name="文本框 688" descr="{&quot;isTemplate&quot;:true,&quot;type&quot;:&quot;text&quot;}"/>
          <p:cNvSpPr txBox="1"/>
          <p:nvPr/>
        </p:nvSpPr>
        <p:spPr>
          <a:xfrm>
            <a:off x="5810250" y="2457450"/>
            <a:ext cx="51435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消耗量</a:t>
            </a:r>
            <a:endParaRPr lang="zh-CN" sz="1350" b="1">
              <a:solidFill>
                <a:srgbClr val="0E3F8C"/>
              </a:solidFill>
              <a:latin typeface="微软雅黑" panose="020B0503020204020204" charset="-122"/>
              <a:ea typeface="微软雅黑" panose="020B0503020204020204" charset="-122"/>
            </a:endParaRPr>
          </a:p>
        </p:txBody>
      </p:sp>
      <p:sp>
        <p:nvSpPr>
          <p:cNvPr id="690" name="文本框 689" descr="{&quot;isTemplate&quot;:true,&quot;type&quot;:&quot;text&quot;}"/>
          <p:cNvSpPr txBox="1"/>
          <p:nvPr/>
        </p:nvSpPr>
        <p:spPr>
          <a:xfrm>
            <a:off x="4352925" y="2705100"/>
            <a:ext cx="3486150"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以蒸发等形式离开系统的部分，冷却蒸发是</a:t>
            </a:r>
            <a:r>
              <a:rPr lang="en-US" sz="1200">
                <a:solidFill>
                  <a:srgbClr val="4A5568"/>
                </a:solidFill>
                <a:latin typeface="微软雅黑" panose="020B0503020204020204" charset="-122"/>
                <a:ea typeface="微软雅黑" panose="020B0503020204020204" charset="-122"/>
              </a:rPr>
              <a:t> AI </a:t>
            </a:r>
            <a:r>
              <a:rPr lang="zh-CN" sz="1200">
                <a:solidFill>
                  <a:srgbClr val="4A5568"/>
                </a:solidFill>
                <a:latin typeface="微软雅黑" panose="020B0503020204020204" charset="-122"/>
                <a:ea typeface="微软雅黑" panose="020B0503020204020204" charset="-122"/>
              </a:rPr>
              <a:t>最典型的不可回收水量。</a:t>
            </a:r>
            <a:endParaRPr lang="zh-CN" sz="1200">
              <a:solidFill>
                <a:srgbClr val="4A5568"/>
              </a:solidFill>
              <a:latin typeface="微软雅黑" panose="020B0503020204020204" charset="-122"/>
              <a:ea typeface="微软雅黑" panose="020B0503020204020204" charset="-122"/>
            </a:endParaRPr>
          </a:p>
        </p:txBody>
      </p:sp>
      <p:sp>
        <p:nvSpPr>
          <p:cNvPr id="691" name="圆角矩形 690"/>
          <p:cNvSpPr/>
          <p:nvPr/>
        </p:nvSpPr>
        <p:spPr>
          <a:xfrm>
            <a:off x="8086725" y="2343150"/>
            <a:ext cx="3724275" cy="1123950"/>
          </a:xfrm>
          <a:prstGeom prst="roundRect">
            <a:avLst>
              <a:gd name="adj" fmla="val 5085"/>
            </a:avLst>
          </a:prstGeom>
          <a:solidFill>
            <a:srgbClr val="F7F9FC"/>
          </a:solidFill>
          <a:ln w="12700">
            <a:solidFill>
              <a:srgbClr val="D6DCE5"/>
            </a:solidFill>
            <a:prstDash val="solid"/>
          </a:ln>
        </p:spPr>
        <p:txBody>
          <a:bodyPr/>
          <a:p/>
        </p:txBody>
      </p:sp>
      <p:sp>
        <p:nvSpPr>
          <p:cNvPr id="692" name="圆角矩形 691"/>
          <p:cNvSpPr/>
          <p:nvPr/>
        </p:nvSpPr>
        <p:spPr>
          <a:xfrm>
            <a:off x="8201025" y="2457450"/>
            <a:ext cx="1019175" cy="209550"/>
          </a:xfrm>
          <a:prstGeom prst="roundRect">
            <a:avLst>
              <a:gd name="adj" fmla="val 13636"/>
            </a:avLst>
          </a:prstGeom>
          <a:solidFill>
            <a:srgbClr val="3D7BD9"/>
          </a:solidFill>
        </p:spPr>
        <p:txBody>
          <a:bodyPr/>
          <a:p/>
        </p:txBody>
      </p:sp>
      <p:sp>
        <p:nvSpPr>
          <p:cNvPr id="693" name="文本框 692" descr="{&quot;isTemplate&quot;:true,&quot;type&quot;:&quot;text&quot;}"/>
          <p:cNvSpPr txBox="1"/>
          <p:nvPr/>
        </p:nvSpPr>
        <p:spPr>
          <a:xfrm>
            <a:off x="8277225" y="2476500"/>
            <a:ext cx="866775" cy="171450"/>
          </a:xfrm>
          <a:prstGeom prst="rect">
            <a:avLst/>
          </a:prstGeom>
        </p:spPr>
        <p:txBody>
          <a:bodyPr wrap="none" lIns="0" tIns="0" rIns="0" bIns="0"/>
          <a:p>
            <a:pPr>
              <a:lnSpc>
                <a:spcPct val="100000"/>
              </a:lnSpc>
            </a:pPr>
            <a:r>
              <a:rPr lang="en-US" sz="1125" b="1">
                <a:solidFill>
                  <a:srgbClr val="FFFFFF"/>
                </a:solidFill>
                <a:latin typeface="微软雅黑" panose="020B0503020204020204" charset="-122"/>
                <a:ea typeface="微软雅黑" panose="020B0503020204020204" charset="-122"/>
              </a:rPr>
              <a:t>Return Flow</a:t>
            </a:r>
            <a:endParaRPr lang="en-US" sz="1125" b="1">
              <a:solidFill>
                <a:srgbClr val="FFFFFF"/>
              </a:solidFill>
              <a:latin typeface="微软雅黑" panose="020B0503020204020204" charset="-122"/>
              <a:ea typeface="微软雅黑" panose="020B0503020204020204" charset="-122"/>
            </a:endParaRPr>
          </a:p>
        </p:txBody>
      </p:sp>
      <p:pic>
        <p:nvPicPr>
          <p:cNvPr id="694" name="图片 693"/>
          <p:cNvPicPr>
            <a:picLocks noChangeAspect="1"/>
          </p:cNvPicPr>
          <p:nvPr/>
        </p:nvPicPr>
        <p:blipFill>
          <a:blip/>
          <a:stretch>
            <a:fillRect/>
          </a:stretch>
        </p:blipFill>
        <p:spPr>
          <a:xfrm>
            <a:off x="9296400" y="2476500"/>
            <a:ext cx="180975" cy="180975"/>
          </a:xfrm>
          <a:prstGeom prst="rect">
            <a:avLst/>
          </a:prstGeom>
        </p:spPr>
      </p:pic>
      <p:sp>
        <p:nvSpPr>
          <p:cNvPr id="695" name="文本框 694" descr="{&quot;isTemplate&quot;:true,&quot;type&quot;:&quot;text&quot;}"/>
          <p:cNvSpPr txBox="1"/>
          <p:nvPr/>
        </p:nvSpPr>
        <p:spPr>
          <a:xfrm>
            <a:off x="9553575" y="2457450"/>
            <a:ext cx="51435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回流量</a:t>
            </a:r>
            <a:endParaRPr lang="zh-CN" sz="1350" b="1">
              <a:solidFill>
                <a:srgbClr val="0E3F8C"/>
              </a:solidFill>
              <a:latin typeface="微软雅黑" panose="020B0503020204020204" charset="-122"/>
              <a:ea typeface="微软雅黑" panose="020B0503020204020204" charset="-122"/>
            </a:endParaRPr>
          </a:p>
        </p:txBody>
      </p:sp>
      <p:sp>
        <p:nvSpPr>
          <p:cNvPr id="696" name="文本框 695" descr="{&quot;isTemplate&quot;:true,&quot;type&quot;:&quot;text&quot;}"/>
          <p:cNvSpPr txBox="1"/>
          <p:nvPr/>
        </p:nvSpPr>
        <p:spPr>
          <a:xfrm>
            <a:off x="8201025" y="2705100"/>
            <a:ext cx="3495675" cy="533400"/>
          </a:xfrm>
          <a:prstGeom prst="rect">
            <a:avLst/>
          </a:prstGeom>
        </p:spPr>
        <p:txBody>
          <a:bodyPr wrap="square" lIns="0" tIns="0" rIns="0" bIns="0">
            <a:normAutofit/>
          </a:bodyPr>
          <a:p>
            <a:pPr>
              <a:lnSpc>
                <a:spcPct val="145000"/>
              </a:lnSpc>
            </a:pPr>
            <a:r>
              <a:rPr lang="zh-CN" sz="1200">
                <a:solidFill>
                  <a:srgbClr val="4A5568"/>
                </a:solidFill>
                <a:latin typeface="微软雅黑" panose="020B0503020204020204" charset="-122"/>
                <a:ea typeface="微软雅黑" panose="020B0503020204020204" charset="-122"/>
              </a:rPr>
              <a:t>返回污水系统的水量，构成再生水的潜在源量，水质决定其能否被有效利用。</a:t>
            </a:r>
            <a:endParaRPr lang="zh-CN" sz="1200">
              <a:solidFill>
                <a:srgbClr val="4A5568"/>
              </a:solidFill>
              <a:latin typeface="微软雅黑" panose="020B0503020204020204" charset="-122"/>
              <a:ea typeface="微软雅黑" panose="020B0503020204020204" charset="-122"/>
            </a:endParaRPr>
          </a:p>
        </p:txBody>
      </p:sp>
      <p:sp>
        <p:nvSpPr>
          <p:cNvPr id="697" name="圆角矩形 696"/>
          <p:cNvSpPr/>
          <p:nvPr/>
        </p:nvSpPr>
        <p:spPr>
          <a:xfrm>
            <a:off x="381000" y="3581400"/>
            <a:ext cx="5648325" cy="2095500"/>
          </a:xfrm>
          <a:prstGeom prst="roundRect">
            <a:avLst>
              <a:gd name="adj" fmla="val 2727"/>
            </a:avLst>
          </a:prstGeom>
          <a:solidFill>
            <a:srgbClr val="F7F9FC"/>
          </a:solidFill>
          <a:ln w="12700">
            <a:solidFill>
              <a:srgbClr val="D6DCE5"/>
            </a:solidFill>
            <a:prstDash val="solid"/>
          </a:ln>
        </p:spPr>
        <p:txBody>
          <a:bodyPr/>
          <a:p/>
        </p:txBody>
      </p:sp>
      <p:sp>
        <p:nvSpPr>
          <p:cNvPr id="698" name="任意多边形 697"/>
          <p:cNvSpPr/>
          <p:nvPr/>
        </p:nvSpPr>
        <p:spPr>
          <a:xfrm>
            <a:off x="514350" y="3714750"/>
            <a:ext cx="5429250" cy="438150"/>
          </a:xfrm>
          <a:custGeom>
            <a:avLst/>
            <a:gdLst/>
            <a:ahLst/>
            <a:cxnLst/>
            <a:pathLst>
              <a:path w="570" h="46">
                <a:moveTo>
                  <a:pt x="0" y="0"/>
                </a:moveTo>
                <a:lnTo>
                  <a:pt x="5" y="0"/>
                </a:lnTo>
                <a:lnTo>
                  <a:pt x="5" y="46"/>
                </a:lnTo>
                <a:lnTo>
                  <a:pt x="0" y="46"/>
                </a:lnTo>
                <a:close/>
              </a:path>
            </a:pathLst>
          </a:custGeom>
          <a:solidFill>
            <a:srgbClr val="1E4FA8"/>
          </a:solidFill>
        </p:spPr>
        <p:txBody>
          <a:bodyPr/>
          <a:p/>
        </p:txBody>
      </p:sp>
      <p:pic>
        <p:nvPicPr>
          <p:cNvPr id="699" name="图片 698"/>
          <p:cNvPicPr>
            <a:picLocks noChangeAspect="1"/>
          </p:cNvPicPr>
          <p:nvPr/>
        </p:nvPicPr>
        <p:blipFill>
          <a:blip/>
          <a:stretch>
            <a:fillRect/>
          </a:stretch>
        </p:blipFill>
        <p:spPr>
          <a:xfrm>
            <a:off x="657225" y="3714750"/>
            <a:ext cx="190500" cy="190500"/>
          </a:xfrm>
          <a:prstGeom prst="rect">
            <a:avLst/>
          </a:prstGeom>
        </p:spPr>
      </p:pic>
      <p:sp>
        <p:nvSpPr>
          <p:cNvPr id="700" name="文本框 699" descr="{&quot;isTemplate&quot;:true,&quot;type&quot;:&quot;text&quot;}"/>
          <p:cNvSpPr txBox="1"/>
          <p:nvPr/>
        </p:nvSpPr>
        <p:spPr>
          <a:xfrm>
            <a:off x="657225" y="3905250"/>
            <a:ext cx="5238750"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逐时间步执行的设施能力约束</a:t>
            </a:r>
            <a:endParaRPr lang="zh-CN" sz="1575" b="1">
              <a:solidFill>
                <a:srgbClr val="0E3F8C"/>
              </a:solidFill>
              <a:latin typeface="微软雅黑" panose="020B0503020204020204" charset="-122"/>
              <a:ea typeface="微软雅黑" panose="020B0503020204020204" charset="-122"/>
            </a:endParaRPr>
          </a:p>
        </p:txBody>
      </p:sp>
      <p:sp>
        <p:nvSpPr>
          <p:cNvPr id="701" name="文本框 700" descr="{&quot;isTemplate&quot;:true,&quot;type&quot;:&quot;text&quot;}"/>
          <p:cNvSpPr txBox="1"/>
          <p:nvPr/>
        </p:nvSpPr>
        <p:spPr>
          <a:xfrm>
            <a:off x="514350" y="4229100"/>
            <a:ext cx="5381625" cy="285750"/>
          </a:xfrm>
          <a:prstGeom prst="rect">
            <a:avLst/>
          </a:prstGeom>
        </p:spPr>
        <p:txBody>
          <a:bodyPr wrap="none" lIns="0" tIns="0" rIns="0" bIns="0"/>
          <a:p>
            <a:pPr>
              <a:lnSpc>
                <a:spcPct val="145000"/>
              </a:lnSpc>
            </a:pPr>
            <a:r>
              <a:rPr lang="zh-CN" sz="1275">
                <a:solidFill>
                  <a:srgbClr val="1A2230"/>
                </a:solidFill>
                <a:latin typeface="微软雅黑" panose="020B0503020204020204" charset="-122"/>
                <a:ea typeface="微软雅黑" panose="020B0503020204020204" charset="-122"/>
              </a:rPr>
              <a:t>·　给水处理与局部接入能力：决定峰值时段能否把水送到</a:t>
            </a:r>
            <a:r>
              <a:rPr lang="en-US" sz="1275">
                <a:solidFill>
                  <a:srgbClr val="1A2230"/>
                </a:solidFill>
                <a:latin typeface="微软雅黑" panose="020B0503020204020204" charset="-122"/>
                <a:ea typeface="微软雅黑" panose="020B0503020204020204" charset="-122"/>
              </a:rPr>
              <a:t> AI </a:t>
            </a:r>
            <a:r>
              <a:rPr lang="zh-CN" sz="1275">
                <a:solidFill>
                  <a:srgbClr val="1A2230"/>
                </a:solidFill>
                <a:latin typeface="微软雅黑" panose="020B0503020204020204" charset="-122"/>
                <a:ea typeface="微软雅黑" panose="020B0503020204020204" charset="-122"/>
              </a:rPr>
              <a:t>节点</a:t>
            </a:r>
            <a:endParaRPr lang="zh-CN" sz="1275">
              <a:solidFill>
                <a:srgbClr val="1A2230"/>
              </a:solidFill>
              <a:latin typeface="微软雅黑" panose="020B0503020204020204" charset="-122"/>
              <a:ea typeface="微软雅黑" panose="020B0503020204020204" charset="-122"/>
            </a:endParaRPr>
          </a:p>
        </p:txBody>
      </p:sp>
      <p:sp>
        <p:nvSpPr>
          <p:cNvPr id="702" name="文本框 701" descr="{&quot;isTemplate&quot;:true,&quot;type&quot;:&quot;text&quot;}"/>
          <p:cNvSpPr txBox="1"/>
          <p:nvPr/>
        </p:nvSpPr>
        <p:spPr>
          <a:xfrm>
            <a:off x="514350" y="4572000"/>
            <a:ext cx="5381625" cy="285750"/>
          </a:xfrm>
          <a:prstGeom prst="rect">
            <a:avLst/>
          </a:prstGeom>
        </p:spPr>
        <p:txBody>
          <a:bodyPr wrap="none" lIns="0" tIns="0" rIns="0" bIns="0"/>
          <a:p>
            <a:pPr>
              <a:lnSpc>
                <a:spcPct val="145000"/>
              </a:lnSpc>
            </a:pPr>
            <a:r>
              <a:rPr lang="zh-CN" sz="1275">
                <a:solidFill>
                  <a:srgbClr val="1A2230"/>
                </a:solidFill>
                <a:latin typeface="微软雅黑" panose="020B0503020204020204" charset="-122"/>
                <a:ea typeface="微软雅黑" panose="020B0503020204020204" charset="-122"/>
              </a:rPr>
              <a:t>·　污水收集与处理能力：决定回流量增加后是否出现溢流风险</a:t>
            </a:r>
            <a:endParaRPr lang="zh-CN" sz="1275">
              <a:solidFill>
                <a:srgbClr val="1A2230"/>
              </a:solidFill>
              <a:latin typeface="微软雅黑" panose="020B0503020204020204" charset="-122"/>
              <a:ea typeface="微软雅黑" panose="020B0503020204020204" charset="-122"/>
            </a:endParaRPr>
          </a:p>
        </p:txBody>
      </p:sp>
      <p:sp>
        <p:nvSpPr>
          <p:cNvPr id="703" name="文本框 702" descr="{&quot;isTemplate&quot;:true,&quot;type&quot;:&quot;text&quot;}"/>
          <p:cNvSpPr txBox="1"/>
          <p:nvPr/>
        </p:nvSpPr>
        <p:spPr>
          <a:xfrm>
            <a:off x="514350" y="4914900"/>
            <a:ext cx="5381625" cy="285750"/>
          </a:xfrm>
          <a:prstGeom prst="rect">
            <a:avLst/>
          </a:prstGeom>
        </p:spPr>
        <p:txBody>
          <a:bodyPr wrap="none" lIns="0" tIns="0" rIns="0" bIns="0"/>
          <a:p>
            <a:pPr>
              <a:lnSpc>
                <a:spcPct val="145000"/>
              </a:lnSpc>
            </a:pPr>
            <a:r>
              <a:rPr lang="zh-CN" sz="1275">
                <a:solidFill>
                  <a:srgbClr val="1A2230"/>
                </a:solidFill>
                <a:latin typeface="微软雅黑" panose="020B0503020204020204" charset="-122"/>
                <a:ea typeface="微软雅黑" panose="020B0503020204020204" charset="-122"/>
              </a:rPr>
              <a:t>·　再生水深度处理、储存与输配能力：决定实际可供量而非目标份额</a:t>
            </a:r>
            <a:endParaRPr lang="zh-CN" sz="1275">
              <a:solidFill>
                <a:srgbClr val="1A2230"/>
              </a:solidFill>
              <a:latin typeface="微软雅黑" panose="020B0503020204020204" charset="-122"/>
              <a:ea typeface="微软雅黑" panose="020B0503020204020204" charset="-122"/>
            </a:endParaRPr>
          </a:p>
        </p:txBody>
      </p:sp>
      <p:sp>
        <p:nvSpPr>
          <p:cNvPr id="704" name="文本框 703" descr="{&quot;isTemplate&quot;:true,&quot;type&quot;:&quot;text&quot;}"/>
          <p:cNvSpPr txBox="1"/>
          <p:nvPr/>
        </p:nvSpPr>
        <p:spPr>
          <a:xfrm>
            <a:off x="514350" y="5257800"/>
            <a:ext cx="5381625" cy="285750"/>
          </a:xfrm>
          <a:prstGeom prst="rect">
            <a:avLst/>
          </a:prstGeom>
        </p:spPr>
        <p:txBody>
          <a:bodyPr wrap="none" lIns="0" tIns="0" rIns="0" bIns="0"/>
          <a:p>
            <a:pPr>
              <a:lnSpc>
                <a:spcPct val="145000"/>
              </a:lnSpc>
            </a:pPr>
            <a:r>
              <a:rPr lang="zh-CN" sz="1275">
                <a:solidFill>
                  <a:srgbClr val="1A2230"/>
                </a:solidFill>
                <a:latin typeface="微软雅黑" panose="020B0503020204020204" charset="-122"/>
                <a:ea typeface="微软雅黑" panose="020B0503020204020204" charset="-122"/>
              </a:rPr>
              <a:t>·　水质可接纳能力：</a:t>
            </a:r>
            <a:r>
              <a:rPr lang="en-US" sz="1275">
                <a:solidFill>
                  <a:srgbClr val="1A2230"/>
                </a:solidFill>
                <a:latin typeface="微软雅黑" panose="020B0503020204020204" charset="-122"/>
                <a:ea typeface="微软雅黑" panose="020B0503020204020204" charset="-122"/>
              </a:rPr>
              <a:t>TDS</a:t>
            </a:r>
            <a:r>
              <a:rPr lang="zh-CN" sz="1275">
                <a:solidFill>
                  <a:srgbClr val="1A2230"/>
                </a:solidFill>
                <a:latin typeface="微软雅黑" panose="020B0503020204020204" charset="-122"/>
                <a:ea typeface="微软雅黑" panose="020B0503020204020204" charset="-122"/>
              </a:rPr>
              <a:t>、温度与药剂负荷超标时触发独立约束</a:t>
            </a:r>
            <a:endParaRPr lang="zh-CN" sz="1275">
              <a:solidFill>
                <a:srgbClr val="1A2230"/>
              </a:solidFill>
              <a:latin typeface="微软雅黑" panose="020B0503020204020204" charset="-122"/>
              <a:ea typeface="微软雅黑" panose="020B0503020204020204" charset="-122"/>
            </a:endParaRPr>
          </a:p>
        </p:txBody>
      </p:sp>
      <p:sp>
        <p:nvSpPr>
          <p:cNvPr id="705" name="圆角矩形 704"/>
          <p:cNvSpPr/>
          <p:nvPr/>
        </p:nvSpPr>
        <p:spPr>
          <a:xfrm>
            <a:off x="6162675" y="3581400"/>
            <a:ext cx="5648325" cy="2038350"/>
          </a:xfrm>
          <a:prstGeom prst="roundRect">
            <a:avLst>
              <a:gd name="adj" fmla="val 2804"/>
            </a:avLst>
          </a:prstGeom>
          <a:solidFill>
            <a:srgbClr val="0E3F8C"/>
          </a:solidFill>
        </p:spPr>
        <p:txBody>
          <a:bodyPr/>
          <a:p/>
        </p:txBody>
      </p:sp>
      <p:sp>
        <p:nvSpPr>
          <p:cNvPr id="706" name="任意多边形 705"/>
          <p:cNvSpPr/>
          <p:nvPr/>
        </p:nvSpPr>
        <p:spPr>
          <a:xfrm>
            <a:off x="6296025" y="3714750"/>
            <a:ext cx="5429250" cy="438150"/>
          </a:xfrm>
          <a:custGeom>
            <a:avLst/>
            <a:gdLst/>
            <a:ahLst/>
            <a:cxnLst/>
            <a:pathLst>
              <a:path w="570" h="46">
                <a:moveTo>
                  <a:pt x="0" y="0"/>
                </a:moveTo>
                <a:lnTo>
                  <a:pt x="5" y="0"/>
                </a:lnTo>
                <a:lnTo>
                  <a:pt x="5" y="46"/>
                </a:lnTo>
                <a:lnTo>
                  <a:pt x="0" y="46"/>
                </a:lnTo>
                <a:close/>
              </a:path>
            </a:pathLst>
          </a:custGeom>
          <a:solidFill>
            <a:srgbClr val="FFC107"/>
          </a:solidFill>
        </p:spPr>
        <p:txBody>
          <a:bodyPr/>
          <a:p/>
        </p:txBody>
      </p:sp>
      <p:pic>
        <p:nvPicPr>
          <p:cNvPr id="707" name="图片 706"/>
          <p:cNvPicPr>
            <a:picLocks noChangeAspect="1"/>
          </p:cNvPicPr>
          <p:nvPr/>
        </p:nvPicPr>
        <p:blipFill>
          <a:blip/>
          <a:stretch>
            <a:fillRect/>
          </a:stretch>
        </p:blipFill>
        <p:spPr>
          <a:xfrm>
            <a:off x="6438900" y="3714750"/>
            <a:ext cx="190500" cy="190500"/>
          </a:xfrm>
          <a:prstGeom prst="rect">
            <a:avLst/>
          </a:prstGeom>
        </p:spPr>
      </p:pic>
      <p:sp>
        <p:nvSpPr>
          <p:cNvPr id="708" name="文本框 707" descr="{&quot;isTemplate&quot;:true,&quot;type&quot;:&quot;text&quot;}"/>
          <p:cNvSpPr txBox="1"/>
          <p:nvPr/>
        </p:nvSpPr>
        <p:spPr>
          <a:xfrm>
            <a:off x="6438900" y="3905250"/>
            <a:ext cx="5238750" cy="247650"/>
          </a:xfrm>
          <a:prstGeom prst="rect">
            <a:avLst/>
          </a:prstGeom>
        </p:spPr>
        <p:txBody>
          <a:bodyPr wrap="none" lIns="0" tIns="0" rIns="0" bIns="0"/>
          <a:p>
            <a:pPr>
              <a:lnSpc>
                <a:spcPct val="100000"/>
              </a:lnSpc>
            </a:pPr>
            <a:r>
              <a:rPr lang="zh-CN" sz="1575" b="1">
                <a:solidFill>
                  <a:srgbClr val="FFFFFF"/>
                </a:solidFill>
                <a:latin typeface="微软雅黑" panose="020B0503020204020204" charset="-122"/>
                <a:ea typeface="微软雅黑" panose="020B0503020204020204" charset="-122"/>
              </a:rPr>
              <a:t>再生水分配与服务优先级机制</a:t>
            </a:r>
            <a:endParaRPr lang="zh-CN" sz="1575" b="1">
              <a:solidFill>
                <a:srgbClr val="FFFFFF"/>
              </a:solidFill>
              <a:latin typeface="微软雅黑" panose="020B0503020204020204" charset="-122"/>
              <a:ea typeface="微软雅黑" panose="020B0503020204020204" charset="-122"/>
            </a:endParaRPr>
          </a:p>
        </p:txBody>
      </p:sp>
      <p:sp>
        <p:nvSpPr>
          <p:cNvPr id="709" name="文本框 708" descr="{&quot;isTemplate&quot;:true,&quot;type&quot;:&quot;text&quot;}"/>
          <p:cNvSpPr txBox="1"/>
          <p:nvPr/>
        </p:nvSpPr>
        <p:spPr>
          <a:xfrm>
            <a:off x="6296025" y="4229100"/>
            <a:ext cx="5381625" cy="590550"/>
          </a:xfrm>
          <a:prstGeom prst="rect">
            <a:avLst/>
          </a:prstGeom>
        </p:spPr>
        <p:txBody>
          <a:bodyPr wrap="square" lIns="0" tIns="0" rIns="0" bIns="0">
            <a:normAutofit/>
          </a:bodyPr>
          <a:p>
            <a:pPr>
              <a:lnSpc>
                <a:spcPct val="150000"/>
              </a:lnSpc>
            </a:pPr>
            <a:r>
              <a:rPr lang="zh-CN" sz="1275">
                <a:solidFill>
                  <a:srgbClr val="E4EDF9"/>
                </a:solidFill>
                <a:latin typeface="微软雅黑" panose="020B0503020204020204" charset="-122"/>
                <a:ea typeface="微软雅黑" panose="020B0503020204020204" charset="-122"/>
              </a:rPr>
              <a:t>目标份额只是意图，实际可供量受源量、深度处理、储量、输配与既有需求决定。满足居民与关键公共服务后，再按规则分配给</a:t>
            </a:r>
            <a:r>
              <a:rPr lang="en-US" sz="1275">
                <a:solidFill>
                  <a:srgbClr val="E4EDF9"/>
                </a:solidFill>
                <a:latin typeface="微软雅黑" panose="020B0503020204020204" charset="-122"/>
                <a:ea typeface="微软雅黑" panose="020B0503020204020204" charset="-122"/>
              </a:rPr>
              <a:t> AI</a:t>
            </a:r>
            <a:r>
              <a:rPr lang="zh-CN" sz="1275">
                <a:solidFill>
                  <a:srgbClr val="E4EDF9"/>
                </a:solidFill>
                <a:latin typeface="微软雅黑" panose="020B0503020204020204" charset="-122"/>
                <a:ea typeface="微软雅黑" panose="020B0503020204020204" charset="-122"/>
              </a:rPr>
              <a:t>。</a:t>
            </a:r>
            <a:endParaRPr lang="zh-CN" sz="1275">
              <a:solidFill>
                <a:srgbClr val="E4EDF9"/>
              </a:solidFill>
              <a:latin typeface="微软雅黑" panose="020B0503020204020204" charset="-122"/>
              <a:ea typeface="微软雅黑" panose="020B0503020204020204" charset="-122"/>
            </a:endParaRPr>
          </a:p>
        </p:txBody>
      </p:sp>
      <p:sp>
        <p:nvSpPr>
          <p:cNvPr id="710" name="文本框 709" descr="{&quot;isTemplate&quot;:true,&quot;type&quot;:&quot;text&quot;}"/>
          <p:cNvSpPr txBox="1"/>
          <p:nvPr/>
        </p:nvSpPr>
        <p:spPr>
          <a:xfrm>
            <a:off x="6296025" y="4895850"/>
            <a:ext cx="5381625" cy="590550"/>
          </a:xfrm>
          <a:prstGeom prst="rect">
            <a:avLst/>
          </a:prstGeom>
        </p:spPr>
        <p:txBody>
          <a:bodyPr wrap="square" lIns="0" tIns="0" rIns="0" bIns="0">
            <a:normAutofit/>
          </a:bodyPr>
          <a:p>
            <a:pPr>
              <a:lnSpc>
                <a:spcPct val="150000"/>
              </a:lnSpc>
            </a:pPr>
            <a:r>
              <a:rPr lang="zh-CN" sz="1275">
                <a:solidFill>
                  <a:srgbClr val="FFC107"/>
                </a:solidFill>
                <a:latin typeface="微软雅黑" panose="020B0503020204020204" charset="-122"/>
                <a:ea typeface="微软雅黑" panose="020B0503020204020204" charset="-122"/>
              </a:rPr>
              <a:t>分别记录目标份额、实际供应、淡水补足与未满足需求，承载容量以基本服务不被破坏为前提。</a:t>
            </a:r>
            <a:endParaRPr lang="zh-CN" sz="1275">
              <a:solidFill>
                <a:srgbClr val="FFC107"/>
              </a:solidFill>
              <a:latin typeface="微软雅黑" panose="020B0503020204020204" charset="-122"/>
              <a:ea typeface="微软雅黑" panose="020B0503020204020204" charset="-122"/>
            </a:endParaRPr>
          </a:p>
        </p:txBody>
      </p:sp>
      <p:sp>
        <p:nvSpPr>
          <p:cNvPr id="711" name="矩形 710"/>
          <p:cNvSpPr/>
          <p:nvPr/>
        </p:nvSpPr>
        <p:spPr>
          <a:xfrm>
            <a:off x="428625" y="5581650"/>
            <a:ext cx="11430000" cy="390525"/>
          </a:xfrm>
          <a:prstGeom prst="rect">
            <a:avLst/>
          </a:prstGeom>
          <a:solidFill>
            <a:srgbClr val="E8EFF8"/>
          </a:solidFill>
        </p:spPr>
        <p:txBody>
          <a:bodyPr/>
          <a:p/>
        </p:txBody>
      </p:sp>
      <p:sp>
        <p:nvSpPr>
          <p:cNvPr id="712" name="任意多边形 711"/>
          <p:cNvSpPr/>
          <p:nvPr/>
        </p:nvSpPr>
        <p:spPr>
          <a:xfrm>
            <a:off x="381000" y="5581650"/>
            <a:ext cx="11477625" cy="390525"/>
          </a:xfrm>
          <a:custGeom>
            <a:avLst/>
            <a:gdLst/>
            <a:ahLst/>
            <a:cxnLst/>
            <a:pathLst>
              <a:path w="1205" h="41">
                <a:moveTo>
                  <a:pt x="0" y="0"/>
                </a:moveTo>
                <a:lnTo>
                  <a:pt x="5" y="0"/>
                </a:lnTo>
                <a:lnTo>
                  <a:pt x="5" y="41"/>
                </a:lnTo>
                <a:lnTo>
                  <a:pt x="0" y="41"/>
                </a:lnTo>
                <a:close/>
              </a:path>
            </a:pathLst>
          </a:custGeom>
          <a:solidFill>
            <a:srgbClr val="1E4FA8"/>
          </a:solidFill>
        </p:spPr>
        <p:txBody>
          <a:bodyPr/>
          <a:p/>
        </p:txBody>
      </p:sp>
      <p:sp>
        <p:nvSpPr>
          <p:cNvPr id="713" name="文本框 712" descr="{&quot;isTemplate&quot;:true,&quot;type&quot;:&quot;text&quot;}"/>
          <p:cNvSpPr txBox="1"/>
          <p:nvPr/>
        </p:nvSpPr>
        <p:spPr>
          <a:xfrm>
            <a:off x="600075" y="5667375"/>
            <a:ext cx="11210925" cy="219075"/>
          </a:xfrm>
          <a:prstGeom prst="rect">
            <a:avLst/>
          </a:prstGeom>
        </p:spPr>
        <p:txBody>
          <a:bodyPr wrap="none" lIns="0" tIns="0" rIns="0" bIns="0"/>
          <a:p>
            <a:pPr>
              <a:lnSpc>
                <a:spcPct val="100000"/>
              </a:lnSpc>
            </a:pPr>
            <a:r>
              <a:rPr lang="zh-CN" sz="1425">
                <a:solidFill>
                  <a:srgbClr val="1A2230"/>
                </a:solidFill>
                <a:latin typeface="微软雅黑" panose="020B0503020204020204" charset="-122"/>
                <a:ea typeface="微软雅黑" panose="020B0503020204020204" charset="-122"/>
              </a:rPr>
              <a:t>给排水与接入参数参照《室外给水设计标准》《室外排水设计标准》，</a:t>
            </a:r>
            <a:r>
              <a:rPr lang="en-US" sz="1425">
                <a:solidFill>
                  <a:srgbClr val="1A2230"/>
                </a:solidFill>
                <a:latin typeface="微软雅黑" panose="020B0503020204020204" charset="-122"/>
                <a:ea typeface="微软雅黑" panose="020B0503020204020204" charset="-122"/>
              </a:rPr>
              <a:t>WUE </a:t>
            </a:r>
            <a:r>
              <a:rPr lang="zh-CN" sz="1425">
                <a:solidFill>
                  <a:srgbClr val="1A2230"/>
                </a:solidFill>
                <a:latin typeface="微软雅黑" panose="020B0503020204020204" charset="-122"/>
                <a:ea typeface="微软雅黑" panose="020B0503020204020204" charset="-122"/>
              </a:rPr>
              <a:t>按</a:t>
            </a:r>
            <a:r>
              <a:rPr lang="en-US" sz="1425">
                <a:solidFill>
                  <a:srgbClr val="1A2230"/>
                </a:solidFill>
                <a:latin typeface="微软雅黑" panose="020B0503020204020204" charset="-122"/>
                <a:ea typeface="微软雅黑" panose="020B0503020204020204" charset="-122"/>
              </a:rPr>
              <a:t> GB/T 32910.6 </a:t>
            </a:r>
            <a:r>
              <a:rPr lang="zh-CN" sz="1425">
                <a:solidFill>
                  <a:srgbClr val="1A2230"/>
                </a:solidFill>
                <a:latin typeface="微软雅黑" panose="020B0503020204020204" charset="-122"/>
                <a:ea typeface="微软雅黑" panose="020B0503020204020204" charset="-122"/>
              </a:rPr>
              <a:t>统一统计边界</a:t>
            </a:r>
            <a:endParaRPr lang="zh-CN" sz="1425">
              <a:solidFill>
                <a:srgbClr val="1A2230"/>
              </a:solidFill>
              <a:latin typeface="微软雅黑" panose="020B0503020204020204" charset="-122"/>
              <a:ea typeface="微软雅黑" panose="020B0503020204020204" charset="-122"/>
            </a:endParaRPr>
          </a:p>
        </p:txBody>
      </p:sp>
      <p:sp>
        <p:nvSpPr>
          <p:cNvPr id="714" name="任意多边形 713"/>
          <p:cNvSpPr/>
          <p:nvPr/>
        </p:nvSpPr>
        <p:spPr>
          <a:xfrm>
            <a:off x="0" y="604837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715" name="文本框 714" descr="{&quot;isTemplate&quot;:true,&quot;type&quot;:&quot;text&quot;}"/>
          <p:cNvSpPr txBox="1"/>
          <p:nvPr/>
        </p:nvSpPr>
        <p:spPr>
          <a:xfrm>
            <a:off x="381000" y="616267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716" name="文本框 715" descr="{&quot;isTemplate&quot;:true,&quot;type&quot;:&quot;text&quot;}"/>
          <p:cNvSpPr txBox="1"/>
          <p:nvPr/>
        </p:nvSpPr>
        <p:spPr>
          <a:xfrm>
            <a:off x="11353800" y="616267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21 / 36</a:t>
            </a:r>
            <a:endParaRPr lang="en-US" sz="1050">
              <a:solidFill>
                <a:srgbClr val="1E4FA8"/>
              </a:solidFill>
              <a:latin typeface="微软雅黑" panose="020B0503020204020204" charset="-122"/>
              <a:ea typeface="微软雅黑" panose="020B0503020204020204" charset="-122"/>
            </a:endParaRPr>
          </a:p>
        </p:txBody>
      </p:sp>
      <p:sp>
        <p:nvSpPr>
          <p:cNvPr id="717" name="矩形 716"/>
          <p:cNvSpPr/>
          <p:nvPr/>
        </p:nvSpPr>
        <p:spPr>
          <a:xfrm>
            <a:off x="0" y="685800"/>
            <a:ext cx="57150" cy="1162050"/>
          </a:xfrm>
          <a:prstGeom prst="rect">
            <a:avLst/>
          </a:prstGeom>
          <a:solidFill>
            <a:srgbClr val="C9D6E8"/>
          </a:solidFill>
        </p:spPr>
        <p:txBody>
          <a:bodyPr/>
          <a:p/>
        </p:txBody>
      </p:sp>
      <p:sp>
        <p:nvSpPr>
          <p:cNvPr id="718" name="矩形 717"/>
          <p:cNvSpPr/>
          <p:nvPr/>
        </p:nvSpPr>
        <p:spPr>
          <a:xfrm>
            <a:off x="0" y="1847850"/>
            <a:ext cx="57150" cy="1162050"/>
          </a:xfrm>
          <a:prstGeom prst="rect">
            <a:avLst/>
          </a:prstGeom>
          <a:solidFill>
            <a:srgbClr val="C9D6E8"/>
          </a:solidFill>
        </p:spPr>
        <p:txBody>
          <a:bodyPr/>
          <a:p/>
        </p:txBody>
      </p:sp>
      <p:sp>
        <p:nvSpPr>
          <p:cNvPr id="719" name="矩形 718"/>
          <p:cNvSpPr/>
          <p:nvPr/>
        </p:nvSpPr>
        <p:spPr>
          <a:xfrm>
            <a:off x="0" y="3009900"/>
            <a:ext cx="57150" cy="1162050"/>
          </a:xfrm>
          <a:prstGeom prst="rect">
            <a:avLst/>
          </a:prstGeom>
          <a:solidFill>
            <a:srgbClr val="C9D6E8"/>
          </a:solidFill>
        </p:spPr>
        <p:txBody>
          <a:bodyPr/>
          <a:p/>
        </p:txBody>
      </p:sp>
      <p:sp>
        <p:nvSpPr>
          <p:cNvPr id="720" name="矩形 719"/>
          <p:cNvSpPr/>
          <p:nvPr/>
        </p:nvSpPr>
        <p:spPr>
          <a:xfrm>
            <a:off x="0" y="4171950"/>
            <a:ext cx="57150" cy="1162050"/>
          </a:xfrm>
          <a:prstGeom prst="rect">
            <a:avLst/>
          </a:prstGeom>
          <a:solidFill>
            <a:srgbClr val="FFC107"/>
          </a:solidFill>
        </p:spPr>
        <p:txBody>
          <a:bodyPr/>
          <a:p/>
        </p:txBody>
      </p:sp>
      <p:sp>
        <p:nvSpPr>
          <p:cNvPr id="721" name="矩形 720"/>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22"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flask' style={{ fill: '#FFC107', width: 22, height: 22 }} /&gt;&#13;&#10;        &lt;/Box&gt;&#13;&#10;            &lt;Text style={{ fontSize: 29, fontWeight: 'bold', color: '#FFFFFF' }}&gt;四组控制实验分别承担现象识别、归因、边界解释与干预检验&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2&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每组实验都明确固定什么、改变什么、观测什么以及对照组是什么，因此得到的差异可以对应到明确的结构因素&lt;/Text&gt;&#13;&#10;        &lt;/Box&gt;&#13;&#10;        &lt;Table&#13;&#10;            style={{ width: '100%', height: 400 }}&#13;&#10;            defaultTextStyle={{ fontSize: 16, textAlign: 'left', color: '#1A2230', lineHeight: 1.4 }}&#13;&#10;            defaultCellStyle={{&#13;&#10;                paddingLeft: 12,&#13;&#10;                paddingRight: 12,&#13;&#10;                paddingTop: 7,&#13;&#10;                paddingBottom: 7,&#13;&#10;                border: {&#13;&#10;                    left: { width: 1, color: '#D6DCE5' },&#13;&#10;                    right: { width: 1, color: '#D6DCE5' },&#13;&#10;                    top: { width: 1, color: '#D6DCE5' },&#13;&#10;                    bottom: { width: 1, color: '#D6DCE5' },&#13;&#10;                },&#13;&#10;            }}&#13;&#10;            cells={[&#13;&#10;                [&#13;&#10;                    { text: '实验组', textStyle: { bold: true, color: '#FFFFFF', fontSize: 17 }, cellStyle: { background: { color: '#0B3A82' } } },&#13;&#10;                    { text: '固定条件', textStyle: { bold: true, color: '#FFFFFF', fontSize: 17 }, cellStyle: { background: { color: '#0B3A82' } } },&#13;&#10;                    { text: '改变的变量', textStyle: { bold: true, color: '#FFFFFF', fontSize: 17 }, cellStyle: { background: { color: '#0B3A82' } } },&#13;&#10;                    { text: '主要观测量', textStyle: { bold: true, color: '#FFFFFF', fontSize: 17 }, cellStyle: { background: { color: '#0B3A82' } } },&#13;&#10;                    { text: '对照组设置', textStyle: { bold: true, color: '#FFFFFF', fontSize: 17 }, cellStyle: { background: { color: '#0B3A82' } } },&#13;&#10;                ],&#13;&#10;                [&#13;&#10;                    { text: '实验一 容量梯度\n检验 Q1 / H1', textStyle: { bold: true, color: '#0E3F8C' }, cellStyle: { background: { color: '#E8EFF8' } } },&#13;&#10;                    { text: '城市状态、传统需求、气候条件、服务优先级、冷却技术', cellStyle: { background: { color: '#F7F9FC' } } },&#13;&#10;                    { text: 'AI IT 容量（连续增加）', cellStyle: { background: { color: '#F7F9FC' } } },&#13;&#10;                    { text: '容量—压力响应曲线、结构指标、设施剩余裕度', cellStyle: { background: { color: '#F7F9FC' } } },&#13;&#10;                    { text: '无 AI 节点的城市 Baseline', cellStyle: { background: { color: '#F7F9FC' } } },&#13;&#10;                ],&#13;&#10;                [&#13;&#10;                    { text: '实验二 结构对照\n检验 Q1（归因）', textStyle: { bold: true, color: '#0E3F8C' }, cellStyle: { background: { color: '#FFFFFF' } } },&#13;&#10;                    { text: '城市状态、年总负荷、气候条件、服务优先级', cellStyle: { background: { color: '#FFFFFF' } } },&#13;&#10;                    { text: '负荷特征、服务器侧×末端排热组合、水源配比', cellStyle: { background: { color: '#FFFFFF' } } },&#13;&#10;                    { text: '单位容量水耗、约束触发顺序、压力来源分解', cellStyle: { background: { color: '#FFFFFF' } } },&#13;&#10;                    { text: '按归因目的分别匹配等量的普通工业节点', cellStyle: { background: { color: '#FFFFFF' } } },&#13;&#10;                ],&#13;&#10;                [&#13;&#10;                    { text: '实验三 多时间尺度\n检验 Q2 / H2', textStyle: { bold: true, color: '#0E3F8C' }, cellStyle: { background: { color: '#F7F9FC' } } },&#13;&#10;                    { text: '年总水量、年总负荷与气候实现一致（层1）；复合压力另叠加（层2）', cellStyle: { background: { color: '#F7F9FC' } } },&#13;&#10;                    { text: '时间聚合水平；峰值时长与湿球温度、需求峰值重合', cellStyle: { background: { color: '#F7F9FC' } } },&#13;&#10;                    { text: '年均与峰值 CAWCC 之差、失效时长、恢复时间', cellStyle: { background: { color: '#F7F9FC' } } },&#13;&#10;                    { text: '同一状态下的年均聚合结果', cellStyle: { background: { color: '#F7F9FC' } } },&#13;&#10;                ],&#13;&#10;                [&#13;&#10;                    { text: '实验四 干预反事实\n检验 Q3 / H3', textStyle: { bold: true, color: '#0E3F8C' }, cellStyle: { background: { color: '#FFFFFF' } } },&#13;&#10;                    { text: '气候条件、传统需求、除目标设施外的全部系统参数', cellStyle: { background: { color: '#FFFFFF' } } },&#13;&#10;                    { text: '诊断性解除单一约束；现实化梯度干预（供给/设施/需求技术）', cellStyle: { background: { color: '#FFFFFF' } } },&#13;&#10;                    { text: 'CAWCC 增量、主导瓶颈迁移、边际收益曲线', cellStyle: { background: { color: '#FFFFFF' } } },&#13;&#10;                    { text: '未实施干预的同一基准情景', cellStyle: { background: { color: '#FFFFFF' } } },&#13;&#10;                ],&#13;&#10;            ]}&#13;&#10;        /&gt;&#13;&#10;        &lt;Box style={{ background: '#E8EFF8', borderLeft: '5px solid #1E4FA8', paddingLeft: 18, paddingTop: 10, paddingBottom: 10 }}&gt;&#13;&#10;            &lt;Text style={{ fontSize: 19, color: '#1A2230', lineHeight: 1.4 }}&gt;四项实验共用同一套状态变量、守恒关系与输出指标，因此差异可以归因到被控制改变的因素：容量梯度给出响应形态，结构对照给出归因，多时间尺度给出边界差异，干预实验给出可操作区间&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2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723" name="矩形 722"/>
          <p:cNvSpPr/>
          <p:nvPr/>
        </p:nvSpPr>
        <p:spPr>
          <a:xfrm>
            <a:off x="0" y="0"/>
            <a:ext cx="12192000" cy="6858000"/>
          </a:xfrm>
          <a:prstGeom prst="rect">
            <a:avLst/>
          </a:prstGeom>
          <a:solidFill>
            <a:srgbClr val="FFFFFF"/>
          </a:solidFill>
        </p:spPr>
        <p:txBody>
          <a:bodyPr/>
          <a:p/>
        </p:txBody>
      </p:sp>
      <p:sp>
        <p:nvSpPr>
          <p:cNvPr id="724" name="矩形 723"/>
          <p:cNvSpPr/>
          <p:nvPr/>
        </p:nvSpPr>
        <p:spPr>
          <a:xfrm>
            <a:off x="0" y="0"/>
            <a:ext cx="12192000" cy="685800"/>
          </a:xfrm>
          <a:prstGeom prst="rect">
            <a:avLst/>
          </a:prstGeom>
          <a:solidFill>
            <a:srgbClr val="0E3F8C"/>
          </a:solidFill>
        </p:spPr>
        <p:txBody>
          <a:bodyPr/>
          <a:p/>
        </p:txBody>
      </p:sp>
      <p:sp>
        <p:nvSpPr>
          <p:cNvPr id="725" name="圆角矩形 724"/>
          <p:cNvSpPr/>
          <p:nvPr/>
        </p:nvSpPr>
        <p:spPr>
          <a:xfrm>
            <a:off x="381000" y="152400"/>
            <a:ext cx="381000" cy="381000"/>
          </a:xfrm>
          <a:prstGeom prst="roundRect">
            <a:avLst>
              <a:gd name="adj" fmla="val 25000"/>
            </a:avLst>
          </a:prstGeom>
          <a:solidFill>
            <a:srgbClr val="12489A"/>
          </a:solidFill>
        </p:spPr>
        <p:txBody>
          <a:bodyPr/>
          <a:p/>
        </p:txBody>
      </p:sp>
      <p:pic>
        <p:nvPicPr>
          <p:cNvPr id="726" name="图片 725"/>
          <p:cNvPicPr>
            <a:picLocks noChangeAspect="1"/>
          </p:cNvPicPr>
          <p:nvPr/>
        </p:nvPicPr>
        <p:blipFill>
          <a:blip/>
          <a:stretch>
            <a:fillRect/>
          </a:stretch>
        </p:blipFill>
        <p:spPr>
          <a:xfrm>
            <a:off x="466725" y="238125"/>
            <a:ext cx="209550" cy="209550"/>
          </a:xfrm>
          <a:prstGeom prst="rect">
            <a:avLst/>
          </a:prstGeom>
        </p:spPr>
      </p:pic>
      <p:sp>
        <p:nvSpPr>
          <p:cNvPr id="727" name="文本框 726" descr="{&quot;isTemplate&quot;:true,&quot;type&quot;:&quot;text&quot;}"/>
          <p:cNvSpPr txBox="1"/>
          <p:nvPr/>
        </p:nvSpPr>
        <p:spPr>
          <a:xfrm>
            <a:off x="895350" y="180975"/>
            <a:ext cx="74580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四组控制实验分别承担现象识别、归因、边界解释与干预检验</a:t>
            </a:r>
            <a:endParaRPr lang="zh-CN" sz="2175" b="1">
              <a:solidFill>
                <a:srgbClr val="FFFFFF"/>
              </a:solidFill>
              <a:latin typeface="微软雅黑" panose="020B0503020204020204" charset="-122"/>
              <a:ea typeface="微软雅黑" panose="020B0503020204020204" charset="-122"/>
            </a:endParaRPr>
          </a:p>
        </p:txBody>
      </p:sp>
      <p:sp>
        <p:nvSpPr>
          <p:cNvPr id="728" name="文本框 727"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729" name="圆角矩形 728"/>
          <p:cNvSpPr/>
          <p:nvPr/>
        </p:nvSpPr>
        <p:spPr>
          <a:xfrm>
            <a:off x="11468100" y="238125"/>
            <a:ext cx="342900" cy="219075"/>
          </a:xfrm>
          <a:prstGeom prst="roundRect">
            <a:avLst>
              <a:gd name="adj" fmla="val 13043"/>
            </a:avLst>
          </a:prstGeom>
          <a:solidFill>
            <a:srgbClr val="FFC107"/>
          </a:solidFill>
        </p:spPr>
        <p:txBody>
          <a:bodyPr/>
          <a:p/>
        </p:txBody>
      </p:sp>
      <p:sp>
        <p:nvSpPr>
          <p:cNvPr id="730" name="文本框 729"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22</a:t>
            </a:r>
            <a:endParaRPr lang="en-US" sz="1050" b="1">
              <a:solidFill>
                <a:srgbClr val="0B3A82"/>
              </a:solidFill>
              <a:latin typeface="微软雅黑" panose="020B0503020204020204" charset="-122"/>
              <a:ea typeface="微软雅黑" panose="020B0503020204020204" charset="-122"/>
            </a:endParaRPr>
          </a:p>
        </p:txBody>
      </p:sp>
      <p:sp>
        <p:nvSpPr>
          <p:cNvPr id="731" name="圆角矩形 730"/>
          <p:cNvSpPr/>
          <p:nvPr/>
        </p:nvSpPr>
        <p:spPr>
          <a:xfrm>
            <a:off x="381000" y="800100"/>
            <a:ext cx="11430000" cy="438150"/>
          </a:xfrm>
          <a:prstGeom prst="roundRect">
            <a:avLst>
              <a:gd name="adj" fmla="val 8696"/>
            </a:avLst>
          </a:prstGeom>
          <a:solidFill>
            <a:srgbClr val="0B3A82"/>
          </a:solidFill>
        </p:spPr>
        <p:txBody>
          <a:bodyPr/>
          <a:p/>
        </p:txBody>
      </p:sp>
      <p:sp>
        <p:nvSpPr>
          <p:cNvPr id="732" name="文本框 731"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每组实验都明确固定什么、改变什么、观测什么以及对照组是什么，因此得到的差异可以对应到明确的结构因素</a:t>
            </a:r>
            <a:endParaRPr lang="zh-CN" sz="1575">
              <a:solidFill>
                <a:srgbClr val="FFFFFF"/>
              </a:solidFill>
              <a:latin typeface="微软雅黑" panose="020B0503020204020204" charset="-122"/>
              <a:ea typeface="微软雅黑" panose="020B0503020204020204" charset="-122"/>
            </a:endParaRPr>
          </a:p>
        </p:txBody>
      </p:sp>
      <p:graphicFrame>
        <p:nvGraphicFramePr>
          <p:cNvPr id="733" name="表格 732"/>
          <p:cNvGraphicFramePr/>
          <p:nvPr/>
        </p:nvGraphicFramePr>
        <p:xfrm>
          <a:off x="381000" y="1352550"/>
          <a:ext cx="11430000" cy="3810000"/>
        </p:xfrm>
        <a:graphic>
          <a:graphicData uri="http://schemas.openxmlformats.org/drawingml/2006/table">
            <a:tbl>
              <a:tblPr/>
              <a:tblGrid>
                <a:gridCol w="928728"/>
                <a:gridCol w="3312421"/>
                <a:gridCol w="2967241"/>
                <a:gridCol w="2283395"/>
                <a:gridCol w="1938215"/>
              </a:tblGrid>
              <a:tr h="296238">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实验组</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固定条件</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改变的变量</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主要观测量</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对照组设置</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r>
              <a:tr h="878440">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实验一 容量梯度
检验 Q1 / H1</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城市状态、传统需求、气候条件、服务优先级、冷却技术</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AI IT 容量（连续增加）</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容量—压力响应曲线、结构指标、设施剩余裕度</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无 AI 节点的城市 Baseline</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r>
              <a:tr h="878440">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实验二 结构对照
检验 Q1（归因）</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城市状态、年总负荷、气候条件、服务优先级</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负荷特征、服务器侧×末端排热组合、水源配比</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单位容量水耗、约束触发顺序、压力来源分解</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按归因目的分别匹配等量的普通工业节点</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r>
              <a:tr h="878440">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实验三 多时间尺度
检验 Q2 / H2</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年总水量、年总负荷与气候实现一致（层1）；复合压力另叠加（层2）</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时间聚合水平；峰值时长与湿球温度、需求峰值重合</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年均与峰值 CAWCC 之差、失效时长、恢复时间</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同一状态下的年均聚合结果</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7F9FC"/>
                    </a:solidFill>
                  </a:tcPr>
                </a:tc>
              </a:tr>
              <a:tr h="878440">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实验四 干预反事实
检验 Q3 / H3</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气候条件、传统需求、除目标设施外的全部系统参数</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诊断性解除单一约束；现实化梯度干预（供给/设施/需求技术）</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CAWCC 增量、主导瓶颈迁移、边际收益曲线</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未实施干预的同一基准情景</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FFFFF"/>
                    </a:solidFill>
                  </a:tcPr>
                </a:tc>
              </a:tr>
            </a:tbl>
          </a:graphicData>
        </a:graphic>
      </p:graphicFrame>
      <p:sp>
        <p:nvSpPr>
          <p:cNvPr id="734" name="矩形 733"/>
          <p:cNvSpPr/>
          <p:nvPr/>
        </p:nvSpPr>
        <p:spPr>
          <a:xfrm>
            <a:off x="428625" y="5276850"/>
            <a:ext cx="11430000" cy="800100"/>
          </a:xfrm>
          <a:prstGeom prst="rect">
            <a:avLst/>
          </a:prstGeom>
          <a:solidFill>
            <a:srgbClr val="E8EFF8"/>
          </a:solidFill>
        </p:spPr>
        <p:txBody>
          <a:bodyPr/>
          <a:p/>
        </p:txBody>
      </p:sp>
      <p:sp>
        <p:nvSpPr>
          <p:cNvPr id="735" name="任意多边形 734"/>
          <p:cNvSpPr/>
          <p:nvPr/>
        </p:nvSpPr>
        <p:spPr>
          <a:xfrm>
            <a:off x="381000" y="5276850"/>
            <a:ext cx="11477625" cy="800100"/>
          </a:xfrm>
          <a:custGeom>
            <a:avLst/>
            <a:gdLst/>
            <a:ahLst/>
            <a:cxnLst/>
            <a:pathLst>
              <a:path w="1205" h="84">
                <a:moveTo>
                  <a:pt x="0" y="0"/>
                </a:moveTo>
                <a:lnTo>
                  <a:pt x="5" y="0"/>
                </a:lnTo>
                <a:lnTo>
                  <a:pt x="5" y="84"/>
                </a:lnTo>
                <a:lnTo>
                  <a:pt x="0" y="84"/>
                </a:lnTo>
                <a:close/>
              </a:path>
            </a:pathLst>
          </a:custGeom>
          <a:solidFill>
            <a:srgbClr val="1E4FA8"/>
          </a:solidFill>
        </p:spPr>
        <p:txBody>
          <a:bodyPr/>
          <a:p/>
        </p:txBody>
      </p:sp>
      <p:sp>
        <p:nvSpPr>
          <p:cNvPr id="736" name="文本框 735" descr="{&quot;isTemplate&quot;:true,&quot;type&quot;:&quot;text&quot;}"/>
          <p:cNvSpPr txBox="1"/>
          <p:nvPr/>
        </p:nvSpPr>
        <p:spPr>
          <a:xfrm>
            <a:off x="600075" y="5372100"/>
            <a:ext cx="11210925" cy="609600"/>
          </a:xfrm>
          <a:prstGeom prst="rect">
            <a:avLst/>
          </a:prstGeom>
        </p:spPr>
        <p:txBody>
          <a:bodyPr wrap="square" lIns="0" tIns="0" rIns="0" bIns="0">
            <a:normAutofit/>
          </a:bodyPr>
          <a:p>
            <a:pPr>
              <a:lnSpc>
                <a:spcPct val="140000"/>
              </a:lnSpc>
            </a:pPr>
            <a:r>
              <a:rPr lang="zh-CN" sz="1425">
                <a:solidFill>
                  <a:srgbClr val="1A2230"/>
                </a:solidFill>
                <a:latin typeface="微软雅黑" panose="020B0503020204020204" charset="-122"/>
                <a:ea typeface="微软雅黑" panose="020B0503020204020204" charset="-122"/>
              </a:rPr>
              <a:t>四项实验共用同一套状态变量、守恒关系与输出指标，因此差异可以归因到被控制改变的因素：容量梯度给出响应形态，结构对照给出归因，多时间尺度给出边界差异，干预实验给出可操作区间</a:t>
            </a:r>
            <a:endParaRPr lang="zh-CN" sz="1425">
              <a:solidFill>
                <a:srgbClr val="1A2230"/>
              </a:solidFill>
              <a:latin typeface="微软雅黑" panose="020B0503020204020204" charset="-122"/>
              <a:ea typeface="微软雅黑" panose="020B0503020204020204" charset="-122"/>
            </a:endParaRPr>
          </a:p>
        </p:txBody>
      </p:sp>
      <p:sp>
        <p:nvSpPr>
          <p:cNvPr id="737" name="任意多边形 736"/>
          <p:cNvSpPr/>
          <p:nvPr/>
        </p:nvSpPr>
        <p:spPr>
          <a:xfrm>
            <a:off x="0" y="61531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738" name="文本框 737" descr="{&quot;isTemplate&quot;:true,&quot;type&quot;:&quot;text&quot;}"/>
          <p:cNvSpPr txBox="1"/>
          <p:nvPr/>
        </p:nvSpPr>
        <p:spPr>
          <a:xfrm>
            <a:off x="381000" y="62674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739" name="文本框 738" descr="{&quot;isTemplate&quot;:true,&quot;type&quot;:&quot;text&quot;}"/>
          <p:cNvSpPr txBox="1"/>
          <p:nvPr/>
        </p:nvSpPr>
        <p:spPr>
          <a:xfrm>
            <a:off x="11353800" y="62674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22 / 36</a:t>
            </a:r>
            <a:endParaRPr lang="en-US" sz="1050">
              <a:solidFill>
                <a:srgbClr val="1E4FA8"/>
              </a:solidFill>
              <a:latin typeface="微软雅黑" panose="020B0503020204020204" charset="-122"/>
              <a:ea typeface="微软雅黑" panose="020B0503020204020204" charset="-122"/>
            </a:endParaRPr>
          </a:p>
        </p:txBody>
      </p:sp>
      <p:sp>
        <p:nvSpPr>
          <p:cNvPr id="740" name="矩形 739"/>
          <p:cNvSpPr/>
          <p:nvPr/>
        </p:nvSpPr>
        <p:spPr>
          <a:xfrm>
            <a:off x="0" y="685800"/>
            <a:ext cx="57150" cy="1162050"/>
          </a:xfrm>
          <a:prstGeom prst="rect">
            <a:avLst/>
          </a:prstGeom>
          <a:solidFill>
            <a:srgbClr val="C9D6E8"/>
          </a:solidFill>
        </p:spPr>
        <p:txBody>
          <a:bodyPr/>
          <a:p/>
        </p:txBody>
      </p:sp>
      <p:sp>
        <p:nvSpPr>
          <p:cNvPr id="741" name="矩形 740"/>
          <p:cNvSpPr/>
          <p:nvPr/>
        </p:nvSpPr>
        <p:spPr>
          <a:xfrm>
            <a:off x="0" y="1847850"/>
            <a:ext cx="57150" cy="1162050"/>
          </a:xfrm>
          <a:prstGeom prst="rect">
            <a:avLst/>
          </a:prstGeom>
          <a:solidFill>
            <a:srgbClr val="C9D6E8"/>
          </a:solidFill>
        </p:spPr>
        <p:txBody>
          <a:bodyPr/>
          <a:p/>
        </p:txBody>
      </p:sp>
      <p:sp>
        <p:nvSpPr>
          <p:cNvPr id="742" name="矩形 741"/>
          <p:cNvSpPr/>
          <p:nvPr/>
        </p:nvSpPr>
        <p:spPr>
          <a:xfrm>
            <a:off x="0" y="3009900"/>
            <a:ext cx="57150" cy="1162050"/>
          </a:xfrm>
          <a:prstGeom prst="rect">
            <a:avLst/>
          </a:prstGeom>
          <a:solidFill>
            <a:srgbClr val="C9D6E8"/>
          </a:solidFill>
        </p:spPr>
        <p:txBody>
          <a:bodyPr/>
          <a:p/>
        </p:txBody>
      </p:sp>
      <p:sp>
        <p:nvSpPr>
          <p:cNvPr id="743" name="矩形 742"/>
          <p:cNvSpPr/>
          <p:nvPr/>
        </p:nvSpPr>
        <p:spPr>
          <a:xfrm>
            <a:off x="0" y="4171950"/>
            <a:ext cx="57150" cy="1162050"/>
          </a:xfrm>
          <a:prstGeom prst="rect">
            <a:avLst/>
          </a:prstGeom>
          <a:solidFill>
            <a:srgbClr val="FFC107"/>
          </a:solidFill>
        </p:spPr>
        <p:txBody>
          <a:bodyPr/>
          <a:p/>
        </p:txBody>
      </p:sp>
      <p:sp>
        <p:nvSpPr>
          <p:cNvPr id="744" name="矩形 743"/>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45"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chart-line' style={{ fill: '#FFC107', width: 22, height: 22 }} /&gt;&#13;&#10;        &lt;/Box&gt;&#13;&#10;            &lt;Text style={{ fontSize: 29, fontWeight: 'bold', color: '#FFFFFF' }}&gt;实验一｜容量梯度区分&quot;规模放大—结构响应—约束状态转换&quot;&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3&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检验 Q1 / H1：固定城市状态、传统需求、气候与优先级，仅连续提高 AI 容量，获得完整容量—压力响应曲线&lt;/Text&gt;&#13;&#10;        &lt;/Box&gt;&#13;&#10;        &lt;Box style={{ flexDirection: 'row', gap: 14, height: 218 }}&gt;&#13;&#10;            &lt;Box style={{ flex: 1, background: '#F7F9FC', border: '1px solid #D6DCE5', borderTop: '5px solid #8B97A8', borderRadius: 6, padding: 14, flexDirection: 'column' }}&gt;&#13;&#10;                &lt;Box style={{ flexDirection: 'row', alignItems: 'center', gap: 8, marginBottom: 6 }}&gt;&#13;&#10;                    &lt;Box style={{ width: 34, height: 34, background: '#8B97A8', borderRadius: 4, justifyContent: 'center', alignItems: 'center' }}&gt;&#13;&#10;                        &lt;FAIcon name='droplet' style={{ fill: '#FFFFFF', width: 18, height: 18 }} /&gt;&#13;&#10;                    &lt;/Box&gt;&#13;&#10;                    &lt;Text style={{ fontSize: 21, fontWeight: 'bold', color: '#1A2230' }}&gt;规模响应&lt;/Text&gt;&#13;&#10;                &lt;/Box&gt;&#13;&#10;                &lt;Text style={{ fontSize: 17, color: '#1A2230', lineHeight: 1.5 }}&gt;各路径比例近似稳定，取水、消耗与回流随容量同步放大，结构指标变化保持线性。&lt;/Text&gt;&#13;&#10;            &lt;/Box&gt;&#13;&#10;            &lt;Box style={{ flex: 1, background: '#F7F9FC', border: '1px solid #D6DCE5', borderTop: '5px solid #1E4FA8', borderRadius: 6, padding: 14, flexDirection: 'column' }}&gt;&#13;&#10;                &lt;Box style={{ flexDirection: 'row', alignItems: 'center', gap: 8, marginBottom: 6 }}&gt;&#13;&#10;                    &lt;Box style={{ width: 34, height: 34, background: '#1E4FA8', borderRadius: 4, justifyContent: 'center', alignItems: 'center' }}&gt;&#13;&#10;                        &lt;FAIcon name='circle-nodes' style={{ fill: '#FFFFFF', width: 18, height: 18 }} /&gt;&#13;&#10;                    &lt;/Box&gt;&#13;&#10;                    &lt;Text style={{ fontSize: 21, fontWeight: 'bold', color: '#0E3F8C' }}&gt;结构响应&lt;/Text&gt;&#13;&#10;                &lt;/Box&gt;&#13;&#10;                &lt;Text style={{ fontSize: 17, color: '#1A2230', lineHeight: 1.5 }}&gt;水源结构、W/C/R 比例与内部循环路径出现持续偏移，方向在多个气候情景下保持一致。&lt;/Text&gt;&#13;&#10;            &lt;/Box&gt;&#13;&#10;            &lt;Box style={{ flex: 1, background: '#F7F9FC', border: '1px solid #D6DCE5', borderTop: '5px solid #D9534F', borderRadius: 6, padding: 14, flexDirection: 'column' }}&gt;&#13;&#10;                &lt;Box style={{ flexDirection: 'row', alignItems: 'center', gap: 8, marginBottom: 6 }}&gt;&#13;&#10;                    &lt;Box style={{ width: 34, height: 34, background: '#D9534F', borderRadius: 4, justifyContent: 'center', alignItems: 'center' }}&gt;&#13;&#10;                        &lt;FAIcon name='chart-line' style={{ fill: '#FFFFFF', width: 18, height: 18 }} /&gt;&#13;&#10;                    &lt;/Box&gt;&#13;&#10;                    &lt;Text style={{ fontSize: 21, fontWeight: 'bold', color: '#D9534F' }}&gt;约束状态转换&lt;/Text&gt;&#13;&#10;                &lt;/Box&gt;&#13;&#10;                &lt;Text style={{ fontSize: 17, color: '#1A2230', lineHeight: 1.5 }}&gt;主导约束由水源转向给水、污水或再生水，或由水量转向水质，系统进入新的受限状态。&lt;/Text&gt;&#13;&#10;            &lt;/Box&gt;&#13;&#10;        &lt;/Box&gt;&#13;&#10;        &lt;Box style={{ flexDirection: 'row', gap: 14, height: 196 }}&gt;&#13;&#10;            &lt;Box style={{ flex: 1, background: '#F0F5FC', border: '1px solid #D6DCE5', borderRadius: 6, padding: 14, flexDirection: 'column' }}&gt;&#13;&#10;                &lt;Box style={{ borderLeft: '5px solid #1E4FA8', paddingLeft: 10, marginBottom: 8 }}&gt;&#13;&#10;                    &lt;Box style={{ flexDirection: 'row', alignItems: 'center', gap: 8 }}&gt;&#13;&#10;                &lt;FAIcon name='table-cells' style={{ fill: '#1E4FA8', width: 19, height: 19 }} /&gt;&#13;&#10;                &lt;Text style={{ fontSize: 21, fontWeight: 'bold', color: '#0E3F8C' }}&gt;总量与结构两类输出&lt;/Text&gt;&#13;&#10;            &lt;/Box&gt;&#13;&#10;                &lt;/Box&gt;&#13;&#10;                &lt;Text style={{ fontSize: 17, color: '#1A2230', lineHeight: 1.5 }}&gt;总量指标：新增取水、消耗、回流、再生水供给与设施流量负荷。结构指标：淡水依赖率、再生水占比、消耗率、回流率、内部循环率与单位容量水耗。结构距离区分规模放大与结构重构。&lt;/Text&gt;&#13;&#10;            &lt;/Box&gt;&#13;&#10;            &lt;Box style={{ flex: 1, background: '#F0F5FC', border: '1px solid #D6DCE5', borderRadius: 6, padding: 14, flexDirection: 'column' }}&gt;&#13;&#10;                &lt;Box style={{ borderLeft: '5px solid #D9534F', paddingLeft: 10, marginBottom: 8 }}&gt;&#13;&#10;                    &lt;Box style={{ flexDirection: 'row', alignItems: 'center', gap: 8 }}&gt;&#13;&#10;                &lt;FAIcon name='flag' style={{ fill: '#0E3F8C', width: 19, height: 19 }} /&gt;&#13;&#10;                &lt;Text style={{ fontSize: 21, fontWeight: 'bold', color: '#1A2230' }}&gt;结构重构的认定条件&lt;/Text&gt;&#13;&#10;            &lt;/Box&gt;&#13;&#10;                &lt;/Box&gt;&#13;&#10;                &lt;Text style={{ fontSize: 17, color: '#1A2230', lineHeight: 1.5 }}&gt;结构重构须同时满足：结构指标出现系统性变化，且不能被单一容量截断或设施上限机械解释。纯容量截断折点记为约束状态转换。&lt;/Text&gt;&#13;&#10;            &lt;/Box&gt;&#13;&#10;            &lt;Box style={{ width: 340, background: '#0E3F8C', borderRadius: 6, padding: 14, flexDirection: 'column' }}&gt;&#13;&#10;                &lt;Box style={{ borderLeft: '5px solid #FFC107', paddingLeft: 10, marginBottom: 8 }}&gt;&#13;&#10;                    &lt;Box style={{ flexDirection: 'row', alignItems: 'center', gap: 8 }}&gt;&#13;&#10;                &lt;FAIcon name='chart-line' style={{ fill: '#FFC107', width: 19, height: 19 }} /&gt;&#13;&#10;                &lt;Text style={{ fontSize: 21, fontWeight: 'bold', color: '#FFFFFF' }}&gt;预期形成的曲线&lt;/Text&gt;&#13;&#10;            &lt;/Box&gt;&#13;&#10;                &lt;/Box&gt;&#13;&#10;                &lt;Box style={{ width: 300, height: 104, marginBottom: 4 }}&gt;&#13;&#10;                    &lt;svg width={300} height={104} viewBox='0 0 300 104'&gt;&#13;&#10;                        &lt;circle cx='6' cy='7' r='4' fill='#FFC107' /&gt;&#13;&#10;                        &lt;text x='14' y='11' font-size='9.5' fill='#E4EDF9' font-family='Microsoft YaHei'&gt;取水响应&lt;/text&gt;&#13;&#10;                        &lt;circle cx='74' cy='7' r='4' fill='#8FD3F4' /&gt;&#13;&#10;                        &lt;text x='82' y='11' font-size='9.5' fill='#E4EDF9' font-family='Microsoft YaHei'&gt;结构响应&lt;/text&gt;&#13;&#10;                        &lt;circle cx='142' cy='7' r='4' fill='#FFFFFF' /&gt;&#13;&#10;                        &lt;text x='150' y='11' font-size='9.5' fill='#E4EDF9' font-family='Microsoft YaHei'&gt;设施压力&lt;/text&gt;&#13;&#10;                        &lt;rect x='196' y='16' width='52' height='72' fill='#FFC107' opacity='0.18' /&gt;&#13;&#10;                        &lt;line x1='26' y1='88' x2='288' y2='88' stroke='#7FA3D6' strokeWidth='1' /&gt;&#13;&#10;                        &lt;line x1='26' y1='18' x2='26' y2='88' stroke='#7FA3D6' strokeWidth='1' /&gt;&#13;&#10;                        &lt;path d='M26 86 L110 72 L190 52 L288 22' stroke='#FFC107' strokeWidth='2.5' fill='none' /&gt;&#13;&#10;                        &lt;path d='M26 84 L120 78 L196 60 L288 36' stroke='#8FD3F4' strokeWidth='2.5' fill='none' /&gt;&#13;&#10;                        &lt;path d='M26 85 L130 76 L200 48 L288 18' stroke='#FFFFFF' strokeWidth='2.5' fill='none' strokeDasharray='5 4' /&gt;&#13;&#10;                        &lt;text x='222' y='100' font-size='9.5' fill='#FFC107' font-family='Microsoft YaHei'&gt;结构转折区间&lt;/text&gt;&#13;&#10;                    &lt;/svg&gt;&#13;&#10;                &lt;/Box&gt;&#13;&#10;                &lt;Text style={{ fontSize: 16, color: '#FFC107', lineHeight: 1.45 }}&gt;三条曲线在同一容量轴上叠加，共同定位响应性质发生改变的容量区间&lt;/Text&gt;&#13;&#10;            &lt;/Box&gt;&#13;&#10;        &lt;/Box&gt;&#13;&#10;        &lt;Box style={{ background: '#E8EFF8', borderLeft: '5px solid #1E4FA8', paddingLeft: 18, paddingTop: 9, paddingBottom: 9 }}&gt;&#13;&#10;            &lt;Text style={{ fontSize: 19, color: '#1A2230' }}&gt;实验一承担现象识别：回答&quot;AI 规模增长到什么程度，水系统响应性质改变&quot;&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3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746" name="矩形 745"/>
          <p:cNvSpPr/>
          <p:nvPr/>
        </p:nvSpPr>
        <p:spPr>
          <a:xfrm>
            <a:off x="0" y="0"/>
            <a:ext cx="12192000" cy="6858000"/>
          </a:xfrm>
          <a:prstGeom prst="rect">
            <a:avLst/>
          </a:prstGeom>
          <a:solidFill>
            <a:srgbClr val="FFFFFF"/>
          </a:solidFill>
        </p:spPr>
        <p:txBody>
          <a:bodyPr/>
          <a:p/>
        </p:txBody>
      </p:sp>
      <p:sp>
        <p:nvSpPr>
          <p:cNvPr id="747" name="矩形 746"/>
          <p:cNvSpPr/>
          <p:nvPr/>
        </p:nvSpPr>
        <p:spPr>
          <a:xfrm>
            <a:off x="0" y="0"/>
            <a:ext cx="12192000" cy="685800"/>
          </a:xfrm>
          <a:prstGeom prst="rect">
            <a:avLst/>
          </a:prstGeom>
          <a:solidFill>
            <a:srgbClr val="0E3F8C"/>
          </a:solidFill>
        </p:spPr>
        <p:txBody>
          <a:bodyPr/>
          <a:p/>
        </p:txBody>
      </p:sp>
      <p:sp>
        <p:nvSpPr>
          <p:cNvPr id="748" name="圆角矩形 747"/>
          <p:cNvSpPr/>
          <p:nvPr/>
        </p:nvSpPr>
        <p:spPr>
          <a:xfrm>
            <a:off x="381000" y="152400"/>
            <a:ext cx="381000" cy="381000"/>
          </a:xfrm>
          <a:prstGeom prst="roundRect">
            <a:avLst>
              <a:gd name="adj" fmla="val 25000"/>
            </a:avLst>
          </a:prstGeom>
          <a:solidFill>
            <a:srgbClr val="12489A"/>
          </a:solidFill>
        </p:spPr>
        <p:txBody>
          <a:bodyPr/>
          <a:p/>
        </p:txBody>
      </p:sp>
      <p:pic>
        <p:nvPicPr>
          <p:cNvPr id="749" name="图片 748"/>
          <p:cNvPicPr>
            <a:picLocks noChangeAspect="1"/>
          </p:cNvPicPr>
          <p:nvPr/>
        </p:nvPicPr>
        <p:blipFill>
          <a:blip/>
          <a:stretch>
            <a:fillRect/>
          </a:stretch>
        </p:blipFill>
        <p:spPr>
          <a:xfrm>
            <a:off x="466725" y="238125"/>
            <a:ext cx="209550" cy="209550"/>
          </a:xfrm>
          <a:prstGeom prst="rect">
            <a:avLst/>
          </a:prstGeom>
        </p:spPr>
      </p:pic>
      <p:sp>
        <p:nvSpPr>
          <p:cNvPr id="750" name="文本框 749" descr="{&quot;isTemplate&quot;:true,&quot;type&quot;:&quot;text&quot;}"/>
          <p:cNvSpPr txBox="1"/>
          <p:nvPr/>
        </p:nvSpPr>
        <p:spPr>
          <a:xfrm>
            <a:off x="895350" y="180975"/>
            <a:ext cx="751522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实验一｜容量梯度区分</a:t>
            </a:r>
            <a:r>
              <a:rPr lang="en-US" sz="2175" b="1">
                <a:solidFill>
                  <a:srgbClr val="FFFFFF"/>
                </a:solidFill>
                <a:latin typeface="微软雅黑" panose="020B0503020204020204" charset="-122"/>
                <a:ea typeface="微软雅黑" panose="020B0503020204020204" charset="-122"/>
              </a:rPr>
              <a:t>"</a:t>
            </a:r>
            <a:r>
              <a:rPr lang="zh-CN" sz="2175" b="1">
                <a:solidFill>
                  <a:srgbClr val="FFFFFF"/>
                </a:solidFill>
                <a:latin typeface="微软雅黑" panose="020B0503020204020204" charset="-122"/>
                <a:ea typeface="微软雅黑" panose="020B0503020204020204" charset="-122"/>
              </a:rPr>
              <a:t>规模放大—结构响应—约束状态转换</a:t>
            </a:r>
            <a:r>
              <a:rPr lang="en-US" sz="2175" b="1">
                <a:solidFill>
                  <a:srgbClr val="FFFFFF"/>
                </a:solidFill>
                <a:latin typeface="微软雅黑" panose="020B0503020204020204" charset="-122"/>
                <a:ea typeface="微软雅黑" panose="020B0503020204020204" charset="-122"/>
              </a:rPr>
              <a:t>"</a:t>
            </a:r>
            <a:endParaRPr lang="en-US" sz="2175" b="1">
              <a:solidFill>
                <a:srgbClr val="FFFFFF"/>
              </a:solidFill>
              <a:latin typeface="微软雅黑" panose="020B0503020204020204" charset="-122"/>
              <a:ea typeface="微软雅黑" panose="020B0503020204020204" charset="-122"/>
            </a:endParaRPr>
          </a:p>
        </p:txBody>
      </p:sp>
      <p:sp>
        <p:nvSpPr>
          <p:cNvPr id="751" name="文本框 750"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752" name="圆角矩形 751"/>
          <p:cNvSpPr/>
          <p:nvPr/>
        </p:nvSpPr>
        <p:spPr>
          <a:xfrm>
            <a:off x="11468100" y="238125"/>
            <a:ext cx="342900" cy="219075"/>
          </a:xfrm>
          <a:prstGeom prst="roundRect">
            <a:avLst>
              <a:gd name="adj" fmla="val 13043"/>
            </a:avLst>
          </a:prstGeom>
          <a:solidFill>
            <a:srgbClr val="FFC107"/>
          </a:solidFill>
        </p:spPr>
        <p:txBody>
          <a:bodyPr/>
          <a:p/>
        </p:txBody>
      </p:sp>
      <p:sp>
        <p:nvSpPr>
          <p:cNvPr id="753" name="文本框 752"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23</a:t>
            </a:r>
            <a:endParaRPr lang="en-US" sz="1050" b="1">
              <a:solidFill>
                <a:srgbClr val="0B3A82"/>
              </a:solidFill>
              <a:latin typeface="微软雅黑" panose="020B0503020204020204" charset="-122"/>
              <a:ea typeface="微软雅黑" panose="020B0503020204020204" charset="-122"/>
            </a:endParaRPr>
          </a:p>
        </p:txBody>
      </p:sp>
      <p:sp>
        <p:nvSpPr>
          <p:cNvPr id="754" name="圆角矩形 753"/>
          <p:cNvSpPr/>
          <p:nvPr/>
        </p:nvSpPr>
        <p:spPr>
          <a:xfrm>
            <a:off x="381000" y="800100"/>
            <a:ext cx="11430000" cy="438150"/>
          </a:xfrm>
          <a:prstGeom prst="roundRect">
            <a:avLst>
              <a:gd name="adj" fmla="val 8696"/>
            </a:avLst>
          </a:prstGeom>
          <a:solidFill>
            <a:srgbClr val="0B3A82"/>
          </a:solidFill>
        </p:spPr>
        <p:txBody>
          <a:bodyPr/>
          <a:p/>
        </p:txBody>
      </p:sp>
      <p:sp>
        <p:nvSpPr>
          <p:cNvPr id="755" name="文本框 754"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检验</a:t>
            </a:r>
            <a:r>
              <a:rPr lang="en-US" sz="1575">
                <a:solidFill>
                  <a:srgbClr val="FFFFFF"/>
                </a:solidFill>
                <a:latin typeface="微软雅黑" panose="020B0503020204020204" charset="-122"/>
                <a:ea typeface="微软雅黑" panose="020B0503020204020204" charset="-122"/>
              </a:rPr>
              <a:t> Q1 / H1</a:t>
            </a:r>
            <a:r>
              <a:rPr lang="zh-CN" sz="1575">
                <a:solidFill>
                  <a:srgbClr val="FFFFFF"/>
                </a:solidFill>
                <a:latin typeface="微软雅黑" panose="020B0503020204020204" charset="-122"/>
                <a:ea typeface="微软雅黑" panose="020B0503020204020204" charset="-122"/>
              </a:rPr>
              <a:t>：固定城市状态、传统需求、气候与优先级，仅连续提高</a:t>
            </a:r>
            <a:r>
              <a:rPr lang="en-US" sz="1575">
                <a:solidFill>
                  <a:srgbClr val="FFFFFF"/>
                </a:solidFill>
                <a:latin typeface="微软雅黑" panose="020B0503020204020204" charset="-122"/>
                <a:ea typeface="微软雅黑" panose="020B0503020204020204" charset="-122"/>
              </a:rPr>
              <a:t> AI </a:t>
            </a:r>
            <a:r>
              <a:rPr lang="zh-CN" sz="1575">
                <a:solidFill>
                  <a:srgbClr val="FFFFFF"/>
                </a:solidFill>
                <a:latin typeface="微软雅黑" panose="020B0503020204020204" charset="-122"/>
                <a:ea typeface="微软雅黑" panose="020B0503020204020204" charset="-122"/>
              </a:rPr>
              <a:t>容量，获得完整容量—压力响应曲线</a:t>
            </a:r>
            <a:endParaRPr lang="zh-CN" sz="1575">
              <a:solidFill>
                <a:srgbClr val="FFFFFF"/>
              </a:solidFill>
              <a:latin typeface="微软雅黑" panose="020B0503020204020204" charset="-122"/>
              <a:ea typeface="微软雅黑" panose="020B0503020204020204" charset="-122"/>
            </a:endParaRPr>
          </a:p>
        </p:txBody>
      </p:sp>
      <p:sp>
        <p:nvSpPr>
          <p:cNvPr id="756" name="圆角矩形 755"/>
          <p:cNvSpPr/>
          <p:nvPr/>
        </p:nvSpPr>
        <p:spPr>
          <a:xfrm>
            <a:off x="381000" y="1400175"/>
            <a:ext cx="3724275" cy="2076450"/>
          </a:xfrm>
          <a:prstGeom prst="roundRect">
            <a:avLst>
              <a:gd name="adj" fmla="val 2752"/>
            </a:avLst>
          </a:prstGeom>
          <a:solidFill>
            <a:srgbClr val="F7F9FC"/>
          </a:solidFill>
        </p:spPr>
        <p:txBody>
          <a:bodyPr/>
          <a:p/>
        </p:txBody>
      </p:sp>
      <p:sp>
        <p:nvSpPr>
          <p:cNvPr id="757" name="任意多边形 756"/>
          <p:cNvSpPr/>
          <p:nvPr/>
        </p:nvSpPr>
        <p:spPr>
          <a:xfrm>
            <a:off x="381000" y="1400175"/>
            <a:ext cx="3724275" cy="2076450"/>
          </a:xfrm>
          <a:custGeom>
            <a:avLst/>
            <a:gdLst/>
            <a:ahLst/>
            <a:cxnLst/>
            <a:pathLst>
              <a:path w="391" h="218">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8B97A8"/>
          </a:solidFill>
        </p:spPr>
        <p:txBody>
          <a:bodyPr/>
          <a:p/>
        </p:txBody>
      </p:sp>
      <p:sp>
        <p:nvSpPr>
          <p:cNvPr id="758" name="圆角矩形 757"/>
          <p:cNvSpPr/>
          <p:nvPr/>
        </p:nvSpPr>
        <p:spPr>
          <a:xfrm>
            <a:off x="514350" y="1533525"/>
            <a:ext cx="323850" cy="323850"/>
          </a:xfrm>
          <a:prstGeom prst="roundRect">
            <a:avLst>
              <a:gd name="adj" fmla="val 11765"/>
            </a:avLst>
          </a:prstGeom>
          <a:solidFill>
            <a:srgbClr val="8B97A8"/>
          </a:solidFill>
        </p:spPr>
        <p:txBody>
          <a:bodyPr/>
          <a:p/>
        </p:txBody>
      </p:sp>
      <p:pic>
        <p:nvPicPr>
          <p:cNvPr id="759" name="图片 758"/>
          <p:cNvPicPr>
            <a:picLocks noChangeAspect="1"/>
          </p:cNvPicPr>
          <p:nvPr/>
        </p:nvPicPr>
        <p:blipFill>
          <a:blip/>
          <a:stretch>
            <a:fillRect/>
          </a:stretch>
        </p:blipFill>
        <p:spPr>
          <a:xfrm>
            <a:off x="590550" y="1609725"/>
            <a:ext cx="171450" cy="171450"/>
          </a:xfrm>
          <a:prstGeom prst="rect">
            <a:avLst/>
          </a:prstGeom>
        </p:spPr>
      </p:pic>
      <p:sp>
        <p:nvSpPr>
          <p:cNvPr id="760" name="文本框 759" descr="{&quot;isTemplate&quot;:true,&quot;type&quot;:&quot;text&quot;}"/>
          <p:cNvSpPr txBox="1"/>
          <p:nvPr/>
        </p:nvSpPr>
        <p:spPr>
          <a:xfrm>
            <a:off x="914400" y="1571625"/>
            <a:ext cx="800100" cy="247650"/>
          </a:xfrm>
          <a:prstGeom prst="rect">
            <a:avLst/>
          </a:prstGeom>
        </p:spPr>
        <p:txBody>
          <a:bodyPr wrap="none" lIns="0" tIns="0" rIns="0" bIns="0"/>
          <a:p>
            <a:pPr>
              <a:lnSpc>
                <a:spcPct val="100000"/>
              </a:lnSpc>
            </a:pPr>
            <a:r>
              <a:rPr lang="zh-CN" sz="1575" b="1">
                <a:solidFill>
                  <a:srgbClr val="1A2230"/>
                </a:solidFill>
                <a:latin typeface="微软雅黑" panose="020B0503020204020204" charset="-122"/>
                <a:ea typeface="微软雅黑" panose="020B0503020204020204" charset="-122"/>
              </a:rPr>
              <a:t>规模响应</a:t>
            </a:r>
            <a:endParaRPr lang="zh-CN" sz="1575" b="1">
              <a:solidFill>
                <a:srgbClr val="1A2230"/>
              </a:solidFill>
              <a:latin typeface="微软雅黑" panose="020B0503020204020204" charset="-122"/>
              <a:ea typeface="微软雅黑" panose="020B0503020204020204" charset="-122"/>
            </a:endParaRPr>
          </a:p>
        </p:txBody>
      </p:sp>
      <p:sp>
        <p:nvSpPr>
          <p:cNvPr id="761" name="文本框 760" descr="{&quot;isTemplate&quot;:true,&quot;type&quot;:&quot;text&quot;}"/>
          <p:cNvSpPr txBox="1"/>
          <p:nvPr/>
        </p:nvSpPr>
        <p:spPr>
          <a:xfrm>
            <a:off x="514350" y="1914525"/>
            <a:ext cx="345757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各路径比例近似稳定，取水、消耗与回流随容量同步放大，结构指标变化保持线性。</a:t>
            </a:r>
            <a:endParaRPr lang="zh-CN" sz="1275">
              <a:solidFill>
                <a:srgbClr val="1A2230"/>
              </a:solidFill>
              <a:latin typeface="微软雅黑" panose="020B0503020204020204" charset="-122"/>
              <a:ea typeface="微软雅黑" panose="020B0503020204020204" charset="-122"/>
            </a:endParaRPr>
          </a:p>
        </p:txBody>
      </p:sp>
      <p:sp>
        <p:nvSpPr>
          <p:cNvPr id="762" name="圆角矩形 761"/>
          <p:cNvSpPr/>
          <p:nvPr/>
        </p:nvSpPr>
        <p:spPr>
          <a:xfrm>
            <a:off x="4238625" y="1400175"/>
            <a:ext cx="3714750" cy="2076450"/>
          </a:xfrm>
          <a:prstGeom prst="roundRect">
            <a:avLst>
              <a:gd name="adj" fmla="val 2752"/>
            </a:avLst>
          </a:prstGeom>
          <a:solidFill>
            <a:srgbClr val="F7F9FC"/>
          </a:solidFill>
        </p:spPr>
        <p:txBody>
          <a:bodyPr/>
          <a:p/>
        </p:txBody>
      </p:sp>
      <p:sp>
        <p:nvSpPr>
          <p:cNvPr id="763" name="任意多边形 762"/>
          <p:cNvSpPr/>
          <p:nvPr/>
        </p:nvSpPr>
        <p:spPr>
          <a:xfrm>
            <a:off x="4238625" y="1400175"/>
            <a:ext cx="3714750" cy="2076450"/>
          </a:xfrm>
          <a:custGeom>
            <a:avLst/>
            <a:gdLst/>
            <a:ahLst/>
            <a:cxnLst/>
            <a:pathLst>
              <a:path w="390" h="218">
                <a:moveTo>
                  <a:pt x="384" y="0"/>
                </a:moveTo>
                <a:cubicBezTo>
                  <a:pt x="387" y="0"/>
                  <a:pt x="390" y="3"/>
                  <a:pt x="390" y="6"/>
                </a:cubicBezTo>
                <a:cubicBezTo>
                  <a:pt x="390" y="5"/>
                  <a:pt x="389" y="5"/>
                  <a:pt x="389" y="5"/>
                </a:cubicBezTo>
                <a:lnTo>
                  <a:pt x="1" y="5"/>
                </a:lnTo>
                <a:cubicBezTo>
                  <a:pt x="0" y="5"/>
                  <a:pt x="0" y="5"/>
                  <a:pt x="0" y="6"/>
                </a:cubicBezTo>
                <a:cubicBezTo>
                  <a:pt x="0" y="3"/>
                  <a:pt x="3" y="0"/>
                  <a:pt x="6" y="0"/>
                </a:cubicBezTo>
                <a:lnTo>
                  <a:pt x="384" y="0"/>
                </a:lnTo>
                <a:close/>
              </a:path>
            </a:pathLst>
          </a:custGeom>
          <a:solidFill>
            <a:srgbClr val="1E4FA8"/>
          </a:solidFill>
        </p:spPr>
        <p:txBody>
          <a:bodyPr/>
          <a:p/>
        </p:txBody>
      </p:sp>
      <p:sp>
        <p:nvSpPr>
          <p:cNvPr id="764" name="圆角矩形 763"/>
          <p:cNvSpPr/>
          <p:nvPr/>
        </p:nvSpPr>
        <p:spPr>
          <a:xfrm>
            <a:off x="4371975" y="1533525"/>
            <a:ext cx="323850" cy="323850"/>
          </a:xfrm>
          <a:prstGeom prst="roundRect">
            <a:avLst>
              <a:gd name="adj" fmla="val 11765"/>
            </a:avLst>
          </a:prstGeom>
          <a:solidFill>
            <a:srgbClr val="1E4FA8"/>
          </a:solidFill>
        </p:spPr>
        <p:txBody>
          <a:bodyPr/>
          <a:p/>
        </p:txBody>
      </p:sp>
      <p:pic>
        <p:nvPicPr>
          <p:cNvPr id="765" name="图片 764"/>
          <p:cNvPicPr>
            <a:picLocks noChangeAspect="1"/>
          </p:cNvPicPr>
          <p:nvPr/>
        </p:nvPicPr>
        <p:blipFill>
          <a:blip/>
          <a:stretch>
            <a:fillRect/>
          </a:stretch>
        </p:blipFill>
        <p:spPr>
          <a:xfrm>
            <a:off x="4448175" y="1609725"/>
            <a:ext cx="171450" cy="171450"/>
          </a:xfrm>
          <a:prstGeom prst="rect">
            <a:avLst/>
          </a:prstGeom>
        </p:spPr>
      </p:pic>
      <p:sp>
        <p:nvSpPr>
          <p:cNvPr id="766" name="文本框 765" descr="{&quot;isTemplate&quot;:true,&quot;type&quot;:&quot;text&quot;}"/>
          <p:cNvSpPr txBox="1"/>
          <p:nvPr/>
        </p:nvSpPr>
        <p:spPr>
          <a:xfrm>
            <a:off x="4772025" y="1571625"/>
            <a:ext cx="800100"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结构响应</a:t>
            </a:r>
            <a:endParaRPr lang="zh-CN" sz="1575" b="1">
              <a:solidFill>
                <a:srgbClr val="0E3F8C"/>
              </a:solidFill>
              <a:latin typeface="微软雅黑" panose="020B0503020204020204" charset="-122"/>
              <a:ea typeface="微软雅黑" panose="020B0503020204020204" charset="-122"/>
            </a:endParaRPr>
          </a:p>
        </p:txBody>
      </p:sp>
      <p:sp>
        <p:nvSpPr>
          <p:cNvPr id="767" name="文本框 766" descr="{&quot;isTemplate&quot;:true,&quot;type&quot;:&quot;text&quot;}"/>
          <p:cNvSpPr txBox="1"/>
          <p:nvPr/>
        </p:nvSpPr>
        <p:spPr>
          <a:xfrm>
            <a:off x="4371975" y="1914525"/>
            <a:ext cx="3448050"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水源结构、</a:t>
            </a:r>
            <a:r>
              <a:rPr lang="en-US" sz="1275">
                <a:solidFill>
                  <a:srgbClr val="1A2230"/>
                </a:solidFill>
                <a:latin typeface="微软雅黑" panose="020B0503020204020204" charset="-122"/>
                <a:ea typeface="微软雅黑" panose="020B0503020204020204" charset="-122"/>
              </a:rPr>
              <a:t>W/C/R </a:t>
            </a:r>
            <a:r>
              <a:rPr lang="zh-CN" sz="1275">
                <a:solidFill>
                  <a:srgbClr val="1A2230"/>
                </a:solidFill>
                <a:latin typeface="微软雅黑" panose="020B0503020204020204" charset="-122"/>
                <a:ea typeface="微软雅黑" panose="020B0503020204020204" charset="-122"/>
              </a:rPr>
              <a:t>比例与内部循环路径出现持续偏移，方向在多个气候情景下保持一致。</a:t>
            </a:r>
            <a:endParaRPr lang="zh-CN" sz="1275">
              <a:solidFill>
                <a:srgbClr val="1A2230"/>
              </a:solidFill>
              <a:latin typeface="微软雅黑" panose="020B0503020204020204" charset="-122"/>
              <a:ea typeface="微软雅黑" panose="020B0503020204020204" charset="-122"/>
            </a:endParaRPr>
          </a:p>
        </p:txBody>
      </p:sp>
      <p:sp>
        <p:nvSpPr>
          <p:cNvPr id="768" name="圆角矩形 767"/>
          <p:cNvSpPr/>
          <p:nvPr/>
        </p:nvSpPr>
        <p:spPr>
          <a:xfrm>
            <a:off x="8086725" y="1400175"/>
            <a:ext cx="3724275" cy="2076450"/>
          </a:xfrm>
          <a:prstGeom prst="roundRect">
            <a:avLst>
              <a:gd name="adj" fmla="val 2752"/>
            </a:avLst>
          </a:prstGeom>
          <a:solidFill>
            <a:srgbClr val="F7F9FC"/>
          </a:solidFill>
        </p:spPr>
        <p:txBody>
          <a:bodyPr/>
          <a:p/>
        </p:txBody>
      </p:sp>
      <p:sp>
        <p:nvSpPr>
          <p:cNvPr id="769" name="任意多边形 768"/>
          <p:cNvSpPr/>
          <p:nvPr/>
        </p:nvSpPr>
        <p:spPr>
          <a:xfrm>
            <a:off x="8086725" y="1400175"/>
            <a:ext cx="3724275" cy="2076450"/>
          </a:xfrm>
          <a:custGeom>
            <a:avLst/>
            <a:gdLst/>
            <a:ahLst/>
            <a:cxnLst/>
            <a:pathLst>
              <a:path w="391" h="218">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D9534F"/>
          </a:solidFill>
        </p:spPr>
        <p:txBody>
          <a:bodyPr/>
          <a:p/>
        </p:txBody>
      </p:sp>
      <p:sp>
        <p:nvSpPr>
          <p:cNvPr id="770" name="圆角矩形 769"/>
          <p:cNvSpPr/>
          <p:nvPr/>
        </p:nvSpPr>
        <p:spPr>
          <a:xfrm>
            <a:off x="8220075" y="1533525"/>
            <a:ext cx="323850" cy="323850"/>
          </a:xfrm>
          <a:prstGeom prst="roundRect">
            <a:avLst>
              <a:gd name="adj" fmla="val 11765"/>
            </a:avLst>
          </a:prstGeom>
          <a:solidFill>
            <a:srgbClr val="D9534F"/>
          </a:solidFill>
        </p:spPr>
        <p:txBody>
          <a:bodyPr/>
          <a:p/>
        </p:txBody>
      </p:sp>
      <p:pic>
        <p:nvPicPr>
          <p:cNvPr id="771" name="图片 770"/>
          <p:cNvPicPr>
            <a:picLocks noChangeAspect="1"/>
          </p:cNvPicPr>
          <p:nvPr/>
        </p:nvPicPr>
        <p:blipFill>
          <a:blip/>
          <a:stretch>
            <a:fillRect/>
          </a:stretch>
        </p:blipFill>
        <p:spPr>
          <a:xfrm>
            <a:off x="8296275" y="1609725"/>
            <a:ext cx="171450" cy="171450"/>
          </a:xfrm>
          <a:prstGeom prst="rect">
            <a:avLst/>
          </a:prstGeom>
        </p:spPr>
      </p:pic>
      <p:sp>
        <p:nvSpPr>
          <p:cNvPr id="772" name="文本框 771" descr="{&quot;isTemplate&quot;:true,&quot;type&quot;:&quot;text&quot;}"/>
          <p:cNvSpPr txBox="1"/>
          <p:nvPr/>
        </p:nvSpPr>
        <p:spPr>
          <a:xfrm>
            <a:off x="8620125" y="1571625"/>
            <a:ext cx="1200150" cy="247650"/>
          </a:xfrm>
          <a:prstGeom prst="rect">
            <a:avLst/>
          </a:prstGeom>
        </p:spPr>
        <p:txBody>
          <a:bodyPr wrap="none" lIns="0" tIns="0" rIns="0" bIns="0"/>
          <a:p>
            <a:pPr>
              <a:lnSpc>
                <a:spcPct val="100000"/>
              </a:lnSpc>
            </a:pPr>
            <a:r>
              <a:rPr lang="zh-CN" sz="1575" b="1">
                <a:solidFill>
                  <a:srgbClr val="D9534F"/>
                </a:solidFill>
                <a:latin typeface="微软雅黑" panose="020B0503020204020204" charset="-122"/>
                <a:ea typeface="微软雅黑" panose="020B0503020204020204" charset="-122"/>
              </a:rPr>
              <a:t>约束状态转换</a:t>
            </a:r>
            <a:endParaRPr lang="zh-CN" sz="1575" b="1">
              <a:solidFill>
                <a:srgbClr val="D9534F"/>
              </a:solidFill>
              <a:latin typeface="微软雅黑" panose="020B0503020204020204" charset="-122"/>
              <a:ea typeface="微软雅黑" panose="020B0503020204020204" charset="-122"/>
            </a:endParaRPr>
          </a:p>
        </p:txBody>
      </p:sp>
      <p:sp>
        <p:nvSpPr>
          <p:cNvPr id="773" name="文本框 772" descr="{&quot;isTemplate&quot;:true,&quot;type&quot;:&quot;text&quot;}"/>
          <p:cNvSpPr txBox="1"/>
          <p:nvPr/>
        </p:nvSpPr>
        <p:spPr>
          <a:xfrm>
            <a:off x="8220075" y="1914525"/>
            <a:ext cx="345757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主导约束由水源转向给水、污水或再生水，或由水量转向水质，系统进入新的受限状态。</a:t>
            </a:r>
            <a:endParaRPr lang="zh-CN" sz="1275">
              <a:solidFill>
                <a:srgbClr val="1A2230"/>
              </a:solidFill>
              <a:latin typeface="微软雅黑" panose="020B0503020204020204" charset="-122"/>
              <a:ea typeface="微软雅黑" panose="020B0503020204020204" charset="-122"/>
            </a:endParaRPr>
          </a:p>
        </p:txBody>
      </p:sp>
      <p:sp>
        <p:nvSpPr>
          <p:cNvPr id="774" name="圆角矩形 773"/>
          <p:cNvSpPr/>
          <p:nvPr/>
        </p:nvSpPr>
        <p:spPr>
          <a:xfrm>
            <a:off x="381000" y="3543300"/>
            <a:ext cx="3962400" cy="1866900"/>
          </a:xfrm>
          <a:prstGeom prst="roundRect">
            <a:avLst>
              <a:gd name="adj" fmla="val 3061"/>
            </a:avLst>
          </a:prstGeom>
          <a:solidFill>
            <a:srgbClr val="F0F5FC"/>
          </a:solidFill>
          <a:ln w="12700">
            <a:solidFill>
              <a:srgbClr val="D6DCE5"/>
            </a:solidFill>
            <a:prstDash val="solid"/>
          </a:ln>
        </p:spPr>
        <p:txBody>
          <a:bodyPr/>
          <a:p/>
        </p:txBody>
      </p:sp>
      <p:sp>
        <p:nvSpPr>
          <p:cNvPr id="775" name="任意多边形 774"/>
          <p:cNvSpPr/>
          <p:nvPr/>
        </p:nvSpPr>
        <p:spPr>
          <a:xfrm>
            <a:off x="514350" y="3676650"/>
            <a:ext cx="3743325" cy="247650"/>
          </a:xfrm>
          <a:custGeom>
            <a:avLst/>
            <a:gdLst/>
            <a:ahLst/>
            <a:cxnLst/>
            <a:pathLst>
              <a:path w="393" h="26">
                <a:moveTo>
                  <a:pt x="0" y="0"/>
                </a:moveTo>
                <a:lnTo>
                  <a:pt x="5" y="0"/>
                </a:lnTo>
                <a:lnTo>
                  <a:pt x="5" y="26"/>
                </a:lnTo>
                <a:lnTo>
                  <a:pt x="0" y="26"/>
                </a:lnTo>
                <a:close/>
              </a:path>
            </a:pathLst>
          </a:custGeom>
          <a:solidFill>
            <a:srgbClr val="1E4FA8"/>
          </a:solidFill>
        </p:spPr>
        <p:txBody>
          <a:bodyPr/>
          <a:p/>
        </p:txBody>
      </p:sp>
      <p:pic>
        <p:nvPicPr>
          <p:cNvPr id="776" name="图片 775"/>
          <p:cNvPicPr>
            <a:picLocks noChangeAspect="1"/>
          </p:cNvPicPr>
          <p:nvPr/>
        </p:nvPicPr>
        <p:blipFill>
          <a:blip/>
          <a:stretch>
            <a:fillRect/>
          </a:stretch>
        </p:blipFill>
        <p:spPr>
          <a:xfrm>
            <a:off x="657225" y="3714750"/>
            <a:ext cx="180975" cy="180975"/>
          </a:xfrm>
          <a:prstGeom prst="rect">
            <a:avLst/>
          </a:prstGeom>
        </p:spPr>
      </p:pic>
      <p:sp>
        <p:nvSpPr>
          <p:cNvPr id="777" name="文本框 776" descr="{&quot;isTemplate&quot;:true,&quot;type&quot;:&quot;text&quot;}"/>
          <p:cNvSpPr txBox="1"/>
          <p:nvPr/>
        </p:nvSpPr>
        <p:spPr>
          <a:xfrm>
            <a:off x="914400" y="3676650"/>
            <a:ext cx="180022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总量与结构两类输出</a:t>
            </a:r>
            <a:endParaRPr lang="zh-CN" sz="1575" b="1">
              <a:solidFill>
                <a:srgbClr val="0E3F8C"/>
              </a:solidFill>
              <a:latin typeface="微软雅黑" panose="020B0503020204020204" charset="-122"/>
              <a:ea typeface="微软雅黑" panose="020B0503020204020204" charset="-122"/>
            </a:endParaRPr>
          </a:p>
        </p:txBody>
      </p:sp>
      <p:sp>
        <p:nvSpPr>
          <p:cNvPr id="778" name="文本框 777" descr="{&quot;isTemplate&quot;:true,&quot;type&quot;:&quot;text&quot;}"/>
          <p:cNvSpPr txBox="1"/>
          <p:nvPr/>
        </p:nvSpPr>
        <p:spPr>
          <a:xfrm>
            <a:off x="514350" y="4000500"/>
            <a:ext cx="3695700" cy="1171575"/>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总量指标：新增取水、消耗、回流、再生水供给与设施流量负荷。结构指标：淡水依赖率、再生水占比、消耗率、回流率、内部循环率与单位容量水耗。结构距离区分规模放大与结构重构。</a:t>
            </a:r>
            <a:endParaRPr lang="zh-CN" sz="1275">
              <a:solidFill>
                <a:srgbClr val="1A2230"/>
              </a:solidFill>
              <a:latin typeface="微软雅黑" panose="020B0503020204020204" charset="-122"/>
              <a:ea typeface="微软雅黑" panose="020B0503020204020204" charset="-122"/>
            </a:endParaRPr>
          </a:p>
        </p:txBody>
      </p:sp>
      <p:sp>
        <p:nvSpPr>
          <p:cNvPr id="779" name="圆角矩形 778"/>
          <p:cNvSpPr/>
          <p:nvPr/>
        </p:nvSpPr>
        <p:spPr>
          <a:xfrm>
            <a:off x="4476750" y="3543300"/>
            <a:ext cx="3962400" cy="1866900"/>
          </a:xfrm>
          <a:prstGeom prst="roundRect">
            <a:avLst>
              <a:gd name="adj" fmla="val 3061"/>
            </a:avLst>
          </a:prstGeom>
          <a:solidFill>
            <a:srgbClr val="F0F5FC"/>
          </a:solidFill>
          <a:ln w="12700">
            <a:solidFill>
              <a:srgbClr val="D6DCE5"/>
            </a:solidFill>
            <a:prstDash val="solid"/>
          </a:ln>
        </p:spPr>
        <p:txBody>
          <a:bodyPr/>
          <a:p/>
        </p:txBody>
      </p:sp>
      <p:sp>
        <p:nvSpPr>
          <p:cNvPr id="780" name="任意多边形 779"/>
          <p:cNvSpPr/>
          <p:nvPr/>
        </p:nvSpPr>
        <p:spPr>
          <a:xfrm>
            <a:off x="4610100" y="3676650"/>
            <a:ext cx="3743325" cy="247650"/>
          </a:xfrm>
          <a:custGeom>
            <a:avLst/>
            <a:gdLst/>
            <a:ahLst/>
            <a:cxnLst/>
            <a:pathLst>
              <a:path w="393" h="26">
                <a:moveTo>
                  <a:pt x="0" y="0"/>
                </a:moveTo>
                <a:lnTo>
                  <a:pt x="5" y="0"/>
                </a:lnTo>
                <a:lnTo>
                  <a:pt x="5" y="26"/>
                </a:lnTo>
                <a:lnTo>
                  <a:pt x="0" y="26"/>
                </a:lnTo>
                <a:close/>
              </a:path>
            </a:pathLst>
          </a:custGeom>
          <a:solidFill>
            <a:srgbClr val="D9534F"/>
          </a:solidFill>
        </p:spPr>
        <p:txBody>
          <a:bodyPr/>
          <a:p/>
        </p:txBody>
      </p:sp>
      <p:pic>
        <p:nvPicPr>
          <p:cNvPr id="781" name="图片 780"/>
          <p:cNvPicPr>
            <a:picLocks noChangeAspect="1"/>
          </p:cNvPicPr>
          <p:nvPr/>
        </p:nvPicPr>
        <p:blipFill>
          <a:blip/>
          <a:stretch>
            <a:fillRect/>
          </a:stretch>
        </p:blipFill>
        <p:spPr>
          <a:xfrm>
            <a:off x="4752975" y="3714750"/>
            <a:ext cx="180975" cy="180975"/>
          </a:xfrm>
          <a:prstGeom prst="rect">
            <a:avLst/>
          </a:prstGeom>
        </p:spPr>
      </p:pic>
      <p:sp>
        <p:nvSpPr>
          <p:cNvPr id="782" name="文本框 781" descr="{&quot;isTemplate&quot;:true,&quot;type&quot;:&quot;text&quot;}"/>
          <p:cNvSpPr txBox="1"/>
          <p:nvPr/>
        </p:nvSpPr>
        <p:spPr>
          <a:xfrm>
            <a:off x="5010150" y="3676650"/>
            <a:ext cx="1800225" cy="247650"/>
          </a:xfrm>
          <a:prstGeom prst="rect">
            <a:avLst/>
          </a:prstGeom>
        </p:spPr>
        <p:txBody>
          <a:bodyPr wrap="none" lIns="0" tIns="0" rIns="0" bIns="0"/>
          <a:p>
            <a:pPr>
              <a:lnSpc>
                <a:spcPct val="100000"/>
              </a:lnSpc>
            </a:pPr>
            <a:r>
              <a:rPr lang="zh-CN" sz="1575" b="1">
                <a:solidFill>
                  <a:srgbClr val="1A2230"/>
                </a:solidFill>
                <a:latin typeface="微软雅黑" panose="020B0503020204020204" charset="-122"/>
                <a:ea typeface="微软雅黑" panose="020B0503020204020204" charset="-122"/>
              </a:rPr>
              <a:t>结构重构的认定条件</a:t>
            </a:r>
            <a:endParaRPr lang="zh-CN" sz="1575" b="1">
              <a:solidFill>
                <a:srgbClr val="1A2230"/>
              </a:solidFill>
              <a:latin typeface="微软雅黑" panose="020B0503020204020204" charset="-122"/>
              <a:ea typeface="微软雅黑" panose="020B0503020204020204" charset="-122"/>
            </a:endParaRPr>
          </a:p>
        </p:txBody>
      </p:sp>
      <p:sp>
        <p:nvSpPr>
          <p:cNvPr id="783" name="文本框 782" descr="{&quot;isTemplate&quot;:true,&quot;type&quot;:&quot;text&quot;}"/>
          <p:cNvSpPr txBox="1"/>
          <p:nvPr/>
        </p:nvSpPr>
        <p:spPr>
          <a:xfrm>
            <a:off x="4610100" y="4000500"/>
            <a:ext cx="3695700" cy="87630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结构重构须同时满足：结构指标出现系统性变化，且不能被单一容量截断或设施上限机械解释。纯容量截断折点记为约束状态转换。</a:t>
            </a:r>
            <a:endParaRPr lang="zh-CN" sz="1275">
              <a:solidFill>
                <a:srgbClr val="1A2230"/>
              </a:solidFill>
              <a:latin typeface="微软雅黑" panose="020B0503020204020204" charset="-122"/>
              <a:ea typeface="微软雅黑" panose="020B0503020204020204" charset="-122"/>
            </a:endParaRPr>
          </a:p>
        </p:txBody>
      </p:sp>
      <p:sp>
        <p:nvSpPr>
          <p:cNvPr id="784" name="圆角矩形 783"/>
          <p:cNvSpPr/>
          <p:nvPr/>
        </p:nvSpPr>
        <p:spPr>
          <a:xfrm>
            <a:off x="8572500" y="3543300"/>
            <a:ext cx="3238500" cy="2152650"/>
          </a:xfrm>
          <a:prstGeom prst="roundRect">
            <a:avLst>
              <a:gd name="adj" fmla="val 2655"/>
            </a:avLst>
          </a:prstGeom>
          <a:solidFill>
            <a:srgbClr val="0E3F8C"/>
          </a:solidFill>
        </p:spPr>
        <p:txBody>
          <a:bodyPr/>
          <a:p/>
        </p:txBody>
      </p:sp>
      <p:sp>
        <p:nvSpPr>
          <p:cNvPr id="785" name="任意多边形 784"/>
          <p:cNvSpPr/>
          <p:nvPr/>
        </p:nvSpPr>
        <p:spPr>
          <a:xfrm>
            <a:off x="8705850" y="3676650"/>
            <a:ext cx="3019425" cy="247650"/>
          </a:xfrm>
          <a:custGeom>
            <a:avLst/>
            <a:gdLst/>
            <a:ahLst/>
            <a:cxnLst/>
            <a:pathLst>
              <a:path w="317" h="26">
                <a:moveTo>
                  <a:pt x="0" y="0"/>
                </a:moveTo>
                <a:lnTo>
                  <a:pt x="5" y="0"/>
                </a:lnTo>
                <a:lnTo>
                  <a:pt x="5" y="26"/>
                </a:lnTo>
                <a:lnTo>
                  <a:pt x="0" y="26"/>
                </a:lnTo>
                <a:close/>
              </a:path>
            </a:pathLst>
          </a:custGeom>
          <a:solidFill>
            <a:srgbClr val="FFC107"/>
          </a:solidFill>
        </p:spPr>
        <p:txBody>
          <a:bodyPr/>
          <a:p/>
        </p:txBody>
      </p:sp>
      <p:pic>
        <p:nvPicPr>
          <p:cNvPr id="786" name="图片 785"/>
          <p:cNvPicPr>
            <a:picLocks noChangeAspect="1"/>
          </p:cNvPicPr>
          <p:nvPr/>
        </p:nvPicPr>
        <p:blipFill>
          <a:blip/>
          <a:stretch>
            <a:fillRect/>
          </a:stretch>
        </p:blipFill>
        <p:spPr>
          <a:xfrm>
            <a:off x="8848725" y="3714750"/>
            <a:ext cx="180975" cy="180975"/>
          </a:xfrm>
          <a:prstGeom prst="rect">
            <a:avLst/>
          </a:prstGeom>
        </p:spPr>
      </p:pic>
      <p:sp>
        <p:nvSpPr>
          <p:cNvPr id="787" name="文本框 786" descr="{&quot;isTemplate&quot;:true,&quot;type&quot;:&quot;text&quot;}"/>
          <p:cNvSpPr txBox="1"/>
          <p:nvPr/>
        </p:nvSpPr>
        <p:spPr>
          <a:xfrm>
            <a:off x="9105900" y="3676650"/>
            <a:ext cx="1400175" cy="247650"/>
          </a:xfrm>
          <a:prstGeom prst="rect">
            <a:avLst/>
          </a:prstGeom>
        </p:spPr>
        <p:txBody>
          <a:bodyPr wrap="none" lIns="0" tIns="0" rIns="0" bIns="0"/>
          <a:p>
            <a:pPr>
              <a:lnSpc>
                <a:spcPct val="100000"/>
              </a:lnSpc>
            </a:pPr>
            <a:r>
              <a:rPr lang="zh-CN" sz="1575" b="1">
                <a:solidFill>
                  <a:srgbClr val="FFFFFF"/>
                </a:solidFill>
                <a:latin typeface="微软雅黑" panose="020B0503020204020204" charset="-122"/>
                <a:ea typeface="微软雅黑" panose="020B0503020204020204" charset="-122"/>
              </a:rPr>
              <a:t>预期形成的曲线</a:t>
            </a:r>
            <a:endParaRPr lang="zh-CN" sz="1575" b="1">
              <a:solidFill>
                <a:srgbClr val="FFFFFF"/>
              </a:solidFill>
              <a:latin typeface="微软雅黑" panose="020B0503020204020204" charset="-122"/>
              <a:ea typeface="微软雅黑" panose="020B0503020204020204" charset="-122"/>
            </a:endParaRPr>
          </a:p>
        </p:txBody>
      </p:sp>
      <p:pic>
        <p:nvPicPr>
          <p:cNvPr id="788" name="图片 78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05850" y="4000500"/>
            <a:ext cx="2857500" cy="990600"/>
          </a:xfrm>
          <a:prstGeom prst="rect">
            <a:avLst/>
          </a:prstGeom>
        </p:spPr>
      </p:pic>
      <p:sp>
        <p:nvSpPr>
          <p:cNvPr id="789" name="文本框 788" descr="{&quot;isTemplate&quot;:true,&quot;type&quot;:&quot;text&quot;}"/>
          <p:cNvSpPr txBox="1"/>
          <p:nvPr/>
        </p:nvSpPr>
        <p:spPr>
          <a:xfrm>
            <a:off x="8705850" y="5029200"/>
            <a:ext cx="2971800" cy="533400"/>
          </a:xfrm>
          <a:prstGeom prst="rect">
            <a:avLst/>
          </a:prstGeom>
        </p:spPr>
        <p:txBody>
          <a:bodyPr wrap="square" lIns="0" tIns="0" rIns="0" bIns="0">
            <a:normAutofit/>
          </a:bodyPr>
          <a:p>
            <a:pPr>
              <a:lnSpc>
                <a:spcPct val="145000"/>
              </a:lnSpc>
            </a:pPr>
            <a:r>
              <a:rPr lang="zh-CN" sz="1200">
                <a:solidFill>
                  <a:srgbClr val="FFC107"/>
                </a:solidFill>
                <a:latin typeface="微软雅黑" panose="020B0503020204020204" charset="-122"/>
                <a:ea typeface="微软雅黑" panose="020B0503020204020204" charset="-122"/>
              </a:rPr>
              <a:t>三条曲线在同一容量轴上叠加，共同定位响应性质发生改变的容量区间</a:t>
            </a:r>
            <a:endParaRPr lang="zh-CN" sz="1200">
              <a:solidFill>
                <a:srgbClr val="FFC107"/>
              </a:solidFill>
              <a:latin typeface="微软雅黑" panose="020B0503020204020204" charset="-122"/>
              <a:ea typeface="微软雅黑" panose="020B0503020204020204" charset="-122"/>
            </a:endParaRPr>
          </a:p>
        </p:txBody>
      </p:sp>
      <p:sp>
        <p:nvSpPr>
          <p:cNvPr id="790" name="矩形 789"/>
          <p:cNvSpPr/>
          <p:nvPr/>
        </p:nvSpPr>
        <p:spPr>
          <a:xfrm>
            <a:off x="428625" y="5524500"/>
            <a:ext cx="11430000" cy="390525"/>
          </a:xfrm>
          <a:prstGeom prst="rect">
            <a:avLst/>
          </a:prstGeom>
          <a:solidFill>
            <a:srgbClr val="E8EFF8"/>
          </a:solidFill>
        </p:spPr>
        <p:txBody>
          <a:bodyPr/>
          <a:p/>
        </p:txBody>
      </p:sp>
      <p:sp>
        <p:nvSpPr>
          <p:cNvPr id="791" name="任意多边形 790"/>
          <p:cNvSpPr/>
          <p:nvPr/>
        </p:nvSpPr>
        <p:spPr>
          <a:xfrm>
            <a:off x="381000" y="5524500"/>
            <a:ext cx="11477625" cy="390525"/>
          </a:xfrm>
          <a:custGeom>
            <a:avLst/>
            <a:gdLst/>
            <a:ahLst/>
            <a:cxnLst/>
            <a:pathLst>
              <a:path w="1205" h="41">
                <a:moveTo>
                  <a:pt x="0" y="0"/>
                </a:moveTo>
                <a:lnTo>
                  <a:pt x="5" y="0"/>
                </a:lnTo>
                <a:lnTo>
                  <a:pt x="5" y="41"/>
                </a:lnTo>
                <a:lnTo>
                  <a:pt x="0" y="41"/>
                </a:lnTo>
                <a:close/>
              </a:path>
            </a:pathLst>
          </a:custGeom>
          <a:solidFill>
            <a:srgbClr val="1E4FA8"/>
          </a:solidFill>
        </p:spPr>
        <p:txBody>
          <a:bodyPr/>
          <a:p/>
        </p:txBody>
      </p:sp>
      <p:sp>
        <p:nvSpPr>
          <p:cNvPr id="792" name="文本框 791" descr="{&quot;isTemplate&quot;:true,&quot;type&quot;:&quot;text&quot;}"/>
          <p:cNvSpPr txBox="1"/>
          <p:nvPr/>
        </p:nvSpPr>
        <p:spPr>
          <a:xfrm>
            <a:off x="600075" y="5610225"/>
            <a:ext cx="11210925" cy="219075"/>
          </a:xfrm>
          <a:prstGeom prst="rect">
            <a:avLst/>
          </a:prstGeom>
        </p:spPr>
        <p:txBody>
          <a:bodyPr wrap="none" lIns="0" tIns="0" rIns="0" bIns="0"/>
          <a:p>
            <a:pPr>
              <a:lnSpc>
                <a:spcPct val="100000"/>
              </a:lnSpc>
            </a:pPr>
            <a:r>
              <a:rPr lang="zh-CN" sz="1425">
                <a:solidFill>
                  <a:srgbClr val="1A2230"/>
                </a:solidFill>
                <a:latin typeface="微软雅黑" panose="020B0503020204020204" charset="-122"/>
                <a:ea typeface="微软雅黑" panose="020B0503020204020204" charset="-122"/>
              </a:rPr>
              <a:t>实验一承担现象识别：回答</a:t>
            </a:r>
            <a:r>
              <a:rPr lang="en-US" sz="1425">
                <a:solidFill>
                  <a:srgbClr val="1A2230"/>
                </a:solidFill>
                <a:latin typeface="微软雅黑" panose="020B0503020204020204" charset="-122"/>
                <a:ea typeface="微软雅黑" panose="020B0503020204020204" charset="-122"/>
              </a:rPr>
              <a:t>"AI </a:t>
            </a:r>
            <a:r>
              <a:rPr lang="zh-CN" sz="1425">
                <a:solidFill>
                  <a:srgbClr val="1A2230"/>
                </a:solidFill>
                <a:latin typeface="微软雅黑" panose="020B0503020204020204" charset="-122"/>
                <a:ea typeface="微软雅黑" panose="020B0503020204020204" charset="-122"/>
              </a:rPr>
              <a:t>规模增长到什么程度，水系统响应性质改变</a:t>
            </a:r>
            <a:r>
              <a:rPr lang="en-US" sz="1425">
                <a:solidFill>
                  <a:srgbClr val="1A2230"/>
                </a:solidFill>
                <a:latin typeface="微软雅黑" panose="020B0503020204020204" charset="-122"/>
                <a:ea typeface="微软雅黑" panose="020B0503020204020204" charset="-122"/>
              </a:rPr>
              <a:t>"</a:t>
            </a:r>
            <a:endParaRPr lang="en-US" sz="1425">
              <a:solidFill>
                <a:srgbClr val="1A2230"/>
              </a:solidFill>
              <a:latin typeface="微软雅黑" panose="020B0503020204020204" charset="-122"/>
              <a:ea typeface="微软雅黑" panose="020B0503020204020204" charset="-122"/>
            </a:endParaRPr>
          </a:p>
        </p:txBody>
      </p:sp>
      <p:sp>
        <p:nvSpPr>
          <p:cNvPr id="793" name="任意多边形 792"/>
          <p:cNvSpPr/>
          <p:nvPr/>
        </p:nvSpPr>
        <p:spPr>
          <a:xfrm>
            <a:off x="0" y="599122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794" name="文本框 793" descr="{&quot;isTemplate&quot;:true,&quot;type&quot;:&quot;text&quot;}"/>
          <p:cNvSpPr txBox="1"/>
          <p:nvPr/>
        </p:nvSpPr>
        <p:spPr>
          <a:xfrm>
            <a:off x="381000" y="610552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795" name="文本框 794" descr="{&quot;isTemplate&quot;:true,&quot;type&quot;:&quot;text&quot;}"/>
          <p:cNvSpPr txBox="1"/>
          <p:nvPr/>
        </p:nvSpPr>
        <p:spPr>
          <a:xfrm>
            <a:off x="11353800" y="610552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23 / 36</a:t>
            </a:r>
            <a:endParaRPr lang="en-US" sz="1050">
              <a:solidFill>
                <a:srgbClr val="1E4FA8"/>
              </a:solidFill>
              <a:latin typeface="微软雅黑" panose="020B0503020204020204" charset="-122"/>
              <a:ea typeface="微软雅黑" panose="020B0503020204020204" charset="-122"/>
            </a:endParaRPr>
          </a:p>
        </p:txBody>
      </p:sp>
      <p:sp>
        <p:nvSpPr>
          <p:cNvPr id="796" name="矩形 795"/>
          <p:cNvSpPr/>
          <p:nvPr/>
        </p:nvSpPr>
        <p:spPr>
          <a:xfrm>
            <a:off x="0" y="685800"/>
            <a:ext cx="57150" cy="1162050"/>
          </a:xfrm>
          <a:prstGeom prst="rect">
            <a:avLst/>
          </a:prstGeom>
          <a:solidFill>
            <a:srgbClr val="C9D6E8"/>
          </a:solidFill>
        </p:spPr>
        <p:txBody>
          <a:bodyPr/>
          <a:p/>
        </p:txBody>
      </p:sp>
      <p:sp>
        <p:nvSpPr>
          <p:cNvPr id="797" name="矩形 796"/>
          <p:cNvSpPr/>
          <p:nvPr/>
        </p:nvSpPr>
        <p:spPr>
          <a:xfrm>
            <a:off x="0" y="1847850"/>
            <a:ext cx="57150" cy="1162050"/>
          </a:xfrm>
          <a:prstGeom prst="rect">
            <a:avLst/>
          </a:prstGeom>
          <a:solidFill>
            <a:srgbClr val="C9D6E8"/>
          </a:solidFill>
        </p:spPr>
        <p:txBody>
          <a:bodyPr/>
          <a:p/>
        </p:txBody>
      </p:sp>
      <p:sp>
        <p:nvSpPr>
          <p:cNvPr id="798" name="矩形 797"/>
          <p:cNvSpPr/>
          <p:nvPr/>
        </p:nvSpPr>
        <p:spPr>
          <a:xfrm>
            <a:off x="0" y="3009900"/>
            <a:ext cx="57150" cy="1162050"/>
          </a:xfrm>
          <a:prstGeom prst="rect">
            <a:avLst/>
          </a:prstGeom>
          <a:solidFill>
            <a:srgbClr val="C9D6E8"/>
          </a:solidFill>
        </p:spPr>
        <p:txBody>
          <a:bodyPr/>
          <a:p/>
        </p:txBody>
      </p:sp>
      <p:sp>
        <p:nvSpPr>
          <p:cNvPr id="799" name="矩形 798"/>
          <p:cNvSpPr/>
          <p:nvPr/>
        </p:nvSpPr>
        <p:spPr>
          <a:xfrm>
            <a:off x="0" y="4171950"/>
            <a:ext cx="57150" cy="1162050"/>
          </a:xfrm>
          <a:prstGeom prst="rect">
            <a:avLst/>
          </a:prstGeom>
          <a:solidFill>
            <a:srgbClr val="FFC107"/>
          </a:solidFill>
        </p:spPr>
        <p:txBody>
          <a:bodyPr/>
          <a:p/>
        </p:txBody>
      </p:sp>
      <p:sp>
        <p:nvSpPr>
          <p:cNvPr id="800" name="矩形 799"/>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80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scale-balanced' style={{ fill: '#FFC107', width: 22, height: 22 }} /&gt;&#13;&#10;        &lt;/Box&gt;&#13;&#10;            &lt;Text style={{ fontSize: 29, fontWeight: 'bold', color: '#FFFFFF' }}&gt;实验二｜三类结构化对照识别 AI 水系统压力的来源&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4&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检验 Q1（归因）：按归因目的分别构建等年用水、等峰值热负荷或等接入能力的匹配对照&lt;/Text&gt;&#13;&#10;        &lt;/Box&gt;&#13;&#10;        &lt;Box style={{ flexDirection: 'row', gap: 14, height: 424 }}&gt;&#13;&#10;            &lt;Box style={{ flex: 1, background: '#F7F9FC', border: '1px solid #D6DCE5', borderTop: '5px solid #1E4FA8', borderRadius: 6, padding: 14, flexDirection: 'column' }}&gt;&#13;&#10;                &lt;Box style={{ flexDirection: 'row', alignItems: 'center', gap: 8, marginBottom: 8 }}&gt;&#13;&#10;                    &lt;Box style={{ width: 34, height: 34, background: '#1E4FA8', borderRadius: 4, justifyContent: 'center', alignItems: 'center' }}&gt;&#13;&#10;                        &lt;FAIcon name='scale-balanced' style={{ fill: '#FFFFFF', width: 18, height: 18 }} /&gt;&#13;&#10;                    &lt;/Box&gt;&#13;&#10;                    &lt;Box style={{ flexDirection: 'row', alignItems: 'center', gap: 8 }}&gt;&#13;&#10;                &lt;FAIcon name='industry' style={{ fill: '#1E4FA8', width: 19, height: 19 }} /&gt;&#13;&#10;                &lt;Text style={{ fontSize: 21, fontWeight: 'bold', color: '#0E3F8C' }}&gt;AI 节点 × 普通工业冷却节点&lt;/Text&gt;&#13;&#10;            &lt;/Box&gt;&#13;&#10;                &lt;/Box&gt;&#13;&#10;                &lt;Text style={{ fontSize: 17, color: '#1A2230', lineHeight: 1.5 }}&gt;按归因目的分别匹配：等年用水看时序差异，等峰值热负荷看连续运行差异，等接入能力看谁先触发局部约束。&lt;/Text&gt;&#13;&#10;                &lt;Box style={{ marginTop: 10, background: '#E8EFF8', borderRadius: 4, padding: 10 }}&gt;&#13;&#10;                    &lt;Text style={{ fontSize: 16, color: '#0E3F8C', lineHeight: 1.45 }}&gt;&lt;span style={{ fontWeight: 'bold' }}&gt;识别目标：&lt;/span&gt;区分一般高密度工业效应与 AI 高连续运行、气候敏感冷却的特异性贡献。&lt;/Text&gt;&#13;&#10;                &lt;/Box&gt;&#13;&#10;            &lt;/Box&gt;&#13;&#10;            &lt;Box style={{ flex: 1, background: '#F7F9FC', border: '1px solid #D6DCE5', borderTop: '5px solid #1E4FA8', borderRadius: 6, padding: 14, flexDirection: 'column' }}&gt;&#13;&#10;                &lt;Box style={{ flexDirection: 'row', alignItems: 'center', gap: 8, marginBottom: 8 }}&gt;&#13;&#10;                    &lt;Box style={{ width: 34, height: 34, background: '#1E4FA8', borderRadius: 4, justifyContent: 'center', alignItems: 'center' }}&gt;&#13;&#10;                        &lt;FAIcon name='layer-group' style={{ fill: '#FFFFFF', width: 18, height: 18 }} /&gt;&#13;&#10;                    &lt;/Box&gt;&#13;&#10;                    &lt;Box style={{ flexDirection: 'row', alignItems: 'center', gap: 8 }}&gt;&#13;&#10;                &lt;FAIcon name='layer-group' style={{ fill: '#1E4FA8', width: 19, height: 19 }} /&gt;&#13;&#10;                &lt;Text style={{ fontSize: 21, fontWeight: 'bold', color: '#0E3F8C' }}&gt;两层冷却技术架构对照&lt;/Text&gt;&#13;&#10;            &lt;/Box&gt;&#13;&#10;                &lt;/Box&gt;&#13;&#10;                &lt;Text style={{ fontSize: 17, color: '#1A2230', lineHeight: 1.5 }}&gt;服务器侧设空冷、Direct-to-Chip 与浸没液冷；末端设干式、湿式与混合排热，形成完整技术矩阵。&lt;/Text&gt;&#13;&#10;                &lt;Box style={{ marginTop: 10, background: '#E8EFF8', borderRadius: 4, padding: 10 }}&gt;&#13;&#10;                    &lt;Text style={{ fontSize: 16, color: '#0E3F8C', lineHeight: 1.45 }}&gt;&lt;span style={{ fontWeight: 'bold' }}&gt;识别目标：&lt;/span&gt;区分热捕集效率与现场补水需求的变化，判断节水效果来自效率提升还是压力转移。&lt;/Text&gt;&#13;&#10;                &lt;/Box&gt;&#13;&#10;            &lt;/Box&gt;&#13;&#10;            &lt;Box style={{ flex: 1, background: '#F7F9FC', border: '1px solid #D6DCE5', borderTop: '5px solid #1E4FA8', borderRadius: 6, padding: 14, flexDirection: 'column' }}&gt;&#13;&#10;                &lt;Box style={{ flexDirection: 'row', alignItems: 'center', gap: 8, marginBottom: 8 }}&gt;&#13;&#10;                    &lt;Box style={{ width: 34, height: 34, background: '#1E4FA8', borderRadius: 4, justifyContent: 'center', alignItems: 'center' }}&gt;&#13;&#10;                        &lt;FAIcon name='recycle' style={{ fill: '#FFFFFF', width: 18, height: 18 }} /&gt;&#13;&#10;                    &lt;/Box&gt;&#13;&#10;                    &lt;Box style={{ flexDirection: 'row', alignItems: 'center', gap: 8 }}&gt;&#13;&#10;                &lt;FAIcon name='faucet-drip' style={{ fill: '#1E4FA8', width: 19, height: 19 }} /&gt;&#13;&#10;                &lt;Text style={{ fontSize: 21, fontWeight: 'bold', color: '#0E3F8C' }}&gt;淡水 × 再生水配置对照&lt;/Text&gt;&#13;&#10;            &lt;/Box&gt;&#13;&#10;                &lt;/Box&gt;&#13;&#10;                &lt;Text style={{ fontSize: 17, color: '#1A2230', lineHeight: 1.5 }}&gt;改变淡水与再生水配比，记录实际供应、淡水补足与未满足需求，非只记目标份额。&lt;/Text&gt;&#13;&#10;                &lt;Box style={{ marginTop: 10, background: '#E8EFF8', borderRadius: 4, padding: 10 }}&gt;&#13;&#10;                    &lt;Text style={{ fontSize: 16, color: '#0E3F8C', lineHeight: 1.45 }}&gt;&lt;span style={{ fontWeight: 'bold' }}&gt;识别目标：&lt;/span&gt;分析水源结构如何改变淡水依赖、回流与再生水利用率，及主导瓶颈位置差异。&lt;/Text&gt;&#13;&#10;                &lt;/Box&gt;&#13;&#10;            &lt;/Box&gt;&#13;&#10;        &lt;/Box&gt;&#13;&#10;        &lt;Box style={{ background: '#E8EFF8', borderLeft: '5px solid #1E4FA8', paddingLeft: 18, paddingTop: 10, paddingBottom: 10 }}&gt;&#13;&#10;            &lt;Text style={{ fontSize: 19, color: '#1A2230', lineHeight: 1.4 }}&gt;三组对照把&quot;AI 压力&quot;从整体数字拆分为负荷特征、技术选择与水源政策三个可干预来源&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4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802" name="矩形 801"/>
          <p:cNvSpPr/>
          <p:nvPr/>
        </p:nvSpPr>
        <p:spPr>
          <a:xfrm>
            <a:off x="0" y="0"/>
            <a:ext cx="12192000" cy="6858000"/>
          </a:xfrm>
          <a:prstGeom prst="rect">
            <a:avLst/>
          </a:prstGeom>
          <a:solidFill>
            <a:srgbClr val="FFFFFF"/>
          </a:solidFill>
        </p:spPr>
        <p:txBody>
          <a:bodyPr/>
          <a:p/>
        </p:txBody>
      </p:sp>
      <p:sp>
        <p:nvSpPr>
          <p:cNvPr id="803" name="矩形 802"/>
          <p:cNvSpPr/>
          <p:nvPr/>
        </p:nvSpPr>
        <p:spPr>
          <a:xfrm>
            <a:off x="0" y="0"/>
            <a:ext cx="12192000" cy="685800"/>
          </a:xfrm>
          <a:prstGeom prst="rect">
            <a:avLst/>
          </a:prstGeom>
          <a:solidFill>
            <a:srgbClr val="0E3F8C"/>
          </a:solidFill>
        </p:spPr>
        <p:txBody>
          <a:bodyPr/>
          <a:p/>
        </p:txBody>
      </p:sp>
      <p:sp>
        <p:nvSpPr>
          <p:cNvPr id="804" name="圆角矩形 803"/>
          <p:cNvSpPr/>
          <p:nvPr/>
        </p:nvSpPr>
        <p:spPr>
          <a:xfrm>
            <a:off x="381000" y="152400"/>
            <a:ext cx="381000" cy="381000"/>
          </a:xfrm>
          <a:prstGeom prst="roundRect">
            <a:avLst>
              <a:gd name="adj" fmla="val 25000"/>
            </a:avLst>
          </a:prstGeom>
          <a:solidFill>
            <a:srgbClr val="12489A"/>
          </a:solidFill>
        </p:spPr>
        <p:txBody>
          <a:bodyPr/>
          <a:p/>
        </p:txBody>
      </p:sp>
      <p:pic>
        <p:nvPicPr>
          <p:cNvPr id="805" name="图片 804"/>
          <p:cNvPicPr>
            <a:picLocks noChangeAspect="1"/>
          </p:cNvPicPr>
          <p:nvPr/>
        </p:nvPicPr>
        <p:blipFill>
          <a:blip/>
          <a:stretch>
            <a:fillRect/>
          </a:stretch>
        </p:blipFill>
        <p:spPr>
          <a:xfrm>
            <a:off x="466725" y="238125"/>
            <a:ext cx="209550" cy="209550"/>
          </a:xfrm>
          <a:prstGeom prst="rect">
            <a:avLst/>
          </a:prstGeom>
        </p:spPr>
      </p:pic>
      <p:sp>
        <p:nvSpPr>
          <p:cNvPr id="806" name="文本框 805" descr="{&quot;isTemplate&quot;:true,&quot;type&quot;:&quot;text&quot;}"/>
          <p:cNvSpPr txBox="1"/>
          <p:nvPr/>
        </p:nvSpPr>
        <p:spPr>
          <a:xfrm>
            <a:off x="895350" y="180975"/>
            <a:ext cx="626745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实验二｜三类结构化对照识别</a:t>
            </a:r>
            <a:r>
              <a:rPr lang="en-US" sz="2175" b="1">
                <a:solidFill>
                  <a:srgbClr val="FFFFFF"/>
                </a:solidFill>
                <a:latin typeface="微软雅黑" panose="020B0503020204020204" charset="-122"/>
                <a:ea typeface="微软雅黑" panose="020B0503020204020204" charset="-122"/>
              </a:rPr>
              <a:t> AI </a:t>
            </a:r>
            <a:r>
              <a:rPr lang="zh-CN" sz="2175" b="1">
                <a:solidFill>
                  <a:srgbClr val="FFFFFF"/>
                </a:solidFill>
                <a:latin typeface="微软雅黑" panose="020B0503020204020204" charset="-122"/>
                <a:ea typeface="微软雅黑" panose="020B0503020204020204" charset="-122"/>
              </a:rPr>
              <a:t>水系统压力的来源</a:t>
            </a:r>
            <a:endParaRPr lang="zh-CN" sz="2175" b="1">
              <a:solidFill>
                <a:srgbClr val="FFFFFF"/>
              </a:solidFill>
              <a:latin typeface="微软雅黑" panose="020B0503020204020204" charset="-122"/>
              <a:ea typeface="微软雅黑" panose="020B0503020204020204" charset="-122"/>
            </a:endParaRPr>
          </a:p>
        </p:txBody>
      </p:sp>
      <p:sp>
        <p:nvSpPr>
          <p:cNvPr id="807" name="文本框 806"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808" name="圆角矩形 807"/>
          <p:cNvSpPr/>
          <p:nvPr/>
        </p:nvSpPr>
        <p:spPr>
          <a:xfrm>
            <a:off x="11468100" y="238125"/>
            <a:ext cx="342900" cy="219075"/>
          </a:xfrm>
          <a:prstGeom prst="roundRect">
            <a:avLst>
              <a:gd name="adj" fmla="val 13043"/>
            </a:avLst>
          </a:prstGeom>
          <a:solidFill>
            <a:srgbClr val="FFC107"/>
          </a:solidFill>
        </p:spPr>
        <p:txBody>
          <a:bodyPr/>
          <a:p/>
        </p:txBody>
      </p:sp>
      <p:sp>
        <p:nvSpPr>
          <p:cNvPr id="809" name="文本框 80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24</a:t>
            </a:r>
            <a:endParaRPr lang="en-US" sz="1050" b="1">
              <a:solidFill>
                <a:srgbClr val="0B3A82"/>
              </a:solidFill>
              <a:latin typeface="微软雅黑" panose="020B0503020204020204" charset="-122"/>
              <a:ea typeface="微软雅黑" panose="020B0503020204020204" charset="-122"/>
            </a:endParaRPr>
          </a:p>
        </p:txBody>
      </p:sp>
      <p:sp>
        <p:nvSpPr>
          <p:cNvPr id="810" name="圆角矩形 809"/>
          <p:cNvSpPr/>
          <p:nvPr/>
        </p:nvSpPr>
        <p:spPr>
          <a:xfrm>
            <a:off x="381000" y="800100"/>
            <a:ext cx="11430000" cy="438150"/>
          </a:xfrm>
          <a:prstGeom prst="roundRect">
            <a:avLst>
              <a:gd name="adj" fmla="val 8696"/>
            </a:avLst>
          </a:prstGeom>
          <a:solidFill>
            <a:srgbClr val="0B3A82"/>
          </a:solidFill>
        </p:spPr>
        <p:txBody>
          <a:bodyPr/>
          <a:p/>
        </p:txBody>
      </p:sp>
      <p:sp>
        <p:nvSpPr>
          <p:cNvPr id="811" name="文本框 810"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检验</a:t>
            </a:r>
            <a:r>
              <a:rPr lang="en-US" sz="1575">
                <a:solidFill>
                  <a:srgbClr val="FFFFFF"/>
                </a:solidFill>
                <a:latin typeface="微软雅黑" panose="020B0503020204020204" charset="-122"/>
                <a:ea typeface="微软雅黑" panose="020B0503020204020204" charset="-122"/>
              </a:rPr>
              <a:t> Q1</a:t>
            </a:r>
            <a:r>
              <a:rPr lang="zh-CN" sz="1575">
                <a:solidFill>
                  <a:srgbClr val="FFFFFF"/>
                </a:solidFill>
                <a:latin typeface="微软雅黑" panose="020B0503020204020204" charset="-122"/>
                <a:ea typeface="微软雅黑" panose="020B0503020204020204" charset="-122"/>
              </a:rPr>
              <a:t>（归因）：按归因目的分别构建等年用水、等峰值热负荷或等接入能力的匹配对照</a:t>
            </a:r>
            <a:endParaRPr lang="zh-CN" sz="1575">
              <a:solidFill>
                <a:srgbClr val="FFFFFF"/>
              </a:solidFill>
              <a:latin typeface="微软雅黑" panose="020B0503020204020204" charset="-122"/>
              <a:ea typeface="微软雅黑" panose="020B0503020204020204" charset="-122"/>
            </a:endParaRPr>
          </a:p>
        </p:txBody>
      </p:sp>
      <p:sp>
        <p:nvSpPr>
          <p:cNvPr id="812" name="圆角矩形 811"/>
          <p:cNvSpPr/>
          <p:nvPr/>
        </p:nvSpPr>
        <p:spPr>
          <a:xfrm>
            <a:off x="381000" y="1400175"/>
            <a:ext cx="3724275" cy="4038600"/>
          </a:xfrm>
          <a:prstGeom prst="roundRect">
            <a:avLst>
              <a:gd name="adj" fmla="val 1535"/>
            </a:avLst>
          </a:prstGeom>
          <a:solidFill>
            <a:srgbClr val="F7F9FC"/>
          </a:solidFill>
        </p:spPr>
        <p:txBody>
          <a:bodyPr/>
          <a:p/>
        </p:txBody>
      </p:sp>
      <p:sp>
        <p:nvSpPr>
          <p:cNvPr id="813" name="任意多边形 812"/>
          <p:cNvSpPr/>
          <p:nvPr/>
        </p:nvSpPr>
        <p:spPr>
          <a:xfrm>
            <a:off x="381000" y="1400175"/>
            <a:ext cx="3724275" cy="4038600"/>
          </a:xfrm>
          <a:custGeom>
            <a:avLst/>
            <a:gdLst/>
            <a:ahLst/>
            <a:cxnLst/>
            <a:pathLst>
              <a:path w="391" h="424">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814" name="圆角矩形 813"/>
          <p:cNvSpPr/>
          <p:nvPr/>
        </p:nvSpPr>
        <p:spPr>
          <a:xfrm>
            <a:off x="514350" y="1533525"/>
            <a:ext cx="323850" cy="323850"/>
          </a:xfrm>
          <a:prstGeom prst="roundRect">
            <a:avLst>
              <a:gd name="adj" fmla="val 11765"/>
            </a:avLst>
          </a:prstGeom>
          <a:solidFill>
            <a:srgbClr val="1E4FA8"/>
          </a:solidFill>
        </p:spPr>
        <p:txBody>
          <a:bodyPr/>
          <a:p/>
        </p:txBody>
      </p:sp>
      <p:pic>
        <p:nvPicPr>
          <p:cNvPr id="815" name="图片 814"/>
          <p:cNvPicPr>
            <a:picLocks noChangeAspect="1"/>
          </p:cNvPicPr>
          <p:nvPr/>
        </p:nvPicPr>
        <p:blipFill>
          <a:blip/>
          <a:stretch>
            <a:fillRect/>
          </a:stretch>
        </p:blipFill>
        <p:spPr>
          <a:xfrm>
            <a:off x="590550" y="1609725"/>
            <a:ext cx="171450" cy="171450"/>
          </a:xfrm>
          <a:prstGeom prst="rect">
            <a:avLst/>
          </a:prstGeom>
        </p:spPr>
      </p:pic>
      <p:pic>
        <p:nvPicPr>
          <p:cNvPr id="816" name="图片 815"/>
          <p:cNvPicPr>
            <a:picLocks noChangeAspect="1"/>
          </p:cNvPicPr>
          <p:nvPr/>
        </p:nvPicPr>
        <p:blipFill>
          <a:blip/>
          <a:stretch>
            <a:fillRect/>
          </a:stretch>
        </p:blipFill>
        <p:spPr>
          <a:xfrm>
            <a:off x="914400" y="1609725"/>
            <a:ext cx="180975" cy="180975"/>
          </a:xfrm>
          <a:prstGeom prst="rect">
            <a:avLst/>
          </a:prstGeom>
        </p:spPr>
      </p:pic>
      <p:sp>
        <p:nvSpPr>
          <p:cNvPr id="817" name="文本框 816" descr="{&quot;isTemplate&quot;:true,&quot;type&quot;:&quot;text&quot;}"/>
          <p:cNvSpPr txBox="1"/>
          <p:nvPr/>
        </p:nvSpPr>
        <p:spPr>
          <a:xfrm>
            <a:off x="1171575" y="1571625"/>
            <a:ext cx="2552700" cy="247650"/>
          </a:xfrm>
          <a:prstGeom prst="rect">
            <a:avLst/>
          </a:prstGeom>
        </p:spPr>
        <p:txBody>
          <a:bodyPr wrap="none" lIns="0" tIns="0" rIns="0" bIns="0"/>
          <a:p>
            <a:pPr>
              <a:lnSpc>
                <a:spcPct val="100000"/>
              </a:lnSpc>
            </a:pPr>
            <a:r>
              <a:rPr lang="en-US" sz="1575" b="1">
                <a:solidFill>
                  <a:srgbClr val="0E3F8C"/>
                </a:solidFill>
                <a:latin typeface="微软雅黑" panose="020B0503020204020204" charset="-122"/>
                <a:ea typeface="微软雅黑" panose="020B0503020204020204" charset="-122"/>
              </a:rPr>
              <a:t>AI </a:t>
            </a:r>
            <a:r>
              <a:rPr lang="zh-CN" sz="1575" b="1">
                <a:solidFill>
                  <a:srgbClr val="0E3F8C"/>
                </a:solidFill>
                <a:latin typeface="微软雅黑" panose="020B0503020204020204" charset="-122"/>
                <a:ea typeface="微软雅黑" panose="020B0503020204020204" charset="-122"/>
              </a:rPr>
              <a:t>节点</a:t>
            </a:r>
            <a:r>
              <a:rPr lang="en-US" sz="1575" b="1">
                <a:solidFill>
                  <a:srgbClr val="0E3F8C"/>
                </a:solidFill>
                <a:latin typeface="微软雅黑" panose="020B0503020204020204" charset="-122"/>
                <a:ea typeface="微软雅黑" panose="020B0503020204020204" charset="-122"/>
              </a:rPr>
              <a:t> × </a:t>
            </a:r>
            <a:r>
              <a:rPr lang="zh-CN" sz="1575" b="1">
                <a:solidFill>
                  <a:srgbClr val="0E3F8C"/>
                </a:solidFill>
                <a:latin typeface="微软雅黑" panose="020B0503020204020204" charset="-122"/>
                <a:ea typeface="微软雅黑" panose="020B0503020204020204" charset="-122"/>
              </a:rPr>
              <a:t>普通工业冷却节点</a:t>
            </a:r>
            <a:endParaRPr lang="zh-CN" sz="1575" b="1">
              <a:solidFill>
                <a:srgbClr val="0E3F8C"/>
              </a:solidFill>
              <a:latin typeface="微软雅黑" panose="020B0503020204020204" charset="-122"/>
              <a:ea typeface="微软雅黑" panose="020B0503020204020204" charset="-122"/>
            </a:endParaRPr>
          </a:p>
        </p:txBody>
      </p:sp>
      <p:sp>
        <p:nvSpPr>
          <p:cNvPr id="818" name="文本框 817" descr="{&quot;isTemplate&quot;:true,&quot;type&quot;:&quot;text&quot;}"/>
          <p:cNvSpPr txBox="1"/>
          <p:nvPr/>
        </p:nvSpPr>
        <p:spPr>
          <a:xfrm>
            <a:off x="514350" y="1933575"/>
            <a:ext cx="3457575" cy="87630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按归因目的分别匹配：等年用水看时序差异，等峰值热负荷看连续运行差异，等接入能力看谁先触发局部约束。</a:t>
            </a:r>
            <a:endParaRPr lang="zh-CN" sz="1275">
              <a:solidFill>
                <a:srgbClr val="1A2230"/>
              </a:solidFill>
              <a:latin typeface="微软雅黑" panose="020B0503020204020204" charset="-122"/>
              <a:ea typeface="微软雅黑" panose="020B0503020204020204" charset="-122"/>
            </a:endParaRPr>
          </a:p>
        </p:txBody>
      </p:sp>
      <p:sp>
        <p:nvSpPr>
          <p:cNvPr id="819" name="圆角矩形 818"/>
          <p:cNvSpPr/>
          <p:nvPr/>
        </p:nvSpPr>
        <p:spPr>
          <a:xfrm>
            <a:off x="514350" y="2905125"/>
            <a:ext cx="3457575" cy="723900"/>
          </a:xfrm>
          <a:prstGeom prst="roundRect">
            <a:avLst>
              <a:gd name="adj" fmla="val 5263"/>
            </a:avLst>
          </a:prstGeom>
          <a:solidFill>
            <a:srgbClr val="E8EFF8"/>
          </a:solidFill>
        </p:spPr>
        <p:txBody>
          <a:bodyPr/>
          <a:p/>
        </p:txBody>
      </p:sp>
      <p:sp>
        <p:nvSpPr>
          <p:cNvPr id="820" name="文本框 819" descr="{&quot;isTemplate&quot;:true,&quot;type&quot;:&quot;text&quot;}"/>
          <p:cNvSpPr txBox="1"/>
          <p:nvPr/>
        </p:nvSpPr>
        <p:spPr>
          <a:xfrm>
            <a:off x="609600" y="3000375"/>
            <a:ext cx="3267075" cy="533400"/>
          </a:xfrm>
          <a:prstGeom prst="rect">
            <a:avLst/>
          </a:prstGeom>
        </p:spPr>
        <p:txBody>
          <a:bodyPr wrap="square" lIns="0" tIns="0" rIns="0" bIns="0">
            <a:normAutofit/>
          </a:bodyPr>
          <a:p>
            <a:pPr>
              <a:lnSpc>
                <a:spcPct val="145000"/>
              </a:lnSpc>
            </a:pPr>
            <a:r>
              <a:rPr lang="zh-CN" sz="1200" b="1">
                <a:solidFill>
                  <a:srgbClr val="0E3F8C"/>
                </a:solidFill>
                <a:latin typeface="微软雅黑" panose="020B0503020204020204" charset="-122"/>
                <a:ea typeface="微软雅黑" panose="020B0503020204020204" charset="-122"/>
              </a:rPr>
              <a:t>识别目标：</a:t>
            </a:r>
            <a:r>
              <a:rPr lang="zh-CN" sz="1200">
                <a:solidFill>
                  <a:srgbClr val="0E3F8C"/>
                </a:solidFill>
                <a:latin typeface="微软雅黑" panose="020B0503020204020204" charset="-122"/>
                <a:ea typeface="微软雅黑" panose="020B0503020204020204" charset="-122"/>
              </a:rPr>
              <a:t>区分一般高密度工业效应与</a:t>
            </a:r>
            <a:r>
              <a:rPr lang="en-US" sz="1200">
                <a:solidFill>
                  <a:srgbClr val="0E3F8C"/>
                </a:solidFill>
                <a:latin typeface="微软雅黑" panose="020B0503020204020204" charset="-122"/>
                <a:ea typeface="微软雅黑" panose="020B0503020204020204" charset="-122"/>
              </a:rPr>
              <a:t> AI </a:t>
            </a:r>
            <a:r>
              <a:rPr lang="zh-CN" sz="1200">
                <a:solidFill>
                  <a:srgbClr val="0E3F8C"/>
                </a:solidFill>
                <a:latin typeface="微软雅黑" panose="020B0503020204020204" charset="-122"/>
                <a:ea typeface="微软雅黑" panose="020B0503020204020204" charset="-122"/>
              </a:rPr>
              <a:t>高连续运行、气候敏感冷却的特异性贡献。</a:t>
            </a:r>
            <a:endParaRPr lang="zh-CN" sz="1200">
              <a:solidFill>
                <a:srgbClr val="0E3F8C"/>
              </a:solidFill>
              <a:latin typeface="微软雅黑" panose="020B0503020204020204" charset="-122"/>
              <a:ea typeface="微软雅黑" panose="020B0503020204020204" charset="-122"/>
            </a:endParaRPr>
          </a:p>
        </p:txBody>
      </p:sp>
      <p:sp>
        <p:nvSpPr>
          <p:cNvPr id="821" name="圆角矩形 820"/>
          <p:cNvSpPr/>
          <p:nvPr/>
        </p:nvSpPr>
        <p:spPr>
          <a:xfrm>
            <a:off x="4238625" y="1400175"/>
            <a:ext cx="3714750" cy="4038600"/>
          </a:xfrm>
          <a:prstGeom prst="roundRect">
            <a:avLst>
              <a:gd name="adj" fmla="val 1538"/>
            </a:avLst>
          </a:prstGeom>
          <a:solidFill>
            <a:srgbClr val="F7F9FC"/>
          </a:solidFill>
        </p:spPr>
        <p:txBody>
          <a:bodyPr/>
          <a:p/>
        </p:txBody>
      </p:sp>
      <p:sp>
        <p:nvSpPr>
          <p:cNvPr id="822" name="任意多边形 821"/>
          <p:cNvSpPr/>
          <p:nvPr/>
        </p:nvSpPr>
        <p:spPr>
          <a:xfrm>
            <a:off x="4238625" y="1400175"/>
            <a:ext cx="3714750" cy="4038600"/>
          </a:xfrm>
          <a:custGeom>
            <a:avLst/>
            <a:gdLst/>
            <a:ahLst/>
            <a:cxnLst/>
            <a:pathLst>
              <a:path w="390" h="424">
                <a:moveTo>
                  <a:pt x="384" y="0"/>
                </a:moveTo>
                <a:cubicBezTo>
                  <a:pt x="387" y="0"/>
                  <a:pt x="390" y="3"/>
                  <a:pt x="390" y="6"/>
                </a:cubicBezTo>
                <a:cubicBezTo>
                  <a:pt x="390" y="5"/>
                  <a:pt x="389" y="5"/>
                  <a:pt x="389" y="5"/>
                </a:cubicBezTo>
                <a:lnTo>
                  <a:pt x="1" y="5"/>
                </a:lnTo>
                <a:cubicBezTo>
                  <a:pt x="0" y="5"/>
                  <a:pt x="0" y="5"/>
                  <a:pt x="0" y="6"/>
                </a:cubicBezTo>
                <a:cubicBezTo>
                  <a:pt x="0" y="3"/>
                  <a:pt x="3" y="0"/>
                  <a:pt x="6" y="0"/>
                </a:cubicBezTo>
                <a:lnTo>
                  <a:pt x="384" y="0"/>
                </a:lnTo>
                <a:close/>
              </a:path>
            </a:pathLst>
          </a:custGeom>
          <a:solidFill>
            <a:srgbClr val="1E4FA8"/>
          </a:solidFill>
        </p:spPr>
        <p:txBody>
          <a:bodyPr/>
          <a:p/>
        </p:txBody>
      </p:sp>
      <p:sp>
        <p:nvSpPr>
          <p:cNvPr id="823" name="圆角矩形 822"/>
          <p:cNvSpPr/>
          <p:nvPr/>
        </p:nvSpPr>
        <p:spPr>
          <a:xfrm>
            <a:off x="4371975" y="1533525"/>
            <a:ext cx="323850" cy="323850"/>
          </a:xfrm>
          <a:prstGeom prst="roundRect">
            <a:avLst>
              <a:gd name="adj" fmla="val 11765"/>
            </a:avLst>
          </a:prstGeom>
          <a:solidFill>
            <a:srgbClr val="1E4FA8"/>
          </a:solidFill>
        </p:spPr>
        <p:txBody>
          <a:bodyPr/>
          <a:p/>
        </p:txBody>
      </p:sp>
      <p:pic>
        <p:nvPicPr>
          <p:cNvPr id="824" name="图片 823"/>
          <p:cNvPicPr>
            <a:picLocks noChangeAspect="1"/>
          </p:cNvPicPr>
          <p:nvPr/>
        </p:nvPicPr>
        <p:blipFill>
          <a:blip/>
          <a:stretch>
            <a:fillRect/>
          </a:stretch>
        </p:blipFill>
        <p:spPr>
          <a:xfrm>
            <a:off x="4448175" y="1609725"/>
            <a:ext cx="171450" cy="171450"/>
          </a:xfrm>
          <a:prstGeom prst="rect">
            <a:avLst/>
          </a:prstGeom>
        </p:spPr>
      </p:pic>
      <p:pic>
        <p:nvPicPr>
          <p:cNvPr id="825" name="图片 824"/>
          <p:cNvPicPr>
            <a:picLocks noChangeAspect="1"/>
          </p:cNvPicPr>
          <p:nvPr/>
        </p:nvPicPr>
        <p:blipFill>
          <a:blip/>
          <a:stretch>
            <a:fillRect/>
          </a:stretch>
        </p:blipFill>
        <p:spPr>
          <a:xfrm>
            <a:off x="4772025" y="1609725"/>
            <a:ext cx="180975" cy="180975"/>
          </a:xfrm>
          <a:prstGeom prst="rect">
            <a:avLst/>
          </a:prstGeom>
        </p:spPr>
      </p:pic>
      <p:sp>
        <p:nvSpPr>
          <p:cNvPr id="826" name="文本框 825" descr="{&quot;isTemplate&quot;:true,&quot;type&quot;:&quot;text&quot;}"/>
          <p:cNvSpPr txBox="1"/>
          <p:nvPr/>
        </p:nvSpPr>
        <p:spPr>
          <a:xfrm>
            <a:off x="5029200" y="1571625"/>
            <a:ext cx="2000250"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两层冷却技术架构对照</a:t>
            </a:r>
            <a:endParaRPr lang="zh-CN" sz="1575" b="1">
              <a:solidFill>
                <a:srgbClr val="0E3F8C"/>
              </a:solidFill>
              <a:latin typeface="微软雅黑" panose="020B0503020204020204" charset="-122"/>
              <a:ea typeface="微软雅黑" panose="020B0503020204020204" charset="-122"/>
            </a:endParaRPr>
          </a:p>
        </p:txBody>
      </p:sp>
      <p:sp>
        <p:nvSpPr>
          <p:cNvPr id="827" name="文本框 826" descr="{&quot;isTemplate&quot;:true,&quot;type&quot;:&quot;text&quot;}"/>
          <p:cNvSpPr txBox="1"/>
          <p:nvPr/>
        </p:nvSpPr>
        <p:spPr>
          <a:xfrm>
            <a:off x="4371975" y="1933575"/>
            <a:ext cx="3448050" cy="87630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服务器侧设空冷、</a:t>
            </a:r>
            <a:r>
              <a:rPr lang="en-US" sz="1275">
                <a:solidFill>
                  <a:srgbClr val="1A2230"/>
                </a:solidFill>
                <a:latin typeface="微软雅黑" panose="020B0503020204020204" charset="-122"/>
                <a:ea typeface="微软雅黑" panose="020B0503020204020204" charset="-122"/>
              </a:rPr>
              <a:t>Direct-to-Chip </a:t>
            </a:r>
            <a:r>
              <a:rPr lang="zh-CN" sz="1275">
                <a:solidFill>
                  <a:srgbClr val="1A2230"/>
                </a:solidFill>
                <a:latin typeface="微软雅黑" panose="020B0503020204020204" charset="-122"/>
                <a:ea typeface="微软雅黑" panose="020B0503020204020204" charset="-122"/>
              </a:rPr>
              <a:t>与浸没液冷；末端设干式、湿式与混合排热，形成完整技术矩阵。</a:t>
            </a:r>
            <a:endParaRPr lang="zh-CN" sz="1275">
              <a:solidFill>
                <a:srgbClr val="1A2230"/>
              </a:solidFill>
              <a:latin typeface="微软雅黑" panose="020B0503020204020204" charset="-122"/>
              <a:ea typeface="微软雅黑" panose="020B0503020204020204" charset="-122"/>
            </a:endParaRPr>
          </a:p>
        </p:txBody>
      </p:sp>
      <p:sp>
        <p:nvSpPr>
          <p:cNvPr id="828" name="圆角矩形 827"/>
          <p:cNvSpPr/>
          <p:nvPr/>
        </p:nvSpPr>
        <p:spPr>
          <a:xfrm>
            <a:off x="4371975" y="2905125"/>
            <a:ext cx="3448050" cy="723900"/>
          </a:xfrm>
          <a:prstGeom prst="roundRect">
            <a:avLst>
              <a:gd name="adj" fmla="val 5263"/>
            </a:avLst>
          </a:prstGeom>
          <a:solidFill>
            <a:srgbClr val="E8EFF8"/>
          </a:solidFill>
        </p:spPr>
        <p:txBody>
          <a:bodyPr/>
          <a:p/>
        </p:txBody>
      </p:sp>
      <p:sp>
        <p:nvSpPr>
          <p:cNvPr id="829" name="文本框 828" descr="{&quot;isTemplate&quot;:true,&quot;type&quot;:&quot;text&quot;}"/>
          <p:cNvSpPr txBox="1"/>
          <p:nvPr/>
        </p:nvSpPr>
        <p:spPr>
          <a:xfrm>
            <a:off x="4467225" y="3000375"/>
            <a:ext cx="3257550" cy="533400"/>
          </a:xfrm>
          <a:prstGeom prst="rect">
            <a:avLst/>
          </a:prstGeom>
        </p:spPr>
        <p:txBody>
          <a:bodyPr wrap="square" lIns="0" tIns="0" rIns="0" bIns="0">
            <a:normAutofit/>
          </a:bodyPr>
          <a:p>
            <a:pPr>
              <a:lnSpc>
                <a:spcPct val="145000"/>
              </a:lnSpc>
            </a:pPr>
            <a:r>
              <a:rPr lang="zh-CN" sz="1200" b="1">
                <a:solidFill>
                  <a:srgbClr val="0E3F8C"/>
                </a:solidFill>
                <a:latin typeface="微软雅黑" panose="020B0503020204020204" charset="-122"/>
                <a:ea typeface="微软雅黑" panose="020B0503020204020204" charset="-122"/>
              </a:rPr>
              <a:t>识别目标：</a:t>
            </a:r>
            <a:r>
              <a:rPr lang="zh-CN" sz="1200">
                <a:solidFill>
                  <a:srgbClr val="0E3F8C"/>
                </a:solidFill>
                <a:latin typeface="微软雅黑" panose="020B0503020204020204" charset="-122"/>
                <a:ea typeface="微软雅黑" panose="020B0503020204020204" charset="-122"/>
              </a:rPr>
              <a:t>区分热捕集效率与现场补水需求的变化，判断节水效果来自效率提升还是压力转移。</a:t>
            </a:r>
            <a:endParaRPr lang="zh-CN" sz="1200">
              <a:solidFill>
                <a:srgbClr val="0E3F8C"/>
              </a:solidFill>
              <a:latin typeface="微软雅黑" panose="020B0503020204020204" charset="-122"/>
              <a:ea typeface="微软雅黑" panose="020B0503020204020204" charset="-122"/>
            </a:endParaRPr>
          </a:p>
        </p:txBody>
      </p:sp>
      <p:sp>
        <p:nvSpPr>
          <p:cNvPr id="830" name="圆角矩形 829"/>
          <p:cNvSpPr/>
          <p:nvPr/>
        </p:nvSpPr>
        <p:spPr>
          <a:xfrm>
            <a:off x="8086725" y="1400175"/>
            <a:ext cx="3724275" cy="4038600"/>
          </a:xfrm>
          <a:prstGeom prst="roundRect">
            <a:avLst>
              <a:gd name="adj" fmla="val 1535"/>
            </a:avLst>
          </a:prstGeom>
          <a:solidFill>
            <a:srgbClr val="F7F9FC"/>
          </a:solidFill>
        </p:spPr>
        <p:txBody>
          <a:bodyPr/>
          <a:p/>
        </p:txBody>
      </p:sp>
      <p:sp>
        <p:nvSpPr>
          <p:cNvPr id="831" name="任意多边形 830"/>
          <p:cNvSpPr/>
          <p:nvPr/>
        </p:nvSpPr>
        <p:spPr>
          <a:xfrm>
            <a:off x="8086725" y="1400175"/>
            <a:ext cx="3724275" cy="4038600"/>
          </a:xfrm>
          <a:custGeom>
            <a:avLst/>
            <a:gdLst/>
            <a:ahLst/>
            <a:cxnLst/>
            <a:pathLst>
              <a:path w="391" h="424">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832" name="圆角矩形 831"/>
          <p:cNvSpPr/>
          <p:nvPr/>
        </p:nvSpPr>
        <p:spPr>
          <a:xfrm>
            <a:off x="8220075" y="1533525"/>
            <a:ext cx="323850" cy="323850"/>
          </a:xfrm>
          <a:prstGeom prst="roundRect">
            <a:avLst>
              <a:gd name="adj" fmla="val 11765"/>
            </a:avLst>
          </a:prstGeom>
          <a:solidFill>
            <a:srgbClr val="1E4FA8"/>
          </a:solidFill>
        </p:spPr>
        <p:txBody>
          <a:bodyPr/>
          <a:p/>
        </p:txBody>
      </p:sp>
      <p:pic>
        <p:nvPicPr>
          <p:cNvPr id="833" name="图片 832"/>
          <p:cNvPicPr>
            <a:picLocks noChangeAspect="1"/>
          </p:cNvPicPr>
          <p:nvPr/>
        </p:nvPicPr>
        <p:blipFill>
          <a:blip/>
          <a:stretch>
            <a:fillRect/>
          </a:stretch>
        </p:blipFill>
        <p:spPr>
          <a:xfrm>
            <a:off x="8296275" y="1609725"/>
            <a:ext cx="171450" cy="171450"/>
          </a:xfrm>
          <a:prstGeom prst="rect">
            <a:avLst/>
          </a:prstGeom>
        </p:spPr>
      </p:pic>
      <p:pic>
        <p:nvPicPr>
          <p:cNvPr id="834" name="图片 833"/>
          <p:cNvPicPr>
            <a:picLocks noChangeAspect="1"/>
          </p:cNvPicPr>
          <p:nvPr/>
        </p:nvPicPr>
        <p:blipFill>
          <a:blip/>
          <a:stretch>
            <a:fillRect/>
          </a:stretch>
        </p:blipFill>
        <p:spPr>
          <a:xfrm>
            <a:off x="8620125" y="1609725"/>
            <a:ext cx="180975" cy="180975"/>
          </a:xfrm>
          <a:prstGeom prst="rect">
            <a:avLst/>
          </a:prstGeom>
        </p:spPr>
      </p:pic>
      <p:sp>
        <p:nvSpPr>
          <p:cNvPr id="835" name="文本框 834" descr="{&quot;isTemplate&quot;:true,&quot;type&quot;:&quot;text&quot;}"/>
          <p:cNvSpPr txBox="1"/>
          <p:nvPr/>
        </p:nvSpPr>
        <p:spPr>
          <a:xfrm>
            <a:off x="8877300" y="1571625"/>
            <a:ext cx="2076450"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淡水</a:t>
            </a:r>
            <a:r>
              <a:rPr lang="en-US" sz="1575" b="1">
                <a:solidFill>
                  <a:srgbClr val="0E3F8C"/>
                </a:solidFill>
                <a:latin typeface="微软雅黑" panose="020B0503020204020204" charset="-122"/>
                <a:ea typeface="微软雅黑" panose="020B0503020204020204" charset="-122"/>
              </a:rPr>
              <a:t> × </a:t>
            </a:r>
            <a:r>
              <a:rPr lang="zh-CN" sz="1575" b="1">
                <a:solidFill>
                  <a:srgbClr val="0E3F8C"/>
                </a:solidFill>
                <a:latin typeface="微软雅黑" panose="020B0503020204020204" charset="-122"/>
                <a:ea typeface="微软雅黑" panose="020B0503020204020204" charset="-122"/>
              </a:rPr>
              <a:t>再生水配置对照</a:t>
            </a:r>
            <a:endParaRPr lang="zh-CN" sz="1575" b="1">
              <a:solidFill>
                <a:srgbClr val="0E3F8C"/>
              </a:solidFill>
              <a:latin typeface="微软雅黑" panose="020B0503020204020204" charset="-122"/>
              <a:ea typeface="微软雅黑" panose="020B0503020204020204" charset="-122"/>
            </a:endParaRPr>
          </a:p>
        </p:txBody>
      </p:sp>
      <p:sp>
        <p:nvSpPr>
          <p:cNvPr id="836" name="文本框 835" descr="{&quot;isTemplate&quot;:true,&quot;type&quot;:&quot;text&quot;}"/>
          <p:cNvSpPr txBox="1"/>
          <p:nvPr/>
        </p:nvSpPr>
        <p:spPr>
          <a:xfrm>
            <a:off x="8220075" y="1933575"/>
            <a:ext cx="345757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改变淡水与再生水配比，记录实际供应、淡水补足与未满足需求，非只记目标份额。</a:t>
            </a:r>
            <a:endParaRPr lang="zh-CN" sz="1275">
              <a:solidFill>
                <a:srgbClr val="1A2230"/>
              </a:solidFill>
              <a:latin typeface="微软雅黑" panose="020B0503020204020204" charset="-122"/>
              <a:ea typeface="微软雅黑" panose="020B0503020204020204" charset="-122"/>
            </a:endParaRPr>
          </a:p>
        </p:txBody>
      </p:sp>
      <p:sp>
        <p:nvSpPr>
          <p:cNvPr id="837" name="圆角矩形 836"/>
          <p:cNvSpPr/>
          <p:nvPr/>
        </p:nvSpPr>
        <p:spPr>
          <a:xfrm>
            <a:off x="8220075" y="2619375"/>
            <a:ext cx="3457575" cy="723900"/>
          </a:xfrm>
          <a:prstGeom prst="roundRect">
            <a:avLst>
              <a:gd name="adj" fmla="val 5263"/>
            </a:avLst>
          </a:prstGeom>
          <a:solidFill>
            <a:srgbClr val="E8EFF8"/>
          </a:solidFill>
        </p:spPr>
        <p:txBody>
          <a:bodyPr/>
          <a:p/>
        </p:txBody>
      </p:sp>
      <p:sp>
        <p:nvSpPr>
          <p:cNvPr id="838" name="文本框 837" descr="{&quot;isTemplate&quot;:true,&quot;type&quot;:&quot;text&quot;}"/>
          <p:cNvSpPr txBox="1"/>
          <p:nvPr/>
        </p:nvSpPr>
        <p:spPr>
          <a:xfrm>
            <a:off x="8315325" y="2714625"/>
            <a:ext cx="3267075" cy="533400"/>
          </a:xfrm>
          <a:prstGeom prst="rect">
            <a:avLst/>
          </a:prstGeom>
        </p:spPr>
        <p:txBody>
          <a:bodyPr wrap="square" lIns="0" tIns="0" rIns="0" bIns="0">
            <a:normAutofit/>
          </a:bodyPr>
          <a:p>
            <a:pPr>
              <a:lnSpc>
                <a:spcPct val="145000"/>
              </a:lnSpc>
            </a:pPr>
            <a:r>
              <a:rPr lang="zh-CN" sz="1200" b="1">
                <a:solidFill>
                  <a:srgbClr val="0E3F8C"/>
                </a:solidFill>
                <a:latin typeface="微软雅黑" panose="020B0503020204020204" charset="-122"/>
                <a:ea typeface="微软雅黑" panose="020B0503020204020204" charset="-122"/>
              </a:rPr>
              <a:t>识别目标：</a:t>
            </a:r>
            <a:r>
              <a:rPr lang="zh-CN" sz="1200">
                <a:solidFill>
                  <a:srgbClr val="0E3F8C"/>
                </a:solidFill>
                <a:latin typeface="微软雅黑" panose="020B0503020204020204" charset="-122"/>
                <a:ea typeface="微软雅黑" panose="020B0503020204020204" charset="-122"/>
              </a:rPr>
              <a:t>分析水源结构如何改变淡水依赖、回流与再生水利用率，及主导瓶颈位置差异。</a:t>
            </a:r>
            <a:endParaRPr lang="zh-CN" sz="1200">
              <a:solidFill>
                <a:srgbClr val="0E3F8C"/>
              </a:solidFill>
              <a:latin typeface="微软雅黑" panose="020B0503020204020204" charset="-122"/>
              <a:ea typeface="微软雅黑" panose="020B0503020204020204" charset="-122"/>
            </a:endParaRPr>
          </a:p>
        </p:txBody>
      </p:sp>
      <p:sp>
        <p:nvSpPr>
          <p:cNvPr id="839" name="矩形 838"/>
          <p:cNvSpPr/>
          <p:nvPr/>
        </p:nvSpPr>
        <p:spPr>
          <a:xfrm>
            <a:off x="428625" y="5505450"/>
            <a:ext cx="11430000" cy="495300"/>
          </a:xfrm>
          <a:prstGeom prst="rect">
            <a:avLst/>
          </a:prstGeom>
          <a:solidFill>
            <a:srgbClr val="E8EFF8"/>
          </a:solidFill>
        </p:spPr>
        <p:txBody>
          <a:bodyPr/>
          <a:p/>
        </p:txBody>
      </p:sp>
      <p:sp>
        <p:nvSpPr>
          <p:cNvPr id="840" name="任意多边形 839"/>
          <p:cNvSpPr/>
          <p:nvPr/>
        </p:nvSpPr>
        <p:spPr>
          <a:xfrm>
            <a:off x="381000" y="5505450"/>
            <a:ext cx="11477625" cy="495300"/>
          </a:xfrm>
          <a:custGeom>
            <a:avLst/>
            <a:gdLst/>
            <a:ahLst/>
            <a:cxnLst/>
            <a:pathLst>
              <a:path w="1205" h="52">
                <a:moveTo>
                  <a:pt x="0" y="0"/>
                </a:moveTo>
                <a:lnTo>
                  <a:pt x="5" y="0"/>
                </a:lnTo>
                <a:lnTo>
                  <a:pt x="5" y="52"/>
                </a:lnTo>
                <a:lnTo>
                  <a:pt x="0" y="52"/>
                </a:lnTo>
                <a:close/>
              </a:path>
            </a:pathLst>
          </a:custGeom>
          <a:solidFill>
            <a:srgbClr val="1E4FA8"/>
          </a:solidFill>
        </p:spPr>
        <p:txBody>
          <a:bodyPr/>
          <a:p/>
        </p:txBody>
      </p:sp>
      <p:sp>
        <p:nvSpPr>
          <p:cNvPr id="841" name="文本框 840" descr="{&quot;isTemplate&quot;:true,&quot;type&quot;:&quot;text&quot;}"/>
          <p:cNvSpPr txBox="1"/>
          <p:nvPr/>
        </p:nvSpPr>
        <p:spPr>
          <a:xfrm>
            <a:off x="600075" y="5600700"/>
            <a:ext cx="11210925" cy="304800"/>
          </a:xfrm>
          <a:prstGeom prst="rect">
            <a:avLst/>
          </a:prstGeom>
        </p:spPr>
        <p:txBody>
          <a:bodyPr wrap="none" lIns="0" tIns="0" rIns="0" bIns="0"/>
          <a:p>
            <a:pPr>
              <a:lnSpc>
                <a:spcPct val="140000"/>
              </a:lnSpc>
            </a:pPr>
            <a:r>
              <a:rPr lang="zh-CN" sz="1425">
                <a:solidFill>
                  <a:srgbClr val="1A2230"/>
                </a:solidFill>
                <a:latin typeface="微软雅黑" panose="020B0503020204020204" charset="-122"/>
                <a:ea typeface="微软雅黑" panose="020B0503020204020204" charset="-122"/>
              </a:rPr>
              <a:t>三组对照把</a:t>
            </a:r>
            <a:r>
              <a:rPr lang="en-US" sz="1425">
                <a:solidFill>
                  <a:srgbClr val="1A2230"/>
                </a:solidFill>
                <a:latin typeface="微软雅黑" panose="020B0503020204020204" charset="-122"/>
                <a:ea typeface="微软雅黑" panose="020B0503020204020204" charset="-122"/>
              </a:rPr>
              <a:t>"AI </a:t>
            </a:r>
            <a:r>
              <a:rPr lang="zh-CN" sz="1425">
                <a:solidFill>
                  <a:srgbClr val="1A2230"/>
                </a:solidFill>
                <a:latin typeface="微软雅黑" panose="020B0503020204020204" charset="-122"/>
                <a:ea typeface="微软雅黑" panose="020B0503020204020204" charset="-122"/>
              </a:rPr>
              <a:t>压力</a:t>
            </a:r>
            <a:r>
              <a:rPr lang="en-US" sz="1425">
                <a:solidFill>
                  <a:srgbClr val="1A2230"/>
                </a:solidFill>
                <a:latin typeface="微软雅黑" panose="020B0503020204020204" charset="-122"/>
                <a:ea typeface="微软雅黑" panose="020B0503020204020204" charset="-122"/>
              </a:rPr>
              <a:t>"</a:t>
            </a:r>
            <a:r>
              <a:rPr lang="zh-CN" sz="1425">
                <a:solidFill>
                  <a:srgbClr val="1A2230"/>
                </a:solidFill>
                <a:latin typeface="微软雅黑" panose="020B0503020204020204" charset="-122"/>
                <a:ea typeface="微软雅黑" panose="020B0503020204020204" charset="-122"/>
              </a:rPr>
              <a:t>从整体数字拆分为负荷特征、技术选择与水源政策三个可干预来源</a:t>
            </a:r>
            <a:endParaRPr lang="zh-CN" sz="1425">
              <a:solidFill>
                <a:srgbClr val="1A2230"/>
              </a:solidFill>
              <a:latin typeface="微软雅黑" panose="020B0503020204020204" charset="-122"/>
              <a:ea typeface="微软雅黑" panose="020B0503020204020204" charset="-122"/>
            </a:endParaRPr>
          </a:p>
        </p:txBody>
      </p:sp>
      <p:sp>
        <p:nvSpPr>
          <p:cNvPr id="842" name="任意多边形 841"/>
          <p:cNvSpPr/>
          <p:nvPr/>
        </p:nvSpPr>
        <p:spPr>
          <a:xfrm>
            <a:off x="0" y="60769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843" name="文本框 842" descr="{&quot;isTemplate&quot;:true,&quot;type&quot;:&quot;text&quot;}"/>
          <p:cNvSpPr txBox="1"/>
          <p:nvPr/>
        </p:nvSpPr>
        <p:spPr>
          <a:xfrm>
            <a:off x="381000" y="61912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844" name="文本框 843" descr="{&quot;isTemplate&quot;:true,&quot;type&quot;:&quot;text&quot;}"/>
          <p:cNvSpPr txBox="1"/>
          <p:nvPr/>
        </p:nvSpPr>
        <p:spPr>
          <a:xfrm>
            <a:off x="11353800" y="61912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24 / 36</a:t>
            </a:r>
            <a:endParaRPr lang="en-US" sz="1050">
              <a:solidFill>
                <a:srgbClr val="1E4FA8"/>
              </a:solidFill>
              <a:latin typeface="微软雅黑" panose="020B0503020204020204" charset="-122"/>
              <a:ea typeface="微软雅黑" panose="020B0503020204020204" charset="-122"/>
            </a:endParaRPr>
          </a:p>
        </p:txBody>
      </p:sp>
      <p:sp>
        <p:nvSpPr>
          <p:cNvPr id="845" name="矩形 844"/>
          <p:cNvSpPr/>
          <p:nvPr/>
        </p:nvSpPr>
        <p:spPr>
          <a:xfrm>
            <a:off x="0" y="685800"/>
            <a:ext cx="57150" cy="1162050"/>
          </a:xfrm>
          <a:prstGeom prst="rect">
            <a:avLst/>
          </a:prstGeom>
          <a:solidFill>
            <a:srgbClr val="C9D6E8"/>
          </a:solidFill>
        </p:spPr>
        <p:txBody>
          <a:bodyPr/>
          <a:p/>
        </p:txBody>
      </p:sp>
      <p:sp>
        <p:nvSpPr>
          <p:cNvPr id="846" name="矩形 845"/>
          <p:cNvSpPr/>
          <p:nvPr/>
        </p:nvSpPr>
        <p:spPr>
          <a:xfrm>
            <a:off x="0" y="1847850"/>
            <a:ext cx="57150" cy="1162050"/>
          </a:xfrm>
          <a:prstGeom prst="rect">
            <a:avLst/>
          </a:prstGeom>
          <a:solidFill>
            <a:srgbClr val="C9D6E8"/>
          </a:solidFill>
        </p:spPr>
        <p:txBody>
          <a:bodyPr/>
          <a:p/>
        </p:txBody>
      </p:sp>
      <p:sp>
        <p:nvSpPr>
          <p:cNvPr id="847" name="矩形 846"/>
          <p:cNvSpPr/>
          <p:nvPr/>
        </p:nvSpPr>
        <p:spPr>
          <a:xfrm>
            <a:off x="0" y="3009900"/>
            <a:ext cx="57150" cy="1162050"/>
          </a:xfrm>
          <a:prstGeom prst="rect">
            <a:avLst/>
          </a:prstGeom>
          <a:solidFill>
            <a:srgbClr val="C9D6E8"/>
          </a:solidFill>
        </p:spPr>
        <p:txBody>
          <a:bodyPr/>
          <a:p/>
        </p:txBody>
      </p:sp>
      <p:sp>
        <p:nvSpPr>
          <p:cNvPr id="848" name="矩形 847"/>
          <p:cNvSpPr/>
          <p:nvPr/>
        </p:nvSpPr>
        <p:spPr>
          <a:xfrm>
            <a:off x="0" y="4171950"/>
            <a:ext cx="57150" cy="1162050"/>
          </a:xfrm>
          <a:prstGeom prst="rect">
            <a:avLst/>
          </a:prstGeom>
          <a:solidFill>
            <a:srgbClr val="FFC107"/>
          </a:solidFill>
        </p:spPr>
        <p:txBody>
          <a:bodyPr/>
          <a:p/>
        </p:txBody>
      </p:sp>
      <p:sp>
        <p:nvSpPr>
          <p:cNvPr id="849" name="矩形 848"/>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850"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clock' style={{ fill: '#FFC107', width: 22, height: 22 }} /&gt;&#13;&#10;        &lt;/Box&gt;&#13;&#10;            &lt;Text style={{ fontSize: 29, fontWeight: 'bold', color: '#FFFFFF' }}&gt;实验三：年均、日尺度与极端周小时边界的系统比较&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5&lt;/Text&gt;&#13;&#10;            &lt;/Box&gt;&#13;&#10;        &lt;/Box&gt;&#13;&#10;    &lt;/Box&gt;&#13;&#10;    &lt;Box style={{ paddingLeft: 40, paddingRight: 40, paddingTop: 12, paddingBottom: 8, flexDirection: 'column', gap: 10 }}&gt;&#13;&#10;        &lt;Box style={{ background: '#0B3A82', paddingLeft: 20, paddingTop: 10, paddingBottom: 10, borderRadius: 4 }}&gt;&#13;&#10;            &lt;Text style={{ fontSize: 21, color: '#FFFFFF' }}&gt;检验 Q2 / H2：层1 同源时序按小时/日/年聚合（年总量与气候一致）；层2 叠加高温、干旱与需求峰值复合压力&lt;/Text&gt;&#13;&#10;        &lt;/Box&gt;&#13;&#10;        &lt;Box style={{ flexDirection: 'row', alignItems: 'center', gap: 14, background: '#F7F9FC', border: '1px solid #D6DCE5', borderRadius: 6, paddingLeft: 12, paddingRight: 12, paddingTop: 5, paddingBottom: 5, height: 52 }}&gt;&#13;&#10;            &lt;Box style={{ width: 700, height: 42 }}&gt;&#13;&#10;                &lt;svg width={700} height={42} viewBox='0 0 700 42'&gt;&#13;&#10;                    &lt;text x='0' y='12' font-size='10.5' fill='#8B97A8' font-family='Microsoft YaHei'&gt;年均&lt;/text&gt;&#13;&#10;                    &lt;text x='0' y='30' font-size='10.5' fill='#1E4FA8' font-family='Microsoft YaHei'&gt;日尺度&lt;/text&gt;&#13;&#10;                    &lt;text x='0' y='47' font-size='10.5' fill='#D9534F' font-family='Microsoft YaHei'&gt;小时&lt;/text&gt;&#13;&#10;                    &lt;polyline points='52 8.0 68 7.8 84 7.7 101 7.5 117 7.4 133 7.3 149 7.2 165 7.1 182 7.0 198 7.0 214 7.0 230 7.0 246 7.0 263 7.1 279 7.2 295 7.3 311 7.4 327 7.5 344 7.7 360 7.8 376 8.0 392 8.2 408 8.3 425 8.5 441 8.6 457 8.7 473 8.8 489 8.9 506 9.0 522 9.0 538 9.0 554 9.0 570 9.0 587 8.9 603 8.8 619 8.7 635 8.6 651 8.5 668 8.3 684 8.2 700 8.0' fill='none' stroke='#8B97A8' strokeWidth='2' /&gt;&#13;&#10;                    &lt;polyline points='52 22.4 61 22.1 70 21.8 79 21.5 88 21.3 97 21.0 106 20.8 115 20.6 124 20.4 133 20.3 142 20.2 151 20.1 160 20.0 169 20.0 178 20.0 187 20.0 196 20.1 205 20.2 214 20.3 223 20.5 232 20.6 241 20.8 250 21.1 259 21.3 268 21.6 277 21.9 286 22.2 295 22.5 304 22.8 313 23.2 322 23.5 331 23.9 340 24.2 349 24.6 358 24.9 367 25.2 376 25.6 385 25.9 394 26.2 403 26.5 412 26.7 421 27.0 430 27.2 439 27.4 448 27.6 457 27.7 466 27.8 475 27.9 484 28.0 493 28.0 502 28.0 511 28.0 520 27.9 529 27.8 538 27.7 547 27.5 556 27.4 565 27.2 574 26.9 583 26.7 592 26.4 601 26.1 610 25.8 619 25.5 628 25.2 637 24.8 646 24.5 655 24.1 664 23.8 673 23.4 682 23.1 691 22.8 700 22.4' fill='none' stroke='#1E4FA8' strokeWidth='2' /&gt;&#13;&#10;                    &lt;polyline points='52 37.1 57 36.0 63 35.3 68 35.0 74 35.3 79 36.0 84 37.1 90 38.4 95 39.6 101 40.7 106 41.5 111 41.9 117 42.1 122 42.1 128 42.1 133 41.9 138 41.5 144 40.7 149 39.6 155 38.4 160 37.1 165 36.0 171 35.3 176 35.0 182 35.3 187 36.0 192 37.1 198 38.4 203 39.6 209 40.7 214 41.5 219 41.9 225 42.1 230 42.1 236 42.1 241 41.9 246 41.5 252 40.7 257 39.6 263 38.4 268 37.1 273 36.0 279 35.3 284 35.0 290 35.3 295 36.0 300 37.1 306 38.4 311 39.6 317 40.7 322 41.5 327 41.9 333 42.1 338 42.1 344 42.1 349 41.9 354 41.5 360 40.7 365 39.6 371 38.4 376 37.1 381 36.0 387 35.3 392 35.0 398 35.3 403 36.0 408 37.1 414 38.4 419 39.6 425 40.7 430 41.5 435 41.9 441 42.1 446 42.1 452 42.1 457 41.9 462 41.5 468 40.7 473 39.6 479 38.4 484 37.1 489 36.0 495 35.3 500 35.0 506 35.3 511 36.0 516 37.1 522 38.4 527 39.6 533 40.7 538 41.5 543 41.9 549 42.1 554 42.1 560 42.1 565 41.9 570 41.5 576 40.7 581 39.6 587 38.4 592 37.1 597 36.0 603 35.3 608 35.0 614 35.3 619 36.0 624 37.1 630 38.4 635 39.6 641 40.7 646 41.5 651 41.9 657 42.1 662 42.1 668 42.1 673 41.9 678 41.5 684 40.7 689 39.6 695 38.4 700 37.1' fill='none' stroke='#D9534F' strokeWidth='1.6' /&gt;&#13;&#10;                &lt;/svg&gt;&#13;&#10;            &lt;/Box&gt;&#13;&#10;            &lt;Text style={{ flex: 1, fontSize: 16, color: '#1A2230', lineHeight: 1.4 }}&gt;时间聚合可能掩盖短时能力约束，影响程度由负荷、气候与需求峰值重合决定——此为待检验命题，非既定结论&lt;/Text&gt;&#13;&#10;        &lt;/Box&gt;&#13;&#10;        &lt;Box style={{ flexDirection: 'row', gap: 14, height: 206 }}&gt;&#13;&#10;            &lt;Box style={{ flex: 1, background: '#F7F9FC', border: '1px solid #D6DCE5', borderRadius: 6, padding: 14, flexDirection: 'column' }}&gt;&#13;&#10;                &lt;Box style={{ flexDirection: 'row', alignItems: 'center', gap: 8, marginBottom: 6 }}&gt;&#13;&#10;                    &lt;Box style={{ background: '#8B97A8', borderRadius: 3, paddingLeft: 8, paddingRight: 8, paddingTop: 2, paddingBottom: 2 }}&gt;&#13;&#10;                        &lt;Text style={{ fontSize: 15, color: '#FFFFFF', fontWeight: 'bold' }}&gt;尺度一&lt;/Text&gt;&#13;&#10;                    &lt;/Box&gt;&#13;&#10;                    &lt;Box style={{ flexDirection: 'row', alignItems: 'center', gap: 8 }}&gt;&#13;&#10;                &lt;FAIcon name='calendar' style={{ fill: '#1E4FA8', width: 19, height: 19 }} /&gt;&#13;&#10;                &lt;Text style={{ fontSize: 21, fontWeight: 'bold', color: '#1A2230' }}&gt;年均分析&lt;/Text&gt;&#13;&#10;            &lt;/Box&gt;&#13;&#10;                &lt;/Box&gt;&#13;&#10;                &lt;Text style={{ fontSize: 17, color: '#1A2230', lineHeight: 1.5 }}&gt;以年总量刻画长期需求与供需平衡，是当前规划论证最常用口径。&lt;/Text&gt;&#13;&#10;                &lt;Box style={{ marginTop: 8, background: '#F0F5FC', borderRadius: 4, padding: 8 }}&gt;&#13;&#10;                    &lt;Text style={{ fontSize: 16, color: '#4A5568', lineHeight: 1.4 }}&gt;局限：抹平季节波动与日内峰值，可能高估实际可承载容量&lt;/Text&gt;&#13;&#10;                &lt;/Box&gt;&#13;&#10;            &lt;/Box&gt;&#13;&#10;            &lt;Box style={{ flex: 1, background: '#F7F9FC', border: '1px solid #D6DCE5', borderRadius: 6, padding: 14, flexDirection: 'column' }}&gt;&#13;&#10;                &lt;Box style={{ flexDirection: 'row', alignItems: 'center', gap: 8, marginBottom: 6 }}&gt;&#13;&#10;                    &lt;Box style={{ background: '#1E4FA8', borderRadius: 3, paddingLeft: 8, paddingRight: 8, paddingTop: 2, paddingBottom: 2 }}&gt;&#13;&#10;                        &lt;Text style={{ fontSize: 15, color: '#FFFFFF', fontWeight: 'bold' }}&gt;尺度二&lt;/Text&gt;&#13;&#10;                    &lt;/Box&gt;&#13;&#10;                    &lt;Box style={{ flexDirection: 'row', alignItems: 'center', gap: 8 }}&gt;&#13;&#10;                &lt;FAIcon name='clock' style={{ fill: '#1E4FA8', width: 19, height: 19 }} /&gt;&#13;&#10;                &lt;Text style={{ fontSize: 21, fontWeight: 'bold', color: '#0E3F8C' }}&gt;日尺度分析&lt;/Text&gt;&#13;&#10;            &lt;/Box&gt;&#13;&#10;                &lt;/Box&gt;&#13;&#10;                &lt;Text style={{ fontSize: 17, color: '#1A2230', lineHeight: 1.5 }}&gt;引入季节变化、需水峰值与日变化过程，识别高温日累计效应与储水调蓄缓冲，是默认主时间步。&lt;/Text&gt;&#13;&#10;                &lt;Box style={{ marginTop: 8, background: '#E8EFF8', borderRadius: 4, padding: 8 }}&gt;&#13;&#10;                    &lt;Text style={{ fontSize: 16, color: '#0E3F8C', lineHeight: 1.4 }}&gt;作用：识别季节与需求峰值，暴露年均口径下的隐性缺口&lt;/Text&gt;&#13;&#10;                &lt;/Box&gt;&#13;&#10;            &lt;/Box&gt;&#13;&#10;            &lt;Box style={{ flex: 1, background: '#F7F9FC', border: '1px solid #D6DCE5', borderRadius: 6, padding: 14, flexDirection: 'column' }}&gt;&#13;&#10;                &lt;Box style={{ flexDirection: 'row', alignItems: 'center', gap: 8, marginBottom: 6 }}&gt;&#13;&#10;                    &lt;Box style={{ background: '#D9534F', borderRadius: 3, paddingLeft: 8, paddingRight: 8, paddingTop: 2, paddingBottom: 2 }}&gt;&#13;&#10;                        &lt;Text style={{ fontSize: 15, color: '#FFFFFF', fontWeight: 'bold' }}&gt;尺度三&lt;/Text&gt;&#13;&#10;                    &lt;/Box&gt;&#13;&#10;                    &lt;Text style={{ fontSize: 21, fontWeight: 'bold', color: '#D9534F' }}&gt;极端周小时校核&lt;/Text&gt;&#13;&#10;                &lt;/Box&gt;&#13;&#10;                &lt;Text style={{ fontSize: 17, color: '#1A2230', lineHeight: 1.5 }}&gt;集中观察高温与复合压力下数小时内的处理、输配与失效，检验日尺度是否掩盖更短时段失稳。&lt;/Text&gt;&#13;&#10;                &lt;Box style={{ marginTop: 8, background: '#FDECEC', borderRadius: 4, padding: 8 }}&gt;&#13;&#10;                    &lt;Text style={{ fontSize: 16, color: '#D9534F', lineHeight: 1.4 }}&gt;作用：检验短时失稳，捕捉需求重合造成的瞬时能力不足&lt;/Text&gt;&#13;&#10;                &lt;/Box&gt;&#13;&#10;            &lt;/Box&gt;&#13;&#10;        &lt;/Box&gt;&#13;&#10;        &lt;Box style={{ flexDirection: 'row', gap: 14, height: 180 }}&gt;&#13;&#10;            &lt;Box style={{ flex: 1, background: '#F0F5FC', border: '1px solid #D6DCE5', borderRadius: 6, padding: 14, flexDirection: 'column' }}&gt;&#13;&#10;                &lt;Box style={{ borderLeft: '5px solid #1E4FA8', paddingLeft: 10, marginBottom: 6 }}&gt;&#13;&#10;                    &lt;Box style={{ flexDirection: 'row', alignItems: 'center', gap: 8 }}&gt;&#13;&#10;                &lt;FAIcon name='temperature-half' style={{ fill: '#1E4FA8', width: 19, height: 19 }} /&gt;&#13;&#10;                &lt;Text style={{ fontSize: 21, fontWeight: 'bold', color: '#0E3F8C' }}&gt;复合压力情景的构造方式&lt;/Text&gt;&#13;&#10;            &lt;/Box&gt;&#13;&#10;                &lt;/Box&gt;&#13;&#10;                &lt;Text style={{ fontSize: 17, color: '#1A2230', lineHeight: 1.5 }}&gt;高温、干旱与需求峰值分别构造单因素与组合情景，保留时间相关结构。气候情景参照 CMIP6 与 IPCC 选取。&lt;/Text&gt;&#13;&#10;            &lt;/Box&gt;&#13;&#10;            &lt;Box style={{ width: 400, background: '#0E3F8C', borderRadius: 6, padding: 14, flexDirection: 'column' }}&gt;&#13;&#10;                &lt;Box style={{ borderLeft: '5px solid #FFC107', paddingLeft: 10, marginBottom: 6 }}&gt;&#13;&#10;                    &lt;Box style={{ flexDirection: 'row', alignItems: 'center', gap: 8 }}&gt;&#13;&#10;                &lt;FAIcon name='chart-line' style={{ fill: '#FFC107', width: 19, height: 19 }} /&gt;&#13;&#10;                &lt;Text style={{ fontSize: 21, fontWeight: 'bold', color: '#FFFFFF' }}&gt;边界差异的度量&lt;/Text&gt;&#13;&#10;            &lt;/Box&gt;&#13;&#10;                &lt;/Box&gt;&#13;&#10;                &lt;Box style={{ background: '#12489A', borderRadius: 4, padding: 10, marginBottom: 8 }}&gt;&#13;&#10;                    &lt;Text style={{ fontSize: 20, fontWeight: 'bold', color: '#FFFFFF', lineHeight: 1.4 }}&gt;ΔCAWCC = CAWCC(年均) − CAWCC(峰值)&lt;/Text&gt;&#13;&#10;                &lt;/Box&gt;&#13;&#10;                &lt;Text style={{ fontSize: 16, color: '#E4EDF9', lineHeight: 1.5 }}&gt;当差值为正时解释为年均口径高估；结合峰值重合指数、湿球温度与水源折减解释差异幅度。&lt;/Text&gt;&#13;&#10;            &lt;/Box&gt;&#13;&#10;        &lt;/Box&gt;&#13;&#10;        &lt;Box style={{ background: '#E8EFF8', borderLeft: '5px solid #1E4FA8', paddingLeft: 18, paddingTop: 9, paddingBottom: 9 }}&gt;&#13;&#10;            &lt;Text style={{ fontSize: 19, color: '#1A2230' }}&gt;可靠性以基本服务满足时间比例表示，恢复性关注恢复速度，脆弱性以缺水量与持续时间刻画&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5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851" name="矩形 850"/>
          <p:cNvSpPr/>
          <p:nvPr/>
        </p:nvSpPr>
        <p:spPr>
          <a:xfrm>
            <a:off x="0" y="0"/>
            <a:ext cx="12192000" cy="6858000"/>
          </a:xfrm>
          <a:prstGeom prst="rect">
            <a:avLst/>
          </a:prstGeom>
          <a:solidFill>
            <a:srgbClr val="FFFFFF"/>
          </a:solidFill>
        </p:spPr>
        <p:txBody>
          <a:bodyPr/>
          <a:p/>
        </p:txBody>
      </p:sp>
      <p:sp>
        <p:nvSpPr>
          <p:cNvPr id="852" name="矩形 851"/>
          <p:cNvSpPr/>
          <p:nvPr/>
        </p:nvSpPr>
        <p:spPr>
          <a:xfrm>
            <a:off x="0" y="0"/>
            <a:ext cx="12192000" cy="685800"/>
          </a:xfrm>
          <a:prstGeom prst="rect">
            <a:avLst/>
          </a:prstGeom>
          <a:solidFill>
            <a:srgbClr val="0E3F8C"/>
          </a:solidFill>
        </p:spPr>
        <p:txBody>
          <a:bodyPr/>
          <a:p/>
        </p:txBody>
      </p:sp>
      <p:sp>
        <p:nvSpPr>
          <p:cNvPr id="853" name="圆角矩形 852"/>
          <p:cNvSpPr/>
          <p:nvPr/>
        </p:nvSpPr>
        <p:spPr>
          <a:xfrm>
            <a:off x="381000" y="152400"/>
            <a:ext cx="381000" cy="381000"/>
          </a:xfrm>
          <a:prstGeom prst="roundRect">
            <a:avLst>
              <a:gd name="adj" fmla="val 25000"/>
            </a:avLst>
          </a:prstGeom>
          <a:solidFill>
            <a:srgbClr val="12489A"/>
          </a:solidFill>
        </p:spPr>
        <p:txBody>
          <a:bodyPr/>
          <a:p/>
        </p:txBody>
      </p:sp>
      <p:pic>
        <p:nvPicPr>
          <p:cNvPr id="854" name="图片 853"/>
          <p:cNvPicPr>
            <a:picLocks noChangeAspect="1"/>
          </p:cNvPicPr>
          <p:nvPr/>
        </p:nvPicPr>
        <p:blipFill>
          <a:blip/>
          <a:stretch>
            <a:fillRect/>
          </a:stretch>
        </p:blipFill>
        <p:spPr>
          <a:xfrm>
            <a:off x="466725" y="238125"/>
            <a:ext cx="209550" cy="209550"/>
          </a:xfrm>
          <a:prstGeom prst="rect">
            <a:avLst/>
          </a:prstGeom>
        </p:spPr>
      </p:pic>
      <p:sp>
        <p:nvSpPr>
          <p:cNvPr id="855" name="文本框 854" descr="{&quot;isTemplate&quot;:true,&quot;type&quot;:&quot;text&quot;}"/>
          <p:cNvSpPr txBox="1"/>
          <p:nvPr/>
        </p:nvSpPr>
        <p:spPr>
          <a:xfrm>
            <a:off x="895350" y="180975"/>
            <a:ext cx="63531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实验三：年均、日尺度与极端周小时边界的系统比较</a:t>
            </a:r>
            <a:endParaRPr lang="zh-CN" sz="2175" b="1">
              <a:solidFill>
                <a:srgbClr val="FFFFFF"/>
              </a:solidFill>
              <a:latin typeface="微软雅黑" panose="020B0503020204020204" charset="-122"/>
              <a:ea typeface="微软雅黑" panose="020B0503020204020204" charset="-122"/>
            </a:endParaRPr>
          </a:p>
        </p:txBody>
      </p:sp>
      <p:sp>
        <p:nvSpPr>
          <p:cNvPr id="856" name="文本框 855"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857" name="圆角矩形 856"/>
          <p:cNvSpPr/>
          <p:nvPr/>
        </p:nvSpPr>
        <p:spPr>
          <a:xfrm>
            <a:off x="11468100" y="238125"/>
            <a:ext cx="342900" cy="219075"/>
          </a:xfrm>
          <a:prstGeom prst="roundRect">
            <a:avLst>
              <a:gd name="adj" fmla="val 13043"/>
            </a:avLst>
          </a:prstGeom>
          <a:solidFill>
            <a:srgbClr val="FFC107"/>
          </a:solidFill>
        </p:spPr>
        <p:txBody>
          <a:bodyPr/>
          <a:p/>
        </p:txBody>
      </p:sp>
      <p:sp>
        <p:nvSpPr>
          <p:cNvPr id="858" name="文本框 857"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25</a:t>
            </a:r>
            <a:endParaRPr lang="en-US" sz="1050" b="1">
              <a:solidFill>
                <a:srgbClr val="0B3A82"/>
              </a:solidFill>
              <a:latin typeface="微软雅黑" panose="020B0503020204020204" charset="-122"/>
              <a:ea typeface="微软雅黑" panose="020B0503020204020204" charset="-122"/>
            </a:endParaRPr>
          </a:p>
        </p:txBody>
      </p:sp>
      <p:sp>
        <p:nvSpPr>
          <p:cNvPr id="859" name="圆角矩形 858"/>
          <p:cNvSpPr/>
          <p:nvPr/>
        </p:nvSpPr>
        <p:spPr>
          <a:xfrm>
            <a:off x="381000" y="800100"/>
            <a:ext cx="11430000" cy="438150"/>
          </a:xfrm>
          <a:prstGeom prst="roundRect">
            <a:avLst>
              <a:gd name="adj" fmla="val 8696"/>
            </a:avLst>
          </a:prstGeom>
          <a:solidFill>
            <a:srgbClr val="0B3A82"/>
          </a:solidFill>
        </p:spPr>
        <p:txBody>
          <a:bodyPr/>
          <a:p/>
        </p:txBody>
      </p:sp>
      <p:sp>
        <p:nvSpPr>
          <p:cNvPr id="860" name="文本框 859"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检验</a:t>
            </a:r>
            <a:r>
              <a:rPr lang="en-US" sz="1575">
                <a:solidFill>
                  <a:srgbClr val="FFFFFF"/>
                </a:solidFill>
                <a:latin typeface="微软雅黑" panose="020B0503020204020204" charset="-122"/>
                <a:ea typeface="微软雅黑" panose="020B0503020204020204" charset="-122"/>
              </a:rPr>
              <a:t> Q2 / H2</a:t>
            </a:r>
            <a:r>
              <a:rPr lang="zh-CN" sz="1575">
                <a:solidFill>
                  <a:srgbClr val="FFFFFF"/>
                </a:solidFill>
                <a:latin typeface="微软雅黑" panose="020B0503020204020204" charset="-122"/>
                <a:ea typeface="微软雅黑" panose="020B0503020204020204" charset="-122"/>
              </a:rPr>
              <a:t>：层</a:t>
            </a:r>
            <a:r>
              <a:rPr lang="en-US" sz="1575">
                <a:solidFill>
                  <a:srgbClr val="FFFFFF"/>
                </a:solidFill>
                <a:latin typeface="微软雅黑" panose="020B0503020204020204" charset="-122"/>
                <a:ea typeface="微软雅黑" panose="020B0503020204020204" charset="-122"/>
              </a:rPr>
              <a:t>1 </a:t>
            </a:r>
            <a:r>
              <a:rPr lang="zh-CN" sz="1575">
                <a:solidFill>
                  <a:srgbClr val="FFFFFF"/>
                </a:solidFill>
                <a:latin typeface="微软雅黑" panose="020B0503020204020204" charset="-122"/>
                <a:ea typeface="微软雅黑" panose="020B0503020204020204" charset="-122"/>
              </a:rPr>
              <a:t>同源时序按小时</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日</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年聚合（年总量与气候一致）；层</a:t>
            </a:r>
            <a:r>
              <a:rPr lang="en-US" sz="1575">
                <a:solidFill>
                  <a:srgbClr val="FFFFFF"/>
                </a:solidFill>
                <a:latin typeface="微软雅黑" panose="020B0503020204020204" charset="-122"/>
                <a:ea typeface="微软雅黑" panose="020B0503020204020204" charset="-122"/>
              </a:rPr>
              <a:t>2 </a:t>
            </a:r>
            <a:r>
              <a:rPr lang="zh-CN" sz="1575">
                <a:solidFill>
                  <a:srgbClr val="FFFFFF"/>
                </a:solidFill>
                <a:latin typeface="微软雅黑" panose="020B0503020204020204" charset="-122"/>
                <a:ea typeface="微软雅黑" panose="020B0503020204020204" charset="-122"/>
              </a:rPr>
              <a:t>叠加高温、干旱与需求峰值复合压力</a:t>
            </a:r>
            <a:endParaRPr lang="zh-CN" sz="1575">
              <a:solidFill>
                <a:srgbClr val="FFFFFF"/>
              </a:solidFill>
              <a:latin typeface="微软雅黑" panose="020B0503020204020204" charset="-122"/>
              <a:ea typeface="微软雅黑" panose="020B0503020204020204" charset="-122"/>
            </a:endParaRPr>
          </a:p>
        </p:txBody>
      </p:sp>
      <p:sp>
        <p:nvSpPr>
          <p:cNvPr id="861" name="圆角矩形 860"/>
          <p:cNvSpPr/>
          <p:nvPr/>
        </p:nvSpPr>
        <p:spPr>
          <a:xfrm>
            <a:off x="381000" y="1333500"/>
            <a:ext cx="11430000" cy="495300"/>
          </a:xfrm>
          <a:prstGeom prst="roundRect">
            <a:avLst>
              <a:gd name="adj" fmla="val 11538"/>
            </a:avLst>
          </a:prstGeom>
          <a:solidFill>
            <a:srgbClr val="F7F9FC"/>
          </a:solidFill>
          <a:ln w="12700">
            <a:solidFill>
              <a:srgbClr val="D6DCE5"/>
            </a:solidFill>
            <a:prstDash val="solid"/>
          </a:ln>
        </p:spPr>
        <p:txBody>
          <a:bodyPr/>
          <a:p/>
        </p:txBody>
      </p:sp>
      <p:pic>
        <p:nvPicPr>
          <p:cNvPr id="862" name="图片 86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5300" y="1381125"/>
            <a:ext cx="6667500" cy="400050"/>
          </a:xfrm>
          <a:prstGeom prst="rect">
            <a:avLst/>
          </a:prstGeom>
        </p:spPr>
      </p:pic>
      <p:sp>
        <p:nvSpPr>
          <p:cNvPr id="863" name="文本框 862" descr="{&quot;isTemplate&quot;:true,&quot;type&quot;:&quot;text&quot;}"/>
          <p:cNvSpPr txBox="1"/>
          <p:nvPr/>
        </p:nvSpPr>
        <p:spPr>
          <a:xfrm>
            <a:off x="7296150" y="1323975"/>
            <a:ext cx="4400550" cy="514350"/>
          </a:xfrm>
          <a:prstGeom prst="rect">
            <a:avLst/>
          </a:prstGeom>
        </p:spPr>
        <p:txBody>
          <a:bodyPr wrap="square" lIns="0" tIns="0" rIns="0" bIns="0">
            <a:normAutofit/>
          </a:bodyPr>
          <a:p>
            <a:pPr>
              <a:lnSpc>
                <a:spcPct val="140000"/>
              </a:lnSpc>
            </a:pPr>
            <a:r>
              <a:rPr lang="zh-CN" sz="1200">
                <a:solidFill>
                  <a:srgbClr val="1A2230"/>
                </a:solidFill>
                <a:latin typeface="微软雅黑" panose="020B0503020204020204" charset="-122"/>
                <a:ea typeface="微软雅黑" panose="020B0503020204020204" charset="-122"/>
              </a:rPr>
              <a:t>时间聚合可能掩盖短时能力约束，影响程度由负荷、气候与需求峰值重合决定——此为待检验命题，非既定结论</a:t>
            </a:r>
            <a:endParaRPr lang="zh-CN" sz="1200">
              <a:solidFill>
                <a:srgbClr val="1A2230"/>
              </a:solidFill>
              <a:latin typeface="微软雅黑" panose="020B0503020204020204" charset="-122"/>
              <a:ea typeface="微软雅黑" panose="020B0503020204020204" charset="-122"/>
            </a:endParaRPr>
          </a:p>
        </p:txBody>
      </p:sp>
      <p:sp>
        <p:nvSpPr>
          <p:cNvPr id="864" name="圆角矩形 863"/>
          <p:cNvSpPr/>
          <p:nvPr/>
        </p:nvSpPr>
        <p:spPr>
          <a:xfrm>
            <a:off x="381000" y="1924050"/>
            <a:ext cx="3724275" cy="1962150"/>
          </a:xfrm>
          <a:prstGeom prst="roundRect">
            <a:avLst>
              <a:gd name="adj" fmla="val 2913"/>
            </a:avLst>
          </a:prstGeom>
          <a:solidFill>
            <a:srgbClr val="F7F9FC"/>
          </a:solidFill>
          <a:ln w="12700">
            <a:solidFill>
              <a:srgbClr val="D6DCE5"/>
            </a:solidFill>
            <a:prstDash val="solid"/>
          </a:ln>
        </p:spPr>
        <p:txBody>
          <a:bodyPr/>
          <a:p/>
        </p:txBody>
      </p:sp>
      <p:sp>
        <p:nvSpPr>
          <p:cNvPr id="865" name="圆角矩形 864"/>
          <p:cNvSpPr/>
          <p:nvPr/>
        </p:nvSpPr>
        <p:spPr>
          <a:xfrm>
            <a:off x="514350" y="2076450"/>
            <a:ext cx="581025" cy="209550"/>
          </a:xfrm>
          <a:prstGeom prst="roundRect">
            <a:avLst>
              <a:gd name="adj" fmla="val 13636"/>
            </a:avLst>
          </a:prstGeom>
          <a:solidFill>
            <a:srgbClr val="8B97A8"/>
          </a:solidFill>
        </p:spPr>
        <p:txBody>
          <a:bodyPr/>
          <a:p/>
        </p:txBody>
      </p:sp>
      <p:sp>
        <p:nvSpPr>
          <p:cNvPr id="866" name="文本框 865" descr="{&quot;isTemplate&quot;:true,&quot;type&quot;:&quot;text&quot;}"/>
          <p:cNvSpPr txBox="1"/>
          <p:nvPr/>
        </p:nvSpPr>
        <p:spPr>
          <a:xfrm>
            <a:off x="590550" y="2095500"/>
            <a:ext cx="428625" cy="171450"/>
          </a:xfrm>
          <a:prstGeom prst="rect">
            <a:avLst/>
          </a:prstGeom>
        </p:spPr>
        <p:txBody>
          <a:bodyPr wrap="none" lIns="0" tIns="0" rIns="0" bIns="0"/>
          <a:p>
            <a:pPr>
              <a:lnSpc>
                <a:spcPct val="100000"/>
              </a:lnSpc>
            </a:pPr>
            <a:r>
              <a:rPr lang="zh-CN" sz="1125" b="1">
                <a:solidFill>
                  <a:srgbClr val="FFFFFF"/>
                </a:solidFill>
                <a:latin typeface="微软雅黑" panose="020B0503020204020204" charset="-122"/>
                <a:ea typeface="微软雅黑" panose="020B0503020204020204" charset="-122"/>
              </a:rPr>
              <a:t>尺度一</a:t>
            </a:r>
            <a:endParaRPr lang="zh-CN" sz="1125" b="1">
              <a:solidFill>
                <a:srgbClr val="FFFFFF"/>
              </a:solidFill>
              <a:latin typeface="微软雅黑" panose="020B0503020204020204" charset="-122"/>
              <a:ea typeface="微软雅黑" panose="020B0503020204020204" charset="-122"/>
            </a:endParaRPr>
          </a:p>
        </p:txBody>
      </p:sp>
      <p:pic>
        <p:nvPicPr>
          <p:cNvPr id="867" name="图片 866"/>
          <p:cNvPicPr>
            <a:picLocks noChangeAspect="1"/>
          </p:cNvPicPr>
          <p:nvPr/>
        </p:nvPicPr>
        <p:blipFill>
          <a:blip/>
          <a:stretch>
            <a:fillRect/>
          </a:stretch>
        </p:blipFill>
        <p:spPr>
          <a:xfrm>
            <a:off x="1171575" y="2095500"/>
            <a:ext cx="180975" cy="180975"/>
          </a:xfrm>
          <a:prstGeom prst="rect">
            <a:avLst/>
          </a:prstGeom>
        </p:spPr>
      </p:pic>
      <p:sp>
        <p:nvSpPr>
          <p:cNvPr id="868" name="文本框 867" descr="{&quot;isTemplate&quot;:true,&quot;type&quot;:&quot;text&quot;}"/>
          <p:cNvSpPr txBox="1"/>
          <p:nvPr/>
        </p:nvSpPr>
        <p:spPr>
          <a:xfrm>
            <a:off x="1428750" y="2057400"/>
            <a:ext cx="800100" cy="247650"/>
          </a:xfrm>
          <a:prstGeom prst="rect">
            <a:avLst/>
          </a:prstGeom>
        </p:spPr>
        <p:txBody>
          <a:bodyPr wrap="none" lIns="0" tIns="0" rIns="0" bIns="0"/>
          <a:p>
            <a:pPr>
              <a:lnSpc>
                <a:spcPct val="100000"/>
              </a:lnSpc>
            </a:pPr>
            <a:r>
              <a:rPr lang="zh-CN" sz="1575" b="1">
                <a:solidFill>
                  <a:srgbClr val="1A2230"/>
                </a:solidFill>
                <a:latin typeface="微软雅黑" panose="020B0503020204020204" charset="-122"/>
                <a:ea typeface="微软雅黑" panose="020B0503020204020204" charset="-122"/>
              </a:rPr>
              <a:t>年均分析</a:t>
            </a:r>
            <a:endParaRPr lang="zh-CN" sz="1575" b="1">
              <a:solidFill>
                <a:srgbClr val="1A2230"/>
              </a:solidFill>
              <a:latin typeface="微软雅黑" panose="020B0503020204020204" charset="-122"/>
              <a:ea typeface="微软雅黑" panose="020B0503020204020204" charset="-122"/>
            </a:endParaRPr>
          </a:p>
        </p:txBody>
      </p:sp>
      <p:sp>
        <p:nvSpPr>
          <p:cNvPr id="869" name="文本框 868" descr="{&quot;isTemplate&quot;:true,&quot;type&quot;:&quot;text&quot;}"/>
          <p:cNvSpPr txBox="1"/>
          <p:nvPr/>
        </p:nvSpPr>
        <p:spPr>
          <a:xfrm>
            <a:off x="514350" y="2362200"/>
            <a:ext cx="345757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以年总量刻画长期需求与供需平衡，是当前规划论证最常用口径。</a:t>
            </a:r>
            <a:endParaRPr lang="zh-CN" sz="1275">
              <a:solidFill>
                <a:srgbClr val="1A2230"/>
              </a:solidFill>
              <a:latin typeface="微软雅黑" panose="020B0503020204020204" charset="-122"/>
              <a:ea typeface="微软雅黑" panose="020B0503020204020204" charset="-122"/>
            </a:endParaRPr>
          </a:p>
        </p:txBody>
      </p:sp>
      <p:sp>
        <p:nvSpPr>
          <p:cNvPr id="870" name="圆角矩形 869"/>
          <p:cNvSpPr/>
          <p:nvPr/>
        </p:nvSpPr>
        <p:spPr>
          <a:xfrm>
            <a:off x="514350" y="3028950"/>
            <a:ext cx="3457575" cy="666750"/>
          </a:xfrm>
          <a:prstGeom prst="roundRect">
            <a:avLst>
              <a:gd name="adj" fmla="val 5714"/>
            </a:avLst>
          </a:prstGeom>
          <a:solidFill>
            <a:srgbClr val="F0F5FC"/>
          </a:solidFill>
        </p:spPr>
        <p:txBody>
          <a:bodyPr/>
          <a:p/>
        </p:txBody>
      </p:sp>
      <p:sp>
        <p:nvSpPr>
          <p:cNvPr id="871" name="文本框 870" descr="{&quot;isTemplate&quot;:true,&quot;type&quot;:&quot;text&quot;}"/>
          <p:cNvSpPr txBox="1"/>
          <p:nvPr/>
        </p:nvSpPr>
        <p:spPr>
          <a:xfrm>
            <a:off x="590550" y="3105150"/>
            <a:ext cx="3305175" cy="514350"/>
          </a:xfrm>
          <a:prstGeom prst="rect">
            <a:avLst/>
          </a:prstGeom>
        </p:spPr>
        <p:txBody>
          <a:bodyPr wrap="square" lIns="0" tIns="0" rIns="0" bIns="0">
            <a:normAutofit/>
          </a:bodyPr>
          <a:p>
            <a:pPr>
              <a:lnSpc>
                <a:spcPct val="140000"/>
              </a:lnSpc>
            </a:pPr>
            <a:r>
              <a:rPr lang="zh-CN" sz="1200">
                <a:solidFill>
                  <a:srgbClr val="4A5568"/>
                </a:solidFill>
                <a:latin typeface="微软雅黑" panose="020B0503020204020204" charset="-122"/>
                <a:ea typeface="微软雅黑" panose="020B0503020204020204" charset="-122"/>
              </a:rPr>
              <a:t>局限：抹平季节波动与日内峰值，可能高估实际可承载容量</a:t>
            </a:r>
            <a:endParaRPr lang="zh-CN" sz="1200">
              <a:solidFill>
                <a:srgbClr val="4A5568"/>
              </a:solidFill>
              <a:latin typeface="微软雅黑" panose="020B0503020204020204" charset="-122"/>
              <a:ea typeface="微软雅黑" panose="020B0503020204020204" charset="-122"/>
            </a:endParaRPr>
          </a:p>
        </p:txBody>
      </p:sp>
      <p:sp>
        <p:nvSpPr>
          <p:cNvPr id="872" name="圆角矩形 871"/>
          <p:cNvSpPr/>
          <p:nvPr/>
        </p:nvSpPr>
        <p:spPr>
          <a:xfrm>
            <a:off x="4238625" y="1924050"/>
            <a:ext cx="3714750" cy="2190750"/>
          </a:xfrm>
          <a:prstGeom prst="roundRect">
            <a:avLst>
              <a:gd name="adj" fmla="val 2609"/>
            </a:avLst>
          </a:prstGeom>
          <a:solidFill>
            <a:srgbClr val="F7F9FC"/>
          </a:solidFill>
          <a:ln w="12700">
            <a:solidFill>
              <a:srgbClr val="D6DCE5"/>
            </a:solidFill>
            <a:prstDash val="solid"/>
          </a:ln>
        </p:spPr>
        <p:txBody>
          <a:bodyPr/>
          <a:p/>
        </p:txBody>
      </p:sp>
      <p:sp>
        <p:nvSpPr>
          <p:cNvPr id="873" name="圆角矩形 872"/>
          <p:cNvSpPr/>
          <p:nvPr/>
        </p:nvSpPr>
        <p:spPr>
          <a:xfrm>
            <a:off x="4371975" y="2076450"/>
            <a:ext cx="581025" cy="209550"/>
          </a:xfrm>
          <a:prstGeom prst="roundRect">
            <a:avLst>
              <a:gd name="adj" fmla="val 13636"/>
            </a:avLst>
          </a:prstGeom>
          <a:solidFill>
            <a:srgbClr val="1E4FA8"/>
          </a:solidFill>
        </p:spPr>
        <p:txBody>
          <a:bodyPr/>
          <a:p/>
        </p:txBody>
      </p:sp>
      <p:sp>
        <p:nvSpPr>
          <p:cNvPr id="874" name="文本框 873" descr="{&quot;isTemplate&quot;:true,&quot;type&quot;:&quot;text&quot;}"/>
          <p:cNvSpPr txBox="1"/>
          <p:nvPr/>
        </p:nvSpPr>
        <p:spPr>
          <a:xfrm>
            <a:off x="4448175" y="2095500"/>
            <a:ext cx="428625" cy="171450"/>
          </a:xfrm>
          <a:prstGeom prst="rect">
            <a:avLst/>
          </a:prstGeom>
        </p:spPr>
        <p:txBody>
          <a:bodyPr wrap="none" lIns="0" tIns="0" rIns="0" bIns="0"/>
          <a:p>
            <a:pPr>
              <a:lnSpc>
                <a:spcPct val="100000"/>
              </a:lnSpc>
            </a:pPr>
            <a:r>
              <a:rPr lang="zh-CN" sz="1125" b="1">
                <a:solidFill>
                  <a:srgbClr val="FFFFFF"/>
                </a:solidFill>
                <a:latin typeface="微软雅黑" panose="020B0503020204020204" charset="-122"/>
                <a:ea typeface="微软雅黑" panose="020B0503020204020204" charset="-122"/>
              </a:rPr>
              <a:t>尺度二</a:t>
            </a:r>
            <a:endParaRPr lang="zh-CN" sz="1125" b="1">
              <a:solidFill>
                <a:srgbClr val="FFFFFF"/>
              </a:solidFill>
              <a:latin typeface="微软雅黑" panose="020B0503020204020204" charset="-122"/>
              <a:ea typeface="微软雅黑" panose="020B0503020204020204" charset="-122"/>
            </a:endParaRPr>
          </a:p>
        </p:txBody>
      </p:sp>
      <p:pic>
        <p:nvPicPr>
          <p:cNvPr id="875" name="图片 874"/>
          <p:cNvPicPr>
            <a:picLocks noChangeAspect="1"/>
          </p:cNvPicPr>
          <p:nvPr/>
        </p:nvPicPr>
        <p:blipFill>
          <a:blip/>
          <a:stretch>
            <a:fillRect/>
          </a:stretch>
        </p:blipFill>
        <p:spPr>
          <a:xfrm>
            <a:off x="5029200" y="2095500"/>
            <a:ext cx="180975" cy="180975"/>
          </a:xfrm>
          <a:prstGeom prst="rect">
            <a:avLst/>
          </a:prstGeom>
        </p:spPr>
      </p:pic>
      <p:sp>
        <p:nvSpPr>
          <p:cNvPr id="876" name="文本框 875" descr="{&quot;isTemplate&quot;:true,&quot;type&quot;:&quot;text&quot;}"/>
          <p:cNvSpPr txBox="1"/>
          <p:nvPr/>
        </p:nvSpPr>
        <p:spPr>
          <a:xfrm>
            <a:off x="5286375" y="2057400"/>
            <a:ext cx="100012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日尺度分析</a:t>
            </a:r>
            <a:endParaRPr lang="zh-CN" sz="1575" b="1">
              <a:solidFill>
                <a:srgbClr val="0E3F8C"/>
              </a:solidFill>
              <a:latin typeface="微软雅黑" panose="020B0503020204020204" charset="-122"/>
              <a:ea typeface="微软雅黑" panose="020B0503020204020204" charset="-122"/>
            </a:endParaRPr>
          </a:p>
        </p:txBody>
      </p:sp>
      <p:sp>
        <p:nvSpPr>
          <p:cNvPr id="877" name="文本框 876" descr="{&quot;isTemplate&quot;:true,&quot;type&quot;:&quot;text&quot;}"/>
          <p:cNvSpPr txBox="1"/>
          <p:nvPr/>
        </p:nvSpPr>
        <p:spPr>
          <a:xfrm>
            <a:off x="4371975" y="2362200"/>
            <a:ext cx="3448050" cy="87630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引入季节变化、需水峰值与日变化过程，识别高温日累计效应与储水调蓄缓冲，是默认主时间步。</a:t>
            </a:r>
            <a:endParaRPr lang="zh-CN" sz="1275">
              <a:solidFill>
                <a:srgbClr val="1A2230"/>
              </a:solidFill>
              <a:latin typeface="微软雅黑" panose="020B0503020204020204" charset="-122"/>
              <a:ea typeface="微软雅黑" panose="020B0503020204020204" charset="-122"/>
            </a:endParaRPr>
          </a:p>
        </p:txBody>
      </p:sp>
      <p:sp>
        <p:nvSpPr>
          <p:cNvPr id="878" name="圆角矩形 877"/>
          <p:cNvSpPr/>
          <p:nvPr/>
        </p:nvSpPr>
        <p:spPr>
          <a:xfrm>
            <a:off x="4371975" y="3314700"/>
            <a:ext cx="3448050" cy="666750"/>
          </a:xfrm>
          <a:prstGeom prst="roundRect">
            <a:avLst>
              <a:gd name="adj" fmla="val 5714"/>
            </a:avLst>
          </a:prstGeom>
          <a:solidFill>
            <a:srgbClr val="E8EFF8"/>
          </a:solidFill>
        </p:spPr>
        <p:txBody>
          <a:bodyPr/>
          <a:p/>
        </p:txBody>
      </p:sp>
      <p:sp>
        <p:nvSpPr>
          <p:cNvPr id="879" name="文本框 878" descr="{&quot;isTemplate&quot;:true,&quot;type&quot;:&quot;text&quot;}"/>
          <p:cNvSpPr txBox="1"/>
          <p:nvPr/>
        </p:nvSpPr>
        <p:spPr>
          <a:xfrm>
            <a:off x="4448175" y="3390900"/>
            <a:ext cx="3295650" cy="514350"/>
          </a:xfrm>
          <a:prstGeom prst="rect">
            <a:avLst/>
          </a:prstGeom>
        </p:spPr>
        <p:txBody>
          <a:bodyPr wrap="square" lIns="0" tIns="0" rIns="0" bIns="0">
            <a:normAutofit/>
          </a:bodyPr>
          <a:p>
            <a:pPr>
              <a:lnSpc>
                <a:spcPct val="140000"/>
              </a:lnSpc>
            </a:pPr>
            <a:r>
              <a:rPr lang="zh-CN" sz="1200">
                <a:solidFill>
                  <a:srgbClr val="0E3F8C"/>
                </a:solidFill>
                <a:latin typeface="微软雅黑" panose="020B0503020204020204" charset="-122"/>
                <a:ea typeface="微软雅黑" panose="020B0503020204020204" charset="-122"/>
              </a:rPr>
              <a:t>作用：识别季节与需求峰值，暴露年均口径下的隐性缺口</a:t>
            </a:r>
            <a:endParaRPr lang="zh-CN" sz="1200">
              <a:solidFill>
                <a:srgbClr val="0E3F8C"/>
              </a:solidFill>
              <a:latin typeface="微软雅黑" panose="020B0503020204020204" charset="-122"/>
              <a:ea typeface="微软雅黑" panose="020B0503020204020204" charset="-122"/>
            </a:endParaRPr>
          </a:p>
        </p:txBody>
      </p:sp>
      <p:sp>
        <p:nvSpPr>
          <p:cNvPr id="880" name="圆角矩形 879"/>
          <p:cNvSpPr/>
          <p:nvPr/>
        </p:nvSpPr>
        <p:spPr>
          <a:xfrm>
            <a:off x="8086725" y="1924050"/>
            <a:ext cx="3724275" cy="1962150"/>
          </a:xfrm>
          <a:prstGeom prst="roundRect">
            <a:avLst>
              <a:gd name="adj" fmla="val 2913"/>
            </a:avLst>
          </a:prstGeom>
          <a:solidFill>
            <a:srgbClr val="F7F9FC"/>
          </a:solidFill>
          <a:ln w="12700">
            <a:solidFill>
              <a:srgbClr val="D6DCE5"/>
            </a:solidFill>
            <a:prstDash val="solid"/>
          </a:ln>
        </p:spPr>
        <p:txBody>
          <a:bodyPr/>
          <a:p/>
        </p:txBody>
      </p:sp>
      <p:sp>
        <p:nvSpPr>
          <p:cNvPr id="881" name="圆角矩形 880"/>
          <p:cNvSpPr/>
          <p:nvPr/>
        </p:nvSpPr>
        <p:spPr>
          <a:xfrm>
            <a:off x="8220075" y="2076450"/>
            <a:ext cx="581025" cy="209550"/>
          </a:xfrm>
          <a:prstGeom prst="roundRect">
            <a:avLst>
              <a:gd name="adj" fmla="val 13636"/>
            </a:avLst>
          </a:prstGeom>
          <a:solidFill>
            <a:srgbClr val="D9534F"/>
          </a:solidFill>
        </p:spPr>
        <p:txBody>
          <a:bodyPr/>
          <a:p/>
        </p:txBody>
      </p:sp>
      <p:sp>
        <p:nvSpPr>
          <p:cNvPr id="882" name="文本框 881" descr="{&quot;isTemplate&quot;:true,&quot;type&quot;:&quot;text&quot;}"/>
          <p:cNvSpPr txBox="1"/>
          <p:nvPr/>
        </p:nvSpPr>
        <p:spPr>
          <a:xfrm>
            <a:off x="8296275" y="2095500"/>
            <a:ext cx="428625" cy="171450"/>
          </a:xfrm>
          <a:prstGeom prst="rect">
            <a:avLst/>
          </a:prstGeom>
        </p:spPr>
        <p:txBody>
          <a:bodyPr wrap="none" lIns="0" tIns="0" rIns="0" bIns="0"/>
          <a:p>
            <a:pPr>
              <a:lnSpc>
                <a:spcPct val="100000"/>
              </a:lnSpc>
            </a:pPr>
            <a:r>
              <a:rPr lang="zh-CN" sz="1125" b="1">
                <a:solidFill>
                  <a:srgbClr val="FFFFFF"/>
                </a:solidFill>
                <a:latin typeface="微软雅黑" panose="020B0503020204020204" charset="-122"/>
                <a:ea typeface="微软雅黑" panose="020B0503020204020204" charset="-122"/>
              </a:rPr>
              <a:t>尺度三</a:t>
            </a:r>
            <a:endParaRPr lang="zh-CN" sz="1125" b="1">
              <a:solidFill>
                <a:srgbClr val="FFFFFF"/>
              </a:solidFill>
              <a:latin typeface="微软雅黑" panose="020B0503020204020204" charset="-122"/>
              <a:ea typeface="微软雅黑" panose="020B0503020204020204" charset="-122"/>
            </a:endParaRPr>
          </a:p>
        </p:txBody>
      </p:sp>
      <p:sp>
        <p:nvSpPr>
          <p:cNvPr id="883" name="文本框 882" descr="{&quot;isTemplate&quot;:true,&quot;type&quot;:&quot;text&quot;}"/>
          <p:cNvSpPr txBox="1"/>
          <p:nvPr/>
        </p:nvSpPr>
        <p:spPr>
          <a:xfrm>
            <a:off x="8877300" y="2057400"/>
            <a:ext cx="1400175" cy="247650"/>
          </a:xfrm>
          <a:prstGeom prst="rect">
            <a:avLst/>
          </a:prstGeom>
        </p:spPr>
        <p:txBody>
          <a:bodyPr wrap="none" lIns="0" tIns="0" rIns="0" bIns="0"/>
          <a:p>
            <a:pPr>
              <a:lnSpc>
                <a:spcPct val="100000"/>
              </a:lnSpc>
            </a:pPr>
            <a:r>
              <a:rPr lang="zh-CN" sz="1575" b="1">
                <a:solidFill>
                  <a:srgbClr val="D9534F"/>
                </a:solidFill>
                <a:latin typeface="微软雅黑" panose="020B0503020204020204" charset="-122"/>
                <a:ea typeface="微软雅黑" panose="020B0503020204020204" charset="-122"/>
              </a:rPr>
              <a:t>极端周小时校核</a:t>
            </a:r>
            <a:endParaRPr lang="zh-CN" sz="1575" b="1">
              <a:solidFill>
                <a:srgbClr val="D9534F"/>
              </a:solidFill>
              <a:latin typeface="微软雅黑" panose="020B0503020204020204" charset="-122"/>
              <a:ea typeface="微软雅黑" panose="020B0503020204020204" charset="-122"/>
            </a:endParaRPr>
          </a:p>
        </p:txBody>
      </p:sp>
      <p:sp>
        <p:nvSpPr>
          <p:cNvPr id="884" name="文本框 883" descr="{&quot;isTemplate&quot;:true,&quot;type&quot;:&quot;text&quot;}"/>
          <p:cNvSpPr txBox="1"/>
          <p:nvPr/>
        </p:nvSpPr>
        <p:spPr>
          <a:xfrm>
            <a:off x="8220075" y="2362200"/>
            <a:ext cx="345757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集中观察高温与复合压力下数小时内的处理、输配与失效，检验日尺度是否掩盖更短时段失稳。</a:t>
            </a:r>
            <a:endParaRPr lang="zh-CN" sz="1275">
              <a:solidFill>
                <a:srgbClr val="1A2230"/>
              </a:solidFill>
              <a:latin typeface="微软雅黑" panose="020B0503020204020204" charset="-122"/>
              <a:ea typeface="微软雅黑" panose="020B0503020204020204" charset="-122"/>
            </a:endParaRPr>
          </a:p>
        </p:txBody>
      </p:sp>
      <p:sp>
        <p:nvSpPr>
          <p:cNvPr id="885" name="圆角矩形 884"/>
          <p:cNvSpPr/>
          <p:nvPr/>
        </p:nvSpPr>
        <p:spPr>
          <a:xfrm>
            <a:off x="8220075" y="3028950"/>
            <a:ext cx="3457575" cy="666750"/>
          </a:xfrm>
          <a:prstGeom prst="roundRect">
            <a:avLst>
              <a:gd name="adj" fmla="val 5714"/>
            </a:avLst>
          </a:prstGeom>
          <a:solidFill>
            <a:srgbClr val="FDECEC"/>
          </a:solidFill>
        </p:spPr>
        <p:txBody>
          <a:bodyPr/>
          <a:p/>
        </p:txBody>
      </p:sp>
      <p:sp>
        <p:nvSpPr>
          <p:cNvPr id="886" name="文本框 885" descr="{&quot;isTemplate&quot;:true,&quot;type&quot;:&quot;text&quot;}"/>
          <p:cNvSpPr txBox="1"/>
          <p:nvPr/>
        </p:nvSpPr>
        <p:spPr>
          <a:xfrm>
            <a:off x="8296275" y="3105150"/>
            <a:ext cx="3305175" cy="514350"/>
          </a:xfrm>
          <a:prstGeom prst="rect">
            <a:avLst/>
          </a:prstGeom>
        </p:spPr>
        <p:txBody>
          <a:bodyPr wrap="square" lIns="0" tIns="0" rIns="0" bIns="0">
            <a:normAutofit/>
          </a:bodyPr>
          <a:p>
            <a:pPr>
              <a:lnSpc>
                <a:spcPct val="140000"/>
              </a:lnSpc>
            </a:pPr>
            <a:r>
              <a:rPr lang="zh-CN" sz="1200">
                <a:solidFill>
                  <a:srgbClr val="D9534F"/>
                </a:solidFill>
                <a:latin typeface="微软雅黑" panose="020B0503020204020204" charset="-122"/>
                <a:ea typeface="微软雅黑" panose="020B0503020204020204" charset="-122"/>
              </a:rPr>
              <a:t>作用：检验短时失稳，捕捉需求重合造成的瞬时能力不足</a:t>
            </a:r>
            <a:endParaRPr lang="zh-CN" sz="1200">
              <a:solidFill>
                <a:srgbClr val="D9534F"/>
              </a:solidFill>
              <a:latin typeface="微软雅黑" panose="020B0503020204020204" charset="-122"/>
              <a:ea typeface="微软雅黑" panose="020B0503020204020204" charset="-122"/>
            </a:endParaRPr>
          </a:p>
        </p:txBody>
      </p:sp>
      <p:sp>
        <p:nvSpPr>
          <p:cNvPr id="887" name="圆角矩形 886"/>
          <p:cNvSpPr/>
          <p:nvPr/>
        </p:nvSpPr>
        <p:spPr>
          <a:xfrm>
            <a:off x="381000" y="3981450"/>
            <a:ext cx="7486650" cy="1714500"/>
          </a:xfrm>
          <a:prstGeom prst="roundRect">
            <a:avLst>
              <a:gd name="adj" fmla="val 3333"/>
            </a:avLst>
          </a:prstGeom>
          <a:solidFill>
            <a:srgbClr val="F0F5FC"/>
          </a:solidFill>
          <a:ln w="12700">
            <a:solidFill>
              <a:srgbClr val="D6DCE5"/>
            </a:solidFill>
            <a:prstDash val="solid"/>
          </a:ln>
        </p:spPr>
        <p:txBody>
          <a:bodyPr/>
          <a:p/>
        </p:txBody>
      </p:sp>
      <p:sp>
        <p:nvSpPr>
          <p:cNvPr id="888" name="任意多边形 887"/>
          <p:cNvSpPr/>
          <p:nvPr/>
        </p:nvSpPr>
        <p:spPr>
          <a:xfrm>
            <a:off x="514350" y="4114800"/>
            <a:ext cx="7267575" cy="247650"/>
          </a:xfrm>
          <a:custGeom>
            <a:avLst/>
            <a:gdLst/>
            <a:ahLst/>
            <a:cxnLst/>
            <a:pathLst>
              <a:path w="763" h="26">
                <a:moveTo>
                  <a:pt x="0" y="0"/>
                </a:moveTo>
                <a:lnTo>
                  <a:pt x="5" y="0"/>
                </a:lnTo>
                <a:lnTo>
                  <a:pt x="5" y="26"/>
                </a:lnTo>
                <a:lnTo>
                  <a:pt x="0" y="26"/>
                </a:lnTo>
                <a:close/>
              </a:path>
            </a:pathLst>
          </a:custGeom>
          <a:solidFill>
            <a:srgbClr val="1E4FA8"/>
          </a:solidFill>
        </p:spPr>
        <p:txBody>
          <a:bodyPr/>
          <a:p/>
        </p:txBody>
      </p:sp>
      <p:pic>
        <p:nvPicPr>
          <p:cNvPr id="889" name="图片 888"/>
          <p:cNvPicPr>
            <a:picLocks noChangeAspect="1"/>
          </p:cNvPicPr>
          <p:nvPr/>
        </p:nvPicPr>
        <p:blipFill>
          <a:blip/>
          <a:stretch>
            <a:fillRect/>
          </a:stretch>
        </p:blipFill>
        <p:spPr>
          <a:xfrm>
            <a:off x="657225" y="4152900"/>
            <a:ext cx="180975" cy="180975"/>
          </a:xfrm>
          <a:prstGeom prst="rect">
            <a:avLst/>
          </a:prstGeom>
        </p:spPr>
      </p:pic>
      <p:sp>
        <p:nvSpPr>
          <p:cNvPr id="890" name="文本框 889" descr="{&quot;isTemplate&quot;:true,&quot;type&quot;:&quot;text&quot;}"/>
          <p:cNvSpPr txBox="1"/>
          <p:nvPr/>
        </p:nvSpPr>
        <p:spPr>
          <a:xfrm>
            <a:off x="914400" y="4114800"/>
            <a:ext cx="220027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复合压力情景的构造方式</a:t>
            </a:r>
            <a:endParaRPr lang="zh-CN" sz="1575" b="1">
              <a:solidFill>
                <a:srgbClr val="0E3F8C"/>
              </a:solidFill>
              <a:latin typeface="微软雅黑" panose="020B0503020204020204" charset="-122"/>
              <a:ea typeface="微软雅黑" panose="020B0503020204020204" charset="-122"/>
            </a:endParaRPr>
          </a:p>
        </p:txBody>
      </p:sp>
      <p:sp>
        <p:nvSpPr>
          <p:cNvPr id="891" name="文本框 890" descr="{&quot;isTemplate&quot;:true,&quot;type&quot;:&quot;text&quot;}"/>
          <p:cNvSpPr txBox="1"/>
          <p:nvPr/>
        </p:nvSpPr>
        <p:spPr>
          <a:xfrm>
            <a:off x="514350" y="4419600"/>
            <a:ext cx="7219950"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高温、干旱与需求峰值分别构造单因素与组合情景，保留时间相关结构。气候情景参照</a:t>
            </a:r>
            <a:r>
              <a:rPr lang="en-US" sz="1275">
                <a:solidFill>
                  <a:srgbClr val="1A2230"/>
                </a:solidFill>
                <a:latin typeface="微软雅黑" panose="020B0503020204020204" charset="-122"/>
                <a:ea typeface="微软雅黑" panose="020B0503020204020204" charset="-122"/>
              </a:rPr>
              <a:t> CMIP6 </a:t>
            </a:r>
            <a:r>
              <a:rPr lang="zh-CN" sz="1275">
                <a:solidFill>
                  <a:srgbClr val="1A2230"/>
                </a:solidFill>
                <a:latin typeface="微软雅黑" panose="020B0503020204020204" charset="-122"/>
                <a:ea typeface="微软雅黑" panose="020B0503020204020204" charset="-122"/>
              </a:rPr>
              <a:t>与</a:t>
            </a:r>
            <a:r>
              <a:rPr lang="en-US" sz="1275">
                <a:solidFill>
                  <a:srgbClr val="1A2230"/>
                </a:solidFill>
                <a:latin typeface="微软雅黑" panose="020B0503020204020204" charset="-122"/>
                <a:ea typeface="微软雅黑" panose="020B0503020204020204" charset="-122"/>
              </a:rPr>
              <a:t> IPCC </a:t>
            </a:r>
            <a:r>
              <a:rPr lang="zh-CN" sz="1275">
                <a:solidFill>
                  <a:srgbClr val="1A2230"/>
                </a:solidFill>
                <a:latin typeface="微软雅黑" panose="020B0503020204020204" charset="-122"/>
                <a:ea typeface="微软雅黑" panose="020B0503020204020204" charset="-122"/>
              </a:rPr>
              <a:t>选取。</a:t>
            </a:r>
            <a:endParaRPr lang="zh-CN" sz="1275">
              <a:solidFill>
                <a:srgbClr val="1A2230"/>
              </a:solidFill>
              <a:latin typeface="微软雅黑" panose="020B0503020204020204" charset="-122"/>
              <a:ea typeface="微软雅黑" panose="020B0503020204020204" charset="-122"/>
            </a:endParaRPr>
          </a:p>
        </p:txBody>
      </p:sp>
      <p:sp>
        <p:nvSpPr>
          <p:cNvPr id="892" name="圆角矩形 891"/>
          <p:cNvSpPr/>
          <p:nvPr/>
        </p:nvSpPr>
        <p:spPr>
          <a:xfrm>
            <a:off x="8001000" y="3981450"/>
            <a:ext cx="3810000" cy="2038350"/>
          </a:xfrm>
          <a:prstGeom prst="roundRect">
            <a:avLst>
              <a:gd name="adj" fmla="val 2804"/>
            </a:avLst>
          </a:prstGeom>
          <a:solidFill>
            <a:srgbClr val="0E3F8C"/>
          </a:solidFill>
        </p:spPr>
        <p:txBody>
          <a:bodyPr/>
          <a:p/>
        </p:txBody>
      </p:sp>
      <p:sp>
        <p:nvSpPr>
          <p:cNvPr id="893" name="任意多边形 892"/>
          <p:cNvSpPr/>
          <p:nvPr/>
        </p:nvSpPr>
        <p:spPr>
          <a:xfrm>
            <a:off x="8134350" y="4114800"/>
            <a:ext cx="3590925" cy="247650"/>
          </a:xfrm>
          <a:custGeom>
            <a:avLst/>
            <a:gdLst/>
            <a:ahLst/>
            <a:cxnLst/>
            <a:pathLst>
              <a:path w="377" h="26">
                <a:moveTo>
                  <a:pt x="0" y="0"/>
                </a:moveTo>
                <a:lnTo>
                  <a:pt x="5" y="0"/>
                </a:lnTo>
                <a:lnTo>
                  <a:pt x="5" y="26"/>
                </a:lnTo>
                <a:lnTo>
                  <a:pt x="0" y="26"/>
                </a:lnTo>
                <a:close/>
              </a:path>
            </a:pathLst>
          </a:custGeom>
          <a:solidFill>
            <a:srgbClr val="FFC107"/>
          </a:solidFill>
        </p:spPr>
        <p:txBody>
          <a:bodyPr/>
          <a:p/>
        </p:txBody>
      </p:sp>
      <p:pic>
        <p:nvPicPr>
          <p:cNvPr id="894" name="图片 893"/>
          <p:cNvPicPr>
            <a:picLocks noChangeAspect="1"/>
          </p:cNvPicPr>
          <p:nvPr/>
        </p:nvPicPr>
        <p:blipFill>
          <a:blip/>
          <a:stretch>
            <a:fillRect/>
          </a:stretch>
        </p:blipFill>
        <p:spPr>
          <a:xfrm>
            <a:off x="8277225" y="4152900"/>
            <a:ext cx="180975" cy="180975"/>
          </a:xfrm>
          <a:prstGeom prst="rect">
            <a:avLst/>
          </a:prstGeom>
        </p:spPr>
      </p:pic>
      <p:sp>
        <p:nvSpPr>
          <p:cNvPr id="895" name="文本框 894" descr="{&quot;isTemplate&quot;:true,&quot;type&quot;:&quot;text&quot;}"/>
          <p:cNvSpPr txBox="1"/>
          <p:nvPr/>
        </p:nvSpPr>
        <p:spPr>
          <a:xfrm>
            <a:off x="8534400" y="4114800"/>
            <a:ext cx="1400175" cy="247650"/>
          </a:xfrm>
          <a:prstGeom prst="rect">
            <a:avLst/>
          </a:prstGeom>
        </p:spPr>
        <p:txBody>
          <a:bodyPr wrap="none" lIns="0" tIns="0" rIns="0" bIns="0"/>
          <a:p>
            <a:pPr>
              <a:lnSpc>
                <a:spcPct val="100000"/>
              </a:lnSpc>
            </a:pPr>
            <a:r>
              <a:rPr lang="zh-CN" sz="1575" b="1">
                <a:solidFill>
                  <a:srgbClr val="FFFFFF"/>
                </a:solidFill>
                <a:latin typeface="微软雅黑" panose="020B0503020204020204" charset="-122"/>
                <a:ea typeface="微软雅黑" panose="020B0503020204020204" charset="-122"/>
              </a:rPr>
              <a:t>边界差异的度量</a:t>
            </a:r>
            <a:endParaRPr lang="zh-CN" sz="1575" b="1">
              <a:solidFill>
                <a:srgbClr val="FFFFFF"/>
              </a:solidFill>
              <a:latin typeface="微软雅黑" panose="020B0503020204020204" charset="-122"/>
              <a:ea typeface="微软雅黑" panose="020B0503020204020204" charset="-122"/>
            </a:endParaRPr>
          </a:p>
        </p:txBody>
      </p:sp>
      <p:sp>
        <p:nvSpPr>
          <p:cNvPr id="896" name="圆角矩形 895"/>
          <p:cNvSpPr/>
          <p:nvPr/>
        </p:nvSpPr>
        <p:spPr>
          <a:xfrm>
            <a:off x="8134350" y="4419600"/>
            <a:ext cx="3543300" cy="838200"/>
          </a:xfrm>
          <a:prstGeom prst="roundRect">
            <a:avLst>
              <a:gd name="adj" fmla="val 4545"/>
            </a:avLst>
          </a:prstGeom>
          <a:solidFill>
            <a:srgbClr val="12489A"/>
          </a:solidFill>
        </p:spPr>
        <p:txBody>
          <a:bodyPr/>
          <a:p/>
        </p:txBody>
      </p:sp>
      <p:sp>
        <p:nvSpPr>
          <p:cNvPr id="897" name="文本框 896" descr="{&quot;isTemplate&quot;:true,&quot;type&quot;:&quot;text&quot;}"/>
          <p:cNvSpPr txBox="1"/>
          <p:nvPr/>
        </p:nvSpPr>
        <p:spPr>
          <a:xfrm>
            <a:off x="8229600" y="4514850"/>
            <a:ext cx="3352800" cy="647700"/>
          </a:xfrm>
          <a:prstGeom prst="rect">
            <a:avLst/>
          </a:prstGeom>
        </p:spPr>
        <p:txBody>
          <a:bodyPr wrap="square" lIns="0" tIns="0" rIns="0" bIns="0">
            <a:normAutofit/>
          </a:bodyPr>
          <a:p>
            <a:pPr>
              <a:lnSpc>
                <a:spcPct val="140000"/>
              </a:lnSpc>
            </a:pPr>
            <a:r>
              <a:rPr lang="en-US" sz="1500" b="1">
                <a:solidFill>
                  <a:srgbClr val="FFFFFF"/>
                </a:solidFill>
                <a:latin typeface="微软雅黑" panose="020B0503020204020204" charset="-122"/>
                <a:ea typeface="微软雅黑" panose="020B0503020204020204" charset="-122"/>
              </a:rPr>
              <a:t>ΔCAWCC = CAWCC(</a:t>
            </a:r>
            <a:r>
              <a:rPr lang="zh-CN" sz="1500" b="1">
                <a:solidFill>
                  <a:srgbClr val="FFFFFF"/>
                </a:solidFill>
                <a:latin typeface="微软雅黑" panose="020B0503020204020204" charset="-122"/>
                <a:ea typeface="微软雅黑" panose="020B0503020204020204" charset="-122"/>
              </a:rPr>
              <a:t>年均</a:t>
            </a:r>
            <a:r>
              <a:rPr lang="en-US" sz="1500" b="1">
                <a:solidFill>
                  <a:srgbClr val="FFFFFF"/>
                </a:solidFill>
                <a:latin typeface="微软雅黑" panose="020B0503020204020204" charset="-122"/>
                <a:ea typeface="微软雅黑" panose="020B0503020204020204" charset="-122"/>
              </a:rPr>
              <a:t>) − CAWCC(</a:t>
            </a:r>
            <a:r>
              <a:rPr lang="zh-CN" sz="1500" b="1">
                <a:solidFill>
                  <a:srgbClr val="FFFFFF"/>
                </a:solidFill>
                <a:latin typeface="微软雅黑" panose="020B0503020204020204" charset="-122"/>
                <a:ea typeface="微软雅黑" panose="020B0503020204020204" charset="-122"/>
              </a:rPr>
              <a:t>峰值</a:t>
            </a:r>
            <a:r>
              <a:rPr lang="en-US" sz="1500" b="1">
                <a:solidFill>
                  <a:srgbClr val="FFFFFF"/>
                </a:solidFill>
                <a:latin typeface="微软雅黑" panose="020B0503020204020204" charset="-122"/>
                <a:ea typeface="微软雅黑" panose="020B0503020204020204" charset="-122"/>
              </a:rPr>
              <a:t>)</a:t>
            </a:r>
            <a:endParaRPr lang="en-US" sz="1500" b="1">
              <a:solidFill>
                <a:srgbClr val="FFFFFF"/>
              </a:solidFill>
              <a:latin typeface="微软雅黑" panose="020B0503020204020204" charset="-122"/>
              <a:ea typeface="微软雅黑" panose="020B0503020204020204" charset="-122"/>
            </a:endParaRPr>
          </a:p>
        </p:txBody>
      </p:sp>
      <p:sp>
        <p:nvSpPr>
          <p:cNvPr id="898" name="文本框 897" descr="{&quot;isTemplate&quot;:true,&quot;type&quot;:&quot;text&quot;}"/>
          <p:cNvSpPr txBox="1"/>
          <p:nvPr/>
        </p:nvSpPr>
        <p:spPr>
          <a:xfrm>
            <a:off x="8134350" y="5334000"/>
            <a:ext cx="3543300" cy="552450"/>
          </a:xfrm>
          <a:prstGeom prst="rect">
            <a:avLst/>
          </a:prstGeom>
        </p:spPr>
        <p:txBody>
          <a:bodyPr wrap="square" lIns="0" tIns="0" rIns="0" bIns="0">
            <a:normAutofit/>
          </a:bodyPr>
          <a:p>
            <a:pPr>
              <a:lnSpc>
                <a:spcPct val="150000"/>
              </a:lnSpc>
            </a:pPr>
            <a:r>
              <a:rPr lang="zh-CN" sz="1200">
                <a:solidFill>
                  <a:srgbClr val="E4EDF9"/>
                </a:solidFill>
                <a:latin typeface="微软雅黑" panose="020B0503020204020204" charset="-122"/>
                <a:ea typeface="微软雅黑" panose="020B0503020204020204" charset="-122"/>
              </a:rPr>
              <a:t>当差值为正时解释为年均口径高估；结合峰值重合指数、湿球温度与水源折减解释差异幅度。</a:t>
            </a:r>
            <a:endParaRPr lang="zh-CN" sz="1200">
              <a:solidFill>
                <a:srgbClr val="E4EDF9"/>
              </a:solidFill>
              <a:latin typeface="微软雅黑" panose="020B0503020204020204" charset="-122"/>
              <a:ea typeface="微软雅黑" panose="020B0503020204020204" charset="-122"/>
            </a:endParaRPr>
          </a:p>
        </p:txBody>
      </p:sp>
      <p:sp>
        <p:nvSpPr>
          <p:cNvPr id="899" name="矩形 898"/>
          <p:cNvSpPr/>
          <p:nvPr/>
        </p:nvSpPr>
        <p:spPr>
          <a:xfrm>
            <a:off x="428625" y="5791200"/>
            <a:ext cx="11430000" cy="390525"/>
          </a:xfrm>
          <a:prstGeom prst="rect">
            <a:avLst/>
          </a:prstGeom>
          <a:solidFill>
            <a:srgbClr val="E8EFF8"/>
          </a:solidFill>
        </p:spPr>
        <p:txBody>
          <a:bodyPr/>
          <a:p/>
        </p:txBody>
      </p:sp>
      <p:sp>
        <p:nvSpPr>
          <p:cNvPr id="900" name="任意多边形 899"/>
          <p:cNvSpPr/>
          <p:nvPr/>
        </p:nvSpPr>
        <p:spPr>
          <a:xfrm>
            <a:off x="381000" y="5791200"/>
            <a:ext cx="11477625" cy="390525"/>
          </a:xfrm>
          <a:custGeom>
            <a:avLst/>
            <a:gdLst/>
            <a:ahLst/>
            <a:cxnLst/>
            <a:pathLst>
              <a:path w="1205" h="41">
                <a:moveTo>
                  <a:pt x="0" y="0"/>
                </a:moveTo>
                <a:lnTo>
                  <a:pt x="5" y="0"/>
                </a:lnTo>
                <a:lnTo>
                  <a:pt x="5" y="41"/>
                </a:lnTo>
                <a:lnTo>
                  <a:pt x="0" y="41"/>
                </a:lnTo>
                <a:close/>
              </a:path>
            </a:pathLst>
          </a:custGeom>
          <a:solidFill>
            <a:srgbClr val="1E4FA8"/>
          </a:solidFill>
        </p:spPr>
        <p:txBody>
          <a:bodyPr/>
          <a:p/>
        </p:txBody>
      </p:sp>
      <p:sp>
        <p:nvSpPr>
          <p:cNvPr id="901" name="文本框 900" descr="{&quot;isTemplate&quot;:true,&quot;type&quot;:&quot;text&quot;}"/>
          <p:cNvSpPr txBox="1"/>
          <p:nvPr/>
        </p:nvSpPr>
        <p:spPr>
          <a:xfrm>
            <a:off x="600075" y="5876925"/>
            <a:ext cx="11210925" cy="219075"/>
          </a:xfrm>
          <a:prstGeom prst="rect">
            <a:avLst/>
          </a:prstGeom>
        </p:spPr>
        <p:txBody>
          <a:bodyPr wrap="none" lIns="0" tIns="0" rIns="0" bIns="0"/>
          <a:p>
            <a:pPr>
              <a:lnSpc>
                <a:spcPct val="100000"/>
              </a:lnSpc>
            </a:pPr>
            <a:r>
              <a:rPr lang="zh-CN" sz="1425">
                <a:solidFill>
                  <a:srgbClr val="1A2230"/>
                </a:solidFill>
                <a:latin typeface="微软雅黑" panose="020B0503020204020204" charset="-122"/>
                <a:ea typeface="微软雅黑" panose="020B0503020204020204" charset="-122"/>
              </a:rPr>
              <a:t>可靠性以基本服务满足时间比例表示，恢复性关注恢复速度，脆弱性以缺水量与持续时间刻画</a:t>
            </a:r>
            <a:endParaRPr lang="zh-CN" sz="1425">
              <a:solidFill>
                <a:srgbClr val="1A2230"/>
              </a:solidFill>
              <a:latin typeface="微软雅黑" panose="020B0503020204020204" charset="-122"/>
              <a:ea typeface="微软雅黑" panose="020B0503020204020204" charset="-122"/>
            </a:endParaRPr>
          </a:p>
        </p:txBody>
      </p:sp>
      <p:sp>
        <p:nvSpPr>
          <p:cNvPr id="902" name="任意多边形 901"/>
          <p:cNvSpPr/>
          <p:nvPr/>
        </p:nvSpPr>
        <p:spPr>
          <a:xfrm>
            <a:off x="0" y="625792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903" name="文本框 902" descr="{&quot;isTemplate&quot;:true,&quot;type&quot;:&quot;text&quot;}"/>
          <p:cNvSpPr txBox="1"/>
          <p:nvPr/>
        </p:nvSpPr>
        <p:spPr>
          <a:xfrm>
            <a:off x="381000" y="637222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904" name="文本框 903" descr="{&quot;isTemplate&quot;:true,&quot;type&quot;:&quot;text&quot;}"/>
          <p:cNvSpPr txBox="1"/>
          <p:nvPr/>
        </p:nvSpPr>
        <p:spPr>
          <a:xfrm>
            <a:off x="11353800" y="637222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25 / 36</a:t>
            </a:r>
            <a:endParaRPr lang="en-US" sz="1050">
              <a:solidFill>
                <a:srgbClr val="1E4FA8"/>
              </a:solidFill>
              <a:latin typeface="微软雅黑" panose="020B0503020204020204" charset="-122"/>
              <a:ea typeface="微软雅黑" panose="020B0503020204020204" charset="-122"/>
            </a:endParaRPr>
          </a:p>
        </p:txBody>
      </p:sp>
      <p:sp>
        <p:nvSpPr>
          <p:cNvPr id="905" name="矩形 904"/>
          <p:cNvSpPr/>
          <p:nvPr/>
        </p:nvSpPr>
        <p:spPr>
          <a:xfrm>
            <a:off x="0" y="685800"/>
            <a:ext cx="57150" cy="1162050"/>
          </a:xfrm>
          <a:prstGeom prst="rect">
            <a:avLst/>
          </a:prstGeom>
          <a:solidFill>
            <a:srgbClr val="C9D6E8"/>
          </a:solidFill>
        </p:spPr>
        <p:txBody>
          <a:bodyPr/>
          <a:p/>
        </p:txBody>
      </p:sp>
      <p:sp>
        <p:nvSpPr>
          <p:cNvPr id="906" name="矩形 905"/>
          <p:cNvSpPr/>
          <p:nvPr/>
        </p:nvSpPr>
        <p:spPr>
          <a:xfrm>
            <a:off x="0" y="1847850"/>
            <a:ext cx="57150" cy="1162050"/>
          </a:xfrm>
          <a:prstGeom prst="rect">
            <a:avLst/>
          </a:prstGeom>
          <a:solidFill>
            <a:srgbClr val="C9D6E8"/>
          </a:solidFill>
        </p:spPr>
        <p:txBody>
          <a:bodyPr/>
          <a:p/>
        </p:txBody>
      </p:sp>
      <p:sp>
        <p:nvSpPr>
          <p:cNvPr id="907" name="矩形 906"/>
          <p:cNvSpPr/>
          <p:nvPr/>
        </p:nvSpPr>
        <p:spPr>
          <a:xfrm>
            <a:off x="0" y="3009900"/>
            <a:ext cx="57150" cy="1162050"/>
          </a:xfrm>
          <a:prstGeom prst="rect">
            <a:avLst/>
          </a:prstGeom>
          <a:solidFill>
            <a:srgbClr val="C9D6E8"/>
          </a:solidFill>
        </p:spPr>
        <p:txBody>
          <a:bodyPr/>
          <a:p/>
        </p:txBody>
      </p:sp>
      <p:sp>
        <p:nvSpPr>
          <p:cNvPr id="908" name="矩形 907"/>
          <p:cNvSpPr/>
          <p:nvPr/>
        </p:nvSpPr>
        <p:spPr>
          <a:xfrm>
            <a:off x="0" y="4171950"/>
            <a:ext cx="57150" cy="1162050"/>
          </a:xfrm>
          <a:prstGeom prst="rect">
            <a:avLst/>
          </a:prstGeom>
          <a:solidFill>
            <a:srgbClr val="FFC107"/>
          </a:solidFill>
        </p:spPr>
        <p:txBody>
          <a:bodyPr/>
          <a:p/>
        </p:txBody>
      </p:sp>
      <p:sp>
        <p:nvSpPr>
          <p:cNvPr id="909" name="矩形 908"/>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910"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chart-bar' style={{ fill: '#FFC107', width: 22, height: 22 }} /&gt;&#13;&#10;        &lt;/Box&gt;&#13;&#10;            &lt;Text style={{ fontSize: 29, fontWeight: 'bold', color: '#FFFFFF' }}&gt;CAWCC 通过容量扫描与首次失效约束共同确定&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6&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每组条件下，模型从低容量逐步增加规模，每级检查全部核心约束&lt;/Text&gt;&#13;&#10;        &lt;/Box&gt;&#13;&#10;        &lt;Box style={{ flexDirection: 'row', gap: 14, height: 150 }}&gt;&#13;&#10;            &lt;Box style={{ width: 400, background: '#0E3F8C', borderRadius: 6, padding: 14, flexDirection: 'column', justifyContent: 'center' }}&gt;&#13;&#10;                &lt;Text style={{ fontSize: 52, fontWeight: 'bold', color: '#FFFFFF', lineHeight: 1.1 }}&gt;容量网格&lt;/Text&gt;&#13;&#10;                &lt;Text style={{ fontSize: 52, fontWeight: 'bold', color: '#FFC107', lineHeight: 1.1 }}&gt;扫描求解&lt;/Text&gt;&#13;&#10;            &lt;/Box&gt;&#13;&#10;            &lt;Box style={{ flex: 1, background: '#F7F9FC', border: '1px solid #D6DCE5', borderRadius: 6, padding: 14, flexDirection: 'column', justifyContent: 'center' }}&gt;&#13;&#10;                &lt;Box style={{ flexDirection: 'row', alignItems: 'center', height: 44, marginBottom: 8 }}&gt;&#13;&#10;                    &lt;Box style={{ width: 300, background: '#1E4FA8', borderRadius: 4, justifyContent: 'center', alignItems: 'center', height: 40 }}&gt;&#13;&#10;                        &lt;Text style={{ fontSize: 17, color: '#FFFFFF', fontWeight: 'bold' }}&gt;可行域&lt;/Text&gt;&#13;&#10;                    &lt;/Box&gt;&#13;&#10;                    &lt;Box style={{ width: 150, background: '#FFC107', borderRadius: 4, justifyContent: 'center', alignItems: 'center', height: 40 }}&gt;&#13;&#10;                        &lt;Text style={{ fontSize: 17, color: '#0B3A82', fontWeight: 'bold' }}&gt;边界细化区&lt;/Text&gt;&#13;&#10;                    &lt;/Box&gt;&#13;&#10;                    &lt;Box style={{ flex: 1, background: '#D9534F', borderRadius: 4, justifyContent: 'center', alignItems: 'center', height: 40 }}&gt;&#13;&#10;                        &lt;Text style={{ fontSize: 17, color: '#FFFFFF', fontWeight: 'bold' }}&gt;失效区&lt;/Text&gt;&#13;&#10;                    &lt;/Box&gt;&#13;&#10;                &lt;/Box&gt;&#13;&#10;                &lt;Box style={{ flexDirection: 'row', justifyContent: 'space-between' }}&gt;&#13;&#10;                    &lt;Text style={{ fontSize: 16, color: '#4A5568' }}&gt;低 AI 容量&lt;/Text&gt;&#13;&#10;                    &lt;Text style={{ fontSize: 16, color: '#0E3F8C', fontWeight: 'bold' }}&gt;首次失效容量&lt;/Text&gt;&#13;&#10;                    &lt;Text style={{ fontSize: 16, color: '#D9534F', fontWeight: 'bold' }}&gt;最终失效容量&lt;/Text&gt;&#13;&#10;                &lt;/Box&gt;&#13;&#10;                &lt;Text style={{ fontSize: 16.5, color: '#1A2230', lineHeight: 1.45, marginTop: 6 }}&gt;CAWCC 取&quot;满足全部约束的最大可行 C_AI&quot;（上确界）；首次失效容量单独报告，用于刻画连续扩张风险；可行域非单调时报告全部可行区间。&lt;/Text&gt;&#13;&#10;            &lt;/Box&gt;&#13;&#10;        &lt;/Box&gt;&#13;&#10;        &lt;Box style={{ flexDirection: 'row', gap: 12, height: 104 }}&gt;&#13;&#10;            &lt;Box style={{ flex: 1, background: '#F7F9FC', border: '1px solid #D6DCE5', borderRadius: 6, padding: 10, flexDirection: 'column' }}&gt;&#13;&#10;                &lt;Box style={{ flexDirection: 'row', alignItems: 'center', gap: 8 }}&gt;&#13;&#10;                &lt;FAIcon name='water' style={{ fill: '#1E4FA8', width: 17, height: 17 }} /&gt;&#13;&#10;                &lt;Text style={{ fontSize: 16.5, fontWeight: 'bold', color: '#0E3F8C' }}&gt;资源｜① 外部水源与许可&lt;/Text&gt;&#13;&#10;            &lt;/Box&gt;&#13;&#10;                &lt;Text style={{ fontSize: 15, color: '#4A5568', lineHeight: 1.4 }}&gt;可供量与取水许可上限，干旱情景下按折减系数下调&lt;/Text&gt;&#13;&#10;            &lt;/Box&gt;&#13;&#10;            &lt;Box style={{ flex: 1, background: '#F7F9FC', border: '1px solid #D6DCE5', borderRadius: 6, padding: 10, flexDirection: 'column' }}&gt;&#13;&#10;                &lt;Box style={{ flexDirection: 'row', alignItems: 'center', gap: 8 }}&gt;&#13;&#10;                &lt;FAIcon name='filter' style={{ fill: '#1E4FA8', width: 17, height: 17 }} /&gt;&#13;&#10;                &lt;Text style={{ fontSize: 16.5, fontWeight: 'bold', color: '#0E3F8C' }}&gt;设施｜② 给水处理与接入&lt;/Text&gt;&#13;&#10;            &lt;/Box&gt;&#13;&#10;                &lt;Text style={{ fontSize: 15, color: '#4A5568', lineHeight: 1.4 }}&gt;处理能力与接入管径，决定峰值时段能否送达&lt;/Text&gt;&#13;&#10;            &lt;/Box&gt;&#13;&#10;            &lt;Box style={{ flex: 1, background: '#F7F9FC', border: '1px solid #D6DCE5', borderRadius: 6, padding: 10, flexDirection: 'column' }}&gt;&#13;&#10;                &lt;Box style={{ flexDirection: 'row', alignItems: 'center', gap: 8 }}&gt;&#13;&#10;                &lt;FAIcon name='recycle' style={{ fill: '#1E4FA8', width: 17, height: 17 }} /&gt;&#13;&#10;                &lt;Text style={{ fontSize: 16.5, fontWeight: 'bold', color: '#0E3F8C' }}&gt;设施｜③ 污水处理与溢流&lt;/Text&gt;&#13;&#10;            &lt;/Box&gt;&#13;&#10;                &lt;Text style={{ fontSize: 15, color: '#4A5568', lineHeight: 1.4 }}&gt;回流增加后是否超出收集与处理能力&lt;/Text&gt;&#13;&#10;            &lt;/Box&gt;&#13;&#10;            &lt;Box style={{ flex: 1, background: '#F7F9FC', border: '1px solid #D6DCE5', borderRadius: 6, padding: 10, flexDirection: 'column' }}&gt;&#13;&#10;                &lt;Box style={{ flexDirection: 'row', alignItems: 'center', gap: 8 }}&gt;&#13;&#10;                &lt;FAIcon name='faucet-drip' style={{ fill: '#1E4FA8', width: 17, height: 17 }} /&gt;&#13;&#10;                &lt;Text style={{ fontSize: 16.5, fontWeight: 'bold', color: '#0E3F8C' }}&gt;设施｜④ 再生水服务&lt;/Text&gt;&#13;&#10;            &lt;/Box&gt;&#13;&#10;                &lt;Text style={{ fontSize: 15, color: '#4A5568', lineHeight: 1.4 }}&gt;源量、深度处理、储存与输配能力的共同上限&lt;/Text&gt;&#13;&#10;            &lt;/Box&gt;&#13;&#10;        &lt;/Box&gt;&#13;&#10;        &lt;Box style={{ flexDirection: 'row', gap: 12, height: 104 }}&gt;&#13;&#10;            &lt;Box style={{ flex: 1, background: '#F7F9FC', border: '1px solid #D6DCE5', borderRadius: 6, padding: 10, flexDirection: 'column' }}&gt;&#13;&#10;                &lt;Box style={{ flexDirection: 'row', alignItems: 'center', gap: 8 }}&gt;&#13;&#10;                &lt;FAIcon name='flask' style={{ fill: '#1E4FA8', width: 17, height: 17 }} /&gt;&#13;&#10;                &lt;Text style={{ fontSize: 16.5, fontWeight: 'bold', color: '#0E3F8C' }}&gt;服务｜⑤ 水质可接纳能力&lt;/Text&gt;&#13;&#10;            &lt;/Box&gt;&#13;&#10;                &lt;Text style={{ fontSize: 15, color: '#4A5568', lineHeight: 1.4 }}&gt;TDS、温度与药剂负荷超标时触发独立约束&lt;/Text&gt;&#13;&#10;            &lt;/Box&gt;&#13;&#10;            &lt;Box style={{ flex: 1, background: '#F7F9FC', border: '1px solid #D6DCE5', borderRadius: 6, padding: 10, flexDirection: 'column' }}&gt;&#13;&#10;                &lt;Box style={{ flexDirection: 'row', alignItems: 'center', gap: 8 }}&gt;&#13;&#10;                &lt;FAIcon name='gauge-high' style={{ fill: '#1E4FA8', width: 17, height: 17 }} /&gt;&#13;&#10;                &lt;Text style={{ fontSize: 16.5, fontWeight: 'bold', color: '#0E3F8C' }}&gt;服务｜⑥ 峰值服务能力&lt;/Text&gt;&#13;&#10;            &lt;/Box&gt;&#13;&#10;                &lt;Text style={{ fontSize: 15, color: '#4A5568', lineHeight: 1.4 }}&gt;极端时段能否同时满足全部在网用户需求&lt;/Text&gt;&#13;&#10;            &lt;/Box&gt;&#13;&#10;            &lt;Box style={{ flex: 1, background: '#F7F9FC', border: '1px solid #D6DCE5', borderRadius: 6, padding: 10, flexDirection: 'column' }}&gt;&#13;&#10;                &lt;Box style={{ flexDirection: 'row', alignItems: 'center', gap: 8 }}&gt;&#13;&#10;                &lt;FAIcon name='users' style={{ fill: '#1E4FA8', width: 17, height: 17 }} /&gt;&#13;&#10;                &lt;Text style={{ fontSize: 16.5, fontWeight: 'bold', color: '#0E3F8C' }}&gt;服务｜⑦ 居民基本服务&lt;/Text&gt;&#13;&#10;            &lt;/Box&gt;&#13;&#10;                &lt;Text style={{ fontSize: 15, color: '#4A5568', lineHeight: 1.4 }}&gt;基本用水与关键公共服务不得被 AI 负荷挤占&lt;/Text&gt;&#13;&#10;            &lt;/Box&gt;&#13;&#10;            &lt;Box style={{ flex: 1, background: '#F0F5FC', border: '1px solid #D6DCE5', borderRadius: 6, padding: 10, flexDirection: 'column' }}&gt;&#13;&#10;                &lt;Text style={{ fontSize: 16.5, fontWeight: 'bold', color: '#D9534F' }}&gt;风险｜⑧ 风险容忍水平&lt;/Text&gt;&#13;&#10;                &lt;Text style={{ fontSize: 15, color: '#4A5568', lineHeight: 1.4 }}&gt;可接受的失效频率、持续时长与恢复时间阈值&lt;/Text&gt;&#13;&#10;            &lt;/Box&gt;&#13;&#10;        &lt;/Box&gt;&#13;&#10;        &lt;Box style={{ background: '#E8EFF8', borderLeft: '5px solid #FFC107', paddingLeft: 18, paddingTop: 9, paddingBottom: 9 }}&gt;&#13;&#10;            &lt;Text style={{ fontSize: 19, color: '#1A2230' }}&gt;求解同步输出两个答案：容量多大、边界由谁决定&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6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911" name="矩形 910"/>
          <p:cNvSpPr/>
          <p:nvPr/>
        </p:nvSpPr>
        <p:spPr>
          <a:xfrm>
            <a:off x="0" y="0"/>
            <a:ext cx="12192000" cy="6858000"/>
          </a:xfrm>
          <a:prstGeom prst="rect">
            <a:avLst/>
          </a:prstGeom>
          <a:solidFill>
            <a:srgbClr val="FFFFFF"/>
          </a:solidFill>
        </p:spPr>
        <p:txBody>
          <a:bodyPr/>
          <a:p/>
        </p:txBody>
      </p:sp>
      <p:sp>
        <p:nvSpPr>
          <p:cNvPr id="912" name="矩形 911"/>
          <p:cNvSpPr/>
          <p:nvPr/>
        </p:nvSpPr>
        <p:spPr>
          <a:xfrm>
            <a:off x="0" y="0"/>
            <a:ext cx="12192000" cy="685800"/>
          </a:xfrm>
          <a:prstGeom prst="rect">
            <a:avLst/>
          </a:prstGeom>
          <a:solidFill>
            <a:srgbClr val="0E3F8C"/>
          </a:solidFill>
        </p:spPr>
        <p:txBody>
          <a:bodyPr/>
          <a:p/>
        </p:txBody>
      </p:sp>
      <p:sp>
        <p:nvSpPr>
          <p:cNvPr id="913" name="圆角矩形 912"/>
          <p:cNvSpPr/>
          <p:nvPr/>
        </p:nvSpPr>
        <p:spPr>
          <a:xfrm>
            <a:off x="381000" y="152400"/>
            <a:ext cx="381000" cy="381000"/>
          </a:xfrm>
          <a:prstGeom prst="roundRect">
            <a:avLst>
              <a:gd name="adj" fmla="val 25000"/>
            </a:avLst>
          </a:prstGeom>
          <a:solidFill>
            <a:srgbClr val="12489A"/>
          </a:solidFill>
        </p:spPr>
        <p:txBody>
          <a:bodyPr/>
          <a:p/>
        </p:txBody>
      </p:sp>
      <p:pic>
        <p:nvPicPr>
          <p:cNvPr id="914" name="图片 913"/>
          <p:cNvPicPr>
            <a:picLocks noChangeAspect="1"/>
          </p:cNvPicPr>
          <p:nvPr/>
        </p:nvPicPr>
        <p:blipFill>
          <a:blip/>
          <a:stretch>
            <a:fillRect/>
          </a:stretch>
        </p:blipFill>
        <p:spPr>
          <a:xfrm>
            <a:off x="466725" y="238125"/>
            <a:ext cx="209550" cy="209550"/>
          </a:xfrm>
          <a:prstGeom prst="rect">
            <a:avLst/>
          </a:prstGeom>
        </p:spPr>
      </p:pic>
      <p:sp>
        <p:nvSpPr>
          <p:cNvPr id="915" name="文本框 914" descr="{&quot;isTemplate&quot;:true,&quot;type&quot;:&quot;text&quot;}"/>
          <p:cNvSpPr txBox="1"/>
          <p:nvPr/>
        </p:nvSpPr>
        <p:spPr>
          <a:xfrm>
            <a:off x="895350" y="180975"/>
            <a:ext cx="5829300" cy="333375"/>
          </a:xfrm>
          <a:prstGeom prst="rect">
            <a:avLst/>
          </a:prstGeom>
        </p:spPr>
        <p:txBody>
          <a:bodyPr wrap="none" lIns="0" tIns="0" rIns="0" bIns="0"/>
          <a:p>
            <a:pPr>
              <a:lnSpc>
                <a:spcPct val="100000"/>
              </a:lnSpc>
            </a:pPr>
            <a:r>
              <a:rPr lang="en-US" sz="2175" b="1">
                <a:solidFill>
                  <a:srgbClr val="FFFFFF"/>
                </a:solidFill>
                <a:latin typeface="微软雅黑" panose="020B0503020204020204" charset="-122"/>
                <a:ea typeface="微软雅黑" panose="020B0503020204020204" charset="-122"/>
              </a:rPr>
              <a:t>CAWCC </a:t>
            </a:r>
            <a:r>
              <a:rPr lang="zh-CN" sz="2175" b="1">
                <a:solidFill>
                  <a:srgbClr val="FFFFFF"/>
                </a:solidFill>
                <a:latin typeface="微软雅黑" panose="020B0503020204020204" charset="-122"/>
                <a:ea typeface="微软雅黑" panose="020B0503020204020204" charset="-122"/>
              </a:rPr>
              <a:t>通过容量扫描与首次失效约束共同确定</a:t>
            </a:r>
            <a:endParaRPr lang="zh-CN" sz="2175" b="1">
              <a:solidFill>
                <a:srgbClr val="FFFFFF"/>
              </a:solidFill>
              <a:latin typeface="微软雅黑" panose="020B0503020204020204" charset="-122"/>
              <a:ea typeface="微软雅黑" panose="020B0503020204020204" charset="-122"/>
            </a:endParaRPr>
          </a:p>
        </p:txBody>
      </p:sp>
      <p:sp>
        <p:nvSpPr>
          <p:cNvPr id="916" name="文本框 915"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917" name="圆角矩形 916"/>
          <p:cNvSpPr/>
          <p:nvPr/>
        </p:nvSpPr>
        <p:spPr>
          <a:xfrm>
            <a:off x="11468100" y="238125"/>
            <a:ext cx="342900" cy="219075"/>
          </a:xfrm>
          <a:prstGeom prst="roundRect">
            <a:avLst>
              <a:gd name="adj" fmla="val 13043"/>
            </a:avLst>
          </a:prstGeom>
          <a:solidFill>
            <a:srgbClr val="FFC107"/>
          </a:solidFill>
        </p:spPr>
        <p:txBody>
          <a:bodyPr/>
          <a:p/>
        </p:txBody>
      </p:sp>
      <p:sp>
        <p:nvSpPr>
          <p:cNvPr id="918" name="文本框 917"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26</a:t>
            </a:r>
            <a:endParaRPr lang="en-US" sz="1050" b="1">
              <a:solidFill>
                <a:srgbClr val="0B3A82"/>
              </a:solidFill>
              <a:latin typeface="微软雅黑" panose="020B0503020204020204" charset="-122"/>
              <a:ea typeface="微软雅黑" panose="020B0503020204020204" charset="-122"/>
            </a:endParaRPr>
          </a:p>
        </p:txBody>
      </p:sp>
      <p:sp>
        <p:nvSpPr>
          <p:cNvPr id="919" name="圆角矩形 918"/>
          <p:cNvSpPr/>
          <p:nvPr/>
        </p:nvSpPr>
        <p:spPr>
          <a:xfrm>
            <a:off x="381000" y="800100"/>
            <a:ext cx="11430000" cy="438150"/>
          </a:xfrm>
          <a:prstGeom prst="roundRect">
            <a:avLst>
              <a:gd name="adj" fmla="val 8696"/>
            </a:avLst>
          </a:prstGeom>
          <a:solidFill>
            <a:srgbClr val="0B3A82"/>
          </a:solidFill>
        </p:spPr>
        <p:txBody>
          <a:bodyPr/>
          <a:p/>
        </p:txBody>
      </p:sp>
      <p:sp>
        <p:nvSpPr>
          <p:cNvPr id="920" name="文本框 919"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每组条件下，模型从低容量逐步增加规模，每级检查全部核心约束</a:t>
            </a:r>
            <a:endParaRPr lang="zh-CN" sz="1575">
              <a:solidFill>
                <a:srgbClr val="FFFFFF"/>
              </a:solidFill>
              <a:latin typeface="微软雅黑" panose="020B0503020204020204" charset="-122"/>
              <a:ea typeface="微软雅黑" panose="020B0503020204020204" charset="-122"/>
            </a:endParaRPr>
          </a:p>
        </p:txBody>
      </p:sp>
      <p:sp>
        <p:nvSpPr>
          <p:cNvPr id="921" name="圆角矩形 920"/>
          <p:cNvSpPr/>
          <p:nvPr/>
        </p:nvSpPr>
        <p:spPr>
          <a:xfrm>
            <a:off x="381000" y="1352550"/>
            <a:ext cx="3810000" cy="1581150"/>
          </a:xfrm>
          <a:prstGeom prst="roundRect">
            <a:avLst>
              <a:gd name="adj" fmla="val 3614"/>
            </a:avLst>
          </a:prstGeom>
          <a:solidFill>
            <a:srgbClr val="0E3F8C"/>
          </a:solidFill>
        </p:spPr>
        <p:txBody>
          <a:bodyPr/>
          <a:p/>
        </p:txBody>
      </p:sp>
      <p:sp>
        <p:nvSpPr>
          <p:cNvPr id="922" name="文本框 921" descr="{&quot;isTemplate&quot;:true,&quot;type&quot;:&quot;text&quot;}"/>
          <p:cNvSpPr txBox="1"/>
          <p:nvPr/>
        </p:nvSpPr>
        <p:spPr>
          <a:xfrm>
            <a:off x="514350" y="1485900"/>
            <a:ext cx="3543300" cy="657225"/>
          </a:xfrm>
          <a:prstGeom prst="rect">
            <a:avLst/>
          </a:prstGeom>
        </p:spPr>
        <p:txBody>
          <a:bodyPr wrap="none" lIns="0" tIns="0" rIns="0" bIns="0"/>
          <a:p>
            <a:pPr>
              <a:lnSpc>
                <a:spcPct val="110000"/>
              </a:lnSpc>
            </a:pPr>
            <a:r>
              <a:rPr lang="zh-CN" sz="3900" b="1">
                <a:solidFill>
                  <a:srgbClr val="FFFFFF"/>
                </a:solidFill>
                <a:latin typeface="微软雅黑" panose="020B0503020204020204" charset="-122"/>
                <a:ea typeface="微软雅黑" panose="020B0503020204020204" charset="-122"/>
              </a:rPr>
              <a:t>容量网格</a:t>
            </a:r>
            <a:endParaRPr lang="zh-CN" sz="3900" b="1">
              <a:solidFill>
                <a:srgbClr val="FFFFFF"/>
              </a:solidFill>
              <a:latin typeface="微软雅黑" panose="020B0503020204020204" charset="-122"/>
              <a:ea typeface="微软雅黑" panose="020B0503020204020204" charset="-122"/>
            </a:endParaRPr>
          </a:p>
        </p:txBody>
      </p:sp>
      <p:sp>
        <p:nvSpPr>
          <p:cNvPr id="923" name="文本框 922" descr="{&quot;isTemplate&quot;:true,&quot;type&quot;:&quot;text&quot;}"/>
          <p:cNvSpPr txBox="1"/>
          <p:nvPr/>
        </p:nvSpPr>
        <p:spPr>
          <a:xfrm>
            <a:off x="514350" y="2143125"/>
            <a:ext cx="3543300" cy="657225"/>
          </a:xfrm>
          <a:prstGeom prst="rect">
            <a:avLst/>
          </a:prstGeom>
        </p:spPr>
        <p:txBody>
          <a:bodyPr wrap="none" lIns="0" tIns="0" rIns="0" bIns="0"/>
          <a:p>
            <a:pPr>
              <a:lnSpc>
                <a:spcPct val="110000"/>
              </a:lnSpc>
            </a:pPr>
            <a:r>
              <a:rPr lang="zh-CN" sz="3900" b="1">
                <a:solidFill>
                  <a:srgbClr val="FFC107"/>
                </a:solidFill>
                <a:latin typeface="微软雅黑" panose="020B0503020204020204" charset="-122"/>
                <a:ea typeface="微软雅黑" panose="020B0503020204020204" charset="-122"/>
              </a:rPr>
              <a:t>扫描求解</a:t>
            </a:r>
            <a:endParaRPr lang="zh-CN" sz="3900" b="1">
              <a:solidFill>
                <a:srgbClr val="FFC107"/>
              </a:solidFill>
              <a:latin typeface="微软雅黑" panose="020B0503020204020204" charset="-122"/>
              <a:ea typeface="微软雅黑" panose="020B0503020204020204" charset="-122"/>
            </a:endParaRPr>
          </a:p>
        </p:txBody>
      </p:sp>
      <p:sp>
        <p:nvSpPr>
          <p:cNvPr id="924" name="圆角矩形 923"/>
          <p:cNvSpPr/>
          <p:nvPr/>
        </p:nvSpPr>
        <p:spPr>
          <a:xfrm>
            <a:off x="4324350" y="1352550"/>
            <a:ext cx="7486650" cy="1562100"/>
          </a:xfrm>
          <a:prstGeom prst="roundRect">
            <a:avLst>
              <a:gd name="adj" fmla="val 3659"/>
            </a:avLst>
          </a:prstGeom>
          <a:solidFill>
            <a:srgbClr val="F7F9FC"/>
          </a:solidFill>
          <a:ln w="12700">
            <a:solidFill>
              <a:srgbClr val="D6DCE5"/>
            </a:solidFill>
            <a:prstDash val="solid"/>
          </a:ln>
        </p:spPr>
        <p:txBody>
          <a:bodyPr/>
          <a:p/>
        </p:txBody>
      </p:sp>
      <p:sp>
        <p:nvSpPr>
          <p:cNvPr id="925" name="圆角矩形 924"/>
          <p:cNvSpPr/>
          <p:nvPr/>
        </p:nvSpPr>
        <p:spPr>
          <a:xfrm>
            <a:off x="4457700" y="1504950"/>
            <a:ext cx="2857500" cy="381000"/>
          </a:xfrm>
          <a:prstGeom prst="roundRect">
            <a:avLst>
              <a:gd name="adj" fmla="val 10000"/>
            </a:avLst>
          </a:prstGeom>
          <a:solidFill>
            <a:srgbClr val="1E4FA8"/>
          </a:solidFill>
        </p:spPr>
        <p:txBody>
          <a:bodyPr/>
          <a:p/>
        </p:txBody>
      </p:sp>
      <p:sp>
        <p:nvSpPr>
          <p:cNvPr id="926" name="文本框 925" descr="{&quot;isTemplate&quot;:true,&quot;type&quot;:&quot;text&quot;}"/>
          <p:cNvSpPr txBox="1"/>
          <p:nvPr/>
        </p:nvSpPr>
        <p:spPr>
          <a:xfrm>
            <a:off x="5648325" y="1600200"/>
            <a:ext cx="485775" cy="200025"/>
          </a:xfrm>
          <a:prstGeom prst="rect">
            <a:avLst/>
          </a:prstGeom>
        </p:spPr>
        <p:txBody>
          <a:bodyPr wrap="none" lIns="0" tIns="0" rIns="0" bIns="0"/>
          <a:p>
            <a:pPr>
              <a:lnSpc>
                <a:spcPct val="100000"/>
              </a:lnSpc>
            </a:pPr>
            <a:r>
              <a:rPr lang="zh-CN" sz="1275" b="1">
                <a:solidFill>
                  <a:srgbClr val="FFFFFF"/>
                </a:solidFill>
                <a:latin typeface="微软雅黑" panose="020B0503020204020204" charset="-122"/>
                <a:ea typeface="微软雅黑" panose="020B0503020204020204" charset="-122"/>
              </a:rPr>
              <a:t>可行域</a:t>
            </a:r>
            <a:endParaRPr lang="zh-CN" sz="1275" b="1">
              <a:solidFill>
                <a:srgbClr val="FFFFFF"/>
              </a:solidFill>
              <a:latin typeface="微软雅黑" panose="020B0503020204020204" charset="-122"/>
              <a:ea typeface="微软雅黑" panose="020B0503020204020204" charset="-122"/>
            </a:endParaRPr>
          </a:p>
        </p:txBody>
      </p:sp>
      <p:sp>
        <p:nvSpPr>
          <p:cNvPr id="927" name="圆角矩形 926"/>
          <p:cNvSpPr/>
          <p:nvPr/>
        </p:nvSpPr>
        <p:spPr>
          <a:xfrm>
            <a:off x="7315200" y="1504950"/>
            <a:ext cx="1428750" cy="381000"/>
          </a:xfrm>
          <a:prstGeom prst="roundRect">
            <a:avLst>
              <a:gd name="adj" fmla="val 10000"/>
            </a:avLst>
          </a:prstGeom>
          <a:solidFill>
            <a:srgbClr val="FFC107"/>
          </a:solidFill>
        </p:spPr>
        <p:txBody>
          <a:bodyPr/>
          <a:p/>
        </p:txBody>
      </p:sp>
      <p:sp>
        <p:nvSpPr>
          <p:cNvPr id="928" name="文本框 927" descr="{&quot;isTemplate&quot;:true,&quot;type&quot;:&quot;text&quot;}"/>
          <p:cNvSpPr txBox="1"/>
          <p:nvPr/>
        </p:nvSpPr>
        <p:spPr>
          <a:xfrm>
            <a:off x="7629525" y="1600200"/>
            <a:ext cx="809625" cy="200025"/>
          </a:xfrm>
          <a:prstGeom prst="rect">
            <a:avLst/>
          </a:prstGeom>
        </p:spPr>
        <p:txBody>
          <a:bodyPr wrap="none" lIns="0" tIns="0" rIns="0" bIns="0"/>
          <a:p>
            <a:pPr>
              <a:lnSpc>
                <a:spcPct val="100000"/>
              </a:lnSpc>
            </a:pPr>
            <a:r>
              <a:rPr lang="zh-CN" sz="1275" b="1">
                <a:solidFill>
                  <a:srgbClr val="0B3A82"/>
                </a:solidFill>
                <a:latin typeface="微软雅黑" panose="020B0503020204020204" charset="-122"/>
                <a:ea typeface="微软雅黑" panose="020B0503020204020204" charset="-122"/>
              </a:rPr>
              <a:t>边界细化区</a:t>
            </a:r>
            <a:endParaRPr lang="zh-CN" sz="1275" b="1">
              <a:solidFill>
                <a:srgbClr val="0B3A82"/>
              </a:solidFill>
              <a:latin typeface="微软雅黑" panose="020B0503020204020204" charset="-122"/>
              <a:ea typeface="微软雅黑" panose="020B0503020204020204" charset="-122"/>
            </a:endParaRPr>
          </a:p>
        </p:txBody>
      </p:sp>
      <p:sp>
        <p:nvSpPr>
          <p:cNvPr id="929" name="圆角矩形 928"/>
          <p:cNvSpPr/>
          <p:nvPr/>
        </p:nvSpPr>
        <p:spPr>
          <a:xfrm>
            <a:off x="8743950" y="1504950"/>
            <a:ext cx="2933700" cy="381000"/>
          </a:xfrm>
          <a:prstGeom prst="roundRect">
            <a:avLst>
              <a:gd name="adj" fmla="val 10000"/>
            </a:avLst>
          </a:prstGeom>
          <a:solidFill>
            <a:srgbClr val="D9534F"/>
          </a:solidFill>
        </p:spPr>
        <p:txBody>
          <a:bodyPr/>
          <a:p/>
        </p:txBody>
      </p:sp>
      <p:sp>
        <p:nvSpPr>
          <p:cNvPr id="930" name="文本框 929" descr="{&quot;isTemplate&quot;:true,&quot;type&quot;:&quot;text&quot;}"/>
          <p:cNvSpPr txBox="1"/>
          <p:nvPr/>
        </p:nvSpPr>
        <p:spPr>
          <a:xfrm>
            <a:off x="9972675" y="1600200"/>
            <a:ext cx="485775" cy="200025"/>
          </a:xfrm>
          <a:prstGeom prst="rect">
            <a:avLst/>
          </a:prstGeom>
        </p:spPr>
        <p:txBody>
          <a:bodyPr wrap="none" lIns="0" tIns="0" rIns="0" bIns="0"/>
          <a:p>
            <a:pPr>
              <a:lnSpc>
                <a:spcPct val="100000"/>
              </a:lnSpc>
            </a:pPr>
            <a:r>
              <a:rPr lang="zh-CN" sz="1275" b="1">
                <a:solidFill>
                  <a:srgbClr val="FFFFFF"/>
                </a:solidFill>
                <a:latin typeface="微软雅黑" panose="020B0503020204020204" charset="-122"/>
                <a:ea typeface="微软雅黑" panose="020B0503020204020204" charset="-122"/>
              </a:rPr>
              <a:t>失效区</a:t>
            </a:r>
            <a:endParaRPr lang="zh-CN" sz="1275" b="1">
              <a:solidFill>
                <a:srgbClr val="FFFFFF"/>
              </a:solidFill>
              <a:latin typeface="微软雅黑" panose="020B0503020204020204" charset="-122"/>
              <a:ea typeface="微软雅黑" panose="020B0503020204020204" charset="-122"/>
            </a:endParaRPr>
          </a:p>
        </p:txBody>
      </p:sp>
      <p:sp>
        <p:nvSpPr>
          <p:cNvPr id="931" name="文本框 930" descr="{&quot;isTemplate&quot;:true,&quot;type&quot;:&quot;text&quot;}"/>
          <p:cNvSpPr txBox="1"/>
          <p:nvPr/>
        </p:nvSpPr>
        <p:spPr>
          <a:xfrm>
            <a:off x="4457700" y="1981200"/>
            <a:ext cx="704850" cy="190500"/>
          </a:xfrm>
          <a:prstGeom prst="rect">
            <a:avLst/>
          </a:prstGeom>
        </p:spPr>
        <p:txBody>
          <a:bodyPr wrap="none" lIns="0" tIns="0" rIns="0" bIns="0"/>
          <a:p>
            <a:pPr>
              <a:lnSpc>
                <a:spcPct val="100000"/>
              </a:lnSpc>
            </a:pPr>
            <a:r>
              <a:rPr lang="zh-CN" sz="1200">
                <a:solidFill>
                  <a:srgbClr val="4A5568"/>
                </a:solidFill>
                <a:latin typeface="微软雅黑" panose="020B0503020204020204" charset="-122"/>
                <a:ea typeface="微软雅黑" panose="020B0503020204020204" charset="-122"/>
              </a:rPr>
              <a:t>低</a:t>
            </a:r>
            <a:r>
              <a:rPr lang="en-US" sz="1200">
                <a:solidFill>
                  <a:srgbClr val="4A5568"/>
                </a:solidFill>
                <a:latin typeface="微软雅黑" panose="020B0503020204020204" charset="-122"/>
                <a:ea typeface="微软雅黑" panose="020B0503020204020204" charset="-122"/>
              </a:rPr>
              <a:t> AI </a:t>
            </a:r>
            <a:r>
              <a:rPr lang="zh-CN" sz="1200">
                <a:solidFill>
                  <a:srgbClr val="4A5568"/>
                </a:solidFill>
                <a:latin typeface="微软雅黑" panose="020B0503020204020204" charset="-122"/>
                <a:ea typeface="微软雅黑" panose="020B0503020204020204" charset="-122"/>
              </a:rPr>
              <a:t>容量</a:t>
            </a:r>
            <a:endParaRPr lang="zh-CN" sz="1200">
              <a:solidFill>
                <a:srgbClr val="4A5568"/>
              </a:solidFill>
              <a:latin typeface="微软雅黑" panose="020B0503020204020204" charset="-122"/>
              <a:ea typeface="微软雅黑" panose="020B0503020204020204" charset="-122"/>
            </a:endParaRPr>
          </a:p>
        </p:txBody>
      </p:sp>
      <p:sp>
        <p:nvSpPr>
          <p:cNvPr id="932" name="文本框 931" descr="{&quot;isTemplate&quot;:true,&quot;type&quot;:&quot;text&quot;}"/>
          <p:cNvSpPr txBox="1"/>
          <p:nvPr/>
        </p:nvSpPr>
        <p:spPr>
          <a:xfrm>
            <a:off x="7505700" y="1981200"/>
            <a:ext cx="914400" cy="190500"/>
          </a:xfrm>
          <a:prstGeom prst="rect">
            <a:avLst/>
          </a:prstGeom>
        </p:spPr>
        <p:txBody>
          <a:bodyPr wrap="none" lIns="0" tIns="0" rIns="0" bIns="0"/>
          <a:p>
            <a:pPr>
              <a:lnSpc>
                <a:spcPct val="100000"/>
              </a:lnSpc>
            </a:pPr>
            <a:r>
              <a:rPr lang="zh-CN" sz="1200" b="1">
                <a:solidFill>
                  <a:srgbClr val="0E3F8C"/>
                </a:solidFill>
                <a:latin typeface="微软雅黑" panose="020B0503020204020204" charset="-122"/>
                <a:ea typeface="微软雅黑" panose="020B0503020204020204" charset="-122"/>
              </a:rPr>
              <a:t>首次失效容量</a:t>
            </a:r>
            <a:endParaRPr lang="zh-CN" sz="1200" b="1">
              <a:solidFill>
                <a:srgbClr val="0E3F8C"/>
              </a:solidFill>
              <a:latin typeface="微软雅黑" panose="020B0503020204020204" charset="-122"/>
              <a:ea typeface="微软雅黑" panose="020B0503020204020204" charset="-122"/>
            </a:endParaRPr>
          </a:p>
        </p:txBody>
      </p:sp>
      <p:sp>
        <p:nvSpPr>
          <p:cNvPr id="933" name="文本框 932" descr="{&quot;isTemplate&quot;:true,&quot;type&quot;:&quot;text&quot;}"/>
          <p:cNvSpPr txBox="1"/>
          <p:nvPr/>
        </p:nvSpPr>
        <p:spPr>
          <a:xfrm>
            <a:off x="10763250" y="1981200"/>
            <a:ext cx="914400" cy="190500"/>
          </a:xfrm>
          <a:prstGeom prst="rect">
            <a:avLst/>
          </a:prstGeom>
        </p:spPr>
        <p:txBody>
          <a:bodyPr wrap="none" lIns="0" tIns="0" rIns="0" bIns="0"/>
          <a:p>
            <a:pPr>
              <a:lnSpc>
                <a:spcPct val="100000"/>
              </a:lnSpc>
            </a:pPr>
            <a:r>
              <a:rPr lang="zh-CN" sz="1200" b="1">
                <a:solidFill>
                  <a:srgbClr val="D9534F"/>
                </a:solidFill>
                <a:latin typeface="微软雅黑" panose="020B0503020204020204" charset="-122"/>
                <a:ea typeface="微软雅黑" panose="020B0503020204020204" charset="-122"/>
              </a:rPr>
              <a:t>最终失效容量</a:t>
            </a:r>
            <a:endParaRPr lang="zh-CN" sz="1200" b="1">
              <a:solidFill>
                <a:srgbClr val="D9534F"/>
              </a:solidFill>
              <a:latin typeface="微软雅黑" panose="020B0503020204020204" charset="-122"/>
              <a:ea typeface="微软雅黑" panose="020B0503020204020204" charset="-122"/>
            </a:endParaRPr>
          </a:p>
        </p:txBody>
      </p:sp>
      <p:sp>
        <p:nvSpPr>
          <p:cNvPr id="934" name="文本框 933" descr="{&quot;isTemplate&quot;:true,&quot;type&quot;:&quot;text&quot;}"/>
          <p:cNvSpPr txBox="1"/>
          <p:nvPr/>
        </p:nvSpPr>
        <p:spPr>
          <a:xfrm>
            <a:off x="4457700" y="2228850"/>
            <a:ext cx="7219950" cy="552450"/>
          </a:xfrm>
          <a:prstGeom prst="rect">
            <a:avLst/>
          </a:prstGeom>
        </p:spPr>
        <p:txBody>
          <a:bodyPr wrap="square" lIns="0" tIns="0" rIns="0" bIns="0">
            <a:normAutofit/>
          </a:bodyPr>
          <a:p>
            <a:pPr>
              <a:lnSpc>
                <a:spcPct val="145000"/>
              </a:lnSpc>
            </a:pPr>
            <a:r>
              <a:rPr lang="en-US" sz="1240">
                <a:solidFill>
                  <a:srgbClr val="1A2230"/>
                </a:solidFill>
                <a:latin typeface="微软雅黑" panose="020B0503020204020204" charset="-122"/>
                <a:ea typeface="微软雅黑" panose="020B0503020204020204" charset="-122"/>
              </a:rPr>
              <a:t>CAWCC </a:t>
            </a:r>
            <a:r>
              <a:rPr lang="zh-CN" sz="1240">
                <a:solidFill>
                  <a:srgbClr val="1A2230"/>
                </a:solidFill>
                <a:latin typeface="微软雅黑" panose="020B0503020204020204" charset="-122"/>
                <a:ea typeface="微软雅黑" panose="020B0503020204020204" charset="-122"/>
              </a:rPr>
              <a:t>取</a:t>
            </a:r>
            <a:r>
              <a:rPr lang="en-US" sz="1240">
                <a:solidFill>
                  <a:srgbClr val="1A2230"/>
                </a:solidFill>
                <a:latin typeface="微软雅黑" panose="020B0503020204020204" charset="-122"/>
                <a:ea typeface="微软雅黑" panose="020B0503020204020204" charset="-122"/>
              </a:rPr>
              <a:t>"</a:t>
            </a:r>
            <a:r>
              <a:rPr lang="zh-CN" sz="1240">
                <a:solidFill>
                  <a:srgbClr val="1A2230"/>
                </a:solidFill>
                <a:latin typeface="微软雅黑" panose="020B0503020204020204" charset="-122"/>
                <a:ea typeface="微软雅黑" panose="020B0503020204020204" charset="-122"/>
              </a:rPr>
              <a:t>满足全部约束的最大可行</a:t>
            </a:r>
            <a:r>
              <a:rPr lang="en-US" sz="1240">
                <a:solidFill>
                  <a:srgbClr val="1A2230"/>
                </a:solidFill>
                <a:latin typeface="微软雅黑" panose="020B0503020204020204" charset="-122"/>
                <a:ea typeface="微软雅黑" panose="020B0503020204020204" charset="-122"/>
              </a:rPr>
              <a:t> C_AI"</a:t>
            </a:r>
            <a:r>
              <a:rPr lang="zh-CN" sz="1240">
                <a:solidFill>
                  <a:srgbClr val="1A2230"/>
                </a:solidFill>
                <a:latin typeface="微软雅黑" panose="020B0503020204020204" charset="-122"/>
                <a:ea typeface="微软雅黑" panose="020B0503020204020204" charset="-122"/>
              </a:rPr>
              <a:t>（上确界）；首次失效容量单独报告，用于刻画连续扩张风险；可行域非单调时报告全部可行区间。</a:t>
            </a:r>
            <a:endParaRPr lang="zh-CN" sz="1240">
              <a:solidFill>
                <a:srgbClr val="1A2230"/>
              </a:solidFill>
              <a:latin typeface="微软雅黑" panose="020B0503020204020204" charset="-122"/>
              <a:ea typeface="微软雅黑" panose="020B0503020204020204" charset="-122"/>
            </a:endParaRPr>
          </a:p>
        </p:txBody>
      </p:sp>
      <p:sp>
        <p:nvSpPr>
          <p:cNvPr id="935" name="圆角矩形 934"/>
          <p:cNvSpPr/>
          <p:nvPr/>
        </p:nvSpPr>
        <p:spPr>
          <a:xfrm>
            <a:off x="381000" y="2895600"/>
            <a:ext cx="2771775" cy="990600"/>
          </a:xfrm>
          <a:prstGeom prst="roundRect">
            <a:avLst>
              <a:gd name="adj" fmla="val 5769"/>
            </a:avLst>
          </a:prstGeom>
          <a:solidFill>
            <a:srgbClr val="F7F9FC"/>
          </a:solidFill>
          <a:ln w="12700">
            <a:solidFill>
              <a:srgbClr val="D6DCE5"/>
            </a:solidFill>
            <a:prstDash val="solid"/>
          </a:ln>
        </p:spPr>
        <p:txBody>
          <a:bodyPr/>
          <a:p/>
        </p:txBody>
      </p:sp>
      <p:pic>
        <p:nvPicPr>
          <p:cNvPr id="936" name="图片 935"/>
          <p:cNvPicPr>
            <a:picLocks noChangeAspect="1"/>
          </p:cNvPicPr>
          <p:nvPr/>
        </p:nvPicPr>
        <p:blipFill>
          <a:blip/>
          <a:stretch>
            <a:fillRect/>
          </a:stretch>
        </p:blipFill>
        <p:spPr>
          <a:xfrm>
            <a:off x="476250" y="3009900"/>
            <a:ext cx="161925" cy="161925"/>
          </a:xfrm>
          <a:prstGeom prst="rect">
            <a:avLst/>
          </a:prstGeom>
        </p:spPr>
      </p:pic>
      <p:sp>
        <p:nvSpPr>
          <p:cNvPr id="937" name="文本框 936" descr="{&quot;isTemplate&quot;:true,&quot;type&quot;:&quot;text&quot;}"/>
          <p:cNvSpPr txBox="1"/>
          <p:nvPr/>
        </p:nvSpPr>
        <p:spPr>
          <a:xfrm>
            <a:off x="714375" y="2990850"/>
            <a:ext cx="1781175" cy="190500"/>
          </a:xfrm>
          <a:prstGeom prst="rect">
            <a:avLst/>
          </a:prstGeom>
        </p:spPr>
        <p:txBody>
          <a:bodyPr wrap="none" lIns="0" tIns="0" rIns="0" bIns="0"/>
          <a:p>
            <a:pPr>
              <a:lnSpc>
                <a:spcPct val="100000"/>
              </a:lnSpc>
            </a:pPr>
            <a:r>
              <a:rPr lang="zh-CN" sz="1240" b="1">
                <a:solidFill>
                  <a:srgbClr val="0E3F8C"/>
                </a:solidFill>
                <a:latin typeface="微软雅黑" panose="020B0503020204020204" charset="-122"/>
                <a:ea typeface="微软雅黑" panose="020B0503020204020204" charset="-122"/>
              </a:rPr>
              <a:t>资源｜①</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外部水源与许可</a:t>
            </a:r>
            <a:endParaRPr lang="zh-CN" sz="1240" b="1">
              <a:solidFill>
                <a:srgbClr val="0E3F8C"/>
              </a:solidFill>
              <a:latin typeface="微软雅黑" panose="020B0503020204020204" charset="-122"/>
              <a:ea typeface="微软雅黑" panose="020B0503020204020204" charset="-122"/>
            </a:endParaRPr>
          </a:p>
        </p:txBody>
      </p:sp>
      <p:sp>
        <p:nvSpPr>
          <p:cNvPr id="938" name="文本框 937" descr="{&quot;isTemplate&quot;:true,&quot;type&quot;:&quot;text&quot;}"/>
          <p:cNvSpPr txBox="1"/>
          <p:nvPr/>
        </p:nvSpPr>
        <p:spPr>
          <a:xfrm>
            <a:off x="476250" y="3181350"/>
            <a:ext cx="2581275" cy="485775"/>
          </a:xfrm>
          <a:prstGeom prst="rect">
            <a:avLst/>
          </a:prstGeom>
        </p:spPr>
        <p:txBody>
          <a:bodyPr wrap="square" lIns="0" tIns="0" rIns="0" bIns="0">
            <a:normAutofit/>
          </a:bodyPr>
          <a:p>
            <a:pPr>
              <a:lnSpc>
                <a:spcPct val="140000"/>
              </a:lnSpc>
            </a:pPr>
            <a:r>
              <a:rPr lang="zh-CN" sz="1125">
                <a:solidFill>
                  <a:srgbClr val="4A5568"/>
                </a:solidFill>
                <a:latin typeface="微软雅黑" panose="020B0503020204020204" charset="-122"/>
                <a:ea typeface="微软雅黑" panose="020B0503020204020204" charset="-122"/>
              </a:rPr>
              <a:t>可供量与取水许可上限，干旱情景下按折减系数下调</a:t>
            </a:r>
            <a:endParaRPr lang="zh-CN" sz="1125">
              <a:solidFill>
                <a:srgbClr val="4A5568"/>
              </a:solidFill>
              <a:latin typeface="微软雅黑" panose="020B0503020204020204" charset="-122"/>
              <a:ea typeface="微软雅黑" panose="020B0503020204020204" charset="-122"/>
            </a:endParaRPr>
          </a:p>
        </p:txBody>
      </p:sp>
      <p:sp>
        <p:nvSpPr>
          <p:cNvPr id="939" name="圆角矩形 938"/>
          <p:cNvSpPr/>
          <p:nvPr/>
        </p:nvSpPr>
        <p:spPr>
          <a:xfrm>
            <a:off x="3267075" y="2895600"/>
            <a:ext cx="2771775" cy="990600"/>
          </a:xfrm>
          <a:prstGeom prst="roundRect">
            <a:avLst>
              <a:gd name="adj" fmla="val 5769"/>
            </a:avLst>
          </a:prstGeom>
          <a:solidFill>
            <a:srgbClr val="F7F9FC"/>
          </a:solidFill>
          <a:ln w="12700">
            <a:solidFill>
              <a:srgbClr val="D6DCE5"/>
            </a:solidFill>
            <a:prstDash val="solid"/>
          </a:ln>
        </p:spPr>
        <p:txBody>
          <a:bodyPr/>
          <a:p/>
        </p:txBody>
      </p:sp>
      <p:pic>
        <p:nvPicPr>
          <p:cNvPr id="940" name="图片 939"/>
          <p:cNvPicPr>
            <a:picLocks noChangeAspect="1"/>
          </p:cNvPicPr>
          <p:nvPr/>
        </p:nvPicPr>
        <p:blipFill>
          <a:blip/>
          <a:stretch>
            <a:fillRect/>
          </a:stretch>
        </p:blipFill>
        <p:spPr>
          <a:xfrm>
            <a:off x="3362325" y="3009900"/>
            <a:ext cx="161925" cy="161925"/>
          </a:xfrm>
          <a:prstGeom prst="rect">
            <a:avLst/>
          </a:prstGeom>
        </p:spPr>
      </p:pic>
      <p:sp>
        <p:nvSpPr>
          <p:cNvPr id="941" name="文本框 940" descr="{&quot;isTemplate&quot;:true,&quot;type&quot;:&quot;text&quot;}"/>
          <p:cNvSpPr txBox="1"/>
          <p:nvPr/>
        </p:nvSpPr>
        <p:spPr>
          <a:xfrm>
            <a:off x="3600450" y="2990850"/>
            <a:ext cx="1781175" cy="190500"/>
          </a:xfrm>
          <a:prstGeom prst="rect">
            <a:avLst/>
          </a:prstGeom>
        </p:spPr>
        <p:txBody>
          <a:bodyPr wrap="none" lIns="0" tIns="0" rIns="0" bIns="0"/>
          <a:p>
            <a:pPr>
              <a:lnSpc>
                <a:spcPct val="100000"/>
              </a:lnSpc>
            </a:pPr>
            <a:r>
              <a:rPr lang="zh-CN" sz="1240" b="1">
                <a:solidFill>
                  <a:srgbClr val="0E3F8C"/>
                </a:solidFill>
                <a:latin typeface="微软雅黑" panose="020B0503020204020204" charset="-122"/>
                <a:ea typeface="微软雅黑" panose="020B0503020204020204" charset="-122"/>
              </a:rPr>
              <a:t>设施｜②</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给水处理与接入</a:t>
            </a:r>
            <a:endParaRPr lang="zh-CN" sz="1240" b="1">
              <a:solidFill>
                <a:srgbClr val="0E3F8C"/>
              </a:solidFill>
              <a:latin typeface="微软雅黑" panose="020B0503020204020204" charset="-122"/>
              <a:ea typeface="微软雅黑" panose="020B0503020204020204" charset="-122"/>
            </a:endParaRPr>
          </a:p>
        </p:txBody>
      </p:sp>
      <p:sp>
        <p:nvSpPr>
          <p:cNvPr id="942" name="文本框 941" descr="{&quot;isTemplate&quot;:true,&quot;type&quot;:&quot;text&quot;}"/>
          <p:cNvSpPr txBox="1"/>
          <p:nvPr/>
        </p:nvSpPr>
        <p:spPr>
          <a:xfrm>
            <a:off x="3362325" y="3181350"/>
            <a:ext cx="2581275" cy="485775"/>
          </a:xfrm>
          <a:prstGeom prst="rect">
            <a:avLst/>
          </a:prstGeom>
        </p:spPr>
        <p:txBody>
          <a:bodyPr wrap="square" lIns="0" tIns="0" rIns="0" bIns="0">
            <a:normAutofit/>
          </a:bodyPr>
          <a:p>
            <a:pPr>
              <a:lnSpc>
                <a:spcPct val="140000"/>
              </a:lnSpc>
            </a:pPr>
            <a:r>
              <a:rPr lang="zh-CN" sz="1125">
                <a:solidFill>
                  <a:srgbClr val="4A5568"/>
                </a:solidFill>
                <a:latin typeface="微软雅黑" panose="020B0503020204020204" charset="-122"/>
                <a:ea typeface="微软雅黑" panose="020B0503020204020204" charset="-122"/>
              </a:rPr>
              <a:t>处理能力与接入管径，决定峰值时段能否送达</a:t>
            </a:r>
            <a:endParaRPr lang="zh-CN" sz="1125">
              <a:solidFill>
                <a:srgbClr val="4A5568"/>
              </a:solidFill>
              <a:latin typeface="微软雅黑" panose="020B0503020204020204" charset="-122"/>
              <a:ea typeface="微软雅黑" panose="020B0503020204020204" charset="-122"/>
            </a:endParaRPr>
          </a:p>
        </p:txBody>
      </p:sp>
      <p:sp>
        <p:nvSpPr>
          <p:cNvPr id="943" name="圆角矩形 942"/>
          <p:cNvSpPr/>
          <p:nvPr/>
        </p:nvSpPr>
        <p:spPr>
          <a:xfrm>
            <a:off x="6153150" y="2895600"/>
            <a:ext cx="2771775" cy="990600"/>
          </a:xfrm>
          <a:prstGeom prst="roundRect">
            <a:avLst>
              <a:gd name="adj" fmla="val 5769"/>
            </a:avLst>
          </a:prstGeom>
          <a:solidFill>
            <a:srgbClr val="F7F9FC"/>
          </a:solidFill>
          <a:ln w="12700">
            <a:solidFill>
              <a:srgbClr val="D6DCE5"/>
            </a:solidFill>
            <a:prstDash val="solid"/>
          </a:ln>
        </p:spPr>
        <p:txBody>
          <a:bodyPr/>
          <a:p/>
        </p:txBody>
      </p:sp>
      <p:pic>
        <p:nvPicPr>
          <p:cNvPr id="944" name="图片 943"/>
          <p:cNvPicPr>
            <a:picLocks noChangeAspect="1"/>
          </p:cNvPicPr>
          <p:nvPr/>
        </p:nvPicPr>
        <p:blipFill>
          <a:blip/>
          <a:stretch>
            <a:fillRect/>
          </a:stretch>
        </p:blipFill>
        <p:spPr>
          <a:xfrm>
            <a:off x="6248400" y="3009900"/>
            <a:ext cx="161925" cy="161925"/>
          </a:xfrm>
          <a:prstGeom prst="rect">
            <a:avLst/>
          </a:prstGeom>
        </p:spPr>
      </p:pic>
      <p:sp>
        <p:nvSpPr>
          <p:cNvPr id="945" name="文本框 944" descr="{&quot;isTemplate&quot;:true,&quot;type&quot;:&quot;text&quot;}"/>
          <p:cNvSpPr txBox="1"/>
          <p:nvPr/>
        </p:nvSpPr>
        <p:spPr>
          <a:xfrm>
            <a:off x="6486525" y="2990850"/>
            <a:ext cx="1781175" cy="190500"/>
          </a:xfrm>
          <a:prstGeom prst="rect">
            <a:avLst/>
          </a:prstGeom>
        </p:spPr>
        <p:txBody>
          <a:bodyPr wrap="none" lIns="0" tIns="0" rIns="0" bIns="0"/>
          <a:p>
            <a:pPr>
              <a:lnSpc>
                <a:spcPct val="100000"/>
              </a:lnSpc>
            </a:pPr>
            <a:r>
              <a:rPr lang="zh-CN" sz="1240" b="1">
                <a:solidFill>
                  <a:srgbClr val="0E3F8C"/>
                </a:solidFill>
                <a:latin typeface="微软雅黑" panose="020B0503020204020204" charset="-122"/>
                <a:ea typeface="微软雅黑" panose="020B0503020204020204" charset="-122"/>
              </a:rPr>
              <a:t>设施｜③</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污水处理与溢流</a:t>
            </a:r>
            <a:endParaRPr lang="zh-CN" sz="1240" b="1">
              <a:solidFill>
                <a:srgbClr val="0E3F8C"/>
              </a:solidFill>
              <a:latin typeface="微软雅黑" panose="020B0503020204020204" charset="-122"/>
              <a:ea typeface="微软雅黑" panose="020B0503020204020204" charset="-122"/>
            </a:endParaRPr>
          </a:p>
        </p:txBody>
      </p:sp>
      <p:sp>
        <p:nvSpPr>
          <p:cNvPr id="946" name="文本框 945" descr="{&quot;isTemplate&quot;:true,&quot;type&quot;:&quot;text&quot;}"/>
          <p:cNvSpPr txBox="1"/>
          <p:nvPr/>
        </p:nvSpPr>
        <p:spPr>
          <a:xfrm>
            <a:off x="6248400" y="3181350"/>
            <a:ext cx="2581275" cy="247650"/>
          </a:xfrm>
          <a:prstGeom prst="rect">
            <a:avLst/>
          </a:prstGeom>
        </p:spPr>
        <p:txBody>
          <a:bodyPr wrap="none" lIns="0" tIns="0" rIns="0" bIns="0"/>
          <a:p>
            <a:pPr>
              <a:lnSpc>
                <a:spcPct val="140000"/>
              </a:lnSpc>
            </a:pPr>
            <a:r>
              <a:rPr lang="zh-CN" sz="1125">
                <a:solidFill>
                  <a:srgbClr val="4A5568"/>
                </a:solidFill>
                <a:latin typeface="微软雅黑" panose="020B0503020204020204" charset="-122"/>
                <a:ea typeface="微软雅黑" panose="020B0503020204020204" charset="-122"/>
              </a:rPr>
              <a:t>回流增加后是否超出收集与处理能力</a:t>
            </a:r>
            <a:endParaRPr lang="zh-CN" sz="1125">
              <a:solidFill>
                <a:srgbClr val="4A5568"/>
              </a:solidFill>
              <a:latin typeface="微软雅黑" panose="020B0503020204020204" charset="-122"/>
              <a:ea typeface="微软雅黑" panose="020B0503020204020204" charset="-122"/>
            </a:endParaRPr>
          </a:p>
        </p:txBody>
      </p:sp>
      <p:sp>
        <p:nvSpPr>
          <p:cNvPr id="947" name="圆角矩形 946"/>
          <p:cNvSpPr/>
          <p:nvPr/>
        </p:nvSpPr>
        <p:spPr>
          <a:xfrm>
            <a:off x="9039225" y="2895600"/>
            <a:ext cx="2771775" cy="990600"/>
          </a:xfrm>
          <a:prstGeom prst="roundRect">
            <a:avLst>
              <a:gd name="adj" fmla="val 5769"/>
            </a:avLst>
          </a:prstGeom>
          <a:solidFill>
            <a:srgbClr val="F7F9FC"/>
          </a:solidFill>
          <a:ln w="12700">
            <a:solidFill>
              <a:srgbClr val="D6DCE5"/>
            </a:solidFill>
            <a:prstDash val="solid"/>
          </a:ln>
        </p:spPr>
        <p:txBody>
          <a:bodyPr/>
          <a:p/>
        </p:txBody>
      </p:sp>
      <p:pic>
        <p:nvPicPr>
          <p:cNvPr id="948" name="图片 947"/>
          <p:cNvPicPr>
            <a:picLocks noChangeAspect="1"/>
          </p:cNvPicPr>
          <p:nvPr/>
        </p:nvPicPr>
        <p:blipFill>
          <a:blip/>
          <a:stretch>
            <a:fillRect/>
          </a:stretch>
        </p:blipFill>
        <p:spPr>
          <a:xfrm>
            <a:off x="9134475" y="3009900"/>
            <a:ext cx="161925" cy="161925"/>
          </a:xfrm>
          <a:prstGeom prst="rect">
            <a:avLst/>
          </a:prstGeom>
        </p:spPr>
      </p:pic>
      <p:sp>
        <p:nvSpPr>
          <p:cNvPr id="949" name="文本框 948" descr="{&quot;isTemplate&quot;:true,&quot;type&quot;:&quot;text&quot;}"/>
          <p:cNvSpPr txBox="1"/>
          <p:nvPr/>
        </p:nvSpPr>
        <p:spPr>
          <a:xfrm>
            <a:off x="9372600" y="2990850"/>
            <a:ext cx="1466850" cy="190500"/>
          </a:xfrm>
          <a:prstGeom prst="rect">
            <a:avLst/>
          </a:prstGeom>
        </p:spPr>
        <p:txBody>
          <a:bodyPr wrap="none" lIns="0" tIns="0" rIns="0" bIns="0"/>
          <a:p>
            <a:pPr>
              <a:lnSpc>
                <a:spcPct val="100000"/>
              </a:lnSpc>
            </a:pPr>
            <a:r>
              <a:rPr lang="zh-CN" sz="1240" b="1">
                <a:solidFill>
                  <a:srgbClr val="0E3F8C"/>
                </a:solidFill>
                <a:latin typeface="微软雅黑" panose="020B0503020204020204" charset="-122"/>
                <a:ea typeface="微软雅黑" panose="020B0503020204020204" charset="-122"/>
              </a:rPr>
              <a:t>设施｜④</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再生水服务</a:t>
            </a:r>
            <a:endParaRPr lang="zh-CN" sz="1240" b="1">
              <a:solidFill>
                <a:srgbClr val="0E3F8C"/>
              </a:solidFill>
              <a:latin typeface="微软雅黑" panose="020B0503020204020204" charset="-122"/>
              <a:ea typeface="微软雅黑" panose="020B0503020204020204" charset="-122"/>
            </a:endParaRPr>
          </a:p>
        </p:txBody>
      </p:sp>
      <p:sp>
        <p:nvSpPr>
          <p:cNvPr id="950" name="文本框 949" descr="{&quot;isTemplate&quot;:true,&quot;type&quot;:&quot;text&quot;}"/>
          <p:cNvSpPr txBox="1"/>
          <p:nvPr/>
        </p:nvSpPr>
        <p:spPr>
          <a:xfrm>
            <a:off x="9134475" y="3181350"/>
            <a:ext cx="2581275" cy="485775"/>
          </a:xfrm>
          <a:prstGeom prst="rect">
            <a:avLst/>
          </a:prstGeom>
        </p:spPr>
        <p:txBody>
          <a:bodyPr wrap="square" lIns="0" tIns="0" rIns="0" bIns="0">
            <a:normAutofit/>
          </a:bodyPr>
          <a:p>
            <a:pPr>
              <a:lnSpc>
                <a:spcPct val="140000"/>
              </a:lnSpc>
            </a:pPr>
            <a:r>
              <a:rPr lang="zh-CN" sz="1125">
                <a:solidFill>
                  <a:srgbClr val="4A5568"/>
                </a:solidFill>
                <a:latin typeface="微软雅黑" panose="020B0503020204020204" charset="-122"/>
                <a:ea typeface="微软雅黑" panose="020B0503020204020204" charset="-122"/>
              </a:rPr>
              <a:t>源量、深度处理、储存与输配能力的共同上限</a:t>
            </a:r>
            <a:endParaRPr lang="zh-CN" sz="1125">
              <a:solidFill>
                <a:srgbClr val="4A5568"/>
              </a:solidFill>
              <a:latin typeface="微软雅黑" panose="020B0503020204020204" charset="-122"/>
              <a:ea typeface="微软雅黑" panose="020B0503020204020204" charset="-122"/>
            </a:endParaRPr>
          </a:p>
        </p:txBody>
      </p:sp>
      <p:sp>
        <p:nvSpPr>
          <p:cNvPr id="951" name="圆角矩形 950"/>
          <p:cNvSpPr/>
          <p:nvPr/>
        </p:nvSpPr>
        <p:spPr>
          <a:xfrm>
            <a:off x="381000" y="4000500"/>
            <a:ext cx="2771775" cy="990600"/>
          </a:xfrm>
          <a:prstGeom prst="roundRect">
            <a:avLst>
              <a:gd name="adj" fmla="val 5769"/>
            </a:avLst>
          </a:prstGeom>
          <a:solidFill>
            <a:srgbClr val="F7F9FC"/>
          </a:solidFill>
          <a:ln w="12700">
            <a:solidFill>
              <a:srgbClr val="D6DCE5"/>
            </a:solidFill>
            <a:prstDash val="solid"/>
          </a:ln>
        </p:spPr>
        <p:txBody>
          <a:bodyPr/>
          <a:p/>
        </p:txBody>
      </p:sp>
      <p:pic>
        <p:nvPicPr>
          <p:cNvPr id="952" name="图片 951"/>
          <p:cNvPicPr>
            <a:picLocks noChangeAspect="1"/>
          </p:cNvPicPr>
          <p:nvPr/>
        </p:nvPicPr>
        <p:blipFill>
          <a:blip/>
          <a:stretch>
            <a:fillRect/>
          </a:stretch>
        </p:blipFill>
        <p:spPr>
          <a:xfrm>
            <a:off x="476250" y="4114800"/>
            <a:ext cx="161925" cy="161925"/>
          </a:xfrm>
          <a:prstGeom prst="rect">
            <a:avLst/>
          </a:prstGeom>
        </p:spPr>
      </p:pic>
      <p:sp>
        <p:nvSpPr>
          <p:cNvPr id="953" name="文本框 952" descr="{&quot;isTemplate&quot;:true,&quot;type&quot;:&quot;text&quot;}"/>
          <p:cNvSpPr txBox="1"/>
          <p:nvPr/>
        </p:nvSpPr>
        <p:spPr>
          <a:xfrm>
            <a:off x="714375" y="4095750"/>
            <a:ext cx="1781175" cy="190500"/>
          </a:xfrm>
          <a:prstGeom prst="rect">
            <a:avLst/>
          </a:prstGeom>
        </p:spPr>
        <p:txBody>
          <a:bodyPr wrap="none" lIns="0" tIns="0" rIns="0" bIns="0"/>
          <a:p>
            <a:pPr>
              <a:lnSpc>
                <a:spcPct val="100000"/>
              </a:lnSpc>
            </a:pPr>
            <a:r>
              <a:rPr lang="zh-CN" sz="1240" b="1">
                <a:solidFill>
                  <a:srgbClr val="0E3F8C"/>
                </a:solidFill>
                <a:latin typeface="微软雅黑" panose="020B0503020204020204" charset="-122"/>
                <a:ea typeface="微软雅黑" panose="020B0503020204020204" charset="-122"/>
              </a:rPr>
              <a:t>服务｜⑤</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水质可接纳能力</a:t>
            </a:r>
            <a:endParaRPr lang="zh-CN" sz="1240" b="1">
              <a:solidFill>
                <a:srgbClr val="0E3F8C"/>
              </a:solidFill>
              <a:latin typeface="微软雅黑" panose="020B0503020204020204" charset="-122"/>
              <a:ea typeface="微软雅黑" panose="020B0503020204020204" charset="-122"/>
            </a:endParaRPr>
          </a:p>
        </p:txBody>
      </p:sp>
      <p:sp>
        <p:nvSpPr>
          <p:cNvPr id="954" name="文本框 953" descr="{&quot;isTemplate&quot;:true,&quot;type&quot;:&quot;text&quot;}"/>
          <p:cNvSpPr txBox="1"/>
          <p:nvPr/>
        </p:nvSpPr>
        <p:spPr>
          <a:xfrm>
            <a:off x="476250" y="4286250"/>
            <a:ext cx="2581275" cy="485775"/>
          </a:xfrm>
          <a:prstGeom prst="rect">
            <a:avLst/>
          </a:prstGeom>
        </p:spPr>
        <p:txBody>
          <a:bodyPr wrap="square" lIns="0" tIns="0" rIns="0" bIns="0">
            <a:normAutofit/>
          </a:bodyPr>
          <a:p>
            <a:pPr>
              <a:lnSpc>
                <a:spcPct val="140000"/>
              </a:lnSpc>
            </a:pPr>
            <a:r>
              <a:rPr lang="en-US" sz="1125">
                <a:solidFill>
                  <a:srgbClr val="4A5568"/>
                </a:solidFill>
                <a:latin typeface="微软雅黑" panose="020B0503020204020204" charset="-122"/>
                <a:ea typeface="微软雅黑" panose="020B0503020204020204" charset="-122"/>
              </a:rPr>
              <a:t>TDS</a:t>
            </a:r>
            <a:r>
              <a:rPr lang="zh-CN" sz="1125">
                <a:solidFill>
                  <a:srgbClr val="4A5568"/>
                </a:solidFill>
                <a:latin typeface="微软雅黑" panose="020B0503020204020204" charset="-122"/>
                <a:ea typeface="微软雅黑" panose="020B0503020204020204" charset="-122"/>
              </a:rPr>
              <a:t>、温度与药剂负荷超标时触发独立约束</a:t>
            </a:r>
            <a:endParaRPr lang="zh-CN" sz="1125">
              <a:solidFill>
                <a:srgbClr val="4A5568"/>
              </a:solidFill>
              <a:latin typeface="微软雅黑" panose="020B0503020204020204" charset="-122"/>
              <a:ea typeface="微软雅黑" panose="020B0503020204020204" charset="-122"/>
            </a:endParaRPr>
          </a:p>
        </p:txBody>
      </p:sp>
      <p:sp>
        <p:nvSpPr>
          <p:cNvPr id="955" name="圆角矩形 954"/>
          <p:cNvSpPr/>
          <p:nvPr/>
        </p:nvSpPr>
        <p:spPr>
          <a:xfrm>
            <a:off x="3267075" y="4000500"/>
            <a:ext cx="2771775" cy="990600"/>
          </a:xfrm>
          <a:prstGeom prst="roundRect">
            <a:avLst>
              <a:gd name="adj" fmla="val 5769"/>
            </a:avLst>
          </a:prstGeom>
          <a:solidFill>
            <a:srgbClr val="F7F9FC"/>
          </a:solidFill>
          <a:ln w="12700">
            <a:solidFill>
              <a:srgbClr val="D6DCE5"/>
            </a:solidFill>
            <a:prstDash val="solid"/>
          </a:ln>
        </p:spPr>
        <p:txBody>
          <a:bodyPr/>
          <a:p/>
        </p:txBody>
      </p:sp>
      <p:pic>
        <p:nvPicPr>
          <p:cNvPr id="956" name="图片 955"/>
          <p:cNvPicPr>
            <a:picLocks noChangeAspect="1"/>
          </p:cNvPicPr>
          <p:nvPr/>
        </p:nvPicPr>
        <p:blipFill>
          <a:blip/>
          <a:stretch>
            <a:fillRect/>
          </a:stretch>
        </p:blipFill>
        <p:spPr>
          <a:xfrm>
            <a:off x="3362325" y="4114800"/>
            <a:ext cx="161925" cy="161925"/>
          </a:xfrm>
          <a:prstGeom prst="rect">
            <a:avLst/>
          </a:prstGeom>
        </p:spPr>
      </p:pic>
      <p:sp>
        <p:nvSpPr>
          <p:cNvPr id="957" name="文本框 956" descr="{&quot;isTemplate&quot;:true,&quot;type&quot;:&quot;text&quot;}"/>
          <p:cNvSpPr txBox="1"/>
          <p:nvPr/>
        </p:nvSpPr>
        <p:spPr>
          <a:xfrm>
            <a:off x="3600450" y="4095750"/>
            <a:ext cx="1619250" cy="190500"/>
          </a:xfrm>
          <a:prstGeom prst="rect">
            <a:avLst/>
          </a:prstGeom>
        </p:spPr>
        <p:txBody>
          <a:bodyPr wrap="none" lIns="0" tIns="0" rIns="0" bIns="0"/>
          <a:p>
            <a:pPr>
              <a:lnSpc>
                <a:spcPct val="100000"/>
              </a:lnSpc>
            </a:pPr>
            <a:r>
              <a:rPr lang="zh-CN" sz="1240" b="1">
                <a:solidFill>
                  <a:srgbClr val="0E3F8C"/>
                </a:solidFill>
                <a:latin typeface="微软雅黑" panose="020B0503020204020204" charset="-122"/>
                <a:ea typeface="微软雅黑" panose="020B0503020204020204" charset="-122"/>
              </a:rPr>
              <a:t>服务｜⑥</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峰值服务能力</a:t>
            </a:r>
            <a:endParaRPr lang="zh-CN" sz="1240" b="1">
              <a:solidFill>
                <a:srgbClr val="0E3F8C"/>
              </a:solidFill>
              <a:latin typeface="微软雅黑" panose="020B0503020204020204" charset="-122"/>
              <a:ea typeface="微软雅黑" panose="020B0503020204020204" charset="-122"/>
            </a:endParaRPr>
          </a:p>
        </p:txBody>
      </p:sp>
      <p:sp>
        <p:nvSpPr>
          <p:cNvPr id="958" name="文本框 957" descr="{&quot;isTemplate&quot;:true,&quot;type&quot;:&quot;text&quot;}"/>
          <p:cNvSpPr txBox="1"/>
          <p:nvPr/>
        </p:nvSpPr>
        <p:spPr>
          <a:xfrm>
            <a:off x="3362325" y="4286250"/>
            <a:ext cx="2581275" cy="247650"/>
          </a:xfrm>
          <a:prstGeom prst="rect">
            <a:avLst/>
          </a:prstGeom>
        </p:spPr>
        <p:txBody>
          <a:bodyPr wrap="none" lIns="0" tIns="0" rIns="0" bIns="0"/>
          <a:p>
            <a:pPr>
              <a:lnSpc>
                <a:spcPct val="140000"/>
              </a:lnSpc>
            </a:pPr>
            <a:r>
              <a:rPr lang="zh-CN" sz="1125">
                <a:solidFill>
                  <a:srgbClr val="4A5568"/>
                </a:solidFill>
                <a:latin typeface="微软雅黑" panose="020B0503020204020204" charset="-122"/>
                <a:ea typeface="微软雅黑" panose="020B0503020204020204" charset="-122"/>
              </a:rPr>
              <a:t>极端时段能否同时满足全部在网用户需求</a:t>
            </a:r>
            <a:endParaRPr lang="zh-CN" sz="1125">
              <a:solidFill>
                <a:srgbClr val="4A5568"/>
              </a:solidFill>
              <a:latin typeface="微软雅黑" panose="020B0503020204020204" charset="-122"/>
              <a:ea typeface="微软雅黑" panose="020B0503020204020204" charset="-122"/>
            </a:endParaRPr>
          </a:p>
        </p:txBody>
      </p:sp>
      <p:sp>
        <p:nvSpPr>
          <p:cNvPr id="959" name="圆角矩形 958"/>
          <p:cNvSpPr/>
          <p:nvPr/>
        </p:nvSpPr>
        <p:spPr>
          <a:xfrm>
            <a:off x="6153150" y="4000500"/>
            <a:ext cx="2771775" cy="990600"/>
          </a:xfrm>
          <a:prstGeom prst="roundRect">
            <a:avLst>
              <a:gd name="adj" fmla="val 5769"/>
            </a:avLst>
          </a:prstGeom>
          <a:solidFill>
            <a:srgbClr val="F7F9FC"/>
          </a:solidFill>
          <a:ln w="12700">
            <a:solidFill>
              <a:srgbClr val="D6DCE5"/>
            </a:solidFill>
            <a:prstDash val="solid"/>
          </a:ln>
        </p:spPr>
        <p:txBody>
          <a:bodyPr/>
          <a:p/>
        </p:txBody>
      </p:sp>
      <p:pic>
        <p:nvPicPr>
          <p:cNvPr id="960" name="图片 959"/>
          <p:cNvPicPr>
            <a:picLocks noChangeAspect="1"/>
          </p:cNvPicPr>
          <p:nvPr/>
        </p:nvPicPr>
        <p:blipFill>
          <a:blip/>
          <a:stretch>
            <a:fillRect/>
          </a:stretch>
        </p:blipFill>
        <p:spPr>
          <a:xfrm>
            <a:off x="6248400" y="4114800"/>
            <a:ext cx="161925" cy="161925"/>
          </a:xfrm>
          <a:prstGeom prst="rect">
            <a:avLst/>
          </a:prstGeom>
        </p:spPr>
      </p:pic>
      <p:sp>
        <p:nvSpPr>
          <p:cNvPr id="961" name="文本框 960" descr="{&quot;isTemplate&quot;:true,&quot;type&quot;:&quot;text&quot;}"/>
          <p:cNvSpPr txBox="1"/>
          <p:nvPr/>
        </p:nvSpPr>
        <p:spPr>
          <a:xfrm>
            <a:off x="6486525" y="4095750"/>
            <a:ext cx="1619250" cy="190500"/>
          </a:xfrm>
          <a:prstGeom prst="rect">
            <a:avLst/>
          </a:prstGeom>
        </p:spPr>
        <p:txBody>
          <a:bodyPr wrap="none" lIns="0" tIns="0" rIns="0" bIns="0"/>
          <a:p>
            <a:pPr>
              <a:lnSpc>
                <a:spcPct val="100000"/>
              </a:lnSpc>
            </a:pPr>
            <a:r>
              <a:rPr lang="zh-CN" sz="1240" b="1">
                <a:solidFill>
                  <a:srgbClr val="0E3F8C"/>
                </a:solidFill>
                <a:latin typeface="微软雅黑" panose="020B0503020204020204" charset="-122"/>
                <a:ea typeface="微软雅黑" panose="020B0503020204020204" charset="-122"/>
              </a:rPr>
              <a:t>服务｜⑦</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居民基本服务</a:t>
            </a:r>
            <a:endParaRPr lang="zh-CN" sz="1240" b="1">
              <a:solidFill>
                <a:srgbClr val="0E3F8C"/>
              </a:solidFill>
              <a:latin typeface="微软雅黑" panose="020B0503020204020204" charset="-122"/>
              <a:ea typeface="微软雅黑" panose="020B0503020204020204" charset="-122"/>
            </a:endParaRPr>
          </a:p>
        </p:txBody>
      </p:sp>
      <p:sp>
        <p:nvSpPr>
          <p:cNvPr id="962" name="文本框 961" descr="{&quot;isTemplate&quot;:true,&quot;type&quot;:&quot;text&quot;}"/>
          <p:cNvSpPr txBox="1"/>
          <p:nvPr/>
        </p:nvSpPr>
        <p:spPr>
          <a:xfrm>
            <a:off x="6248400" y="4286250"/>
            <a:ext cx="2581275" cy="485775"/>
          </a:xfrm>
          <a:prstGeom prst="rect">
            <a:avLst/>
          </a:prstGeom>
        </p:spPr>
        <p:txBody>
          <a:bodyPr wrap="square" lIns="0" tIns="0" rIns="0" bIns="0">
            <a:normAutofit/>
          </a:bodyPr>
          <a:p>
            <a:pPr>
              <a:lnSpc>
                <a:spcPct val="140000"/>
              </a:lnSpc>
            </a:pPr>
            <a:r>
              <a:rPr lang="zh-CN" sz="1125">
                <a:solidFill>
                  <a:srgbClr val="4A5568"/>
                </a:solidFill>
                <a:latin typeface="微软雅黑" panose="020B0503020204020204" charset="-122"/>
                <a:ea typeface="微软雅黑" panose="020B0503020204020204" charset="-122"/>
              </a:rPr>
              <a:t>基本用水与关键公共服务不得被</a:t>
            </a:r>
            <a:r>
              <a:rPr lang="en-US" sz="1125">
                <a:solidFill>
                  <a:srgbClr val="4A5568"/>
                </a:solidFill>
                <a:latin typeface="微软雅黑" panose="020B0503020204020204" charset="-122"/>
                <a:ea typeface="微软雅黑" panose="020B0503020204020204" charset="-122"/>
              </a:rPr>
              <a:t> AI </a:t>
            </a:r>
            <a:r>
              <a:rPr lang="zh-CN" sz="1125">
                <a:solidFill>
                  <a:srgbClr val="4A5568"/>
                </a:solidFill>
                <a:latin typeface="微软雅黑" panose="020B0503020204020204" charset="-122"/>
                <a:ea typeface="微软雅黑" panose="020B0503020204020204" charset="-122"/>
              </a:rPr>
              <a:t>负荷挤占</a:t>
            </a:r>
            <a:endParaRPr lang="zh-CN" sz="1125">
              <a:solidFill>
                <a:srgbClr val="4A5568"/>
              </a:solidFill>
              <a:latin typeface="微软雅黑" panose="020B0503020204020204" charset="-122"/>
              <a:ea typeface="微软雅黑" panose="020B0503020204020204" charset="-122"/>
            </a:endParaRPr>
          </a:p>
        </p:txBody>
      </p:sp>
      <p:sp>
        <p:nvSpPr>
          <p:cNvPr id="963" name="圆角矩形 962"/>
          <p:cNvSpPr/>
          <p:nvPr/>
        </p:nvSpPr>
        <p:spPr>
          <a:xfrm>
            <a:off x="9039225" y="4000500"/>
            <a:ext cx="2771775" cy="990600"/>
          </a:xfrm>
          <a:prstGeom prst="roundRect">
            <a:avLst>
              <a:gd name="adj" fmla="val 5769"/>
            </a:avLst>
          </a:prstGeom>
          <a:solidFill>
            <a:srgbClr val="F0F5FC"/>
          </a:solidFill>
          <a:ln w="12700">
            <a:solidFill>
              <a:srgbClr val="D6DCE5"/>
            </a:solidFill>
            <a:prstDash val="solid"/>
          </a:ln>
        </p:spPr>
        <p:txBody>
          <a:bodyPr/>
          <a:p/>
        </p:txBody>
      </p:sp>
      <p:sp>
        <p:nvSpPr>
          <p:cNvPr id="964" name="文本框 963" descr="{&quot;isTemplate&quot;:true,&quot;type&quot;:&quot;text&quot;}"/>
          <p:cNvSpPr txBox="1"/>
          <p:nvPr/>
        </p:nvSpPr>
        <p:spPr>
          <a:xfrm>
            <a:off x="9134475" y="4095750"/>
            <a:ext cx="2581275" cy="190500"/>
          </a:xfrm>
          <a:prstGeom prst="rect">
            <a:avLst/>
          </a:prstGeom>
        </p:spPr>
        <p:txBody>
          <a:bodyPr wrap="none" lIns="0" tIns="0" rIns="0" bIns="0"/>
          <a:p>
            <a:pPr>
              <a:lnSpc>
                <a:spcPct val="100000"/>
              </a:lnSpc>
            </a:pPr>
            <a:r>
              <a:rPr lang="zh-CN" sz="1240" b="1">
                <a:solidFill>
                  <a:srgbClr val="D9534F"/>
                </a:solidFill>
                <a:latin typeface="微软雅黑" panose="020B0503020204020204" charset="-122"/>
                <a:ea typeface="微软雅黑" panose="020B0503020204020204" charset="-122"/>
              </a:rPr>
              <a:t>风险｜⑧</a:t>
            </a:r>
            <a:r>
              <a:rPr lang="en-US" sz="1240" b="1">
                <a:solidFill>
                  <a:srgbClr val="D9534F"/>
                </a:solidFill>
                <a:latin typeface="微软雅黑" panose="020B0503020204020204" charset="-122"/>
                <a:ea typeface="微软雅黑" panose="020B0503020204020204" charset="-122"/>
              </a:rPr>
              <a:t> </a:t>
            </a:r>
            <a:r>
              <a:rPr lang="zh-CN" sz="1240" b="1">
                <a:solidFill>
                  <a:srgbClr val="D9534F"/>
                </a:solidFill>
                <a:latin typeface="微软雅黑" panose="020B0503020204020204" charset="-122"/>
                <a:ea typeface="微软雅黑" panose="020B0503020204020204" charset="-122"/>
              </a:rPr>
              <a:t>风险容忍水平</a:t>
            </a:r>
            <a:endParaRPr lang="zh-CN" sz="1240" b="1">
              <a:solidFill>
                <a:srgbClr val="D9534F"/>
              </a:solidFill>
              <a:latin typeface="微软雅黑" panose="020B0503020204020204" charset="-122"/>
              <a:ea typeface="微软雅黑" panose="020B0503020204020204" charset="-122"/>
            </a:endParaRPr>
          </a:p>
        </p:txBody>
      </p:sp>
      <p:sp>
        <p:nvSpPr>
          <p:cNvPr id="965" name="文本框 964" descr="{&quot;isTemplate&quot;:true,&quot;type&quot;:&quot;text&quot;}"/>
          <p:cNvSpPr txBox="1"/>
          <p:nvPr/>
        </p:nvSpPr>
        <p:spPr>
          <a:xfrm>
            <a:off x="9134475" y="4286250"/>
            <a:ext cx="2581275" cy="485775"/>
          </a:xfrm>
          <a:prstGeom prst="rect">
            <a:avLst/>
          </a:prstGeom>
        </p:spPr>
        <p:txBody>
          <a:bodyPr wrap="square" lIns="0" tIns="0" rIns="0" bIns="0">
            <a:normAutofit/>
          </a:bodyPr>
          <a:p>
            <a:pPr>
              <a:lnSpc>
                <a:spcPct val="140000"/>
              </a:lnSpc>
            </a:pPr>
            <a:r>
              <a:rPr lang="zh-CN" sz="1125">
                <a:solidFill>
                  <a:srgbClr val="4A5568"/>
                </a:solidFill>
                <a:latin typeface="微软雅黑" panose="020B0503020204020204" charset="-122"/>
                <a:ea typeface="微软雅黑" panose="020B0503020204020204" charset="-122"/>
              </a:rPr>
              <a:t>可接受的失效频率、持续时长与恢复时间阈值</a:t>
            </a:r>
            <a:endParaRPr lang="zh-CN" sz="1125">
              <a:solidFill>
                <a:srgbClr val="4A5568"/>
              </a:solidFill>
              <a:latin typeface="微软雅黑" panose="020B0503020204020204" charset="-122"/>
              <a:ea typeface="微软雅黑" panose="020B0503020204020204" charset="-122"/>
            </a:endParaRPr>
          </a:p>
        </p:txBody>
      </p:sp>
      <p:sp>
        <p:nvSpPr>
          <p:cNvPr id="966" name="矩形 965"/>
          <p:cNvSpPr/>
          <p:nvPr/>
        </p:nvSpPr>
        <p:spPr>
          <a:xfrm>
            <a:off x="428625" y="5105400"/>
            <a:ext cx="11430000" cy="390525"/>
          </a:xfrm>
          <a:prstGeom prst="rect">
            <a:avLst/>
          </a:prstGeom>
          <a:solidFill>
            <a:srgbClr val="E8EFF8"/>
          </a:solidFill>
        </p:spPr>
        <p:txBody>
          <a:bodyPr/>
          <a:p/>
        </p:txBody>
      </p:sp>
      <p:sp>
        <p:nvSpPr>
          <p:cNvPr id="967" name="任意多边形 966"/>
          <p:cNvSpPr/>
          <p:nvPr/>
        </p:nvSpPr>
        <p:spPr>
          <a:xfrm>
            <a:off x="381000" y="5105400"/>
            <a:ext cx="11477625" cy="390525"/>
          </a:xfrm>
          <a:custGeom>
            <a:avLst/>
            <a:gdLst/>
            <a:ahLst/>
            <a:cxnLst/>
            <a:pathLst>
              <a:path w="1205" h="41">
                <a:moveTo>
                  <a:pt x="0" y="0"/>
                </a:moveTo>
                <a:lnTo>
                  <a:pt x="5" y="0"/>
                </a:lnTo>
                <a:lnTo>
                  <a:pt x="5" y="41"/>
                </a:lnTo>
                <a:lnTo>
                  <a:pt x="0" y="41"/>
                </a:lnTo>
                <a:close/>
              </a:path>
            </a:pathLst>
          </a:custGeom>
          <a:solidFill>
            <a:srgbClr val="FFC107"/>
          </a:solidFill>
        </p:spPr>
        <p:txBody>
          <a:bodyPr/>
          <a:p/>
        </p:txBody>
      </p:sp>
      <p:sp>
        <p:nvSpPr>
          <p:cNvPr id="968" name="文本框 967" descr="{&quot;isTemplate&quot;:true,&quot;type&quot;:&quot;text&quot;}"/>
          <p:cNvSpPr txBox="1"/>
          <p:nvPr/>
        </p:nvSpPr>
        <p:spPr>
          <a:xfrm>
            <a:off x="600075" y="5191125"/>
            <a:ext cx="11210925" cy="219075"/>
          </a:xfrm>
          <a:prstGeom prst="rect">
            <a:avLst/>
          </a:prstGeom>
        </p:spPr>
        <p:txBody>
          <a:bodyPr wrap="none" lIns="0" tIns="0" rIns="0" bIns="0"/>
          <a:p>
            <a:pPr>
              <a:lnSpc>
                <a:spcPct val="100000"/>
              </a:lnSpc>
            </a:pPr>
            <a:r>
              <a:rPr lang="zh-CN" sz="1425">
                <a:solidFill>
                  <a:srgbClr val="1A2230"/>
                </a:solidFill>
                <a:latin typeface="微软雅黑" panose="020B0503020204020204" charset="-122"/>
                <a:ea typeface="微软雅黑" panose="020B0503020204020204" charset="-122"/>
              </a:rPr>
              <a:t>求解同步输出两个答案：容量多大、边界由谁决定</a:t>
            </a:r>
            <a:endParaRPr lang="zh-CN" sz="1425">
              <a:solidFill>
                <a:srgbClr val="1A2230"/>
              </a:solidFill>
              <a:latin typeface="微软雅黑" panose="020B0503020204020204" charset="-122"/>
              <a:ea typeface="微软雅黑" panose="020B0503020204020204" charset="-122"/>
            </a:endParaRPr>
          </a:p>
        </p:txBody>
      </p:sp>
      <p:sp>
        <p:nvSpPr>
          <p:cNvPr id="969" name="任意多边形 968"/>
          <p:cNvSpPr/>
          <p:nvPr/>
        </p:nvSpPr>
        <p:spPr>
          <a:xfrm>
            <a:off x="0" y="557212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970" name="文本框 969" descr="{&quot;isTemplate&quot;:true,&quot;type&quot;:&quot;text&quot;}"/>
          <p:cNvSpPr txBox="1"/>
          <p:nvPr/>
        </p:nvSpPr>
        <p:spPr>
          <a:xfrm>
            <a:off x="381000" y="568642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971" name="文本框 970" descr="{&quot;isTemplate&quot;:true,&quot;type&quot;:&quot;text&quot;}"/>
          <p:cNvSpPr txBox="1"/>
          <p:nvPr/>
        </p:nvSpPr>
        <p:spPr>
          <a:xfrm>
            <a:off x="11353800" y="568642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26 / 36</a:t>
            </a:r>
            <a:endParaRPr lang="en-US" sz="1050">
              <a:solidFill>
                <a:srgbClr val="1E4FA8"/>
              </a:solidFill>
              <a:latin typeface="微软雅黑" panose="020B0503020204020204" charset="-122"/>
              <a:ea typeface="微软雅黑" panose="020B0503020204020204" charset="-122"/>
            </a:endParaRPr>
          </a:p>
        </p:txBody>
      </p:sp>
      <p:sp>
        <p:nvSpPr>
          <p:cNvPr id="972" name="矩形 971"/>
          <p:cNvSpPr/>
          <p:nvPr/>
        </p:nvSpPr>
        <p:spPr>
          <a:xfrm>
            <a:off x="0" y="685800"/>
            <a:ext cx="57150" cy="1162050"/>
          </a:xfrm>
          <a:prstGeom prst="rect">
            <a:avLst/>
          </a:prstGeom>
          <a:solidFill>
            <a:srgbClr val="C9D6E8"/>
          </a:solidFill>
        </p:spPr>
        <p:txBody>
          <a:bodyPr/>
          <a:p/>
        </p:txBody>
      </p:sp>
      <p:sp>
        <p:nvSpPr>
          <p:cNvPr id="973" name="矩形 972"/>
          <p:cNvSpPr/>
          <p:nvPr/>
        </p:nvSpPr>
        <p:spPr>
          <a:xfrm>
            <a:off x="0" y="1847850"/>
            <a:ext cx="57150" cy="1162050"/>
          </a:xfrm>
          <a:prstGeom prst="rect">
            <a:avLst/>
          </a:prstGeom>
          <a:solidFill>
            <a:srgbClr val="C9D6E8"/>
          </a:solidFill>
        </p:spPr>
        <p:txBody>
          <a:bodyPr/>
          <a:p/>
        </p:txBody>
      </p:sp>
      <p:sp>
        <p:nvSpPr>
          <p:cNvPr id="974" name="矩形 973"/>
          <p:cNvSpPr/>
          <p:nvPr/>
        </p:nvSpPr>
        <p:spPr>
          <a:xfrm>
            <a:off x="0" y="3009900"/>
            <a:ext cx="57150" cy="1162050"/>
          </a:xfrm>
          <a:prstGeom prst="rect">
            <a:avLst/>
          </a:prstGeom>
          <a:solidFill>
            <a:srgbClr val="C9D6E8"/>
          </a:solidFill>
        </p:spPr>
        <p:txBody>
          <a:bodyPr/>
          <a:p/>
        </p:txBody>
      </p:sp>
      <p:sp>
        <p:nvSpPr>
          <p:cNvPr id="975" name="矩形 974"/>
          <p:cNvSpPr/>
          <p:nvPr/>
        </p:nvSpPr>
        <p:spPr>
          <a:xfrm>
            <a:off x="0" y="4171950"/>
            <a:ext cx="57150" cy="1162050"/>
          </a:xfrm>
          <a:prstGeom prst="rect">
            <a:avLst/>
          </a:prstGeom>
          <a:solidFill>
            <a:srgbClr val="FFC107"/>
          </a:solidFill>
        </p:spPr>
        <p:txBody>
          <a:bodyPr/>
          <a:p/>
        </p:txBody>
      </p:sp>
      <p:sp>
        <p:nvSpPr>
          <p:cNvPr id="976" name="矩形 975"/>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977"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wrench' style={{ fill: '#FFC107', width: 22, height: 22 }} /&gt;&#13;&#10;        &lt;/Box&gt;&#13;&#10;            &lt;Text style={{ fontSize: 29, fontWeight: 'bold', color: '#FFFFFF' }}&gt;实验四：干预反事实揭示瓶颈迁移与边际收益转折&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7&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检验 Q3 / H3：先定位最先达到阈值的约束，再逐项解除观察瓶颈迁移；现实化梯度干预量化收益区间&lt;/Text&gt;&#13;&#10;        &lt;/Box&gt;&#13;&#10;        &lt;Box style={{ flexDirection: 'row', gap: 14, height: 218 }}&gt;&#13;&#10;            &lt;Box style={{ flex: 1, background: '#F7F9FC', border: '1px solid #D6DCE5', borderTop: '5px solid #1E4FA8', borderRadius: 6, padding: 14, flexDirection: 'column' }}&gt;&#13;&#10;                &lt;Box style={{ flexDirection: 'row', alignItems: 'center', gap: 8, marginBottom: 6 }}&gt;&#13;&#10;                    &lt;Box style={{ width: 34, height: 34, background: '#1E4FA8', borderRadius: 4, justifyContent: 'center', alignItems: 'center' }}&gt;&#13;&#10;                        &lt;FAIcon name='magnifying-glass-chart' style={{ fill: '#FFFFFF', width: 18, height: 18 }} /&gt;&#13;&#10;                    &lt;/Box&gt;&#13;&#10;                    &lt;Text style={{ fontSize: 21, fontWeight: 'bold', color: '#0E3F8C' }}&gt;主导瓶颈的识别&lt;/Text&gt;&#13;&#10;                &lt;/Box&gt;&#13;&#10;                &lt;Text style={{ fontSize: 17, color: '#1A2230', lineHeight: 1.5 }}&gt;记录各约束剩余裕度，以首先失效者识别主导瓶颈。&lt;/Text&gt;&#13;&#10;                &lt;Box style={{ marginTop: 8, background: '#E8EFF8', borderRadius: 4, padding: 8 }}&gt;&#13;&#10;                    &lt;Text style={{ fontSize: 16, color: '#0E3F8C', lineHeight: 1.4 }}&gt;若多项约束在相近容量区间同时逼近阈值，则定义为共同主导瓶颈&lt;/Text&gt;&#13;&#10;                &lt;/Box&gt;&#13;&#10;            &lt;/Box&gt;&#13;&#10;            &lt;Box style={{ flex: 1, background: '#F7F9FC', border: '1px solid #D6DCE5', borderTop: '5px solid #1E4FA8', borderRadius: 6, padding: 14, flexDirection: 'column' }}&gt;&#13;&#10;                &lt;Box style={{ flexDirection: 'row', alignItems: 'center', gap: 8, marginBottom: 6 }}&gt;&#13;&#10;                    &lt;Box style={{ width: 34, height: 34, background: '#1E4FA8', borderRadius: 4, justifyContent: 'center', alignItems: 'center' }}&gt;&#13;&#10;                        &lt;FAIcon name='sliders' style={{ fill: '#FFFFFF', width: 18, height: 18 }} /&gt;&#13;&#10;                    &lt;/Box&gt;&#13;&#10;                    &lt;Text style={{ fontSize: 21, fontWeight: 'bold', color: '#0E3F8C' }}&gt;覆盖的干预情景&lt;/Text&gt;&#13;&#10;                &lt;/Box&gt;&#13;&#10;                &lt;Text style={{ fontSize: 17, color: '#1A2230', lineHeight: 1.5 }}&gt;水源扩充、设施扩容、再生水深化、储存提高、冷却替换与负荷平滑；边际收益定义为 MB = ΔCAWCC / ΔI。&lt;/Text&gt;&#13;&#10;                &lt;Box style={{ marginTop: 8, background: '#E8EFF8', borderRadius: 4, padding: 8 }}&gt;&#13;&#10;                    &lt;Text style={{ fontSize: 16, color: '#0E3F8C', lineHeight: 1.4 }}&gt;若干预后原约束缓解但新约束迅速逼近，则记为瓶颈迁移&lt;/Text&gt;&#13;&#10;                &lt;/Box&gt;&#13;&#10;            &lt;/Box&gt;&#13;&#10;            &lt;Box style={{ flex: 1, background: '#0E3F8C', borderTop: '5px solid #FFC107', borderRadius: 6, padding: 14, flexDirection: 'column' }}&gt;&#13;&#10;                &lt;Box style={{ flexDirection: 'row', alignItems: 'center', gap: 8, marginBottom: 6 }}&gt;&#13;&#10;                    &lt;Box style={{ width: 34, height: 34, background: '#FFC107', borderRadius: 4, justifyContent: 'center', alignItems: 'center' }}&gt;&#13;&#10;                        &lt;FAIcon name='wrench' style={{ fill: '#0B3A82', width: 18, height: 18 }} /&gt;&#13;&#10;                    &lt;/Box&gt;&#13;&#10;                    &lt;Box style={{ flexDirection: 'row', alignItems: 'center', gap: 8 }}&gt;&#13;&#10;                &lt;FAIcon name='chart-line' style={{ fill: '#FFC107', width: 19, height: 19 }} /&gt;&#13;&#10;                &lt;Text style={{ fontSize: 21, fontWeight: 'bold', color: '#FFFFFF' }}&gt;三类干预区间&lt;/Text&gt;&#13;&#10;            &lt;/Box&gt;&#13;&#10;                &lt;/Box&gt;&#13;&#10;                &lt;Text style={{ fontSize: 17, color: '#E4EDF9', lineHeight: 1.55 }}&gt;·　&lt;span style={{ color: '#FFC107', fontWeight: 'bold' }}&gt;持续有效区&lt;/span&gt;：单位干预带来近似稳定的容量提升&lt;/Text&gt;&#13;&#10;                &lt;Text style={{ fontSize: 17, color: '#E4EDF9', lineHeight: 1.55 }}&gt;·　&lt;span style={{ color: '#FFC107', fontWeight: 'bold' }}&gt;收益递减区&lt;/span&gt;：容量增量随干预规模上升而明显下降&lt;/Text&gt;&#13;&#10;                &lt;Text style={{ fontSize: 17, color: '#E4EDF9', lineHeight: 1.55 }}&gt;·　&lt;span style={{ color: '#FFC107', fontWeight: 'bold' }}&gt;瓶颈迁移区&lt;/span&gt;：继续扩充原瓶颈设施已不再产生实质效益&lt;/Text&gt;&#13;&#10;            &lt;/Box&gt;&#13;&#10;        &lt;/Box&gt;&#13;&#10;        &lt;Box style={{ flexDirection: 'row', gap: 14, height: 190 }}&gt;&#13;&#10;            &lt;Box style={{ flex: 1, background: '#F0F5FC', border: '1px solid #D6DCE5', borderRadius: 6, padding: 14, flexDirection: 'column' }}&gt;&#13;&#10;                &lt;Box style={{ borderLeft: '5px solid #1E4FA8', paddingLeft: 10, marginBottom: 6 }}&gt;&#13;&#10;                    &lt;Box style={{ flexDirection: 'row', alignItems: 'center', gap: 8 }}&gt;&#13;&#10;                &lt;FAIcon name='circle-nodes' style={{ fill: '#1E4FA8', width: 19, height: 19 }} /&gt;&#13;&#10;                &lt;Text style={{ fontSize: 21, fontWeight: 'bold', color: '#0E3F8C' }}&gt;结构化反事实对照的解释方式&lt;/Text&gt;&#13;&#10;            &lt;/Box&gt;&#13;&#10;                &lt;/Box&gt;&#13;&#10;                &lt;Text style={{ fontSize: 17, color: '#1A2230', lineHeight: 1.5 }}&gt;保持气候与需求等参数一致，仅改变设施能力或技术条件，比较干预前后响应，明确&quot;干预—过程—约束转换—CAWCC&quot;作用链。&lt;/Text&gt;&#13;&#10;            &lt;/Box&gt;&#13;&#10;            &lt;Box style={{ flex: 1, background: '#F0F5FC', border: '1px solid #D6DCE5', borderRadius: 6, padding: 14, flexDirection: 'column' }}&gt;&#13;&#10;                &lt;Box style={{ borderLeft: '5px solid #D9534F', paddingLeft: 10, marginBottom: 6 }}&gt;&#13;&#10;                    &lt;Box style={{ flexDirection: 'row', alignItems: 'center', gap: 8 }}&gt;&#13;&#10;                &lt;FAIcon name='triangle-exclamation' style={{ fill: '#0E3F8C', width: 19, height: 19 }} /&gt;&#13;&#10;                &lt;Text style={{ fontSize: 21, fontWeight: 'bold', color: '#1A2230' }}&gt;同步报告的代价项&lt;/Text&gt;&#13;&#10;            &lt;/Box&gt;&#13;&#10;                &lt;/Box&gt;&#13;&#10;                &lt;Text style={{ fontSize: 17, color: '#1A2230', lineHeight: 1.5 }}&gt;结果表述为条件化机制结论，同时报告干预的能耗、成本与水质代价。&lt;/Text&gt;&#13;&#10;            &lt;/Box&gt;&#13;&#10;        &lt;/Box&gt;&#13;&#10;        &lt;Box style={{ background: '#E8EFF8', borderLeft: '5px solid #1E4FA8', paddingLeft: 18, paddingTop: 10, paddingBottom: 10 }}&gt;&#13;&#10;            &lt;Text style={{ fontSize: 19, color: '#1A2230', lineHeight: 1.4 }}&gt;实验四形成&quot;状态—容量—瓶颈&quot;图谱，回答扩容是否仍有效、下一步扩在哪里&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7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978" name="矩形 977"/>
          <p:cNvSpPr/>
          <p:nvPr/>
        </p:nvSpPr>
        <p:spPr>
          <a:xfrm>
            <a:off x="0" y="0"/>
            <a:ext cx="12192000" cy="6858000"/>
          </a:xfrm>
          <a:prstGeom prst="rect">
            <a:avLst/>
          </a:prstGeom>
          <a:solidFill>
            <a:srgbClr val="FFFFFF"/>
          </a:solidFill>
        </p:spPr>
        <p:txBody>
          <a:bodyPr/>
          <a:p/>
        </p:txBody>
      </p:sp>
      <p:sp>
        <p:nvSpPr>
          <p:cNvPr id="979" name="矩形 978"/>
          <p:cNvSpPr/>
          <p:nvPr/>
        </p:nvSpPr>
        <p:spPr>
          <a:xfrm>
            <a:off x="0" y="0"/>
            <a:ext cx="12192000" cy="685800"/>
          </a:xfrm>
          <a:prstGeom prst="rect">
            <a:avLst/>
          </a:prstGeom>
          <a:solidFill>
            <a:srgbClr val="0E3F8C"/>
          </a:solidFill>
        </p:spPr>
        <p:txBody>
          <a:bodyPr/>
          <a:p/>
        </p:txBody>
      </p:sp>
      <p:sp>
        <p:nvSpPr>
          <p:cNvPr id="980" name="圆角矩形 979"/>
          <p:cNvSpPr/>
          <p:nvPr/>
        </p:nvSpPr>
        <p:spPr>
          <a:xfrm>
            <a:off x="381000" y="152400"/>
            <a:ext cx="381000" cy="381000"/>
          </a:xfrm>
          <a:prstGeom prst="roundRect">
            <a:avLst>
              <a:gd name="adj" fmla="val 25000"/>
            </a:avLst>
          </a:prstGeom>
          <a:solidFill>
            <a:srgbClr val="12489A"/>
          </a:solidFill>
        </p:spPr>
        <p:txBody>
          <a:bodyPr/>
          <a:p/>
        </p:txBody>
      </p:sp>
      <p:pic>
        <p:nvPicPr>
          <p:cNvPr id="981" name="图片 980"/>
          <p:cNvPicPr>
            <a:picLocks noChangeAspect="1"/>
          </p:cNvPicPr>
          <p:nvPr/>
        </p:nvPicPr>
        <p:blipFill>
          <a:blip/>
          <a:stretch>
            <a:fillRect/>
          </a:stretch>
        </p:blipFill>
        <p:spPr>
          <a:xfrm>
            <a:off x="466725" y="238125"/>
            <a:ext cx="209550" cy="209550"/>
          </a:xfrm>
          <a:prstGeom prst="rect">
            <a:avLst/>
          </a:prstGeom>
        </p:spPr>
      </p:pic>
      <p:sp>
        <p:nvSpPr>
          <p:cNvPr id="982" name="文本框 981" descr="{&quot;isTemplate&quot;:true,&quot;type&quot;:&quot;text&quot;}"/>
          <p:cNvSpPr txBox="1"/>
          <p:nvPr/>
        </p:nvSpPr>
        <p:spPr>
          <a:xfrm>
            <a:off x="895350" y="180975"/>
            <a:ext cx="607695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实验四：干预反事实揭示瓶颈迁移与边际收益转折</a:t>
            </a:r>
            <a:endParaRPr lang="zh-CN" sz="2175" b="1">
              <a:solidFill>
                <a:srgbClr val="FFFFFF"/>
              </a:solidFill>
              <a:latin typeface="微软雅黑" panose="020B0503020204020204" charset="-122"/>
              <a:ea typeface="微软雅黑" panose="020B0503020204020204" charset="-122"/>
            </a:endParaRPr>
          </a:p>
        </p:txBody>
      </p:sp>
      <p:sp>
        <p:nvSpPr>
          <p:cNvPr id="983" name="文本框 982"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984" name="圆角矩形 983"/>
          <p:cNvSpPr/>
          <p:nvPr/>
        </p:nvSpPr>
        <p:spPr>
          <a:xfrm>
            <a:off x="11468100" y="238125"/>
            <a:ext cx="342900" cy="219075"/>
          </a:xfrm>
          <a:prstGeom prst="roundRect">
            <a:avLst>
              <a:gd name="adj" fmla="val 13043"/>
            </a:avLst>
          </a:prstGeom>
          <a:solidFill>
            <a:srgbClr val="FFC107"/>
          </a:solidFill>
        </p:spPr>
        <p:txBody>
          <a:bodyPr/>
          <a:p/>
        </p:txBody>
      </p:sp>
      <p:sp>
        <p:nvSpPr>
          <p:cNvPr id="985" name="文本框 984"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27</a:t>
            </a:r>
            <a:endParaRPr lang="en-US" sz="1050" b="1">
              <a:solidFill>
                <a:srgbClr val="0B3A82"/>
              </a:solidFill>
              <a:latin typeface="微软雅黑" panose="020B0503020204020204" charset="-122"/>
              <a:ea typeface="微软雅黑" panose="020B0503020204020204" charset="-122"/>
            </a:endParaRPr>
          </a:p>
        </p:txBody>
      </p:sp>
      <p:sp>
        <p:nvSpPr>
          <p:cNvPr id="986" name="圆角矩形 985"/>
          <p:cNvSpPr/>
          <p:nvPr/>
        </p:nvSpPr>
        <p:spPr>
          <a:xfrm>
            <a:off x="381000" y="800100"/>
            <a:ext cx="11430000" cy="438150"/>
          </a:xfrm>
          <a:prstGeom prst="roundRect">
            <a:avLst>
              <a:gd name="adj" fmla="val 8696"/>
            </a:avLst>
          </a:prstGeom>
          <a:solidFill>
            <a:srgbClr val="0B3A82"/>
          </a:solidFill>
        </p:spPr>
        <p:txBody>
          <a:bodyPr/>
          <a:p/>
        </p:txBody>
      </p:sp>
      <p:sp>
        <p:nvSpPr>
          <p:cNvPr id="987" name="文本框 986"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检验</a:t>
            </a:r>
            <a:r>
              <a:rPr lang="en-US" sz="1575">
                <a:solidFill>
                  <a:srgbClr val="FFFFFF"/>
                </a:solidFill>
                <a:latin typeface="微软雅黑" panose="020B0503020204020204" charset="-122"/>
                <a:ea typeface="微软雅黑" panose="020B0503020204020204" charset="-122"/>
              </a:rPr>
              <a:t> Q3 / H3</a:t>
            </a:r>
            <a:r>
              <a:rPr lang="zh-CN" sz="1575">
                <a:solidFill>
                  <a:srgbClr val="FFFFFF"/>
                </a:solidFill>
                <a:latin typeface="微软雅黑" panose="020B0503020204020204" charset="-122"/>
                <a:ea typeface="微软雅黑" panose="020B0503020204020204" charset="-122"/>
              </a:rPr>
              <a:t>：先定位最先达到阈值的约束，再逐项解除观察瓶颈迁移；现实化梯度干预量化收益区间</a:t>
            </a:r>
            <a:endParaRPr lang="zh-CN" sz="1575">
              <a:solidFill>
                <a:srgbClr val="FFFFFF"/>
              </a:solidFill>
              <a:latin typeface="微软雅黑" panose="020B0503020204020204" charset="-122"/>
              <a:ea typeface="微软雅黑" panose="020B0503020204020204" charset="-122"/>
            </a:endParaRPr>
          </a:p>
        </p:txBody>
      </p:sp>
      <p:sp>
        <p:nvSpPr>
          <p:cNvPr id="988" name="圆角矩形 987"/>
          <p:cNvSpPr/>
          <p:nvPr/>
        </p:nvSpPr>
        <p:spPr>
          <a:xfrm>
            <a:off x="381000" y="1400175"/>
            <a:ext cx="3724275" cy="2076450"/>
          </a:xfrm>
          <a:prstGeom prst="roundRect">
            <a:avLst>
              <a:gd name="adj" fmla="val 2752"/>
            </a:avLst>
          </a:prstGeom>
          <a:solidFill>
            <a:srgbClr val="F7F9FC"/>
          </a:solidFill>
        </p:spPr>
        <p:txBody>
          <a:bodyPr/>
          <a:p/>
        </p:txBody>
      </p:sp>
      <p:sp>
        <p:nvSpPr>
          <p:cNvPr id="989" name="任意多边形 988"/>
          <p:cNvSpPr/>
          <p:nvPr/>
        </p:nvSpPr>
        <p:spPr>
          <a:xfrm>
            <a:off x="381000" y="1400175"/>
            <a:ext cx="3724275" cy="2076450"/>
          </a:xfrm>
          <a:custGeom>
            <a:avLst/>
            <a:gdLst/>
            <a:ahLst/>
            <a:cxnLst/>
            <a:pathLst>
              <a:path w="391" h="218">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990" name="圆角矩形 989"/>
          <p:cNvSpPr/>
          <p:nvPr/>
        </p:nvSpPr>
        <p:spPr>
          <a:xfrm>
            <a:off x="514350" y="1533525"/>
            <a:ext cx="323850" cy="323850"/>
          </a:xfrm>
          <a:prstGeom prst="roundRect">
            <a:avLst>
              <a:gd name="adj" fmla="val 11765"/>
            </a:avLst>
          </a:prstGeom>
          <a:solidFill>
            <a:srgbClr val="1E4FA8"/>
          </a:solidFill>
        </p:spPr>
        <p:txBody>
          <a:bodyPr/>
          <a:p/>
        </p:txBody>
      </p:sp>
      <p:pic>
        <p:nvPicPr>
          <p:cNvPr id="991" name="图片 990"/>
          <p:cNvPicPr>
            <a:picLocks noChangeAspect="1"/>
          </p:cNvPicPr>
          <p:nvPr/>
        </p:nvPicPr>
        <p:blipFill>
          <a:blip/>
          <a:stretch>
            <a:fillRect/>
          </a:stretch>
        </p:blipFill>
        <p:spPr>
          <a:xfrm>
            <a:off x="590550" y="1609725"/>
            <a:ext cx="171450" cy="171450"/>
          </a:xfrm>
          <a:prstGeom prst="rect">
            <a:avLst/>
          </a:prstGeom>
        </p:spPr>
      </p:pic>
      <p:sp>
        <p:nvSpPr>
          <p:cNvPr id="992" name="文本框 991" descr="{&quot;isTemplate&quot;:true,&quot;type&quot;:&quot;text&quot;}"/>
          <p:cNvSpPr txBox="1"/>
          <p:nvPr/>
        </p:nvSpPr>
        <p:spPr>
          <a:xfrm>
            <a:off x="914400" y="1571625"/>
            <a:ext cx="140017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主导瓶颈的识别</a:t>
            </a:r>
            <a:endParaRPr lang="zh-CN" sz="1575" b="1">
              <a:solidFill>
                <a:srgbClr val="0E3F8C"/>
              </a:solidFill>
              <a:latin typeface="微软雅黑" panose="020B0503020204020204" charset="-122"/>
              <a:ea typeface="微软雅黑" panose="020B0503020204020204" charset="-122"/>
            </a:endParaRPr>
          </a:p>
        </p:txBody>
      </p:sp>
      <p:sp>
        <p:nvSpPr>
          <p:cNvPr id="993" name="文本框 992" descr="{&quot;isTemplate&quot;:true,&quot;type&quot;:&quot;text&quot;}"/>
          <p:cNvSpPr txBox="1"/>
          <p:nvPr/>
        </p:nvSpPr>
        <p:spPr>
          <a:xfrm>
            <a:off x="514350" y="1914525"/>
            <a:ext cx="345757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记录各约束剩余裕度，以首先失效者识别主导瓶颈。</a:t>
            </a:r>
            <a:endParaRPr lang="zh-CN" sz="1275">
              <a:solidFill>
                <a:srgbClr val="1A2230"/>
              </a:solidFill>
              <a:latin typeface="微软雅黑" panose="020B0503020204020204" charset="-122"/>
              <a:ea typeface="微软雅黑" panose="020B0503020204020204" charset="-122"/>
            </a:endParaRPr>
          </a:p>
        </p:txBody>
      </p:sp>
      <p:sp>
        <p:nvSpPr>
          <p:cNvPr id="994" name="圆角矩形 993"/>
          <p:cNvSpPr/>
          <p:nvPr/>
        </p:nvSpPr>
        <p:spPr>
          <a:xfrm>
            <a:off x="514350" y="2581275"/>
            <a:ext cx="3457575" cy="666750"/>
          </a:xfrm>
          <a:prstGeom prst="roundRect">
            <a:avLst>
              <a:gd name="adj" fmla="val 5714"/>
            </a:avLst>
          </a:prstGeom>
          <a:solidFill>
            <a:srgbClr val="E8EFF8"/>
          </a:solidFill>
        </p:spPr>
        <p:txBody>
          <a:bodyPr/>
          <a:p/>
        </p:txBody>
      </p:sp>
      <p:sp>
        <p:nvSpPr>
          <p:cNvPr id="995" name="文本框 994" descr="{&quot;isTemplate&quot;:true,&quot;type&quot;:&quot;text&quot;}"/>
          <p:cNvSpPr txBox="1"/>
          <p:nvPr/>
        </p:nvSpPr>
        <p:spPr>
          <a:xfrm>
            <a:off x="590550" y="2657475"/>
            <a:ext cx="3305175" cy="514350"/>
          </a:xfrm>
          <a:prstGeom prst="rect">
            <a:avLst/>
          </a:prstGeom>
        </p:spPr>
        <p:txBody>
          <a:bodyPr wrap="square" lIns="0" tIns="0" rIns="0" bIns="0">
            <a:normAutofit/>
          </a:bodyPr>
          <a:p>
            <a:pPr>
              <a:lnSpc>
                <a:spcPct val="140000"/>
              </a:lnSpc>
            </a:pPr>
            <a:r>
              <a:rPr lang="zh-CN" sz="1200">
                <a:solidFill>
                  <a:srgbClr val="0E3F8C"/>
                </a:solidFill>
                <a:latin typeface="微软雅黑" panose="020B0503020204020204" charset="-122"/>
                <a:ea typeface="微软雅黑" panose="020B0503020204020204" charset="-122"/>
              </a:rPr>
              <a:t>若多项约束在相近容量区间同时逼近阈值，则定义为共同主导瓶颈</a:t>
            </a:r>
            <a:endParaRPr lang="zh-CN" sz="1200">
              <a:solidFill>
                <a:srgbClr val="0E3F8C"/>
              </a:solidFill>
              <a:latin typeface="微软雅黑" panose="020B0503020204020204" charset="-122"/>
              <a:ea typeface="微软雅黑" panose="020B0503020204020204" charset="-122"/>
            </a:endParaRPr>
          </a:p>
        </p:txBody>
      </p:sp>
      <p:sp>
        <p:nvSpPr>
          <p:cNvPr id="996" name="圆角矩形 995"/>
          <p:cNvSpPr/>
          <p:nvPr/>
        </p:nvSpPr>
        <p:spPr>
          <a:xfrm>
            <a:off x="4238625" y="1400175"/>
            <a:ext cx="3714750" cy="2314575"/>
          </a:xfrm>
          <a:prstGeom prst="roundRect">
            <a:avLst>
              <a:gd name="adj" fmla="val 2469"/>
            </a:avLst>
          </a:prstGeom>
          <a:solidFill>
            <a:srgbClr val="F7F9FC"/>
          </a:solidFill>
        </p:spPr>
        <p:txBody>
          <a:bodyPr/>
          <a:p/>
        </p:txBody>
      </p:sp>
      <p:sp>
        <p:nvSpPr>
          <p:cNvPr id="997" name="任意多边形 996"/>
          <p:cNvSpPr/>
          <p:nvPr/>
        </p:nvSpPr>
        <p:spPr>
          <a:xfrm>
            <a:off x="4238625" y="1400175"/>
            <a:ext cx="3714750" cy="2314575"/>
          </a:xfrm>
          <a:custGeom>
            <a:avLst/>
            <a:gdLst/>
            <a:ahLst/>
            <a:cxnLst/>
            <a:pathLst>
              <a:path w="390" h="243">
                <a:moveTo>
                  <a:pt x="384" y="0"/>
                </a:moveTo>
                <a:cubicBezTo>
                  <a:pt x="387" y="0"/>
                  <a:pt x="390" y="3"/>
                  <a:pt x="390" y="6"/>
                </a:cubicBezTo>
                <a:cubicBezTo>
                  <a:pt x="390" y="5"/>
                  <a:pt x="389" y="5"/>
                  <a:pt x="389" y="5"/>
                </a:cubicBezTo>
                <a:lnTo>
                  <a:pt x="1" y="5"/>
                </a:lnTo>
                <a:cubicBezTo>
                  <a:pt x="0" y="5"/>
                  <a:pt x="0" y="5"/>
                  <a:pt x="0" y="6"/>
                </a:cubicBezTo>
                <a:cubicBezTo>
                  <a:pt x="0" y="3"/>
                  <a:pt x="3" y="0"/>
                  <a:pt x="6" y="0"/>
                </a:cubicBezTo>
                <a:lnTo>
                  <a:pt x="384" y="0"/>
                </a:lnTo>
                <a:close/>
              </a:path>
            </a:pathLst>
          </a:custGeom>
          <a:solidFill>
            <a:srgbClr val="1E4FA8"/>
          </a:solidFill>
        </p:spPr>
        <p:txBody>
          <a:bodyPr/>
          <a:p/>
        </p:txBody>
      </p:sp>
      <p:sp>
        <p:nvSpPr>
          <p:cNvPr id="998" name="圆角矩形 997"/>
          <p:cNvSpPr/>
          <p:nvPr/>
        </p:nvSpPr>
        <p:spPr>
          <a:xfrm>
            <a:off x="4371975" y="1533525"/>
            <a:ext cx="323850" cy="323850"/>
          </a:xfrm>
          <a:prstGeom prst="roundRect">
            <a:avLst>
              <a:gd name="adj" fmla="val 11765"/>
            </a:avLst>
          </a:prstGeom>
          <a:solidFill>
            <a:srgbClr val="1E4FA8"/>
          </a:solidFill>
        </p:spPr>
        <p:txBody>
          <a:bodyPr/>
          <a:p/>
        </p:txBody>
      </p:sp>
      <p:pic>
        <p:nvPicPr>
          <p:cNvPr id="999" name="图片 998"/>
          <p:cNvPicPr>
            <a:picLocks noChangeAspect="1"/>
          </p:cNvPicPr>
          <p:nvPr/>
        </p:nvPicPr>
        <p:blipFill>
          <a:blip/>
          <a:stretch>
            <a:fillRect/>
          </a:stretch>
        </p:blipFill>
        <p:spPr>
          <a:xfrm>
            <a:off x="4448175" y="1609725"/>
            <a:ext cx="171450" cy="171450"/>
          </a:xfrm>
          <a:prstGeom prst="rect">
            <a:avLst/>
          </a:prstGeom>
        </p:spPr>
      </p:pic>
      <p:sp>
        <p:nvSpPr>
          <p:cNvPr id="1000" name="文本框 999" descr="{&quot;isTemplate&quot;:true,&quot;type&quot;:&quot;text&quot;}"/>
          <p:cNvSpPr txBox="1"/>
          <p:nvPr/>
        </p:nvSpPr>
        <p:spPr>
          <a:xfrm>
            <a:off x="4772025" y="1571625"/>
            <a:ext cx="140017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覆盖的干预情景</a:t>
            </a:r>
            <a:endParaRPr lang="zh-CN" sz="1575" b="1">
              <a:solidFill>
                <a:srgbClr val="0E3F8C"/>
              </a:solidFill>
              <a:latin typeface="微软雅黑" panose="020B0503020204020204" charset="-122"/>
              <a:ea typeface="微软雅黑" panose="020B0503020204020204" charset="-122"/>
            </a:endParaRPr>
          </a:p>
        </p:txBody>
      </p:sp>
      <p:sp>
        <p:nvSpPr>
          <p:cNvPr id="1001" name="文本框 1000" descr="{&quot;isTemplate&quot;:true,&quot;type&quot;:&quot;text&quot;}"/>
          <p:cNvSpPr txBox="1"/>
          <p:nvPr/>
        </p:nvSpPr>
        <p:spPr>
          <a:xfrm>
            <a:off x="4371975" y="1914525"/>
            <a:ext cx="3448050" cy="87630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水源扩充、设施扩容、再生水深化、储存提高、冷却替换与负荷平滑；边际收益定义为</a:t>
            </a:r>
            <a:r>
              <a:rPr lang="en-US" sz="1275">
                <a:solidFill>
                  <a:srgbClr val="1A2230"/>
                </a:solidFill>
                <a:latin typeface="微软雅黑" panose="020B0503020204020204" charset="-122"/>
                <a:ea typeface="微软雅黑" panose="020B0503020204020204" charset="-122"/>
              </a:rPr>
              <a:t> MB = ΔCAWCC / ΔI</a:t>
            </a:r>
            <a:r>
              <a:rPr lang="zh-CN" sz="1275">
                <a:solidFill>
                  <a:srgbClr val="1A2230"/>
                </a:solidFill>
                <a:latin typeface="微软雅黑" panose="020B0503020204020204" charset="-122"/>
                <a:ea typeface="微软雅黑" panose="020B0503020204020204" charset="-122"/>
              </a:rPr>
              <a:t>。</a:t>
            </a:r>
            <a:endParaRPr lang="zh-CN" sz="1275">
              <a:solidFill>
                <a:srgbClr val="1A2230"/>
              </a:solidFill>
              <a:latin typeface="微软雅黑" panose="020B0503020204020204" charset="-122"/>
              <a:ea typeface="微软雅黑" panose="020B0503020204020204" charset="-122"/>
            </a:endParaRPr>
          </a:p>
        </p:txBody>
      </p:sp>
      <p:sp>
        <p:nvSpPr>
          <p:cNvPr id="1002" name="圆角矩形 1001"/>
          <p:cNvSpPr/>
          <p:nvPr/>
        </p:nvSpPr>
        <p:spPr>
          <a:xfrm>
            <a:off x="4371975" y="2867025"/>
            <a:ext cx="3448050" cy="666750"/>
          </a:xfrm>
          <a:prstGeom prst="roundRect">
            <a:avLst>
              <a:gd name="adj" fmla="val 5714"/>
            </a:avLst>
          </a:prstGeom>
          <a:solidFill>
            <a:srgbClr val="E8EFF8"/>
          </a:solidFill>
        </p:spPr>
        <p:txBody>
          <a:bodyPr/>
          <a:p/>
        </p:txBody>
      </p:sp>
      <p:sp>
        <p:nvSpPr>
          <p:cNvPr id="1003" name="文本框 1002" descr="{&quot;isTemplate&quot;:true,&quot;type&quot;:&quot;text&quot;}"/>
          <p:cNvSpPr txBox="1"/>
          <p:nvPr/>
        </p:nvSpPr>
        <p:spPr>
          <a:xfrm>
            <a:off x="4448175" y="2943225"/>
            <a:ext cx="3295650" cy="514350"/>
          </a:xfrm>
          <a:prstGeom prst="rect">
            <a:avLst/>
          </a:prstGeom>
        </p:spPr>
        <p:txBody>
          <a:bodyPr wrap="square" lIns="0" tIns="0" rIns="0" bIns="0">
            <a:normAutofit/>
          </a:bodyPr>
          <a:p>
            <a:pPr>
              <a:lnSpc>
                <a:spcPct val="140000"/>
              </a:lnSpc>
            </a:pPr>
            <a:r>
              <a:rPr lang="zh-CN" sz="1200">
                <a:solidFill>
                  <a:srgbClr val="0E3F8C"/>
                </a:solidFill>
                <a:latin typeface="微软雅黑" panose="020B0503020204020204" charset="-122"/>
                <a:ea typeface="微软雅黑" panose="020B0503020204020204" charset="-122"/>
              </a:rPr>
              <a:t>若干预后原约束缓解但新约束迅速逼近，则记为瓶颈迁移</a:t>
            </a:r>
            <a:endParaRPr lang="zh-CN" sz="1200">
              <a:solidFill>
                <a:srgbClr val="0E3F8C"/>
              </a:solidFill>
              <a:latin typeface="微软雅黑" panose="020B0503020204020204" charset="-122"/>
              <a:ea typeface="微软雅黑" panose="020B0503020204020204" charset="-122"/>
            </a:endParaRPr>
          </a:p>
        </p:txBody>
      </p:sp>
      <p:sp>
        <p:nvSpPr>
          <p:cNvPr id="1004" name="圆角矩形 1003"/>
          <p:cNvSpPr/>
          <p:nvPr/>
        </p:nvSpPr>
        <p:spPr>
          <a:xfrm>
            <a:off x="8086725" y="1400175"/>
            <a:ext cx="3724275" cy="2524125"/>
          </a:xfrm>
          <a:prstGeom prst="roundRect">
            <a:avLst>
              <a:gd name="adj" fmla="val 2264"/>
            </a:avLst>
          </a:prstGeom>
          <a:solidFill>
            <a:srgbClr val="0E3F8C"/>
          </a:solidFill>
        </p:spPr>
        <p:txBody>
          <a:bodyPr/>
          <a:p/>
        </p:txBody>
      </p:sp>
      <p:sp>
        <p:nvSpPr>
          <p:cNvPr id="1005" name="任意多边形 1004"/>
          <p:cNvSpPr/>
          <p:nvPr/>
        </p:nvSpPr>
        <p:spPr>
          <a:xfrm>
            <a:off x="8086725" y="1400175"/>
            <a:ext cx="3724275" cy="2524125"/>
          </a:xfrm>
          <a:custGeom>
            <a:avLst/>
            <a:gdLst/>
            <a:ahLst/>
            <a:cxnLst/>
            <a:pathLst>
              <a:path w="391" h="265">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FFC107"/>
          </a:solidFill>
        </p:spPr>
        <p:txBody>
          <a:bodyPr/>
          <a:p/>
        </p:txBody>
      </p:sp>
      <p:sp>
        <p:nvSpPr>
          <p:cNvPr id="1006" name="圆角矩形 1005"/>
          <p:cNvSpPr/>
          <p:nvPr/>
        </p:nvSpPr>
        <p:spPr>
          <a:xfrm>
            <a:off x="8220075" y="1533525"/>
            <a:ext cx="323850" cy="323850"/>
          </a:xfrm>
          <a:prstGeom prst="roundRect">
            <a:avLst>
              <a:gd name="adj" fmla="val 11765"/>
            </a:avLst>
          </a:prstGeom>
          <a:solidFill>
            <a:srgbClr val="FFC107"/>
          </a:solidFill>
        </p:spPr>
        <p:txBody>
          <a:bodyPr/>
          <a:p/>
        </p:txBody>
      </p:sp>
      <p:pic>
        <p:nvPicPr>
          <p:cNvPr id="1007" name="图片 1006"/>
          <p:cNvPicPr>
            <a:picLocks noChangeAspect="1"/>
          </p:cNvPicPr>
          <p:nvPr/>
        </p:nvPicPr>
        <p:blipFill>
          <a:blip/>
          <a:stretch>
            <a:fillRect/>
          </a:stretch>
        </p:blipFill>
        <p:spPr>
          <a:xfrm>
            <a:off x="8296275" y="1609725"/>
            <a:ext cx="171450" cy="171450"/>
          </a:xfrm>
          <a:prstGeom prst="rect">
            <a:avLst/>
          </a:prstGeom>
        </p:spPr>
      </p:pic>
      <p:pic>
        <p:nvPicPr>
          <p:cNvPr id="1008" name="图片 1007"/>
          <p:cNvPicPr>
            <a:picLocks noChangeAspect="1"/>
          </p:cNvPicPr>
          <p:nvPr/>
        </p:nvPicPr>
        <p:blipFill>
          <a:blip/>
          <a:stretch>
            <a:fillRect/>
          </a:stretch>
        </p:blipFill>
        <p:spPr>
          <a:xfrm>
            <a:off x="8620125" y="1609725"/>
            <a:ext cx="180975" cy="180975"/>
          </a:xfrm>
          <a:prstGeom prst="rect">
            <a:avLst/>
          </a:prstGeom>
        </p:spPr>
      </p:pic>
      <p:sp>
        <p:nvSpPr>
          <p:cNvPr id="1009" name="文本框 1008" descr="{&quot;isTemplate&quot;:true,&quot;type&quot;:&quot;text&quot;}"/>
          <p:cNvSpPr txBox="1"/>
          <p:nvPr/>
        </p:nvSpPr>
        <p:spPr>
          <a:xfrm>
            <a:off x="8877300" y="1571625"/>
            <a:ext cx="1200150" cy="247650"/>
          </a:xfrm>
          <a:prstGeom prst="rect">
            <a:avLst/>
          </a:prstGeom>
        </p:spPr>
        <p:txBody>
          <a:bodyPr wrap="none" lIns="0" tIns="0" rIns="0" bIns="0"/>
          <a:p>
            <a:pPr>
              <a:lnSpc>
                <a:spcPct val="100000"/>
              </a:lnSpc>
            </a:pPr>
            <a:r>
              <a:rPr lang="zh-CN" sz="1575" b="1">
                <a:solidFill>
                  <a:srgbClr val="FFFFFF"/>
                </a:solidFill>
                <a:latin typeface="微软雅黑" panose="020B0503020204020204" charset="-122"/>
                <a:ea typeface="微软雅黑" panose="020B0503020204020204" charset="-122"/>
              </a:rPr>
              <a:t>三类干预区间</a:t>
            </a:r>
            <a:endParaRPr lang="zh-CN" sz="1575" b="1">
              <a:solidFill>
                <a:srgbClr val="FFFFFF"/>
              </a:solidFill>
              <a:latin typeface="微软雅黑" panose="020B0503020204020204" charset="-122"/>
              <a:ea typeface="微软雅黑" panose="020B0503020204020204" charset="-122"/>
            </a:endParaRPr>
          </a:p>
        </p:txBody>
      </p:sp>
      <p:sp>
        <p:nvSpPr>
          <p:cNvPr id="1010" name="文本框 1009" descr="{&quot;isTemplate&quot;:true,&quot;type&quot;:&quot;text&quot;}"/>
          <p:cNvSpPr txBox="1"/>
          <p:nvPr/>
        </p:nvSpPr>
        <p:spPr>
          <a:xfrm>
            <a:off x="8220075" y="1914525"/>
            <a:ext cx="3457575" cy="609600"/>
          </a:xfrm>
          <a:prstGeom prst="rect">
            <a:avLst/>
          </a:prstGeom>
        </p:spPr>
        <p:txBody>
          <a:bodyPr wrap="square" lIns="0" tIns="0" rIns="0" bIns="0">
            <a:normAutofit/>
          </a:bodyPr>
          <a:p>
            <a:pPr>
              <a:lnSpc>
                <a:spcPct val="155000"/>
              </a:lnSpc>
            </a:pPr>
            <a:r>
              <a:rPr lang="zh-CN" sz="1275">
                <a:solidFill>
                  <a:srgbClr val="E4EDF9"/>
                </a:solidFill>
                <a:latin typeface="微软雅黑" panose="020B0503020204020204" charset="-122"/>
                <a:ea typeface="微软雅黑" panose="020B0503020204020204" charset="-122"/>
              </a:rPr>
              <a:t>·　</a:t>
            </a:r>
            <a:r>
              <a:rPr lang="zh-CN" sz="1275" b="1">
                <a:solidFill>
                  <a:srgbClr val="FFC107"/>
                </a:solidFill>
                <a:latin typeface="微软雅黑" panose="020B0503020204020204" charset="-122"/>
                <a:ea typeface="微软雅黑" panose="020B0503020204020204" charset="-122"/>
              </a:rPr>
              <a:t>持续有效区</a:t>
            </a:r>
            <a:r>
              <a:rPr lang="zh-CN" sz="1275">
                <a:solidFill>
                  <a:srgbClr val="E4EDF9"/>
                </a:solidFill>
                <a:latin typeface="微软雅黑" panose="020B0503020204020204" charset="-122"/>
                <a:ea typeface="微软雅黑" panose="020B0503020204020204" charset="-122"/>
              </a:rPr>
              <a:t>：单位干预带来近似稳定的容量提升</a:t>
            </a:r>
            <a:endParaRPr lang="zh-CN" sz="1275">
              <a:solidFill>
                <a:srgbClr val="E4EDF9"/>
              </a:solidFill>
              <a:latin typeface="微软雅黑" panose="020B0503020204020204" charset="-122"/>
              <a:ea typeface="微软雅黑" panose="020B0503020204020204" charset="-122"/>
            </a:endParaRPr>
          </a:p>
        </p:txBody>
      </p:sp>
      <p:sp>
        <p:nvSpPr>
          <p:cNvPr id="1011" name="文本框 1010" descr="{&quot;isTemplate&quot;:true,&quot;type&quot;:&quot;text&quot;}"/>
          <p:cNvSpPr txBox="1"/>
          <p:nvPr/>
        </p:nvSpPr>
        <p:spPr>
          <a:xfrm>
            <a:off x="8220075" y="2524125"/>
            <a:ext cx="3457575" cy="609600"/>
          </a:xfrm>
          <a:prstGeom prst="rect">
            <a:avLst/>
          </a:prstGeom>
        </p:spPr>
        <p:txBody>
          <a:bodyPr wrap="square" lIns="0" tIns="0" rIns="0" bIns="0">
            <a:normAutofit/>
          </a:bodyPr>
          <a:p>
            <a:pPr>
              <a:lnSpc>
                <a:spcPct val="155000"/>
              </a:lnSpc>
            </a:pPr>
            <a:r>
              <a:rPr lang="zh-CN" sz="1275">
                <a:solidFill>
                  <a:srgbClr val="E4EDF9"/>
                </a:solidFill>
                <a:latin typeface="微软雅黑" panose="020B0503020204020204" charset="-122"/>
                <a:ea typeface="微软雅黑" panose="020B0503020204020204" charset="-122"/>
              </a:rPr>
              <a:t>·　</a:t>
            </a:r>
            <a:r>
              <a:rPr lang="zh-CN" sz="1275" b="1">
                <a:solidFill>
                  <a:srgbClr val="FFC107"/>
                </a:solidFill>
                <a:latin typeface="微软雅黑" panose="020B0503020204020204" charset="-122"/>
                <a:ea typeface="微软雅黑" panose="020B0503020204020204" charset="-122"/>
              </a:rPr>
              <a:t>收益递减区</a:t>
            </a:r>
            <a:r>
              <a:rPr lang="zh-CN" sz="1275">
                <a:solidFill>
                  <a:srgbClr val="E4EDF9"/>
                </a:solidFill>
                <a:latin typeface="微软雅黑" panose="020B0503020204020204" charset="-122"/>
                <a:ea typeface="微软雅黑" panose="020B0503020204020204" charset="-122"/>
              </a:rPr>
              <a:t>：容量增量随干预规模上升而明显下降</a:t>
            </a:r>
            <a:endParaRPr lang="zh-CN" sz="1275">
              <a:solidFill>
                <a:srgbClr val="E4EDF9"/>
              </a:solidFill>
              <a:latin typeface="微软雅黑" panose="020B0503020204020204" charset="-122"/>
              <a:ea typeface="微软雅黑" panose="020B0503020204020204" charset="-122"/>
            </a:endParaRPr>
          </a:p>
        </p:txBody>
      </p:sp>
      <p:sp>
        <p:nvSpPr>
          <p:cNvPr id="1012" name="文本框 1011" descr="{&quot;isTemplate&quot;:true,&quot;type&quot;:&quot;text&quot;}"/>
          <p:cNvSpPr txBox="1"/>
          <p:nvPr/>
        </p:nvSpPr>
        <p:spPr>
          <a:xfrm>
            <a:off x="8220075" y="3133725"/>
            <a:ext cx="3457575" cy="609600"/>
          </a:xfrm>
          <a:prstGeom prst="rect">
            <a:avLst/>
          </a:prstGeom>
        </p:spPr>
        <p:txBody>
          <a:bodyPr wrap="square" lIns="0" tIns="0" rIns="0" bIns="0">
            <a:normAutofit/>
          </a:bodyPr>
          <a:p>
            <a:pPr>
              <a:lnSpc>
                <a:spcPct val="155000"/>
              </a:lnSpc>
            </a:pPr>
            <a:r>
              <a:rPr lang="zh-CN" sz="1275">
                <a:solidFill>
                  <a:srgbClr val="E4EDF9"/>
                </a:solidFill>
                <a:latin typeface="微软雅黑" panose="020B0503020204020204" charset="-122"/>
                <a:ea typeface="微软雅黑" panose="020B0503020204020204" charset="-122"/>
              </a:rPr>
              <a:t>·　</a:t>
            </a:r>
            <a:r>
              <a:rPr lang="zh-CN" sz="1275" b="1">
                <a:solidFill>
                  <a:srgbClr val="FFC107"/>
                </a:solidFill>
                <a:latin typeface="微软雅黑" panose="020B0503020204020204" charset="-122"/>
                <a:ea typeface="微软雅黑" panose="020B0503020204020204" charset="-122"/>
              </a:rPr>
              <a:t>瓶颈迁移区</a:t>
            </a:r>
            <a:r>
              <a:rPr lang="zh-CN" sz="1275">
                <a:solidFill>
                  <a:srgbClr val="E4EDF9"/>
                </a:solidFill>
                <a:latin typeface="微软雅黑" panose="020B0503020204020204" charset="-122"/>
                <a:ea typeface="微软雅黑" panose="020B0503020204020204" charset="-122"/>
              </a:rPr>
              <a:t>：继续扩充原瓶颈设施已不再产生实质效益</a:t>
            </a:r>
            <a:endParaRPr lang="zh-CN" sz="1275">
              <a:solidFill>
                <a:srgbClr val="E4EDF9"/>
              </a:solidFill>
              <a:latin typeface="微软雅黑" panose="020B0503020204020204" charset="-122"/>
              <a:ea typeface="微软雅黑" panose="020B0503020204020204" charset="-122"/>
            </a:endParaRPr>
          </a:p>
        </p:txBody>
      </p:sp>
      <p:sp>
        <p:nvSpPr>
          <p:cNvPr id="1013" name="圆角矩形 1012"/>
          <p:cNvSpPr/>
          <p:nvPr/>
        </p:nvSpPr>
        <p:spPr>
          <a:xfrm>
            <a:off x="381000" y="3543300"/>
            <a:ext cx="5648325" cy="1809750"/>
          </a:xfrm>
          <a:prstGeom prst="roundRect">
            <a:avLst>
              <a:gd name="adj" fmla="val 3158"/>
            </a:avLst>
          </a:prstGeom>
          <a:solidFill>
            <a:srgbClr val="F0F5FC"/>
          </a:solidFill>
          <a:ln w="12700">
            <a:solidFill>
              <a:srgbClr val="D6DCE5"/>
            </a:solidFill>
            <a:prstDash val="solid"/>
          </a:ln>
        </p:spPr>
        <p:txBody>
          <a:bodyPr/>
          <a:p/>
        </p:txBody>
      </p:sp>
      <p:sp>
        <p:nvSpPr>
          <p:cNvPr id="1014" name="任意多边形 1013"/>
          <p:cNvSpPr/>
          <p:nvPr/>
        </p:nvSpPr>
        <p:spPr>
          <a:xfrm>
            <a:off x="514350" y="3676650"/>
            <a:ext cx="5429250" cy="247650"/>
          </a:xfrm>
          <a:custGeom>
            <a:avLst/>
            <a:gdLst/>
            <a:ahLst/>
            <a:cxnLst/>
            <a:pathLst>
              <a:path w="570" h="26">
                <a:moveTo>
                  <a:pt x="0" y="0"/>
                </a:moveTo>
                <a:lnTo>
                  <a:pt x="5" y="0"/>
                </a:lnTo>
                <a:lnTo>
                  <a:pt x="5" y="26"/>
                </a:lnTo>
                <a:lnTo>
                  <a:pt x="0" y="26"/>
                </a:lnTo>
                <a:close/>
              </a:path>
            </a:pathLst>
          </a:custGeom>
          <a:solidFill>
            <a:srgbClr val="1E4FA8"/>
          </a:solidFill>
        </p:spPr>
        <p:txBody>
          <a:bodyPr/>
          <a:p/>
        </p:txBody>
      </p:sp>
      <p:pic>
        <p:nvPicPr>
          <p:cNvPr id="1015" name="图片 1014"/>
          <p:cNvPicPr>
            <a:picLocks noChangeAspect="1"/>
          </p:cNvPicPr>
          <p:nvPr/>
        </p:nvPicPr>
        <p:blipFill>
          <a:blip/>
          <a:stretch>
            <a:fillRect/>
          </a:stretch>
        </p:blipFill>
        <p:spPr>
          <a:xfrm>
            <a:off x="657225" y="3714750"/>
            <a:ext cx="180975" cy="180975"/>
          </a:xfrm>
          <a:prstGeom prst="rect">
            <a:avLst/>
          </a:prstGeom>
        </p:spPr>
      </p:pic>
      <p:sp>
        <p:nvSpPr>
          <p:cNvPr id="1016" name="文本框 1015" descr="{&quot;isTemplate&quot;:true,&quot;type&quot;:&quot;text&quot;}"/>
          <p:cNvSpPr txBox="1"/>
          <p:nvPr/>
        </p:nvSpPr>
        <p:spPr>
          <a:xfrm>
            <a:off x="914400" y="3676650"/>
            <a:ext cx="260032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结构化反事实对照的解释方式</a:t>
            </a:r>
            <a:endParaRPr lang="zh-CN" sz="1575" b="1">
              <a:solidFill>
                <a:srgbClr val="0E3F8C"/>
              </a:solidFill>
              <a:latin typeface="微软雅黑" panose="020B0503020204020204" charset="-122"/>
              <a:ea typeface="微软雅黑" panose="020B0503020204020204" charset="-122"/>
            </a:endParaRPr>
          </a:p>
        </p:txBody>
      </p:sp>
      <p:sp>
        <p:nvSpPr>
          <p:cNvPr id="1017" name="文本框 1016" descr="{&quot;isTemplate&quot;:true,&quot;type&quot;:&quot;text&quot;}"/>
          <p:cNvSpPr txBox="1"/>
          <p:nvPr/>
        </p:nvSpPr>
        <p:spPr>
          <a:xfrm>
            <a:off x="514350" y="3981450"/>
            <a:ext cx="5381625" cy="590550"/>
          </a:xfrm>
          <a:prstGeom prst="rect">
            <a:avLst/>
          </a:prstGeom>
        </p:spPr>
        <p:txBody>
          <a:bodyPr wrap="square" lIns="0" tIns="0" rIns="0" bIns="0">
            <a:normAutofit/>
          </a:bodyPr>
          <a:p>
            <a:pPr>
              <a:lnSpc>
                <a:spcPct val="150000"/>
              </a:lnSpc>
            </a:pPr>
            <a:r>
              <a:rPr lang="zh-CN" sz="1275">
                <a:solidFill>
                  <a:srgbClr val="1A2230"/>
                </a:solidFill>
                <a:latin typeface="微软雅黑" panose="020B0503020204020204" charset="-122"/>
                <a:ea typeface="微软雅黑" panose="020B0503020204020204" charset="-122"/>
              </a:rPr>
              <a:t>保持气候与需求等参数一致，仅改变设施能力或技术条件，比较干预前后响应，明确</a:t>
            </a:r>
            <a:r>
              <a:rPr lang="en-US" sz="1275">
                <a:solidFill>
                  <a:srgbClr val="1A2230"/>
                </a:solidFill>
                <a:latin typeface="微软雅黑" panose="020B0503020204020204" charset="-122"/>
                <a:ea typeface="微软雅黑" panose="020B0503020204020204" charset="-122"/>
              </a:rPr>
              <a:t>"</a:t>
            </a:r>
            <a:r>
              <a:rPr lang="zh-CN" sz="1275">
                <a:solidFill>
                  <a:srgbClr val="1A2230"/>
                </a:solidFill>
                <a:latin typeface="微软雅黑" panose="020B0503020204020204" charset="-122"/>
                <a:ea typeface="微软雅黑" panose="020B0503020204020204" charset="-122"/>
              </a:rPr>
              <a:t>干预—过程—约束转换—</a:t>
            </a:r>
            <a:r>
              <a:rPr lang="en-US" sz="1275">
                <a:solidFill>
                  <a:srgbClr val="1A2230"/>
                </a:solidFill>
                <a:latin typeface="微软雅黑" panose="020B0503020204020204" charset="-122"/>
                <a:ea typeface="微软雅黑" panose="020B0503020204020204" charset="-122"/>
              </a:rPr>
              <a:t>CAWCC"</a:t>
            </a:r>
            <a:r>
              <a:rPr lang="zh-CN" sz="1275">
                <a:solidFill>
                  <a:srgbClr val="1A2230"/>
                </a:solidFill>
                <a:latin typeface="微软雅黑" panose="020B0503020204020204" charset="-122"/>
                <a:ea typeface="微软雅黑" panose="020B0503020204020204" charset="-122"/>
              </a:rPr>
              <a:t>作用链。</a:t>
            </a:r>
            <a:endParaRPr lang="zh-CN" sz="1275">
              <a:solidFill>
                <a:srgbClr val="1A2230"/>
              </a:solidFill>
              <a:latin typeface="微软雅黑" panose="020B0503020204020204" charset="-122"/>
              <a:ea typeface="微软雅黑" panose="020B0503020204020204" charset="-122"/>
            </a:endParaRPr>
          </a:p>
        </p:txBody>
      </p:sp>
      <p:sp>
        <p:nvSpPr>
          <p:cNvPr id="1018" name="圆角矩形 1017"/>
          <p:cNvSpPr/>
          <p:nvPr/>
        </p:nvSpPr>
        <p:spPr>
          <a:xfrm>
            <a:off x="6162675" y="3543300"/>
            <a:ext cx="5648325" cy="1809750"/>
          </a:xfrm>
          <a:prstGeom prst="roundRect">
            <a:avLst>
              <a:gd name="adj" fmla="val 3158"/>
            </a:avLst>
          </a:prstGeom>
          <a:solidFill>
            <a:srgbClr val="F0F5FC"/>
          </a:solidFill>
          <a:ln w="12700">
            <a:solidFill>
              <a:srgbClr val="D6DCE5"/>
            </a:solidFill>
            <a:prstDash val="solid"/>
          </a:ln>
        </p:spPr>
        <p:txBody>
          <a:bodyPr/>
          <a:p/>
        </p:txBody>
      </p:sp>
      <p:sp>
        <p:nvSpPr>
          <p:cNvPr id="1019" name="任意多边形 1018"/>
          <p:cNvSpPr/>
          <p:nvPr/>
        </p:nvSpPr>
        <p:spPr>
          <a:xfrm>
            <a:off x="6296025" y="3676650"/>
            <a:ext cx="5429250" cy="247650"/>
          </a:xfrm>
          <a:custGeom>
            <a:avLst/>
            <a:gdLst/>
            <a:ahLst/>
            <a:cxnLst/>
            <a:pathLst>
              <a:path w="570" h="26">
                <a:moveTo>
                  <a:pt x="0" y="0"/>
                </a:moveTo>
                <a:lnTo>
                  <a:pt x="5" y="0"/>
                </a:lnTo>
                <a:lnTo>
                  <a:pt x="5" y="26"/>
                </a:lnTo>
                <a:lnTo>
                  <a:pt x="0" y="26"/>
                </a:lnTo>
                <a:close/>
              </a:path>
            </a:pathLst>
          </a:custGeom>
          <a:solidFill>
            <a:srgbClr val="D9534F"/>
          </a:solidFill>
        </p:spPr>
        <p:txBody>
          <a:bodyPr/>
          <a:p/>
        </p:txBody>
      </p:sp>
      <p:pic>
        <p:nvPicPr>
          <p:cNvPr id="1020" name="图片 1019"/>
          <p:cNvPicPr>
            <a:picLocks noChangeAspect="1"/>
          </p:cNvPicPr>
          <p:nvPr/>
        </p:nvPicPr>
        <p:blipFill>
          <a:blip/>
          <a:stretch>
            <a:fillRect/>
          </a:stretch>
        </p:blipFill>
        <p:spPr>
          <a:xfrm>
            <a:off x="6438900" y="3714750"/>
            <a:ext cx="180975" cy="180975"/>
          </a:xfrm>
          <a:prstGeom prst="rect">
            <a:avLst/>
          </a:prstGeom>
        </p:spPr>
      </p:pic>
      <p:sp>
        <p:nvSpPr>
          <p:cNvPr id="1021" name="文本框 1020" descr="{&quot;isTemplate&quot;:true,&quot;type&quot;:&quot;text&quot;}"/>
          <p:cNvSpPr txBox="1"/>
          <p:nvPr/>
        </p:nvSpPr>
        <p:spPr>
          <a:xfrm>
            <a:off x="6696075" y="3676650"/>
            <a:ext cx="1600200" cy="247650"/>
          </a:xfrm>
          <a:prstGeom prst="rect">
            <a:avLst/>
          </a:prstGeom>
        </p:spPr>
        <p:txBody>
          <a:bodyPr wrap="none" lIns="0" tIns="0" rIns="0" bIns="0"/>
          <a:p>
            <a:pPr>
              <a:lnSpc>
                <a:spcPct val="100000"/>
              </a:lnSpc>
            </a:pPr>
            <a:r>
              <a:rPr lang="zh-CN" sz="1575" b="1">
                <a:solidFill>
                  <a:srgbClr val="1A2230"/>
                </a:solidFill>
                <a:latin typeface="微软雅黑" panose="020B0503020204020204" charset="-122"/>
                <a:ea typeface="微软雅黑" panose="020B0503020204020204" charset="-122"/>
              </a:rPr>
              <a:t>同步报告的代价项</a:t>
            </a:r>
            <a:endParaRPr lang="zh-CN" sz="1575" b="1">
              <a:solidFill>
                <a:srgbClr val="1A2230"/>
              </a:solidFill>
              <a:latin typeface="微软雅黑" panose="020B0503020204020204" charset="-122"/>
              <a:ea typeface="微软雅黑" panose="020B0503020204020204" charset="-122"/>
            </a:endParaRPr>
          </a:p>
        </p:txBody>
      </p:sp>
      <p:sp>
        <p:nvSpPr>
          <p:cNvPr id="1022" name="文本框 1021" descr="{&quot;isTemplate&quot;:true,&quot;type&quot;:&quot;text&quot;}"/>
          <p:cNvSpPr txBox="1"/>
          <p:nvPr/>
        </p:nvSpPr>
        <p:spPr>
          <a:xfrm>
            <a:off x="6296025" y="3981450"/>
            <a:ext cx="5381625" cy="295275"/>
          </a:xfrm>
          <a:prstGeom prst="rect">
            <a:avLst/>
          </a:prstGeom>
        </p:spPr>
        <p:txBody>
          <a:bodyPr wrap="none" lIns="0" tIns="0" rIns="0" bIns="0"/>
          <a:p>
            <a:pPr>
              <a:lnSpc>
                <a:spcPct val="150000"/>
              </a:lnSpc>
            </a:pPr>
            <a:r>
              <a:rPr lang="zh-CN" sz="1275">
                <a:solidFill>
                  <a:srgbClr val="1A2230"/>
                </a:solidFill>
                <a:latin typeface="微软雅黑" panose="020B0503020204020204" charset="-122"/>
                <a:ea typeface="微软雅黑" panose="020B0503020204020204" charset="-122"/>
              </a:rPr>
              <a:t>结果表述为条件化机制结论，同时报告干预的能耗、成本与水质代价。</a:t>
            </a:r>
            <a:endParaRPr lang="zh-CN" sz="1275">
              <a:solidFill>
                <a:srgbClr val="1A2230"/>
              </a:solidFill>
              <a:latin typeface="微软雅黑" panose="020B0503020204020204" charset="-122"/>
              <a:ea typeface="微软雅黑" panose="020B0503020204020204" charset="-122"/>
            </a:endParaRPr>
          </a:p>
        </p:txBody>
      </p:sp>
      <p:sp>
        <p:nvSpPr>
          <p:cNvPr id="1023" name="矩形 1022"/>
          <p:cNvSpPr/>
          <p:nvPr/>
        </p:nvSpPr>
        <p:spPr>
          <a:xfrm>
            <a:off x="428625" y="5467350"/>
            <a:ext cx="11430000" cy="495300"/>
          </a:xfrm>
          <a:prstGeom prst="rect">
            <a:avLst/>
          </a:prstGeom>
          <a:solidFill>
            <a:srgbClr val="E8EFF8"/>
          </a:solidFill>
        </p:spPr>
        <p:txBody>
          <a:bodyPr/>
          <a:p/>
        </p:txBody>
      </p:sp>
      <p:sp>
        <p:nvSpPr>
          <p:cNvPr id="1024" name="任意多边形 1023"/>
          <p:cNvSpPr/>
          <p:nvPr/>
        </p:nvSpPr>
        <p:spPr>
          <a:xfrm>
            <a:off x="381000" y="5467350"/>
            <a:ext cx="11477625" cy="495300"/>
          </a:xfrm>
          <a:custGeom>
            <a:avLst/>
            <a:gdLst/>
            <a:ahLst/>
            <a:cxnLst/>
            <a:pathLst>
              <a:path w="1205" h="52">
                <a:moveTo>
                  <a:pt x="0" y="0"/>
                </a:moveTo>
                <a:lnTo>
                  <a:pt x="5" y="0"/>
                </a:lnTo>
                <a:lnTo>
                  <a:pt x="5" y="52"/>
                </a:lnTo>
                <a:lnTo>
                  <a:pt x="0" y="52"/>
                </a:lnTo>
                <a:close/>
              </a:path>
            </a:pathLst>
          </a:custGeom>
          <a:solidFill>
            <a:srgbClr val="1E4FA8"/>
          </a:solidFill>
        </p:spPr>
        <p:txBody>
          <a:bodyPr/>
          <a:p/>
        </p:txBody>
      </p:sp>
      <p:sp>
        <p:nvSpPr>
          <p:cNvPr id="1025" name="文本框 1024" descr="{&quot;isTemplate&quot;:true,&quot;type&quot;:&quot;text&quot;}"/>
          <p:cNvSpPr txBox="1"/>
          <p:nvPr/>
        </p:nvSpPr>
        <p:spPr>
          <a:xfrm>
            <a:off x="600075" y="5562600"/>
            <a:ext cx="11210925" cy="304800"/>
          </a:xfrm>
          <a:prstGeom prst="rect">
            <a:avLst/>
          </a:prstGeom>
        </p:spPr>
        <p:txBody>
          <a:bodyPr wrap="none" lIns="0" tIns="0" rIns="0" bIns="0"/>
          <a:p>
            <a:pPr>
              <a:lnSpc>
                <a:spcPct val="140000"/>
              </a:lnSpc>
            </a:pPr>
            <a:r>
              <a:rPr lang="zh-CN" sz="1425">
                <a:solidFill>
                  <a:srgbClr val="1A2230"/>
                </a:solidFill>
                <a:latin typeface="微软雅黑" panose="020B0503020204020204" charset="-122"/>
                <a:ea typeface="微软雅黑" panose="020B0503020204020204" charset="-122"/>
              </a:rPr>
              <a:t>实验四形成</a:t>
            </a:r>
            <a:r>
              <a:rPr lang="en-US" sz="1425">
                <a:solidFill>
                  <a:srgbClr val="1A2230"/>
                </a:solidFill>
                <a:latin typeface="微软雅黑" panose="020B0503020204020204" charset="-122"/>
                <a:ea typeface="微软雅黑" panose="020B0503020204020204" charset="-122"/>
              </a:rPr>
              <a:t>"</a:t>
            </a:r>
            <a:r>
              <a:rPr lang="zh-CN" sz="1425">
                <a:solidFill>
                  <a:srgbClr val="1A2230"/>
                </a:solidFill>
                <a:latin typeface="微软雅黑" panose="020B0503020204020204" charset="-122"/>
                <a:ea typeface="微软雅黑" panose="020B0503020204020204" charset="-122"/>
              </a:rPr>
              <a:t>状态—容量—瓶颈</a:t>
            </a:r>
            <a:r>
              <a:rPr lang="en-US" sz="1425">
                <a:solidFill>
                  <a:srgbClr val="1A2230"/>
                </a:solidFill>
                <a:latin typeface="微软雅黑" panose="020B0503020204020204" charset="-122"/>
                <a:ea typeface="微软雅黑" panose="020B0503020204020204" charset="-122"/>
              </a:rPr>
              <a:t>"</a:t>
            </a:r>
            <a:r>
              <a:rPr lang="zh-CN" sz="1425">
                <a:solidFill>
                  <a:srgbClr val="1A2230"/>
                </a:solidFill>
                <a:latin typeface="微软雅黑" panose="020B0503020204020204" charset="-122"/>
                <a:ea typeface="微软雅黑" panose="020B0503020204020204" charset="-122"/>
              </a:rPr>
              <a:t>图谱，回答扩容是否仍有效、下一步扩在哪里</a:t>
            </a:r>
            <a:endParaRPr lang="zh-CN" sz="1425">
              <a:solidFill>
                <a:srgbClr val="1A2230"/>
              </a:solidFill>
              <a:latin typeface="微软雅黑" panose="020B0503020204020204" charset="-122"/>
              <a:ea typeface="微软雅黑" panose="020B0503020204020204" charset="-122"/>
            </a:endParaRPr>
          </a:p>
        </p:txBody>
      </p:sp>
      <p:sp>
        <p:nvSpPr>
          <p:cNvPr id="1026" name="任意多边形 1025"/>
          <p:cNvSpPr/>
          <p:nvPr/>
        </p:nvSpPr>
        <p:spPr>
          <a:xfrm>
            <a:off x="0" y="60388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027" name="文本框 1026" descr="{&quot;isTemplate&quot;:true,&quot;type&quot;:&quot;text&quot;}"/>
          <p:cNvSpPr txBox="1"/>
          <p:nvPr/>
        </p:nvSpPr>
        <p:spPr>
          <a:xfrm>
            <a:off x="381000" y="61531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028" name="文本框 1027" descr="{&quot;isTemplate&quot;:true,&quot;type&quot;:&quot;text&quot;}"/>
          <p:cNvSpPr txBox="1"/>
          <p:nvPr/>
        </p:nvSpPr>
        <p:spPr>
          <a:xfrm>
            <a:off x="11353800" y="61531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27 / 36</a:t>
            </a:r>
            <a:endParaRPr lang="en-US" sz="1050">
              <a:solidFill>
                <a:srgbClr val="1E4FA8"/>
              </a:solidFill>
              <a:latin typeface="微软雅黑" panose="020B0503020204020204" charset="-122"/>
              <a:ea typeface="微软雅黑" panose="020B0503020204020204" charset="-122"/>
            </a:endParaRPr>
          </a:p>
        </p:txBody>
      </p:sp>
      <p:sp>
        <p:nvSpPr>
          <p:cNvPr id="1029" name="矩形 1028"/>
          <p:cNvSpPr/>
          <p:nvPr/>
        </p:nvSpPr>
        <p:spPr>
          <a:xfrm>
            <a:off x="0" y="685800"/>
            <a:ext cx="57150" cy="1162050"/>
          </a:xfrm>
          <a:prstGeom prst="rect">
            <a:avLst/>
          </a:prstGeom>
          <a:solidFill>
            <a:srgbClr val="C9D6E8"/>
          </a:solidFill>
        </p:spPr>
        <p:txBody>
          <a:bodyPr/>
          <a:p/>
        </p:txBody>
      </p:sp>
      <p:sp>
        <p:nvSpPr>
          <p:cNvPr id="1030" name="矩形 1029"/>
          <p:cNvSpPr/>
          <p:nvPr/>
        </p:nvSpPr>
        <p:spPr>
          <a:xfrm>
            <a:off x="0" y="1847850"/>
            <a:ext cx="57150" cy="1162050"/>
          </a:xfrm>
          <a:prstGeom prst="rect">
            <a:avLst/>
          </a:prstGeom>
          <a:solidFill>
            <a:srgbClr val="C9D6E8"/>
          </a:solidFill>
        </p:spPr>
        <p:txBody>
          <a:bodyPr/>
          <a:p/>
        </p:txBody>
      </p:sp>
      <p:sp>
        <p:nvSpPr>
          <p:cNvPr id="1031" name="矩形 1030"/>
          <p:cNvSpPr/>
          <p:nvPr/>
        </p:nvSpPr>
        <p:spPr>
          <a:xfrm>
            <a:off x="0" y="3009900"/>
            <a:ext cx="57150" cy="1162050"/>
          </a:xfrm>
          <a:prstGeom prst="rect">
            <a:avLst/>
          </a:prstGeom>
          <a:solidFill>
            <a:srgbClr val="C9D6E8"/>
          </a:solidFill>
        </p:spPr>
        <p:txBody>
          <a:bodyPr/>
          <a:p/>
        </p:txBody>
      </p:sp>
      <p:sp>
        <p:nvSpPr>
          <p:cNvPr id="1032" name="矩形 1031"/>
          <p:cNvSpPr/>
          <p:nvPr/>
        </p:nvSpPr>
        <p:spPr>
          <a:xfrm>
            <a:off x="0" y="4171950"/>
            <a:ext cx="57150" cy="1162050"/>
          </a:xfrm>
          <a:prstGeom prst="rect">
            <a:avLst/>
          </a:prstGeom>
          <a:solidFill>
            <a:srgbClr val="FFC107"/>
          </a:solidFill>
        </p:spPr>
        <p:txBody>
          <a:bodyPr/>
          <a:p/>
        </p:txBody>
      </p:sp>
      <p:sp>
        <p:nvSpPr>
          <p:cNvPr id="1033" name="矩形 1032"/>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034"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magnifying-glass-chart' style={{ fill: '#FFC107', width: 22, height: 22 }} /&gt;&#13;&#10;        &lt;/Box&gt;&#13;&#10;            &lt;Text style={{ fontSize: 29, fontWeight: 'bold', color: '#FFFFFF' }}&gt;四类输出指标与不确定性、敏感性分析&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8&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四组实验共用一套指标体系，总量、结构、边界与证据强度逐层对照&lt;/Text&gt;&#13;&#10;        &lt;/Box&gt;&#13;&#10;        &lt;Box style={{ flexDirection: 'row', gap: 13, height: 186 }}&gt;&#13;&#10;            &lt;Box style={{ flex: 1, background: '#F7F9FC', border: '1px solid #D6DCE5', borderTop: '5px solid #1E4FA8', borderRadius: 6, padding: 12, flexDirection: 'column' }}&gt;&#13;&#10;                &lt;Text style={{ fontSize: 19, fontWeight: 'bold', color: '#0E3F8C', marginBottom: 5 }}&gt;规模类指标&lt;/Text&gt;&#13;&#10;                &lt;Text style={{ fontSize: 15.5, color: '#1A2230', lineHeight: 1.45 }}&gt;·　取水量、耗水量、回流量的绝对值与相对基准水流占比&lt;/Text&gt;&#13;&#10;                &lt;Text style={{ fontSize: 15.5, color: '#1A2230', lineHeight: 1.45 }}&gt;·　AI 节点占城市供水、污水与再生水通量的份额&lt;/Text&gt;&#13;&#10;                &lt;Text style={{ fontSize: 15.5, color: '#1A2230', lineHeight: 1.45 }}&gt;·　年、日、小时三个尺度的峰值与分位数&lt;/Text&gt;&#13;&#10;                &lt;Box style={{ marginTop: 'auto', background: '#E8EFF8', borderRadius: 4, padding: 6 }}&gt;&#13;&#10;                    &lt;Text style={{ fontSize: 15, color: '#0E3F8C', lineHeight: 1.35 }}&gt;回答：量有多大、是否形成主要新增负荷&lt;/Text&gt;&#13;&#10;                &lt;/Box&gt;&#13;&#10;            &lt;/Box&gt;&#13;&#10;            &lt;Box style={{ flex: 1, background: '#F7F9FC', border: '1px solid #D6DCE5', borderTop: '5px solid #1E4FA8', borderRadius: 6, padding: 12, flexDirection: 'column' }}&gt;&#13;&#10;                &lt;Text style={{ fontSize: 19, fontWeight: 'bold', color: '#0E3F8C', marginBottom: 5 }}&gt;结构类指标&lt;/Text&gt;&#13;&#10;                &lt;Text style={{ fontSize: 15.5, color: '#1A2230', lineHeight: 1.45 }}&gt;·　外部输入、内部回用、最终排放三者的构成比&lt;/Text&gt;&#13;&#10;                &lt;Text style={{ fontSize: 15.5, color: '#1A2230', lineHeight: 1.45 }}&gt;·　再生水占冷却补水的比例与内部循环强度&lt;/Text&gt;&#13;&#10;                &lt;Text style={{ fontSize: 15.5, color: '#1A2230', lineHeight: 1.45 }}&gt;·　与普通工业节点的通量、时序、位置结构距离&lt;/Text&gt;&#13;&#10;                &lt;Box style={{ marginTop: 'auto', background: '#E8EFF8', borderRadius: 4, padding: 6 }}&gt;&#13;&#10;                    &lt;Text style={{ fontSize: 15, color: '#0E3F8C', lineHeight: 1.35 }}&gt;回答：系统是否被重构、重构始于何处&lt;/Text&gt;&#13;&#10;                &lt;/Box&gt;&#13;&#10;            &lt;/Box&gt;&#13;&#10;            &lt;Box style={{ flex: 1, background: '#F7F9FC', border: '1px solid #D6DCE5', borderTop: '5px solid #1E4FA8', borderRadius: 6, padding: 12, flexDirection: 'column' }}&gt;&#13;&#10;                &lt;Text style={{ fontSize: 19, fontWeight: 'bold', color: '#0E3F8C', marginBottom: 5 }}&gt;承载类指标&lt;/Text&gt;&#13;&#10;                &lt;Text style={{ fontSize: 15.5, color: '#1A2230', lineHeight: 1.45 }}&gt;·　CAWCC 点估计、可行区间、首次与最终失效容量&lt;/Text&gt;&#13;&#10;                &lt;Text style={{ fontSize: 15.5, color: '#1A2230', lineHeight: 1.45 }}&gt;·　各约束剩余裕度、持续失效时长与恢复条件&lt;/Text&gt;&#13;&#10;                &lt;Text style={{ fontSize: 15.5, color: '#1A2230', lineHeight: 1.45 }}&gt;·　ΔCAWCC、可靠性、恢复性、脆弱性三维评价&lt;/Text&gt;&#13;&#10;                &lt;Box style={{ marginTop: 'auto', background: '#E8EFF8', borderRadius: 4, padding: 6 }}&gt;&#13;&#10;                    &lt;Text style={{ fontSize: 15, color: '#0E3F8C', lineHeight: 1.35 }}&gt;回答：边界在哪里、由哪一项约束决定&lt;/Text&gt;&#13;&#10;                &lt;/Box&gt;&#13;&#10;            &lt;/Box&gt;&#13;&#10;            &lt;Box style={{ flex: 1, background: '#0E3F8C', borderTop: '5px solid #FFC107', borderRadius: 6, padding: 12, flexDirection: 'column' }}&gt;&#13;&#10;                &lt;Text style={{ fontSize: 19, fontWeight: 'bold', color: '#FFFFFF', marginBottom: 5 }}&gt;证据类指标&lt;/Text&gt;&#13;&#10;                &lt;Text style={{ fontSize: 15.5, color: '#E4EDF9', lineHeight: 1.45 }}&gt;·　参数来源、年份、适用工况与证据等级标注&lt;/Text&gt;&#13;&#10;                &lt;Text style={{ fontSize: 15.5, color: '#E4EDF9', lineHeight: 1.45 }}&gt;·　敏感性排序、效应量与交互作用强度&lt;/Text&gt;&#13;&#10;                &lt;Text style={{ fontSize: 15.5, color: '#E4EDF9', lineHeight: 1.45 }}&gt;·　方向一致性通过率与适用参数域边界&lt;/Text&gt;&#13;&#10;                &lt;Box style={{ marginTop: 'auto', background: '#12489A', borderRadius: 4, padding: 6 }}&gt;&#13;&#10;                    &lt;Text style={{ fontSize: 15, color: '#FFC107', lineHeight: 1.35 }}&gt;回答：结论能说到什么程度&lt;/Text&gt;&#13;&#10;                &lt;/Box&gt;&#13;&#10;            &lt;/Box&gt;&#13;&#10;        &lt;/Box&gt;&#13;&#10;        &lt;Box style={{ flexDirection: 'row', gap: 14, height: 252 }}&gt;&#13;&#10;            &lt;Box style={{ flex: 1.4, background: '#F0F5FC', border: '1px solid #D6DCE5', borderRadius: 6, padding: 14, flexDirection: 'column' }}&gt;&#13;&#10;                &lt;Box style={{ borderLeft: '5px solid #1E4FA8', paddingLeft: 10, marginBottom: 8 }}&gt;&#13;&#10;                    &lt;Box style={{ flexDirection: 'row', alignItems: 'center', gap: 8 }}&gt;&#13;&#10;                &lt;FAIcon name='magnifying-glass-chart' style={{ fill: '#1E4FA8', width: 19, height: 19 }} /&gt;&#13;&#10;                &lt;Text style={{ fontSize: 21, fontWeight: 'bold', color: '#0E3F8C' }}&gt;敏感性分析的三阶段递进&lt;/Text&gt;&#13;&#10;            &lt;/Box&gt;&#13;&#10;                &lt;/Box&gt;&#13;&#10;                &lt;Box style={{ flexDirection: 'row', alignItems: 'flex-start', gap: 8, marginBottom: 6 }}&gt;&#13;&#10;                    &lt;Box style={{ width: 30, height: 30, background: '#1E4FA8', borderRadius: 4, justifyContent: 'center', alignItems: 'center' }}&gt;&#13;&#10;                        &lt;Text style={{ fontSize: 15, color: '#FFFFFF', fontWeight: 'bold' }}&gt;1&lt;/Text&gt;&#13;&#10;                    &lt;/Box&gt;&#13;&#10;                    &lt;Box style={{ flex: 1 }}&gt;&#13;&#10;                        &lt;Text style={{ fontSize: 16.5, color: '#1A2230', lineHeight: 1.4 }}&gt;&lt;span style={{ fontWeight: 'bold', color: '#0E3F8C' }}&gt;第一步 初筛｜Morris 及改进设计&lt;/span&gt;：低成本筛选重要变量，剔除无影响维度。&lt;/Text&gt;&#13;&#10;                    &lt;/Box&gt;&#13;&#10;                &lt;/Box&gt;&#13;&#10;                &lt;Box style={{ flexDirection: 'row', alignItems: 'flex-start', gap: 8, marginBottom: 6 }}&gt;&#13;&#10;                    &lt;Box style={{ width: 30, height: 30, background: '#1E4FA8', borderRadius: 4, justifyContent: 'center', alignItems: 'center' }}&gt;&#13;&#10;                        &lt;Text style={{ fontSize: 15, color: '#FFFFFF', fontWeight: 'bold' }}&gt;2&lt;/Text&gt;&#13;&#10;                    &lt;/Box&gt;&#13;&#10;                    &lt;Box style={{ flex: 1 }}&gt;&#13;&#10;                        &lt;Text style={{ fontSize: 16.5, color: '#1A2230', lineHeight: 1.4 }}&gt;&lt;span style={{ fontWeight: 'bold', color: '#0E3F8C' }}&gt;第二步 分解｜Sobol&lt;/span&gt;：关键参数近似独立时，做一阶与总效应分解。&lt;/Text&gt;&#13;&#10;                    &lt;/Box&gt;&#13;&#10;                &lt;/Box&gt;&#13;&#10;                &lt;Box style={{ flexDirection: 'row', alignItems: 'flex-start', gap: 8 }}&gt;&#13;&#10;                    &lt;Box style={{ width: 30, height: 30, background: '#1E4FA8', borderRadius: 4, justifyContent: 'center', alignItems: 'center' }}&gt;&#13;&#10;                        &lt;Text style={{ fontSize: 15, color: '#FFFFFF', fontWeight: 'bold' }}&gt;3&lt;/Text&gt;&#13;&#10;                    &lt;/Box&gt;&#13;&#10;                    &lt;Box style={{ flex: 1 }}&gt;&#13;&#10;                        &lt;Text style={{ fontSize: 16.5, color: '#1A2230', lineHeight: 1.4 }}&gt;&lt;span style={{ fontWeight: 'bold', color: '#0E3F8C' }}&gt;第三步 归因｜Shapley effects&lt;/span&gt;：存在明显相关结构时，对相关输入归因。&lt;/Text&gt;&#13;&#10;                    &lt;/Box&gt;&#13;&#10;                &lt;/Box&gt;&#13;&#10;                &lt;Box style={{ marginTop: 8, background: '#E8EFF8', borderRadius: 4, padding: 7 }}&gt;&#13;&#10;                    &lt;Text style={{ fontSize: 15.5, color: '#0E3F8C', lineHeight: 1.35 }}&gt;三阶段共用同一批输出指标，结果拼合成完整证据表&lt;/Text&gt;&#13;&#10;                &lt;/Box&gt;&#13;&#10;            &lt;/Box&gt;&#13;&#10;            &lt;Box style={{ flex: 1, flexDirection: 'column', gap: 12 }}&gt;&#13;&#10;                &lt;Box style={{ flex: 1, background: '#F7F9FC', border: '1px solid #D6DCE5', borderLeft: '5px solid #D9534F', borderRadius: 6, padding: 12, flexDirection: 'column' }}&gt;&#13;&#10;                    &lt;Text style={{ fontSize: 18, fontWeight: 'bold', color: '#1A2230', marginBottom: 5 }}&gt;参数不确定性&lt;/Text&gt;&#13;&#10;                    &lt;Text style={{ fontSize: 15.5, color: '#4A5568', lineHeight: 1.45 }}&gt;负载率、PUE、浓缩倍数、回流率等参数按条件分布传播，保留相关结构。&lt;/Text&gt;&#13;&#10;                &lt;/Box&gt;&#13;&#10;                &lt;Box style={{ flex: 1, background: '#F7F9FC', border: '1px solid #D6DCE5', borderLeft: '5px solid #D9534F', borderRadius: 6, padding: 12, flexDirection: 'column' }}&gt;&#13;&#10;                    &lt;Text style={{ fontSize: 18, fontWeight: 'bold', color: '#1A2230', marginBottom: 5 }}&gt;情景不确定性&lt;/Text&gt;&#13;&#10;                    &lt;Text style={{ fontSize: 15.5, color: '#4A5568', lineHeight: 1.45 }}&gt;AI 增长、气候、水源政策与扩容时点用情景集合表达，气候依 CMIP6 与 IPCC 选取。&lt;/Text&gt;&#13;&#10;                &lt;/Box&gt;&#13;&#10;                &lt;Box style={{ flex: 1, background: '#0B3A82', borderRadius: 6, padding: 12, flexDirection: 'column' }}&gt;&#13;&#10;                    &lt;Text style={{ fontSize: 18, fontWeight: 'bold', color: '#FFC107', marginBottom: 5 }}&gt;复合事件的相关结构&lt;/Text&gt;&#13;&#10;                    &lt;Text style={{ fontSize: 15.5, color: '#E4EDF9', lineHeight: 1.45 }}&gt;高温、干旱与需求峰值保留时间依赖，构造单因素与组合压力。&lt;/Text&gt;&#13;&#10;                &lt;/Box&gt;&#13;&#10;            &lt;/Box&gt;&#13;&#10;        &lt;/Box&gt;&#13;&#10;        &lt;Box style={{ background: '#E8EFF8', borderLeft: '5px solid #1E4FA8', paddingLeft: 18, paddingTop: 9, paddingBottom: 9 }}&gt;&#13;&#10;            &lt;Text style={{ fontSize: 18.5, color: '#1A2230', lineHeight: 1.4 }}&gt;证据等级决定参数不确定区间宽度；敏感性分析判断这些不确定性是否实质改变主要结论&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8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1035" name="矩形 1034"/>
          <p:cNvSpPr/>
          <p:nvPr/>
        </p:nvSpPr>
        <p:spPr>
          <a:xfrm>
            <a:off x="0" y="0"/>
            <a:ext cx="12192000" cy="6858000"/>
          </a:xfrm>
          <a:prstGeom prst="rect">
            <a:avLst/>
          </a:prstGeom>
          <a:solidFill>
            <a:srgbClr val="FFFFFF"/>
          </a:solidFill>
        </p:spPr>
        <p:txBody>
          <a:bodyPr/>
          <a:p/>
        </p:txBody>
      </p:sp>
      <p:sp>
        <p:nvSpPr>
          <p:cNvPr id="1036" name="矩形 1035"/>
          <p:cNvSpPr/>
          <p:nvPr/>
        </p:nvSpPr>
        <p:spPr>
          <a:xfrm>
            <a:off x="0" y="0"/>
            <a:ext cx="12192000" cy="685800"/>
          </a:xfrm>
          <a:prstGeom prst="rect">
            <a:avLst/>
          </a:prstGeom>
          <a:solidFill>
            <a:srgbClr val="0E3F8C"/>
          </a:solidFill>
        </p:spPr>
        <p:txBody>
          <a:bodyPr/>
          <a:p/>
        </p:txBody>
      </p:sp>
      <p:sp>
        <p:nvSpPr>
          <p:cNvPr id="1037" name="圆角矩形 1036"/>
          <p:cNvSpPr/>
          <p:nvPr/>
        </p:nvSpPr>
        <p:spPr>
          <a:xfrm>
            <a:off x="381000" y="152400"/>
            <a:ext cx="381000" cy="381000"/>
          </a:xfrm>
          <a:prstGeom prst="roundRect">
            <a:avLst>
              <a:gd name="adj" fmla="val 25000"/>
            </a:avLst>
          </a:prstGeom>
          <a:solidFill>
            <a:srgbClr val="12489A"/>
          </a:solidFill>
        </p:spPr>
        <p:txBody>
          <a:bodyPr/>
          <a:p/>
        </p:txBody>
      </p:sp>
      <p:pic>
        <p:nvPicPr>
          <p:cNvPr id="1038" name="图片 1037"/>
          <p:cNvPicPr>
            <a:picLocks noChangeAspect="1"/>
          </p:cNvPicPr>
          <p:nvPr/>
        </p:nvPicPr>
        <p:blipFill>
          <a:blip/>
          <a:stretch>
            <a:fillRect/>
          </a:stretch>
        </p:blipFill>
        <p:spPr>
          <a:xfrm>
            <a:off x="466725" y="238125"/>
            <a:ext cx="209550" cy="209550"/>
          </a:xfrm>
          <a:prstGeom prst="rect">
            <a:avLst/>
          </a:prstGeom>
        </p:spPr>
      </p:pic>
      <p:sp>
        <p:nvSpPr>
          <p:cNvPr id="1039" name="文本框 1038" descr="{&quot;isTemplate&quot;:true,&quot;type&quot;:&quot;text&quot;}"/>
          <p:cNvSpPr txBox="1"/>
          <p:nvPr/>
        </p:nvSpPr>
        <p:spPr>
          <a:xfrm>
            <a:off x="895350" y="180975"/>
            <a:ext cx="469582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四类输出指标与不确定性、敏感性分析</a:t>
            </a:r>
            <a:endParaRPr lang="zh-CN" sz="2175" b="1">
              <a:solidFill>
                <a:srgbClr val="FFFFFF"/>
              </a:solidFill>
              <a:latin typeface="微软雅黑" panose="020B0503020204020204" charset="-122"/>
              <a:ea typeface="微软雅黑" panose="020B0503020204020204" charset="-122"/>
            </a:endParaRPr>
          </a:p>
        </p:txBody>
      </p:sp>
      <p:sp>
        <p:nvSpPr>
          <p:cNvPr id="1040" name="文本框 1039"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1041" name="圆角矩形 1040"/>
          <p:cNvSpPr/>
          <p:nvPr/>
        </p:nvSpPr>
        <p:spPr>
          <a:xfrm>
            <a:off x="11468100" y="238125"/>
            <a:ext cx="342900" cy="219075"/>
          </a:xfrm>
          <a:prstGeom prst="roundRect">
            <a:avLst>
              <a:gd name="adj" fmla="val 13043"/>
            </a:avLst>
          </a:prstGeom>
          <a:solidFill>
            <a:srgbClr val="FFC107"/>
          </a:solidFill>
        </p:spPr>
        <p:txBody>
          <a:bodyPr/>
          <a:p/>
        </p:txBody>
      </p:sp>
      <p:sp>
        <p:nvSpPr>
          <p:cNvPr id="1042" name="文本框 1041"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28</a:t>
            </a:r>
            <a:endParaRPr lang="en-US" sz="1050" b="1">
              <a:solidFill>
                <a:srgbClr val="0B3A82"/>
              </a:solidFill>
              <a:latin typeface="微软雅黑" panose="020B0503020204020204" charset="-122"/>
              <a:ea typeface="微软雅黑" panose="020B0503020204020204" charset="-122"/>
            </a:endParaRPr>
          </a:p>
        </p:txBody>
      </p:sp>
      <p:sp>
        <p:nvSpPr>
          <p:cNvPr id="1043" name="圆角矩形 1042"/>
          <p:cNvSpPr/>
          <p:nvPr/>
        </p:nvSpPr>
        <p:spPr>
          <a:xfrm>
            <a:off x="381000" y="800100"/>
            <a:ext cx="11430000" cy="438150"/>
          </a:xfrm>
          <a:prstGeom prst="roundRect">
            <a:avLst>
              <a:gd name="adj" fmla="val 8696"/>
            </a:avLst>
          </a:prstGeom>
          <a:solidFill>
            <a:srgbClr val="0B3A82"/>
          </a:solidFill>
        </p:spPr>
        <p:txBody>
          <a:bodyPr/>
          <a:p/>
        </p:txBody>
      </p:sp>
      <p:sp>
        <p:nvSpPr>
          <p:cNvPr id="1044" name="文本框 1043"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四组实验共用一套指标体系，总量、结构、边界与证据强度逐层对照</a:t>
            </a:r>
            <a:endParaRPr lang="zh-CN" sz="1575">
              <a:solidFill>
                <a:srgbClr val="FFFFFF"/>
              </a:solidFill>
              <a:latin typeface="微软雅黑" panose="020B0503020204020204" charset="-122"/>
              <a:ea typeface="微软雅黑" panose="020B0503020204020204" charset="-122"/>
            </a:endParaRPr>
          </a:p>
        </p:txBody>
      </p:sp>
      <p:sp>
        <p:nvSpPr>
          <p:cNvPr id="1045" name="圆角矩形 1044"/>
          <p:cNvSpPr/>
          <p:nvPr/>
        </p:nvSpPr>
        <p:spPr>
          <a:xfrm>
            <a:off x="381000" y="1400175"/>
            <a:ext cx="2762250" cy="2667000"/>
          </a:xfrm>
          <a:prstGeom prst="roundRect">
            <a:avLst>
              <a:gd name="adj" fmla="val 2143"/>
            </a:avLst>
          </a:prstGeom>
          <a:solidFill>
            <a:srgbClr val="F7F9FC"/>
          </a:solidFill>
        </p:spPr>
        <p:txBody>
          <a:bodyPr/>
          <a:p/>
        </p:txBody>
      </p:sp>
      <p:sp>
        <p:nvSpPr>
          <p:cNvPr id="1046" name="任意多边形 1045"/>
          <p:cNvSpPr/>
          <p:nvPr/>
        </p:nvSpPr>
        <p:spPr>
          <a:xfrm>
            <a:off x="381000" y="1400175"/>
            <a:ext cx="2762250" cy="2667000"/>
          </a:xfrm>
          <a:custGeom>
            <a:avLst/>
            <a:gdLst/>
            <a:ahLst/>
            <a:cxnLst/>
            <a:pathLst>
              <a:path w="290" h="280">
                <a:moveTo>
                  <a:pt x="284" y="0"/>
                </a:moveTo>
                <a:cubicBezTo>
                  <a:pt x="287" y="0"/>
                  <a:pt x="290" y="3"/>
                  <a:pt x="290" y="6"/>
                </a:cubicBezTo>
                <a:cubicBezTo>
                  <a:pt x="290" y="5"/>
                  <a:pt x="289" y="5"/>
                  <a:pt x="289" y="5"/>
                </a:cubicBezTo>
                <a:lnTo>
                  <a:pt x="1" y="5"/>
                </a:lnTo>
                <a:cubicBezTo>
                  <a:pt x="0" y="5"/>
                  <a:pt x="0" y="5"/>
                  <a:pt x="0" y="6"/>
                </a:cubicBezTo>
                <a:cubicBezTo>
                  <a:pt x="0" y="3"/>
                  <a:pt x="3" y="0"/>
                  <a:pt x="6" y="0"/>
                </a:cubicBezTo>
                <a:lnTo>
                  <a:pt x="284" y="0"/>
                </a:lnTo>
                <a:close/>
              </a:path>
            </a:pathLst>
          </a:custGeom>
          <a:solidFill>
            <a:srgbClr val="1E4FA8"/>
          </a:solidFill>
        </p:spPr>
        <p:txBody>
          <a:bodyPr/>
          <a:p/>
        </p:txBody>
      </p:sp>
      <p:sp>
        <p:nvSpPr>
          <p:cNvPr id="1047" name="文本框 1046" descr="{&quot;isTemplate&quot;:true,&quot;type&quot;:&quot;text&quot;}"/>
          <p:cNvSpPr txBox="1"/>
          <p:nvPr/>
        </p:nvSpPr>
        <p:spPr>
          <a:xfrm>
            <a:off x="495300" y="1514475"/>
            <a:ext cx="2533650"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规模类指标</a:t>
            </a:r>
            <a:endParaRPr lang="zh-CN" sz="1425" b="1">
              <a:solidFill>
                <a:srgbClr val="0E3F8C"/>
              </a:solidFill>
              <a:latin typeface="微软雅黑" panose="020B0503020204020204" charset="-122"/>
              <a:ea typeface="微软雅黑" panose="020B0503020204020204" charset="-122"/>
            </a:endParaRPr>
          </a:p>
        </p:txBody>
      </p:sp>
      <p:sp>
        <p:nvSpPr>
          <p:cNvPr id="1048" name="文本框 1047" descr="{&quot;isTemplate&quot;:true,&quot;type&quot;:&quot;text&quot;}"/>
          <p:cNvSpPr txBox="1"/>
          <p:nvPr/>
        </p:nvSpPr>
        <p:spPr>
          <a:xfrm>
            <a:off x="495300" y="1781175"/>
            <a:ext cx="2533650"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取水量、耗水量、回流量的绝对值与相对基准水流占比</a:t>
            </a:r>
            <a:endParaRPr lang="zh-CN" sz="1165">
              <a:solidFill>
                <a:srgbClr val="1A2230"/>
              </a:solidFill>
              <a:latin typeface="微软雅黑" panose="020B0503020204020204" charset="-122"/>
              <a:ea typeface="微软雅黑" panose="020B0503020204020204" charset="-122"/>
            </a:endParaRPr>
          </a:p>
        </p:txBody>
      </p:sp>
      <p:sp>
        <p:nvSpPr>
          <p:cNvPr id="1049" name="文本框 1048" descr="{&quot;isTemplate&quot;:true,&quot;type&quot;:&quot;text&quot;}"/>
          <p:cNvSpPr txBox="1"/>
          <p:nvPr/>
        </p:nvSpPr>
        <p:spPr>
          <a:xfrm>
            <a:off x="495300" y="2295525"/>
            <a:ext cx="2533650"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a:t>
            </a:r>
            <a:r>
              <a:rPr lang="en-US" sz="1165">
                <a:solidFill>
                  <a:srgbClr val="1A2230"/>
                </a:solidFill>
                <a:latin typeface="微软雅黑" panose="020B0503020204020204" charset="-122"/>
                <a:ea typeface="微软雅黑" panose="020B0503020204020204" charset="-122"/>
              </a:rPr>
              <a:t>AI </a:t>
            </a:r>
            <a:r>
              <a:rPr lang="zh-CN" sz="1165">
                <a:solidFill>
                  <a:srgbClr val="1A2230"/>
                </a:solidFill>
                <a:latin typeface="微软雅黑" panose="020B0503020204020204" charset="-122"/>
                <a:ea typeface="微软雅黑" panose="020B0503020204020204" charset="-122"/>
              </a:rPr>
              <a:t>节点占城市供水、污水与再生水通量的份额</a:t>
            </a:r>
            <a:endParaRPr lang="zh-CN" sz="1165">
              <a:solidFill>
                <a:srgbClr val="1A2230"/>
              </a:solidFill>
              <a:latin typeface="微软雅黑" panose="020B0503020204020204" charset="-122"/>
              <a:ea typeface="微软雅黑" panose="020B0503020204020204" charset="-122"/>
            </a:endParaRPr>
          </a:p>
        </p:txBody>
      </p:sp>
      <p:sp>
        <p:nvSpPr>
          <p:cNvPr id="1050" name="文本框 1049" descr="{&quot;isTemplate&quot;:true,&quot;type&quot;:&quot;text&quot;}"/>
          <p:cNvSpPr txBox="1"/>
          <p:nvPr/>
        </p:nvSpPr>
        <p:spPr>
          <a:xfrm>
            <a:off x="495300" y="2809875"/>
            <a:ext cx="2533650"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年、日、小时三个尺度的峰值与分位数</a:t>
            </a:r>
            <a:endParaRPr lang="zh-CN" sz="1165">
              <a:solidFill>
                <a:srgbClr val="1A2230"/>
              </a:solidFill>
              <a:latin typeface="微软雅黑" panose="020B0503020204020204" charset="-122"/>
              <a:ea typeface="微软雅黑" panose="020B0503020204020204" charset="-122"/>
            </a:endParaRPr>
          </a:p>
        </p:txBody>
      </p:sp>
      <p:sp>
        <p:nvSpPr>
          <p:cNvPr id="1051" name="圆角矩形 1050"/>
          <p:cNvSpPr/>
          <p:nvPr/>
        </p:nvSpPr>
        <p:spPr>
          <a:xfrm>
            <a:off x="495300" y="3324225"/>
            <a:ext cx="2533650" cy="581025"/>
          </a:xfrm>
          <a:prstGeom prst="roundRect">
            <a:avLst>
              <a:gd name="adj" fmla="val 6557"/>
            </a:avLst>
          </a:prstGeom>
          <a:solidFill>
            <a:srgbClr val="E8EFF8"/>
          </a:solidFill>
        </p:spPr>
        <p:txBody>
          <a:bodyPr/>
          <a:p/>
        </p:txBody>
      </p:sp>
      <p:sp>
        <p:nvSpPr>
          <p:cNvPr id="1052" name="文本框 1051" descr="{&quot;isTemplate&quot;:true,&quot;type&quot;:&quot;text&quot;}"/>
          <p:cNvSpPr txBox="1"/>
          <p:nvPr/>
        </p:nvSpPr>
        <p:spPr>
          <a:xfrm>
            <a:off x="552450" y="3381375"/>
            <a:ext cx="2419350" cy="466725"/>
          </a:xfrm>
          <a:prstGeom prst="rect">
            <a:avLst/>
          </a:prstGeom>
        </p:spPr>
        <p:txBody>
          <a:bodyPr wrap="square" lIns="0" tIns="0" rIns="0" bIns="0">
            <a:normAutofit/>
          </a:bodyPr>
          <a:p>
            <a:pPr>
              <a:lnSpc>
                <a:spcPct val="135000"/>
              </a:lnSpc>
            </a:pPr>
            <a:r>
              <a:rPr lang="zh-CN" sz="1125">
                <a:solidFill>
                  <a:srgbClr val="0E3F8C"/>
                </a:solidFill>
                <a:latin typeface="微软雅黑" panose="020B0503020204020204" charset="-122"/>
                <a:ea typeface="微软雅黑" panose="020B0503020204020204" charset="-122"/>
              </a:rPr>
              <a:t>回答：量有多大、是否形成主要新增负荷</a:t>
            </a:r>
            <a:endParaRPr lang="zh-CN" sz="1125">
              <a:solidFill>
                <a:srgbClr val="0E3F8C"/>
              </a:solidFill>
              <a:latin typeface="微软雅黑" panose="020B0503020204020204" charset="-122"/>
              <a:ea typeface="微软雅黑" panose="020B0503020204020204" charset="-122"/>
            </a:endParaRPr>
          </a:p>
        </p:txBody>
      </p:sp>
      <p:sp>
        <p:nvSpPr>
          <p:cNvPr id="1053" name="圆角矩形 1052"/>
          <p:cNvSpPr/>
          <p:nvPr/>
        </p:nvSpPr>
        <p:spPr>
          <a:xfrm>
            <a:off x="3267075" y="1400175"/>
            <a:ext cx="2771775" cy="2667000"/>
          </a:xfrm>
          <a:prstGeom prst="roundRect">
            <a:avLst>
              <a:gd name="adj" fmla="val 2143"/>
            </a:avLst>
          </a:prstGeom>
          <a:solidFill>
            <a:srgbClr val="F7F9FC"/>
          </a:solidFill>
        </p:spPr>
        <p:txBody>
          <a:bodyPr/>
          <a:p/>
        </p:txBody>
      </p:sp>
      <p:sp>
        <p:nvSpPr>
          <p:cNvPr id="1054" name="任意多边形 1053"/>
          <p:cNvSpPr/>
          <p:nvPr/>
        </p:nvSpPr>
        <p:spPr>
          <a:xfrm>
            <a:off x="3267075" y="1400175"/>
            <a:ext cx="2771775" cy="2667000"/>
          </a:xfrm>
          <a:custGeom>
            <a:avLst/>
            <a:gdLst/>
            <a:ahLst/>
            <a:cxnLst/>
            <a:pathLst>
              <a:path w="291" h="280">
                <a:moveTo>
                  <a:pt x="285" y="0"/>
                </a:moveTo>
                <a:cubicBezTo>
                  <a:pt x="288" y="0"/>
                  <a:pt x="291" y="3"/>
                  <a:pt x="291" y="6"/>
                </a:cubicBezTo>
                <a:cubicBezTo>
                  <a:pt x="291" y="5"/>
                  <a:pt x="290" y="5"/>
                  <a:pt x="290" y="5"/>
                </a:cubicBezTo>
                <a:lnTo>
                  <a:pt x="1" y="5"/>
                </a:lnTo>
                <a:cubicBezTo>
                  <a:pt x="0" y="5"/>
                  <a:pt x="0" y="5"/>
                  <a:pt x="0" y="6"/>
                </a:cubicBezTo>
                <a:cubicBezTo>
                  <a:pt x="0" y="3"/>
                  <a:pt x="3" y="0"/>
                  <a:pt x="6" y="0"/>
                </a:cubicBezTo>
                <a:lnTo>
                  <a:pt x="285" y="0"/>
                </a:lnTo>
                <a:close/>
              </a:path>
            </a:pathLst>
          </a:custGeom>
          <a:solidFill>
            <a:srgbClr val="1E4FA8"/>
          </a:solidFill>
        </p:spPr>
        <p:txBody>
          <a:bodyPr/>
          <a:p/>
        </p:txBody>
      </p:sp>
      <p:sp>
        <p:nvSpPr>
          <p:cNvPr id="1055" name="文本框 1054" descr="{&quot;isTemplate&quot;:true,&quot;type&quot;:&quot;text&quot;}"/>
          <p:cNvSpPr txBox="1"/>
          <p:nvPr/>
        </p:nvSpPr>
        <p:spPr>
          <a:xfrm>
            <a:off x="3381375" y="1514475"/>
            <a:ext cx="2543175"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结构类指标</a:t>
            </a:r>
            <a:endParaRPr lang="zh-CN" sz="1425" b="1">
              <a:solidFill>
                <a:srgbClr val="0E3F8C"/>
              </a:solidFill>
              <a:latin typeface="微软雅黑" panose="020B0503020204020204" charset="-122"/>
              <a:ea typeface="微软雅黑" panose="020B0503020204020204" charset="-122"/>
            </a:endParaRPr>
          </a:p>
        </p:txBody>
      </p:sp>
      <p:sp>
        <p:nvSpPr>
          <p:cNvPr id="1056" name="文本框 1055" descr="{&quot;isTemplate&quot;:true,&quot;type&quot;:&quot;text&quot;}"/>
          <p:cNvSpPr txBox="1"/>
          <p:nvPr/>
        </p:nvSpPr>
        <p:spPr>
          <a:xfrm>
            <a:off x="3381375" y="1781175"/>
            <a:ext cx="2543175"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外部输入、内部回用、最终排放三者的构成比</a:t>
            </a:r>
            <a:endParaRPr lang="zh-CN" sz="1165">
              <a:solidFill>
                <a:srgbClr val="1A2230"/>
              </a:solidFill>
              <a:latin typeface="微软雅黑" panose="020B0503020204020204" charset="-122"/>
              <a:ea typeface="微软雅黑" panose="020B0503020204020204" charset="-122"/>
            </a:endParaRPr>
          </a:p>
        </p:txBody>
      </p:sp>
      <p:sp>
        <p:nvSpPr>
          <p:cNvPr id="1057" name="文本框 1056" descr="{&quot;isTemplate&quot;:true,&quot;type&quot;:&quot;text&quot;}"/>
          <p:cNvSpPr txBox="1"/>
          <p:nvPr/>
        </p:nvSpPr>
        <p:spPr>
          <a:xfrm>
            <a:off x="3381375" y="2295525"/>
            <a:ext cx="2543175"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再生水占冷却补水的比例与内部循环强度</a:t>
            </a:r>
            <a:endParaRPr lang="zh-CN" sz="1165">
              <a:solidFill>
                <a:srgbClr val="1A2230"/>
              </a:solidFill>
              <a:latin typeface="微软雅黑" panose="020B0503020204020204" charset="-122"/>
              <a:ea typeface="微软雅黑" panose="020B0503020204020204" charset="-122"/>
            </a:endParaRPr>
          </a:p>
        </p:txBody>
      </p:sp>
      <p:sp>
        <p:nvSpPr>
          <p:cNvPr id="1058" name="文本框 1057" descr="{&quot;isTemplate&quot;:true,&quot;type&quot;:&quot;text&quot;}"/>
          <p:cNvSpPr txBox="1"/>
          <p:nvPr/>
        </p:nvSpPr>
        <p:spPr>
          <a:xfrm>
            <a:off x="3381375" y="2809875"/>
            <a:ext cx="2543175"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与普通工业节点的通量、时序、位置结构距离</a:t>
            </a:r>
            <a:endParaRPr lang="zh-CN" sz="1165">
              <a:solidFill>
                <a:srgbClr val="1A2230"/>
              </a:solidFill>
              <a:latin typeface="微软雅黑" panose="020B0503020204020204" charset="-122"/>
              <a:ea typeface="微软雅黑" panose="020B0503020204020204" charset="-122"/>
            </a:endParaRPr>
          </a:p>
        </p:txBody>
      </p:sp>
      <p:sp>
        <p:nvSpPr>
          <p:cNvPr id="1059" name="圆角矩形 1058"/>
          <p:cNvSpPr/>
          <p:nvPr/>
        </p:nvSpPr>
        <p:spPr>
          <a:xfrm>
            <a:off x="3381375" y="3552825"/>
            <a:ext cx="2543175" cy="352425"/>
          </a:xfrm>
          <a:prstGeom prst="roundRect">
            <a:avLst>
              <a:gd name="adj" fmla="val 10811"/>
            </a:avLst>
          </a:prstGeom>
          <a:solidFill>
            <a:srgbClr val="E8EFF8"/>
          </a:solidFill>
        </p:spPr>
        <p:txBody>
          <a:bodyPr/>
          <a:p/>
        </p:txBody>
      </p:sp>
      <p:sp>
        <p:nvSpPr>
          <p:cNvPr id="1060" name="文本框 1059" descr="{&quot;isTemplate&quot;:true,&quot;type&quot;:&quot;text&quot;}"/>
          <p:cNvSpPr txBox="1"/>
          <p:nvPr/>
        </p:nvSpPr>
        <p:spPr>
          <a:xfrm>
            <a:off x="3438525" y="3609975"/>
            <a:ext cx="2428875" cy="238125"/>
          </a:xfrm>
          <a:prstGeom prst="rect">
            <a:avLst/>
          </a:prstGeom>
        </p:spPr>
        <p:txBody>
          <a:bodyPr wrap="none" lIns="0" tIns="0" rIns="0" bIns="0"/>
          <a:p>
            <a:pPr>
              <a:lnSpc>
                <a:spcPct val="135000"/>
              </a:lnSpc>
            </a:pPr>
            <a:r>
              <a:rPr lang="zh-CN" sz="1125">
                <a:solidFill>
                  <a:srgbClr val="0E3F8C"/>
                </a:solidFill>
                <a:latin typeface="微软雅黑" panose="020B0503020204020204" charset="-122"/>
                <a:ea typeface="微软雅黑" panose="020B0503020204020204" charset="-122"/>
              </a:rPr>
              <a:t>回答：系统是否被重构、重构始于何处</a:t>
            </a:r>
            <a:endParaRPr lang="zh-CN" sz="1125">
              <a:solidFill>
                <a:srgbClr val="0E3F8C"/>
              </a:solidFill>
              <a:latin typeface="微软雅黑" panose="020B0503020204020204" charset="-122"/>
              <a:ea typeface="微软雅黑" panose="020B0503020204020204" charset="-122"/>
            </a:endParaRPr>
          </a:p>
        </p:txBody>
      </p:sp>
      <p:sp>
        <p:nvSpPr>
          <p:cNvPr id="1061" name="圆角矩形 1060"/>
          <p:cNvSpPr/>
          <p:nvPr/>
        </p:nvSpPr>
        <p:spPr>
          <a:xfrm>
            <a:off x="6162675" y="1400175"/>
            <a:ext cx="2762250" cy="2667000"/>
          </a:xfrm>
          <a:prstGeom prst="roundRect">
            <a:avLst>
              <a:gd name="adj" fmla="val 2143"/>
            </a:avLst>
          </a:prstGeom>
          <a:solidFill>
            <a:srgbClr val="F7F9FC"/>
          </a:solidFill>
        </p:spPr>
        <p:txBody>
          <a:bodyPr/>
          <a:p/>
        </p:txBody>
      </p:sp>
      <p:sp>
        <p:nvSpPr>
          <p:cNvPr id="1062" name="任意多边形 1061"/>
          <p:cNvSpPr/>
          <p:nvPr/>
        </p:nvSpPr>
        <p:spPr>
          <a:xfrm>
            <a:off x="6162675" y="1400175"/>
            <a:ext cx="2762250" cy="2667000"/>
          </a:xfrm>
          <a:custGeom>
            <a:avLst/>
            <a:gdLst/>
            <a:ahLst/>
            <a:cxnLst/>
            <a:pathLst>
              <a:path w="290" h="280">
                <a:moveTo>
                  <a:pt x="284" y="0"/>
                </a:moveTo>
                <a:cubicBezTo>
                  <a:pt x="287" y="0"/>
                  <a:pt x="290" y="3"/>
                  <a:pt x="290" y="6"/>
                </a:cubicBezTo>
                <a:cubicBezTo>
                  <a:pt x="290" y="5"/>
                  <a:pt x="289" y="5"/>
                  <a:pt x="289" y="5"/>
                </a:cubicBezTo>
                <a:lnTo>
                  <a:pt x="1" y="5"/>
                </a:lnTo>
                <a:cubicBezTo>
                  <a:pt x="0" y="5"/>
                  <a:pt x="0" y="5"/>
                  <a:pt x="0" y="6"/>
                </a:cubicBezTo>
                <a:cubicBezTo>
                  <a:pt x="0" y="3"/>
                  <a:pt x="3" y="0"/>
                  <a:pt x="6" y="0"/>
                </a:cubicBezTo>
                <a:lnTo>
                  <a:pt x="284" y="0"/>
                </a:lnTo>
                <a:close/>
              </a:path>
            </a:pathLst>
          </a:custGeom>
          <a:solidFill>
            <a:srgbClr val="1E4FA8"/>
          </a:solidFill>
        </p:spPr>
        <p:txBody>
          <a:bodyPr/>
          <a:p/>
        </p:txBody>
      </p:sp>
      <p:sp>
        <p:nvSpPr>
          <p:cNvPr id="1063" name="文本框 1062" descr="{&quot;isTemplate&quot;:true,&quot;type&quot;:&quot;text&quot;}"/>
          <p:cNvSpPr txBox="1"/>
          <p:nvPr/>
        </p:nvSpPr>
        <p:spPr>
          <a:xfrm>
            <a:off x="6276975" y="1514475"/>
            <a:ext cx="2533650"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承载类指标</a:t>
            </a:r>
            <a:endParaRPr lang="zh-CN" sz="1425" b="1">
              <a:solidFill>
                <a:srgbClr val="0E3F8C"/>
              </a:solidFill>
              <a:latin typeface="微软雅黑" panose="020B0503020204020204" charset="-122"/>
              <a:ea typeface="微软雅黑" panose="020B0503020204020204" charset="-122"/>
            </a:endParaRPr>
          </a:p>
        </p:txBody>
      </p:sp>
      <p:sp>
        <p:nvSpPr>
          <p:cNvPr id="1064" name="文本框 1063" descr="{&quot;isTemplate&quot;:true,&quot;type&quot;:&quot;text&quot;}"/>
          <p:cNvSpPr txBox="1"/>
          <p:nvPr/>
        </p:nvSpPr>
        <p:spPr>
          <a:xfrm>
            <a:off x="6276975" y="1781175"/>
            <a:ext cx="2533650"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a:t>
            </a:r>
            <a:r>
              <a:rPr lang="en-US" sz="1165">
                <a:solidFill>
                  <a:srgbClr val="1A2230"/>
                </a:solidFill>
                <a:latin typeface="微软雅黑" panose="020B0503020204020204" charset="-122"/>
                <a:ea typeface="微软雅黑" panose="020B0503020204020204" charset="-122"/>
              </a:rPr>
              <a:t>CAWCC </a:t>
            </a:r>
            <a:r>
              <a:rPr lang="zh-CN" sz="1165">
                <a:solidFill>
                  <a:srgbClr val="1A2230"/>
                </a:solidFill>
                <a:latin typeface="微软雅黑" panose="020B0503020204020204" charset="-122"/>
                <a:ea typeface="微软雅黑" panose="020B0503020204020204" charset="-122"/>
              </a:rPr>
              <a:t>点估计、可行区间、首次与最终失效容量</a:t>
            </a:r>
            <a:endParaRPr lang="zh-CN" sz="1165">
              <a:solidFill>
                <a:srgbClr val="1A2230"/>
              </a:solidFill>
              <a:latin typeface="微软雅黑" panose="020B0503020204020204" charset="-122"/>
              <a:ea typeface="微软雅黑" panose="020B0503020204020204" charset="-122"/>
            </a:endParaRPr>
          </a:p>
        </p:txBody>
      </p:sp>
      <p:sp>
        <p:nvSpPr>
          <p:cNvPr id="1065" name="文本框 1064" descr="{&quot;isTemplate&quot;:true,&quot;type&quot;:&quot;text&quot;}"/>
          <p:cNvSpPr txBox="1"/>
          <p:nvPr/>
        </p:nvSpPr>
        <p:spPr>
          <a:xfrm>
            <a:off x="6276975" y="2295525"/>
            <a:ext cx="2533650"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各约束剩余裕度、持续失效时长与恢复条件</a:t>
            </a:r>
            <a:endParaRPr lang="zh-CN" sz="1165">
              <a:solidFill>
                <a:srgbClr val="1A2230"/>
              </a:solidFill>
              <a:latin typeface="微软雅黑" panose="020B0503020204020204" charset="-122"/>
              <a:ea typeface="微软雅黑" panose="020B0503020204020204" charset="-122"/>
            </a:endParaRPr>
          </a:p>
        </p:txBody>
      </p:sp>
      <p:sp>
        <p:nvSpPr>
          <p:cNvPr id="1066" name="文本框 1065" descr="{&quot;isTemplate&quot;:true,&quot;type&quot;:&quot;text&quot;}"/>
          <p:cNvSpPr txBox="1"/>
          <p:nvPr/>
        </p:nvSpPr>
        <p:spPr>
          <a:xfrm>
            <a:off x="6276975" y="2809875"/>
            <a:ext cx="2533650"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　Δ</a:t>
            </a:r>
            <a:r>
              <a:rPr lang="en-US" sz="1165">
                <a:solidFill>
                  <a:srgbClr val="1A2230"/>
                </a:solidFill>
                <a:latin typeface="微软雅黑" panose="020B0503020204020204" charset="-122"/>
                <a:ea typeface="微软雅黑" panose="020B0503020204020204" charset="-122"/>
              </a:rPr>
              <a:t>CAWCC</a:t>
            </a:r>
            <a:r>
              <a:rPr lang="zh-CN" sz="1165">
                <a:solidFill>
                  <a:srgbClr val="1A2230"/>
                </a:solidFill>
                <a:latin typeface="微软雅黑" panose="020B0503020204020204" charset="-122"/>
                <a:ea typeface="微软雅黑" panose="020B0503020204020204" charset="-122"/>
              </a:rPr>
              <a:t>、可靠性、恢复性、脆弱性三维评价</a:t>
            </a:r>
            <a:endParaRPr lang="zh-CN" sz="1165">
              <a:solidFill>
                <a:srgbClr val="1A2230"/>
              </a:solidFill>
              <a:latin typeface="微软雅黑" panose="020B0503020204020204" charset="-122"/>
              <a:ea typeface="微软雅黑" panose="020B0503020204020204" charset="-122"/>
            </a:endParaRPr>
          </a:p>
        </p:txBody>
      </p:sp>
      <p:sp>
        <p:nvSpPr>
          <p:cNvPr id="1067" name="圆角矩形 1066"/>
          <p:cNvSpPr/>
          <p:nvPr/>
        </p:nvSpPr>
        <p:spPr>
          <a:xfrm>
            <a:off x="6276975" y="3324225"/>
            <a:ext cx="2533650" cy="581025"/>
          </a:xfrm>
          <a:prstGeom prst="roundRect">
            <a:avLst>
              <a:gd name="adj" fmla="val 6557"/>
            </a:avLst>
          </a:prstGeom>
          <a:solidFill>
            <a:srgbClr val="E8EFF8"/>
          </a:solidFill>
        </p:spPr>
        <p:txBody>
          <a:bodyPr/>
          <a:p/>
        </p:txBody>
      </p:sp>
      <p:sp>
        <p:nvSpPr>
          <p:cNvPr id="1068" name="文本框 1067" descr="{&quot;isTemplate&quot;:true,&quot;type&quot;:&quot;text&quot;}"/>
          <p:cNvSpPr txBox="1"/>
          <p:nvPr/>
        </p:nvSpPr>
        <p:spPr>
          <a:xfrm>
            <a:off x="6334125" y="3381375"/>
            <a:ext cx="2419350" cy="466725"/>
          </a:xfrm>
          <a:prstGeom prst="rect">
            <a:avLst/>
          </a:prstGeom>
        </p:spPr>
        <p:txBody>
          <a:bodyPr wrap="square" lIns="0" tIns="0" rIns="0" bIns="0">
            <a:normAutofit/>
          </a:bodyPr>
          <a:p>
            <a:pPr>
              <a:lnSpc>
                <a:spcPct val="135000"/>
              </a:lnSpc>
            </a:pPr>
            <a:r>
              <a:rPr lang="zh-CN" sz="1125">
                <a:solidFill>
                  <a:srgbClr val="0E3F8C"/>
                </a:solidFill>
                <a:latin typeface="微软雅黑" panose="020B0503020204020204" charset="-122"/>
                <a:ea typeface="微软雅黑" panose="020B0503020204020204" charset="-122"/>
              </a:rPr>
              <a:t>回答：边界在哪里、由哪一项约束决定</a:t>
            </a:r>
            <a:endParaRPr lang="zh-CN" sz="1125">
              <a:solidFill>
                <a:srgbClr val="0E3F8C"/>
              </a:solidFill>
              <a:latin typeface="微软雅黑" panose="020B0503020204020204" charset="-122"/>
              <a:ea typeface="微软雅黑" panose="020B0503020204020204" charset="-122"/>
            </a:endParaRPr>
          </a:p>
        </p:txBody>
      </p:sp>
      <p:sp>
        <p:nvSpPr>
          <p:cNvPr id="1069" name="圆角矩形 1068"/>
          <p:cNvSpPr/>
          <p:nvPr/>
        </p:nvSpPr>
        <p:spPr>
          <a:xfrm>
            <a:off x="9048750" y="1400175"/>
            <a:ext cx="2762250" cy="2438400"/>
          </a:xfrm>
          <a:prstGeom prst="roundRect">
            <a:avLst>
              <a:gd name="adj" fmla="val 2344"/>
            </a:avLst>
          </a:prstGeom>
          <a:solidFill>
            <a:srgbClr val="0E3F8C"/>
          </a:solidFill>
        </p:spPr>
        <p:txBody>
          <a:bodyPr/>
          <a:p/>
        </p:txBody>
      </p:sp>
      <p:sp>
        <p:nvSpPr>
          <p:cNvPr id="1070" name="任意多边形 1069"/>
          <p:cNvSpPr/>
          <p:nvPr/>
        </p:nvSpPr>
        <p:spPr>
          <a:xfrm>
            <a:off x="9048750" y="1400175"/>
            <a:ext cx="2762250" cy="2438400"/>
          </a:xfrm>
          <a:custGeom>
            <a:avLst/>
            <a:gdLst/>
            <a:ahLst/>
            <a:cxnLst/>
            <a:pathLst>
              <a:path w="290" h="256">
                <a:moveTo>
                  <a:pt x="284" y="0"/>
                </a:moveTo>
                <a:cubicBezTo>
                  <a:pt x="287" y="0"/>
                  <a:pt x="290" y="3"/>
                  <a:pt x="290" y="6"/>
                </a:cubicBezTo>
                <a:cubicBezTo>
                  <a:pt x="290" y="5"/>
                  <a:pt x="289" y="5"/>
                  <a:pt x="289" y="5"/>
                </a:cubicBezTo>
                <a:lnTo>
                  <a:pt x="1" y="5"/>
                </a:lnTo>
                <a:cubicBezTo>
                  <a:pt x="0" y="5"/>
                  <a:pt x="0" y="5"/>
                  <a:pt x="0" y="6"/>
                </a:cubicBezTo>
                <a:cubicBezTo>
                  <a:pt x="0" y="3"/>
                  <a:pt x="3" y="0"/>
                  <a:pt x="6" y="0"/>
                </a:cubicBezTo>
                <a:lnTo>
                  <a:pt x="284" y="0"/>
                </a:lnTo>
                <a:close/>
              </a:path>
            </a:pathLst>
          </a:custGeom>
          <a:solidFill>
            <a:srgbClr val="FFC107"/>
          </a:solidFill>
        </p:spPr>
        <p:txBody>
          <a:bodyPr/>
          <a:p/>
        </p:txBody>
      </p:sp>
      <p:sp>
        <p:nvSpPr>
          <p:cNvPr id="1071" name="文本框 1070" descr="{&quot;isTemplate&quot;:true,&quot;type&quot;:&quot;text&quot;}"/>
          <p:cNvSpPr txBox="1"/>
          <p:nvPr/>
        </p:nvSpPr>
        <p:spPr>
          <a:xfrm>
            <a:off x="9163050" y="1514475"/>
            <a:ext cx="2533650"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证据类指标</a:t>
            </a:r>
            <a:endParaRPr lang="zh-CN" sz="1425" b="1">
              <a:solidFill>
                <a:srgbClr val="FFFFFF"/>
              </a:solidFill>
              <a:latin typeface="微软雅黑" panose="020B0503020204020204" charset="-122"/>
              <a:ea typeface="微软雅黑" panose="020B0503020204020204" charset="-122"/>
            </a:endParaRPr>
          </a:p>
        </p:txBody>
      </p:sp>
      <p:sp>
        <p:nvSpPr>
          <p:cNvPr id="1072" name="文本框 1071" descr="{&quot;isTemplate&quot;:true,&quot;type&quot;:&quot;text&quot;}"/>
          <p:cNvSpPr txBox="1"/>
          <p:nvPr/>
        </p:nvSpPr>
        <p:spPr>
          <a:xfrm>
            <a:off x="9163050" y="1781175"/>
            <a:ext cx="2533650" cy="514350"/>
          </a:xfrm>
          <a:prstGeom prst="rect">
            <a:avLst/>
          </a:prstGeom>
        </p:spPr>
        <p:txBody>
          <a:bodyPr wrap="square" lIns="0" tIns="0" rIns="0" bIns="0">
            <a:normAutofit/>
          </a:bodyPr>
          <a:p>
            <a:pPr>
              <a:lnSpc>
                <a:spcPct val="145000"/>
              </a:lnSpc>
            </a:pPr>
            <a:r>
              <a:rPr lang="zh-CN" sz="1165">
                <a:solidFill>
                  <a:srgbClr val="E4EDF9"/>
                </a:solidFill>
                <a:latin typeface="微软雅黑" panose="020B0503020204020204" charset="-122"/>
                <a:ea typeface="微软雅黑" panose="020B0503020204020204" charset="-122"/>
              </a:rPr>
              <a:t>·　参数来源、年份、适用工况与证据等级标注</a:t>
            </a:r>
            <a:endParaRPr lang="zh-CN" sz="1165">
              <a:solidFill>
                <a:srgbClr val="E4EDF9"/>
              </a:solidFill>
              <a:latin typeface="微软雅黑" panose="020B0503020204020204" charset="-122"/>
              <a:ea typeface="微软雅黑" panose="020B0503020204020204" charset="-122"/>
            </a:endParaRPr>
          </a:p>
        </p:txBody>
      </p:sp>
      <p:sp>
        <p:nvSpPr>
          <p:cNvPr id="1073" name="文本框 1072" descr="{&quot;isTemplate&quot;:true,&quot;type&quot;:&quot;text&quot;}"/>
          <p:cNvSpPr txBox="1"/>
          <p:nvPr/>
        </p:nvSpPr>
        <p:spPr>
          <a:xfrm>
            <a:off x="9163050" y="2295525"/>
            <a:ext cx="2533650" cy="514350"/>
          </a:xfrm>
          <a:prstGeom prst="rect">
            <a:avLst/>
          </a:prstGeom>
        </p:spPr>
        <p:txBody>
          <a:bodyPr wrap="square" lIns="0" tIns="0" rIns="0" bIns="0">
            <a:normAutofit/>
          </a:bodyPr>
          <a:p>
            <a:pPr>
              <a:lnSpc>
                <a:spcPct val="145000"/>
              </a:lnSpc>
            </a:pPr>
            <a:r>
              <a:rPr lang="zh-CN" sz="1165">
                <a:solidFill>
                  <a:srgbClr val="E4EDF9"/>
                </a:solidFill>
                <a:latin typeface="微软雅黑" panose="020B0503020204020204" charset="-122"/>
                <a:ea typeface="微软雅黑" panose="020B0503020204020204" charset="-122"/>
              </a:rPr>
              <a:t>·　敏感性排序、效应量与交互作用强度</a:t>
            </a:r>
            <a:endParaRPr lang="zh-CN" sz="1165">
              <a:solidFill>
                <a:srgbClr val="E4EDF9"/>
              </a:solidFill>
              <a:latin typeface="微软雅黑" panose="020B0503020204020204" charset="-122"/>
              <a:ea typeface="微软雅黑" panose="020B0503020204020204" charset="-122"/>
            </a:endParaRPr>
          </a:p>
        </p:txBody>
      </p:sp>
      <p:sp>
        <p:nvSpPr>
          <p:cNvPr id="1074" name="文本框 1073" descr="{&quot;isTemplate&quot;:true,&quot;type&quot;:&quot;text&quot;}"/>
          <p:cNvSpPr txBox="1"/>
          <p:nvPr/>
        </p:nvSpPr>
        <p:spPr>
          <a:xfrm>
            <a:off x="9163050" y="2809875"/>
            <a:ext cx="2533650" cy="514350"/>
          </a:xfrm>
          <a:prstGeom prst="rect">
            <a:avLst/>
          </a:prstGeom>
        </p:spPr>
        <p:txBody>
          <a:bodyPr wrap="square" lIns="0" tIns="0" rIns="0" bIns="0">
            <a:normAutofit/>
          </a:bodyPr>
          <a:p>
            <a:pPr>
              <a:lnSpc>
                <a:spcPct val="145000"/>
              </a:lnSpc>
            </a:pPr>
            <a:r>
              <a:rPr lang="zh-CN" sz="1165">
                <a:solidFill>
                  <a:srgbClr val="E4EDF9"/>
                </a:solidFill>
                <a:latin typeface="微软雅黑" panose="020B0503020204020204" charset="-122"/>
                <a:ea typeface="微软雅黑" panose="020B0503020204020204" charset="-122"/>
              </a:rPr>
              <a:t>·　方向一致性通过率与适用参数域边界</a:t>
            </a:r>
            <a:endParaRPr lang="zh-CN" sz="1165">
              <a:solidFill>
                <a:srgbClr val="E4EDF9"/>
              </a:solidFill>
              <a:latin typeface="微软雅黑" panose="020B0503020204020204" charset="-122"/>
              <a:ea typeface="微软雅黑" panose="020B0503020204020204" charset="-122"/>
            </a:endParaRPr>
          </a:p>
        </p:txBody>
      </p:sp>
      <p:sp>
        <p:nvSpPr>
          <p:cNvPr id="1075" name="圆角矩形 1074"/>
          <p:cNvSpPr/>
          <p:nvPr/>
        </p:nvSpPr>
        <p:spPr>
          <a:xfrm>
            <a:off x="9163050" y="3324225"/>
            <a:ext cx="2533650" cy="352425"/>
          </a:xfrm>
          <a:prstGeom prst="roundRect">
            <a:avLst>
              <a:gd name="adj" fmla="val 10811"/>
            </a:avLst>
          </a:prstGeom>
          <a:solidFill>
            <a:srgbClr val="12489A"/>
          </a:solidFill>
        </p:spPr>
        <p:txBody>
          <a:bodyPr/>
          <a:p/>
        </p:txBody>
      </p:sp>
      <p:sp>
        <p:nvSpPr>
          <p:cNvPr id="1076" name="文本框 1075" descr="{&quot;isTemplate&quot;:true,&quot;type&quot;:&quot;text&quot;}"/>
          <p:cNvSpPr txBox="1"/>
          <p:nvPr/>
        </p:nvSpPr>
        <p:spPr>
          <a:xfrm>
            <a:off x="9220200" y="3381375"/>
            <a:ext cx="2419350" cy="238125"/>
          </a:xfrm>
          <a:prstGeom prst="rect">
            <a:avLst/>
          </a:prstGeom>
        </p:spPr>
        <p:txBody>
          <a:bodyPr wrap="none" lIns="0" tIns="0" rIns="0" bIns="0"/>
          <a:p>
            <a:pPr>
              <a:lnSpc>
                <a:spcPct val="135000"/>
              </a:lnSpc>
            </a:pPr>
            <a:r>
              <a:rPr lang="zh-CN" sz="1125">
                <a:solidFill>
                  <a:srgbClr val="FFC107"/>
                </a:solidFill>
                <a:latin typeface="微软雅黑" panose="020B0503020204020204" charset="-122"/>
                <a:ea typeface="微软雅黑" panose="020B0503020204020204" charset="-122"/>
              </a:rPr>
              <a:t>回答：结论能说到什么程度</a:t>
            </a:r>
            <a:endParaRPr lang="zh-CN" sz="1125">
              <a:solidFill>
                <a:srgbClr val="FFC107"/>
              </a:solidFill>
              <a:latin typeface="微软雅黑" panose="020B0503020204020204" charset="-122"/>
              <a:ea typeface="微软雅黑" panose="020B0503020204020204" charset="-122"/>
            </a:endParaRPr>
          </a:p>
        </p:txBody>
      </p:sp>
      <p:sp>
        <p:nvSpPr>
          <p:cNvPr id="1077" name="圆角矩形 1076"/>
          <p:cNvSpPr/>
          <p:nvPr/>
        </p:nvSpPr>
        <p:spPr>
          <a:xfrm>
            <a:off x="381000" y="3238500"/>
            <a:ext cx="6591300" cy="2400300"/>
          </a:xfrm>
          <a:prstGeom prst="roundRect">
            <a:avLst>
              <a:gd name="adj" fmla="val 2381"/>
            </a:avLst>
          </a:prstGeom>
          <a:solidFill>
            <a:srgbClr val="F0F5FC"/>
          </a:solidFill>
          <a:ln w="12700">
            <a:solidFill>
              <a:srgbClr val="D6DCE5"/>
            </a:solidFill>
            <a:prstDash val="solid"/>
          </a:ln>
        </p:spPr>
        <p:txBody>
          <a:bodyPr/>
          <a:p/>
        </p:txBody>
      </p:sp>
      <p:sp>
        <p:nvSpPr>
          <p:cNvPr id="1078" name="任意多边形 1077"/>
          <p:cNvSpPr/>
          <p:nvPr/>
        </p:nvSpPr>
        <p:spPr>
          <a:xfrm>
            <a:off x="514350" y="3371850"/>
            <a:ext cx="6372225" cy="247650"/>
          </a:xfrm>
          <a:custGeom>
            <a:avLst/>
            <a:gdLst/>
            <a:ahLst/>
            <a:cxnLst/>
            <a:pathLst>
              <a:path w="669" h="26">
                <a:moveTo>
                  <a:pt x="0" y="0"/>
                </a:moveTo>
                <a:lnTo>
                  <a:pt x="5" y="0"/>
                </a:lnTo>
                <a:lnTo>
                  <a:pt x="5" y="26"/>
                </a:lnTo>
                <a:lnTo>
                  <a:pt x="0" y="26"/>
                </a:lnTo>
                <a:close/>
              </a:path>
            </a:pathLst>
          </a:custGeom>
          <a:solidFill>
            <a:srgbClr val="1E4FA8"/>
          </a:solidFill>
        </p:spPr>
        <p:txBody>
          <a:bodyPr/>
          <a:p/>
        </p:txBody>
      </p:sp>
      <p:pic>
        <p:nvPicPr>
          <p:cNvPr id="1079" name="图片 1078"/>
          <p:cNvPicPr>
            <a:picLocks noChangeAspect="1"/>
          </p:cNvPicPr>
          <p:nvPr/>
        </p:nvPicPr>
        <p:blipFill>
          <a:blip/>
          <a:stretch>
            <a:fillRect/>
          </a:stretch>
        </p:blipFill>
        <p:spPr>
          <a:xfrm>
            <a:off x="657225" y="3409950"/>
            <a:ext cx="180975" cy="180975"/>
          </a:xfrm>
          <a:prstGeom prst="rect">
            <a:avLst/>
          </a:prstGeom>
        </p:spPr>
      </p:pic>
      <p:sp>
        <p:nvSpPr>
          <p:cNvPr id="1080" name="文本框 1079" descr="{&quot;isTemplate&quot;:true,&quot;type&quot;:&quot;text&quot;}"/>
          <p:cNvSpPr txBox="1"/>
          <p:nvPr/>
        </p:nvSpPr>
        <p:spPr>
          <a:xfrm>
            <a:off x="914400" y="3371850"/>
            <a:ext cx="2200275" cy="247650"/>
          </a:xfrm>
          <a:prstGeom prst="rect">
            <a:avLst/>
          </a:prstGeom>
        </p:spPr>
        <p:txBody>
          <a:bodyPr wrap="none" lIns="0" tIns="0" rIns="0" bIns="0"/>
          <a:p>
            <a:pPr>
              <a:lnSpc>
                <a:spcPct val="100000"/>
              </a:lnSpc>
            </a:pPr>
            <a:r>
              <a:rPr lang="zh-CN" sz="1575" b="1">
                <a:solidFill>
                  <a:srgbClr val="0E3F8C"/>
                </a:solidFill>
                <a:latin typeface="微软雅黑" panose="020B0503020204020204" charset="-122"/>
                <a:ea typeface="微软雅黑" panose="020B0503020204020204" charset="-122"/>
              </a:rPr>
              <a:t>敏感性分析的三阶段递进</a:t>
            </a:r>
            <a:endParaRPr lang="zh-CN" sz="1575" b="1">
              <a:solidFill>
                <a:srgbClr val="0E3F8C"/>
              </a:solidFill>
              <a:latin typeface="微软雅黑" panose="020B0503020204020204" charset="-122"/>
              <a:ea typeface="微软雅黑" panose="020B0503020204020204" charset="-122"/>
            </a:endParaRPr>
          </a:p>
        </p:txBody>
      </p:sp>
      <p:sp>
        <p:nvSpPr>
          <p:cNvPr id="1081" name="圆角矩形 1080"/>
          <p:cNvSpPr/>
          <p:nvPr/>
        </p:nvSpPr>
        <p:spPr>
          <a:xfrm>
            <a:off x="514350" y="3695700"/>
            <a:ext cx="285750" cy="285750"/>
          </a:xfrm>
          <a:prstGeom prst="roundRect">
            <a:avLst>
              <a:gd name="adj" fmla="val 13333"/>
            </a:avLst>
          </a:prstGeom>
          <a:solidFill>
            <a:srgbClr val="1E4FA8"/>
          </a:solidFill>
        </p:spPr>
        <p:txBody>
          <a:bodyPr/>
          <a:p/>
        </p:txBody>
      </p:sp>
      <p:sp>
        <p:nvSpPr>
          <p:cNvPr id="1082" name="文本框 1081" descr="{&quot;isTemplate&quot;:true,&quot;type&quot;:&quot;text&quot;}"/>
          <p:cNvSpPr txBox="1"/>
          <p:nvPr/>
        </p:nvSpPr>
        <p:spPr>
          <a:xfrm>
            <a:off x="609600" y="3752850"/>
            <a:ext cx="95250" cy="171450"/>
          </a:xfrm>
          <a:prstGeom prst="rect">
            <a:avLst/>
          </a:prstGeom>
        </p:spPr>
        <p:txBody>
          <a:bodyPr wrap="none" lIns="0" tIns="0" rIns="0" bIns="0"/>
          <a:p>
            <a:pPr>
              <a:lnSpc>
                <a:spcPct val="100000"/>
              </a:lnSpc>
            </a:pPr>
            <a:r>
              <a:rPr lang="en-US" sz="1125" b="1">
                <a:solidFill>
                  <a:srgbClr val="FFFFFF"/>
                </a:solidFill>
                <a:latin typeface="微软雅黑" panose="020B0503020204020204" charset="-122"/>
                <a:ea typeface="微软雅黑" panose="020B0503020204020204" charset="-122"/>
              </a:rPr>
              <a:t>1</a:t>
            </a:r>
            <a:endParaRPr lang="en-US" sz="1125" b="1">
              <a:solidFill>
                <a:srgbClr val="FFFFFF"/>
              </a:solidFill>
              <a:latin typeface="微软雅黑" panose="020B0503020204020204" charset="-122"/>
              <a:ea typeface="微软雅黑" panose="020B0503020204020204" charset="-122"/>
            </a:endParaRPr>
          </a:p>
        </p:txBody>
      </p:sp>
      <p:sp>
        <p:nvSpPr>
          <p:cNvPr id="1083" name="文本框 1082" descr="{&quot;isTemplate&quot;:true,&quot;type&quot;:&quot;text&quot;}"/>
          <p:cNvSpPr txBox="1"/>
          <p:nvPr/>
        </p:nvSpPr>
        <p:spPr>
          <a:xfrm>
            <a:off x="876300" y="3695700"/>
            <a:ext cx="5962650" cy="266700"/>
          </a:xfrm>
          <a:prstGeom prst="rect">
            <a:avLst/>
          </a:prstGeom>
        </p:spPr>
        <p:txBody>
          <a:bodyPr wrap="none" lIns="0" tIns="0" rIns="0" bIns="0"/>
          <a:p>
            <a:pPr>
              <a:lnSpc>
                <a:spcPct val="140000"/>
              </a:lnSpc>
            </a:pPr>
            <a:r>
              <a:rPr lang="zh-CN" sz="1240" b="1">
                <a:solidFill>
                  <a:srgbClr val="0E3F8C"/>
                </a:solidFill>
                <a:latin typeface="微软雅黑" panose="020B0503020204020204" charset="-122"/>
                <a:ea typeface="微软雅黑" panose="020B0503020204020204" charset="-122"/>
              </a:rPr>
              <a:t>第一步</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初筛｜</a:t>
            </a:r>
            <a:r>
              <a:rPr lang="en-US" sz="1240" b="1">
                <a:solidFill>
                  <a:srgbClr val="0E3F8C"/>
                </a:solidFill>
                <a:latin typeface="微软雅黑" panose="020B0503020204020204" charset="-122"/>
                <a:ea typeface="微软雅黑" panose="020B0503020204020204" charset="-122"/>
              </a:rPr>
              <a:t>Morris </a:t>
            </a:r>
            <a:r>
              <a:rPr lang="zh-CN" sz="1240" b="1">
                <a:solidFill>
                  <a:srgbClr val="0E3F8C"/>
                </a:solidFill>
                <a:latin typeface="微软雅黑" panose="020B0503020204020204" charset="-122"/>
                <a:ea typeface="微软雅黑" panose="020B0503020204020204" charset="-122"/>
              </a:rPr>
              <a:t>及改进设计</a:t>
            </a:r>
            <a:r>
              <a:rPr lang="zh-CN" sz="1240">
                <a:solidFill>
                  <a:srgbClr val="1A2230"/>
                </a:solidFill>
                <a:latin typeface="微软雅黑" panose="020B0503020204020204" charset="-122"/>
                <a:ea typeface="微软雅黑" panose="020B0503020204020204" charset="-122"/>
              </a:rPr>
              <a:t>：低成本筛选重要变量，剔除无影响维度。</a:t>
            </a:r>
            <a:endParaRPr lang="zh-CN" sz="1240">
              <a:solidFill>
                <a:srgbClr val="1A2230"/>
              </a:solidFill>
              <a:latin typeface="微软雅黑" panose="020B0503020204020204" charset="-122"/>
              <a:ea typeface="微软雅黑" panose="020B0503020204020204" charset="-122"/>
            </a:endParaRPr>
          </a:p>
        </p:txBody>
      </p:sp>
      <p:sp>
        <p:nvSpPr>
          <p:cNvPr id="1084" name="圆角矩形 1083"/>
          <p:cNvSpPr/>
          <p:nvPr/>
        </p:nvSpPr>
        <p:spPr>
          <a:xfrm>
            <a:off x="514350" y="4038600"/>
            <a:ext cx="285750" cy="285750"/>
          </a:xfrm>
          <a:prstGeom prst="roundRect">
            <a:avLst>
              <a:gd name="adj" fmla="val 13333"/>
            </a:avLst>
          </a:prstGeom>
          <a:solidFill>
            <a:srgbClr val="1E4FA8"/>
          </a:solidFill>
        </p:spPr>
        <p:txBody>
          <a:bodyPr/>
          <a:p/>
        </p:txBody>
      </p:sp>
      <p:sp>
        <p:nvSpPr>
          <p:cNvPr id="1085" name="文本框 1084" descr="{&quot;isTemplate&quot;:true,&quot;type&quot;:&quot;text&quot;}"/>
          <p:cNvSpPr txBox="1"/>
          <p:nvPr/>
        </p:nvSpPr>
        <p:spPr>
          <a:xfrm>
            <a:off x="609600" y="4095750"/>
            <a:ext cx="95250" cy="171450"/>
          </a:xfrm>
          <a:prstGeom prst="rect">
            <a:avLst/>
          </a:prstGeom>
        </p:spPr>
        <p:txBody>
          <a:bodyPr wrap="none" lIns="0" tIns="0" rIns="0" bIns="0"/>
          <a:p>
            <a:pPr>
              <a:lnSpc>
                <a:spcPct val="100000"/>
              </a:lnSpc>
            </a:pPr>
            <a:r>
              <a:rPr lang="en-US" sz="1125" b="1">
                <a:solidFill>
                  <a:srgbClr val="FFFFFF"/>
                </a:solidFill>
                <a:latin typeface="微软雅黑" panose="020B0503020204020204" charset="-122"/>
                <a:ea typeface="微软雅黑" panose="020B0503020204020204" charset="-122"/>
              </a:rPr>
              <a:t>2</a:t>
            </a:r>
            <a:endParaRPr lang="en-US" sz="1125" b="1">
              <a:solidFill>
                <a:srgbClr val="FFFFFF"/>
              </a:solidFill>
              <a:latin typeface="微软雅黑" panose="020B0503020204020204" charset="-122"/>
              <a:ea typeface="微软雅黑" panose="020B0503020204020204" charset="-122"/>
            </a:endParaRPr>
          </a:p>
        </p:txBody>
      </p:sp>
      <p:sp>
        <p:nvSpPr>
          <p:cNvPr id="1086" name="文本框 1085" descr="{&quot;isTemplate&quot;:true,&quot;type&quot;:&quot;text&quot;}"/>
          <p:cNvSpPr txBox="1"/>
          <p:nvPr/>
        </p:nvSpPr>
        <p:spPr>
          <a:xfrm>
            <a:off x="876300" y="4038600"/>
            <a:ext cx="5962650" cy="266700"/>
          </a:xfrm>
          <a:prstGeom prst="rect">
            <a:avLst/>
          </a:prstGeom>
        </p:spPr>
        <p:txBody>
          <a:bodyPr wrap="none" lIns="0" tIns="0" rIns="0" bIns="0"/>
          <a:p>
            <a:pPr>
              <a:lnSpc>
                <a:spcPct val="140000"/>
              </a:lnSpc>
            </a:pPr>
            <a:r>
              <a:rPr lang="zh-CN" sz="1240" b="1">
                <a:solidFill>
                  <a:srgbClr val="0E3F8C"/>
                </a:solidFill>
                <a:latin typeface="微软雅黑" panose="020B0503020204020204" charset="-122"/>
                <a:ea typeface="微软雅黑" panose="020B0503020204020204" charset="-122"/>
              </a:rPr>
              <a:t>第二步</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分解｜</a:t>
            </a:r>
            <a:r>
              <a:rPr lang="en-US" sz="1240" b="1">
                <a:solidFill>
                  <a:srgbClr val="0E3F8C"/>
                </a:solidFill>
                <a:latin typeface="微软雅黑" panose="020B0503020204020204" charset="-122"/>
                <a:ea typeface="微软雅黑" panose="020B0503020204020204" charset="-122"/>
              </a:rPr>
              <a:t>Sobol</a:t>
            </a:r>
            <a:r>
              <a:rPr lang="zh-CN" sz="1240">
                <a:solidFill>
                  <a:srgbClr val="1A2230"/>
                </a:solidFill>
                <a:latin typeface="微软雅黑" panose="020B0503020204020204" charset="-122"/>
                <a:ea typeface="微软雅黑" panose="020B0503020204020204" charset="-122"/>
              </a:rPr>
              <a:t>：关键参数近似独立时，做一阶与总效应分解。</a:t>
            </a:r>
            <a:endParaRPr lang="zh-CN" sz="1240">
              <a:solidFill>
                <a:srgbClr val="1A2230"/>
              </a:solidFill>
              <a:latin typeface="微软雅黑" panose="020B0503020204020204" charset="-122"/>
              <a:ea typeface="微软雅黑" panose="020B0503020204020204" charset="-122"/>
            </a:endParaRPr>
          </a:p>
        </p:txBody>
      </p:sp>
      <p:sp>
        <p:nvSpPr>
          <p:cNvPr id="1087" name="圆角矩形 1086"/>
          <p:cNvSpPr/>
          <p:nvPr/>
        </p:nvSpPr>
        <p:spPr>
          <a:xfrm>
            <a:off x="514350" y="4381500"/>
            <a:ext cx="285750" cy="285750"/>
          </a:xfrm>
          <a:prstGeom prst="roundRect">
            <a:avLst>
              <a:gd name="adj" fmla="val 13333"/>
            </a:avLst>
          </a:prstGeom>
          <a:solidFill>
            <a:srgbClr val="1E4FA8"/>
          </a:solidFill>
        </p:spPr>
        <p:txBody>
          <a:bodyPr/>
          <a:p/>
        </p:txBody>
      </p:sp>
      <p:sp>
        <p:nvSpPr>
          <p:cNvPr id="1088" name="文本框 1087" descr="{&quot;isTemplate&quot;:true,&quot;type&quot;:&quot;text&quot;}"/>
          <p:cNvSpPr txBox="1"/>
          <p:nvPr/>
        </p:nvSpPr>
        <p:spPr>
          <a:xfrm>
            <a:off x="609600" y="4438650"/>
            <a:ext cx="95250" cy="171450"/>
          </a:xfrm>
          <a:prstGeom prst="rect">
            <a:avLst/>
          </a:prstGeom>
        </p:spPr>
        <p:txBody>
          <a:bodyPr wrap="none" lIns="0" tIns="0" rIns="0" bIns="0"/>
          <a:p>
            <a:pPr>
              <a:lnSpc>
                <a:spcPct val="100000"/>
              </a:lnSpc>
            </a:pPr>
            <a:r>
              <a:rPr lang="en-US" sz="1125" b="1">
                <a:solidFill>
                  <a:srgbClr val="FFFFFF"/>
                </a:solidFill>
                <a:latin typeface="微软雅黑" panose="020B0503020204020204" charset="-122"/>
                <a:ea typeface="微软雅黑" panose="020B0503020204020204" charset="-122"/>
              </a:rPr>
              <a:t>3</a:t>
            </a:r>
            <a:endParaRPr lang="en-US" sz="1125" b="1">
              <a:solidFill>
                <a:srgbClr val="FFFFFF"/>
              </a:solidFill>
              <a:latin typeface="微软雅黑" panose="020B0503020204020204" charset="-122"/>
              <a:ea typeface="微软雅黑" panose="020B0503020204020204" charset="-122"/>
            </a:endParaRPr>
          </a:p>
        </p:txBody>
      </p:sp>
      <p:sp>
        <p:nvSpPr>
          <p:cNvPr id="1089" name="文本框 1088" descr="{&quot;isTemplate&quot;:true,&quot;type&quot;:&quot;text&quot;}"/>
          <p:cNvSpPr txBox="1"/>
          <p:nvPr/>
        </p:nvSpPr>
        <p:spPr>
          <a:xfrm>
            <a:off x="876300" y="4381500"/>
            <a:ext cx="5962650" cy="266700"/>
          </a:xfrm>
          <a:prstGeom prst="rect">
            <a:avLst/>
          </a:prstGeom>
        </p:spPr>
        <p:txBody>
          <a:bodyPr wrap="none" lIns="0" tIns="0" rIns="0" bIns="0"/>
          <a:p>
            <a:pPr>
              <a:lnSpc>
                <a:spcPct val="140000"/>
              </a:lnSpc>
            </a:pPr>
            <a:r>
              <a:rPr lang="zh-CN" sz="1240" b="1">
                <a:solidFill>
                  <a:srgbClr val="0E3F8C"/>
                </a:solidFill>
                <a:latin typeface="微软雅黑" panose="020B0503020204020204" charset="-122"/>
                <a:ea typeface="微软雅黑" panose="020B0503020204020204" charset="-122"/>
              </a:rPr>
              <a:t>第三步</a:t>
            </a:r>
            <a:r>
              <a:rPr lang="en-US" sz="1240" b="1">
                <a:solidFill>
                  <a:srgbClr val="0E3F8C"/>
                </a:solidFill>
                <a:latin typeface="微软雅黑" panose="020B0503020204020204" charset="-122"/>
                <a:ea typeface="微软雅黑" panose="020B0503020204020204" charset="-122"/>
              </a:rPr>
              <a:t> </a:t>
            </a:r>
            <a:r>
              <a:rPr lang="zh-CN" sz="1240" b="1">
                <a:solidFill>
                  <a:srgbClr val="0E3F8C"/>
                </a:solidFill>
                <a:latin typeface="微软雅黑" panose="020B0503020204020204" charset="-122"/>
                <a:ea typeface="微软雅黑" panose="020B0503020204020204" charset="-122"/>
              </a:rPr>
              <a:t>归因｜</a:t>
            </a:r>
            <a:r>
              <a:rPr lang="en-US" sz="1240" b="1">
                <a:solidFill>
                  <a:srgbClr val="0E3F8C"/>
                </a:solidFill>
                <a:latin typeface="微软雅黑" panose="020B0503020204020204" charset="-122"/>
                <a:ea typeface="微软雅黑" panose="020B0503020204020204" charset="-122"/>
              </a:rPr>
              <a:t>Shapley effects</a:t>
            </a:r>
            <a:r>
              <a:rPr lang="zh-CN" sz="1240">
                <a:solidFill>
                  <a:srgbClr val="1A2230"/>
                </a:solidFill>
                <a:latin typeface="微软雅黑" panose="020B0503020204020204" charset="-122"/>
                <a:ea typeface="微软雅黑" panose="020B0503020204020204" charset="-122"/>
              </a:rPr>
              <a:t>：存在明显相关结构时，对相关输入归因。</a:t>
            </a:r>
            <a:endParaRPr lang="zh-CN" sz="1240">
              <a:solidFill>
                <a:srgbClr val="1A2230"/>
              </a:solidFill>
              <a:latin typeface="微软雅黑" panose="020B0503020204020204" charset="-122"/>
              <a:ea typeface="微软雅黑" panose="020B0503020204020204" charset="-122"/>
            </a:endParaRPr>
          </a:p>
        </p:txBody>
      </p:sp>
      <p:sp>
        <p:nvSpPr>
          <p:cNvPr id="1090" name="圆角矩形 1089"/>
          <p:cNvSpPr/>
          <p:nvPr/>
        </p:nvSpPr>
        <p:spPr>
          <a:xfrm>
            <a:off x="514350" y="4743450"/>
            <a:ext cx="6324600" cy="381000"/>
          </a:xfrm>
          <a:prstGeom prst="roundRect">
            <a:avLst>
              <a:gd name="adj" fmla="val 10000"/>
            </a:avLst>
          </a:prstGeom>
          <a:solidFill>
            <a:srgbClr val="E8EFF8"/>
          </a:solidFill>
        </p:spPr>
        <p:txBody>
          <a:bodyPr/>
          <a:p/>
        </p:txBody>
      </p:sp>
      <p:sp>
        <p:nvSpPr>
          <p:cNvPr id="1091" name="文本框 1090" descr="{&quot;isTemplate&quot;:true,&quot;type&quot;:&quot;text&quot;}"/>
          <p:cNvSpPr txBox="1"/>
          <p:nvPr/>
        </p:nvSpPr>
        <p:spPr>
          <a:xfrm>
            <a:off x="581025" y="4810125"/>
            <a:ext cx="6191250" cy="247650"/>
          </a:xfrm>
          <a:prstGeom prst="rect">
            <a:avLst/>
          </a:prstGeom>
        </p:spPr>
        <p:txBody>
          <a:bodyPr wrap="none" lIns="0" tIns="0" rIns="0" bIns="0"/>
          <a:p>
            <a:pPr>
              <a:lnSpc>
                <a:spcPct val="135000"/>
              </a:lnSpc>
            </a:pPr>
            <a:r>
              <a:rPr lang="zh-CN" sz="1165">
                <a:solidFill>
                  <a:srgbClr val="0E3F8C"/>
                </a:solidFill>
                <a:latin typeface="微软雅黑" panose="020B0503020204020204" charset="-122"/>
                <a:ea typeface="微软雅黑" panose="020B0503020204020204" charset="-122"/>
              </a:rPr>
              <a:t>三阶段共用同一批输出指标，结果拼合成完整证据表</a:t>
            </a:r>
            <a:endParaRPr lang="zh-CN" sz="1165">
              <a:solidFill>
                <a:srgbClr val="0E3F8C"/>
              </a:solidFill>
              <a:latin typeface="微软雅黑" panose="020B0503020204020204" charset="-122"/>
              <a:ea typeface="微软雅黑" panose="020B0503020204020204" charset="-122"/>
            </a:endParaRPr>
          </a:p>
        </p:txBody>
      </p:sp>
      <p:sp>
        <p:nvSpPr>
          <p:cNvPr id="1092" name="圆角矩形 1091"/>
          <p:cNvSpPr/>
          <p:nvPr/>
        </p:nvSpPr>
        <p:spPr>
          <a:xfrm>
            <a:off x="7153275" y="3238500"/>
            <a:ext cx="4705350" cy="1000125"/>
          </a:xfrm>
          <a:prstGeom prst="roundRect">
            <a:avLst>
              <a:gd name="adj" fmla="val 5714"/>
            </a:avLst>
          </a:prstGeom>
          <a:solidFill>
            <a:srgbClr val="F7F9FC"/>
          </a:solidFill>
        </p:spPr>
        <p:txBody>
          <a:bodyPr/>
          <a:p/>
        </p:txBody>
      </p:sp>
      <p:sp>
        <p:nvSpPr>
          <p:cNvPr id="1093" name="任意多边形 1092"/>
          <p:cNvSpPr/>
          <p:nvPr/>
        </p:nvSpPr>
        <p:spPr>
          <a:xfrm>
            <a:off x="7153275" y="3238500"/>
            <a:ext cx="4705350" cy="1000125"/>
          </a:xfrm>
          <a:custGeom>
            <a:avLst/>
            <a:gdLst/>
            <a:ahLst/>
            <a:cxnLst/>
            <a:pathLst>
              <a:path w="494" h="105">
                <a:moveTo>
                  <a:pt x="6" y="0"/>
                </a:moveTo>
                <a:cubicBezTo>
                  <a:pt x="5" y="0"/>
                  <a:pt x="5" y="0"/>
                  <a:pt x="5" y="1"/>
                </a:cubicBezTo>
                <a:lnTo>
                  <a:pt x="5" y="104"/>
                </a:lnTo>
                <a:cubicBezTo>
                  <a:pt x="5" y="105"/>
                  <a:pt x="5" y="105"/>
                  <a:pt x="6" y="105"/>
                </a:cubicBezTo>
                <a:cubicBezTo>
                  <a:pt x="3" y="105"/>
                  <a:pt x="0" y="102"/>
                  <a:pt x="0" y="99"/>
                </a:cubicBezTo>
                <a:lnTo>
                  <a:pt x="0" y="6"/>
                </a:lnTo>
                <a:cubicBezTo>
                  <a:pt x="0" y="3"/>
                  <a:pt x="3" y="0"/>
                  <a:pt x="6" y="0"/>
                </a:cubicBezTo>
                <a:close/>
              </a:path>
            </a:pathLst>
          </a:custGeom>
          <a:solidFill>
            <a:srgbClr val="D9534F"/>
          </a:solidFill>
        </p:spPr>
        <p:txBody>
          <a:bodyPr/>
          <a:p/>
        </p:txBody>
      </p:sp>
      <p:sp>
        <p:nvSpPr>
          <p:cNvPr id="1094" name="文本框 1093" descr="{&quot;isTemplate&quot;:true,&quot;type&quot;:&quot;text&quot;}"/>
          <p:cNvSpPr txBox="1"/>
          <p:nvPr/>
        </p:nvSpPr>
        <p:spPr>
          <a:xfrm>
            <a:off x="7267575" y="3352800"/>
            <a:ext cx="4429125" cy="209550"/>
          </a:xfrm>
          <a:prstGeom prst="rect">
            <a:avLst/>
          </a:prstGeom>
        </p:spPr>
        <p:txBody>
          <a:bodyPr wrap="none" lIns="0" tIns="0" rIns="0" bIns="0"/>
          <a:p>
            <a:pPr>
              <a:lnSpc>
                <a:spcPct val="100000"/>
              </a:lnSpc>
            </a:pPr>
            <a:r>
              <a:rPr lang="zh-CN" sz="1350" b="1">
                <a:solidFill>
                  <a:srgbClr val="1A2230"/>
                </a:solidFill>
                <a:latin typeface="微软雅黑" panose="020B0503020204020204" charset="-122"/>
                <a:ea typeface="微软雅黑" panose="020B0503020204020204" charset="-122"/>
              </a:rPr>
              <a:t>参数不确定性</a:t>
            </a:r>
            <a:endParaRPr lang="zh-CN" sz="1350" b="1">
              <a:solidFill>
                <a:srgbClr val="1A2230"/>
              </a:solidFill>
              <a:latin typeface="微软雅黑" panose="020B0503020204020204" charset="-122"/>
              <a:ea typeface="微软雅黑" panose="020B0503020204020204" charset="-122"/>
            </a:endParaRPr>
          </a:p>
        </p:txBody>
      </p:sp>
      <p:sp>
        <p:nvSpPr>
          <p:cNvPr id="1095" name="文本框 1094" descr="{&quot;isTemplate&quot;:true,&quot;type&quot;:&quot;text&quot;}"/>
          <p:cNvSpPr txBox="1"/>
          <p:nvPr/>
        </p:nvSpPr>
        <p:spPr>
          <a:xfrm>
            <a:off x="7267575" y="3609975"/>
            <a:ext cx="4429125" cy="514350"/>
          </a:xfrm>
          <a:prstGeom prst="rect">
            <a:avLst/>
          </a:prstGeom>
        </p:spPr>
        <p:txBody>
          <a:bodyPr wrap="square" lIns="0" tIns="0" rIns="0" bIns="0">
            <a:normAutofit/>
          </a:bodyPr>
          <a:p>
            <a:pPr>
              <a:lnSpc>
                <a:spcPct val="145000"/>
              </a:lnSpc>
            </a:pPr>
            <a:r>
              <a:rPr lang="zh-CN" sz="1165">
                <a:solidFill>
                  <a:srgbClr val="4A5568"/>
                </a:solidFill>
                <a:latin typeface="微软雅黑" panose="020B0503020204020204" charset="-122"/>
                <a:ea typeface="微软雅黑" panose="020B0503020204020204" charset="-122"/>
              </a:rPr>
              <a:t>负载率、</a:t>
            </a:r>
            <a:r>
              <a:rPr lang="en-US" sz="1165">
                <a:solidFill>
                  <a:srgbClr val="4A5568"/>
                </a:solidFill>
                <a:latin typeface="微软雅黑" panose="020B0503020204020204" charset="-122"/>
                <a:ea typeface="微软雅黑" panose="020B0503020204020204" charset="-122"/>
              </a:rPr>
              <a:t>PUE</a:t>
            </a:r>
            <a:r>
              <a:rPr lang="zh-CN" sz="1165">
                <a:solidFill>
                  <a:srgbClr val="4A5568"/>
                </a:solidFill>
                <a:latin typeface="微软雅黑" panose="020B0503020204020204" charset="-122"/>
                <a:ea typeface="微软雅黑" panose="020B0503020204020204" charset="-122"/>
              </a:rPr>
              <a:t>、浓缩倍数、回流率等参数按条件分布传播，保留相关结构。</a:t>
            </a:r>
            <a:endParaRPr lang="zh-CN" sz="1165">
              <a:solidFill>
                <a:srgbClr val="4A5568"/>
              </a:solidFill>
              <a:latin typeface="微软雅黑" panose="020B0503020204020204" charset="-122"/>
              <a:ea typeface="微软雅黑" panose="020B0503020204020204" charset="-122"/>
            </a:endParaRPr>
          </a:p>
        </p:txBody>
      </p:sp>
      <p:sp>
        <p:nvSpPr>
          <p:cNvPr id="1096" name="圆角矩形 1095"/>
          <p:cNvSpPr/>
          <p:nvPr/>
        </p:nvSpPr>
        <p:spPr>
          <a:xfrm>
            <a:off x="7153275" y="4352925"/>
            <a:ext cx="4705350" cy="1000125"/>
          </a:xfrm>
          <a:prstGeom prst="roundRect">
            <a:avLst>
              <a:gd name="adj" fmla="val 5714"/>
            </a:avLst>
          </a:prstGeom>
          <a:solidFill>
            <a:srgbClr val="F7F9FC"/>
          </a:solidFill>
        </p:spPr>
        <p:txBody>
          <a:bodyPr/>
          <a:p/>
        </p:txBody>
      </p:sp>
      <p:sp>
        <p:nvSpPr>
          <p:cNvPr id="1097" name="任意多边形 1096"/>
          <p:cNvSpPr/>
          <p:nvPr/>
        </p:nvSpPr>
        <p:spPr>
          <a:xfrm>
            <a:off x="7153275" y="4352925"/>
            <a:ext cx="4705350" cy="1000125"/>
          </a:xfrm>
          <a:custGeom>
            <a:avLst/>
            <a:gdLst/>
            <a:ahLst/>
            <a:cxnLst/>
            <a:pathLst>
              <a:path w="494" h="105">
                <a:moveTo>
                  <a:pt x="6" y="0"/>
                </a:moveTo>
                <a:cubicBezTo>
                  <a:pt x="5" y="0"/>
                  <a:pt x="5" y="0"/>
                  <a:pt x="5" y="1"/>
                </a:cubicBezTo>
                <a:lnTo>
                  <a:pt x="5" y="104"/>
                </a:lnTo>
                <a:cubicBezTo>
                  <a:pt x="5" y="105"/>
                  <a:pt x="5" y="105"/>
                  <a:pt x="6" y="105"/>
                </a:cubicBezTo>
                <a:cubicBezTo>
                  <a:pt x="3" y="105"/>
                  <a:pt x="0" y="102"/>
                  <a:pt x="0" y="99"/>
                </a:cubicBezTo>
                <a:lnTo>
                  <a:pt x="0" y="6"/>
                </a:lnTo>
                <a:cubicBezTo>
                  <a:pt x="0" y="3"/>
                  <a:pt x="3" y="0"/>
                  <a:pt x="6" y="0"/>
                </a:cubicBezTo>
                <a:close/>
              </a:path>
            </a:pathLst>
          </a:custGeom>
          <a:solidFill>
            <a:srgbClr val="D9534F"/>
          </a:solidFill>
        </p:spPr>
        <p:txBody>
          <a:bodyPr/>
          <a:p/>
        </p:txBody>
      </p:sp>
      <p:sp>
        <p:nvSpPr>
          <p:cNvPr id="1098" name="文本框 1097" descr="{&quot;isTemplate&quot;:true,&quot;type&quot;:&quot;text&quot;}"/>
          <p:cNvSpPr txBox="1"/>
          <p:nvPr/>
        </p:nvSpPr>
        <p:spPr>
          <a:xfrm>
            <a:off x="7267575" y="4467225"/>
            <a:ext cx="4429125" cy="209550"/>
          </a:xfrm>
          <a:prstGeom prst="rect">
            <a:avLst/>
          </a:prstGeom>
        </p:spPr>
        <p:txBody>
          <a:bodyPr wrap="none" lIns="0" tIns="0" rIns="0" bIns="0"/>
          <a:p>
            <a:pPr>
              <a:lnSpc>
                <a:spcPct val="100000"/>
              </a:lnSpc>
            </a:pPr>
            <a:r>
              <a:rPr lang="zh-CN" sz="1350" b="1">
                <a:solidFill>
                  <a:srgbClr val="1A2230"/>
                </a:solidFill>
                <a:latin typeface="微软雅黑" panose="020B0503020204020204" charset="-122"/>
                <a:ea typeface="微软雅黑" panose="020B0503020204020204" charset="-122"/>
              </a:rPr>
              <a:t>情景不确定性</a:t>
            </a:r>
            <a:endParaRPr lang="zh-CN" sz="1350" b="1">
              <a:solidFill>
                <a:srgbClr val="1A2230"/>
              </a:solidFill>
              <a:latin typeface="微软雅黑" panose="020B0503020204020204" charset="-122"/>
              <a:ea typeface="微软雅黑" panose="020B0503020204020204" charset="-122"/>
            </a:endParaRPr>
          </a:p>
        </p:txBody>
      </p:sp>
      <p:sp>
        <p:nvSpPr>
          <p:cNvPr id="1099" name="文本框 1098" descr="{&quot;isTemplate&quot;:true,&quot;type&quot;:&quot;text&quot;}"/>
          <p:cNvSpPr txBox="1"/>
          <p:nvPr/>
        </p:nvSpPr>
        <p:spPr>
          <a:xfrm>
            <a:off x="7267575" y="4724400"/>
            <a:ext cx="4429125" cy="514350"/>
          </a:xfrm>
          <a:prstGeom prst="rect">
            <a:avLst/>
          </a:prstGeom>
        </p:spPr>
        <p:txBody>
          <a:bodyPr wrap="square" lIns="0" tIns="0" rIns="0" bIns="0">
            <a:normAutofit/>
          </a:bodyPr>
          <a:p>
            <a:pPr>
              <a:lnSpc>
                <a:spcPct val="145000"/>
              </a:lnSpc>
            </a:pPr>
            <a:r>
              <a:rPr lang="en-US" sz="1165">
                <a:solidFill>
                  <a:srgbClr val="4A5568"/>
                </a:solidFill>
                <a:latin typeface="微软雅黑" panose="020B0503020204020204" charset="-122"/>
                <a:ea typeface="微软雅黑" panose="020B0503020204020204" charset="-122"/>
              </a:rPr>
              <a:t>AI </a:t>
            </a:r>
            <a:r>
              <a:rPr lang="zh-CN" sz="1165">
                <a:solidFill>
                  <a:srgbClr val="4A5568"/>
                </a:solidFill>
                <a:latin typeface="微软雅黑" panose="020B0503020204020204" charset="-122"/>
                <a:ea typeface="微软雅黑" panose="020B0503020204020204" charset="-122"/>
              </a:rPr>
              <a:t>增长、气候、水源政策与扩容时点用情景集合表达，气候依</a:t>
            </a:r>
            <a:r>
              <a:rPr lang="en-US" sz="1165">
                <a:solidFill>
                  <a:srgbClr val="4A5568"/>
                </a:solidFill>
                <a:latin typeface="微软雅黑" panose="020B0503020204020204" charset="-122"/>
                <a:ea typeface="微软雅黑" panose="020B0503020204020204" charset="-122"/>
              </a:rPr>
              <a:t> CMIP6 </a:t>
            </a:r>
            <a:r>
              <a:rPr lang="zh-CN" sz="1165">
                <a:solidFill>
                  <a:srgbClr val="4A5568"/>
                </a:solidFill>
                <a:latin typeface="微软雅黑" panose="020B0503020204020204" charset="-122"/>
                <a:ea typeface="微软雅黑" panose="020B0503020204020204" charset="-122"/>
              </a:rPr>
              <a:t>与</a:t>
            </a:r>
            <a:r>
              <a:rPr lang="en-US" sz="1165">
                <a:solidFill>
                  <a:srgbClr val="4A5568"/>
                </a:solidFill>
                <a:latin typeface="微软雅黑" panose="020B0503020204020204" charset="-122"/>
                <a:ea typeface="微软雅黑" panose="020B0503020204020204" charset="-122"/>
              </a:rPr>
              <a:t> IPCC </a:t>
            </a:r>
            <a:r>
              <a:rPr lang="zh-CN" sz="1165">
                <a:solidFill>
                  <a:srgbClr val="4A5568"/>
                </a:solidFill>
                <a:latin typeface="微软雅黑" panose="020B0503020204020204" charset="-122"/>
                <a:ea typeface="微软雅黑" panose="020B0503020204020204" charset="-122"/>
              </a:rPr>
              <a:t>选取。</a:t>
            </a:r>
            <a:endParaRPr lang="zh-CN" sz="1165">
              <a:solidFill>
                <a:srgbClr val="4A5568"/>
              </a:solidFill>
              <a:latin typeface="微软雅黑" panose="020B0503020204020204" charset="-122"/>
              <a:ea typeface="微软雅黑" panose="020B0503020204020204" charset="-122"/>
            </a:endParaRPr>
          </a:p>
        </p:txBody>
      </p:sp>
      <p:sp>
        <p:nvSpPr>
          <p:cNvPr id="1100" name="圆角矩形 1099"/>
          <p:cNvSpPr/>
          <p:nvPr/>
        </p:nvSpPr>
        <p:spPr>
          <a:xfrm>
            <a:off x="7105650" y="5467350"/>
            <a:ext cx="4705350" cy="742950"/>
          </a:xfrm>
          <a:prstGeom prst="roundRect">
            <a:avLst>
              <a:gd name="adj" fmla="val 7692"/>
            </a:avLst>
          </a:prstGeom>
          <a:solidFill>
            <a:srgbClr val="0B3A82"/>
          </a:solidFill>
        </p:spPr>
        <p:txBody>
          <a:bodyPr/>
          <a:p/>
        </p:txBody>
      </p:sp>
      <p:sp>
        <p:nvSpPr>
          <p:cNvPr id="1101" name="文本框 1100" descr="{&quot;isTemplate&quot;:true,&quot;type&quot;:&quot;text&quot;}"/>
          <p:cNvSpPr txBox="1"/>
          <p:nvPr/>
        </p:nvSpPr>
        <p:spPr>
          <a:xfrm>
            <a:off x="7219950" y="5581650"/>
            <a:ext cx="4476750" cy="209550"/>
          </a:xfrm>
          <a:prstGeom prst="rect">
            <a:avLst/>
          </a:prstGeom>
        </p:spPr>
        <p:txBody>
          <a:bodyPr wrap="none" lIns="0" tIns="0" rIns="0" bIns="0"/>
          <a:p>
            <a:pPr>
              <a:lnSpc>
                <a:spcPct val="100000"/>
              </a:lnSpc>
            </a:pPr>
            <a:r>
              <a:rPr lang="zh-CN" sz="1350" b="1">
                <a:solidFill>
                  <a:srgbClr val="FFC107"/>
                </a:solidFill>
                <a:latin typeface="微软雅黑" panose="020B0503020204020204" charset="-122"/>
                <a:ea typeface="微软雅黑" panose="020B0503020204020204" charset="-122"/>
              </a:rPr>
              <a:t>复合事件的相关结构</a:t>
            </a:r>
            <a:endParaRPr lang="zh-CN" sz="1350" b="1">
              <a:solidFill>
                <a:srgbClr val="FFC107"/>
              </a:solidFill>
              <a:latin typeface="微软雅黑" panose="020B0503020204020204" charset="-122"/>
              <a:ea typeface="微软雅黑" panose="020B0503020204020204" charset="-122"/>
            </a:endParaRPr>
          </a:p>
        </p:txBody>
      </p:sp>
      <p:sp>
        <p:nvSpPr>
          <p:cNvPr id="1102" name="文本框 1101" descr="{&quot;isTemplate&quot;:true,&quot;type&quot;:&quot;text&quot;}"/>
          <p:cNvSpPr txBox="1"/>
          <p:nvPr/>
        </p:nvSpPr>
        <p:spPr>
          <a:xfrm>
            <a:off x="7219950" y="5838825"/>
            <a:ext cx="4476750" cy="257175"/>
          </a:xfrm>
          <a:prstGeom prst="rect">
            <a:avLst/>
          </a:prstGeom>
        </p:spPr>
        <p:txBody>
          <a:bodyPr wrap="none" lIns="0" tIns="0" rIns="0" bIns="0"/>
          <a:p>
            <a:pPr>
              <a:lnSpc>
                <a:spcPct val="145000"/>
              </a:lnSpc>
            </a:pPr>
            <a:r>
              <a:rPr lang="zh-CN" sz="1165">
                <a:solidFill>
                  <a:srgbClr val="E4EDF9"/>
                </a:solidFill>
                <a:latin typeface="微软雅黑" panose="020B0503020204020204" charset="-122"/>
                <a:ea typeface="微软雅黑" panose="020B0503020204020204" charset="-122"/>
              </a:rPr>
              <a:t>高温、干旱与需求峰值保留时间依赖，构造单因素与组合压力。</a:t>
            </a:r>
            <a:endParaRPr lang="zh-CN" sz="1165">
              <a:solidFill>
                <a:srgbClr val="E4EDF9"/>
              </a:solidFill>
              <a:latin typeface="微软雅黑" panose="020B0503020204020204" charset="-122"/>
              <a:ea typeface="微软雅黑" panose="020B0503020204020204" charset="-122"/>
            </a:endParaRPr>
          </a:p>
        </p:txBody>
      </p:sp>
      <p:sp>
        <p:nvSpPr>
          <p:cNvPr id="1103" name="矩形 1102"/>
          <p:cNvSpPr/>
          <p:nvPr/>
        </p:nvSpPr>
        <p:spPr>
          <a:xfrm>
            <a:off x="428625" y="5753100"/>
            <a:ext cx="11430000" cy="476250"/>
          </a:xfrm>
          <a:prstGeom prst="rect">
            <a:avLst/>
          </a:prstGeom>
          <a:solidFill>
            <a:srgbClr val="E8EFF8"/>
          </a:solidFill>
        </p:spPr>
        <p:txBody>
          <a:bodyPr/>
          <a:p/>
        </p:txBody>
      </p:sp>
      <p:sp>
        <p:nvSpPr>
          <p:cNvPr id="1104" name="任意多边形 1103"/>
          <p:cNvSpPr/>
          <p:nvPr/>
        </p:nvSpPr>
        <p:spPr>
          <a:xfrm>
            <a:off x="381000" y="5753100"/>
            <a:ext cx="11477625" cy="476250"/>
          </a:xfrm>
          <a:custGeom>
            <a:avLst/>
            <a:gdLst/>
            <a:ahLst/>
            <a:cxnLst/>
            <a:pathLst>
              <a:path w="1205" h="50">
                <a:moveTo>
                  <a:pt x="0" y="0"/>
                </a:moveTo>
                <a:lnTo>
                  <a:pt x="5" y="0"/>
                </a:lnTo>
                <a:lnTo>
                  <a:pt x="5" y="50"/>
                </a:lnTo>
                <a:lnTo>
                  <a:pt x="0" y="50"/>
                </a:lnTo>
                <a:close/>
              </a:path>
            </a:pathLst>
          </a:custGeom>
          <a:solidFill>
            <a:srgbClr val="1E4FA8"/>
          </a:solidFill>
        </p:spPr>
        <p:txBody>
          <a:bodyPr/>
          <a:p/>
        </p:txBody>
      </p:sp>
      <p:sp>
        <p:nvSpPr>
          <p:cNvPr id="1105" name="文本框 1104" descr="{&quot;isTemplate&quot;:true,&quot;type&quot;:&quot;text&quot;}"/>
          <p:cNvSpPr txBox="1"/>
          <p:nvPr/>
        </p:nvSpPr>
        <p:spPr>
          <a:xfrm>
            <a:off x="600075" y="5838825"/>
            <a:ext cx="11210925" cy="304800"/>
          </a:xfrm>
          <a:prstGeom prst="rect">
            <a:avLst/>
          </a:prstGeom>
        </p:spPr>
        <p:txBody>
          <a:bodyPr wrap="none" lIns="0" tIns="0" rIns="0" bIns="0"/>
          <a:p>
            <a:pPr>
              <a:lnSpc>
                <a:spcPct val="140000"/>
              </a:lnSpc>
            </a:pPr>
            <a:r>
              <a:rPr lang="zh-CN" sz="1390">
                <a:solidFill>
                  <a:srgbClr val="1A2230"/>
                </a:solidFill>
                <a:latin typeface="微软雅黑" panose="020B0503020204020204" charset="-122"/>
                <a:ea typeface="微软雅黑" panose="020B0503020204020204" charset="-122"/>
              </a:rPr>
              <a:t>证据等级决定参数不确定区间宽度；敏感性分析判断这些不确定性是否实质改变主要结论</a:t>
            </a:r>
            <a:endParaRPr lang="zh-CN" sz="1390">
              <a:solidFill>
                <a:srgbClr val="1A2230"/>
              </a:solidFill>
              <a:latin typeface="微软雅黑" panose="020B0503020204020204" charset="-122"/>
              <a:ea typeface="微软雅黑" panose="020B0503020204020204" charset="-122"/>
            </a:endParaRPr>
          </a:p>
        </p:txBody>
      </p:sp>
      <p:sp>
        <p:nvSpPr>
          <p:cNvPr id="1106" name="任意多边形 1105"/>
          <p:cNvSpPr/>
          <p:nvPr/>
        </p:nvSpPr>
        <p:spPr>
          <a:xfrm>
            <a:off x="0" y="63055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107" name="文本框 1106" descr="{&quot;isTemplate&quot;:true,&quot;type&quot;:&quot;text&quot;}"/>
          <p:cNvSpPr txBox="1"/>
          <p:nvPr/>
        </p:nvSpPr>
        <p:spPr>
          <a:xfrm>
            <a:off x="381000" y="64198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108" name="文本框 1107" descr="{&quot;isTemplate&quot;:true,&quot;type&quot;:&quot;text&quot;}"/>
          <p:cNvSpPr txBox="1"/>
          <p:nvPr/>
        </p:nvSpPr>
        <p:spPr>
          <a:xfrm>
            <a:off x="11353800" y="64198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28 / 36</a:t>
            </a:r>
            <a:endParaRPr lang="en-US" sz="1050">
              <a:solidFill>
                <a:srgbClr val="1E4FA8"/>
              </a:solidFill>
              <a:latin typeface="微软雅黑" panose="020B0503020204020204" charset="-122"/>
              <a:ea typeface="微软雅黑" panose="020B0503020204020204" charset="-122"/>
            </a:endParaRPr>
          </a:p>
        </p:txBody>
      </p:sp>
      <p:sp>
        <p:nvSpPr>
          <p:cNvPr id="1109" name="矩形 1108"/>
          <p:cNvSpPr/>
          <p:nvPr/>
        </p:nvSpPr>
        <p:spPr>
          <a:xfrm>
            <a:off x="0" y="685800"/>
            <a:ext cx="57150" cy="1162050"/>
          </a:xfrm>
          <a:prstGeom prst="rect">
            <a:avLst/>
          </a:prstGeom>
          <a:solidFill>
            <a:srgbClr val="C9D6E8"/>
          </a:solidFill>
        </p:spPr>
        <p:txBody>
          <a:bodyPr/>
          <a:p/>
        </p:txBody>
      </p:sp>
      <p:sp>
        <p:nvSpPr>
          <p:cNvPr id="1110" name="矩形 1109"/>
          <p:cNvSpPr/>
          <p:nvPr/>
        </p:nvSpPr>
        <p:spPr>
          <a:xfrm>
            <a:off x="0" y="1847850"/>
            <a:ext cx="57150" cy="1162050"/>
          </a:xfrm>
          <a:prstGeom prst="rect">
            <a:avLst/>
          </a:prstGeom>
          <a:solidFill>
            <a:srgbClr val="C9D6E8"/>
          </a:solidFill>
        </p:spPr>
        <p:txBody>
          <a:bodyPr/>
          <a:p/>
        </p:txBody>
      </p:sp>
      <p:sp>
        <p:nvSpPr>
          <p:cNvPr id="1111" name="矩形 1110"/>
          <p:cNvSpPr/>
          <p:nvPr/>
        </p:nvSpPr>
        <p:spPr>
          <a:xfrm>
            <a:off x="0" y="3009900"/>
            <a:ext cx="57150" cy="1162050"/>
          </a:xfrm>
          <a:prstGeom prst="rect">
            <a:avLst/>
          </a:prstGeom>
          <a:solidFill>
            <a:srgbClr val="C9D6E8"/>
          </a:solidFill>
        </p:spPr>
        <p:txBody>
          <a:bodyPr/>
          <a:p/>
        </p:txBody>
      </p:sp>
      <p:sp>
        <p:nvSpPr>
          <p:cNvPr id="1112" name="矩形 1111"/>
          <p:cNvSpPr/>
          <p:nvPr/>
        </p:nvSpPr>
        <p:spPr>
          <a:xfrm>
            <a:off x="0" y="4171950"/>
            <a:ext cx="57150" cy="1162050"/>
          </a:xfrm>
          <a:prstGeom prst="rect">
            <a:avLst/>
          </a:prstGeom>
          <a:solidFill>
            <a:srgbClr val="FFC107"/>
          </a:solidFill>
        </p:spPr>
        <p:txBody>
          <a:bodyPr/>
          <a:p/>
        </p:txBody>
      </p:sp>
      <p:sp>
        <p:nvSpPr>
          <p:cNvPr id="1113" name="矩形 1112"/>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114"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database' style={{ fill: '#FFC107', width: 22, height: 22 }} /&gt;&#13;&#10;        &lt;/Box&gt;&#13;&#10;            &lt;Text style={{ fontSize: 29, fontWeight: 'bold', color: '#FFFFFF' }}&gt;分层数据方案与非物理组合控制&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29&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本研究构建工程可行的参数化城市状态集合：真实公开数据约束参数域，物理规则筛除非物理组合，不输出单一城市的精确容量预测&lt;/Text&gt;&#13;&#10;        &lt;/Box&gt;&#13;&#10;        &lt;Table&#13;&#10;            style={{ width: '100%', height: 250 }}&#13;&#10;            defaultTextStyle={{ fontSize: 16, textAlign: 'left', color: '#1A2230', lineHeight: 1.4 }}&#13;&#10;            defaultCellStyle={{&#13;&#10;                paddingLeft: 12,&#13;&#10;                paddingRight: 12,&#13;&#10;                paddingTop: 7,&#13;&#10;                paddingBottom: 7,&#13;&#10;                border: {&#13;&#10;                    left: { width: 1, color: '#D6DCE5' },&#13;&#10;                    right: { width: 1, color: '#D6DCE5' },&#13;&#10;                    top: { width: 1, color: '#D6DCE5' },&#13;&#10;                    bottom: { width: 1, color: '#D6DCE5' },&#13;&#10;                },&#13;&#10;            }}&#13;&#10;            cells={[&#13;&#10;                [&#13;&#10;                    { text: '数据层级', textStyle: { bold: true, color: '#FFFFFF', fontSize: 17 }, cellStyle: { background: { color: '#0B3A82' } } },&#13;&#10;                    { text: '数据内容', textStyle: { bold: true, color: '#FFFFFF', fontSize: 17 }, cellStyle: { background: { color: '#0B3A82' } } },&#13;&#10;                    { text: '获取与使用方式', textStyle: { bold: true, color: '#FFFFFF', fontSize: 17 }, cellStyle: { background: { color: '#0B3A82' } } },&#13;&#10;                    { text: '对结论的作用', textStyle: { bold: true, color: '#FFFFFF', fontSize: 17 }, cellStyle: { background: { color: '#0B3A82' } } },&#13;&#10;                ],&#13;&#10;                [&#13;&#10;                    { text: '参数化系统输入', textStyle: { bold: true, color: '#0E3F8C' }, cellStyle: { background: { color: '#E8EFF8' } } },&#13;&#10;                    { text: '连续日尺度供水、污水、再生水、气象与设施能力' },&#13;&#10;                    { text: '公开统计、年报、标准与工程文献，用于构造参数域和情景剖面' },&#13;&#10;                    { text: '约束参数域范围与峰值压力情景' },&#13;&#10;                ],&#13;&#10;                [&#13;&#10;                    { text: '参数范围校核', textStyle: { bold: true, color: '#0E3F8C' }, cellStyle: { background: { color: '#E8EFF8' } } },&#13;&#10;                    { text: '水资源禀赋、热环境、供排水能力、再生水利用与典型运行指标' },&#13;&#10;                    { text: '公开资料与可比统计，用于检验参数范围、机制方向和瓶颈类型' },&#13;&#10;                    { text: '承担外部锚定与方向核验，不承担精度验证' },&#13;&#10;                ],&#13;&#10;                [&#13;&#10;                    { text: '工程与文献', textStyle: { bold: true, color: '#0E3F8C' }, cellStyle: { background: { color: '#E8EFF8' } } },&#13;&#10;                    { text: '冷却架构、PUE、浓缩倍数、蒸发与排污、水质和处理能耗' },&#13;&#10;                    { text: '国家标准、工程文献与公开 Benchmark，形成条件分布与结构对照' },&#13;&#10;                    { text: '支撑设施过程模块与两组结构化对照实验' },&#13;&#10;                ],&#13;&#10;                [&#13;&#10;                    { text: '敏感数据', textStyle: { bold: true, color: '#D9534F' }, cellStyle: { background: { color: '#FBEDED' } } },&#13;&#10;                    { text: '企业逐小时负载、用水、水质与局部接入条件' },&#13;&#10;                    { text: '若可获得则用于校核；否则使用区间参数与保留日总量的条件剖面替代' },&#13;&#10;                    { text: '不作为模型成立的单一前提，缺失时不影响主线' },&#13;&#10;                ],&#13;&#10;            ]}&#13;&#10;        /&gt;&#13;&#10;        &lt;Box style={{ flexDirection: 'row', gap: 14, height: 186 }}&gt;&#13;&#10;            &lt;Box style={{ flex: 1, background: '#F7F9FC', border: '1px solid #D6DCE5', borderTop: '5px solid #1E4FA8', borderRadius: 6, padding: 12, flexDirection: 'column' }}&gt;&#13;&#10;                &lt;Box style={{ flexDirection: 'row', alignItems: 'center', gap: 8, marginBottom: 5 }}&gt;&#13;&#10;                    &lt;Box style={{ width: 30, height: 30, background: '#1E4FA8', borderRadius: 4, justifyContent: 'center', alignItems: 'center' }}&gt;&#13;&#10;                        &lt;FAIcon name='lock' style={{ fill: '#FFFFFF', width: 18, height: 18 }} /&gt;&#13;&#10;                    &lt;/Box&gt;&#13;&#10;                    &lt;Text style={{ fontSize: 19, fontWeight: 'bold', color: '#0E3F8C' }}&gt;第一层：硬约束&lt;/Text&gt;&#13;&#10;                &lt;/Box&gt;&#13;&#10;                &lt;Text style={{ fontSize: 15.5, color: '#1A2230', lineHeight: 1.45 }}&gt;水源、处理、储量与输配能力非负；再生水供应不超共同上限；居民基本服务优先；回用不重复计量。&lt;/Text&gt;&#13;&#10;            &lt;/Box&gt;&#13;&#10;            &lt;Box style={{ flex: 1, background: '#F7F9FC', border: '1px solid #D6DCE5', borderTop: '5px solid #1E4FA8', borderRadius: 6, padding: 12, flexDirection: 'column' }}&gt;&#13;&#10;                &lt;Box style={{ flexDirection: 'row', alignItems: 'center', gap: 8, marginBottom: 5 }}&gt;&#13;&#10;                    &lt;Box style={{ width: 30, height: 30, background: '#1E4FA8', borderRadius: 4, justifyContent: 'center', alignItems: 'center' }}&gt;&#13;&#10;                        &lt;FAIcon name='arrows-rotate' style={{ fill: '#FFFFFF', width: 18, height: 18 }} /&gt;&#13;&#10;                    &lt;/Box&gt;&#13;&#10;                    &lt;Text style={{ fontSize: 19, fontWeight: 'bold', color: '#0E3F8C' }}&gt;第二层：相关结构&lt;/Text&gt;&#13;&#10;                &lt;/Box&gt;&#13;&#10;                &lt;Text style={{ fontSize: 15.5, color: '#1A2230', lineHeight: 1.45 }}&gt;高温—冷却需水、干旱—水源折减、负载率—电耗、浓缩倍数—排污量保持合理方向关系与相依强度，情景物理自洽。&lt;/Text&gt;&#13;&#10;            &lt;/Box&gt;&#13;&#10;            &lt;Box style={{ flex: 1, background: '#0E3F8C', borderTop: '5px solid #FFC107', borderRadius: 6, padding: 12, flexDirection: 'column' }}&gt;&#13;&#10;                &lt;Box style={{ flexDirection: 'row', alignItems: 'center', gap: 8, marginBottom: 5 }}&gt;&#13;&#10;                    &lt;Box style={{ width: 30, height: 30, background: '#FFC107', borderRadius: 4, justifyContent: 'center', alignItems: 'center' }}&gt;&#13;&#10;                        &lt;FAIcon name='border-all' style={{ fill: '#0B3A82', width: 18, height: 18 }} /&gt;&#13;&#10;                    &lt;/Box&gt;&#13;&#10;                    &lt;Text style={{ fontSize: 19, fontWeight: 'bold', color: '#FFFFFF' }}&gt;第三层：采样设计&lt;/Text&gt;&#13;&#10;                &lt;/Box&gt;&#13;&#10;                &lt;Text style={{ fontSize: 15.5, color: '#E4EDF9', lineHeight: 1.45 }}&gt;分层抽样或空间填充设计生成组合，覆盖参数域边界与内部，避免&quot;非物理城市&quot;。&lt;/Text&gt;&#13;&#10;            &lt;/Box&gt;&#13;&#10;        &lt;/Box&gt;&#13;&#10;        &lt;Box style={{ background: '#E8EFF8', borderLeft: '5px solid #1E4FA8', paddingLeft: 18, paddingTop: 9, paddingBottom: 9 }}&gt;&#13;&#10;            &lt;Text style={{ fontSize: 18.5, color: '#1A2230', lineHeight: 1.4 }}&gt;每个参数记录来源、年份、工况与上下界；证据不足者以区间与条件分布表达并报告敏感性排序&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29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1115" name="矩形 1114"/>
          <p:cNvSpPr/>
          <p:nvPr/>
        </p:nvSpPr>
        <p:spPr>
          <a:xfrm>
            <a:off x="0" y="0"/>
            <a:ext cx="12192000" cy="6858000"/>
          </a:xfrm>
          <a:prstGeom prst="rect">
            <a:avLst/>
          </a:prstGeom>
          <a:solidFill>
            <a:srgbClr val="FFFFFF"/>
          </a:solidFill>
        </p:spPr>
        <p:txBody>
          <a:bodyPr/>
          <a:p/>
        </p:txBody>
      </p:sp>
      <p:sp>
        <p:nvSpPr>
          <p:cNvPr id="1116" name="矩形 1115"/>
          <p:cNvSpPr/>
          <p:nvPr/>
        </p:nvSpPr>
        <p:spPr>
          <a:xfrm>
            <a:off x="0" y="0"/>
            <a:ext cx="12192000" cy="685800"/>
          </a:xfrm>
          <a:prstGeom prst="rect">
            <a:avLst/>
          </a:prstGeom>
          <a:solidFill>
            <a:srgbClr val="0E3F8C"/>
          </a:solidFill>
        </p:spPr>
        <p:txBody>
          <a:bodyPr/>
          <a:p/>
        </p:txBody>
      </p:sp>
      <p:sp>
        <p:nvSpPr>
          <p:cNvPr id="1117" name="圆角矩形 1116"/>
          <p:cNvSpPr/>
          <p:nvPr/>
        </p:nvSpPr>
        <p:spPr>
          <a:xfrm>
            <a:off x="381000" y="152400"/>
            <a:ext cx="381000" cy="381000"/>
          </a:xfrm>
          <a:prstGeom prst="roundRect">
            <a:avLst>
              <a:gd name="adj" fmla="val 25000"/>
            </a:avLst>
          </a:prstGeom>
          <a:solidFill>
            <a:srgbClr val="12489A"/>
          </a:solidFill>
        </p:spPr>
        <p:txBody>
          <a:bodyPr/>
          <a:p/>
        </p:txBody>
      </p:sp>
      <p:pic>
        <p:nvPicPr>
          <p:cNvPr id="1118" name="图片 1117"/>
          <p:cNvPicPr>
            <a:picLocks noChangeAspect="1"/>
          </p:cNvPicPr>
          <p:nvPr/>
        </p:nvPicPr>
        <p:blipFill>
          <a:blip/>
          <a:stretch>
            <a:fillRect/>
          </a:stretch>
        </p:blipFill>
        <p:spPr>
          <a:xfrm>
            <a:off x="466725" y="238125"/>
            <a:ext cx="209550" cy="209550"/>
          </a:xfrm>
          <a:prstGeom prst="rect">
            <a:avLst/>
          </a:prstGeom>
        </p:spPr>
      </p:pic>
      <p:sp>
        <p:nvSpPr>
          <p:cNvPr id="1119" name="文本框 1118" descr="{&quot;isTemplate&quot;:true,&quot;type&quot;:&quot;text&quot;}"/>
          <p:cNvSpPr txBox="1"/>
          <p:nvPr/>
        </p:nvSpPr>
        <p:spPr>
          <a:xfrm>
            <a:off x="895350" y="180975"/>
            <a:ext cx="386715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分层数据方案与非物理组合控制</a:t>
            </a:r>
            <a:endParaRPr lang="zh-CN" sz="2175" b="1">
              <a:solidFill>
                <a:srgbClr val="FFFFFF"/>
              </a:solidFill>
              <a:latin typeface="微软雅黑" panose="020B0503020204020204" charset="-122"/>
              <a:ea typeface="微软雅黑" panose="020B0503020204020204" charset="-122"/>
            </a:endParaRPr>
          </a:p>
        </p:txBody>
      </p:sp>
      <p:sp>
        <p:nvSpPr>
          <p:cNvPr id="1120" name="文本框 1119"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1121" name="圆角矩形 1120"/>
          <p:cNvSpPr/>
          <p:nvPr/>
        </p:nvSpPr>
        <p:spPr>
          <a:xfrm>
            <a:off x="11468100" y="238125"/>
            <a:ext cx="342900" cy="219075"/>
          </a:xfrm>
          <a:prstGeom prst="roundRect">
            <a:avLst>
              <a:gd name="adj" fmla="val 13043"/>
            </a:avLst>
          </a:prstGeom>
          <a:solidFill>
            <a:srgbClr val="FFC107"/>
          </a:solidFill>
        </p:spPr>
        <p:txBody>
          <a:bodyPr/>
          <a:p/>
        </p:txBody>
      </p:sp>
      <p:sp>
        <p:nvSpPr>
          <p:cNvPr id="1122" name="文本框 1121"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29</a:t>
            </a:r>
            <a:endParaRPr lang="en-US" sz="1050" b="1">
              <a:solidFill>
                <a:srgbClr val="0B3A82"/>
              </a:solidFill>
              <a:latin typeface="微软雅黑" panose="020B0503020204020204" charset="-122"/>
              <a:ea typeface="微软雅黑" panose="020B0503020204020204" charset="-122"/>
            </a:endParaRPr>
          </a:p>
        </p:txBody>
      </p:sp>
      <p:sp>
        <p:nvSpPr>
          <p:cNvPr id="1123" name="圆角矩形 1122"/>
          <p:cNvSpPr/>
          <p:nvPr/>
        </p:nvSpPr>
        <p:spPr>
          <a:xfrm>
            <a:off x="381000" y="800100"/>
            <a:ext cx="11430000" cy="676275"/>
          </a:xfrm>
          <a:prstGeom prst="roundRect">
            <a:avLst>
              <a:gd name="adj" fmla="val 5634"/>
            </a:avLst>
          </a:prstGeom>
          <a:solidFill>
            <a:srgbClr val="0B3A82"/>
          </a:solidFill>
        </p:spPr>
        <p:txBody>
          <a:bodyPr/>
          <a:p/>
        </p:txBody>
      </p:sp>
      <p:sp>
        <p:nvSpPr>
          <p:cNvPr id="1124" name="文本框 1123" descr="{&quot;isTemplate&quot;:true,&quot;type&quot;:&quot;text&quot;}"/>
          <p:cNvSpPr txBox="1"/>
          <p:nvPr/>
        </p:nvSpPr>
        <p:spPr>
          <a:xfrm>
            <a:off x="571500" y="895350"/>
            <a:ext cx="11239500" cy="485775"/>
          </a:xfrm>
          <a:prstGeom prst="rect">
            <a:avLst/>
          </a:prstGeom>
        </p:spPr>
        <p:txBody>
          <a:bodyPr wrap="square" lIns="0" tIns="0" rIns="0" bIns="0">
            <a:normAutofit/>
          </a:bodyPr>
          <a:p>
            <a:pPr>
              <a:lnSpc>
                <a:spcPct val="100000"/>
              </a:lnSpc>
            </a:pPr>
            <a:r>
              <a:rPr lang="zh-CN" sz="1575">
                <a:solidFill>
                  <a:srgbClr val="FFFFFF"/>
                </a:solidFill>
                <a:latin typeface="微软雅黑" panose="020B0503020204020204" charset="-122"/>
                <a:ea typeface="微软雅黑" panose="020B0503020204020204" charset="-122"/>
              </a:rPr>
              <a:t>本研究构建工程可行的参数化城市状态集合：真实公开数据约束参数域，物理规则筛除非物理组合，不输出单一城市的精确容量预测</a:t>
            </a:r>
            <a:endParaRPr lang="zh-CN" sz="1575">
              <a:solidFill>
                <a:srgbClr val="FFFFFF"/>
              </a:solidFill>
              <a:latin typeface="微软雅黑" panose="020B0503020204020204" charset="-122"/>
              <a:ea typeface="微软雅黑" panose="020B0503020204020204" charset="-122"/>
            </a:endParaRPr>
          </a:p>
        </p:txBody>
      </p:sp>
      <p:graphicFrame>
        <p:nvGraphicFramePr>
          <p:cNvPr id="1125" name="表格 1124"/>
          <p:cNvGraphicFramePr/>
          <p:nvPr/>
        </p:nvGraphicFramePr>
        <p:xfrm>
          <a:off x="381000" y="1590675"/>
          <a:ext cx="11430000" cy="2381251"/>
        </p:xfrm>
        <a:graphic>
          <a:graphicData uri="http://schemas.openxmlformats.org/drawingml/2006/table">
            <a:tbl>
              <a:tblPr/>
              <a:tblGrid>
                <a:gridCol w="971678"/>
                <a:gridCol w="3656577"/>
                <a:gridCol w="4040134"/>
                <a:gridCol w="2761611"/>
              </a:tblGrid>
              <a:tr h="315675">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数据层级</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数据内容</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获取与使用方式</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对结论的作用</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r>
              <a:tr h="516394">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参数化系统输入</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连续日尺度供水、污水、再生水、气象与设施能力</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公开统计、年报、标准与工程文献，用于构造参数域和情景剖面</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约束参数域范围与峰值压力情景</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516394">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参数范围校核</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水资源禀赋、热环境、供排水能力、再生水利用与典型运行指标</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公开资料与可比统计，用于检验参数范围、机制方向和瓶颈类型</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承担外部锚定与方向核验，不承担精度验证</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516394">
                <a:tc>
                  <a:txBody>
                    <a:bodyPr wrap="square">
                      <a:spAutoFit/>
                    </a:bodyPr>
                    <a:p>
                      <a:pPr marL="114300" marR="114300" algn="l">
                        <a:lnSpc>
                          <a:spcPct val="120000"/>
                        </a:lnSpc>
                      </a:pPr>
                      <a:r>
                        <a:rPr sz="1200" b="1">
                          <a:solidFill>
                            <a:srgbClr val="0E3F8C"/>
                          </a:solidFill>
                          <a:latin typeface="微软雅黑" panose="020B0503020204020204" charset="-122"/>
                          <a:ea typeface="微软雅黑" panose="020B0503020204020204" charset="-122"/>
                        </a:rPr>
                        <a:t>工程与文献</a:t>
                      </a:r>
                      <a:endParaRPr sz="1200"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冷却架构、PUE、浓缩倍数、蒸发与排污、水质和处理能耗</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国家标准、工程文献与公开 Benchmark，形成条件分布与结构对照</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支撑设施过程模块与两组结构化对照实验</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516394">
                <a:tc>
                  <a:txBody>
                    <a:bodyPr wrap="square">
                      <a:spAutoFit/>
                    </a:bodyPr>
                    <a:p>
                      <a:pPr marL="114300" marR="114300" algn="l">
                        <a:lnSpc>
                          <a:spcPct val="120000"/>
                        </a:lnSpc>
                      </a:pPr>
                      <a:r>
                        <a:rPr sz="1200" b="1">
                          <a:solidFill>
                            <a:srgbClr val="D9534F"/>
                          </a:solidFill>
                          <a:latin typeface="微软雅黑" panose="020B0503020204020204" charset="-122"/>
                          <a:ea typeface="微软雅黑" panose="020B0503020204020204" charset="-122"/>
                        </a:rPr>
                        <a:t>敏感数据</a:t>
                      </a:r>
                      <a:endParaRPr sz="1200" b="1">
                        <a:solidFill>
                          <a:srgbClr val="D9534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BEDED"/>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企业逐小时负载、用水、水质与局部接入条件</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若可获得则用于校核；否则使用区间参数与保留日总量的条件剖面替代</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不作为模型成立的单一前提，缺失时不影响主线</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bl>
          </a:graphicData>
        </a:graphic>
      </p:graphicFrame>
      <p:sp>
        <p:nvSpPr>
          <p:cNvPr id="1126" name="圆角矩形 1125"/>
          <p:cNvSpPr/>
          <p:nvPr/>
        </p:nvSpPr>
        <p:spPr>
          <a:xfrm>
            <a:off x="381000" y="4133850"/>
            <a:ext cx="3724275" cy="1771650"/>
          </a:xfrm>
          <a:prstGeom prst="roundRect">
            <a:avLst>
              <a:gd name="adj" fmla="val 3226"/>
            </a:avLst>
          </a:prstGeom>
          <a:solidFill>
            <a:srgbClr val="F7F9FC"/>
          </a:solidFill>
        </p:spPr>
        <p:txBody>
          <a:bodyPr/>
          <a:p/>
        </p:txBody>
      </p:sp>
      <p:sp>
        <p:nvSpPr>
          <p:cNvPr id="1127" name="任意多边形 1126"/>
          <p:cNvSpPr/>
          <p:nvPr/>
        </p:nvSpPr>
        <p:spPr>
          <a:xfrm>
            <a:off x="381000" y="4133850"/>
            <a:ext cx="3724275" cy="1771650"/>
          </a:xfrm>
          <a:custGeom>
            <a:avLst/>
            <a:gdLst/>
            <a:ahLst/>
            <a:cxnLst/>
            <a:pathLst>
              <a:path w="391" h="186">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1128" name="圆角矩形 1127"/>
          <p:cNvSpPr/>
          <p:nvPr/>
        </p:nvSpPr>
        <p:spPr>
          <a:xfrm>
            <a:off x="495300" y="4248150"/>
            <a:ext cx="285750" cy="285750"/>
          </a:xfrm>
          <a:prstGeom prst="roundRect">
            <a:avLst>
              <a:gd name="adj" fmla="val 13333"/>
            </a:avLst>
          </a:prstGeom>
          <a:solidFill>
            <a:srgbClr val="1E4FA8"/>
          </a:solidFill>
        </p:spPr>
        <p:txBody>
          <a:bodyPr/>
          <a:p/>
        </p:txBody>
      </p:sp>
      <p:pic>
        <p:nvPicPr>
          <p:cNvPr id="1129" name="图片 1128"/>
          <p:cNvPicPr>
            <a:picLocks noChangeAspect="1"/>
          </p:cNvPicPr>
          <p:nvPr/>
        </p:nvPicPr>
        <p:blipFill>
          <a:blip/>
          <a:stretch>
            <a:fillRect/>
          </a:stretch>
        </p:blipFill>
        <p:spPr>
          <a:xfrm>
            <a:off x="552450" y="4305300"/>
            <a:ext cx="171450" cy="171450"/>
          </a:xfrm>
          <a:prstGeom prst="rect">
            <a:avLst/>
          </a:prstGeom>
        </p:spPr>
      </p:pic>
      <p:sp>
        <p:nvSpPr>
          <p:cNvPr id="1130" name="文本框 1129" descr="{&quot;isTemplate&quot;:true,&quot;type&quot;:&quot;text&quot;}"/>
          <p:cNvSpPr txBox="1"/>
          <p:nvPr/>
        </p:nvSpPr>
        <p:spPr>
          <a:xfrm>
            <a:off x="857250" y="4286250"/>
            <a:ext cx="1266825"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第一层：硬约束</a:t>
            </a:r>
            <a:endParaRPr lang="zh-CN" sz="1425" b="1">
              <a:solidFill>
                <a:srgbClr val="0E3F8C"/>
              </a:solidFill>
              <a:latin typeface="微软雅黑" panose="020B0503020204020204" charset="-122"/>
              <a:ea typeface="微软雅黑" panose="020B0503020204020204" charset="-122"/>
            </a:endParaRPr>
          </a:p>
        </p:txBody>
      </p:sp>
      <p:sp>
        <p:nvSpPr>
          <p:cNvPr id="1131" name="文本框 1130" descr="{&quot;isTemplate&quot;:true,&quot;type&quot;:&quot;text&quot;}"/>
          <p:cNvSpPr txBox="1"/>
          <p:nvPr/>
        </p:nvSpPr>
        <p:spPr>
          <a:xfrm>
            <a:off x="495300" y="4581525"/>
            <a:ext cx="3495675"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水源、处理、储量与输配能力非负；再生水供应不超共同上限；居民基本服务优先；回用不重复计量。</a:t>
            </a:r>
            <a:endParaRPr lang="zh-CN" sz="1165">
              <a:solidFill>
                <a:srgbClr val="1A2230"/>
              </a:solidFill>
              <a:latin typeface="微软雅黑" panose="020B0503020204020204" charset="-122"/>
              <a:ea typeface="微软雅黑" panose="020B0503020204020204" charset="-122"/>
            </a:endParaRPr>
          </a:p>
        </p:txBody>
      </p:sp>
      <p:sp>
        <p:nvSpPr>
          <p:cNvPr id="1132" name="圆角矩形 1131"/>
          <p:cNvSpPr/>
          <p:nvPr/>
        </p:nvSpPr>
        <p:spPr>
          <a:xfrm>
            <a:off x="4238625" y="4133850"/>
            <a:ext cx="3714750" cy="1771650"/>
          </a:xfrm>
          <a:prstGeom prst="roundRect">
            <a:avLst>
              <a:gd name="adj" fmla="val 3226"/>
            </a:avLst>
          </a:prstGeom>
          <a:solidFill>
            <a:srgbClr val="F7F9FC"/>
          </a:solidFill>
        </p:spPr>
        <p:txBody>
          <a:bodyPr/>
          <a:p/>
        </p:txBody>
      </p:sp>
      <p:sp>
        <p:nvSpPr>
          <p:cNvPr id="1133" name="任意多边形 1132"/>
          <p:cNvSpPr/>
          <p:nvPr/>
        </p:nvSpPr>
        <p:spPr>
          <a:xfrm>
            <a:off x="4238625" y="4133850"/>
            <a:ext cx="3714750" cy="1771650"/>
          </a:xfrm>
          <a:custGeom>
            <a:avLst/>
            <a:gdLst/>
            <a:ahLst/>
            <a:cxnLst/>
            <a:pathLst>
              <a:path w="390" h="186">
                <a:moveTo>
                  <a:pt x="384" y="0"/>
                </a:moveTo>
                <a:cubicBezTo>
                  <a:pt x="387" y="0"/>
                  <a:pt x="390" y="3"/>
                  <a:pt x="390" y="6"/>
                </a:cubicBezTo>
                <a:cubicBezTo>
                  <a:pt x="390" y="5"/>
                  <a:pt x="389" y="5"/>
                  <a:pt x="389" y="5"/>
                </a:cubicBezTo>
                <a:lnTo>
                  <a:pt x="1" y="5"/>
                </a:lnTo>
                <a:cubicBezTo>
                  <a:pt x="0" y="5"/>
                  <a:pt x="0" y="5"/>
                  <a:pt x="0" y="6"/>
                </a:cubicBezTo>
                <a:cubicBezTo>
                  <a:pt x="0" y="3"/>
                  <a:pt x="3" y="0"/>
                  <a:pt x="6" y="0"/>
                </a:cubicBezTo>
                <a:lnTo>
                  <a:pt x="384" y="0"/>
                </a:lnTo>
                <a:close/>
              </a:path>
            </a:pathLst>
          </a:custGeom>
          <a:solidFill>
            <a:srgbClr val="1E4FA8"/>
          </a:solidFill>
        </p:spPr>
        <p:txBody>
          <a:bodyPr/>
          <a:p/>
        </p:txBody>
      </p:sp>
      <p:sp>
        <p:nvSpPr>
          <p:cNvPr id="1134" name="圆角矩形 1133"/>
          <p:cNvSpPr/>
          <p:nvPr/>
        </p:nvSpPr>
        <p:spPr>
          <a:xfrm>
            <a:off x="4352925" y="4248150"/>
            <a:ext cx="285750" cy="285750"/>
          </a:xfrm>
          <a:prstGeom prst="roundRect">
            <a:avLst>
              <a:gd name="adj" fmla="val 13333"/>
            </a:avLst>
          </a:prstGeom>
          <a:solidFill>
            <a:srgbClr val="1E4FA8"/>
          </a:solidFill>
        </p:spPr>
        <p:txBody>
          <a:bodyPr/>
          <a:p/>
        </p:txBody>
      </p:sp>
      <p:pic>
        <p:nvPicPr>
          <p:cNvPr id="1135" name="图片 1134"/>
          <p:cNvPicPr>
            <a:picLocks noChangeAspect="1"/>
          </p:cNvPicPr>
          <p:nvPr/>
        </p:nvPicPr>
        <p:blipFill>
          <a:blip/>
          <a:stretch>
            <a:fillRect/>
          </a:stretch>
        </p:blipFill>
        <p:spPr>
          <a:xfrm>
            <a:off x="4410075" y="4305300"/>
            <a:ext cx="171450" cy="171450"/>
          </a:xfrm>
          <a:prstGeom prst="rect">
            <a:avLst/>
          </a:prstGeom>
        </p:spPr>
      </p:pic>
      <p:sp>
        <p:nvSpPr>
          <p:cNvPr id="1136" name="文本框 1135" descr="{&quot;isTemplate&quot;:true,&quot;type&quot;:&quot;text&quot;}"/>
          <p:cNvSpPr txBox="1"/>
          <p:nvPr/>
        </p:nvSpPr>
        <p:spPr>
          <a:xfrm>
            <a:off x="4714875" y="4286250"/>
            <a:ext cx="1447800"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第二层：相关结构</a:t>
            </a:r>
            <a:endParaRPr lang="zh-CN" sz="1425" b="1">
              <a:solidFill>
                <a:srgbClr val="0E3F8C"/>
              </a:solidFill>
              <a:latin typeface="微软雅黑" panose="020B0503020204020204" charset="-122"/>
              <a:ea typeface="微软雅黑" panose="020B0503020204020204" charset="-122"/>
            </a:endParaRPr>
          </a:p>
        </p:txBody>
      </p:sp>
      <p:sp>
        <p:nvSpPr>
          <p:cNvPr id="1137" name="文本框 1136" descr="{&quot;isTemplate&quot;:true,&quot;type&quot;:&quot;text&quot;}"/>
          <p:cNvSpPr txBox="1"/>
          <p:nvPr/>
        </p:nvSpPr>
        <p:spPr>
          <a:xfrm>
            <a:off x="4352925" y="4581525"/>
            <a:ext cx="3486150" cy="771525"/>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高温—冷却需水、干旱—水源折减、负载率—电耗、浓缩倍数—排污量保持合理方向关系与相依强度，情景物理自洽。</a:t>
            </a:r>
            <a:endParaRPr lang="zh-CN" sz="1165">
              <a:solidFill>
                <a:srgbClr val="1A2230"/>
              </a:solidFill>
              <a:latin typeface="微软雅黑" panose="020B0503020204020204" charset="-122"/>
              <a:ea typeface="微软雅黑" panose="020B0503020204020204" charset="-122"/>
            </a:endParaRPr>
          </a:p>
        </p:txBody>
      </p:sp>
      <p:sp>
        <p:nvSpPr>
          <p:cNvPr id="1138" name="圆角矩形 1137"/>
          <p:cNvSpPr/>
          <p:nvPr/>
        </p:nvSpPr>
        <p:spPr>
          <a:xfrm>
            <a:off x="8086725" y="4133850"/>
            <a:ext cx="3724275" cy="1771650"/>
          </a:xfrm>
          <a:prstGeom prst="roundRect">
            <a:avLst>
              <a:gd name="adj" fmla="val 3226"/>
            </a:avLst>
          </a:prstGeom>
          <a:solidFill>
            <a:srgbClr val="0E3F8C"/>
          </a:solidFill>
        </p:spPr>
        <p:txBody>
          <a:bodyPr/>
          <a:p/>
        </p:txBody>
      </p:sp>
      <p:sp>
        <p:nvSpPr>
          <p:cNvPr id="1139" name="任意多边形 1138"/>
          <p:cNvSpPr/>
          <p:nvPr/>
        </p:nvSpPr>
        <p:spPr>
          <a:xfrm>
            <a:off x="8086725" y="4133850"/>
            <a:ext cx="3724275" cy="1771650"/>
          </a:xfrm>
          <a:custGeom>
            <a:avLst/>
            <a:gdLst/>
            <a:ahLst/>
            <a:cxnLst/>
            <a:pathLst>
              <a:path w="391" h="186">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FFC107"/>
          </a:solidFill>
        </p:spPr>
        <p:txBody>
          <a:bodyPr/>
          <a:p/>
        </p:txBody>
      </p:sp>
      <p:sp>
        <p:nvSpPr>
          <p:cNvPr id="1140" name="圆角矩形 1139"/>
          <p:cNvSpPr/>
          <p:nvPr/>
        </p:nvSpPr>
        <p:spPr>
          <a:xfrm>
            <a:off x="8201025" y="4248150"/>
            <a:ext cx="285750" cy="285750"/>
          </a:xfrm>
          <a:prstGeom prst="roundRect">
            <a:avLst>
              <a:gd name="adj" fmla="val 13333"/>
            </a:avLst>
          </a:prstGeom>
          <a:solidFill>
            <a:srgbClr val="FFC107"/>
          </a:solidFill>
        </p:spPr>
        <p:txBody>
          <a:bodyPr/>
          <a:p/>
        </p:txBody>
      </p:sp>
      <p:pic>
        <p:nvPicPr>
          <p:cNvPr id="1141" name="图片 1140"/>
          <p:cNvPicPr>
            <a:picLocks noChangeAspect="1"/>
          </p:cNvPicPr>
          <p:nvPr/>
        </p:nvPicPr>
        <p:blipFill>
          <a:blip/>
          <a:stretch>
            <a:fillRect/>
          </a:stretch>
        </p:blipFill>
        <p:spPr>
          <a:xfrm>
            <a:off x="8258175" y="4305300"/>
            <a:ext cx="171450" cy="171450"/>
          </a:xfrm>
          <a:prstGeom prst="rect">
            <a:avLst/>
          </a:prstGeom>
        </p:spPr>
      </p:pic>
      <p:sp>
        <p:nvSpPr>
          <p:cNvPr id="1142" name="文本框 1141" descr="{&quot;isTemplate&quot;:true,&quot;type&quot;:&quot;text&quot;}"/>
          <p:cNvSpPr txBox="1"/>
          <p:nvPr/>
        </p:nvSpPr>
        <p:spPr>
          <a:xfrm>
            <a:off x="8562975" y="4286250"/>
            <a:ext cx="1447800"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第三层：采样设计</a:t>
            </a:r>
            <a:endParaRPr lang="zh-CN" sz="1425" b="1">
              <a:solidFill>
                <a:srgbClr val="FFFFFF"/>
              </a:solidFill>
              <a:latin typeface="微软雅黑" panose="020B0503020204020204" charset="-122"/>
              <a:ea typeface="微软雅黑" panose="020B0503020204020204" charset="-122"/>
            </a:endParaRPr>
          </a:p>
        </p:txBody>
      </p:sp>
      <p:sp>
        <p:nvSpPr>
          <p:cNvPr id="1143" name="文本框 1142" descr="{&quot;isTemplate&quot;:true,&quot;type&quot;:&quot;text&quot;}"/>
          <p:cNvSpPr txBox="1"/>
          <p:nvPr/>
        </p:nvSpPr>
        <p:spPr>
          <a:xfrm>
            <a:off x="8201025" y="4581525"/>
            <a:ext cx="3495675" cy="514350"/>
          </a:xfrm>
          <a:prstGeom prst="rect">
            <a:avLst/>
          </a:prstGeom>
        </p:spPr>
        <p:txBody>
          <a:bodyPr wrap="square" lIns="0" tIns="0" rIns="0" bIns="0">
            <a:normAutofit/>
          </a:bodyPr>
          <a:p>
            <a:pPr>
              <a:lnSpc>
                <a:spcPct val="145000"/>
              </a:lnSpc>
            </a:pPr>
            <a:r>
              <a:rPr lang="zh-CN" sz="1165">
                <a:solidFill>
                  <a:srgbClr val="E4EDF9"/>
                </a:solidFill>
                <a:latin typeface="微软雅黑" panose="020B0503020204020204" charset="-122"/>
                <a:ea typeface="微软雅黑" panose="020B0503020204020204" charset="-122"/>
              </a:rPr>
              <a:t>分层抽样或空间填充设计生成组合，覆盖参数域边界与内部，避免</a:t>
            </a:r>
            <a:r>
              <a:rPr lang="en-US" sz="1165">
                <a:solidFill>
                  <a:srgbClr val="E4EDF9"/>
                </a:solidFill>
                <a:latin typeface="微软雅黑" panose="020B0503020204020204" charset="-122"/>
                <a:ea typeface="微软雅黑" panose="020B0503020204020204" charset="-122"/>
              </a:rPr>
              <a:t>"</a:t>
            </a:r>
            <a:r>
              <a:rPr lang="zh-CN" sz="1165">
                <a:solidFill>
                  <a:srgbClr val="E4EDF9"/>
                </a:solidFill>
                <a:latin typeface="微软雅黑" panose="020B0503020204020204" charset="-122"/>
                <a:ea typeface="微软雅黑" panose="020B0503020204020204" charset="-122"/>
              </a:rPr>
              <a:t>非物理城市</a:t>
            </a:r>
            <a:r>
              <a:rPr lang="en-US" sz="1165">
                <a:solidFill>
                  <a:srgbClr val="E4EDF9"/>
                </a:solidFill>
                <a:latin typeface="微软雅黑" panose="020B0503020204020204" charset="-122"/>
                <a:ea typeface="微软雅黑" panose="020B0503020204020204" charset="-122"/>
              </a:rPr>
              <a:t>"</a:t>
            </a:r>
            <a:r>
              <a:rPr lang="zh-CN" sz="1165">
                <a:solidFill>
                  <a:srgbClr val="E4EDF9"/>
                </a:solidFill>
                <a:latin typeface="微软雅黑" panose="020B0503020204020204" charset="-122"/>
                <a:ea typeface="微软雅黑" panose="020B0503020204020204" charset="-122"/>
              </a:rPr>
              <a:t>。</a:t>
            </a:r>
            <a:endParaRPr lang="zh-CN" sz="1165">
              <a:solidFill>
                <a:srgbClr val="E4EDF9"/>
              </a:solidFill>
              <a:latin typeface="微软雅黑" panose="020B0503020204020204" charset="-122"/>
              <a:ea typeface="微软雅黑" panose="020B0503020204020204" charset="-122"/>
            </a:endParaRPr>
          </a:p>
        </p:txBody>
      </p:sp>
      <p:sp>
        <p:nvSpPr>
          <p:cNvPr id="1144" name="矩形 1143"/>
          <p:cNvSpPr/>
          <p:nvPr/>
        </p:nvSpPr>
        <p:spPr>
          <a:xfrm>
            <a:off x="428625" y="5972175"/>
            <a:ext cx="11430000" cy="476250"/>
          </a:xfrm>
          <a:prstGeom prst="rect">
            <a:avLst/>
          </a:prstGeom>
          <a:solidFill>
            <a:srgbClr val="E8EFF8"/>
          </a:solidFill>
        </p:spPr>
        <p:txBody>
          <a:bodyPr/>
          <a:p/>
        </p:txBody>
      </p:sp>
      <p:sp>
        <p:nvSpPr>
          <p:cNvPr id="1145" name="任意多边形 1144"/>
          <p:cNvSpPr/>
          <p:nvPr/>
        </p:nvSpPr>
        <p:spPr>
          <a:xfrm>
            <a:off x="381000" y="5972175"/>
            <a:ext cx="11477625" cy="476250"/>
          </a:xfrm>
          <a:custGeom>
            <a:avLst/>
            <a:gdLst/>
            <a:ahLst/>
            <a:cxnLst/>
            <a:pathLst>
              <a:path w="1205" h="50">
                <a:moveTo>
                  <a:pt x="0" y="0"/>
                </a:moveTo>
                <a:lnTo>
                  <a:pt x="5" y="0"/>
                </a:lnTo>
                <a:lnTo>
                  <a:pt x="5" y="50"/>
                </a:lnTo>
                <a:lnTo>
                  <a:pt x="0" y="50"/>
                </a:lnTo>
                <a:close/>
              </a:path>
            </a:pathLst>
          </a:custGeom>
          <a:solidFill>
            <a:srgbClr val="1E4FA8"/>
          </a:solidFill>
        </p:spPr>
        <p:txBody>
          <a:bodyPr/>
          <a:p/>
        </p:txBody>
      </p:sp>
      <p:sp>
        <p:nvSpPr>
          <p:cNvPr id="1146" name="文本框 1145" descr="{&quot;isTemplate&quot;:true,&quot;type&quot;:&quot;text&quot;}"/>
          <p:cNvSpPr txBox="1"/>
          <p:nvPr/>
        </p:nvSpPr>
        <p:spPr>
          <a:xfrm>
            <a:off x="600075" y="6057900"/>
            <a:ext cx="11210925" cy="304800"/>
          </a:xfrm>
          <a:prstGeom prst="rect">
            <a:avLst/>
          </a:prstGeom>
        </p:spPr>
        <p:txBody>
          <a:bodyPr wrap="none" lIns="0" tIns="0" rIns="0" bIns="0"/>
          <a:p>
            <a:pPr>
              <a:lnSpc>
                <a:spcPct val="140000"/>
              </a:lnSpc>
            </a:pPr>
            <a:r>
              <a:rPr lang="zh-CN" sz="1390">
                <a:solidFill>
                  <a:srgbClr val="1A2230"/>
                </a:solidFill>
                <a:latin typeface="微软雅黑" panose="020B0503020204020204" charset="-122"/>
                <a:ea typeface="微软雅黑" panose="020B0503020204020204" charset="-122"/>
              </a:rPr>
              <a:t>每个参数记录来源、年份、工况与上下界；证据不足者以区间与条件分布表达并报告敏感性排序</a:t>
            </a:r>
            <a:endParaRPr lang="zh-CN" sz="1390">
              <a:solidFill>
                <a:srgbClr val="1A2230"/>
              </a:solidFill>
              <a:latin typeface="微软雅黑" panose="020B0503020204020204" charset="-122"/>
              <a:ea typeface="微软雅黑" panose="020B0503020204020204" charset="-122"/>
            </a:endParaRPr>
          </a:p>
        </p:txBody>
      </p:sp>
      <p:sp>
        <p:nvSpPr>
          <p:cNvPr id="1147" name="任意多边形 1146"/>
          <p:cNvSpPr/>
          <p:nvPr/>
        </p:nvSpPr>
        <p:spPr>
          <a:xfrm>
            <a:off x="0" y="652462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148" name="文本框 1147" descr="{&quot;isTemplate&quot;:true,&quot;type&quot;:&quot;text&quot;}"/>
          <p:cNvSpPr txBox="1"/>
          <p:nvPr/>
        </p:nvSpPr>
        <p:spPr>
          <a:xfrm>
            <a:off x="381000" y="663892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149" name="文本框 1148" descr="{&quot;isTemplate&quot;:true,&quot;type&quot;:&quot;text&quot;}"/>
          <p:cNvSpPr txBox="1"/>
          <p:nvPr/>
        </p:nvSpPr>
        <p:spPr>
          <a:xfrm>
            <a:off x="11353800" y="663892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29 / 36</a:t>
            </a:r>
            <a:endParaRPr lang="en-US" sz="1050">
              <a:solidFill>
                <a:srgbClr val="1E4FA8"/>
              </a:solidFill>
              <a:latin typeface="微软雅黑" panose="020B0503020204020204" charset="-122"/>
              <a:ea typeface="微软雅黑" panose="020B0503020204020204" charset="-122"/>
            </a:endParaRPr>
          </a:p>
        </p:txBody>
      </p:sp>
      <p:sp>
        <p:nvSpPr>
          <p:cNvPr id="1150" name="矩形 1149"/>
          <p:cNvSpPr/>
          <p:nvPr/>
        </p:nvSpPr>
        <p:spPr>
          <a:xfrm>
            <a:off x="0" y="685800"/>
            <a:ext cx="57150" cy="1162050"/>
          </a:xfrm>
          <a:prstGeom prst="rect">
            <a:avLst/>
          </a:prstGeom>
          <a:solidFill>
            <a:srgbClr val="C9D6E8"/>
          </a:solidFill>
        </p:spPr>
        <p:txBody>
          <a:bodyPr/>
          <a:p/>
        </p:txBody>
      </p:sp>
      <p:sp>
        <p:nvSpPr>
          <p:cNvPr id="1151" name="矩形 1150"/>
          <p:cNvSpPr/>
          <p:nvPr/>
        </p:nvSpPr>
        <p:spPr>
          <a:xfrm>
            <a:off x="0" y="1847850"/>
            <a:ext cx="57150" cy="1162050"/>
          </a:xfrm>
          <a:prstGeom prst="rect">
            <a:avLst/>
          </a:prstGeom>
          <a:solidFill>
            <a:srgbClr val="C9D6E8"/>
          </a:solidFill>
        </p:spPr>
        <p:txBody>
          <a:bodyPr/>
          <a:p/>
        </p:txBody>
      </p:sp>
      <p:sp>
        <p:nvSpPr>
          <p:cNvPr id="1152" name="矩形 1151"/>
          <p:cNvSpPr/>
          <p:nvPr/>
        </p:nvSpPr>
        <p:spPr>
          <a:xfrm>
            <a:off x="0" y="3009900"/>
            <a:ext cx="57150" cy="1162050"/>
          </a:xfrm>
          <a:prstGeom prst="rect">
            <a:avLst/>
          </a:prstGeom>
          <a:solidFill>
            <a:srgbClr val="C9D6E8"/>
          </a:solidFill>
        </p:spPr>
        <p:txBody>
          <a:bodyPr/>
          <a:p/>
        </p:txBody>
      </p:sp>
      <p:sp>
        <p:nvSpPr>
          <p:cNvPr id="1153" name="矩形 1152"/>
          <p:cNvSpPr/>
          <p:nvPr/>
        </p:nvSpPr>
        <p:spPr>
          <a:xfrm>
            <a:off x="0" y="4171950"/>
            <a:ext cx="57150" cy="1162050"/>
          </a:xfrm>
          <a:prstGeom prst="rect">
            <a:avLst/>
          </a:prstGeom>
          <a:solidFill>
            <a:srgbClr val="FFC107"/>
          </a:solidFill>
        </p:spPr>
        <p:txBody>
          <a:bodyPr/>
          <a:p/>
        </p:txBody>
      </p:sp>
      <p:sp>
        <p:nvSpPr>
          <p:cNvPr id="1154" name="矩形 1153"/>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167"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shield' style={{ fill: '#FFC107', width: 22, height: 22 }} /&gt;&#13;&#10;        &lt;/Box&gt;&#13;&#10;            &lt;Text style={{ fontSize: 29, fontWeight: 'bold', color: '#FFFFFF' }}&gt;模型可信度框架：结果稳定性判据与三层筛选&lt;/Text&gt;&#13;&#10;        &lt;/Box&gt;&#13;&#10;        &lt;Box style={{ flexDirection: 'row', alignItems: 'center', gap: 10 }}&gt;&#13;&#10;            &lt;Text style={{ fontSize: 15, color: '#AFC6E8' }}&gt;04 研究方案：模型、实验与验证&lt;/Text&gt;&#13;&#10;            &lt;Box style={{ background: '#FFC107', paddingLeft: 9, paddingRight: 9, paddingTop: 3, paddingBottom: 3, borderRadius: 3, justifyContent: 'center', alignItems: 'center' }}&gt;&#13;&#10;                &lt;Text style={{ fontSize: 14, color: '#0B3A82', fontWeight: 'bold' }}&gt;30&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本研究不以特定城市历史序列预测精度为目标，结论定位为机制与条件化边界；可信度由五个方面共同支撑&lt;/Text&gt;&#13;&#10;        &lt;/Box&gt;&#13;&#10;        &lt;Box style={{ flexDirection: 'row', gap: 14, height: 258 }}&gt;&#13;&#10;            &lt;Box style={{ flex: 1.25, background: '#F7F9FC', border: '1px solid #D6DCE5', borderRadius: 6, padding: 12, flexDirection: 'column' }}&gt;&#13;&#10;                &lt;Box style={{ borderLeft: '5px solid #1E4FA8', paddingLeft: 10, marginBottom: 7 }}&gt;&#13;&#10;                    &lt;Box style={{ flexDirection: 'row', alignItems: 'center', gap: 8 }}&gt;&#13;&#10;                &lt;FAIcon name='shield' style={{ fill: '#1E4FA8', width: 19, height: 19 }} /&gt;&#13;&#10;                &lt;Text style={{ fontSize: 20, fontWeight: 'bold', color: '#0E3F8C' }}&gt;可信度支撑的五个方面&lt;/Text&gt;&#13;&#10;            &lt;/Box&gt;&#13;&#10;                &lt;/Box&gt;&#13;&#10;                &lt;Box style={{ flexDirection: 'row', alignItems: 'flex-start', gap: 8, marginBottom: 4 }}&gt;&#13;&#10;                    &lt;Box style={{ width: 26, height: 26, background: '#0B3A82', borderRadius: 13, justifyContent: 'center', alignItems: 'center' }}&gt;&#13;&#10;                        &lt;Text style={{ fontSize: 14, color: '#FFFFFF', fontWeight: 'bold' }}&gt;1&lt;/Text&gt;&#13;&#10;                    &lt;/Box&gt;&#13;&#10;                    &lt;Text style={{ flex: 1, fontSize: 15.5, color: '#1A2230', lineHeight: 1.4 }}&gt;&lt;span style={{ fontWeight: 'bold' }}&gt;守恒关系与代码测试&lt;/span&gt;：水量、水质、储量与回用守恒测试，单元与回归测试。&lt;/Text&gt;&#13;&#10;                &lt;/Box&gt;&#13;&#10;                &lt;Box style={{ flexDirection: 'row', alignItems: 'flex-start', gap: 8, marginBottom: 4 }}&gt;&#13;&#10;                    &lt;Box style={{ width: 26, height: 26, background: '#0B3A82', borderRadius: 13, justifyContent: 'center', alignItems: 'center' }}&gt;&#13;&#10;                        &lt;Text style={{ fontSize: 14, color: '#FFFFFF', fontWeight: 'bold' }}&gt;2&lt;/Text&gt;&#13;&#10;                    &lt;/Box&gt;&#13;&#10;                    &lt;Text style={{ flex: 1, fontSize: 15.5, color: '#1A2230', lineHeight: 1.4 }}&gt;&lt;span style={{ fontWeight: 'bold' }}&gt;工程过程基准对比&lt;/span&gt;：与公开工程 Benchmark 对照，检验过程模块量级。&lt;/Text&gt;&#13;&#10;                &lt;/Box&gt;&#13;&#10;                &lt;Box style={{ flexDirection: 'row', alignItems: 'flex-start', gap: 8, marginBottom: 4 }}&gt;&#13;&#10;                    &lt;Box style={{ width: 26, height: 26, background: '#0B3A82', borderRadius: 13, justifyContent: 'center', alignItems: 'center' }}&gt;&#13;&#10;                        &lt;Text style={{ fontSize: 14, color: '#FFFFFF', fontWeight: 'bold' }}&gt;3&lt;/Text&gt;&#13;&#10;                    &lt;/Box&gt;&#13;&#10;                    &lt;Text style={{ flex: 1, fontSize: 15.5, color: '#1A2230', lineHeight: 1.4 }}&gt;&lt;span style={{ fontWeight: 'bold' }}&gt;极限行为检验&lt;/span&gt;：零负荷、满负荷、极端高温等极限输入下检查响应方向。&lt;/Text&gt;&#13;&#10;                &lt;/Box&gt;&#13;&#10;                &lt;Box style={{ flexDirection: 'row', alignItems: 'flex-start', gap: 8, marginBottom: 4 }}&gt;&#13;&#10;                    &lt;Box style={{ width: 26, height: 26, background: '#0B3A82', borderRadius: 13, justifyContent: 'center', alignItems: 'center' }}&gt;&#13;&#10;                        &lt;Text style={{ fontSize: 14, color: '#FFFFFF', fontWeight: 'bold' }}&gt;4&lt;/Text&gt;&#13;&#10;                    &lt;/Box&gt;&#13;&#10;                    &lt;Text style={{ flex: 1, fontSize: 15.5, color: '#1A2230', lineHeight: 1.4 }}&gt;&lt;span style={{ fontWeight: 'bold' }}&gt;参数合理性审计&lt;/span&gt;：核对单位、来源、工况与上下界，形成参数证据表。&lt;/Text&gt;&#13;&#10;                &lt;/Box&gt;&#13;&#10;                &lt;Box style={{ flexDirection: 'row', alignItems: 'flex-start', gap: 8 }}&gt;&#13;&#10;                    &lt;Box style={{ width: 26, height: 26, background: '#0B3A82', borderRadius: 13, justifyContent: 'center', alignItems: 'center' }}&gt;&#13;&#10;                        &lt;Text style={{ fontSize: 14, color: '#FFFFFF', fontWeight: 'bold' }}&gt;5&lt;/Text&gt;&#13;&#10;                    &lt;/Box&gt;&#13;&#10;                    &lt;Text style={{ flex: 1, fontSize: 15.5, color: '#1A2230', lineHeight: 1.4 }}&gt;&lt;span style={{ fontWeight: 'bold' }}&gt;结构稳健性分析&lt;/span&gt;：替换冷却方程与约束优先级，检验结论是否翻转。&lt;/Text&gt;&#13;&#10;                &lt;/Box&gt;&#13;&#10;            &lt;/Box&gt;&#13;&#10;            &lt;Box style={{ flex: 1, flexDirection: 'column', gap: 11 }}&gt;&#13;&#10;                &lt;Box style={{ flex: 1, background: '#0E3F8C', borderRadius: 6, padding: 12, flexDirection: 'column' }}&gt;&#13;&#10;                    &lt;Text style={{ fontSize: 19, fontWeight: 'bold', color: '#FFFFFF', marginBottom: 5 }}&gt;三类结果稳定性检验&lt;/Text&gt;&#13;&#10;                    &lt;Text style={{ fontSize: 15.5, color: '#E4EDF9', lineHeight: 1.45 }}&gt;·　改变参数分布与相关结构，重复抽样比较结论方向&lt;/Text&gt;&#13;&#10;                    &lt;Text style={{ fontSize: 15.5, color: '#E4EDF9', lineHeight: 1.45 }}&gt;·　改变高温、干旱与需求峰值排列，构造替代压力剖面&lt;/Text&gt;&#13;&#10;                    &lt;Text style={{ fontSize: 15.5, color: '#E4EDF9', lineHeight: 1.45 }}&gt;·　替换冷却方程与优先级，检验结构敏感性&lt;/Text&gt;&#13;&#10;                    &lt;Box style={{ marginTop: 'auto', background: '#12489A', borderRadius: 4, padding: 6 }}&gt;&#13;&#10;                        &lt;Text style={{ fontSize: 15, color: '#FFC107', lineHeight: 1.35 }}&gt;多数扰动方向一致者进入主要结论；狭窄区间成立者以适用域表述&lt;/Text&gt;&#13;&#10;                    &lt;/Box&gt;&#13;&#10;                &lt;/Box&gt;&#13;&#10;                &lt;Box style={{ flex: 1, background: '#F0F5FC', border: '1px solid #D6DCE5', borderRadius: 6, padding: 12, flexDirection: 'column' }}&gt;&#13;&#10;                    &lt;Text style={{ fontSize: 19, fontWeight: 'bold', color: '#1A2230', marginBottom: 5 }}&gt;外部锚点的使用边界&lt;/Text&gt;&#13;&#10;                    &lt;Text style={{ fontSize: 15.5, color: '#4A5568', lineHeight: 1.45 }}&gt;不以特定城市时序拟合为前提。公开资料仅用于参数域校核与方向性锚定，结果标记为工程基准、条件规律或机制方向性结论。&lt;/Text&gt;&#13;&#10;                &lt;/Box&gt;&#13;&#10;            &lt;/Box&gt;&#13;&#10;        &lt;/Box&gt;&#13;&#10;        &lt;Box style={{ flexDirection: 'row', gap: 14, height: 182 }}&gt;&#13;&#10;            &lt;Box style={{ flex: 1, background: '#F7F9FC', border: '1px solid #D6DCE5', borderTop: '4px solid #1E4FA8', borderRadius: 6, padding: 12, flexDirection: 'column' }}&gt;&#13;&#10;                &lt;Box style={{ flexDirection: 'row', alignItems: 'center', gap: 8, marginBottom: 4 }}&gt;&#13;&#10;                    &lt;Box style={{ background: '#1E4FA8', borderRadius: 3, paddingLeft: 8, paddingRight: 8, paddingTop: 2, paddingBottom: 2 }}&gt;&#13;&#10;                        &lt;Text style={{ fontSize: 14, color: '#FFFFFF', fontWeight: 'bold' }}&gt;第一道&lt;/Text&gt;&#13;&#10;                    &lt;/Box&gt;&#13;&#10;                    &lt;Box style={{ flexDirection: 'row', alignItems: 'center', gap: 8 }}&gt;&#13;&#10;                &lt;FAIcon name='cog' style={{ fill: '#1E4FA8', width: 17, height: 17 }} /&gt;&#13;&#10;                &lt;Text style={{ fontSize: 18, fontWeight: 'bold', color: '#0E3F8C' }}&gt;模型层筛选&lt;/Text&gt;&#13;&#10;            &lt;/Box&gt;&#13;&#10;                &lt;/Box&gt;&#13;&#10;                &lt;Text style={{ fontSize: 15.5, color: '#1A2230', lineHeight: 1.45 }}&gt;通过守恒、边界与基准测试；未通过者退回修改，不进入结论。&lt;/Text&gt;&#13;&#10;            &lt;/Box&gt;&#13;&#10;            &lt;Box style={{ flex: 1, background: '#F7F9FC', border: '1px solid #D6DCE5', borderTop: '4px solid #1E4FA8', borderRadius: 6, padding: 12, flexDirection: 'column' }}&gt;&#13;&#10;                &lt;Box style={{ flexDirection: 'row', alignItems: 'center', gap: 8, marginBottom: 4 }}&gt;&#13;&#10;                    &lt;Box style={{ background: '#1E4FA8', borderRadius: 3, paddingLeft: 8, paddingRight: 8, paddingTop: 2, paddingBottom: 2 }}&gt;&#13;&#10;                        &lt;Text style={{ fontSize: 14, color: '#FFFFFF', fontWeight: 'bold' }}&gt;第二道&lt;/Text&gt;&#13;&#10;                    &lt;/Box&gt;&#13;&#10;                    &lt;Box style={{ flexDirection: 'row', alignItems: 'center', gap: 8 }}&gt;&#13;&#10;                &lt;FAIcon name='chart-bar' style={{ fill: '#1E4FA8', width: 17, height: 17 }} /&gt;&#13;&#10;                &lt;Text style={{ fontSize: 18, fontWeight: 'bold', color: '#0E3F8C' }}&gt;结果层筛选&lt;/Text&gt;&#13;&#10;            &lt;/Box&gt;&#13;&#10;                &lt;/Box&gt;&#13;&#10;                &lt;Text style={{ fontSize: 15.5, color: '#1A2230', lineHeight: 1.45 }}&gt;重复抽样与两种压力剖面下方向一致；不稳定者降级为敏感性发现。&lt;/Text&gt;&#13;&#10;            &lt;/Box&gt;&#13;&#10;            &lt;Box style={{ flex: 1, background: '#F7F9FC', border: '1px solid #D6DCE5', borderTop: '4px solid #D9534F', borderRadius: 6, padding: 12, flexDirection: 'column' }}&gt;&#13;&#10;                &lt;Box style={{ flexDirection: 'row', alignItems: 'center', gap: 8, marginBottom: 4 }}&gt;&#13;&#10;                    &lt;Box style={{ background: '#D9534F', borderRadius: 3, paddingLeft: 8, paddingRight: 8, paddingTop: 2, paddingBottom: 2 }}&gt;&#13;&#10;                        &lt;Text style={{ fontSize: 14, color: '#FFFFFF', fontWeight: 'bold' }}&gt;第三道&lt;/Text&gt;&#13;&#10;                    &lt;/Box&gt;&#13;&#10;                    &lt;Box style={{ flexDirection: 'row', alignItems: 'center', gap: 8 }}&gt;&#13;&#10;                &lt;FAIcon name='lightbulb' style={{ fill: '#1E4FA8', width: 17, height: 17 }} /&gt;&#13;&#10;                &lt;Text style={{ fontSize: 18, fontWeight: 'bold', color: '#0E3F8C' }}&gt;机制层筛选&lt;/Text&gt;&#13;&#10;            &lt;/Box&gt;&#13;&#10;                &lt;/Box&gt;&#13;&#10;                &lt;Text style={{ fontSize: 15.5, color: '#1A2230', lineHeight: 1.45 }}&gt;机制解释对应可识别的结构指标或约束转换；否则作为待验证假设报告。&lt;/Text&gt;&#13;&#10;            &lt;/Box&gt;&#13;&#10;        &lt;/Box&gt;&#13;&#10;        &lt;Box style={{ background: '#E8EFF8', borderLeft: '5px solid #1E4FA8', paddingLeft: 18, paddingTop: 9, paddingBottom: 9 }}&gt;&#13;&#10;            &lt;Text style={{ fontSize: 18.5, color: '#1A2230', lineHeight: 1.4 }}&gt;三层筛选保留探索能力，偶发现象不夸大为一般规律&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30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FFC107' }} /&gt;&#13;&#10;                &lt;Box style={{ width: 6, height: 120, background: '#C9D6E8' }} /&gt;&#13;&#10;    &lt;/Box&gt;&#13;&#10;&lt;/Slide&gt;&#13;&#10;"/>
        <p:cNvGrpSpPr/>
        <p:nvPr/>
      </p:nvGrpSpPr>
      <p:grpSpPr>
        <a:xfrm>
          <a:off x="0" y="0"/>
          <a:ext cx="0" cy="0"/>
          <a:chOff x="0" y="0"/>
          <a:chExt cx="0" cy="0"/>
        </a:xfrm>
      </p:grpSpPr>
      <p:sp>
        <p:nvSpPr>
          <p:cNvPr id="1168" name="矩形 1167"/>
          <p:cNvSpPr/>
          <p:nvPr/>
        </p:nvSpPr>
        <p:spPr>
          <a:xfrm>
            <a:off x="0" y="0"/>
            <a:ext cx="12192000" cy="6858000"/>
          </a:xfrm>
          <a:prstGeom prst="rect">
            <a:avLst/>
          </a:prstGeom>
          <a:solidFill>
            <a:srgbClr val="FFFFFF"/>
          </a:solidFill>
        </p:spPr>
        <p:txBody>
          <a:bodyPr/>
          <a:p/>
        </p:txBody>
      </p:sp>
      <p:sp>
        <p:nvSpPr>
          <p:cNvPr id="1169" name="矩形 1168"/>
          <p:cNvSpPr/>
          <p:nvPr/>
        </p:nvSpPr>
        <p:spPr>
          <a:xfrm>
            <a:off x="0" y="0"/>
            <a:ext cx="12192000" cy="685800"/>
          </a:xfrm>
          <a:prstGeom prst="rect">
            <a:avLst/>
          </a:prstGeom>
          <a:solidFill>
            <a:srgbClr val="0E3F8C"/>
          </a:solidFill>
        </p:spPr>
        <p:txBody>
          <a:bodyPr/>
          <a:p/>
        </p:txBody>
      </p:sp>
      <p:sp>
        <p:nvSpPr>
          <p:cNvPr id="1170" name="圆角矩形 1169"/>
          <p:cNvSpPr/>
          <p:nvPr/>
        </p:nvSpPr>
        <p:spPr>
          <a:xfrm>
            <a:off x="381000" y="152400"/>
            <a:ext cx="381000" cy="381000"/>
          </a:xfrm>
          <a:prstGeom prst="roundRect">
            <a:avLst>
              <a:gd name="adj" fmla="val 25000"/>
            </a:avLst>
          </a:prstGeom>
          <a:solidFill>
            <a:srgbClr val="12489A"/>
          </a:solidFill>
        </p:spPr>
        <p:txBody>
          <a:bodyPr/>
          <a:p/>
        </p:txBody>
      </p:sp>
      <p:pic>
        <p:nvPicPr>
          <p:cNvPr id="1171" name="图片 1170"/>
          <p:cNvPicPr>
            <a:picLocks noChangeAspect="1"/>
          </p:cNvPicPr>
          <p:nvPr/>
        </p:nvPicPr>
        <p:blipFill>
          <a:blip/>
          <a:stretch>
            <a:fillRect/>
          </a:stretch>
        </p:blipFill>
        <p:spPr>
          <a:xfrm>
            <a:off x="466725" y="238125"/>
            <a:ext cx="209550" cy="209550"/>
          </a:xfrm>
          <a:prstGeom prst="rect">
            <a:avLst/>
          </a:prstGeom>
        </p:spPr>
      </p:pic>
      <p:sp>
        <p:nvSpPr>
          <p:cNvPr id="1172" name="文本框 1171" descr="{&quot;isTemplate&quot;:true,&quot;type&quot;:&quot;text&quot;}"/>
          <p:cNvSpPr txBox="1"/>
          <p:nvPr/>
        </p:nvSpPr>
        <p:spPr>
          <a:xfrm>
            <a:off x="895350" y="180975"/>
            <a:ext cx="552450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模型可信度框架：结果稳定性判据与三层筛选</a:t>
            </a:r>
            <a:endParaRPr lang="zh-CN" sz="2175" b="1">
              <a:solidFill>
                <a:srgbClr val="FFFFFF"/>
              </a:solidFill>
              <a:latin typeface="微软雅黑" panose="020B0503020204020204" charset="-122"/>
              <a:ea typeface="微软雅黑" panose="020B0503020204020204" charset="-122"/>
            </a:endParaRPr>
          </a:p>
        </p:txBody>
      </p:sp>
      <p:sp>
        <p:nvSpPr>
          <p:cNvPr id="1173" name="文本框 1172" descr="{&quot;isTemplate&quot;:true,&quot;type&quot;:&quot;text&quot;}"/>
          <p:cNvSpPr txBox="1"/>
          <p:nvPr/>
        </p:nvSpPr>
        <p:spPr>
          <a:xfrm>
            <a:off x="9296400" y="266700"/>
            <a:ext cx="2076450"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04 </a:t>
            </a:r>
            <a:r>
              <a:rPr lang="zh-CN" sz="1125">
                <a:solidFill>
                  <a:srgbClr val="AFC6E8"/>
                </a:solidFill>
                <a:latin typeface="微软雅黑" panose="020B0503020204020204" charset="-122"/>
                <a:ea typeface="微软雅黑" panose="020B0503020204020204" charset="-122"/>
              </a:rPr>
              <a:t>研究方案：模型、实验与验证</a:t>
            </a:r>
            <a:endParaRPr lang="zh-CN" sz="1125">
              <a:solidFill>
                <a:srgbClr val="AFC6E8"/>
              </a:solidFill>
              <a:latin typeface="微软雅黑" panose="020B0503020204020204" charset="-122"/>
              <a:ea typeface="微软雅黑" panose="020B0503020204020204" charset="-122"/>
            </a:endParaRPr>
          </a:p>
        </p:txBody>
      </p:sp>
      <p:sp>
        <p:nvSpPr>
          <p:cNvPr id="1174" name="圆角矩形 1173"/>
          <p:cNvSpPr/>
          <p:nvPr/>
        </p:nvSpPr>
        <p:spPr>
          <a:xfrm>
            <a:off x="11468100" y="238125"/>
            <a:ext cx="342900" cy="219075"/>
          </a:xfrm>
          <a:prstGeom prst="roundRect">
            <a:avLst>
              <a:gd name="adj" fmla="val 13043"/>
            </a:avLst>
          </a:prstGeom>
          <a:solidFill>
            <a:srgbClr val="FFC107"/>
          </a:solidFill>
        </p:spPr>
        <p:txBody>
          <a:bodyPr/>
          <a:p/>
        </p:txBody>
      </p:sp>
      <p:sp>
        <p:nvSpPr>
          <p:cNvPr id="1175" name="文本框 1174"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30</a:t>
            </a:r>
            <a:endParaRPr lang="en-US" sz="1050" b="1">
              <a:solidFill>
                <a:srgbClr val="0B3A82"/>
              </a:solidFill>
              <a:latin typeface="微软雅黑" panose="020B0503020204020204" charset="-122"/>
              <a:ea typeface="微软雅黑" panose="020B0503020204020204" charset="-122"/>
            </a:endParaRPr>
          </a:p>
        </p:txBody>
      </p:sp>
      <p:sp>
        <p:nvSpPr>
          <p:cNvPr id="1176" name="圆角矩形 1175"/>
          <p:cNvSpPr/>
          <p:nvPr/>
        </p:nvSpPr>
        <p:spPr>
          <a:xfrm>
            <a:off x="381000" y="800100"/>
            <a:ext cx="11430000" cy="438150"/>
          </a:xfrm>
          <a:prstGeom prst="roundRect">
            <a:avLst>
              <a:gd name="adj" fmla="val 8696"/>
            </a:avLst>
          </a:prstGeom>
          <a:solidFill>
            <a:srgbClr val="0B3A82"/>
          </a:solidFill>
        </p:spPr>
        <p:txBody>
          <a:bodyPr/>
          <a:p/>
        </p:txBody>
      </p:sp>
      <p:sp>
        <p:nvSpPr>
          <p:cNvPr id="1177" name="文本框 1176"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本研究不以特定城市历史序列预测精度为目标，结论定位为机制与条件化边界；可信度由五个方面共同支撑</a:t>
            </a:r>
            <a:endParaRPr lang="zh-CN" sz="1575">
              <a:solidFill>
                <a:srgbClr val="FFFFFF"/>
              </a:solidFill>
              <a:latin typeface="微软雅黑" panose="020B0503020204020204" charset="-122"/>
              <a:ea typeface="微软雅黑" panose="020B0503020204020204" charset="-122"/>
            </a:endParaRPr>
          </a:p>
        </p:txBody>
      </p:sp>
      <p:sp>
        <p:nvSpPr>
          <p:cNvPr id="1178" name="圆角矩形 1177"/>
          <p:cNvSpPr/>
          <p:nvPr/>
        </p:nvSpPr>
        <p:spPr>
          <a:xfrm>
            <a:off x="381000" y="1352550"/>
            <a:ext cx="6276975" cy="2457450"/>
          </a:xfrm>
          <a:prstGeom prst="roundRect">
            <a:avLst>
              <a:gd name="adj" fmla="val 2326"/>
            </a:avLst>
          </a:prstGeom>
          <a:solidFill>
            <a:srgbClr val="F7F9FC"/>
          </a:solidFill>
          <a:ln w="12700">
            <a:solidFill>
              <a:srgbClr val="D6DCE5"/>
            </a:solidFill>
            <a:prstDash val="solid"/>
          </a:ln>
        </p:spPr>
        <p:txBody>
          <a:bodyPr/>
          <a:p/>
        </p:txBody>
      </p:sp>
      <p:sp>
        <p:nvSpPr>
          <p:cNvPr id="1179" name="任意多边形 1178"/>
          <p:cNvSpPr/>
          <p:nvPr/>
        </p:nvSpPr>
        <p:spPr>
          <a:xfrm>
            <a:off x="495300" y="1466850"/>
            <a:ext cx="6096000" cy="228600"/>
          </a:xfrm>
          <a:custGeom>
            <a:avLst/>
            <a:gdLst/>
            <a:ahLst/>
            <a:cxnLst/>
            <a:pathLst>
              <a:path w="640" h="24">
                <a:moveTo>
                  <a:pt x="0" y="0"/>
                </a:moveTo>
                <a:lnTo>
                  <a:pt x="5" y="0"/>
                </a:lnTo>
                <a:lnTo>
                  <a:pt x="5" y="24"/>
                </a:lnTo>
                <a:lnTo>
                  <a:pt x="0" y="24"/>
                </a:lnTo>
                <a:close/>
              </a:path>
            </a:pathLst>
          </a:custGeom>
          <a:solidFill>
            <a:srgbClr val="1E4FA8"/>
          </a:solidFill>
        </p:spPr>
        <p:txBody>
          <a:bodyPr/>
          <a:p/>
        </p:txBody>
      </p:sp>
      <p:pic>
        <p:nvPicPr>
          <p:cNvPr id="1180" name="图片 1179"/>
          <p:cNvPicPr>
            <a:picLocks noChangeAspect="1"/>
          </p:cNvPicPr>
          <p:nvPr/>
        </p:nvPicPr>
        <p:blipFill>
          <a:blip/>
          <a:stretch>
            <a:fillRect/>
          </a:stretch>
        </p:blipFill>
        <p:spPr>
          <a:xfrm>
            <a:off x="638175" y="1495425"/>
            <a:ext cx="180975" cy="180975"/>
          </a:xfrm>
          <a:prstGeom prst="rect">
            <a:avLst/>
          </a:prstGeom>
        </p:spPr>
      </p:pic>
      <p:sp>
        <p:nvSpPr>
          <p:cNvPr id="1181" name="文本框 1180" descr="{&quot;isTemplate&quot;:true,&quot;type&quot;:&quot;text&quot;}"/>
          <p:cNvSpPr txBox="1"/>
          <p:nvPr/>
        </p:nvSpPr>
        <p:spPr>
          <a:xfrm>
            <a:off x="895350" y="1466850"/>
            <a:ext cx="1905000" cy="228600"/>
          </a:xfrm>
          <a:prstGeom prst="rect">
            <a:avLst/>
          </a:prstGeom>
        </p:spPr>
        <p:txBody>
          <a:bodyPr wrap="none" lIns="0" tIns="0" rIns="0" bIns="0"/>
          <a:p>
            <a:pPr>
              <a:lnSpc>
                <a:spcPct val="100000"/>
              </a:lnSpc>
            </a:pPr>
            <a:r>
              <a:rPr lang="zh-CN" sz="1500" b="1">
                <a:solidFill>
                  <a:srgbClr val="0E3F8C"/>
                </a:solidFill>
                <a:latin typeface="微软雅黑" panose="020B0503020204020204" charset="-122"/>
                <a:ea typeface="微软雅黑" panose="020B0503020204020204" charset="-122"/>
              </a:rPr>
              <a:t>可信度支撑的五个方面</a:t>
            </a:r>
            <a:endParaRPr lang="zh-CN" sz="1500" b="1">
              <a:solidFill>
                <a:srgbClr val="0E3F8C"/>
              </a:solidFill>
              <a:latin typeface="微软雅黑" panose="020B0503020204020204" charset="-122"/>
              <a:ea typeface="微软雅黑" panose="020B0503020204020204" charset="-122"/>
            </a:endParaRPr>
          </a:p>
        </p:txBody>
      </p:sp>
      <p:sp>
        <p:nvSpPr>
          <p:cNvPr id="1182" name="圆角矩形 1181"/>
          <p:cNvSpPr/>
          <p:nvPr/>
        </p:nvSpPr>
        <p:spPr>
          <a:xfrm>
            <a:off x="495300" y="1762125"/>
            <a:ext cx="247650" cy="247650"/>
          </a:xfrm>
          <a:prstGeom prst="roundRect">
            <a:avLst>
              <a:gd name="adj" fmla="val 50000"/>
            </a:avLst>
          </a:prstGeom>
          <a:solidFill>
            <a:srgbClr val="0B3A82"/>
          </a:solidFill>
        </p:spPr>
        <p:txBody>
          <a:bodyPr/>
          <a:p/>
        </p:txBody>
      </p:sp>
      <p:sp>
        <p:nvSpPr>
          <p:cNvPr id="1183" name="文本框 1182" descr="{&quot;isTemplate&quot;:true,&quot;type&quot;:&quot;text&quot;}"/>
          <p:cNvSpPr txBox="1"/>
          <p:nvPr/>
        </p:nvSpPr>
        <p:spPr>
          <a:xfrm>
            <a:off x="581025" y="1809750"/>
            <a:ext cx="85725" cy="161925"/>
          </a:xfrm>
          <a:prstGeom prst="rect">
            <a:avLst/>
          </a:prstGeom>
        </p:spPr>
        <p:txBody>
          <a:bodyPr wrap="none" lIns="0" tIns="0" rIns="0" bIns="0"/>
          <a:p>
            <a:pPr>
              <a:lnSpc>
                <a:spcPct val="100000"/>
              </a:lnSpc>
            </a:pPr>
            <a:r>
              <a:rPr lang="en-US" sz="1050" b="1">
                <a:solidFill>
                  <a:srgbClr val="FFFFFF"/>
                </a:solidFill>
                <a:latin typeface="微软雅黑" panose="020B0503020204020204" charset="-122"/>
                <a:ea typeface="微软雅黑" panose="020B0503020204020204" charset="-122"/>
              </a:rPr>
              <a:t>1</a:t>
            </a:r>
            <a:endParaRPr lang="en-US" sz="1050" b="1">
              <a:solidFill>
                <a:srgbClr val="FFFFFF"/>
              </a:solidFill>
              <a:latin typeface="微软雅黑" panose="020B0503020204020204" charset="-122"/>
              <a:ea typeface="微软雅黑" panose="020B0503020204020204" charset="-122"/>
            </a:endParaRPr>
          </a:p>
        </p:txBody>
      </p:sp>
      <p:sp>
        <p:nvSpPr>
          <p:cNvPr id="1184" name="文本框 1183" descr="{&quot;isTemplate&quot;:true,&quot;type&quot;:&quot;text&quot;}"/>
          <p:cNvSpPr txBox="1"/>
          <p:nvPr/>
        </p:nvSpPr>
        <p:spPr>
          <a:xfrm>
            <a:off x="819150" y="1762125"/>
            <a:ext cx="5724525" cy="257175"/>
          </a:xfrm>
          <a:prstGeom prst="rect">
            <a:avLst/>
          </a:prstGeom>
        </p:spPr>
        <p:txBody>
          <a:bodyPr wrap="none" lIns="0" tIns="0" rIns="0" bIns="0"/>
          <a:p>
            <a:pPr>
              <a:lnSpc>
                <a:spcPct val="140000"/>
              </a:lnSpc>
            </a:pPr>
            <a:r>
              <a:rPr lang="zh-CN" sz="1165" b="1">
                <a:solidFill>
                  <a:srgbClr val="1A2230"/>
                </a:solidFill>
                <a:latin typeface="微软雅黑" panose="020B0503020204020204" charset="-122"/>
                <a:ea typeface="微软雅黑" panose="020B0503020204020204" charset="-122"/>
              </a:rPr>
              <a:t>守恒关系与代码测试</a:t>
            </a:r>
            <a:r>
              <a:rPr lang="zh-CN" sz="1165">
                <a:solidFill>
                  <a:srgbClr val="1A2230"/>
                </a:solidFill>
                <a:latin typeface="微软雅黑" panose="020B0503020204020204" charset="-122"/>
                <a:ea typeface="微软雅黑" panose="020B0503020204020204" charset="-122"/>
              </a:rPr>
              <a:t>：水量、水质、储量与回用守恒测试，单元与回归测试。</a:t>
            </a:r>
            <a:endParaRPr lang="zh-CN" sz="1165">
              <a:solidFill>
                <a:srgbClr val="1A2230"/>
              </a:solidFill>
              <a:latin typeface="微软雅黑" panose="020B0503020204020204" charset="-122"/>
              <a:ea typeface="微软雅黑" panose="020B0503020204020204" charset="-122"/>
            </a:endParaRPr>
          </a:p>
        </p:txBody>
      </p:sp>
      <p:sp>
        <p:nvSpPr>
          <p:cNvPr id="1185" name="圆角矩形 1184"/>
          <p:cNvSpPr/>
          <p:nvPr/>
        </p:nvSpPr>
        <p:spPr>
          <a:xfrm>
            <a:off x="495300" y="2057400"/>
            <a:ext cx="247650" cy="247650"/>
          </a:xfrm>
          <a:prstGeom prst="roundRect">
            <a:avLst>
              <a:gd name="adj" fmla="val 50000"/>
            </a:avLst>
          </a:prstGeom>
          <a:solidFill>
            <a:srgbClr val="0B3A82"/>
          </a:solidFill>
        </p:spPr>
        <p:txBody>
          <a:bodyPr/>
          <a:p/>
        </p:txBody>
      </p:sp>
      <p:sp>
        <p:nvSpPr>
          <p:cNvPr id="1186" name="文本框 1185" descr="{&quot;isTemplate&quot;:true,&quot;type&quot;:&quot;text&quot;}"/>
          <p:cNvSpPr txBox="1"/>
          <p:nvPr/>
        </p:nvSpPr>
        <p:spPr>
          <a:xfrm>
            <a:off x="581025" y="2105025"/>
            <a:ext cx="85725" cy="161925"/>
          </a:xfrm>
          <a:prstGeom prst="rect">
            <a:avLst/>
          </a:prstGeom>
        </p:spPr>
        <p:txBody>
          <a:bodyPr wrap="none" lIns="0" tIns="0" rIns="0" bIns="0"/>
          <a:p>
            <a:pPr>
              <a:lnSpc>
                <a:spcPct val="100000"/>
              </a:lnSpc>
            </a:pPr>
            <a:r>
              <a:rPr lang="en-US" sz="1050" b="1">
                <a:solidFill>
                  <a:srgbClr val="FFFFFF"/>
                </a:solidFill>
                <a:latin typeface="微软雅黑" panose="020B0503020204020204" charset="-122"/>
                <a:ea typeface="微软雅黑" panose="020B0503020204020204" charset="-122"/>
              </a:rPr>
              <a:t>2</a:t>
            </a:r>
            <a:endParaRPr lang="en-US" sz="1050" b="1">
              <a:solidFill>
                <a:srgbClr val="FFFFFF"/>
              </a:solidFill>
              <a:latin typeface="微软雅黑" panose="020B0503020204020204" charset="-122"/>
              <a:ea typeface="微软雅黑" panose="020B0503020204020204" charset="-122"/>
            </a:endParaRPr>
          </a:p>
        </p:txBody>
      </p:sp>
      <p:sp>
        <p:nvSpPr>
          <p:cNvPr id="1187" name="文本框 1186" descr="{&quot;isTemplate&quot;:true,&quot;type&quot;:&quot;text&quot;}"/>
          <p:cNvSpPr txBox="1"/>
          <p:nvPr/>
        </p:nvSpPr>
        <p:spPr>
          <a:xfrm>
            <a:off x="819150" y="2057400"/>
            <a:ext cx="5724525" cy="257175"/>
          </a:xfrm>
          <a:prstGeom prst="rect">
            <a:avLst/>
          </a:prstGeom>
        </p:spPr>
        <p:txBody>
          <a:bodyPr wrap="none" lIns="0" tIns="0" rIns="0" bIns="0"/>
          <a:p>
            <a:pPr>
              <a:lnSpc>
                <a:spcPct val="140000"/>
              </a:lnSpc>
            </a:pPr>
            <a:r>
              <a:rPr lang="zh-CN" sz="1165" b="1">
                <a:solidFill>
                  <a:srgbClr val="1A2230"/>
                </a:solidFill>
                <a:latin typeface="微软雅黑" panose="020B0503020204020204" charset="-122"/>
                <a:ea typeface="微软雅黑" panose="020B0503020204020204" charset="-122"/>
              </a:rPr>
              <a:t>工程过程基准对比</a:t>
            </a:r>
            <a:r>
              <a:rPr lang="zh-CN" sz="1165">
                <a:solidFill>
                  <a:srgbClr val="1A2230"/>
                </a:solidFill>
                <a:latin typeface="微软雅黑" panose="020B0503020204020204" charset="-122"/>
                <a:ea typeface="微软雅黑" panose="020B0503020204020204" charset="-122"/>
              </a:rPr>
              <a:t>：与公开工程</a:t>
            </a:r>
            <a:r>
              <a:rPr lang="en-US" sz="1165">
                <a:solidFill>
                  <a:srgbClr val="1A2230"/>
                </a:solidFill>
                <a:latin typeface="微软雅黑" panose="020B0503020204020204" charset="-122"/>
                <a:ea typeface="微软雅黑" panose="020B0503020204020204" charset="-122"/>
              </a:rPr>
              <a:t> Benchmark </a:t>
            </a:r>
            <a:r>
              <a:rPr lang="zh-CN" sz="1165">
                <a:solidFill>
                  <a:srgbClr val="1A2230"/>
                </a:solidFill>
                <a:latin typeface="微软雅黑" panose="020B0503020204020204" charset="-122"/>
                <a:ea typeface="微软雅黑" panose="020B0503020204020204" charset="-122"/>
              </a:rPr>
              <a:t>对照，检验过程模块量级。</a:t>
            </a:r>
            <a:endParaRPr lang="zh-CN" sz="1165">
              <a:solidFill>
                <a:srgbClr val="1A2230"/>
              </a:solidFill>
              <a:latin typeface="微软雅黑" panose="020B0503020204020204" charset="-122"/>
              <a:ea typeface="微软雅黑" panose="020B0503020204020204" charset="-122"/>
            </a:endParaRPr>
          </a:p>
        </p:txBody>
      </p:sp>
      <p:sp>
        <p:nvSpPr>
          <p:cNvPr id="1188" name="圆角矩形 1187"/>
          <p:cNvSpPr/>
          <p:nvPr/>
        </p:nvSpPr>
        <p:spPr>
          <a:xfrm>
            <a:off x="495300" y="2352675"/>
            <a:ext cx="247650" cy="247650"/>
          </a:xfrm>
          <a:prstGeom prst="roundRect">
            <a:avLst>
              <a:gd name="adj" fmla="val 50000"/>
            </a:avLst>
          </a:prstGeom>
          <a:solidFill>
            <a:srgbClr val="0B3A82"/>
          </a:solidFill>
        </p:spPr>
        <p:txBody>
          <a:bodyPr/>
          <a:p/>
        </p:txBody>
      </p:sp>
      <p:sp>
        <p:nvSpPr>
          <p:cNvPr id="1189" name="文本框 1188" descr="{&quot;isTemplate&quot;:true,&quot;type&quot;:&quot;text&quot;}"/>
          <p:cNvSpPr txBox="1"/>
          <p:nvPr/>
        </p:nvSpPr>
        <p:spPr>
          <a:xfrm>
            <a:off x="581025" y="2400300"/>
            <a:ext cx="85725" cy="161925"/>
          </a:xfrm>
          <a:prstGeom prst="rect">
            <a:avLst/>
          </a:prstGeom>
        </p:spPr>
        <p:txBody>
          <a:bodyPr wrap="none" lIns="0" tIns="0" rIns="0" bIns="0"/>
          <a:p>
            <a:pPr>
              <a:lnSpc>
                <a:spcPct val="100000"/>
              </a:lnSpc>
            </a:pPr>
            <a:r>
              <a:rPr lang="en-US" sz="1050" b="1">
                <a:solidFill>
                  <a:srgbClr val="FFFFFF"/>
                </a:solidFill>
                <a:latin typeface="微软雅黑" panose="020B0503020204020204" charset="-122"/>
                <a:ea typeface="微软雅黑" panose="020B0503020204020204" charset="-122"/>
              </a:rPr>
              <a:t>3</a:t>
            </a:r>
            <a:endParaRPr lang="en-US" sz="1050" b="1">
              <a:solidFill>
                <a:srgbClr val="FFFFFF"/>
              </a:solidFill>
              <a:latin typeface="微软雅黑" panose="020B0503020204020204" charset="-122"/>
              <a:ea typeface="微软雅黑" panose="020B0503020204020204" charset="-122"/>
            </a:endParaRPr>
          </a:p>
        </p:txBody>
      </p:sp>
      <p:sp>
        <p:nvSpPr>
          <p:cNvPr id="1190" name="文本框 1189" descr="{&quot;isTemplate&quot;:true,&quot;type&quot;:&quot;text&quot;}"/>
          <p:cNvSpPr txBox="1"/>
          <p:nvPr/>
        </p:nvSpPr>
        <p:spPr>
          <a:xfrm>
            <a:off x="819150" y="2352675"/>
            <a:ext cx="5724525" cy="257175"/>
          </a:xfrm>
          <a:prstGeom prst="rect">
            <a:avLst/>
          </a:prstGeom>
        </p:spPr>
        <p:txBody>
          <a:bodyPr wrap="none" lIns="0" tIns="0" rIns="0" bIns="0"/>
          <a:p>
            <a:pPr>
              <a:lnSpc>
                <a:spcPct val="140000"/>
              </a:lnSpc>
            </a:pPr>
            <a:r>
              <a:rPr lang="zh-CN" sz="1165" b="1">
                <a:solidFill>
                  <a:srgbClr val="1A2230"/>
                </a:solidFill>
                <a:latin typeface="微软雅黑" panose="020B0503020204020204" charset="-122"/>
                <a:ea typeface="微软雅黑" panose="020B0503020204020204" charset="-122"/>
              </a:rPr>
              <a:t>极限行为检验</a:t>
            </a:r>
            <a:r>
              <a:rPr lang="zh-CN" sz="1165">
                <a:solidFill>
                  <a:srgbClr val="1A2230"/>
                </a:solidFill>
                <a:latin typeface="微软雅黑" panose="020B0503020204020204" charset="-122"/>
                <a:ea typeface="微软雅黑" panose="020B0503020204020204" charset="-122"/>
              </a:rPr>
              <a:t>：零负荷、满负荷、极端高温等极限输入下检查响应方向。</a:t>
            </a:r>
            <a:endParaRPr lang="zh-CN" sz="1165">
              <a:solidFill>
                <a:srgbClr val="1A2230"/>
              </a:solidFill>
              <a:latin typeface="微软雅黑" panose="020B0503020204020204" charset="-122"/>
              <a:ea typeface="微软雅黑" panose="020B0503020204020204" charset="-122"/>
            </a:endParaRPr>
          </a:p>
        </p:txBody>
      </p:sp>
      <p:sp>
        <p:nvSpPr>
          <p:cNvPr id="1191" name="圆角矩形 1190"/>
          <p:cNvSpPr/>
          <p:nvPr/>
        </p:nvSpPr>
        <p:spPr>
          <a:xfrm>
            <a:off x="495300" y="2647950"/>
            <a:ext cx="247650" cy="247650"/>
          </a:xfrm>
          <a:prstGeom prst="roundRect">
            <a:avLst>
              <a:gd name="adj" fmla="val 50000"/>
            </a:avLst>
          </a:prstGeom>
          <a:solidFill>
            <a:srgbClr val="0B3A82"/>
          </a:solidFill>
        </p:spPr>
        <p:txBody>
          <a:bodyPr/>
          <a:p/>
        </p:txBody>
      </p:sp>
      <p:sp>
        <p:nvSpPr>
          <p:cNvPr id="1192" name="文本框 1191" descr="{&quot;isTemplate&quot;:true,&quot;type&quot;:&quot;text&quot;}"/>
          <p:cNvSpPr txBox="1"/>
          <p:nvPr/>
        </p:nvSpPr>
        <p:spPr>
          <a:xfrm>
            <a:off x="581025" y="2695575"/>
            <a:ext cx="85725" cy="161925"/>
          </a:xfrm>
          <a:prstGeom prst="rect">
            <a:avLst/>
          </a:prstGeom>
        </p:spPr>
        <p:txBody>
          <a:bodyPr wrap="none" lIns="0" tIns="0" rIns="0" bIns="0"/>
          <a:p>
            <a:pPr>
              <a:lnSpc>
                <a:spcPct val="100000"/>
              </a:lnSpc>
            </a:pPr>
            <a:r>
              <a:rPr lang="en-US" sz="1050" b="1">
                <a:solidFill>
                  <a:srgbClr val="FFFFFF"/>
                </a:solidFill>
                <a:latin typeface="微软雅黑" panose="020B0503020204020204" charset="-122"/>
                <a:ea typeface="微软雅黑" panose="020B0503020204020204" charset="-122"/>
              </a:rPr>
              <a:t>4</a:t>
            </a:r>
            <a:endParaRPr lang="en-US" sz="1050" b="1">
              <a:solidFill>
                <a:srgbClr val="FFFFFF"/>
              </a:solidFill>
              <a:latin typeface="微软雅黑" panose="020B0503020204020204" charset="-122"/>
              <a:ea typeface="微软雅黑" panose="020B0503020204020204" charset="-122"/>
            </a:endParaRPr>
          </a:p>
        </p:txBody>
      </p:sp>
      <p:sp>
        <p:nvSpPr>
          <p:cNvPr id="1193" name="文本框 1192" descr="{&quot;isTemplate&quot;:true,&quot;type&quot;:&quot;text&quot;}"/>
          <p:cNvSpPr txBox="1"/>
          <p:nvPr/>
        </p:nvSpPr>
        <p:spPr>
          <a:xfrm>
            <a:off x="819150" y="2647950"/>
            <a:ext cx="5724525" cy="257175"/>
          </a:xfrm>
          <a:prstGeom prst="rect">
            <a:avLst/>
          </a:prstGeom>
        </p:spPr>
        <p:txBody>
          <a:bodyPr wrap="none" lIns="0" tIns="0" rIns="0" bIns="0"/>
          <a:p>
            <a:pPr>
              <a:lnSpc>
                <a:spcPct val="140000"/>
              </a:lnSpc>
            </a:pPr>
            <a:r>
              <a:rPr lang="zh-CN" sz="1165" b="1">
                <a:solidFill>
                  <a:srgbClr val="1A2230"/>
                </a:solidFill>
                <a:latin typeface="微软雅黑" panose="020B0503020204020204" charset="-122"/>
                <a:ea typeface="微软雅黑" panose="020B0503020204020204" charset="-122"/>
              </a:rPr>
              <a:t>参数合理性审计</a:t>
            </a:r>
            <a:r>
              <a:rPr lang="zh-CN" sz="1165">
                <a:solidFill>
                  <a:srgbClr val="1A2230"/>
                </a:solidFill>
                <a:latin typeface="微软雅黑" panose="020B0503020204020204" charset="-122"/>
                <a:ea typeface="微软雅黑" panose="020B0503020204020204" charset="-122"/>
              </a:rPr>
              <a:t>：核对单位、来源、工况与上下界，形成参数证据表。</a:t>
            </a:r>
            <a:endParaRPr lang="zh-CN" sz="1165">
              <a:solidFill>
                <a:srgbClr val="1A2230"/>
              </a:solidFill>
              <a:latin typeface="微软雅黑" panose="020B0503020204020204" charset="-122"/>
              <a:ea typeface="微软雅黑" panose="020B0503020204020204" charset="-122"/>
            </a:endParaRPr>
          </a:p>
        </p:txBody>
      </p:sp>
      <p:sp>
        <p:nvSpPr>
          <p:cNvPr id="1194" name="圆角矩形 1193"/>
          <p:cNvSpPr/>
          <p:nvPr/>
        </p:nvSpPr>
        <p:spPr>
          <a:xfrm>
            <a:off x="495300" y="2943225"/>
            <a:ext cx="247650" cy="247650"/>
          </a:xfrm>
          <a:prstGeom prst="roundRect">
            <a:avLst>
              <a:gd name="adj" fmla="val 50000"/>
            </a:avLst>
          </a:prstGeom>
          <a:solidFill>
            <a:srgbClr val="0B3A82"/>
          </a:solidFill>
        </p:spPr>
        <p:txBody>
          <a:bodyPr/>
          <a:p/>
        </p:txBody>
      </p:sp>
      <p:sp>
        <p:nvSpPr>
          <p:cNvPr id="1195" name="文本框 1194" descr="{&quot;isTemplate&quot;:true,&quot;type&quot;:&quot;text&quot;}"/>
          <p:cNvSpPr txBox="1"/>
          <p:nvPr/>
        </p:nvSpPr>
        <p:spPr>
          <a:xfrm>
            <a:off x="581025" y="2990850"/>
            <a:ext cx="85725" cy="161925"/>
          </a:xfrm>
          <a:prstGeom prst="rect">
            <a:avLst/>
          </a:prstGeom>
        </p:spPr>
        <p:txBody>
          <a:bodyPr wrap="none" lIns="0" tIns="0" rIns="0" bIns="0"/>
          <a:p>
            <a:pPr>
              <a:lnSpc>
                <a:spcPct val="100000"/>
              </a:lnSpc>
            </a:pPr>
            <a:r>
              <a:rPr lang="en-US" sz="1050" b="1">
                <a:solidFill>
                  <a:srgbClr val="FFFFFF"/>
                </a:solidFill>
                <a:latin typeface="微软雅黑" panose="020B0503020204020204" charset="-122"/>
                <a:ea typeface="微软雅黑" panose="020B0503020204020204" charset="-122"/>
              </a:rPr>
              <a:t>5</a:t>
            </a:r>
            <a:endParaRPr lang="en-US" sz="1050" b="1">
              <a:solidFill>
                <a:srgbClr val="FFFFFF"/>
              </a:solidFill>
              <a:latin typeface="微软雅黑" panose="020B0503020204020204" charset="-122"/>
              <a:ea typeface="微软雅黑" panose="020B0503020204020204" charset="-122"/>
            </a:endParaRPr>
          </a:p>
        </p:txBody>
      </p:sp>
      <p:sp>
        <p:nvSpPr>
          <p:cNvPr id="1196" name="文本框 1195" descr="{&quot;isTemplate&quot;:true,&quot;type&quot;:&quot;text&quot;}"/>
          <p:cNvSpPr txBox="1"/>
          <p:nvPr/>
        </p:nvSpPr>
        <p:spPr>
          <a:xfrm>
            <a:off x="819150" y="2943225"/>
            <a:ext cx="5724525" cy="257175"/>
          </a:xfrm>
          <a:prstGeom prst="rect">
            <a:avLst/>
          </a:prstGeom>
        </p:spPr>
        <p:txBody>
          <a:bodyPr wrap="none" lIns="0" tIns="0" rIns="0" bIns="0"/>
          <a:p>
            <a:pPr>
              <a:lnSpc>
                <a:spcPct val="140000"/>
              </a:lnSpc>
            </a:pPr>
            <a:r>
              <a:rPr lang="zh-CN" sz="1165" b="1">
                <a:solidFill>
                  <a:srgbClr val="1A2230"/>
                </a:solidFill>
                <a:latin typeface="微软雅黑" panose="020B0503020204020204" charset="-122"/>
                <a:ea typeface="微软雅黑" panose="020B0503020204020204" charset="-122"/>
              </a:rPr>
              <a:t>结构稳健性分析</a:t>
            </a:r>
            <a:r>
              <a:rPr lang="zh-CN" sz="1165">
                <a:solidFill>
                  <a:srgbClr val="1A2230"/>
                </a:solidFill>
                <a:latin typeface="微软雅黑" panose="020B0503020204020204" charset="-122"/>
                <a:ea typeface="微软雅黑" panose="020B0503020204020204" charset="-122"/>
              </a:rPr>
              <a:t>：替换冷却方程与约束优先级，检验结论是否翻转。</a:t>
            </a:r>
            <a:endParaRPr lang="zh-CN" sz="1165">
              <a:solidFill>
                <a:srgbClr val="1A2230"/>
              </a:solidFill>
              <a:latin typeface="微软雅黑" panose="020B0503020204020204" charset="-122"/>
              <a:ea typeface="微软雅黑" panose="020B0503020204020204" charset="-122"/>
            </a:endParaRPr>
          </a:p>
        </p:txBody>
      </p:sp>
      <p:sp>
        <p:nvSpPr>
          <p:cNvPr id="1197" name="圆角矩形 1196"/>
          <p:cNvSpPr/>
          <p:nvPr/>
        </p:nvSpPr>
        <p:spPr>
          <a:xfrm>
            <a:off x="6791325" y="1352550"/>
            <a:ext cx="5019675" cy="1619250"/>
          </a:xfrm>
          <a:prstGeom prst="roundRect">
            <a:avLst>
              <a:gd name="adj" fmla="val 3529"/>
            </a:avLst>
          </a:prstGeom>
          <a:solidFill>
            <a:srgbClr val="0E3F8C"/>
          </a:solidFill>
        </p:spPr>
        <p:txBody>
          <a:bodyPr/>
          <a:p/>
        </p:txBody>
      </p:sp>
      <p:sp>
        <p:nvSpPr>
          <p:cNvPr id="1198" name="文本框 1197" descr="{&quot;isTemplate&quot;:true,&quot;type&quot;:&quot;text&quot;}"/>
          <p:cNvSpPr txBox="1"/>
          <p:nvPr/>
        </p:nvSpPr>
        <p:spPr>
          <a:xfrm>
            <a:off x="6905625" y="1466850"/>
            <a:ext cx="4791075"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三类结果稳定性检验</a:t>
            </a:r>
            <a:endParaRPr lang="zh-CN" sz="1425" b="1">
              <a:solidFill>
                <a:srgbClr val="FFFFFF"/>
              </a:solidFill>
              <a:latin typeface="微软雅黑" panose="020B0503020204020204" charset="-122"/>
              <a:ea typeface="微软雅黑" panose="020B0503020204020204" charset="-122"/>
            </a:endParaRPr>
          </a:p>
        </p:txBody>
      </p:sp>
      <p:sp>
        <p:nvSpPr>
          <p:cNvPr id="1199" name="文本框 1198" descr="{&quot;isTemplate&quot;:true,&quot;type&quot;:&quot;text&quot;}"/>
          <p:cNvSpPr txBox="1"/>
          <p:nvPr/>
        </p:nvSpPr>
        <p:spPr>
          <a:xfrm>
            <a:off x="6905625" y="1733550"/>
            <a:ext cx="4791075" cy="257175"/>
          </a:xfrm>
          <a:prstGeom prst="rect">
            <a:avLst/>
          </a:prstGeom>
        </p:spPr>
        <p:txBody>
          <a:bodyPr wrap="none" lIns="0" tIns="0" rIns="0" bIns="0"/>
          <a:p>
            <a:pPr>
              <a:lnSpc>
                <a:spcPct val="145000"/>
              </a:lnSpc>
            </a:pPr>
            <a:r>
              <a:rPr lang="zh-CN" sz="1165">
                <a:solidFill>
                  <a:srgbClr val="E4EDF9"/>
                </a:solidFill>
                <a:latin typeface="微软雅黑" panose="020B0503020204020204" charset="-122"/>
                <a:ea typeface="微软雅黑" panose="020B0503020204020204" charset="-122"/>
              </a:rPr>
              <a:t>·　改变参数分布与相关结构，重复抽样比较结论方向</a:t>
            </a:r>
            <a:endParaRPr lang="zh-CN" sz="1165">
              <a:solidFill>
                <a:srgbClr val="E4EDF9"/>
              </a:solidFill>
              <a:latin typeface="微软雅黑" panose="020B0503020204020204" charset="-122"/>
              <a:ea typeface="微软雅黑" panose="020B0503020204020204" charset="-122"/>
            </a:endParaRPr>
          </a:p>
        </p:txBody>
      </p:sp>
      <p:sp>
        <p:nvSpPr>
          <p:cNvPr id="1200" name="文本框 1199" descr="{&quot;isTemplate&quot;:true,&quot;type&quot;:&quot;text&quot;}"/>
          <p:cNvSpPr txBox="1"/>
          <p:nvPr/>
        </p:nvSpPr>
        <p:spPr>
          <a:xfrm>
            <a:off x="6905625" y="1990725"/>
            <a:ext cx="4791075" cy="257175"/>
          </a:xfrm>
          <a:prstGeom prst="rect">
            <a:avLst/>
          </a:prstGeom>
        </p:spPr>
        <p:txBody>
          <a:bodyPr wrap="none" lIns="0" tIns="0" rIns="0" bIns="0"/>
          <a:p>
            <a:pPr>
              <a:lnSpc>
                <a:spcPct val="145000"/>
              </a:lnSpc>
            </a:pPr>
            <a:r>
              <a:rPr lang="zh-CN" sz="1165">
                <a:solidFill>
                  <a:srgbClr val="E4EDF9"/>
                </a:solidFill>
                <a:latin typeface="微软雅黑" panose="020B0503020204020204" charset="-122"/>
                <a:ea typeface="微软雅黑" panose="020B0503020204020204" charset="-122"/>
              </a:rPr>
              <a:t>·　改变高温、干旱与需求峰值排列，构造替代压力剖面</a:t>
            </a:r>
            <a:endParaRPr lang="zh-CN" sz="1165">
              <a:solidFill>
                <a:srgbClr val="E4EDF9"/>
              </a:solidFill>
              <a:latin typeface="微软雅黑" panose="020B0503020204020204" charset="-122"/>
              <a:ea typeface="微软雅黑" panose="020B0503020204020204" charset="-122"/>
            </a:endParaRPr>
          </a:p>
        </p:txBody>
      </p:sp>
      <p:sp>
        <p:nvSpPr>
          <p:cNvPr id="1201" name="文本框 1200" descr="{&quot;isTemplate&quot;:true,&quot;type&quot;:&quot;text&quot;}"/>
          <p:cNvSpPr txBox="1"/>
          <p:nvPr/>
        </p:nvSpPr>
        <p:spPr>
          <a:xfrm>
            <a:off x="6905625" y="2247900"/>
            <a:ext cx="4791075" cy="257175"/>
          </a:xfrm>
          <a:prstGeom prst="rect">
            <a:avLst/>
          </a:prstGeom>
        </p:spPr>
        <p:txBody>
          <a:bodyPr wrap="none" lIns="0" tIns="0" rIns="0" bIns="0"/>
          <a:p>
            <a:pPr>
              <a:lnSpc>
                <a:spcPct val="145000"/>
              </a:lnSpc>
            </a:pPr>
            <a:r>
              <a:rPr lang="zh-CN" sz="1165">
                <a:solidFill>
                  <a:srgbClr val="E4EDF9"/>
                </a:solidFill>
                <a:latin typeface="微软雅黑" panose="020B0503020204020204" charset="-122"/>
                <a:ea typeface="微软雅黑" panose="020B0503020204020204" charset="-122"/>
              </a:rPr>
              <a:t>·　替换冷却方程与优先级，检验结构敏感性</a:t>
            </a:r>
            <a:endParaRPr lang="zh-CN" sz="1165">
              <a:solidFill>
                <a:srgbClr val="E4EDF9"/>
              </a:solidFill>
              <a:latin typeface="微软雅黑" panose="020B0503020204020204" charset="-122"/>
              <a:ea typeface="微软雅黑" panose="020B0503020204020204" charset="-122"/>
            </a:endParaRPr>
          </a:p>
        </p:txBody>
      </p:sp>
      <p:sp>
        <p:nvSpPr>
          <p:cNvPr id="1202" name="圆角矩形 1201"/>
          <p:cNvSpPr/>
          <p:nvPr/>
        </p:nvSpPr>
        <p:spPr>
          <a:xfrm>
            <a:off x="6905625" y="2505075"/>
            <a:ext cx="4791075" cy="352425"/>
          </a:xfrm>
          <a:prstGeom prst="roundRect">
            <a:avLst>
              <a:gd name="adj" fmla="val 10811"/>
            </a:avLst>
          </a:prstGeom>
          <a:solidFill>
            <a:srgbClr val="12489A"/>
          </a:solidFill>
        </p:spPr>
        <p:txBody>
          <a:bodyPr/>
          <a:p/>
        </p:txBody>
      </p:sp>
      <p:sp>
        <p:nvSpPr>
          <p:cNvPr id="1203" name="文本框 1202" descr="{&quot;isTemplate&quot;:true,&quot;type&quot;:&quot;text&quot;}"/>
          <p:cNvSpPr txBox="1"/>
          <p:nvPr/>
        </p:nvSpPr>
        <p:spPr>
          <a:xfrm>
            <a:off x="6962775" y="2562225"/>
            <a:ext cx="4676775" cy="238125"/>
          </a:xfrm>
          <a:prstGeom prst="rect">
            <a:avLst/>
          </a:prstGeom>
        </p:spPr>
        <p:txBody>
          <a:bodyPr wrap="none" lIns="0" tIns="0" rIns="0" bIns="0"/>
          <a:p>
            <a:pPr>
              <a:lnSpc>
                <a:spcPct val="135000"/>
              </a:lnSpc>
            </a:pPr>
            <a:r>
              <a:rPr lang="zh-CN" sz="1125">
                <a:solidFill>
                  <a:srgbClr val="FFC107"/>
                </a:solidFill>
                <a:latin typeface="微软雅黑" panose="020B0503020204020204" charset="-122"/>
                <a:ea typeface="微软雅黑" panose="020B0503020204020204" charset="-122"/>
              </a:rPr>
              <a:t>多数扰动方向一致者进入主要结论；狭窄区间成立者以适用域表述</a:t>
            </a:r>
            <a:endParaRPr lang="zh-CN" sz="1125">
              <a:solidFill>
                <a:srgbClr val="FFC107"/>
              </a:solidFill>
              <a:latin typeface="微软雅黑" panose="020B0503020204020204" charset="-122"/>
              <a:ea typeface="微软雅黑" panose="020B0503020204020204" charset="-122"/>
            </a:endParaRPr>
          </a:p>
        </p:txBody>
      </p:sp>
      <p:sp>
        <p:nvSpPr>
          <p:cNvPr id="1204" name="圆角矩形 1203"/>
          <p:cNvSpPr/>
          <p:nvPr/>
        </p:nvSpPr>
        <p:spPr>
          <a:xfrm>
            <a:off x="6791325" y="3076575"/>
            <a:ext cx="5019675" cy="1009650"/>
          </a:xfrm>
          <a:prstGeom prst="roundRect">
            <a:avLst>
              <a:gd name="adj" fmla="val 5660"/>
            </a:avLst>
          </a:prstGeom>
          <a:solidFill>
            <a:srgbClr val="F0F5FC"/>
          </a:solidFill>
          <a:ln w="12700">
            <a:solidFill>
              <a:srgbClr val="D6DCE5"/>
            </a:solidFill>
            <a:prstDash val="solid"/>
          </a:ln>
        </p:spPr>
        <p:txBody>
          <a:bodyPr/>
          <a:p/>
        </p:txBody>
      </p:sp>
      <p:sp>
        <p:nvSpPr>
          <p:cNvPr id="1205" name="文本框 1204" descr="{&quot;isTemplate&quot;:true,&quot;type&quot;:&quot;text&quot;}"/>
          <p:cNvSpPr txBox="1"/>
          <p:nvPr/>
        </p:nvSpPr>
        <p:spPr>
          <a:xfrm>
            <a:off x="6905625" y="3190875"/>
            <a:ext cx="4791075" cy="219075"/>
          </a:xfrm>
          <a:prstGeom prst="rect">
            <a:avLst/>
          </a:prstGeom>
        </p:spPr>
        <p:txBody>
          <a:bodyPr wrap="none" lIns="0" tIns="0" rIns="0" bIns="0"/>
          <a:p>
            <a:pPr>
              <a:lnSpc>
                <a:spcPct val="100000"/>
              </a:lnSpc>
            </a:pPr>
            <a:r>
              <a:rPr lang="zh-CN" sz="1425" b="1">
                <a:solidFill>
                  <a:srgbClr val="1A2230"/>
                </a:solidFill>
                <a:latin typeface="微软雅黑" panose="020B0503020204020204" charset="-122"/>
                <a:ea typeface="微软雅黑" panose="020B0503020204020204" charset="-122"/>
              </a:rPr>
              <a:t>外部锚点的使用边界</a:t>
            </a:r>
            <a:endParaRPr lang="zh-CN" sz="1425" b="1">
              <a:solidFill>
                <a:srgbClr val="1A2230"/>
              </a:solidFill>
              <a:latin typeface="微软雅黑" panose="020B0503020204020204" charset="-122"/>
              <a:ea typeface="微软雅黑" panose="020B0503020204020204" charset="-122"/>
            </a:endParaRPr>
          </a:p>
        </p:txBody>
      </p:sp>
      <p:sp>
        <p:nvSpPr>
          <p:cNvPr id="1206" name="文本框 1205" descr="{&quot;isTemplate&quot;:true,&quot;type&quot;:&quot;text&quot;}"/>
          <p:cNvSpPr txBox="1"/>
          <p:nvPr/>
        </p:nvSpPr>
        <p:spPr>
          <a:xfrm>
            <a:off x="6905625" y="3457575"/>
            <a:ext cx="4791075" cy="514350"/>
          </a:xfrm>
          <a:prstGeom prst="rect">
            <a:avLst/>
          </a:prstGeom>
        </p:spPr>
        <p:txBody>
          <a:bodyPr wrap="square" lIns="0" tIns="0" rIns="0" bIns="0">
            <a:normAutofit/>
          </a:bodyPr>
          <a:p>
            <a:pPr>
              <a:lnSpc>
                <a:spcPct val="145000"/>
              </a:lnSpc>
            </a:pPr>
            <a:r>
              <a:rPr lang="zh-CN" sz="1165">
                <a:solidFill>
                  <a:srgbClr val="4A5568"/>
                </a:solidFill>
                <a:latin typeface="微软雅黑" panose="020B0503020204020204" charset="-122"/>
                <a:ea typeface="微软雅黑" panose="020B0503020204020204" charset="-122"/>
              </a:rPr>
              <a:t>不以特定城市时序拟合为前提。公开资料仅用于参数域校核与方向性锚定，结果标记为工程基准、条件规律或机制方向性结论。</a:t>
            </a:r>
            <a:endParaRPr lang="zh-CN" sz="1165">
              <a:solidFill>
                <a:srgbClr val="4A5568"/>
              </a:solidFill>
              <a:latin typeface="微软雅黑" panose="020B0503020204020204" charset="-122"/>
              <a:ea typeface="微软雅黑" panose="020B0503020204020204" charset="-122"/>
            </a:endParaRPr>
          </a:p>
        </p:txBody>
      </p:sp>
      <p:sp>
        <p:nvSpPr>
          <p:cNvPr id="1207" name="圆角矩形 1206"/>
          <p:cNvSpPr/>
          <p:nvPr/>
        </p:nvSpPr>
        <p:spPr>
          <a:xfrm>
            <a:off x="381000" y="3962400"/>
            <a:ext cx="3724275" cy="1733550"/>
          </a:xfrm>
          <a:prstGeom prst="roundRect">
            <a:avLst>
              <a:gd name="adj" fmla="val 3297"/>
            </a:avLst>
          </a:prstGeom>
          <a:solidFill>
            <a:srgbClr val="F7F9FC"/>
          </a:solidFill>
        </p:spPr>
        <p:txBody>
          <a:bodyPr/>
          <a:p/>
        </p:txBody>
      </p:sp>
      <p:sp>
        <p:nvSpPr>
          <p:cNvPr id="1208" name="任意多边形 1207"/>
          <p:cNvSpPr/>
          <p:nvPr/>
        </p:nvSpPr>
        <p:spPr>
          <a:xfrm>
            <a:off x="381000" y="3962400"/>
            <a:ext cx="3724275" cy="1733550"/>
          </a:xfrm>
          <a:custGeom>
            <a:avLst/>
            <a:gdLst/>
            <a:ahLst/>
            <a:cxnLst/>
            <a:pathLst>
              <a:path w="391" h="182">
                <a:moveTo>
                  <a:pt x="385" y="0"/>
                </a:moveTo>
                <a:cubicBezTo>
                  <a:pt x="388" y="0"/>
                  <a:pt x="391" y="2"/>
                  <a:pt x="391" y="5"/>
                </a:cubicBezTo>
                <a:cubicBezTo>
                  <a:pt x="391" y="5"/>
                  <a:pt x="390" y="4"/>
                  <a:pt x="389" y="4"/>
                </a:cubicBezTo>
                <a:lnTo>
                  <a:pt x="2" y="4"/>
                </a:lnTo>
                <a:cubicBezTo>
                  <a:pt x="1" y="4"/>
                  <a:pt x="0" y="5"/>
                  <a:pt x="0" y="6"/>
                </a:cubicBezTo>
                <a:cubicBezTo>
                  <a:pt x="0" y="3"/>
                  <a:pt x="3" y="0"/>
                  <a:pt x="6" y="0"/>
                </a:cubicBezTo>
                <a:lnTo>
                  <a:pt x="385" y="0"/>
                </a:lnTo>
                <a:close/>
              </a:path>
            </a:pathLst>
          </a:custGeom>
          <a:solidFill>
            <a:srgbClr val="1E4FA8"/>
          </a:solidFill>
        </p:spPr>
        <p:txBody>
          <a:bodyPr/>
          <a:p/>
        </p:txBody>
      </p:sp>
      <p:sp>
        <p:nvSpPr>
          <p:cNvPr id="1209" name="圆角矩形 1208"/>
          <p:cNvSpPr/>
          <p:nvPr/>
        </p:nvSpPr>
        <p:spPr>
          <a:xfrm>
            <a:off x="495300" y="4086225"/>
            <a:ext cx="552450" cy="200025"/>
          </a:xfrm>
          <a:prstGeom prst="roundRect">
            <a:avLst>
              <a:gd name="adj" fmla="val 14286"/>
            </a:avLst>
          </a:prstGeom>
          <a:solidFill>
            <a:srgbClr val="1E4FA8"/>
          </a:solidFill>
        </p:spPr>
        <p:txBody>
          <a:bodyPr/>
          <a:p/>
        </p:txBody>
      </p:sp>
      <p:sp>
        <p:nvSpPr>
          <p:cNvPr id="1210" name="文本框 1209" descr="{&quot;isTemplate&quot;:true,&quot;type&quot;:&quot;text&quot;}"/>
          <p:cNvSpPr txBox="1"/>
          <p:nvPr/>
        </p:nvSpPr>
        <p:spPr>
          <a:xfrm>
            <a:off x="571500" y="4105275"/>
            <a:ext cx="400050" cy="161925"/>
          </a:xfrm>
          <a:prstGeom prst="rect">
            <a:avLst/>
          </a:prstGeom>
        </p:spPr>
        <p:txBody>
          <a:bodyPr wrap="none" lIns="0" tIns="0" rIns="0" bIns="0"/>
          <a:p>
            <a:pPr>
              <a:lnSpc>
                <a:spcPct val="100000"/>
              </a:lnSpc>
            </a:pPr>
            <a:r>
              <a:rPr lang="zh-CN" sz="1050" b="1">
                <a:solidFill>
                  <a:srgbClr val="FFFFFF"/>
                </a:solidFill>
                <a:latin typeface="微软雅黑" panose="020B0503020204020204" charset="-122"/>
                <a:ea typeface="微软雅黑" panose="020B0503020204020204" charset="-122"/>
              </a:rPr>
              <a:t>第一道</a:t>
            </a:r>
            <a:endParaRPr lang="zh-CN" sz="1050" b="1">
              <a:solidFill>
                <a:srgbClr val="FFFFFF"/>
              </a:solidFill>
              <a:latin typeface="微软雅黑" panose="020B0503020204020204" charset="-122"/>
              <a:ea typeface="微软雅黑" panose="020B0503020204020204" charset="-122"/>
            </a:endParaRPr>
          </a:p>
        </p:txBody>
      </p:sp>
      <p:pic>
        <p:nvPicPr>
          <p:cNvPr id="1211" name="图片 1210"/>
          <p:cNvPicPr>
            <a:picLocks noChangeAspect="1"/>
          </p:cNvPicPr>
          <p:nvPr/>
        </p:nvPicPr>
        <p:blipFill>
          <a:blip/>
          <a:stretch>
            <a:fillRect/>
          </a:stretch>
        </p:blipFill>
        <p:spPr>
          <a:xfrm>
            <a:off x="1123950" y="4105275"/>
            <a:ext cx="161925" cy="161925"/>
          </a:xfrm>
          <a:prstGeom prst="rect">
            <a:avLst/>
          </a:prstGeom>
        </p:spPr>
      </p:pic>
      <p:sp>
        <p:nvSpPr>
          <p:cNvPr id="1212" name="文本框 1211" descr="{&quot;isTemplate&quot;:true,&quot;type&quot;:&quot;text&quot;}"/>
          <p:cNvSpPr txBox="1"/>
          <p:nvPr/>
        </p:nvSpPr>
        <p:spPr>
          <a:xfrm>
            <a:off x="1362075" y="4076700"/>
            <a:ext cx="85725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模型层筛选</a:t>
            </a:r>
            <a:endParaRPr lang="zh-CN" sz="1350" b="1">
              <a:solidFill>
                <a:srgbClr val="0E3F8C"/>
              </a:solidFill>
              <a:latin typeface="微软雅黑" panose="020B0503020204020204" charset="-122"/>
              <a:ea typeface="微软雅黑" panose="020B0503020204020204" charset="-122"/>
            </a:endParaRPr>
          </a:p>
        </p:txBody>
      </p:sp>
      <p:sp>
        <p:nvSpPr>
          <p:cNvPr id="1213" name="文本框 1212" descr="{&quot;isTemplate&quot;:true,&quot;type&quot;:&quot;text&quot;}"/>
          <p:cNvSpPr txBox="1"/>
          <p:nvPr/>
        </p:nvSpPr>
        <p:spPr>
          <a:xfrm>
            <a:off x="495300" y="4324350"/>
            <a:ext cx="3495675"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通过守恒、边界与基准测试；未通过者退回修改，不进入结论。</a:t>
            </a:r>
            <a:endParaRPr lang="zh-CN" sz="1165">
              <a:solidFill>
                <a:srgbClr val="1A2230"/>
              </a:solidFill>
              <a:latin typeface="微软雅黑" panose="020B0503020204020204" charset="-122"/>
              <a:ea typeface="微软雅黑" panose="020B0503020204020204" charset="-122"/>
            </a:endParaRPr>
          </a:p>
        </p:txBody>
      </p:sp>
      <p:sp>
        <p:nvSpPr>
          <p:cNvPr id="1214" name="圆角矩形 1213"/>
          <p:cNvSpPr/>
          <p:nvPr/>
        </p:nvSpPr>
        <p:spPr>
          <a:xfrm>
            <a:off x="4238625" y="3962400"/>
            <a:ext cx="3714750" cy="1733550"/>
          </a:xfrm>
          <a:prstGeom prst="roundRect">
            <a:avLst>
              <a:gd name="adj" fmla="val 3297"/>
            </a:avLst>
          </a:prstGeom>
          <a:solidFill>
            <a:srgbClr val="F7F9FC"/>
          </a:solidFill>
        </p:spPr>
        <p:txBody>
          <a:bodyPr/>
          <a:p/>
        </p:txBody>
      </p:sp>
      <p:sp>
        <p:nvSpPr>
          <p:cNvPr id="1215" name="任意多边形 1214"/>
          <p:cNvSpPr/>
          <p:nvPr/>
        </p:nvSpPr>
        <p:spPr>
          <a:xfrm>
            <a:off x="4238625" y="3962400"/>
            <a:ext cx="3714750" cy="1733550"/>
          </a:xfrm>
          <a:custGeom>
            <a:avLst/>
            <a:gdLst/>
            <a:ahLst/>
            <a:cxnLst/>
            <a:pathLst>
              <a:path w="390" h="182">
                <a:moveTo>
                  <a:pt x="384" y="0"/>
                </a:moveTo>
                <a:cubicBezTo>
                  <a:pt x="387" y="0"/>
                  <a:pt x="390" y="2"/>
                  <a:pt x="390" y="5"/>
                </a:cubicBezTo>
                <a:cubicBezTo>
                  <a:pt x="390" y="5"/>
                  <a:pt x="389" y="4"/>
                  <a:pt x="388" y="4"/>
                </a:cubicBezTo>
                <a:lnTo>
                  <a:pt x="2" y="4"/>
                </a:lnTo>
                <a:cubicBezTo>
                  <a:pt x="1" y="4"/>
                  <a:pt x="0" y="5"/>
                  <a:pt x="0" y="6"/>
                </a:cubicBezTo>
                <a:cubicBezTo>
                  <a:pt x="0" y="3"/>
                  <a:pt x="3" y="0"/>
                  <a:pt x="6" y="0"/>
                </a:cubicBezTo>
                <a:lnTo>
                  <a:pt x="384" y="0"/>
                </a:lnTo>
                <a:close/>
              </a:path>
            </a:pathLst>
          </a:custGeom>
          <a:solidFill>
            <a:srgbClr val="1E4FA8"/>
          </a:solidFill>
        </p:spPr>
        <p:txBody>
          <a:bodyPr/>
          <a:p/>
        </p:txBody>
      </p:sp>
      <p:sp>
        <p:nvSpPr>
          <p:cNvPr id="1216" name="圆角矩形 1215"/>
          <p:cNvSpPr/>
          <p:nvPr/>
        </p:nvSpPr>
        <p:spPr>
          <a:xfrm>
            <a:off x="4352925" y="4086225"/>
            <a:ext cx="552450" cy="200025"/>
          </a:xfrm>
          <a:prstGeom prst="roundRect">
            <a:avLst>
              <a:gd name="adj" fmla="val 14286"/>
            </a:avLst>
          </a:prstGeom>
          <a:solidFill>
            <a:srgbClr val="1E4FA8"/>
          </a:solidFill>
        </p:spPr>
        <p:txBody>
          <a:bodyPr/>
          <a:p/>
        </p:txBody>
      </p:sp>
      <p:sp>
        <p:nvSpPr>
          <p:cNvPr id="1217" name="文本框 1216" descr="{&quot;isTemplate&quot;:true,&quot;type&quot;:&quot;text&quot;}"/>
          <p:cNvSpPr txBox="1"/>
          <p:nvPr/>
        </p:nvSpPr>
        <p:spPr>
          <a:xfrm>
            <a:off x="4429125" y="4105275"/>
            <a:ext cx="400050" cy="161925"/>
          </a:xfrm>
          <a:prstGeom prst="rect">
            <a:avLst/>
          </a:prstGeom>
        </p:spPr>
        <p:txBody>
          <a:bodyPr wrap="none" lIns="0" tIns="0" rIns="0" bIns="0"/>
          <a:p>
            <a:pPr>
              <a:lnSpc>
                <a:spcPct val="100000"/>
              </a:lnSpc>
            </a:pPr>
            <a:r>
              <a:rPr lang="zh-CN" sz="1050" b="1">
                <a:solidFill>
                  <a:srgbClr val="FFFFFF"/>
                </a:solidFill>
                <a:latin typeface="微软雅黑" panose="020B0503020204020204" charset="-122"/>
                <a:ea typeface="微软雅黑" panose="020B0503020204020204" charset="-122"/>
              </a:rPr>
              <a:t>第二道</a:t>
            </a:r>
            <a:endParaRPr lang="zh-CN" sz="1050" b="1">
              <a:solidFill>
                <a:srgbClr val="FFFFFF"/>
              </a:solidFill>
              <a:latin typeface="微软雅黑" panose="020B0503020204020204" charset="-122"/>
              <a:ea typeface="微软雅黑" panose="020B0503020204020204" charset="-122"/>
            </a:endParaRPr>
          </a:p>
        </p:txBody>
      </p:sp>
      <p:pic>
        <p:nvPicPr>
          <p:cNvPr id="1218" name="图片 1217"/>
          <p:cNvPicPr>
            <a:picLocks noChangeAspect="1"/>
          </p:cNvPicPr>
          <p:nvPr/>
        </p:nvPicPr>
        <p:blipFill>
          <a:blip/>
          <a:stretch>
            <a:fillRect/>
          </a:stretch>
        </p:blipFill>
        <p:spPr>
          <a:xfrm>
            <a:off x="4981575" y="4105275"/>
            <a:ext cx="161925" cy="161925"/>
          </a:xfrm>
          <a:prstGeom prst="rect">
            <a:avLst/>
          </a:prstGeom>
        </p:spPr>
      </p:pic>
      <p:sp>
        <p:nvSpPr>
          <p:cNvPr id="1219" name="文本框 1218" descr="{&quot;isTemplate&quot;:true,&quot;type&quot;:&quot;text&quot;}"/>
          <p:cNvSpPr txBox="1"/>
          <p:nvPr/>
        </p:nvSpPr>
        <p:spPr>
          <a:xfrm>
            <a:off x="5219700" y="4076700"/>
            <a:ext cx="85725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结果层筛选</a:t>
            </a:r>
            <a:endParaRPr lang="zh-CN" sz="1350" b="1">
              <a:solidFill>
                <a:srgbClr val="0E3F8C"/>
              </a:solidFill>
              <a:latin typeface="微软雅黑" panose="020B0503020204020204" charset="-122"/>
              <a:ea typeface="微软雅黑" panose="020B0503020204020204" charset="-122"/>
            </a:endParaRPr>
          </a:p>
        </p:txBody>
      </p:sp>
      <p:sp>
        <p:nvSpPr>
          <p:cNvPr id="1220" name="文本框 1219" descr="{&quot;isTemplate&quot;:true,&quot;type&quot;:&quot;text&quot;}"/>
          <p:cNvSpPr txBox="1"/>
          <p:nvPr/>
        </p:nvSpPr>
        <p:spPr>
          <a:xfrm>
            <a:off x="4352925" y="4324350"/>
            <a:ext cx="3486150"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重复抽样与两种压力剖面下方向一致；不稳定者降级为敏感性发现。</a:t>
            </a:r>
            <a:endParaRPr lang="zh-CN" sz="1165">
              <a:solidFill>
                <a:srgbClr val="1A2230"/>
              </a:solidFill>
              <a:latin typeface="微软雅黑" panose="020B0503020204020204" charset="-122"/>
              <a:ea typeface="微软雅黑" panose="020B0503020204020204" charset="-122"/>
            </a:endParaRPr>
          </a:p>
        </p:txBody>
      </p:sp>
      <p:sp>
        <p:nvSpPr>
          <p:cNvPr id="1221" name="圆角矩形 1220"/>
          <p:cNvSpPr/>
          <p:nvPr/>
        </p:nvSpPr>
        <p:spPr>
          <a:xfrm>
            <a:off x="8086725" y="3962400"/>
            <a:ext cx="3724275" cy="1733550"/>
          </a:xfrm>
          <a:prstGeom prst="roundRect">
            <a:avLst>
              <a:gd name="adj" fmla="val 3297"/>
            </a:avLst>
          </a:prstGeom>
          <a:solidFill>
            <a:srgbClr val="F7F9FC"/>
          </a:solidFill>
        </p:spPr>
        <p:txBody>
          <a:bodyPr/>
          <a:p/>
        </p:txBody>
      </p:sp>
      <p:sp>
        <p:nvSpPr>
          <p:cNvPr id="1222" name="任意多边形 1221"/>
          <p:cNvSpPr/>
          <p:nvPr/>
        </p:nvSpPr>
        <p:spPr>
          <a:xfrm>
            <a:off x="8086725" y="3962400"/>
            <a:ext cx="3724275" cy="1733550"/>
          </a:xfrm>
          <a:custGeom>
            <a:avLst/>
            <a:gdLst/>
            <a:ahLst/>
            <a:cxnLst/>
            <a:pathLst>
              <a:path w="391" h="182">
                <a:moveTo>
                  <a:pt x="385" y="0"/>
                </a:moveTo>
                <a:cubicBezTo>
                  <a:pt x="388" y="0"/>
                  <a:pt x="391" y="2"/>
                  <a:pt x="391" y="5"/>
                </a:cubicBezTo>
                <a:cubicBezTo>
                  <a:pt x="391" y="5"/>
                  <a:pt x="390" y="4"/>
                  <a:pt x="389" y="4"/>
                </a:cubicBezTo>
                <a:lnTo>
                  <a:pt x="2" y="4"/>
                </a:lnTo>
                <a:cubicBezTo>
                  <a:pt x="1" y="4"/>
                  <a:pt x="0" y="5"/>
                  <a:pt x="0" y="6"/>
                </a:cubicBezTo>
                <a:cubicBezTo>
                  <a:pt x="0" y="3"/>
                  <a:pt x="3" y="0"/>
                  <a:pt x="6" y="0"/>
                </a:cubicBezTo>
                <a:lnTo>
                  <a:pt x="385" y="0"/>
                </a:lnTo>
                <a:close/>
              </a:path>
            </a:pathLst>
          </a:custGeom>
          <a:solidFill>
            <a:srgbClr val="D9534F"/>
          </a:solidFill>
        </p:spPr>
        <p:txBody>
          <a:bodyPr/>
          <a:p/>
        </p:txBody>
      </p:sp>
      <p:sp>
        <p:nvSpPr>
          <p:cNvPr id="1223" name="圆角矩形 1222"/>
          <p:cNvSpPr/>
          <p:nvPr/>
        </p:nvSpPr>
        <p:spPr>
          <a:xfrm>
            <a:off x="8201025" y="4086225"/>
            <a:ext cx="552450" cy="200025"/>
          </a:xfrm>
          <a:prstGeom prst="roundRect">
            <a:avLst>
              <a:gd name="adj" fmla="val 14286"/>
            </a:avLst>
          </a:prstGeom>
          <a:solidFill>
            <a:srgbClr val="D9534F"/>
          </a:solidFill>
        </p:spPr>
        <p:txBody>
          <a:bodyPr/>
          <a:p/>
        </p:txBody>
      </p:sp>
      <p:sp>
        <p:nvSpPr>
          <p:cNvPr id="1224" name="文本框 1223" descr="{&quot;isTemplate&quot;:true,&quot;type&quot;:&quot;text&quot;}"/>
          <p:cNvSpPr txBox="1"/>
          <p:nvPr/>
        </p:nvSpPr>
        <p:spPr>
          <a:xfrm>
            <a:off x="8277225" y="4105275"/>
            <a:ext cx="400050" cy="161925"/>
          </a:xfrm>
          <a:prstGeom prst="rect">
            <a:avLst/>
          </a:prstGeom>
        </p:spPr>
        <p:txBody>
          <a:bodyPr wrap="none" lIns="0" tIns="0" rIns="0" bIns="0"/>
          <a:p>
            <a:pPr>
              <a:lnSpc>
                <a:spcPct val="100000"/>
              </a:lnSpc>
            </a:pPr>
            <a:r>
              <a:rPr lang="zh-CN" sz="1050" b="1">
                <a:solidFill>
                  <a:srgbClr val="FFFFFF"/>
                </a:solidFill>
                <a:latin typeface="微软雅黑" panose="020B0503020204020204" charset="-122"/>
                <a:ea typeface="微软雅黑" panose="020B0503020204020204" charset="-122"/>
              </a:rPr>
              <a:t>第三道</a:t>
            </a:r>
            <a:endParaRPr lang="zh-CN" sz="1050" b="1">
              <a:solidFill>
                <a:srgbClr val="FFFFFF"/>
              </a:solidFill>
              <a:latin typeface="微软雅黑" panose="020B0503020204020204" charset="-122"/>
              <a:ea typeface="微软雅黑" panose="020B0503020204020204" charset="-122"/>
            </a:endParaRPr>
          </a:p>
        </p:txBody>
      </p:sp>
      <p:pic>
        <p:nvPicPr>
          <p:cNvPr id="1225" name="图片 1224"/>
          <p:cNvPicPr>
            <a:picLocks noChangeAspect="1"/>
          </p:cNvPicPr>
          <p:nvPr/>
        </p:nvPicPr>
        <p:blipFill>
          <a:blip/>
          <a:stretch>
            <a:fillRect/>
          </a:stretch>
        </p:blipFill>
        <p:spPr>
          <a:xfrm>
            <a:off x="8829675" y="4105275"/>
            <a:ext cx="161925" cy="161925"/>
          </a:xfrm>
          <a:prstGeom prst="rect">
            <a:avLst/>
          </a:prstGeom>
        </p:spPr>
      </p:pic>
      <p:sp>
        <p:nvSpPr>
          <p:cNvPr id="1226" name="文本框 1225" descr="{&quot;isTemplate&quot;:true,&quot;type&quot;:&quot;text&quot;}"/>
          <p:cNvSpPr txBox="1"/>
          <p:nvPr/>
        </p:nvSpPr>
        <p:spPr>
          <a:xfrm>
            <a:off x="9067800" y="4076700"/>
            <a:ext cx="85725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机制层筛选</a:t>
            </a:r>
            <a:endParaRPr lang="zh-CN" sz="1350" b="1">
              <a:solidFill>
                <a:srgbClr val="0E3F8C"/>
              </a:solidFill>
              <a:latin typeface="微软雅黑" panose="020B0503020204020204" charset="-122"/>
              <a:ea typeface="微软雅黑" panose="020B0503020204020204" charset="-122"/>
            </a:endParaRPr>
          </a:p>
        </p:txBody>
      </p:sp>
      <p:sp>
        <p:nvSpPr>
          <p:cNvPr id="1227" name="文本框 1226" descr="{&quot;isTemplate&quot;:true,&quot;type&quot;:&quot;text&quot;}"/>
          <p:cNvSpPr txBox="1"/>
          <p:nvPr/>
        </p:nvSpPr>
        <p:spPr>
          <a:xfrm>
            <a:off x="8201025" y="4324350"/>
            <a:ext cx="3495675" cy="514350"/>
          </a:xfrm>
          <a:prstGeom prst="rect">
            <a:avLst/>
          </a:prstGeom>
        </p:spPr>
        <p:txBody>
          <a:bodyPr wrap="square" lIns="0" tIns="0" rIns="0" bIns="0">
            <a:normAutofit/>
          </a:bodyPr>
          <a:p>
            <a:pPr>
              <a:lnSpc>
                <a:spcPct val="145000"/>
              </a:lnSpc>
            </a:pPr>
            <a:r>
              <a:rPr lang="zh-CN" sz="1165">
                <a:solidFill>
                  <a:srgbClr val="1A2230"/>
                </a:solidFill>
                <a:latin typeface="微软雅黑" panose="020B0503020204020204" charset="-122"/>
                <a:ea typeface="微软雅黑" panose="020B0503020204020204" charset="-122"/>
              </a:rPr>
              <a:t>机制解释对应可识别的结构指标或约束转换；否则作为待验证假设报告。</a:t>
            </a:r>
            <a:endParaRPr lang="zh-CN" sz="1165">
              <a:solidFill>
                <a:srgbClr val="1A2230"/>
              </a:solidFill>
              <a:latin typeface="微软雅黑" panose="020B0503020204020204" charset="-122"/>
              <a:ea typeface="微软雅黑" panose="020B0503020204020204" charset="-122"/>
            </a:endParaRPr>
          </a:p>
        </p:txBody>
      </p:sp>
      <p:sp>
        <p:nvSpPr>
          <p:cNvPr id="1228" name="矩形 1227"/>
          <p:cNvSpPr/>
          <p:nvPr/>
        </p:nvSpPr>
        <p:spPr>
          <a:xfrm>
            <a:off x="428625" y="5772150"/>
            <a:ext cx="11430000" cy="476250"/>
          </a:xfrm>
          <a:prstGeom prst="rect">
            <a:avLst/>
          </a:prstGeom>
          <a:solidFill>
            <a:srgbClr val="E8EFF8"/>
          </a:solidFill>
        </p:spPr>
        <p:txBody>
          <a:bodyPr/>
          <a:p/>
        </p:txBody>
      </p:sp>
      <p:sp>
        <p:nvSpPr>
          <p:cNvPr id="1229" name="任意多边形 1228"/>
          <p:cNvSpPr/>
          <p:nvPr/>
        </p:nvSpPr>
        <p:spPr>
          <a:xfrm>
            <a:off x="381000" y="5772150"/>
            <a:ext cx="11477625" cy="476250"/>
          </a:xfrm>
          <a:custGeom>
            <a:avLst/>
            <a:gdLst/>
            <a:ahLst/>
            <a:cxnLst/>
            <a:pathLst>
              <a:path w="1205" h="50">
                <a:moveTo>
                  <a:pt x="0" y="0"/>
                </a:moveTo>
                <a:lnTo>
                  <a:pt x="5" y="0"/>
                </a:lnTo>
                <a:lnTo>
                  <a:pt x="5" y="50"/>
                </a:lnTo>
                <a:lnTo>
                  <a:pt x="0" y="50"/>
                </a:lnTo>
                <a:close/>
              </a:path>
            </a:pathLst>
          </a:custGeom>
          <a:solidFill>
            <a:srgbClr val="1E4FA8"/>
          </a:solidFill>
        </p:spPr>
        <p:txBody>
          <a:bodyPr/>
          <a:p/>
        </p:txBody>
      </p:sp>
      <p:sp>
        <p:nvSpPr>
          <p:cNvPr id="1230" name="文本框 1229" descr="{&quot;isTemplate&quot;:true,&quot;type&quot;:&quot;text&quot;}"/>
          <p:cNvSpPr txBox="1"/>
          <p:nvPr/>
        </p:nvSpPr>
        <p:spPr>
          <a:xfrm>
            <a:off x="600075" y="5857875"/>
            <a:ext cx="11210925" cy="304800"/>
          </a:xfrm>
          <a:prstGeom prst="rect">
            <a:avLst/>
          </a:prstGeom>
        </p:spPr>
        <p:txBody>
          <a:bodyPr wrap="none" lIns="0" tIns="0" rIns="0" bIns="0"/>
          <a:p>
            <a:pPr>
              <a:lnSpc>
                <a:spcPct val="140000"/>
              </a:lnSpc>
            </a:pPr>
            <a:r>
              <a:rPr lang="zh-CN" sz="1390">
                <a:solidFill>
                  <a:srgbClr val="1A2230"/>
                </a:solidFill>
                <a:latin typeface="微软雅黑" panose="020B0503020204020204" charset="-122"/>
                <a:ea typeface="微软雅黑" panose="020B0503020204020204" charset="-122"/>
              </a:rPr>
              <a:t>三层筛选保留探索能力，偶发现象不夸大为一般规律</a:t>
            </a:r>
            <a:endParaRPr lang="zh-CN" sz="1390">
              <a:solidFill>
                <a:srgbClr val="1A2230"/>
              </a:solidFill>
              <a:latin typeface="微软雅黑" panose="020B0503020204020204" charset="-122"/>
              <a:ea typeface="微软雅黑" panose="020B0503020204020204" charset="-122"/>
            </a:endParaRPr>
          </a:p>
        </p:txBody>
      </p:sp>
      <p:sp>
        <p:nvSpPr>
          <p:cNvPr id="1231" name="任意多边形 1230"/>
          <p:cNvSpPr/>
          <p:nvPr/>
        </p:nvSpPr>
        <p:spPr>
          <a:xfrm>
            <a:off x="0" y="632460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232" name="文本框 1231" descr="{&quot;isTemplate&quot;:true,&quot;type&quot;:&quot;text&quot;}"/>
          <p:cNvSpPr txBox="1"/>
          <p:nvPr/>
        </p:nvSpPr>
        <p:spPr>
          <a:xfrm>
            <a:off x="381000" y="643890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233" name="文本框 1232" descr="{&quot;isTemplate&quot;:true,&quot;type&quot;:&quot;text&quot;}"/>
          <p:cNvSpPr txBox="1"/>
          <p:nvPr/>
        </p:nvSpPr>
        <p:spPr>
          <a:xfrm>
            <a:off x="11353800" y="643890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30 / 36</a:t>
            </a:r>
            <a:endParaRPr lang="en-US" sz="1050">
              <a:solidFill>
                <a:srgbClr val="1E4FA8"/>
              </a:solidFill>
              <a:latin typeface="微软雅黑" panose="020B0503020204020204" charset="-122"/>
              <a:ea typeface="微软雅黑" panose="020B0503020204020204" charset="-122"/>
            </a:endParaRPr>
          </a:p>
        </p:txBody>
      </p:sp>
      <p:sp>
        <p:nvSpPr>
          <p:cNvPr id="1234" name="矩形 1233"/>
          <p:cNvSpPr/>
          <p:nvPr/>
        </p:nvSpPr>
        <p:spPr>
          <a:xfrm>
            <a:off x="0" y="685800"/>
            <a:ext cx="57150" cy="1162050"/>
          </a:xfrm>
          <a:prstGeom prst="rect">
            <a:avLst/>
          </a:prstGeom>
          <a:solidFill>
            <a:srgbClr val="C9D6E8"/>
          </a:solidFill>
        </p:spPr>
        <p:txBody>
          <a:bodyPr/>
          <a:p/>
        </p:txBody>
      </p:sp>
      <p:sp>
        <p:nvSpPr>
          <p:cNvPr id="1235" name="矩形 1234"/>
          <p:cNvSpPr/>
          <p:nvPr/>
        </p:nvSpPr>
        <p:spPr>
          <a:xfrm>
            <a:off x="0" y="1847850"/>
            <a:ext cx="57150" cy="1162050"/>
          </a:xfrm>
          <a:prstGeom prst="rect">
            <a:avLst/>
          </a:prstGeom>
          <a:solidFill>
            <a:srgbClr val="C9D6E8"/>
          </a:solidFill>
        </p:spPr>
        <p:txBody>
          <a:bodyPr/>
          <a:p/>
        </p:txBody>
      </p:sp>
      <p:sp>
        <p:nvSpPr>
          <p:cNvPr id="1236" name="矩形 1235"/>
          <p:cNvSpPr/>
          <p:nvPr/>
        </p:nvSpPr>
        <p:spPr>
          <a:xfrm>
            <a:off x="0" y="3009900"/>
            <a:ext cx="57150" cy="1162050"/>
          </a:xfrm>
          <a:prstGeom prst="rect">
            <a:avLst/>
          </a:prstGeom>
          <a:solidFill>
            <a:srgbClr val="C9D6E8"/>
          </a:solidFill>
        </p:spPr>
        <p:txBody>
          <a:bodyPr/>
          <a:p/>
        </p:txBody>
      </p:sp>
      <p:sp>
        <p:nvSpPr>
          <p:cNvPr id="1237" name="矩形 1236"/>
          <p:cNvSpPr/>
          <p:nvPr/>
        </p:nvSpPr>
        <p:spPr>
          <a:xfrm>
            <a:off x="0" y="4171950"/>
            <a:ext cx="57150" cy="1162050"/>
          </a:xfrm>
          <a:prstGeom prst="rect">
            <a:avLst/>
          </a:prstGeom>
          <a:solidFill>
            <a:srgbClr val="FFC107"/>
          </a:solidFill>
        </p:spPr>
        <p:txBody>
          <a:bodyPr/>
          <a:p/>
        </p:txBody>
      </p:sp>
      <p:sp>
        <p:nvSpPr>
          <p:cNvPr id="1238" name="矩形 1237"/>
          <p:cNvSpPr/>
          <p:nvPr/>
        </p:nvSpPr>
        <p:spPr>
          <a:xfrm>
            <a:off x="0" y="5334000"/>
            <a:ext cx="57150" cy="1143000"/>
          </a:xfrm>
          <a:prstGeom prst="rect">
            <a:avLst/>
          </a:prstGeom>
          <a:solidFill>
            <a:srgbClr val="C9D6E8"/>
          </a:solidFill>
        </p:spPr>
        <p:txBody>
          <a:body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239" name="" descr="&lt;Slide style={{ width: '1280px', height: '720px', background: '#0B3A82', fontFamily: 'Microsoft YaHei', padding: 0 }}&gt;&#13;&#10;    &lt;Box style={{ position: 'absolute', top: 0, right: 0, width: 300, height: 720, background: '#12489A' }} /&gt;&#13;&#10;    &lt;Box style={{ position: 'absolute', top: 70, right: 40, width: 220, height: 220, opacity: 0.16 }}&gt;&#13;&#10;        &lt;svg width={220} height={220} viewBox='0 0 220 220'&gt;&#13;&#10;            &lt;rect x='16' y='24' width='60' height='44' rx='5' fill='none' stroke='#FFFFFF' strokeWidth='3' /&gt;&#13;&#10;            &lt;rect x='96' y='24' width='60' height='44' rx='5' fill='none' stroke='#FFFFFF' strokeWidth='3' /&gt;&#13;&#10;            &lt;rect x='176' y='24' width='32' height='44' rx='5' fill='none' stroke='#FFFFFF' strokeWidth='3' /&gt;&#13;&#10;            &lt;rect x='16' y='104' width='192' height='44' rx='5' fill='none' stroke='#FFFFFF' strokeWidth='3' /&gt;&#13;&#10;            &lt;rect x='16' y='176' width='192' height='28' rx='5' fill='none' stroke='#FFFFFF' strokeWidth='3' /&gt;&#13;&#10;            &lt;path d='M46 68 L46 104' stroke='#FFC107' strokeWidth='4' fill='none' /&gt;&#13;&#10;            &lt;path d='M126 68 L126 104' stroke='#FFC107' strokeWidth='4' fill='none' /&gt;&#13;&#10;            &lt;path d='M112 148 L112 176' stroke='#FFC107' strokeWidth='4' fill='none' /&gt;&#13;&#10;        &lt;/svg&gt;&#13;&#10;    &lt;/Box&gt;&#13;&#10;    &lt;Box style={{ position: 'absolute', top: 120, left: 90 }}&gt;&#13;&#10;        &lt;Text style={{ fontSize: 220, fontWeight: 'bold', color: '#FFFFFF', opacity: 0.12, lineHeight: 1 }}&gt;05&lt;/Text&gt;&#13;&#10;    &lt;/Box&gt;&#13;&#10;    &lt;Box style={{ position: 'absolute', top: 132, left: 96, width: 840, flexDirection: 'column', gap: 18 }}&gt;&#13;&#10;        &lt;Box style={{ flexDirection: 'row', alignItems: 'center', gap: 14 }}&gt;&#13;&#10;            &lt;Box style={{ width: 14, height: 38, background: '#FFC107' }} /&gt;&#13;&#10;            &lt;Text style={{ fontSize: 25, color: '#BFD3F2', letterSpacing: 3 }}&gt;PART FIVE&lt;/Text&gt;&#13;&#10;        &lt;/Box&gt;&#13;&#10;        &lt;Text style={{ fontSize: 50, fontWeight: 'bold', color: '#FFFFFF', lineHeight: 1.25 }}&gt;研究基础、进度安排与预期成果&lt;/Text&gt;&#13;&#10;        &lt;Box style={{ height: 3, background: '#3D7BD9', width: 760 }} /&gt;&#13;&#10;        &lt;Box style={{ flexDirection: 'column', gap: 11, marginTop: 4 }}&gt;&#13;&#10;            &lt;Text style={{ fontSize: 24, fontWeight: 'bold', color: '#FFFFFF', lineHeight: 1.4 }}&gt;这项研究是否做得出来，如何保证核心主线按期完成？&lt;/Text&gt;&#13;&#10;            &lt;Text style={{ fontSize: 18, color: '#FFC107', letterSpacing: 1 }}&gt;已有基础　｜　阶段检查点　｜　风险控制&lt;/Text&gt;&#13;&#10;        &lt;/Box&gt;&#13;&#10;    &lt;/Box&gt;&#13;&#10;    &lt;Box style={{ position: 'absolute', bottom: 44, left: 96 }}&gt;&#13;&#10;        &lt;Text style={{ fontSize: 16, color: '#7FA3D6' }}&gt;P32 – P35&lt;/Text&gt;&#13;&#10;    &lt;/Box&gt;&#13;&#10;&lt;/Slide&gt;&#13;&#10;"/>
        <p:cNvGrpSpPr/>
        <p:nvPr/>
      </p:nvGrpSpPr>
      <p:grpSpPr>
        <a:xfrm>
          <a:off x="0" y="0"/>
          <a:ext cx="0" cy="0"/>
          <a:chOff x="0" y="0"/>
          <a:chExt cx="0" cy="0"/>
        </a:xfrm>
      </p:grpSpPr>
      <p:sp>
        <p:nvSpPr>
          <p:cNvPr id="1240" name="矩形 1239"/>
          <p:cNvSpPr/>
          <p:nvPr/>
        </p:nvSpPr>
        <p:spPr>
          <a:xfrm>
            <a:off x="0" y="0"/>
            <a:ext cx="12192000" cy="6858000"/>
          </a:xfrm>
          <a:prstGeom prst="rect">
            <a:avLst/>
          </a:prstGeom>
          <a:solidFill>
            <a:srgbClr val="0B3A82"/>
          </a:solidFill>
        </p:spPr>
        <p:txBody>
          <a:bodyPr/>
          <a:p/>
        </p:txBody>
      </p:sp>
      <p:sp>
        <p:nvSpPr>
          <p:cNvPr id="1241" name="矩形 1240"/>
          <p:cNvSpPr/>
          <p:nvPr/>
        </p:nvSpPr>
        <p:spPr>
          <a:xfrm>
            <a:off x="9334500" y="0"/>
            <a:ext cx="2857500" cy="6858000"/>
          </a:xfrm>
          <a:prstGeom prst="rect">
            <a:avLst/>
          </a:prstGeom>
          <a:solidFill>
            <a:srgbClr val="12489A"/>
          </a:solidFill>
        </p:spPr>
        <p:txBody>
          <a:bodyPr/>
          <a:p/>
        </p:txBody>
      </p:sp>
      <p:pic>
        <p:nvPicPr>
          <p:cNvPr id="1242" name="图片 1241"/>
          <p:cNvPicPr>
            <a:picLocks noChangeAspect="1"/>
          </p:cNvPicPr>
          <p:nvPr/>
        </p:nvPicPr>
        <p:blipFill>
          <a:blip r:embed="rId1">
            <a:alphaModFix amt="16000"/>
            <a:extLst>
              <a:ext uri="{96DAC541-7B7A-43D3-8B79-37D633B846F1}">
                <asvg:svgBlip xmlns:asvg="http://schemas.microsoft.com/office/drawing/2016/SVG/main" r:embed="rId2"/>
              </a:ext>
            </a:extLst>
          </a:blip>
          <a:stretch>
            <a:fillRect/>
          </a:stretch>
        </p:blipFill>
        <p:spPr>
          <a:xfrm>
            <a:off x="9715500" y="666750"/>
            <a:ext cx="2095500" cy="2095500"/>
          </a:xfrm>
          <a:prstGeom prst="rect">
            <a:avLst/>
          </a:prstGeom>
        </p:spPr>
      </p:pic>
      <p:sp>
        <p:nvSpPr>
          <p:cNvPr id="1243" name="文本框 1242" descr="{&quot;isTemplate&quot;:true,&quot;type&quot;:&quot;text&quot;}"/>
          <p:cNvSpPr txBox="1"/>
          <p:nvPr/>
        </p:nvSpPr>
        <p:spPr>
          <a:xfrm>
            <a:off x="857250" y="1143000"/>
            <a:ext cx="2590800" cy="2514600"/>
          </a:xfrm>
          <a:prstGeom prst="rect">
            <a:avLst/>
          </a:prstGeom>
        </p:spPr>
        <p:txBody>
          <a:bodyPr wrap="none" lIns="0" tIns="0" rIns="0" bIns="0"/>
          <a:p>
            <a:pPr>
              <a:lnSpc>
                <a:spcPct val="100000"/>
              </a:lnSpc>
            </a:pPr>
            <a:r>
              <a:rPr lang="en-US" sz="16500" b="1">
                <a:solidFill>
                  <a:srgbClr val="FFFFFF">
                    <a:alpha val="12000"/>
                  </a:srgbClr>
                </a:solidFill>
                <a:latin typeface="微软雅黑" panose="020B0503020204020204" charset="-122"/>
                <a:ea typeface="微软雅黑" panose="020B0503020204020204" charset="-122"/>
              </a:rPr>
              <a:t>05</a:t>
            </a:r>
            <a:endParaRPr lang="en-US" sz="16500" b="1">
              <a:solidFill>
                <a:srgbClr val="FFFFFF">
                  <a:alpha val="12000"/>
                </a:srgbClr>
              </a:solidFill>
              <a:latin typeface="微软雅黑" panose="020B0503020204020204" charset="-122"/>
              <a:ea typeface="微软雅黑" panose="020B0503020204020204" charset="-122"/>
            </a:endParaRPr>
          </a:p>
        </p:txBody>
      </p:sp>
      <p:sp>
        <p:nvSpPr>
          <p:cNvPr id="1244" name="矩形 1243"/>
          <p:cNvSpPr/>
          <p:nvPr/>
        </p:nvSpPr>
        <p:spPr>
          <a:xfrm>
            <a:off x="914400" y="1257300"/>
            <a:ext cx="133350" cy="361950"/>
          </a:xfrm>
          <a:prstGeom prst="rect">
            <a:avLst/>
          </a:prstGeom>
          <a:solidFill>
            <a:srgbClr val="FFC107"/>
          </a:solidFill>
        </p:spPr>
        <p:txBody>
          <a:bodyPr/>
          <a:p/>
        </p:txBody>
      </p:sp>
      <p:sp>
        <p:nvSpPr>
          <p:cNvPr id="1245" name="文本框 1244" descr="{&quot;isTemplate&quot;:true,&quot;type&quot;:&quot;text&quot;}"/>
          <p:cNvSpPr txBox="1"/>
          <p:nvPr/>
        </p:nvSpPr>
        <p:spPr>
          <a:xfrm>
            <a:off x="1181100" y="1295400"/>
            <a:ext cx="1428750" cy="285750"/>
          </a:xfrm>
          <a:prstGeom prst="rect">
            <a:avLst/>
          </a:prstGeom>
        </p:spPr>
        <p:txBody>
          <a:bodyPr wrap="none" lIns="0" tIns="0" rIns="0" bIns="0"/>
          <a:p>
            <a:pPr>
              <a:lnSpc>
                <a:spcPct val="100000"/>
              </a:lnSpc>
            </a:pPr>
            <a:r>
              <a:rPr lang="en-US" sz="1875" spc="225">
                <a:solidFill>
                  <a:srgbClr val="BFD3F2"/>
                </a:solidFill>
                <a:latin typeface="微软雅黑" panose="020B0503020204020204" charset="-122"/>
                <a:ea typeface="微软雅黑" panose="020B0503020204020204" charset="-122"/>
              </a:rPr>
              <a:t>PART FIVE</a:t>
            </a:r>
            <a:endParaRPr lang="en-US" sz="1875" spc="225">
              <a:solidFill>
                <a:srgbClr val="BFD3F2"/>
              </a:solidFill>
              <a:latin typeface="微软雅黑" panose="020B0503020204020204" charset="-122"/>
              <a:ea typeface="微软雅黑" panose="020B0503020204020204" charset="-122"/>
            </a:endParaRPr>
          </a:p>
        </p:txBody>
      </p:sp>
      <p:sp>
        <p:nvSpPr>
          <p:cNvPr id="1246" name="文本框 1245" descr="{&quot;isTemplate&quot;:true,&quot;type&quot;:&quot;text&quot;}"/>
          <p:cNvSpPr txBox="1"/>
          <p:nvPr/>
        </p:nvSpPr>
        <p:spPr>
          <a:xfrm>
            <a:off x="914400" y="1790700"/>
            <a:ext cx="8001000" cy="714375"/>
          </a:xfrm>
          <a:prstGeom prst="rect">
            <a:avLst/>
          </a:prstGeom>
        </p:spPr>
        <p:txBody>
          <a:bodyPr wrap="none" lIns="0" tIns="0" rIns="0" bIns="0"/>
          <a:p>
            <a:pPr>
              <a:lnSpc>
                <a:spcPct val="125000"/>
              </a:lnSpc>
            </a:pPr>
            <a:r>
              <a:rPr lang="zh-CN" sz="3750" b="1">
                <a:solidFill>
                  <a:srgbClr val="FFFFFF"/>
                </a:solidFill>
                <a:latin typeface="微软雅黑" panose="020B0503020204020204" charset="-122"/>
                <a:ea typeface="微软雅黑" panose="020B0503020204020204" charset="-122"/>
              </a:rPr>
              <a:t>研究基础、进度安排与预期成果</a:t>
            </a:r>
            <a:endParaRPr lang="zh-CN" sz="3750" b="1">
              <a:solidFill>
                <a:srgbClr val="FFFFFF"/>
              </a:solidFill>
              <a:latin typeface="微软雅黑" panose="020B0503020204020204" charset="-122"/>
              <a:ea typeface="微软雅黑" panose="020B0503020204020204" charset="-122"/>
            </a:endParaRPr>
          </a:p>
        </p:txBody>
      </p:sp>
      <p:sp>
        <p:nvSpPr>
          <p:cNvPr id="1247" name="矩形 1246"/>
          <p:cNvSpPr/>
          <p:nvPr/>
        </p:nvSpPr>
        <p:spPr>
          <a:xfrm>
            <a:off x="914400" y="2676525"/>
            <a:ext cx="7239000" cy="28575"/>
          </a:xfrm>
          <a:prstGeom prst="rect">
            <a:avLst/>
          </a:prstGeom>
          <a:solidFill>
            <a:srgbClr val="3D7BD9"/>
          </a:solidFill>
        </p:spPr>
        <p:txBody>
          <a:bodyPr/>
          <a:p/>
        </p:txBody>
      </p:sp>
      <p:sp>
        <p:nvSpPr>
          <p:cNvPr id="1248" name="文本框 1247" descr="{&quot;isTemplate&quot;:true,&quot;type&quot;:&quot;text&quot;}"/>
          <p:cNvSpPr txBox="1"/>
          <p:nvPr/>
        </p:nvSpPr>
        <p:spPr>
          <a:xfrm>
            <a:off x="914400" y="2914650"/>
            <a:ext cx="8001000" cy="390525"/>
          </a:xfrm>
          <a:prstGeom prst="rect">
            <a:avLst/>
          </a:prstGeom>
        </p:spPr>
        <p:txBody>
          <a:bodyPr wrap="none" lIns="0" tIns="0" rIns="0" bIns="0"/>
          <a:p>
            <a:pPr>
              <a:lnSpc>
                <a:spcPct val="140000"/>
              </a:lnSpc>
            </a:pPr>
            <a:r>
              <a:rPr lang="zh-CN" sz="1800" b="1">
                <a:solidFill>
                  <a:srgbClr val="FFFFFF"/>
                </a:solidFill>
                <a:latin typeface="微软雅黑" panose="020B0503020204020204" charset="-122"/>
                <a:ea typeface="微软雅黑" panose="020B0503020204020204" charset="-122"/>
              </a:rPr>
              <a:t>这项研究是否做得出来，如何保证核心主线按期完成？</a:t>
            </a:r>
            <a:endParaRPr lang="zh-CN" sz="1800" b="1">
              <a:solidFill>
                <a:srgbClr val="FFFFFF"/>
              </a:solidFill>
              <a:latin typeface="微软雅黑" panose="020B0503020204020204" charset="-122"/>
              <a:ea typeface="微软雅黑" panose="020B0503020204020204" charset="-122"/>
            </a:endParaRPr>
          </a:p>
        </p:txBody>
      </p:sp>
      <p:sp>
        <p:nvSpPr>
          <p:cNvPr id="1249" name="文本框 1248" descr="{&quot;isTemplate&quot;:true,&quot;type&quot;:&quot;text&quot;}"/>
          <p:cNvSpPr txBox="1"/>
          <p:nvPr/>
        </p:nvSpPr>
        <p:spPr>
          <a:xfrm>
            <a:off x="914400" y="3409950"/>
            <a:ext cx="8001000" cy="209550"/>
          </a:xfrm>
          <a:prstGeom prst="rect">
            <a:avLst/>
          </a:prstGeom>
        </p:spPr>
        <p:txBody>
          <a:bodyPr wrap="none" lIns="0" tIns="0" rIns="0" bIns="0"/>
          <a:p>
            <a:pPr>
              <a:lnSpc>
                <a:spcPct val="100000"/>
              </a:lnSpc>
            </a:pPr>
            <a:r>
              <a:rPr lang="zh-CN" sz="1350" spc="75">
                <a:solidFill>
                  <a:srgbClr val="FFC107"/>
                </a:solidFill>
                <a:latin typeface="微软雅黑" panose="020B0503020204020204" charset="-122"/>
                <a:ea typeface="微软雅黑" panose="020B0503020204020204" charset="-122"/>
              </a:rPr>
              <a:t>已有基础　｜　阶段检查点　｜　风险控制</a:t>
            </a:r>
            <a:endParaRPr lang="zh-CN" sz="1350" spc="75">
              <a:solidFill>
                <a:srgbClr val="FFC107"/>
              </a:solidFill>
              <a:latin typeface="微软雅黑" panose="020B0503020204020204" charset="-122"/>
              <a:ea typeface="微软雅黑" panose="020B0503020204020204" charset="-122"/>
            </a:endParaRPr>
          </a:p>
        </p:txBody>
      </p:sp>
      <p:sp>
        <p:nvSpPr>
          <p:cNvPr id="1250" name="文本框 1249" descr="{&quot;isTemplate&quot;:true,&quot;type&quot;:&quot;text&quot;}"/>
          <p:cNvSpPr txBox="1"/>
          <p:nvPr/>
        </p:nvSpPr>
        <p:spPr>
          <a:xfrm>
            <a:off x="914400" y="6248400"/>
            <a:ext cx="723900" cy="190500"/>
          </a:xfrm>
          <a:prstGeom prst="rect">
            <a:avLst/>
          </a:prstGeom>
        </p:spPr>
        <p:txBody>
          <a:bodyPr wrap="none" lIns="0" tIns="0" rIns="0" bIns="0"/>
          <a:p>
            <a:pPr>
              <a:lnSpc>
                <a:spcPct val="100000"/>
              </a:lnSpc>
            </a:pPr>
            <a:r>
              <a:rPr lang="en-US" sz="1200">
                <a:solidFill>
                  <a:srgbClr val="7FA3D6"/>
                </a:solidFill>
                <a:latin typeface="微软雅黑" panose="020B0503020204020204" charset="-122"/>
                <a:ea typeface="微软雅黑" panose="020B0503020204020204" charset="-122"/>
              </a:rPr>
              <a:t>P32 – P35</a:t>
            </a:r>
            <a:endParaRPr lang="en-US" sz="1200">
              <a:solidFill>
                <a:srgbClr val="7FA3D6"/>
              </a:solidFill>
              <a:latin typeface="微软雅黑" panose="020B0503020204020204" charset="-122"/>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25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cubes' style={{ fill: '#FFC107', width: 22, height: 22 }} /&gt;&#13;&#10;        &lt;/Box&gt;&#13;&#10;            &lt;Text style={{ fontSize: 29, fontWeight: 'bold', color: '#FFFFFF' }}&gt;前期已完成城市水系统通用骨架，论文增量集中于 AI 接口与机制实验&lt;/Text&gt;&#13;&#10;        &lt;/Box&gt;&#13;&#10;        &lt;Box style={{ flexDirection: 'row', alignItems: 'center', gap: 10 }}&gt;&#13;&#10;            &lt;Text style={{ fontSize: 15, color: '#AFC6E8' }}&gt;05 研究基础、进度与预期成果&lt;/Text&gt;&#13;&#10;            &lt;Box style={{ background: '#FFC107', paddingLeft: 9, paddingRight: 9, paddingTop: 3, paddingBottom: 3, borderRadius: 3, justifyContent: 'center', alignItems: 'center' }}&gt;&#13;&#10;                &lt;Text style={{ fontSize: 14, color: '#0B3A82', fontWeight: 'bold' }}&gt;32&lt;/Text&gt;&#13;&#10;            &lt;/Box&gt;&#13;&#10;        &lt;/Box&gt;&#13;&#10;    &lt;/Box&gt;&#13;&#10;    &lt;Box style={{ paddingLeft: 40, paddingRight: 40, paddingTop: 12, paddingBottom: 8, flexDirection: 'column', gap: 12 }}&gt;&#13;&#10;        &lt;Box style={{ flexDirection: 'row', gap: 12, height: 316 }}&gt;&#13;&#10;            &lt;Box style={{ flex: 1, background: '#F7F9FC', border: '1px solid #D6DCE5', borderTop: '5px solid #1E4FA8', borderRadius: 6, padding: 13, flexDirection: 'column' }}&gt;&#13;&#10;                &lt;Box style={{ flexDirection: 'row', alignItems: 'center', gap: 8, marginBottom: 8 }}&gt;&#13;&#10;                    &lt;FAIcon name='circle-check' style={{ fill: '#1E4FA8', width: 20, height: 20 }} /&gt;&#13;&#10;                    &lt;Text style={{ fontSize: 19, fontWeight: 'bold', color: '#0E3F8C' }}&gt;已完成｜通用城市水系统骨架&lt;/Text&gt;&#13;&#10;                &lt;/Box&gt;&#13;&#10;                &lt;Text style={{ fontSize: 15.5, color: '#1A2230', lineHeight: 1.5 }}&gt;·　节点与路径网络表示，区分外部输入、内部回用与最终排放&lt;/Text&gt;&#13;&#10;                &lt;Text style={{ fontSize: 15.5, color: '#1A2230', lineHeight: 1.5 }}&gt;·　水源、给水、终端需求、污水与再生利用的日尺度计算模块&lt;/Text&gt;&#13;&#10;                &lt;Text style={{ fontSize: 15.5, color: '#1A2230', lineHeight: 1.5 }}&gt;·　逐节点水量闭合核算与储量记录&lt;/Text&gt;&#13;&#10;                &lt;Text style={{ fontSize: 15.5, color: '#1A2230', lineHeight: 1.5 }}&gt;·　情景切换与批量运行接口，支持版本记录与结果审计&lt;/Text&gt;&#13;&#10;            &lt;/Box&gt;&#13;&#10;            &lt;Box style={{ flex: 1, background: '#0E3F8C', borderTop: '5px solid #FFC107', borderRadius: 6, padding: 13, flexDirection: 'column' }}&gt;&#13;&#10;                &lt;Box style={{ flexDirection: 'row', alignItems: 'center', gap: 8, marginBottom: 8 }}&gt;&#13;&#10;                    &lt;FAIcon name='screwdriver-wrench' style={{ fill: '#FFC107', width: 20, height: 20 }} /&gt;&#13;&#10;                    &lt;Text style={{ fontSize: 19, fontWeight: 'bold', color: '#FFFFFF' }}&gt;原型完善中｜AI 设施接口与冷却模块&lt;/Text&gt;&#13;&#10;                &lt;/Box&gt;&#13;&#10;                &lt;Text style={{ fontSize: 15.5, color: '#E4EDF9', lineHeight: 1.5 }}&gt;·　AI 冷却节点接入：服务器侧热捕集 × 设施侧末端排热两层拆分&lt;/Text&gt;&#13;&#10;                &lt;Text style={{ fontSize: 15.5, color: '#E4EDF9', lineHeight: 1.5 }}&gt;·　两层冷却架构组合的比较能力（实验二对照所需）&lt;/Text&gt;&#13;&#10;                &lt;Text style={{ fontSize: 15.5, color: '#E4EDF9', lineHeight: 1.5 }}&gt;·　四组实验的统一情景入口已在搭建&lt;/Text&gt;&#13;&#10;                &lt;Box style={{ marginTop: 'auto', background: '#12489A', borderRadius: 4, padding: 8 }}&gt;&#13;&#10;                    &lt;Text style={{ fontSize: 15, color: '#FFC107', lineHeight: 1.35 }}&gt;接口已设计并部分实现，校核与完善在论文第一阶段完成&lt;/Text&gt;&#13;&#10;                &lt;/Box&gt;&#13;&#10;            &lt;/Box&gt;&#13;&#10;            &lt;Box style={{ flex: 1, background: '#F7F9FC', border: '1px solid #D6DCE5', borderTop: '5px solid #8B97A8', borderRadius: 6, padding: 13, flexDirection: 'column' }}&gt;&#13;&#10;                &lt;Box style={{ flexDirection: 'row', alignItems: 'center', gap: 8, marginBottom: 8 }}&gt;&#13;&#10;                    &lt;FAIcon name='flag' style={{ fill: '#8B97A8', width: 20, height: 20 }} /&gt;&#13;&#10;                    &lt;Text style={{ fontSize: 19, fontWeight: 'bold', color: '#4A5568' }}&gt;论文待完成｜机制实验与边界分析&lt;/Text&gt;&#13;&#10;                &lt;/Box&gt;&#13;&#10;                &lt;Text style={{ fontSize: 15.5, color: '#1A2230', lineHeight: 1.5 }}&gt;·　参数校核、证据分级与分层数据方案落地&lt;/Text&gt;&#13;&#10;                &lt;Text style={{ fontSize: 15.5, color: '#1A2230', lineHeight: 1.5 }}&gt;·　四组控制实验运行与结果分析&lt;/Text&gt;&#13;&#10;                &lt;Text style={{ fontSize: 15.5, color: '#1A2230', lineHeight: 1.5 }}&gt;·　CAWCC 求解、瓶颈迁移与适用参数域归纳&lt;/Text&gt;&#13;&#10;                &lt;Text style={{ fontSize: 15.5, color: '#1A2230', lineHeight: 1.5 }}&gt;·　敏感性与稳健性检验、论文写作&lt;/Text&gt;&#13;&#10;            &lt;/Box&gt;&#13;&#10;        &lt;/Box&gt;&#13;&#10;        &lt;Box style={{ flexDirection: 'row', gap: 14, height: 158 }}&gt;&#13;&#10;            &lt;Box style={{ flex: 1, background: '#F0F5FC', border: '1px solid #D6DCE5', borderRadius: 6, padding: 12, flexDirection: 'column' }}&gt;&#13;&#10;                &lt;Box style={{ flexDirection: 'row', alignItems: 'center', gap: 8, marginBottom: 4 }}&gt;&#13;&#10;                    &lt;Box style={{ width: 30, height: 30, background: '#1E4FA8', borderRadius: 4, justifyContent: 'center', alignItems: 'center' }}&gt;&#13;&#10;                        &lt;FAIcon name='circle-nodes' style={{ fill: '#FFFFFF', width: 17, height: 17 }} /&gt;&#13;&#10;                    &lt;/Box&gt;&#13;&#10;                    &lt;Text style={{ fontSize: 18, fontWeight: 'bold', color: '#0E3F8C' }}&gt;系统表示基础&lt;/Text&gt;&#13;&#10;                &lt;/Box&gt;&#13;&#10;                &lt;Text style={{ fontSize: 15, color: '#1A2230', lineHeight: 1.45 }}&gt;节点与路径网络就绪，AI 节点可直接挂载，无需重定义系统边界。&lt;/Text&gt;&#13;&#10;            &lt;/Box&gt;&#13;&#10;            &lt;Box style={{ flex: 1, background: '#F0F5FC', border: '1px solid #D6DCE5', borderRadius: 6, padding: 12, flexDirection: 'column' }}&gt;&#13;&#10;                &lt;Box style={{ flexDirection: 'row', alignItems: 'center', gap: 8, marginBottom: 4 }}&gt;&#13;&#10;                    &lt;Box style={{ width: 30, height: 30, background: '#1E4FA8', borderRadius: 4, justifyContent: 'center', alignItems: 'center' }}&gt;&#13;&#10;                        &lt;FAIcon name='server' style={{ fill: '#FFFFFF', width: 17, height: 17 }} /&gt;&#13;&#10;                    &lt;/Box&gt;&#13;&#10;                    &lt;Text style={{ fontSize: 18, fontWeight: 'bold', color: '#0E3F8C' }}&gt;过程拆分基础&lt;/Text&gt;&#13;&#10;                &lt;/Box&gt;&#13;&#10;                &lt;Text style={{ fontSize: 15, color: '#1A2230', lineHeight: 1.45 }}&gt;服务器侧热捕集与末端排热已分开，可比较&quot;两层架构 × 排热方式&quot;组合。&lt;/Text&gt;&#13;&#10;            &lt;/Box&gt;&#13;&#10;            &lt;Box style={{ flex: 1, background: '#F0F5FC', border: '1px solid #D6DCE5', borderRadius: 6, padding: 12, flexDirection: 'column' }}&gt;&#13;&#10;                &lt;Box style={{ flexDirection: 'row', alignItems: 'center', gap: 8, marginBottom: 4 }}&gt;&#13;&#10;                    &lt;Box style={{ width: 30, height: 30, background: '#1E4FA8', borderRadius: 4, justifyContent: 'center', alignItems: 'center' }}&gt;&#13;&#10;                        &lt;FAIcon name='database' style={{ fill: '#FFFFFF', width: 17, height: 17 }} /&gt;&#13;&#10;                    &lt;/Box&gt;&#13;&#10;                    &lt;Text style={{ fontSize: 18, fontWeight: 'bold', color: '#0E3F8C' }}&gt;参数证据基础&lt;/Text&gt;&#13;&#10;                &lt;/Box&gt;&#13;&#10;                &lt;Text style={{ fontSize: 15, color: '#1A2230', lineHeight: 1.45 }}&gt;参数证据分级表已建立，与第 29 页分层数据方案直接衔接。&lt;/Text&gt;&#13;&#10;            &lt;/Box&gt;&#13;&#10;        &lt;/Box&gt;&#13;&#10;        &lt;Box style={{ background: '#E8EFF8', borderLeft: '5px solid #1E4FA8', paddingLeft: 18, paddingTop: 9, paddingBottom: 9 }}&gt;&#13;&#10;            &lt;Text style={{ fontSize: 18.5, color: '#1A2230', lineHeight: 1.4 }}&gt;通用骨架开发已前置完成，论文阶段重点由基础框架开发转向 AI 节点完善与机制实验；三项基础对应&quot;系统如何表示、过程如何计算、参数如何取值&quot;&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32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C9D6E8' }} /&gt;&#13;&#10;                &lt;Box style={{ width: 6, height: 120, background: '#FFC107' }} /&gt;&#13;&#10;    &lt;/Box&gt;&#13;&#10;&lt;/Slide&gt;&#13;&#10;"/>
        <p:cNvGrpSpPr/>
        <p:nvPr/>
      </p:nvGrpSpPr>
      <p:grpSpPr>
        <a:xfrm>
          <a:off x="0" y="0"/>
          <a:ext cx="0" cy="0"/>
          <a:chOff x="0" y="0"/>
          <a:chExt cx="0" cy="0"/>
        </a:xfrm>
      </p:grpSpPr>
      <p:sp>
        <p:nvSpPr>
          <p:cNvPr id="1252" name="矩形 1251"/>
          <p:cNvSpPr/>
          <p:nvPr/>
        </p:nvSpPr>
        <p:spPr>
          <a:xfrm>
            <a:off x="0" y="0"/>
            <a:ext cx="12192000" cy="6858000"/>
          </a:xfrm>
          <a:prstGeom prst="rect">
            <a:avLst/>
          </a:prstGeom>
          <a:solidFill>
            <a:srgbClr val="FFFFFF"/>
          </a:solidFill>
        </p:spPr>
        <p:txBody>
          <a:bodyPr/>
          <a:p/>
        </p:txBody>
      </p:sp>
      <p:sp>
        <p:nvSpPr>
          <p:cNvPr id="1253" name="矩形 1252"/>
          <p:cNvSpPr/>
          <p:nvPr/>
        </p:nvSpPr>
        <p:spPr>
          <a:xfrm>
            <a:off x="0" y="0"/>
            <a:ext cx="12192000" cy="685800"/>
          </a:xfrm>
          <a:prstGeom prst="rect">
            <a:avLst/>
          </a:prstGeom>
          <a:solidFill>
            <a:srgbClr val="0E3F8C"/>
          </a:solidFill>
        </p:spPr>
        <p:txBody>
          <a:bodyPr/>
          <a:p/>
        </p:txBody>
      </p:sp>
      <p:sp>
        <p:nvSpPr>
          <p:cNvPr id="1254" name="圆角矩形 1253"/>
          <p:cNvSpPr/>
          <p:nvPr/>
        </p:nvSpPr>
        <p:spPr>
          <a:xfrm>
            <a:off x="381000" y="152400"/>
            <a:ext cx="381000" cy="381000"/>
          </a:xfrm>
          <a:prstGeom prst="roundRect">
            <a:avLst>
              <a:gd name="adj" fmla="val 25000"/>
            </a:avLst>
          </a:prstGeom>
          <a:solidFill>
            <a:srgbClr val="12489A"/>
          </a:solidFill>
        </p:spPr>
        <p:txBody>
          <a:bodyPr/>
          <a:p/>
        </p:txBody>
      </p:sp>
      <p:pic>
        <p:nvPicPr>
          <p:cNvPr id="1255" name="图片 1254"/>
          <p:cNvPicPr>
            <a:picLocks noChangeAspect="1"/>
          </p:cNvPicPr>
          <p:nvPr/>
        </p:nvPicPr>
        <p:blipFill>
          <a:blip/>
          <a:stretch>
            <a:fillRect/>
          </a:stretch>
        </p:blipFill>
        <p:spPr>
          <a:xfrm>
            <a:off x="466725" y="238125"/>
            <a:ext cx="209550" cy="209550"/>
          </a:xfrm>
          <a:prstGeom prst="rect">
            <a:avLst/>
          </a:prstGeom>
        </p:spPr>
      </p:pic>
      <p:sp>
        <p:nvSpPr>
          <p:cNvPr id="1256" name="文本框 1255" descr="{&quot;isTemplate&quot;:true,&quot;type&quot;:&quot;text&quot;}"/>
          <p:cNvSpPr txBox="1"/>
          <p:nvPr/>
        </p:nvSpPr>
        <p:spPr>
          <a:xfrm>
            <a:off x="895350" y="180975"/>
            <a:ext cx="847725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前期已完成城市水系统通用骨架，论文增量集中于</a:t>
            </a:r>
            <a:r>
              <a:rPr lang="en-US" sz="2175" b="1">
                <a:solidFill>
                  <a:srgbClr val="FFFFFF"/>
                </a:solidFill>
                <a:latin typeface="微软雅黑" panose="020B0503020204020204" charset="-122"/>
                <a:ea typeface="微软雅黑" panose="020B0503020204020204" charset="-122"/>
              </a:rPr>
              <a:t> AI </a:t>
            </a:r>
            <a:r>
              <a:rPr lang="zh-CN" sz="2175" b="1">
                <a:solidFill>
                  <a:srgbClr val="FFFFFF"/>
                </a:solidFill>
                <a:latin typeface="微软雅黑" panose="020B0503020204020204" charset="-122"/>
                <a:ea typeface="微软雅黑" panose="020B0503020204020204" charset="-122"/>
              </a:rPr>
              <a:t>接口与机制实验</a:t>
            </a:r>
            <a:endParaRPr lang="zh-CN" sz="2175" b="1">
              <a:solidFill>
                <a:srgbClr val="FFFFFF"/>
              </a:solidFill>
              <a:latin typeface="微软雅黑" panose="020B0503020204020204" charset="-122"/>
              <a:ea typeface="微软雅黑" panose="020B0503020204020204" charset="-122"/>
            </a:endParaRPr>
          </a:p>
        </p:txBody>
      </p:sp>
      <p:sp>
        <p:nvSpPr>
          <p:cNvPr id="1257" name="文本框 1256"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05 </a:t>
            </a:r>
            <a:r>
              <a:rPr lang="zh-CN" sz="1125">
                <a:solidFill>
                  <a:srgbClr val="AFC6E8"/>
                </a:solidFill>
                <a:latin typeface="微软雅黑" panose="020B0503020204020204" charset="-122"/>
                <a:ea typeface="微软雅黑" panose="020B0503020204020204" charset="-122"/>
              </a:rPr>
              <a:t>研究基础、进度与预期成果</a:t>
            </a:r>
            <a:endParaRPr lang="zh-CN" sz="1125">
              <a:solidFill>
                <a:srgbClr val="AFC6E8"/>
              </a:solidFill>
              <a:latin typeface="微软雅黑" panose="020B0503020204020204" charset="-122"/>
              <a:ea typeface="微软雅黑" panose="020B0503020204020204" charset="-122"/>
            </a:endParaRPr>
          </a:p>
        </p:txBody>
      </p:sp>
      <p:sp>
        <p:nvSpPr>
          <p:cNvPr id="1258" name="圆角矩形 1257"/>
          <p:cNvSpPr/>
          <p:nvPr/>
        </p:nvSpPr>
        <p:spPr>
          <a:xfrm>
            <a:off x="11468100" y="238125"/>
            <a:ext cx="342900" cy="219075"/>
          </a:xfrm>
          <a:prstGeom prst="roundRect">
            <a:avLst>
              <a:gd name="adj" fmla="val 13043"/>
            </a:avLst>
          </a:prstGeom>
          <a:solidFill>
            <a:srgbClr val="FFC107"/>
          </a:solidFill>
        </p:spPr>
        <p:txBody>
          <a:bodyPr/>
          <a:p/>
        </p:txBody>
      </p:sp>
      <p:sp>
        <p:nvSpPr>
          <p:cNvPr id="1259" name="文本框 125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32</a:t>
            </a:r>
            <a:endParaRPr lang="en-US" sz="1050" b="1">
              <a:solidFill>
                <a:srgbClr val="0B3A82"/>
              </a:solidFill>
              <a:latin typeface="微软雅黑" panose="020B0503020204020204" charset="-122"/>
              <a:ea typeface="微软雅黑" panose="020B0503020204020204" charset="-122"/>
            </a:endParaRPr>
          </a:p>
        </p:txBody>
      </p:sp>
      <p:sp>
        <p:nvSpPr>
          <p:cNvPr id="1260" name="圆角矩形 1259"/>
          <p:cNvSpPr/>
          <p:nvPr/>
        </p:nvSpPr>
        <p:spPr>
          <a:xfrm>
            <a:off x="381000" y="847725"/>
            <a:ext cx="3733800" cy="3009900"/>
          </a:xfrm>
          <a:prstGeom prst="roundRect">
            <a:avLst>
              <a:gd name="adj" fmla="val 1899"/>
            </a:avLst>
          </a:prstGeom>
          <a:solidFill>
            <a:srgbClr val="F7F9FC"/>
          </a:solidFill>
        </p:spPr>
        <p:txBody>
          <a:bodyPr/>
          <a:p/>
        </p:txBody>
      </p:sp>
      <p:sp>
        <p:nvSpPr>
          <p:cNvPr id="1261" name="任意多边形 1260"/>
          <p:cNvSpPr/>
          <p:nvPr/>
        </p:nvSpPr>
        <p:spPr>
          <a:xfrm>
            <a:off x="381000" y="847725"/>
            <a:ext cx="3733800" cy="3009900"/>
          </a:xfrm>
          <a:custGeom>
            <a:avLst/>
            <a:gdLst/>
            <a:ahLst/>
            <a:cxnLst/>
            <a:pathLst>
              <a:path w="392" h="316">
                <a:moveTo>
                  <a:pt x="386" y="0"/>
                </a:moveTo>
                <a:cubicBezTo>
                  <a:pt x="389" y="0"/>
                  <a:pt x="392" y="3"/>
                  <a:pt x="392" y="6"/>
                </a:cubicBezTo>
                <a:cubicBezTo>
                  <a:pt x="392" y="5"/>
                  <a:pt x="391" y="5"/>
                  <a:pt x="391" y="5"/>
                </a:cubicBezTo>
                <a:lnTo>
                  <a:pt x="1" y="5"/>
                </a:lnTo>
                <a:cubicBezTo>
                  <a:pt x="0" y="5"/>
                  <a:pt x="0" y="5"/>
                  <a:pt x="0" y="6"/>
                </a:cubicBezTo>
                <a:cubicBezTo>
                  <a:pt x="0" y="3"/>
                  <a:pt x="3" y="0"/>
                  <a:pt x="6" y="0"/>
                </a:cubicBezTo>
                <a:lnTo>
                  <a:pt x="386" y="0"/>
                </a:lnTo>
                <a:close/>
              </a:path>
            </a:pathLst>
          </a:custGeom>
          <a:solidFill>
            <a:srgbClr val="1E4FA8"/>
          </a:solidFill>
        </p:spPr>
        <p:txBody>
          <a:bodyPr/>
          <a:p/>
        </p:txBody>
      </p:sp>
      <p:pic>
        <p:nvPicPr>
          <p:cNvPr id="1262" name="图片 1261"/>
          <p:cNvPicPr>
            <a:picLocks noChangeAspect="1"/>
          </p:cNvPicPr>
          <p:nvPr/>
        </p:nvPicPr>
        <p:blipFill>
          <a:blip/>
          <a:stretch>
            <a:fillRect/>
          </a:stretch>
        </p:blipFill>
        <p:spPr>
          <a:xfrm>
            <a:off x="504825" y="990600"/>
            <a:ext cx="190500" cy="190500"/>
          </a:xfrm>
          <a:prstGeom prst="rect">
            <a:avLst/>
          </a:prstGeom>
        </p:spPr>
      </p:pic>
      <p:sp>
        <p:nvSpPr>
          <p:cNvPr id="1263" name="文本框 1262" descr="{&quot;isTemplate&quot;:true,&quot;type&quot;:&quot;text&quot;}"/>
          <p:cNvSpPr txBox="1"/>
          <p:nvPr/>
        </p:nvSpPr>
        <p:spPr>
          <a:xfrm>
            <a:off x="771525" y="971550"/>
            <a:ext cx="2352675"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已完成｜通用城市水系统骨架</a:t>
            </a:r>
            <a:endParaRPr lang="zh-CN" sz="1425" b="1">
              <a:solidFill>
                <a:srgbClr val="0E3F8C"/>
              </a:solidFill>
              <a:latin typeface="微软雅黑" panose="020B0503020204020204" charset="-122"/>
              <a:ea typeface="微软雅黑" panose="020B0503020204020204" charset="-122"/>
            </a:endParaRPr>
          </a:p>
        </p:txBody>
      </p:sp>
      <p:sp>
        <p:nvSpPr>
          <p:cNvPr id="1264" name="文本框 1263" descr="{&quot;isTemplate&quot;:true,&quot;type&quot;:&quot;text&quot;}"/>
          <p:cNvSpPr txBox="1"/>
          <p:nvPr/>
        </p:nvSpPr>
        <p:spPr>
          <a:xfrm>
            <a:off x="504825" y="1266825"/>
            <a:ext cx="3486150"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　节点与路径网络表示，区分外部输入、内部回用与最终排放</a:t>
            </a:r>
            <a:endParaRPr lang="zh-CN" sz="1165">
              <a:solidFill>
                <a:srgbClr val="1A2230"/>
              </a:solidFill>
              <a:latin typeface="微软雅黑" panose="020B0503020204020204" charset="-122"/>
              <a:ea typeface="微软雅黑" panose="020B0503020204020204" charset="-122"/>
            </a:endParaRPr>
          </a:p>
        </p:txBody>
      </p:sp>
      <p:sp>
        <p:nvSpPr>
          <p:cNvPr id="1265" name="文本框 1264" descr="{&quot;isTemplate&quot;:true,&quot;type&quot;:&quot;text&quot;}"/>
          <p:cNvSpPr txBox="1"/>
          <p:nvPr/>
        </p:nvSpPr>
        <p:spPr>
          <a:xfrm>
            <a:off x="504825" y="1800225"/>
            <a:ext cx="3486150"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　水源、给水、终端需求、污水与再生利用的日尺度计算模块</a:t>
            </a:r>
            <a:endParaRPr lang="zh-CN" sz="1165">
              <a:solidFill>
                <a:srgbClr val="1A2230"/>
              </a:solidFill>
              <a:latin typeface="微软雅黑" panose="020B0503020204020204" charset="-122"/>
              <a:ea typeface="微软雅黑" panose="020B0503020204020204" charset="-122"/>
            </a:endParaRPr>
          </a:p>
        </p:txBody>
      </p:sp>
      <p:sp>
        <p:nvSpPr>
          <p:cNvPr id="1266" name="文本框 1265" descr="{&quot;isTemplate&quot;:true,&quot;type&quot;:&quot;text&quot;}"/>
          <p:cNvSpPr txBox="1"/>
          <p:nvPr/>
        </p:nvSpPr>
        <p:spPr>
          <a:xfrm>
            <a:off x="504825" y="2333625"/>
            <a:ext cx="3486150" cy="266700"/>
          </a:xfrm>
          <a:prstGeom prst="rect">
            <a:avLst/>
          </a:prstGeom>
        </p:spPr>
        <p:txBody>
          <a:bodyPr wrap="none" lIns="0" tIns="0" rIns="0" bIns="0"/>
          <a:p>
            <a:pPr>
              <a:lnSpc>
                <a:spcPct val="150000"/>
              </a:lnSpc>
            </a:pPr>
            <a:r>
              <a:rPr lang="zh-CN" sz="1165">
                <a:solidFill>
                  <a:srgbClr val="1A2230"/>
                </a:solidFill>
                <a:latin typeface="微软雅黑" panose="020B0503020204020204" charset="-122"/>
                <a:ea typeface="微软雅黑" panose="020B0503020204020204" charset="-122"/>
              </a:rPr>
              <a:t>·　逐节点水量闭合核算与储量记录</a:t>
            </a:r>
            <a:endParaRPr lang="zh-CN" sz="1165">
              <a:solidFill>
                <a:srgbClr val="1A2230"/>
              </a:solidFill>
              <a:latin typeface="微软雅黑" panose="020B0503020204020204" charset="-122"/>
              <a:ea typeface="微软雅黑" panose="020B0503020204020204" charset="-122"/>
            </a:endParaRPr>
          </a:p>
        </p:txBody>
      </p:sp>
      <p:sp>
        <p:nvSpPr>
          <p:cNvPr id="1267" name="文本框 1266" descr="{&quot;isTemplate&quot;:true,&quot;type&quot;:&quot;text&quot;}"/>
          <p:cNvSpPr txBox="1"/>
          <p:nvPr/>
        </p:nvSpPr>
        <p:spPr>
          <a:xfrm>
            <a:off x="504825" y="2600325"/>
            <a:ext cx="3486150"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　情景切换与批量运行接口，支持版本记录与结果审计</a:t>
            </a:r>
            <a:endParaRPr lang="zh-CN" sz="1165">
              <a:solidFill>
                <a:srgbClr val="1A2230"/>
              </a:solidFill>
              <a:latin typeface="微软雅黑" panose="020B0503020204020204" charset="-122"/>
              <a:ea typeface="微软雅黑" panose="020B0503020204020204" charset="-122"/>
            </a:endParaRPr>
          </a:p>
        </p:txBody>
      </p:sp>
      <p:sp>
        <p:nvSpPr>
          <p:cNvPr id="1268" name="圆角矩形 1267"/>
          <p:cNvSpPr/>
          <p:nvPr/>
        </p:nvSpPr>
        <p:spPr>
          <a:xfrm>
            <a:off x="4229100" y="847725"/>
            <a:ext cx="3733800" cy="3009900"/>
          </a:xfrm>
          <a:prstGeom prst="roundRect">
            <a:avLst>
              <a:gd name="adj" fmla="val 1899"/>
            </a:avLst>
          </a:prstGeom>
          <a:solidFill>
            <a:srgbClr val="0E3F8C"/>
          </a:solidFill>
        </p:spPr>
        <p:txBody>
          <a:bodyPr/>
          <a:p/>
        </p:txBody>
      </p:sp>
      <p:sp>
        <p:nvSpPr>
          <p:cNvPr id="1269" name="任意多边形 1268"/>
          <p:cNvSpPr/>
          <p:nvPr/>
        </p:nvSpPr>
        <p:spPr>
          <a:xfrm>
            <a:off x="4229100" y="847725"/>
            <a:ext cx="3733800" cy="3009900"/>
          </a:xfrm>
          <a:custGeom>
            <a:avLst/>
            <a:gdLst/>
            <a:ahLst/>
            <a:cxnLst/>
            <a:pathLst>
              <a:path w="392" h="316">
                <a:moveTo>
                  <a:pt x="386" y="0"/>
                </a:moveTo>
                <a:cubicBezTo>
                  <a:pt x="389" y="0"/>
                  <a:pt x="392" y="3"/>
                  <a:pt x="392" y="6"/>
                </a:cubicBezTo>
                <a:cubicBezTo>
                  <a:pt x="392" y="5"/>
                  <a:pt x="391" y="5"/>
                  <a:pt x="391" y="5"/>
                </a:cubicBezTo>
                <a:lnTo>
                  <a:pt x="1" y="5"/>
                </a:lnTo>
                <a:cubicBezTo>
                  <a:pt x="0" y="5"/>
                  <a:pt x="0" y="5"/>
                  <a:pt x="0" y="6"/>
                </a:cubicBezTo>
                <a:cubicBezTo>
                  <a:pt x="0" y="3"/>
                  <a:pt x="3" y="0"/>
                  <a:pt x="6" y="0"/>
                </a:cubicBezTo>
                <a:lnTo>
                  <a:pt x="386" y="0"/>
                </a:lnTo>
                <a:close/>
              </a:path>
            </a:pathLst>
          </a:custGeom>
          <a:solidFill>
            <a:srgbClr val="FFC107"/>
          </a:solidFill>
        </p:spPr>
        <p:txBody>
          <a:bodyPr/>
          <a:p/>
        </p:txBody>
      </p:sp>
      <p:pic>
        <p:nvPicPr>
          <p:cNvPr id="1270" name="图片 1269"/>
          <p:cNvPicPr>
            <a:picLocks noChangeAspect="1"/>
          </p:cNvPicPr>
          <p:nvPr/>
        </p:nvPicPr>
        <p:blipFill>
          <a:blip/>
          <a:stretch>
            <a:fillRect/>
          </a:stretch>
        </p:blipFill>
        <p:spPr>
          <a:xfrm>
            <a:off x="4352925" y="990600"/>
            <a:ext cx="190500" cy="190500"/>
          </a:xfrm>
          <a:prstGeom prst="rect">
            <a:avLst/>
          </a:prstGeom>
        </p:spPr>
      </p:pic>
      <p:sp>
        <p:nvSpPr>
          <p:cNvPr id="1271" name="文本框 1270" descr="{&quot;isTemplate&quot;:true,&quot;type&quot;:&quot;text&quot;}"/>
          <p:cNvSpPr txBox="1"/>
          <p:nvPr/>
        </p:nvSpPr>
        <p:spPr>
          <a:xfrm>
            <a:off x="4619625" y="971550"/>
            <a:ext cx="2971800"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原型完善中｜</a:t>
            </a:r>
            <a:r>
              <a:rPr lang="en-US" sz="1425" b="1">
                <a:solidFill>
                  <a:srgbClr val="FFFFFF"/>
                </a:solidFill>
                <a:latin typeface="微软雅黑" panose="020B0503020204020204" charset="-122"/>
                <a:ea typeface="微软雅黑" panose="020B0503020204020204" charset="-122"/>
              </a:rPr>
              <a:t>AI </a:t>
            </a:r>
            <a:r>
              <a:rPr lang="zh-CN" sz="1425" b="1">
                <a:solidFill>
                  <a:srgbClr val="FFFFFF"/>
                </a:solidFill>
                <a:latin typeface="微软雅黑" panose="020B0503020204020204" charset="-122"/>
                <a:ea typeface="微软雅黑" panose="020B0503020204020204" charset="-122"/>
              </a:rPr>
              <a:t>设施接口与冷却模块</a:t>
            </a:r>
            <a:endParaRPr lang="zh-CN" sz="1425" b="1">
              <a:solidFill>
                <a:srgbClr val="FFFFFF"/>
              </a:solidFill>
              <a:latin typeface="微软雅黑" panose="020B0503020204020204" charset="-122"/>
              <a:ea typeface="微软雅黑" panose="020B0503020204020204" charset="-122"/>
            </a:endParaRPr>
          </a:p>
        </p:txBody>
      </p:sp>
      <p:sp>
        <p:nvSpPr>
          <p:cNvPr id="1272" name="文本框 1271" descr="{&quot;isTemplate&quot;:true,&quot;type&quot;:&quot;text&quot;}"/>
          <p:cNvSpPr txBox="1"/>
          <p:nvPr/>
        </p:nvSpPr>
        <p:spPr>
          <a:xfrm>
            <a:off x="4352925" y="1266825"/>
            <a:ext cx="3486150" cy="533400"/>
          </a:xfrm>
          <a:prstGeom prst="rect">
            <a:avLst/>
          </a:prstGeom>
        </p:spPr>
        <p:txBody>
          <a:bodyPr wrap="square" lIns="0" tIns="0" rIns="0" bIns="0">
            <a:normAutofit/>
          </a:bodyPr>
          <a:p>
            <a:pPr>
              <a:lnSpc>
                <a:spcPct val="150000"/>
              </a:lnSpc>
            </a:pPr>
            <a:r>
              <a:rPr lang="zh-CN" sz="1165">
                <a:solidFill>
                  <a:srgbClr val="E4EDF9"/>
                </a:solidFill>
                <a:latin typeface="微软雅黑" panose="020B0503020204020204" charset="-122"/>
                <a:ea typeface="微软雅黑" panose="020B0503020204020204" charset="-122"/>
              </a:rPr>
              <a:t>·　</a:t>
            </a:r>
            <a:r>
              <a:rPr lang="en-US" sz="1165">
                <a:solidFill>
                  <a:srgbClr val="E4EDF9"/>
                </a:solidFill>
                <a:latin typeface="微软雅黑" panose="020B0503020204020204" charset="-122"/>
                <a:ea typeface="微软雅黑" panose="020B0503020204020204" charset="-122"/>
              </a:rPr>
              <a:t>AI </a:t>
            </a:r>
            <a:r>
              <a:rPr lang="zh-CN" sz="1165">
                <a:solidFill>
                  <a:srgbClr val="E4EDF9"/>
                </a:solidFill>
                <a:latin typeface="微软雅黑" panose="020B0503020204020204" charset="-122"/>
                <a:ea typeface="微软雅黑" panose="020B0503020204020204" charset="-122"/>
              </a:rPr>
              <a:t>冷却节点接入：服务器侧热捕集</a:t>
            </a:r>
            <a:r>
              <a:rPr lang="en-US" sz="1165">
                <a:solidFill>
                  <a:srgbClr val="E4EDF9"/>
                </a:solidFill>
                <a:latin typeface="微软雅黑" panose="020B0503020204020204" charset="-122"/>
                <a:ea typeface="微软雅黑" panose="020B0503020204020204" charset="-122"/>
              </a:rPr>
              <a:t> × </a:t>
            </a:r>
            <a:r>
              <a:rPr lang="zh-CN" sz="1165">
                <a:solidFill>
                  <a:srgbClr val="E4EDF9"/>
                </a:solidFill>
                <a:latin typeface="微软雅黑" panose="020B0503020204020204" charset="-122"/>
                <a:ea typeface="微软雅黑" panose="020B0503020204020204" charset="-122"/>
              </a:rPr>
              <a:t>设施侧末端排热两层拆分</a:t>
            </a:r>
            <a:endParaRPr lang="zh-CN" sz="1165">
              <a:solidFill>
                <a:srgbClr val="E4EDF9"/>
              </a:solidFill>
              <a:latin typeface="微软雅黑" panose="020B0503020204020204" charset="-122"/>
              <a:ea typeface="微软雅黑" panose="020B0503020204020204" charset="-122"/>
            </a:endParaRPr>
          </a:p>
        </p:txBody>
      </p:sp>
      <p:sp>
        <p:nvSpPr>
          <p:cNvPr id="1273" name="文本框 1272" descr="{&quot;isTemplate&quot;:true,&quot;type&quot;:&quot;text&quot;}"/>
          <p:cNvSpPr txBox="1"/>
          <p:nvPr/>
        </p:nvSpPr>
        <p:spPr>
          <a:xfrm>
            <a:off x="4352925" y="1800225"/>
            <a:ext cx="3486150" cy="266700"/>
          </a:xfrm>
          <a:prstGeom prst="rect">
            <a:avLst/>
          </a:prstGeom>
        </p:spPr>
        <p:txBody>
          <a:bodyPr wrap="none" lIns="0" tIns="0" rIns="0" bIns="0"/>
          <a:p>
            <a:pPr>
              <a:lnSpc>
                <a:spcPct val="150000"/>
              </a:lnSpc>
            </a:pPr>
            <a:r>
              <a:rPr lang="zh-CN" sz="1165">
                <a:solidFill>
                  <a:srgbClr val="E4EDF9"/>
                </a:solidFill>
                <a:latin typeface="微软雅黑" panose="020B0503020204020204" charset="-122"/>
                <a:ea typeface="微软雅黑" panose="020B0503020204020204" charset="-122"/>
              </a:rPr>
              <a:t>·　两层冷却架构组合的比较能力（实验二对照所需）</a:t>
            </a:r>
            <a:endParaRPr lang="zh-CN" sz="1165">
              <a:solidFill>
                <a:srgbClr val="E4EDF9"/>
              </a:solidFill>
              <a:latin typeface="微软雅黑" panose="020B0503020204020204" charset="-122"/>
              <a:ea typeface="微软雅黑" panose="020B0503020204020204" charset="-122"/>
            </a:endParaRPr>
          </a:p>
        </p:txBody>
      </p:sp>
      <p:sp>
        <p:nvSpPr>
          <p:cNvPr id="1274" name="文本框 1273" descr="{&quot;isTemplate&quot;:true,&quot;type&quot;:&quot;text&quot;}"/>
          <p:cNvSpPr txBox="1"/>
          <p:nvPr/>
        </p:nvSpPr>
        <p:spPr>
          <a:xfrm>
            <a:off x="4352925" y="2066925"/>
            <a:ext cx="3486150" cy="266700"/>
          </a:xfrm>
          <a:prstGeom prst="rect">
            <a:avLst/>
          </a:prstGeom>
        </p:spPr>
        <p:txBody>
          <a:bodyPr wrap="none" lIns="0" tIns="0" rIns="0" bIns="0"/>
          <a:p>
            <a:pPr>
              <a:lnSpc>
                <a:spcPct val="150000"/>
              </a:lnSpc>
            </a:pPr>
            <a:r>
              <a:rPr lang="zh-CN" sz="1165">
                <a:solidFill>
                  <a:srgbClr val="E4EDF9"/>
                </a:solidFill>
                <a:latin typeface="微软雅黑" panose="020B0503020204020204" charset="-122"/>
                <a:ea typeface="微软雅黑" panose="020B0503020204020204" charset="-122"/>
              </a:rPr>
              <a:t>·　四组实验的统一情景入口已在搭建</a:t>
            </a:r>
            <a:endParaRPr lang="zh-CN" sz="1165">
              <a:solidFill>
                <a:srgbClr val="E4EDF9"/>
              </a:solidFill>
              <a:latin typeface="微软雅黑" panose="020B0503020204020204" charset="-122"/>
              <a:ea typeface="微软雅黑" panose="020B0503020204020204" charset="-122"/>
            </a:endParaRPr>
          </a:p>
        </p:txBody>
      </p:sp>
      <p:sp>
        <p:nvSpPr>
          <p:cNvPr id="1275" name="圆角矩形 1274"/>
          <p:cNvSpPr/>
          <p:nvPr/>
        </p:nvSpPr>
        <p:spPr>
          <a:xfrm>
            <a:off x="4352925" y="3067050"/>
            <a:ext cx="3486150" cy="619125"/>
          </a:xfrm>
          <a:prstGeom prst="roundRect">
            <a:avLst>
              <a:gd name="adj" fmla="val 6154"/>
            </a:avLst>
          </a:prstGeom>
          <a:solidFill>
            <a:srgbClr val="12489A"/>
          </a:solidFill>
        </p:spPr>
        <p:txBody>
          <a:bodyPr/>
          <a:p/>
        </p:txBody>
      </p:sp>
      <p:sp>
        <p:nvSpPr>
          <p:cNvPr id="1276" name="文本框 1275" descr="{&quot;isTemplate&quot;:true,&quot;type&quot;:&quot;text&quot;}"/>
          <p:cNvSpPr txBox="1"/>
          <p:nvPr/>
        </p:nvSpPr>
        <p:spPr>
          <a:xfrm>
            <a:off x="4429125" y="3143250"/>
            <a:ext cx="3333750" cy="466725"/>
          </a:xfrm>
          <a:prstGeom prst="rect">
            <a:avLst/>
          </a:prstGeom>
        </p:spPr>
        <p:txBody>
          <a:bodyPr wrap="square" lIns="0" tIns="0" rIns="0" bIns="0">
            <a:normAutofit/>
          </a:bodyPr>
          <a:p>
            <a:pPr>
              <a:lnSpc>
                <a:spcPct val="135000"/>
              </a:lnSpc>
            </a:pPr>
            <a:r>
              <a:rPr lang="zh-CN" sz="1125">
                <a:solidFill>
                  <a:srgbClr val="FFC107"/>
                </a:solidFill>
                <a:latin typeface="微软雅黑" panose="020B0503020204020204" charset="-122"/>
                <a:ea typeface="微软雅黑" panose="020B0503020204020204" charset="-122"/>
              </a:rPr>
              <a:t>接口已设计并部分实现，校核与完善在论文第一阶段完成</a:t>
            </a:r>
            <a:endParaRPr lang="zh-CN" sz="1125">
              <a:solidFill>
                <a:srgbClr val="FFC107"/>
              </a:solidFill>
              <a:latin typeface="微软雅黑" panose="020B0503020204020204" charset="-122"/>
              <a:ea typeface="微软雅黑" panose="020B0503020204020204" charset="-122"/>
            </a:endParaRPr>
          </a:p>
        </p:txBody>
      </p:sp>
      <p:sp>
        <p:nvSpPr>
          <p:cNvPr id="1277" name="圆角矩形 1276"/>
          <p:cNvSpPr/>
          <p:nvPr/>
        </p:nvSpPr>
        <p:spPr>
          <a:xfrm>
            <a:off x="8077200" y="847725"/>
            <a:ext cx="3733800" cy="3009900"/>
          </a:xfrm>
          <a:prstGeom prst="roundRect">
            <a:avLst>
              <a:gd name="adj" fmla="val 1899"/>
            </a:avLst>
          </a:prstGeom>
          <a:solidFill>
            <a:srgbClr val="F7F9FC"/>
          </a:solidFill>
        </p:spPr>
        <p:txBody>
          <a:bodyPr/>
          <a:p/>
        </p:txBody>
      </p:sp>
      <p:sp>
        <p:nvSpPr>
          <p:cNvPr id="1278" name="任意多边形 1277"/>
          <p:cNvSpPr/>
          <p:nvPr/>
        </p:nvSpPr>
        <p:spPr>
          <a:xfrm>
            <a:off x="8077200" y="847725"/>
            <a:ext cx="3733800" cy="3009900"/>
          </a:xfrm>
          <a:custGeom>
            <a:avLst/>
            <a:gdLst/>
            <a:ahLst/>
            <a:cxnLst/>
            <a:pathLst>
              <a:path w="392" h="316">
                <a:moveTo>
                  <a:pt x="386" y="0"/>
                </a:moveTo>
                <a:cubicBezTo>
                  <a:pt x="389" y="0"/>
                  <a:pt x="392" y="3"/>
                  <a:pt x="392" y="6"/>
                </a:cubicBezTo>
                <a:cubicBezTo>
                  <a:pt x="392" y="5"/>
                  <a:pt x="391" y="5"/>
                  <a:pt x="391" y="5"/>
                </a:cubicBezTo>
                <a:lnTo>
                  <a:pt x="1" y="5"/>
                </a:lnTo>
                <a:cubicBezTo>
                  <a:pt x="0" y="5"/>
                  <a:pt x="0" y="5"/>
                  <a:pt x="0" y="6"/>
                </a:cubicBezTo>
                <a:cubicBezTo>
                  <a:pt x="0" y="3"/>
                  <a:pt x="3" y="0"/>
                  <a:pt x="6" y="0"/>
                </a:cubicBezTo>
                <a:lnTo>
                  <a:pt x="386" y="0"/>
                </a:lnTo>
                <a:close/>
              </a:path>
            </a:pathLst>
          </a:custGeom>
          <a:solidFill>
            <a:srgbClr val="8B97A8"/>
          </a:solidFill>
        </p:spPr>
        <p:txBody>
          <a:bodyPr/>
          <a:p/>
        </p:txBody>
      </p:sp>
      <p:pic>
        <p:nvPicPr>
          <p:cNvPr id="1279" name="图片 1278"/>
          <p:cNvPicPr>
            <a:picLocks noChangeAspect="1"/>
          </p:cNvPicPr>
          <p:nvPr/>
        </p:nvPicPr>
        <p:blipFill>
          <a:blip/>
          <a:stretch>
            <a:fillRect/>
          </a:stretch>
        </p:blipFill>
        <p:spPr>
          <a:xfrm>
            <a:off x="8201025" y="990600"/>
            <a:ext cx="190500" cy="190500"/>
          </a:xfrm>
          <a:prstGeom prst="rect">
            <a:avLst/>
          </a:prstGeom>
        </p:spPr>
      </p:pic>
      <p:sp>
        <p:nvSpPr>
          <p:cNvPr id="1280" name="文本框 1279" descr="{&quot;isTemplate&quot;:true,&quot;type&quot;:&quot;text&quot;}"/>
          <p:cNvSpPr txBox="1"/>
          <p:nvPr/>
        </p:nvSpPr>
        <p:spPr>
          <a:xfrm>
            <a:off x="8467725" y="971550"/>
            <a:ext cx="2714625" cy="219075"/>
          </a:xfrm>
          <a:prstGeom prst="rect">
            <a:avLst/>
          </a:prstGeom>
        </p:spPr>
        <p:txBody>
          <a:bodyPr wrap="none" lIns="0" tIns="0" rIns="0" bIns="0"/>
          <a:p>
            <a:pPr>
              <a:lnSpc>
                <a:spcPct val="100000"/>
              </a:lnSpc>
            </a:pPr>
            <a:r>
              <a:rPr lang="zh-CN" sz="1425" b="1">
                <a:solidFill>
                  <a:srgbClr val="4A5568"/>
                </a:solidFill>
                <a:latin typeface="微软雅黑" panose="020B0503020204020204" charset="-122"/>
                <a:ea typeface="微软雅黑" panose="020B0503020204020204" charset="-122"/>
              </a:rPr>
              <a:t>论文待完成｜机制实验与边界分析</a:t>
            </a:r>
            <a:endParaRPr lang="zh-CN" sz="1425" b="1">
              <a:solidFill>
                <a:srgbClr val="4A5568"/>
              </a:solidFill>
              <a:latin typeface="微软雅黑" panose="020B0503020204020204" charset="-122"/>
              <a:ea typeface="微软雅黑" panose="020B0503020204020204" charset="-122"/>
            </a:endParaRPr>
          </a:p>
        </p:txBody>
      </p:sp>
      <p:sp>
        <p:nvSpPr>
          <p:cNvPr id="1281" name="文本框 1280" descr="{&quot;isTemplate&quot;:true,&quot;type&quot;:&quot;text&quot;}"/>
          <p:cNvSpPr txBox="1"/>
          <p:nvPr/>
        </p:nvSpPr>
        <p:spPr>
          <a:xfrm>
            <a:off x="8201025" y="1266825"/>
            <a:ext cx="3486150" cy="266700"/>
          </a:xfrm>
          <a:prstGeom prst="rect">
            <a:avLst/>
          </a:prstGeom>
        </p:spPr>
        <p:txBody>
          <a:bodyPr wrap="none" lIns="0" tIns="0" rIns="0" bIns="0"/>
          <a:p>
            <a:pPr>
              <a:lnSpc>
                <a:spcPct val="150000"/>
              </a:lnSpc>
            </a:pPr>
            <a:r>
              <a:rPr lang="zh-CN" sz="1165">
                <a:solidFill>
                  <a:srgbClr val="1A2230"/>
                </a:solidFill>
                <a:latin typeface="微软雅黑" panose="020B0503020204020204" charset="-122"/>
                <a:ea typeface="微软雅黑" panose="020B0503020204020204" charset="-122"/>
              </a:rPr>
              <a:t>·　参数校核、证据分级与分层数据方案落地</a:t>
            </a:r>
            <a:endParaRPr lang="zh-CN" sz="1165">
              <a:solidFill>
                <a:srgbClr val="1A2230"/>
              </a:solidFill>
              <a:latin typeface="微软雅黑" panose="020B0503020204020204" charset="-122"/>
              <a:ea typeface="微软雅黑" panose="020B0503020204020204" charset="-122"/>
            </a:endParaRPr>
          </a:p>
        </p:txBody>
      </p:sp>
      <p:sp>
        <p:nvSpPr>
          <p:cNvPr id="1282" name="文本框 1281" descr="{&quot;isTemplate&quot;:true,&quot;type&quot;:&quot;text&quot;}"/>
          <p:cNvSpPr txBox="1"/>
          <p:nvPr/>
        </p:nvSpPr>
        <p:spPr>
          <a:xfrm>
            <a:off x="8201025" y="1533525"/>
            <a:ext cx="3486150" cy="266700"/>
          </a:xfrm>
          <a:prstGeom prst="rect">
            <a:avLst/>
          </a:prstGeom>
        </p:spPr>
        <p:txBody>
          <a:bodyPr wrap="none" lIns="0" tIns="0" rIns="0" bIns="0"/>
          <a:p>
            <a:pPr>
              <a:lnSpc>
                <a:spcPct val="150000"/>
              </a:lnSpc>
            </a:pPr>
            <a:r>
              <a:rPr lang="zh-CN" sz="1165">
                <a:solidFill>
                  <a:srgbClr val="1A2230"/>
                </a:solidFill>
                <a:latin typeface="微软雅黑" panose="020B0503020204020204" charset="-122"/>
                <a:ea typeface="微软雅黑" panose="020B0503020204020204" charset="-122"/>
              </a:rPr>
              <a:t>·　四组控制实验运行与结果分析</a:t>
            </a:r>
            <a:endParaRPr lang="zh-CN" sz="1165">
              <a:solidFill>
                <a:srgbClr val="1A2230"/>
              </a:solidFill>
              <a:latin typeface="微软雅黑" panose="020B0503020204020204" charset="-122"/>
              <a:ea typeface="微软雅黑" panose="020B0503020204020204" charset="-122"/>
            </a:endParaRPr>
          </a:p>
        </p:txBody>
      </p:sp>
      <p:sp>
        <p:nvSpPr>
          <p:cNvPr id="1283" name="文本框 1282" descr="{&quot;isTemplate&quot;:true,&quot;type&quot;:&quot;text&quot;}"/>
          <p:cNvSpPr txBox="1"/>
          <p:nvPr/>
        </p:nvSpPr>
        <p:spPr>
          <a:xfrm>
            <a:off x="8201025" y="1800225"/>
            <a:ext cx="3486150" cy="266700"/>
          </a:xfrm>
          <a:prstGeom prst="rect">
            <a:avLst/>
          </a:prstGeom>
        </p:spPr>
        <p:txBody>
          <a:bodyPr wrap="none" lIns="0" tIns="0" rIns="0" bIns="0"/>
          <a:p>
            <a:pPr>
              <a:lnSpc>
                <a:spcPct val="150000"/>
              </a:lnSpc>
            </a:pPr>
            <a:r>
              <a:rPr lang="zh-CN" sz="1165">
                <a:solidFill>
                  <a:srgbClr val="1A2230"/>
                </a:solidFill>
                <a:latin typeface="微软雅黑" panose="020B0503020204020204" charset="-122"/>
                <a:ea typeface="微软雅黑" panose="020B0503020204020204" charset="-122"/>
              </a:rPr>
              <a:t>·　</a:t>
            </a:r>
            <a:r>
              <a:rPr lang="en-US" sz="1165">
                <a:solidFill>
                  <a:srgbClr val="1A2230"/>
                </a:solidFill>
                <a:latin typeface="微软雅黑" panose="020B0503020204020204" charset="-122"/>
                <a:ea typeface="微软雅黑" panose="020B0503020204020204" charset="-122"/>
              </a:rPr>
              <a:t>CAWCC </a:t>
            </a:r>
            <a:r>
              <a:rPr lang="zh-CN" sz="1165">
                <a:solidFill>
                  <a:srgbClr val="1A2230"/>
                </a:solidFill>
                <a:latin typeface="微软雅黑" panose="020B0503020204020204" charset="-122"/>
                <a:ea typeface="微软雅黑" panose="020B0503020204020204" charset="-122"/>
              </a:rPr>
              <a:t>求解、瓶颈迁移与适用参数域归纳</a:t>
            </a:r>
            <a:endParaRPr lang="zh-CN" sz="1165">
              <a:solidFill>
                <a:srgbClr val="1A2230"/>
              </a:solidFill>
              <a:latin typeface="微软雅黑" panose="020B0503020204020204" charset="-122"/>
              <a:ea typeface="微软雅黑" panose="020B0503020204020204" charset="-122"/>
            </a:endParaRPr>
          </a:p>
        </p:txBody>
      </p:sp>
      <p:sp>
        <p:nvSpPr>
          <p:cNvPr id="1284" name="文本框 1283" descr="{&quot;isTemplate&quot;:true,&quot;type&quot;:&quot;text&quot;}"/>
          <p:cNvSpPr txBox="1"/>
          <p:nvPr/>
        </p:nvSpPr>
        <p:spPr>
          <a:xfrm>
            <a:off x="8201025" y="2066925"/>
            <a:ext cx="3486150" cy="266700"/>
          </a:xfrm>
          <a:prstGeom prst="rect">
            <a:avLst/>
          </a:prstGeom>
        </p:spPr>
        <p:txBody>
          <a:bodyPr wrap="none" lIns="0" tIns="0" rIns="0" bIns="0"/>
          <a:p>
            <a:pPr>
              <a:lnSpc>
                <a:spcPct val="150000"/>
              </a:lnSpc>
            </a:pPr>
            <a:r>
              <a:rPr lang="zh-CN" sz="1165">
                <a:solidFill>
                  <a:srgbClr val="1A2230"/>
                </a:solidFill>
                <a:latin typeface="微软雅黑" panose="020B0503020204020204" charset="-122"/>
                <a:ea typeface="微软雅黑" panose="020B0503020204020204" charset="-122"/>
              </a:rPr>
              <a:t>·　敏感性与稳健性检验、论文写作</a:t>
            </a:r>
            <a:endParaRPr lang="zh-CN" sz="1165">
              <a:solidFill>
                <a:srgbClr val="1A2230"/>
              </a:solidFill>
              <a:latin typeface="微软雅黑" panose="020B0503020204020204" charset="-122"/>
              <a:ea typeface="微软雅黑" panose="020B0503020204020204" charset="-122"/>
            </a:endParaRPr>
          </a:p>
        </p:txBody>
      </p:sp>
      <p:sp>
        <p:nvSpPr>
          <p:cNvPr id="1285" name="圆角矩形 1284"/>
          <p:cNvSpPr/>
          <p:nvPr/>
        </p:nvSpPr>
        <p:spPr>
          <a:xfrm>
            <a:off x="381000" y="3924300"/>
            <a:ext cx="3724275" cy="1504950"/>
          </a:xfrm>
          <a:prstGeom prst="roundRect">
            <a:avLst>
              <a:gd name="adj" fmla="val 3797"/>
            </a:avLst>
          </a:prstGeom>
          <a:solidFill>
            <a:srgbClr val="F0F5FC"/>
          </a:solidFill>
          <a:ln w="12700">
            <a:solidFill>
              <a:srgbClr val="D6DCE5"/>
            </a:solidFill>
            <a:prstDash val="solid"/>
          </a:ln>
        </p:spPr>
        <p:txBody>
          <a:bodyPr/>
          <a:p/>
        </p:txBody>
      </p:sp>
      <p:sp>
        <p:nvSpPr>
          <p:cNvPr id="1286" name="圆角矩形 1285"/>
          <p:cNvSpPr/>
          <p:nvPr/>
        </p:nvSpPr>
        <p:spPr>
          <a:xfrm>
            <a:off x="495300" y="4038600"/>
            <a:ext cx="285750" cy="285750"/>
          </a:xfrm>
          <a:prstGeom prst="roundRect">
            <a:avLst>
              <a:gd name="adj" fmla="val 13333"/>
            </a:avLst>
          </a:prstGeom>
          <a:solidFill>
            <a:srgbClr val="1E4FA8"/>
          </a:solidFill>
        </p:spPr>
        <p:txBody>
          <a:bodyPr/>
          <a:p/>
        </p:txBody>
      </p:sp>
      <p:pic>
        <p:nvPicPr>
          <p:cNvPr id="1287" name="图片 1286"/>
          <p:cNvPicPr>
            <a:picLocks noChangeAspect="1"/>
          </p:cNvPicPr>
          <p:nvPr/>
        </p:nvPicPr>
        <p:blipFill>
          <a:blip/>
          <a:stretch>
            <a:fillRect/>
          </a:stretch>
        </p:blipFill>
        <p:spPr>
          <a:xfrm>
            <a:off x="561975" y="4105275"/>
            <a:ext cx="161925" cy="161925"/>
          </a:xfrm>
          <a:prstGeom prst="rect">
            <a:avLst/>
          </a:prstGeom>
        </p:spPr>
      </p:pic>
      <p:sp>
        <p:nvSpPr>
          <p:cNvPr id="1288" name="文本框 1287" descr="{&quot;isTemplate&quot;:true,&quot;type&quot;:&quot;text&quot;}"/>
          <p:cNvSpPr txBox="1"/>
          <p:nvPr/>
        </p:nvSpPr>
        <p:spPr>
          <a:xfrm>
            <a:off x="857250" y="4076700"/>
            <a:ext cx="102870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系统表示基础</a:t>
            </a:r>
            <a:endParaRPr lang="zh-CN" sz="1350" b="1">
              <a:solidFill>
                <a:srgbClr val="0E3F8C"/>
              </a:solidFill>
              <a:latin typeface="微软雅黑" panose="020B0503020204020204" charset="-122"/>
              <a:ea typeface="微软雅黑" panose="020B0503020204020204" charset="-122"/>
            </a:endParaRPr>
          </a:p>
        </p:txBody>
      </p:sp>
      <p:sp>
        <p:nvSpPr>
          <p:cNvPr id="1289" name="文本框 1288" descr="{&quot;isTemplate&quot;:true,&quot;type&quot;:&quot;text&quot;}"/>
          <p:cNvSpPr txBox="1"/>
          <p:nvPr/>
        </p:nvSpPr>
        <p:spPr>
          <a:xfrm>
            <a:off x="495300" y="4362450"/>
            <a:ext cx="3495675" cy="504825"/>
          </a:xfrm>
          <a:prstGeom prst="rect">
            <a:avLst/>
          </a:prstGeom>
        </p:spPr>
        <p:txBody>
          <a:bodyPr wrap="square" lIns="0" tIns="0" rIns="0" bIns="0">
            <a:normAutofit/>
          </a:bodyPr>
          <a:p>
            <a:pPr>
              <a:lnSpc>
                <a:spcPct val="145000"/>
              </a:lnSpc>
            </a:pPr>
            <a:r>
              <a:rPr lang="zh-CN" sz="1125">
                <a:solidFill>
                  <a:srgbClr val="1A2230"/>
                </a:solidFill>
                <a:latin typeface="微软雅黑" panose="020B0503020204020204" charset="-122"/>
                <a:ea typeface="微软雅黑" panose="020B0503020204020204" charset="-122"/>
              </a:rPr>
              <a:t>节点与路径网络就绪，</a:t>
            </a:r>
            <a:r>
              <a:rPr lang="en-US" sz="1125">
                <a:solidFill>
                  <a:srgbClr val="1A2230"/>
                </a:solidFill>
                <a:latin typeface="微软雅黑" panose="020B0503020204020204" charset="-122"/>
                <a:ea typeface="微软雅黑" panose="020B0503020204020204" charset="-122"/>
              </a:rPr>
              <a:t>AI </a:t>
            </a:r>
            <a:r>
              <a:rPr lang="zh-CN" sz="1125">
                <a:solidFill>
                  <a:srgbClr val="1A2230"/>
                </a:solidFill>
                <a:latin typeface="微软雅黑" panose="020B0503020204020204" charset="-122"/>
                <a:ea typeface="微软雅黑" panose="020B0503020204020204" charset="-122"/>
              </a:rPr>
              <a:t>节点可直接挂载，无需重定义系统边界。</a:t>
            </a:r>
            <a:endParaRPr lang="zh-CN" sz="1125">
              <a:solidFill>
                <a:srgbClr val="1A2230"/>
              </a:solidFill>
              <a:latin typeface="微软雅黑" panose="020B0503020204020204" charset="-122"/>
              <a:ea typeface="微软雅黑" panose="020B0503020204020204" charset="-122"/>
            </a:endParaRPr>
          </a:p>
        </p:txBody>
      </p:sp>
      <p:sp>
        <p:nvSpPr>
          <p:cNvPr id="1290" name="圆角矩形 1289"/>
          <p:cNvSpPr/>
          <p:nvPr/>
        </p:nvSpPr>
        <p:spPr>
          <a:xfrm>
            <a:off x="4238625" y="3924300"/>
            <a:ext cx="3714750" cy="1504950"/>
          </a:xfrm>
          <a:prstGeom prst="roundRect">
            <a:avLst>
              <a:gd name="adj" fmla="val 3797"/>
            </a:avLst>
          </a:prstGeom>
          <a:solidFill>
            <a:srgbClr val="F0F5FC"/>
          </a:solidFill>
          <a:ln w="12700">
            <a:solidFill>
              <a:srgbClr val="D6DCE5"/>
            </a:solidFill>
            <a:prstDash val="solid"/>
          </a:ln>
        </p:spPr>
        <p:txBody>
          <a:bodyPr/>
          <a:p/>
        </p:txBody>
      </p:sp>
      <p:sp>
        <p:nvSpPr>
          <p:cNvPr id="1291" name="圆角矩形 1290"/>
          <p:cNvSpPr/>
          <p:nvPr/>
        </p:nvSpPr>
        <p:spPr>
          <a:xfrm>
            <a:off x="4352925" y="4038600"/>
            <a:ext cx="285750" cy="285750"/>
          </a:xfrm>
          <a:prstGeom prst="roundRect">
            <a:avLst>
              <a:gd name="adj" fmla="val 13333"/>
            </a:avLst>
          </a:prstGeom>
          <a:solidFill>
            <a:srgbClr val="1E4FA8"/>
          </a:solidFill>
        </p:spPr>
        <p:txBody>
          <a:bodyPr/>
          <a:p/>
        </p:txBody>
      </p:sp>
      <p:pic>
        <p:nvPicPr>
          <p:cNvPr id="1292" name="图片 1291"/>
          <p:cNvPicPr>
            <a:picLocks noChangeAspect="1"/>
          </p:cNvPicPr>
          <p:nvPr/>
        </p:nvPicPr>
        <p:blipFill>
          <a:blip/>
          <a:stretch>
            <a:fillRect/>
          </a:stretch>
        </p:blipFill>
        <p:spPr>
          <a:xfrm>
            <a:off x="4419600" y="4105275"/>
            <a:ext cx="161925" cy="161925"/>
          </a:xfrm>
          <a:prstGeom prst="rect">
            <a:avLst/>
          </a:prstGeom>
        </p:spPr>
      </p:pic>
      <p:sp>
        <p:nvSpPr>
          <p:cNvPr id="1293" name="文本框 1292" descr="{&quot;isTemplate&quot;:true,&quot;type&quot;:&quot;text&quot;}"/>
          <p:cNvSpPr txBox="1"/>
          <p:nvPr/>
        </p:nvSpPr>
        <p:spPr>
          <a:xfrm>
            <a:off x="4714875" y="4076700"/>
            <a:ext cx="102870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过程拆分基础</a:t>
            </a:r>
            <a:endParaRPr lang="zh-CN" sz="1350" b="1">
              <a:solidFill>
                <a:srgbClr val="0E3F8C"/>
              </a:solidFill>
              <a:latin typeface="微软雅黑" panose="020B0503020204020204" charset="-122"/>
              <a:ea typeface="微软雅黑" panose="020B0503020204020204" charset="-122"/>
            </a:endParaRPr>
          </a:p>
        </p:txBody>
      </p:sp>
      <p:sp>
        <p:nvSpPr>
          <p:cNvPr id="1294" name="文本框 1293" descr="{&quot;isTemplate&quot;:true,&quot;type&quot;:&quot;text&quot;}"/>
          <p:cNvSpPr txBox="1"/>
          <p:nvPr/>
        </p:nvSpPr>
        <p:spPr>
          <a:xfrm>
            <a:off x="4352925" y="4362450"/>
            <a:ext cx="3486150" cy="504825"/>
          </a:xfrm>
          <a:prstGeom prst="rect">
            <a:avLst/>
          </a:prstGeom>
        </p:spPr>
        <p:txBody>
          <a:bodyPr wrap="square" lIns="0" tIns="0" rIns="0" bIns="0">
            <a:normAutofit/>
          </a:bodyPr>
          <a:p>
            <a:pPr>
              <a:lnSpc>
                <a:spcPct val="145000"/>
              </a:lnSpc>
            </a:pPr>
            <a:r>
              <a:rPr lang="zh-CN" sz="1125">
                <a:solidFill>
                  <a:srgbClr val="1A2230"/>
                </a:solidFill>
                <a:latin typeface="微软雅黑" panose="020B0503020204020204" charset="-122"/>
                <a:ea typeface="微软雅黑" panose="020B0503020204020204" charset="-122"/>
              </a:rPr>
              <a:t>服务器侧热捕集与末端排热已分开，可比较</a:t>
            </a:r>
            <a:r>
              <a:rPr lang="en-US" sz="1125">
                <a:solidFill>
                  <a:srgbClr val="1A2230"/>
                </a:solidFill>
                <a:latin typeface="微软雅黑" panose="020B0503020204020204" charset="-122"/>
                <a:ea typeface="微软雅黑" panose="020B0503020204020204" charset="-122"/>
              </a:rPr>
              <a:t>"</a:t>
            </a:r>
            <a:r>
              <a:rPr lang="zh-CN" sz="1125">
                <a:solidFill>
                  <a:srgbClr val="1A2230"/>
                </a:solidFill>
                <a:latin typeface="微软雅黑" panose="020B0503020204020204" charset="-122"/>
                <a:ea typeface="微软雅黑" panose="020B0503020204020204" charset="-122"/>
              </a:rPr>
              <a:t>两层架构</a:t>
            </a:r>
            <a:r>
              <a:rPr lang="en-US" sz="1125">
                <a:solidFill>
                  <a:srgbClr val="1A2230"/>
                </a:solidFill>
                <a:latin typeface="微软雅黑" panose="020B0503020204020204" charset="-122"/>
                <a:ea typeface="微软雅黑" panose="020B0503020204020204" charset="-122"/>
              </a:rPr>
              <a:t> × </a:t>
            </a:r>
            <a:r>
              <a:rPr lang="zh-CN" sz="1125">
                <a:solidFill>
                  <a:srgbClr val="1A2230"/>
                </a:solidFill>
                <a:latin typeface="微软雅黑" panose="020B0503020204020204" charset="-122"/>
                <a:ea typeface="微软雅黑" panose="020B0503020204020204" charset="-122"/>
              </a:rPr>
              <a:t>排热方式</a:t>
            </a:r>
            <a:r>
              <a:rPr lang="en-US" sz="1125">
                <a:solidFill>
                  <a:srgbClr val="1A2230"/>
                </a:solidFill>
                <a:latin typeface="微软雅黑" panose="020B0503020204020204" charset="-122"/>
                <a:ea typeface="微软雅黑" panose="020B0503020204020204" charset="-122"/>
              </a:rPr>
              <a:t>"</a:t>
            </a:r>
            <a:r>
              <a:rPr lang="zh-CN" sz="1125">
                <a:solidFill>
                  <a:srgbClr val="1A2230"/>
                </a:solidFill>
                <a:latin typeface="微软雅黑" panose="020B0503020204020204" charset="-122"/>
                <a:ea typeface="微软雅黑" panose="020B0503020204020204" charset="-122"/>
              </a:rPr>
              <a:t>组合。</a:t>
            </a:r>
            <a:endParaRPr lang="zh-CN" sz="1125">
              <a:solidFill>
                <a:srgbClr val="1A2230"/>
              </a:solidFill>
              <a:latin typeface="微软雅黑" panose="020B0503020204020204" charset="-122"/>
              <a:ea typeface="微软雅黑" panose="020B0503020204020204" charset="-122"/>
            </a:endParaRPr>
          </a:p>
        </p:txBody>
      </p:sp>
      <p:sp>
        <p:nvSpPr>
          <p:cNvPr id="1295" name="圆角矩形 1294"/>
          <p:cNvSpPr/>
          <p:nvPr/>
        </p:nvSpPr>
        <p:spPr>
          <a:xfrm>
            <a:off x="8086725" y="3924300"/>
            <a:ext cx="3724275" cy="1504950"/>
          </a:xfrm>
          <a:prstGeom prst="roundRect">
            <a:avLst>
              <a:gd name="adj" fmla="val 3797"/>
            </a:avLst>
          </a:prstGeom>
          <a:solidFill>
            <a:srgbClr val="F0F5FC"/>
          </a:solidFill>
          <a:ln w="12700">
            <a:solidFill>
              <a:srgbClr val="D6DCE5"/>
            </a:solidFill>
            <a:prstDash val="solid"/>
          </a:ln>
        </p:spPr>
        <p:txBody>
          <a:bodyPr/>
          <a:p/>
        </p:txBody>
      </p:sp>
      <p:sp>
        <p:nvSpPr>
          <p:cNvPr id="1296" name="圆角矩形 1295"/>
          <p:cNvSpPr/>
          <p:nvPr/>
        </p:nvSpPr>
        <p:spPr>
          <a:xfrm>
            <a:off x="8201025" y="4038600"/>
            <a:ext cx="285750" cy="285750"/>
          </a:xfrm>
          <a:prstGeom prst="roundRect">
            <a:avLst>
              <a:gd name="adj" fmla="val 13333"/>
            </a:avLst>
          </a:prstGeom>
          <a:solidFill>
            <a:srgbClr val="1E4FA8"/>
          </a:solidFill>
        </p:spPr>
        <p:txBody>
          <a:bodyPr/>
          <a:p/>
        </p:txBody>
      </p:sp>
      <p:pic>
        <p:nvPicPr>
          <p:cNvPr id="1297" name="图片 1296"/>
          <p:cNvPicPr>
            <a:picLocks noChangeAspect="1"/>
          </p:cNvPicPr>
          <p:nvPr/>
        </p:nvPicPr>
        <p:blipFill>
          <a:blip/>
          <a:stretch>
            <a:fillRect/>
          </a:stretch>
        </p:blipFill>
        <p:spPr>
          <a:xfrm>
            <a:off x="8267700" y="4105275"/>
            <a:ext cx="161925" cy="161925"/>
          </a:xfrm>
          <a:prstGeom prst="rect">
            <a:avLst/>
          </a:prstGeom>
        </p:spPr>
      </p:pic>
      <p:sp>
        <p:nvSpPr>
          <p:cNvPr id="1298" name="文本框 1297" descr="{&quot;isTemplate&quot;:true,&quot;type&quot;:&quot;text&quot;}"/>
          <p:cNvSpPr txBox="1"/>
          <p:nvPr/>
        </p:nvSpPr>
        <p:spPr>
          <a:xfrm>
            <a:off x="8562975" y="4076700"/>
            <a:ext cx="102870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参数证据基础</a:t>
            </a:r>
            <a:endParaRPr lang="zh-CN" sz="1350" b="1">
              <a:solidFill>
                <a:srgbClr val="0E3F8C"/>
              </a:solidFill>
              <a:latin typeface="微软雅黑" panose="020B0503020204020204" charset="-122"/>
              <a:ea typeface="微软雅黑" panose="020B0503020204020204" charset="-122"/>
            </a:endParaRPr>
          </a:p>
        </p:txBody>
      </p:sp>
      <p:sp>
        <p:nvSpPr>
          <p:cNvPr id="1299" name="文本框 1298" descr="{&quot;isTemplate&quot;:true,&quot;type&quot;:&quot;text&quot;}"/>
          <p:cNvSpPr txBox="1"/>
          <p:nvPr/>
        </p:nvSpPr>
        <p:spPr>
          <a:xfrm>
            <a:off x="8201025" y="4362450"/>
            <a:ext cx="3495675" cy="504825"/>
          </a:xfrm>
          <a:prstGeom prst="rect">
            <a:avLst/>
          </a:prstGeom>
        </p:spPr>
        <p:txBody>
          <a:bodyPr wrap="square" lIns="0" tIns="0" rIns="0" bIns="0">
            <a:normAutofit/>
          </a:bodyPr>
          <a:p>
            <a:pPr>
              <a:lnSpc>
                <a:spcPct val="145000"/>
              </a:lnSpc>
            </a:pPr>
            <a:r>
              <a:rPr lang="zh-CN" sz="1125">
                <a:solidFill>
                  <a:srgbClr val="1A2230"/>
                </a:solidFill>
                <a:latin typeface="微软雅黑" panose="020B0503020204020204" charset="-122"/>
                <a:ea typeface="微软雅黑" panose="020B0503020204020204" charset="-122"/>
              </a:rPr>
              <a:t>参数证据分级表已建立，与第</a:t>
            </a:r>
            <a:r>
              <a:rPr lang="en-US" sz="1125">
                <a:solidFill>
                  <a:srgbClr val="1A2230"/>
                </a:solidFill>
                <a:latin typeface="微软雅黑" panose="020B0503020204020204" charset="-122"/>
                <a:ea typeface="微软雅黑" panose="020B0503020204020204" charset="-122"/>
              </a:rPr>
              <a:t> 29 </a:t>
            </a:r>
            <a:r>
              <a:rPr lang="zh-CN" sz="1125">
                <a:solidFill>
                  <a:srgbClr val="1A2230"/>
                </a:solidFill>
                <a:latin typeface="微软雅黑" panose="020B0503020204020204" charset="-122"/>
                <a:ea typeface="微软雅黑" panose="020B0503020204020204" charset="-122"/>
              </a:rPr>
              <a:t>页分层数据方案直接衔接。</a:t>
            </a:r>
            <a:endParaRPr lang="zh-CN" sz="1125">
              <a:solidFill>
                <a:srgbClr val="1A2230"/>
              </a:solidFill>
              <a:latin typeface="微软雅黑" panose="020B0503020204020204" charset="-122"/>
              <a:ea typeface="微软雅黑" panose="020B0503020204020204" charset="-122"/>
            </a:endParaRPr>
          </a:p>
        </p:txBody>
      </p:sp>
      <p:sp>
        <p:nvSpPr>
          <p:cNvPr id="1300" name="矩形 1299"/>
          <p:cNvSpPr/>
          <p:nvPr/>
        </p:nvSpPr>
        <p:spPr>
          <a:xfrm>
            <a:off x="428625" y="5543550"/>
            <a:ext cx="11430000" cy="771525"/>
          </a:xfrm>
          <a:prstGeom prst="rect">
            <a:avLst/>
          </a:prstGeom>
          <a:solidFill>
            <a:srgbClr val="E8EFF8"/>
          </a:solidFill>
        </p:spPr>
        <p:txBody>
          <a:bodyPr/>
          <a:p/>
        </p:txBody>
      </p:sp>
      <p:sp>
        <p:nvSpPr>
          <p:cNvPr id="1301" name="任意多边形 1300"/>
          <p:cNvSpPr/>
          <p:nvPr/>
        </p:nvSpPr>
        <p:spPr>
          <a:xfrm>
            <a:off x="381000" y="5543550"/>
            <a:ext cx="11477625" cy="771525"/>
          </a:xfrm>
          <a:custGeom>
            <a:avLst/>
            <a:gdLst/>
            <a:ahLst/>
            <a:cxnLst/>
            <a:pathLst>
              <a:path w="1205" h="81">
                <a:moveTo>
                  <a:pt x="0" y="0"/>
                </a:moveTo>
                <a:lnTo>
                  <a:pt x="5" y="0"/>
                </a:lnTo>
                <a:lnTo>
                  <a:pt x="5" y="81"/>
                </a:lnTo>
                <a:lnTo>
                  <a:pt x="0" y="81"/>
                </a:lnTo>
                <a:close/>
              </a:path>
            </a:pathLst>
          </a:custGeom>
          <a:solidFill>
            <a:srgbClr val="1E4FA8"/>
          </a:solidFill>
        </p:spPr>
        <p:txBody>
          <a:bodyPr/>
          <a:p/>
        </p:txBody>
      </p:sp>
      <p:sp>
        <p:nvSpPr>
          <p:cNvPr id="1302" name="文本框 1301" descr="{&quot;isTemplate&quot;:true,&quot;type&quot;:&quot;text&quot;}"/>
          <p:cNvSpPr txBox="1"/>
          <p:nvPr/>
        </p:nvSpPr>
        <p:spPr>
          <a:xfrm>
            <a:off x="600075" y="5629275"/>
            <a:ext cx="11210925" cy="600075"/>
          </a:xfrm>
          <a:prstGeom prst="rect">
            <a:avLst/>
          </a:prstGeom>
        </p:spPr>
        <p:txBody>
          <a:bodyPr wrap="square" lIns="0" tIns="0" rIns="0" bIns="0">
            <a:normAutofit/>
          </a:bodyPr>
          <a:p>
            <a:pPr>
              <a:lnSpc>
                <a:spcPct val="140000"/>
              </a:lnSpc>
            </a:pPr>
            <a:r>
              <a:rPr lang="zh-CN" sz="1390">
                <a:solidFill>
                  <a:srgbClr val="1A2230"/>
                </a:solidFill>
                <a:latin typeface="微软雅黑" panose="020B0503020204020204" charset="-122"/>
                <a:ea typeface="微软雅黑" panose="020B0503020204020204" charset="-122"/>
              </a:rPr>
              <a:t>通用骨架开发已前置完成，论文阶段重点由基础框架开发转向</a:t>
            </a:r>
            <a:r>
              <a:rPr lang="en-US" sz="1390">
                <a:solidFill>
                  <a:srgbClr val="1A2230"/>
                </a:solidFill>
                <a:latin typeface="微软雅黑" panose="020B0503020204020204" charset="-122"/>
                <a:ea typeface="微软雅黑" panose="020B0503020204020204" charset="-122"/>
              </a:rPr>
              <a:t> AI </a:t>
            </a:r>
            <a:r>
              <a:rPr lang="zh-CN" sz="1390">
                <a:solidFill>
                  <a:srgbClr val="1A2230"/>
                </a:solidFill>
                <a:latin typeface="微软雅黑" panose="020B0503020204020204" charset="-122"/>
                <a:ea typeface="微软雅黑" panose="020B0503020204020204" charset="-122"/>
              </a:rPr>
              <a:t>节点完善与机制实验；三项基础对应</a:t>
            </a:r>
            <a:r>
              <a:rPr lang="en-US" sz="1390">
                <a:solidFill>
                  <a:srgbClr val="1A2230"/>
                </a:solidFill>
                <a:latin typeface="微软雅黑" panose="020B0503020204020204" charset="-122"/>
                <a:ea typeface="微软雅黑" panose="020B0503020204020204" charset="-122"/>
              </a:rPr>
              <a:t>"</a:t>
            </a:r>
            <a:r>
              <a:rPr lang="zh-CN" sz="1390">
                <a:solidFill>
                  <a:srgbClr val="1A2230"/>
                </a:solidFill>
                <a:latin typeface="微软雅黑" panose="020B0503020204020204" charset="-122"/>
                <a:ea typeface="微软雅黑" panose="020B0503020204020204" charset="-122"/>
              </a:rPr>
              <a:t>系统如何表示、过程如何计算、参数如何取值</a:t>
            </a:r>
            <a:r>
              <a:rPr lang="en-US" sz="1390">
                <a:solidFill>
                  <a:srgbClr val="1A2230"/>
                </a:solidFill>
                <a:latin typeface="微软雅黑" panose="020B0503020204020204" charset="-122"/>
                <a:ea typeface="微软雅黑" panose="020B0503020204020204" charset="-122"/>
              </a:rPr>
              <a:t>"</a:t>
            </a:r>
            <a:endParaRPr lang="en-US" sz="1390">
              <a:solidFill>
                <a:srgbClr val="1A2230"/>
              </a:solidFill>
              <a:latin typeface="微软雅黑" panose="020B0503020204020204" charset="-122"/>
              <a:ea typeface="微软雅黑" panose="020B0503020204020204" charset="-122"/>
            </a:endParaRPr>
          </a:p>
        </p:txBody>
      </p:sp>
      <p:sp>
        <p:nvSpPr>
          <p:cNvPr id="1303" name="任意多边形 1302"/>
          <p:cNvSpPr/>
          <p:nvPr/>
        </p:nvSpPr>
        <p:spPr>
          <a:xfrm>
            <a:off x="0" y="639127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304" name="文本框 1303" descr="{&quot;isTemplate&quot;:true,&quot;type&quot;:&quot;text&quot;}"/>
          <p:cNvSpPr txBox="1"/>
          <p:nvPr/>
        </p:nvSpPr>
        <p:spPr>
          <a:xfrm>
            <a:off x="381000" y="650557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305" name="文本框 1304" descr="{&quot;isTemplate&quot;:true,&quot;type&quot;:&quot;text&quot;}"/>
          <p:cNvSpPr txBox="1"/>
          <p:nvPr/>
        </p:nvSpPr>
        <p:spPr>
          <a:xfrm>
            <a:off x="11353800" y="650557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32 / 36</a:t>
            </a:r>
            <a:endParaRPr lang="en-US" sz="1050">
              <a:solidFill>
                <a:srgbClr val="1E4FA8"/>
              </a:solidFill>
              <a:latin typeface="微软雅黑" panose="020B0503020204020204" charset="-122"/>
              <a:ea typeface="微软雅黑" panose="020B0503020204020204" charset="-122"/>
            </a:endParaRPr>
          </a:p>
        </p:txBody>
      </p:sp>
      <p:sp>
        <p:nvSpPr>
          <p:cNvPr id="1306" name="矩形 1305"/>
          <p:cNvSpPr/>
          <p:nvPr/>
        </p:nvSpPr>
        <p:spPr>
          <a:xfrm>
            <a:off x="0" y="685800"/>
            <a:ext cx="57150" cy="1162050"/>
          </a:xfrm>
          <a:prstGeom prst="rect">
            <a:avLst/>
          </a:prstGeom>
          <a:solidFill>
            <a:srgbClr val="C9D6E8"/>
          </a:solidFill>
        </p:spPr>
        <p:txBody>
          <a:bodyPr/>
          <a:p/>
        </p:txBody>
      </p:sp>
      <p:sp>
        <p:nvSpPr>
          <p:cNvPr id="1307" name="矩形 1306"/>
          <p:cNvSpPr/>
          <p:nvPr/>
        </p:nvSpPr>
        <p:spPr>
          <a:xfrm>
            <a:off x="0" y="1847850"/>
            <a:ext cx="57150" cy="1162050"/>
          </a:xfrm>
          <a:prstGeom prst="rect">
            <a:avLst/>
          </a:prstGeom>
          <a:solidFill>
            <a:srgbClr val="C9D6E8"/>
          </a:solidFill>
        </p:spPr>
        <p:txBody>
          <a:bodyPr/>
          <a:p/>
        </p:txBody>
      </p:sp>
      <p:sp>
        <p:nvSpPr>
          <p:cNvPr id="1308" name="矩形 1307"/>
          <p:cNvSpPr/>
          <p:nvPr/>
        </p:nvSpPr>
        <p:spPr>
          <a:xfrm>
            <a:off x="0" y="3009900"/>
            <a:ext cx="57150" cy="1162050"/>
          </a:xfrm>
          <a:prstGeom prst="rect">
            <a:avLst/>
          </a:prstGeom>
          <a:solidFill>
            <a:srgbClr val="C9D6E8"/>
          </a:solidFill>
        </p:spPr>
        <p:txBody>
          <a:bodyPr/>
          <a:p/>
        </p:txBody>
      </p:sp>
      <p:sp>
        <p:nvSpPr>
          <p:cNvPr id="1309" name="矩形 1308"/>
          <p:cNvSpPr/>
          <p:nvPr/>
        </p:nvSpPr>
        <p:spPr>
          <a:xfrm>
            <a:off x="0" y="4171950"/>
            <a:ext cx="57150" cy="1162050"/>
          </a:xfrm>
          <a:prstGeom prst="rect">
            <a:avLst/>
          </a:prstGeom>
          <a:solidFill>
            <a:srgbClr val="C9D6E8"/>
          </a:solidFill>
        </p:spPr>
        <p:txBody>
          <a:bodyPr/>
          <a:p/>
        </p:txBody>
      </p:sp>
      <p:sp>
        <p:nvSpPr>
          <p:cNvPr id="1310" name="矩形 1309"/>
          <p:cNvSpPr/>
          <p:nvPr/>
        </p:nvSpPr>
        <p:spPr>
          <a:xfrm>
            <a:off x="0" y="5334000"/>
            <a:ext cx="57150" cy="1143000"/>
          </a:xfrm>
          <a:prstGeom prst="rect">
            <a:avLst/>
          </a:prstGeom>
          <a:solidFill>
            <a:srgbClr val="FFC107"/>
          </a:solidFill>
        </p:spPr>
        <p:txBody>
          <a:body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31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calendar' style={{ fill: '#FFC107', width: 22, height: 22 }} /&gt;&#13;&#10;        &lt;/Box&gt;&#13;&#10;            &lt;Text style={{ fontSize: 29, fontWeight: 'bold', color: '#FFFFFF' }}&gt;进度安排：五个阶段、四类工作包与八项细分任务&lt;/Text&gt;&#13;&#10;        &lt;/Box&gt;&#13;&#10;        &lt;Box style={{ flexDirection: 'row', alignItems: 'center', gap: 10 }}&gt;&#13;&#10;            &lt;Text style={{ fontSize: 15, color: '#AFC6E8' }}&gt;05 研究基础、进度与预期成果&lt;/Text&gt;&#13;&#10;            &lt;Box style={{ background: '#FFC107', paddingLeft: 9, paddingRight: 9, paddingTop: 3, paddingBottom: 3, borderRadius: 3, justifyContent: 'center', alignItems: 'center' }}&gt;&#13;&#10;                &lt;Text style={{ fontSize: 14, color: '#0B3A82', fontWeight: 'bold' }}&gt;33&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按&quot;模型闭合—Q1—Q2—Q3—整合&quot;设置阶段检查点：核心阶段按依赖顺序推进，扩展分析延期不影响核心主线&lt;/Text&gt;&#13;&#10;        &lt;/Box&gt;&#13;&#10;        &lt;Box style={{ background: '#F7F9FC', border: '1px solid #D6DCE5', borderRadius: 6, paddingTop: 8, paddingBottom: 6 }}&gt;&#13;&#10;            &lt;svg width={1198} height={98} viewBox='0 0 1198 98'&gt;&#13;&#10;                &lt;line x1='40' y1='30' x2='1144' y2='30' stroke='#C3CEDE' strokeWidth='1' /&gt;&#13;&#10;                &lt;line x1='40' y1='24' x2='40' y2='36' stroke='#8B97A8' strokeWidth='1' /&gt;&#13;&#10;                &lt;line x1='424' y1='24' x2='424' y2='36' stroke='#8B97A8' strokeWidth='1' /&gt;&#13;&#10;                &lt;line x1='712' y1='24' x2='712' y2='36' stroke='#8B97A8' strokeWidth='1' /&gt;&#13;&#10;                &lt;line x1='1000' y1='24' x2='1000' y2='36' stroke='#8B97A8' strokeWidth='1' /&gt;&#13;&#10;                &lt;line x1='1120' y1='24' x2='1120' y2='36' stroke='#8B97A8' strokeWidth='1' /&gt;&#13;&#10;                &lt;text x='40' y='18' font-size='12' fill='#8B97A8' font-family='Microsoft YaHei' text-anchor='middle'&gt;2026.09&lt;/text&gt;&#13;&#10;                &lt;text x='424' y='18' font-size='12' fill='#8B97A8' font-family='Microsoft YaHei' text-anchor='middle'&gt;2028.01&lt;/text&gt;&#13;&#10;                &lt;text x='712' y='18' font-size='12' fill='#8B97A8' font-family='Microsoft YaHei' text-anchor='middle'&gt;2029.01&lt;/text&gt;&#13;&#10;                &lt;text x='1000' y='18' font-size='12' fill='#8B97A8' font-family='Microsoft YaHei' text-anchor='middle'&gt;2030.01&lt;/text&gt;&#13;&#10;                &lt;text x='1120' y='18' font-size='12' fill='#8B97A8' font-family='Microsoft YaHei' text-anchor='middle'&gt;2030.06&lt;/text&gt;&#13;&#10;                &lt;rect x='40' y='42' width='240' height='30' rx='4' fill='#0B3A82' /&gt;&#13;&#10;                &lt;rect x='280' y='42' width='216' height='30' rx='4' fill='#1E4FA8' /&gt;&#13;&#10;                &lt;rect x='496' y='42' width='216' height='30' rx='4' fill='#2F63C0' /&gt;&#13;&#10;                &lt;rect x='712' y='42' width='216' height='30' rx='4' fill='#4A7BD0' /&gt;&#13;&#10;                &lt;rect x='928' y='42' width='216' height='30' rx='4' fill='#6E96DA' /&gt;&#13;&#10;                &lt;text x='160' y='62' font-size='14' fill='#FFFFFF' font-family='Microsoft YaHei' text-anchor='middle'&gt;第一阶段&lt;/text&gt;&#13;&#10;                &lt;text x='388' y='62' font-size='14' fill='#FFFFFF' font-family='Microsoft YaHei' text-anchor='middle'&gt;第二阶段&lt;/text&gt;&#13;&#10;                &lt;text x='604' y='62' font-size='14' fill='#FFFFFF' font-family='Microsoft YaHei' text-anchor='middle'&gt;第三阶段&lt;/text&gt;&#13;&#10;                &lt;text x='820' y='62' font-size='14' fill='#FFFFFF' font-family='Microsoft YaHei' text-anchor='middle'&gt;第四阶段&lt;/text&gt;&#13;&#10;                &lt;text x='1036' y='62' font-size='14' fill='#FFFFFF' font-family='Microsoft YaHei' text-anchor='middle'&gt;第五阶段&lt;/text&gt;&#13;&#10;                &lt;text x='160' y='90' font-size='11.5' fill='#8B97A8' font-family='Microsoft YaHei' text-anchor='middle'&gt;数据·综述·最小闭环&lt;/text&gt;&#13;&#10;                &lt;text x='388' y='90' font-size='11.5' fill='#8B97A8' font-family='Microsoft YaHei' text-anchor='middle'&gt;校核·对照实验&lt;/text&gt;&#13;&#10;                &lt;text x='604' y='90' font-size='11.5' fill='#8B97A8' font-family='Microsoft YaHei' text-anchor='middle'&gt;多尺度·极端周&lt;/text&gt;&#13;&#10;                &lt;text x='820' y='90' font-size='11.5' fill='#8B97A8' font-family='Microsoft YaHei' text-anchor='middle'&gt;不确定性·干预&lt;/text&gt;&#13;&#10;                &lt;text x='1036' y='90' font-size='11.5' fill='#8B97A8' font-family='Microsoft YaHei' text-anchor='middle'&gt;整合·送审&lt;/text&gt;&#13;&#10;            &lt;/svg&gt;&#13;&#10;        &lt;/Box&gt;&#13;&#10;        &lt;Table&#13;&#10;            style={{ width: '100%', height: 236 }}&#13;&#10;            defaultTextStyle={{ fontSize: 15.5, textAlign: 'left', color: '#1A2230', lineHeight: 1.4 }}&#13;&#10;            defaultCellStyle={{&#13;&#10;                paddingLeft: 12,&#13;&#10;                paddingRight: 12,&#13;&#10;                paddingTop: 6,&#13;&#10;                paddingBottom: 6,&#13;&#10;                border: {&#13;&#10;                    left: { width: 1, color: '#D6DCE5' },&#13;&#10;                    right: { width: 1, color: '#D6DCE5' },&#13;&#10;                    top: { width: 1, color: '#D6DCE5' },&#13;&#10;                    bottom: { width: 1, color: '#D6DCE5' },&#13;&#10;                },&#13;&#10;            }}&#13;&#10;            cells={[&#13;&#10;                [&#13;&#10;                    { text: '阶段', textStyle: { bold: true, color: '#FFFFFF', fontSize: 16 }, cellStyle: { background: { color: '#0B3A82' } } },&#13;&#10;                    { text: '时间', textStyle: { bold: true, color: '#FFFFFF', fontSize: 16 }, cellStyle: { background: { color: '#0B3A82' } } },&#13;&#10;                    { text: '主要工作', textStyle: { bold: true, color: '#FFFFFF', fontSize: 16 }, cellStyle: { background: { color: '#0B3A82' } } },&#13;&#10;                    { text: '阶段产出', textStyle: { bold: true, color: '#FFFFFF', fontSize: 16 }, cellStyle: { background: { color: '#0B3A82' } } },&#13;&#10;                ],&#13;&#10;                [&#13;&#10;                    { text: '第一阶段', textStyle: { bold: true, color: '#0E3F8C' }, cellStyle: { background: { color: '#E8EFF8' } } },&#13;&#10;                    { text: '2026.09 — 2027.06' },&#13;&#10;                    { text: '数据审计、案例筛选、文献综述、最小闭环构建与单元测试' },&#13;&#10;                    { text: '研究数据库、AI-UWM 原型、方法论文初稿' },&#13;&#10;                ],&#13;&#10;                [&#13;&#10;                    { text: '第二阶段', textStyle: { bold: true, color: '#0E3F8C' }, cellStyle: { background: { color: '#E8EFF8' } } },&#13;&#10;                    { text: '2027.07 — 2028.03' },&#13;&#10;                    { text: '参数化系统输入校核、替代压力剖面检验、参数范围校核与对照实验' },&#13;&#10;                    { text: '代谢响应结果、论文一、可复现代码版本' },&#13;&#10;                ],&#13;&#10;                [&#13;&#10;                    { text: '第三阶段', textStyle: { bold: true, color: '#0E3F8C' }, cellStyle: { background: { color: '#E8EFF8' } } },&#13;&#10;                    { text: '2028.04 — 2028.12' },&#13;&#10;                    { text: '年均、日、小时三尺度比较，高温干旱复合压力与 CAWCC 求解' },&#13;&#10;                    { text: '时间尺度边界结果、论文二' },&#13;&#10;                ],&#13;&#10;                [&#13;&#10;                    { text: '第四阶段', textStyle: { bold: true, color: '#0E3F8C' }, cellStyle: { background: { color: '#E8EFF8' } } },&#13;&#10;                    { text: '2029.01 — 2029.09' },&#13;&#10;                    { text: '不确定性分析、瓶颈转换、再生水与设施干预反事实实验' },&#13;&#10;                    { text: '边界图谱、机制论文、参数证据库' },&#13;&#10;                ],&#13;&#10;                [&#13;&#10;                    { text: '第五阶段', textStyle: { bold: true, color: '#0E3F8C' }, cellStyle: { background: { color: '#E8EFF8' } } },&#13;&#10;                    { text: '2029.10 — 2030.06' },&#13;&#10;                    { text: '固定容量下水—能—碳比较、论文整合、预答辩与送审' },&#13;&#10;                    { text: '硕士学位论文、代码与数据治理文档' },&#13;&#10;                ],&#13;&#10;            ]}&#13;&#10;        /&gt;&#13;&#10;        &lt;Box style={{ flexDirection: 'row', gap: 13, height: 84 }}&gt;&#13;&#10;            &lt;Box style={{ flex: 1, background: '#F7F9FC', border: '1px solid #D6DCE5', borderLeft: '5px solid #1E4FA8', borderRadius: 6, padding: 10, flexDirection: 'column' }}&gt;&#13;&#10;                &lt;Text style={{ fontSize: 17, fontWeight: 'bold', color: '#0E3F8C' }}&gt;模型工作包&lt;/Text&gt;&#13;&#10;                &lt;Text style={{ fontSize: 14.5, color: '#4A5568', lineHeight: 1.4 }}&gt;模块开发、闭合测试、版本标签&lt;/Text&gt;&#13;&#10;            &lt;/Box&gt;&#13;&#10;            &lt;Box style={{ flex: 1, background: '#F7F9FC', border: '1px solid #D6DCE5', borderLeft: '5px solid #1E4FA8', borderRadius: 6, padding: 10, flexDirection: 'column' }}&gt;&#13;&#10;                &lt;Text style={{ fontSize: 17, fontWeight: 'bold', color: '#0E3F8C' }}&gt;验证工作包&lt;/Text&gt;&#13;&#10;                &lt;Text style={{ fontSize: 14.5, color: '#4A5568', lineHeight: 1.4 }}&gt;守恒、基准、极限与稳健性检验&lt;/Text&gt;&#13;&#10;            &lt;/Box&gt;&#13;&#10;            &lt;Box style={{ flex: 1, background: '#F7F9FC', border: '1px solid #D6DCE5', borderLeft: '5px solid #1E4FA8', borderRadius: 6, padding: 10, flexDirection: 'column' }}&gt;&#13;&#10;                &lt;Text style={{ fontSize: 17, fontWeight: 'bold', color: '#0E3F8C' }}&gt;机制实验工作包&lt;/Text&gt;&#13;&#10;                &lt;Text style={{ fontSize: 14.5, color: '#4A5568', lineHeight: 1.4 }}&gt;四组实验、敏感性、瓶颈与干预&lt;/Text&gt;&#13;&#10;            &lt;/Box&gt;&#13;&#10;            &lt;Box style={{ flex: 1.2, background: '#0E3F8C', borderRadius: 6, padding: 10, flexDirection: 'column' }}&gt;&#13;&#10;                &lt;Text style={{ fontSize: 17, fontWeight: 'bold', color: '#FFFFFF' }}&gt;论文工作包&lt;/Text&gt;&#13;&#10;                &lt;Text style={{ fontSize: 14.5, color: '#E4EDF9', lineHeight: 1.4 }}&gt;数据审计、证据更新、图表与归档&lt;/Text&gt;&#13;&#10;            &lt;/Box&gt;&#13;&#10;        &lt;/Box&gt;&#13;&#10;        &lt;Box style={{ background: '#E8EFF8', borderLeft: '5px solid #1E4FA8', paddingLeft: 18, paddingTop: 8, paddingBottom: 8 }}&gt;&#13;&#10;            &lt;Text style={{ fontSize: 18, color: '#1A2230', lineHeight: 1.4 }}&gt;阶段检查的先后顺序固定：参数证据更新、关键守恒测试与数据质量核查先于机制实验，保证后续实验建立在通过校核的模型之上&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33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C9D6E8' }} /&gt;&#13;&#10;                &lt;Box style={{ width: 6, height: 120, background: '#FFC107' }} /&gt;&#13;&#10;    &lt;/Box&gt;&#13;&#10;&lt;/Slide&gt;&#13;&#10;"/>
        <p:cNvGrpSpPr/>
        <p:nvPr/>
      </p:nvGrpSpPr>
      <p:grpSpPr>
        <a:xfrm>
          <a:off x="0" y="0"/>
          <a:ext cx="0" cy="0"/>
          <a:chOff x="0" y="0"/>
          <a:chExt cx="0" cy="0"/>
        </a:xfrm>
      </p:grpSpPr>
      <p:sp>
        <p:nvSpPr>
          <p:cNvPr id="1312" name="矩形 1311"/>
          <p:cNvSpPr/>
          <p:nvPr/>
        </p:nvSpPr>
        <p:spPr>
          <a:xfrm>
            <a:off x="0" y="0"/>
            <a:ext cx="12192000" cy="6858000"/>
          </a:xfrm>
          <a:prstGeom prst="rect">
            <a:avLst/>
          </a:prstGeom>
          <a:solidFill>
            <a:srgbClr val="FFFFFF"/>
          </a:solidFill>
        </p:spPr>
        <p:txBody>
          <a:bodyPr/>
          <a:p/>
        </p:txBody>
      </p:sp>
      <p:sp>
        <p:nvSpPr>
          <p:cNvPr id="1313" name="矩形 1312"/>
          <p:cNvSpPr/>
          <p:nvPr/>
        </p:nvSpPr>
        <p:spPr>
          <a:xfrm>
            <a:off x="0" y="0"/>
            <a:ext cx="12192000" cy="685800"/>
          </a:xfrm>
          <a:prstGeom prst="rect">
            <a:avLst/>
          </a:prstGeom>
          <a:solidFill>
            <a:srgbClr val="0E3F8C"/>
          </a:solidFill>
        </p:spPr>
        <p:txBody>
          <a:bodyPr/>
          <a:p/>
        </p:txBody>
      </p:sp>
      <p:sp>
        <p:nvSpPr>
          <p:cNvPr id="1314" name="圆角矩形 1313"/>
          <p:cNvSpPr/>
          <p:nvPr/>
        </p:nvSpPr>
        <p:spPr>
          <a:xfrm>
            <a:off x="381000" y="152400"/>
            <a:ext cx="381000" cy="381000"/>
          </a:xfrm>
          <a:prstGeom prst="roundRect">
            <a:avLst>
              <a:gd name="adj" fmla="val 25000"/>
            </a:avLst>
          </a:prstGeom>
          <a:solidFill>
            <a:srgbClr val="12489A"/>
          </a:solidFill>
        </p:spPr>
        <p:txBody>
          <a:bodyPr/>
          <a:p/>
        </p:txBody>
      </p:sp>
      <p:pic>
        <p:nvPicPr>
          <p:cNvPr id="1315" name="图片 1314"/>
          <p:cNvPicPr>
            <a:picLocks noChangeAspect="1"/>
          </p:cNvPicPr>
          <p:nvPr/>
        </p:nvPicPr>
        <p:blipFill>
          <a:blip/>
          <a:stretch>
            <a:fillRect/>
          </a:stretch>
        </p:blipFill>
        <p:spPr>
          <a:xfrm>
            <a:off x="466725" y="238125"/>
            <a:ext cx="209550" cy="209550"/>
          </a:xfrm>
          <a:prstGeom prst="rect">
            <a:avLst/>
          </a:prstGeom>
        </p:spPr>
      </p:pic>
      <p:sp>
        <p:nvSpPr>
          <p:cNvPr id="1316" name="文本框 1315" descr="{&quot;isTemplate&quot;:true,&quot;type&quot;:&quot;text&quot;}"/>
          <p:cNvSpPr txBox="1"/>
          <p:nvPr/>
        </p:nvSpPr>
        <p:spPr>
          <a:xfrm>
            <a:off x="895350" y="180975"/>
            <a:ext cx="6076950"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进度安排：五个阶段、四类工作包与八项细分任务</a:t>
            </a:r>
            <a:endParaRPr lang="zh-CN" sz="2175" b="1">
              <a:solidFill>
                <a:srgbClr val="FFFFFF"/>
              </a:solidFill>
              <a:latin typeface="微软雅黑" panose="020B0503020204020204" charset="-122"/>
              <a:ea typeface="微软雅黑" panose="020B0503020204020204" charset="-122"/>
            </a:endParaRPr>
          </a:p>
        </p:txBody>
      </p:sp>
      <p:sp>
        <p:nvSpPr>
          <p:cNvPr id="1317" name="文本框 1316"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05 </a:t>
            </a:r>
            <a:r>
              <a:rPr lang="zh-CN" sz="1125">
                <a:solidFill>
                  <a:srgbClr val="AFC6E8"/>
                </a:solidFill>
                <a:latin typeface="微软雅黑" panose="020B0503020204020204" charset="-122"/>
                <a:ea typeface="微软雅黑" panose="020B0503020204020204" charset="-122"/>
              </a:rPr>
              <a:t>研究基础、进度与预期成果</a:t>
            </a:r>
            <a:endParaRPr lang="zh-CN" sz="1125">
              <a:solidFill>
                <a:srgbClr val="AFC6E8"/>
              </a:solidFill>
              <a:latin typeface="微软雅黑" panose="020B0503020204020204" charset="-122"/>
              <a:ea typeface="微软雅黑" panose="020B0503020204020204" charset="-122"/>
            </a:endParaRPr>
          </a:p>
        </p:txBody>
      </p:sp>
      <p:sp>
        <p:nvSpPr>
          <p:cNvPr id="1318" name="圆角矩形 1317"/>
          <p:cNvSpPr/>
          <p:nvPr/>
        </p:nvSpPr>
        <p:spPr>
          <a:xfrm>
            <a:off x="11468100" y="238125"/>
            <a:ext cx="342900" cy="219075"/>
          </a:xfrm>
          <a:prstGeom prst="roundRect">
            <a:avLst>
              <a:gd name="adj" fmla="val 13043"/>
            </a:avLst>
          </a:prstGeom>
          <a:solidFill>
            <a:srgbClr val="FFC107"/>
          </a:solidFill>
        </p:spPr>
        <p:txBody>
          <a:bodyPr/>
          <a:p/>
        </p:txBody>
      </p:sp>
      <p:sp>
        <p:nvSpPr>
          <p:cNvPr id="1319" name="文本框 131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33</a:t>
            </a:r>
            <a:endParaRPr lang="en-US" sz="1050" b="1">
              <a:solidFill>
                <a:srgbClr val="0B3A82"/>
              </a:solidFill>
              <a:latin typeface="微软雅黑" panose="020B0503020204020204" charset="-122"/>
              <a:ea typeface="微软雅黑" panose="020B0503020204020204" charset="-122"/>
            </a:endParaRPr>
          </a:p>
        </p:txBody>
      </p:sp>
      <p:sp>
        <p:nvSpPr>
          <p:cNvPr id="1320" name="圆角矩形 1319"/>
          <p:cNvSpPr/>
          <p:nvPr/>
        </p:nvSpPr>
        <p:spPr>
          <a:xfrm>
            <a:off x="381000" y="800100"/>
            <a:ext cx="11430000" cy="438150"/>
          </a:xfrm>
          <a:prstGeom prst="roundRect">
            <a:avLst>
              <a:gd name="adj" fmla="val 8696"/>
            </a:avLst>
          </a:prstGeom>
          <a:solidFill>
            <a:srgbClr val="0B3A82"/>
          </a:solidFill>
        </p:spPr>
        <p:txBody>
          <a:bodyPr/>
          <a:p/>
        </p:txBody>
      </p:sp>
      <p:sp>
        <p:nvSpPr>
          <p:cNvPr id="1321" name="文本框 1320"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按</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模型闭合—</a:t>
            </a:r>
            <a:r>
              <a:rPr lang="en-US" sz="1575">
                <a:solidFill>
                  <a:srgbClr val="FFFFFF"/>
                </a:solidFill>
                <a:latin typeface="微软雅黑" panose="020B0503020204020204" charset="-122"/>
                <a:ea typeface="微软雅黑" panose="020B0503020204020204" charset="-122"/>
              </a:rPr>
              <a:t>Q1—Q2—Q3—</a:t>
            </a:r>
            <a:r>
              <a:rPr lang="zh-CN" sz="1575">
                <a:solidFill>
                  <a:srgbClr val="FFFFFF"/>
                </a:solidFill>
                <a:latin typeface="微软雅黑" panose="020B0503020204020204" charset="-122"/>
                <a:ea typeface="微软雅黑" panose="020B0503020204020204" charset="-122"/>
              </a:rPr>
              <a:t>整合</a:t>
            </a:r>
            <a:r>
              <a:rPr lang="en-US" sz="1575">
                <a:solidFill>
                  <a:srgbClr val="FFFFFF"/>
                </a:solidFill>
                <a:latin typeface="微软雅黑" panose="020B0503020204020204" charset="-122"/>
                <a:ea typeface="微软雅黑" panose="020B0503020204020204" charset="-122"/>
              </a:rPr>
              <a:t>"</a:t>
            </a:r>
            <a:r>
              <a:rPr lang="zh-CN" sz="1575">
                <a:solidFill>
                  <a:srgbClr val="FFFFFF"/>
                </a:solidFill>
                <a:latin typeface="微软雅黑" panose="020B0503020204020204" charset="-122"/>
                <a:ea typeface="微软雅黑" panose="020B0503020204020204" charset="-122"/>
              </a:rPr>
              <a:t>设置阶段检查点：核心阶段按依赖顺序推进，扩展分析延期不影响核心主线</a:t>
            </a:r>
            <a:endParaRPr lang="zh-CN" sz="1575">
              <a:solidFill>
                <a:srgbClr val="FFFFFF"/>
              </a:solidFill>
              <a:latin typeface="微软雅黑" panose="020B0503020204020204" charset="-122"/>
              <a:ea typeface="微软雅黑" panose="020B0503020204020204" charset="-122"/>
            </a:endParaRPr>
          </a:p>
        </p:txBody>
      </p:sp>
      <p:sp>
        <p:nvSpPr>
          <p:cNvPr id="1322" name="圆角矩形 1321"/>
          <p:cNvSpPr/>
          <p:nvPr/>
        </p:nvSpPr>
        <p:spPr>
          <a:xfrm>
            <a:off x="381000" y="1352550"/>
            <a:ext cx="11430000" cy="1066800"/>
          </a:xfrm>
          <a:prstGeom prst="roundRect">
            <a:avLst>
              <a:gd name="adj" fmla="val 5357"/>
            </a:avLst>
          </a:prstGeom>
          <a:solidFill>
            <a:srgbClr val="F7F9FC"/>
          </a:solidFill>
          <a:ln w="12700">
            <a:solidFill>
              <a:srgbClr val="D6DCE5"/>
            </a:solidFill>
            <a:prstDash val="solid"/>
          </a:ln>
        </p:spPr>
        <p:txBody>
          <a:bodyPr/>
          <a:p/>
        </p:txBody>
      </p:sp>
      <p:pic>
        <p:nvPicPr>
          <p:cNvPr id="1323" name="图片 132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1000" y="1428750"/>
            <a:ext cx="11410950" cy="933450"/>
          </a:xfrm>
          <a:prstGeom prst="rect">
            <a:avLst/>
          </a:prstGeom>
        </p:spPr>
      </p:pic>
      <p:graphicFrame>
        <p:nvGraphicFramePr>
          <p:cNvPr id="1324" name="表格 1323"/>
          <p:cNvGraphicFramePr/>
          <p:nvPr/>
        </p:nvGraphicFramePr>
        <p:xfrm>
          <a:off x="381000" y="3009900"/>
          <a:ext cx="11430000" cy="2247900"/>
        </p:xfrm>
        <a:graphic>
          <a:graphicData uri="http://schemas.openxmlformats.org/drawingml/2006/table">
            <a:tbl>
              <a:tblPr/>
              <a:tblGrid>
                <a:gridCol w="809964"/>
                <a:gridCol w="1726265"/>
                <a:gridCol w="5368842"/>
                <a:gridCol w="3524929"/>
              </a:tblGrid>
              <a:tr h="384178">
                <a:tc>
                  <a:txBody>
                    <a:bodyPr wrap="square">
                      <a:spAutoFit/>
                    </a:bodyPr>
                    <a:p>
                      <a:pPr marL="114300" marR="114300" algn="l">
                        <a:lnSpc>
                          <a:spcPct val="120000"/>
                        </a:lnSpc>
                      </a:pPr>
                      <a:r>
                        <a:rPr sz="1200" b="1">
                          <a:solidFill>
                            <a:srgbClr val="FFFFFF"/>
                          </a:solidFill>
                          <a:latin typeface="微软雅黑" panose="020B0503020204020204" charset="-122"/>
                          <a:ea typeface="微软雅黑" panose="020B0503020204020204" charset="-122"/>
                        </a:rPr>
                        <a:t>阶段</a:t>
                      </a:r>
                      <a:endParaRPr sz="120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00" b="1">
                          <a:solidFill>
                            <a:srgbClr val="FFFFFF"/>
                          </a:solidFill>
                          <a:latin typeface="微软雅黑" panose="020B0503020204020204" charset="-122"/>
                          <a:ea typeface="微软雅黑" panose="020B0503020204020204" charset="-122"/>
                        </a:rPr>
                        <a:t>时间</a:t>
                      </a:r>
                      <a:endParaRPr sz="120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00" b="1">
                          <a:solidFill>
                            <a:srgbClr val="FFFFFF"/>
                          </a:solidFill>
                          <a:latin typeface="微软雅黑" panose="020B0503020204020204" charset="-122"/>
                          <a:ea typeface="微软雅黑" panose="020B0503020204020204" charset="-122"/>
                        </a:rPr>
                        <a:t>主要工作</a:t>
                      </a:r>
                      <a:endParaRPr sz="120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00" b="1">
                          <a:solidFill>
                            <a:srgbClr val="FFFFFF"/>
                          </a:solidFill>
                          <a:latin typeface="微软雅黑" panose="020B0503020204020204" charset="-122"/>
                          <a:ea typeface="微软雅黑" panose="020B0503020204020204" charset="-122"/>
                        </a:rPr>
                        <a:t>阶段产出</a:t>
                      </a:r>
                      <a:endParaRPr sz="1200"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r>
              <a:tr h="372744">
                <a:tc>
                  <a:txBody>
                    <a:bodyPr wrap="square">
                      <a:spAutoFit/>
                    </a:bodyPr>
                    <a:p>
                      <a:pPr marL="114300" marR="114300" algn="l">
                        <a:lnSpc>
                          <a:spcPct val="120000"/>
                        </a:lnSpc>
                      </a:pPr>
                      <a:r>
                        <a:rPr sz="1165" b="1">
                          <a:solidFill>
                            <a:srgbClr val="0E3F8C"/>
                          </a:solidFill>
                          <a:latin typeface="微软雅黑" panose="020B0503020204020204" charset="-122"/>
                          <a:ea typeface="微软雅黑" panose="020B0503020204020204" charset="-122"/>
                        </a:rPr>
                        <a:t>第一阶段</a:t>
                      </a:r>
                      <a:endParaRPr sz="116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2026.09 — 2027.06</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数据审计、案例筛选、文献综述、最小闭环构建与单元测试</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研究数据库、AI-UWM 原型、方法论文初稿</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372744">
                <a:tc>
                  <a:txBody>
                    <a:bodyPr wrap="square">
                      <a:spAutoFit/>
                    </a:bodyPr>
                    <a:p>
                      <a:pPr marL="114300" marR="114300" algn="l">
                        <a:lnSpc>
                          <a:spcPct val="120000"/>
                        </a:lnSpc>
                      </a:pPr>
                      <a:r>
                        <a:rPr sz="1165" b="1">
                          <a:solidFill>
                            <a:srgbClr val="0E3F8C"/>
                          </a:solidFill>
                          <a:latin typeface="微软雅黑" panose="020B0503020204020204" charset="-122"/>
                          <a:ea typeface="微软雅黑" panose="020B0503020204020204" charset="-122"/>
                        </a:rPr>
                        <a:t>第二阶段</a:t>
                      </a:r>
                      <a:endParaRPr sz="116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2027.07 — 2028.03</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参数化系统输入校核、替代压力剖面检验、参数范围校核与对照实验</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代谢响应结果、论文一、可复现代码版本</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372744">
                <a:tc>
                  <a:txBody>
                    <a:bodyPr wrap="square">
                      <a:spAutoFit/>
                    </a:bodyPr>
                    <a:p>
                      <a:pPr marL="114300" marR="114300" algn="l">
                        <a:lnSpc>
                          <a:spcPct val="120000"/>
                        </a:lnSpc>
                      </a:pPr>
                      <a:r>
                        <a:rPr sz="1165" b="1">
                          <a:solidFill>
                            <a:srgbClr val="0E3F8C"/>
                          </a:solidFill>
                          <a:latin typeface="微软雅黑" panose="020B0503020204020204" charset="-122"/>
                          <a:ea typeface="微软雅黑" panose="020B0503020204020204" charset="-122"/>
                        </a:rPr>
                        <a:t>第三阶段</a:t>
                      </a:r>
                      <a:endParaRPr sz="116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2028.04 — 2028.12</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年均、日、小时三尺度比较，高温干旱复合压力与 CAWCC 求解</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时间尺度边界结果、论文二</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372744">
                <a:tc>
                  <a:txBody>
                    <a:bodyPr wrap="square">
                      <a:spAutoFit/>
                    </a:bodyPr>
                    <a:p>
                      <a:pPr marL="114300" marR="114300" algn="l">
                        <a:lnSpc>
                          <a:spcPct val="120000"/>
                        </a:lnSpc>
                      </a:pPr>
                      <a:r>
                        <a:rPr sz="1165" b="1">
                          <a:solidFill>
                            <a:srgbClr val="0E3F8C"/>
                          </a:solidFill>
                          <a:latin typeface="微软雅黑" panose="020B0503020204020204" charset="-122"/>
                          <a:ea typeface="微软雅黑" panose="020B0503020204020204" charset="-122"/>
                        </a:rPr>
                        <a:t>第四阶段</a:t>
                      </a:r>
                      <a:endParaRPr sz="116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2029.01 — 2029.09</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不确定性分析、瓶颈转换、再生水与设施干预反事实实验</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边界图谱、机制论文、参数证据库</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372744">
                <a:tc>
                  <a:txBody>
                    <a:bodyPr wrap="square">
                      <a:spAutoFit/>
                    </a:bodyPr>
                    <a:p>
                      <a:pPr marL="114300" marR="114300" algn="l">
                        <a:lnSpc>
                          <a:spcPct val="120000"/>
                        </a:lnSpc>
                      </a:pPr>
                      <a:r>
                        <a:rPr sz="1165" b="1">
                          <a:solidFill>
                            <a:srgbClr val="0E3F8C"/>
                          </a:solidFill>
                          <a:latin typeface="微软雅黑" panose="020B0503020204020204" charset="-122"/>
                          <a:ea typeface="微软雅黑" panose="020B0503020204020204" charset="-122"/>
                        </a:rPr>
                        <a:t>第五阶段</a:t>
                      </a:r>
                      <a:endParaRPr sz="1165" b="1">
                        <a:solidFill>
                          <a:srgbClr val="0E3F8C"/>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E8EFF8"/>
                    </a:solidFill>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2029.10 — 2030.06</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固定容量下水—能—碳比较、论文整合、预答辩与送审</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165">
                          <a:solidFill>
                            <a:srgbClr val="1A2230"/>
                          </a:solidFill>
                          <a:latin typeface="微软雅黑" panose="020B0503020204020204" charset="-122"/>
                          <a:ea typeface="微软雅黑" panose="020B0503020204020204" charset="-122"/>
                        </a:rPr>
                        <a:t>硕士学位论文、代码与数据治理文档</a:t>
                      </a:r>
                      <a:endParaRPr sz="1165">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bl>
          </a:graphicData>
        </a:graphic>
      </p:graphicFrame>
      <p:sp>
        <p:nvSpPr>
          <p:cNvPr id="1343" name="任意多边形 1342"/>
          <p:cNvSpPr/>
          <p:nvPr/>
        </p:nvSpPr>
        <p:spPr>
          <a:xfrm>
            <a:off x="0" y="6334125"/>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344" name="文本框 1343" descr="{&quot;isTemplate&quot;:true,&quot;type&quot;:&quot;text&quot;}"/>
          <p:cNvSpPr txBox="1"/>
          <p:nvPr/>
        </p:nvSpPr>
        <p:spPr>
          <a:xfrm>
            <a:off x="381000" y="6448425"/>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345" name="文本框 1344" descr="{&quot;isTemplate&quot;:true,&quot;type&quot;:&quot;text&quot;}"/>
          <p:cNvSpPr txBox="1"/>
          <p:nvPr/>
        </p:nvSpPr>
        <p:spPr>
          <a:xfrm>
            <a:off x="11353800" y="6448425"/>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33 / 36</a:t>
            </a:r>
            <a:endParaRPr lang="en-US" sz="1050">
              <a:solidFill>
                <a:srgbClr val="1E4FA8"/>
              </a:solidFill>
              <a:latin typeface="微软雅黑" panose="020B0503020204020204" charset="-122"/>
              <a:ea typeface="微软雅黑" panose="020B0503020204020204" charset="-122"/>
            </a:endParaRPr>
          </a:p>
        </p:txBody>
      </p:sp>
      <p:sp>
        <p:nvSpPr>
          <p:cNvPr id="1346" name="矩形 1345"/>
          <p:cNvSpPr/>
          <p:nvPr/>
        </p:nvSpPr>
        <p:spPr>
          <a:xfrm>
            <a:off x="0" y="685800"/>
            <a:ext cx="57150" cy="1162050"/>
          </a:xfrm>
          <a:prstGeom prst="rect">
            <a:avLst/>
          </a:prstGeom>
          <a:solidFill>
            <a:srgbClr val="C9D6E8"/>
          </a:solidFill>
        </p:spPr>
        <p:txBody>
          <a:bodyPr/>
          <a:p/>
        </p:txBody>
      </p:sp>
      <p:sp>
        <p:nvSpPr>
          <p:cNvPr id="1347" name="矩形 1346"/>
          <p:cNvSpPr/>
          <p:nvPr/>
        </p:nvSpPr>
        <p:spPr>
          <a:xfrm>
            <a:off x="0" y="1847850"/>
            <a:ext cx="57150" cy="1162050"/>
          </a:xfrm>
          <a:prstGeom prst="rect">
            <a:avLst/>
          </a:prstGeom>
          <a:solidFill>
            <a:srgbClr val="C9D6E8"/>
          </a:solidFill>
        </p:spPr>
        <p:txBody>
          <a:bodyPr/>
          <a:p/>
        </p:txBody>
      </p:sp>
      <p:sp>
        <p:nvSpPr>
          <p:cNvPr id="1348" name="矩形 1347"/>
          <p:cNvSpPr/>
          <p:nvPr/>
        </p:nvSpPr>
        <p:spPr>
          <a:xfrm>
            <a:off x="0" y="3009900"/>
            <a:ext cx="57150" cy="1162050"/>
          </a:xfrm>
          <a:prstGeom prst="rect">
            <a:avLst/>
          </a:prstGeom>
          <a:solidFill>
            <a:srgbClr val="C9D6E8"/>
          </a:solidFill>
        </p:spPr>
        <p:txBody>
          <a:bodyPr/>
          <a:p/>
        </p:txBody>
      </p:sp>
      <p:sp>
        <p:nvSpPr>
          <p:cNvPr id="1349" name="矩形 1348"/>
          <p:cNvSpPr/>
          <p:nvPr/>
        </p:nvSpPr>
        <p:spPr>
          <a:xfrm>
            <a:off x="0" y="4171950"/>
            <a:ext cx="57150" cy="1162050"/>
          </a:xfrm>
          <a:prstGeom prst="rect">
            <a:avLst/>
          </a:prstGeom>
          <a:solidFill>
            <a:srgbClr val="C9D6E8"/>
          </a:solidFill>
        </p:spPr>
        <p:txBody>
          <a:bodyPr/>
          <a:p/>
        </p:txBody>
      </p:sp>
      <p:sp>
        <p:nvSpPr>
          <p:cNvPr id="1350" name="矩形 1349"/>
          <p:cNvSpPr/>
          <p:nvPr/>
        </p:nvSpPr>
        <p:spPr>
          <a:xfrm>
            <a:off x="0" y="5334000"/>
            <a:ext cx="57150" cy="1143000"/>
          </a:xfrm>
          <a:prstGeom prst="rect">
            <a:avLst/>
          </a:prstGeom>
          <a:solidFill>
            <a:srgbClr val="FFC107"/>
          </a:solidFill>
        </p:spPr>
        <p:txBody>
          <a:body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35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trophy' style={{ fill: '#FFC107', width: 22, height: 22 }} /&gt;&#13;&#10;        &lt;/Box&gt;&#13;&#10;            &lt;Text style={{ fontSize: 29, fontWeight: 'bold', color: '#FFFFFF' }}&gt;预期达到的目标：三层成果与三个拟创新点&lt;/Text&gt;&#13;&#10;        &lt;/Box&gt;&#13;&#10;        &lt;Box style={{ flexDirection: 'row', alignItems: 'center', gap: 10 }}&gt;&#13;&#10;            &lt;Text style={{ fontSize: 15, color: '#AFC6E8' }}&gt;05 研究基础、进度与预期成果&lt;/Text&gt;&#13;&#10;            &lt;Box style={{ background: '#FFC107', paddingLeft: 9, paddingRight: 9, paddingTop: 3, paddingBottom: 3, borderRadius: 3, justifyContent: 'center', alignItems: 'center' }}&gt;&#13;&#10;                &lt;Text style={{ fontSize: 14, color: '#0B3A82', fontWeight: 'bold' }}&gt;34&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成果按模型、科学认识、应用解释三层组织，共用同一套实验输出&lt;/Text&gt;&#13;&#10;        &lt;/Box&gt;&#13;&#10;        &lt;Box style={{ flexDirection: 'row', gap: 14, height: 240 }}&gt;&#13;&#10;            &lt;Box style={{ flex: 1, background: '#F7F9FC', border: '1px solid #D6DCE5', borderTop: '5px solid #1E4FA8', borderRadius: 6, padding: 13, flexDirection: 'column' }}&gt;&#13;&#10;                &lt;Box style={{ flexDirection: 'row', alignItems: 'center', gap: 8, marginBottom: 5 }}&gt;&#13;&#10;                    &lt;Box style={{ background: '#1E4FA8', borderRadius: 3, paddingLeft: 9, paddingRight: 9, paddingTop: 2, paddingBottom: 2 }}&gt;&#13;&#10;                        &lt;Text style={{ fontSize: 15, color: '#FFFFFF', fontWeight: 'bold' }}&gt;模型成果&lt;/Text&gt;&#13;&#10;                    &lt;/Box&gt;&#13;&#10;                    &lt;Box style={{ flexDirection: 'row', alignItems: 'center', gap: 8 }}&gt;&#13;&#10;                &lt;FAIcon name='clipboard-list' style={{ fill: '#1E4FA8', width: 17, height: 17 }} /&gt;&#13;&#10;                &lt;Text style={{ fontSize: 18, fontWeight: 'bold', color: '#0E3F8C' }}&gt;可重复可审计&lt;/Text&gt;&#13;&#10;            &lt;/Box&gt;&#13;&#10;                &lt;/Box&gt;&#13;&#10;                &lt;Text style={{ fontSize: 15.5, color: '#1A2230', lineHeight: 1.5 }}&gt;形成经代码验证、Benchmark 与结构稳健性校核的 AI-UWM 模型及版本化代码。&lt;/Text&gt;&#13;&#10;                &lt;Box style={{ marginTop: 7, background: '#E8EFF8', borderRadius: 4, padding: 7 }}&gt;&#13;&#10;                    &lt;Text style={{ fontSize: 15, color: '#0E3F8C', lineHeight: 1.4 }}&gt;交付：参数证据表、情景配置文件、可重复运行脚本&lt;/Text&gt;&#13;&#10;                &lt;/Box&gt;&#13;&#10;                &lt;Box style={{ marginTop: 6 }}&gt;&#13;&#10;                    &lt;Text style={{ fontSize: 15, color: '#4A5568', lineHeight: 1.45 }}&gt;·　完成水量、水质、储量与内部回用的守恒测试&lt;/Text&gt;&#13;&#10;                    &lt;Text style={{ fontSize: 15, color: '#4A5568', lineHeight: 1.45 }}&gt;·　单元测试、回归测试与版本标签贯穿全程&lt;/Text&gt;&#13;&#10;                &lt;/Box&gt;&#13;&#10;            &lt;/Box&gt;&#13;&#10;            &lt;Box style={{ flex: 1, background: '#F7F9FC', border: '1px solid #D6DCE5', borderTop: '5px solid #1E4FA8', borderRadius: 6, padding: 13, flexDirection: 'column' }}&gt;&#13;&#10;                &lt;Box style={{ flexDirection: 'row', alignItems: 'center', gap: 8, marginBottom: 5 }}&gt;&#13;&#10;                    &lt;Box style={{ background: '#1E4FA8', borderRadius: 3, paddingLeft: 9, paddingRight: 9, paddingTop: 2, paddingBottom: 2 }}&gt;&#13;&#10;                        &lt;Text style={{ fontSize: 15, color: '#FFFFFF', fontWeight: 'bold' }}&gt;科学成果&lt;/Text&gt;&#13;&#10;                    &lt;/Box&gt;&#13;&#10;                    &lt;Box style={{ flexDirection: 'row', alignItems: 'center', gap: 8 }}&gt;&#13;&#10;                &lt;FAIcon name='chart-bar' style={{ fill: '#1E4FA8', width: 17, height: 17 }} /&gt;&#13;&#10;                &lt;Text style={{ fontSize: 18, fontWeight: 'bold', color: '#0E3F8C' }}&gt;三类可量化输出&lt;/Text&gt;&#13;&#10;            &lt;/Box&gt;&#13;&#10;                &lt;/Box&gt;&#13;&#10;                &lt;Text style={{ fontSize: 15.5, color: '#1A2230', lineHeight: 1.5 }}&gt;判断结构转变是否存在及其条件；量化不同时间聚合下的边界差异；识别主导约束及其迁移规律。&lt;/Text&gt;&#13;&#10;                &lt;Box style={{ marginTop: 7, background: '#E8EFF8', borderRadius: 4, padding: 7 }}&gt;&#13;&#10;                    &lt;Text style={{ fontSize: 15, color: '#0E3F8C', lineHeight: 1.4 }}&gt;判据：在替代参数、替代压力剖面与结构规则改变后方向一致&lt;/Text&gt;&#13;&#10;                &lt;/Box&gt;&#13;&#10;                &lt;Box style={{ marginTop: 6 }}&gt;&#13;&#10;                    &lt;Text style={{ fontSize: 15, color: '#4A5568', lineHeight: 1.45 }}&gt;·　解释相同年用水量为何产生不同峰值风险&lt;/Text&gt;&#13;&#10;                    &lt;Text style={{ fontSize: 15, color: '#4A5568', lineHeight: 1.45 }}&gt;·　区分稳健主导区与竞争约束区&lt;/Text&gt;&#13;&#10;                &lt;/Box&gt;&#13;&#10;            &lt;/Box&gt;&#13;&#10;            &lt;Box style={{ flex: 1, background: '#F7F9FC', border: '1px solid #D6DCE5', borderTop: '5px solid #1E4FA8', borderRadius: 6, padding: 13, flexDirection: 'column' }}&gt;&#13;&#10;                &lt;Box style={{ flexDirection: 'row', alignItems: 'center', gap: 8, marginBottom: 5 }}&gt;&#13;&#10;                    &lt;Box style={{ background: '#1E4FA8', borderRadius: 3, paddingLeft: 9, paddingRight: 9, paddingTop: 2, paddingBottom: 2 }}&gt;&#13;&#10;                        &lt;Text style={{ fontSize: 15, color: '#FFFFFF', fontWeight: 'bold' }}&gt;应用成果&lt;/Text&gt;&#13;&#10;                    &lt;/Box&gt;&#13;&#10;                    &lt;Box style={{ flexDirection: 'row', alignItems: 'center', gap: 8 }}&gt;&#13;&#10;                &lt;FAIcon name='scale-balanced' style={{ fill: '#1E4FA8', width: 17, height: 17 }} /&gt;&#13;&#10;                &lt;Text style={{ fontSize: 18, fontWeight: 'bold', color: '#0E3F8C' }}&gt;可比较的决策依据&lt;/Text&gt;&#13;&#10;            &lt;/Box&gt;&#13;&#10;                &lt;/Box&gt;&#13;&#10;                &lt;Text style={{ fontSize: 15.5, color: '#1A2230', lineHeight: 1.5 }}&gt;形成不同状态下的响应面、参数域与干预边界，为布局与水务论证提供口径。&lt;/Text&gt;&#13;&#10;                &lt;Box style={{ marginTop: 7, background: '#E8EFF8', borderRadius: 4, padding: 7 }}&gt;&#13;&#10;                    &lt;Text style={{ fontSize: 15, color: '#0E3F8C', lineHeight: 1.4 }}&gt;呈现方式：容量区间、适用域、主导瓶颈，而非单点数值&lt;/Text&gt;&#13;&#10;                &lt;/Box&gt;&#13;&#10;                &lt;Box style={{ marginTop: 6 }}&gt;&#13;&#10;                    &lt;Text style={{ fontSize: 15, color: '#4A5568', lineHeight: 1.45 }}&gt;·　识别节水措施可能造成的能耗与成本转移&lt;/Text&gt;&#13;&#10;                    &lt;Text style={{ fontSize: 15, color: '#4A5568', lineHeight: 1.45 }}&gt;·　本地物理水流与异地电力水足迹分账户&lt;/Text&gt;&#13;&#10;                &lt;/Box&gt;&#13;&#10;            &lt;/Box&gt;&#13;&#10;        &lt;/Box&gt;&#13;&#10;        &lt;Box style={{ flexDirection: 'row', gap: 14, height: 192 }}&gt;&#13;&#10;            &lt;Box style={{ flex: 1, background: '#0E3F8C', borderRadius: 6, padding: 13, flexDirection: 'column' }}&gt;&#13;&#10;                &lt;Box style={{ flexDirection: 'row', alignItems: 'center', gap: 8, marginBottom: 5 }}&gt;&#13;&#10;                    &lt;Box style={{ width: 34, height: 34, background: '#FFC107', borderRadius: 4, justifyContent: 'center', alignItems: 'center' }}&gt;&#13;&#10;                        &lt;FAIcon name='arrows-rotate' style={{ fill: '#0B3A82', width: 18, height: 18 }} /&gt;&#13;&#10;                    &lt;/Box&gt;&#13;&#10;                    &lt;Text style={{ fontSize: 19, fontWeight: 'bold', color: '#FFFFFF' }}&gt;拟创新一 系统边界与建模对象&lt;/Text&gt;&#13;&#10;                &lt;/Box&gt;&#13;&#10;                &lt;Text style={{ fontSize: 15.5, color: '#E4EDF9', lineHeight: 1.5 }}&gt;把 AI 算力中心从&quot;黑箱&quot;转化为城市水系统的可计算节点，建立水量水质闭合。&lt;/Text&gt;&#13;&#10;            &lt;/Box&gt;&#13;&#10;            &lt;Box style={{ flex: 1, background: '#F0F5FC', border: '1px solid #D6DCE5', borderRadius: 6, padding: 13, flexDirection: 'column' }}&gt;&#13;&#10;                &lt;Box style={{ flexDirection: 'row', alignItems: 'center', gap: 8, marginBottom: 5 }}&gt;&#13;&#10;                    &lt;Box style={{ width: 34, height: 34, background: '#1E4FA8', borderRadius: 4, justifyContent: 'center', alignItems: 'center' }}&gt;&#13;&#10;                        &lt;FAIcon name='clock' style={{ fill: '#FFFFFF', width: 18, height: 18 }} /&gt;&#13;&#10;                    &lt;/Box&gt;&#13;&#10;                    &lt;Text style={{ fontSize: 19, fontWeight: 'bold', color: '#0E3F8C' }}&gt;拟创新二 时间尺度机制&lt;/Text&gt;&#13;&#10;                &lt;/Box&gt;&#13;&#10;                &lt;Text style={{ fontSize: 15.5, color: '#1A2230', lineHeight: 1.5 }}&gt;提出并检验时间尺度依赖边界的机制，解释相同年用水量的不同峰值风险。&lt;/Text&gt;&#13;&#10;            &lt;/Box&gt;&#13;&#10;            &lt;Box style={{ flex: 1, background: '#F0F5FC', border: '1px solid #D6DCE5', borderRadius: 6, padding: 13, flexDirection: 'column' }}&gt;&#13;&#10;                &lt;Box style={{ flexDirection: 'row', alignItems: 'center', gap: 8, marginBottom: 5 }}&gt;&#13;&#10;                    &lt;Box style={{ width: 34, height: 34, background: '#1E4FA8', borderRadius: 4, justifyContent: 'center', alignItems: 'center' }}&gt;&#13;&#10;                        &lt;FAIcon name='gauge-high' style={{ fill: '#FFFFFF', width: 18, height: 18 }} /&gt;&#13;&#10;                    &lt;/Box&gt;&#13;&#10;                    &lt;Text style={{ fontSize: 19, fontWeight: 'bold', color: '#0E3F8C' }}&gt;拟创新三 条件化承载框架&lt;/Text&gt;&#13;&#10;                &lt;/Box&gt;&#13;&#10;                &lt;Text style={{ fontSize: 15.5, color: '#1A2230', lineHeight: 1.5 }}&gt;将 AI 承载容量定义为条件化可行边界，揭示瓶颈迁移与再生水收益转折。&lt;/Text&gt;&#13;&#10;            &lt;/Box&gt;&#13;&#10;        &lt;/Box&gt;&#13;&#10;        &lt;Box style={{ background: '#E8EFF8', borderLeft: '5px solid #1E4FA8', paddingLeft: 18, paddingTop: 9, paddingBottom: 9 }}&gt;&#13;&#10;            &lt;Text style={{ fontSize: 18.5, color: '#1A2230', lineHeight: 1.4 }}&gt;以科学问题、可检验假设与机制解释为主线，理论与工程解释处在同一逻辑链上&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34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C9D6E8' }} /&gt;&#13;&#10;                &lt;Box style={{ width: 6, height: 120, background: '#FFC107' }} /&gt;&#13;&#10;    &lt;/Box&gt;&#13;&#10;&lt;/Slide&gt;&#13;&#10;"/>
        <p:cNvGrpSpPr/>
        <p:nvPr/>
      </p:nvGrpSpPr>
      <p:grpSpPr>
        <a:xfrm>
          <a:off x="0" y="0"/>
          <a:ext cx="0" cy="0"/>
          <a:chOff x="0" y="0"/>
          <a:chExt cx="0" cy="0"/>
        </a:xfrm>
      </p:grpSpPr>
      <p:sp>
        <p:nvSpPr>
          <p:cNvPr id="1352" name="矩形 1351"/>
          <p:cNvSpPr/>
          <p:nvPr/>
        </p:nvSpPr>
        <p:spPr>
          <a:xfrm>
            <a:off x="0" y="0"/>
            <a:ext cx="12192000" cy="6858000"/>
          </a:xfrm>
          <a:prstGeom prst="rect">
            <a:avLst/>
          </a:prstGeom>
          <a:solidFill>
            <a:srgbClr val="FFFFFF"/>
          </a:solidFill>
        </p:spPr>
        <p:txBody>
          <a:bodyPr/>
          <a:p/>
        </p:txBody>
      </p:sp>
      <p:sp>
        <p:nvSpPr>
          <p:cNvPr id="1353" name="矩形 1352"/>
          <p:cNvSpPr/>
          <p:nvPr/>
        </p:nvSpPr>
        <p:spPr>
          <a:xfrm>
            <a:off x="0" y="0"/>
            <a:ext cx="12192000" cy="685800"/>
          </a:xfrm>
          <a:prstGeom prst="rect">
            <a:avLst/>
          </a:prstGeom>
          <a:solidFill>
            <a:srgbClr val="0E3F8C"/>
          </a:solidFill>
        </p:spPr>
        <p:txBody>
          <a:bodyPr/>
          <a:p/>
        </p:txBody>
      </p:sp>
      <p:sp>
        <p:nvSpPr>
          <p:cNvPr id="1354" name="圆角矩形 1353"/>
          <p:cNvSpPr/>
          <p:nvPr/>
        </p:nvSpPr>
        <p:spPr>
          <a:xfrm>
            <a:off x="381000" y="152400"/>
            <a:ext cx="381000" cy="381000"/>
          </a:xfrm>
          <a:prstGeom prst="roundRect">
            <a:avLst>
              <a:gd name="adj" fmla="val 25000"/>
            </a:avLst>
          </a:prstGeom>
          <a:solidFill>
            <a:srgbClr val="12489A"/>
          </a:solidFill>
        </p:spPr>
        <p:txBody>
          <a:bodyPr/>
          <a:p/>
        </p:txBody>
      </p:sp>
      <p:pic>
        <p:nvPicPr>
          <p:cNvPr id="1355" name="图片 1354"/>
          <p:cNvPicPr>
            <a:picLocks noChangeAspect="1"/>
          </p:cNvPicPr>
          <p:nvPr/>
        </p:nvPicPr>
        <p:blipFill>
          <a:blip/>
          <a:stretch>
            <a:fillRect/>
          </a:stretch>
        </p:blipFill>
        <p:spPr>
          <a:xfrm>
            <a:off x="466725" y="238125"/>
            <a:ext cx="209550" cy="209550"/>
          </a:xfrm>
          <a:prstGeom prst="rect">
            <a:avLst/>
          </a:prstGeom>
        </p:spPr>
      </p:pic>
      <p:sp>
        <p:nvSpPr>
          <p:cNvPr id="1356" name="文本框 1355" descr="{&quot;isTemplate&quot;:true,&quot;type&quot;:&quot;text&quot;}"/>
          <p:cNvSpPr txBox="1"/>
          <p:nvPr/>
        </p:nvSpPr>
        <p:spPr>
          <a:xfrm>
            <a:off x="895350" y="180975"/>
            <a:ext cx="52482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预期达到的目标：三层成果与三个拟创新点</a:t>
            </a:r>
            <a:endParaRPr lang="zh-CN" sz="2175" b="1">
              <a:solidFill>
                <a:srgbClr val="FFFFFF"/>
              </a:solidFill>
              <a:latin typeface="微软雅黑" panose="020B0503020204020204" charset="-122"/>
              <a:ea typeface="微软雅黑" panose="020B0503020204020204" charset="-122"/>
            </a:endParaRPr>
          </a:p>
        </p:txBody>
      </p:sp>
      <p:sp>
        <p:nvSpPr>
          <p:cNvPr id="1357" name="文本框 1356"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05 </a:t>
            </a:r>
            <a:r>
              <a:rPr lang="zh-CN" sz="1125">
                <a:solidFill>
                  <a:srgbClr val="AFC6E8"/>
                </a:solidFill>
                <a:latin typeface="微软雅黑" panose="020B0503020204020204" charset="-122"/>
                <a:ea typeface="微软雅黑" panose="020B0503020204020204" charset="-122"/>
              </a:rPr>
              <a:t>研究基础、进度与预期成果</a:t>
            </a:r>
            <a:endParaRPr lang="zh-CN" sz="1125">
              <a:solidFill>
                <a:srgbClr val="AFC6E8"/>
              </a:solidFill>
              <a:latin typeface="微软雅黑" panose="020B0503020204020204" charset="-122"/>
              <a:ea typeface="微软雅黑" panose="020B0503020204020204" charset="-122"/>
            </a:endParaRPr>
          </a:p>
        </p:txBody>
      </p:sp>
      <p:sp>
        <p:nvSpPr>
          <p:cNvPr id="1358" name="圆角矩形 1357"/>
          <p:cNvSpPr/>
          <p:nvPr/>
        </p:nvSpPr>
        <p:spPr>
          <a:xfrm>
            <a:off x="11468100" y="238125"/>
            <a:ext cx="342900" cy="219075"/>
          </a:xfrm>
          <a:prstGeom prst="roundRect">
            <a:avLst>
              <a:gd name="adj" fmla="val 13043"/>
            </a:avLst>
          </a:prstGeom>
          <a:solidFill>
            <a:srgbClr val="FFC107"/>
          </a:solidFill>
        </p:spPr>
        <p:txBody>
          <a:bodyPr/>
          <a:p/>
        </p:txBody>
      </p:sp>
      <p:sp>
        <p:nvSpPr>
          <p:cNvPr id="1359" name="文本框 135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34</a:t>
            </a:r>
            <a:endParaRPr lang="en-US" sz="1050" b="1">
              <a:solidFill>
                <a:srgbClr val="0B3A82"/>
              </a:solidFill>
              <a:latin typeface="微软雅黑" panose="020B0503020204020204" charset="-122"/>
              <a:ea typeface="微软雅黑" panose="020B0503020204020204" charset="-122"/>
            </a:endParaRPr>
          </a:p>
        </p:txBody>
      </p:sp>
      <p:sp>
        <p:nvSpPr>
          <p:cNvPr id="1360" name="圆角矩形 1359"/>
          <p:cNvSpPr/>
          <p:nvPr/>
        </p:nvSpPr>
        <p:spPr>
          <a:xfrm>
            <a:off x="381000" y="800100"/>
            <a:ext cx="11430000" cy="438150"/>
          </a:xfrm>
          <a:prstGeom prst="roundRect">
            <a:avLst>
              <a:gd name="adj" fmla="val 8696"/>
            </a:avLst>
          </a:prstGeom>
          <a:solidFill>
            <a:srgbClr val="0B3A82"/>
          </a:solidFill>
        </p:spPr>
        <p:txBody>
          <a:bodyPr/>
          <a:p/>
        </p:txBody>
      </p:sp>
      <p:sp>
        <p:nvSpPr>
          <p:cNvPr id="1361" name="文本框 1360"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成果按模型、科学认识、应用解释三层组织，共用同一套实验输出</a:t>
            </a:r>
            <a:endParaRPr lang="zh-CN" sz="1575">
              <a:solidFill>
                <a:srgbClr val="FFFFFF"/>
              </a:solidFill>
              <a:latin typeface="微软雅黑" panose="020B0503020204020204" charset="-122"/>
              <a:ea typeface="微软雅黑" panose="020B0503020204020204" charset="-122"/>
            </a:endParaRPr>
          </a:p>
        </p:txBody>
      </p:sp>
      <p:sp>
        <p:nvSpPr>
          <p:cNvPr id="1362" name="圆角矩形 1361"/>
          <p:cNvSpPr/>
          <p:nvPr/>
        </p:nvSpPr>
        <p:spPr>
          <a:xfrm>
            <a:off x="381000" y="1400175"/>
            <a:ext cx="3724275" cy="2286000"/>
          </a:xfrm>
          <a:prstGeom prst="roundRect">
            <a:avLst>
              <a:gd name="adj" fmla="val 2500"/>
            </a:avLst>
          </a:prstGeom>
          <a:solidFill>
            <a:srgbClr val="F7F9FC"/>
          </a:solidFill>
        </p:spPr>
        <p:txBody>
          <a:bodyPr/>
          <a:p/>
        </p:txBody>
      </p:sp>
      <p:sp>
        <p:nvSpPr>
          <p:cNvPr id="1363" name="任意多边形 1362"/>
          <p:cNvSpPr/>
          <p:nvPr/>
        </p:nvSpPr>
        <p:spPr>
          <a:xfrm>
            <a:off x="381000" y="1400175"/>
            <a:ext cx="3724275" cy="2286000"/>
          </a:xfrm>
          <a:custGeom>
            <a:avLst/>
            <a:gdLst/>
            <a:ahLst/>
            <a:cxnLst/>
            <a:pathLst>
              <a:path w="391" h="240">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1364" name="圆角矩形 1363"/>
          <p:cNvSpPr/>
          <p:nvPr/>
        </p:nvSpPr>
        <p:spPr>
          <a:xfrm>
            <a:off x="504825" y="1524000"/>
            <a:ext cx="742950" cy="209550"/>
          </a:xfrm>
          <a:prstGeom prst="roundRect">
            <a:avLst>
              <a:gd name="adj" fmla="val 13636"/>
            </a:avLst>
          </a:prstGeom>
          <a:solidFill>
            <a:srgbClr val="1E4FA8"/>
          </a:solidFill>
        </p:spPr>
        <p:txBody>
          <a:bodyPr/>
          <a:p/>
        </p:txBody>
      </p:sp>
      <p:sp>
        <p:nvSpPr>
          <p:cNvPr id="1365" name="文本框 1364" descr="{&quot;isTemplate&quot;:true,&quot;type&quot;:&quot;text&quot;}"/>
          <p:cNvSpPr txBox="1"/>
          <p:nvPr/>
        </p:nvSpPr>
        <p:spPr>
          <a:xfrm>
            <a:off x="590550" y="1543050"/>
            <a:ext cx="571500" cy="171450"/>
          </a:xfrm>
          <a:prstGeom prst="rect">
            <a:avLst/>
          </a:prstGeom>
        </p:spPr>
        <p:txBody>
          <a:bodyPr wrap="none" lIns="0" tIns="0" rIns="0" bIns="0"/>
          <a:p>
            <a:pPr>
              <a:lnSpc>
                <a:spcPct val="100000"/>
              </a:lnSpc>
            </a:pPr>
            <a:r>
              <a:rPr lang="zh-CN" sz="1125" b="1">
                <a:solidFill>
                  <a:srgbClr val="FFFFFF"/>
                </a:solidFill>
                <a:latin typeface="微软雅黑" panose="020B0503020204020204" charset="-122"/>
                <a:ea typeface="微软雅黑" panose="020B0503020204020204" charset="-122"/>
              </a:rPr>
              <a:t>模型成果</a:t>
            </a:r>
            <a:endParaRPr lang="zh-CN" sz="1125" b="1">
              <a:solidFill>
                <a:srgbClr val="FFFFFF"/>
              </a:solidFill>
              <a:latin typeface="微软雅黑" panose="020B0503020204020204" charset="-122"/>
              <a:ea typeface="微软雅黑" panose="020B0503020204020204" charset="-122"/>
            </a:endParaRPr>
          </a:p>
        </p:txBody>
      </p:sp>
      <p:pic>
        <p:nvPicPr>
          <p:cNvPr id="1366" name="图片 1365"/>
          <p:cNvPicPr>
            <a:picLocks noChangeAspect="1"/>
          </p:cNvPicPr>
          <p:nvPr/>
        </p:nvPicPr>
        <p:blipFill>
          <a:blip/>
          <a:stretch>
            <a:fillRect/>
          </a:stretch>
        </p:blipFill>
        <p:spPr>
          <a:xfrm>
            <a:off x="1323975" y="1552575"/>
            <a:ext cx="161925" cy="161925"/>
          </a:xfrm>
          <a:prstGeom prst="rect">
            <a:avLst/>
          </a:prstGeom>
        </p:spPr>
      </p:pic>
      <p:sp>
        <p:nvSpPr>
          <p:cNvPr id="1367" name="文本框 1366" descr="{&quot;isTemplate&quot;:true,&quot;type&quot;:&quot;text&quot;}"/>
          <p:cNvSpPr txBox="1"/>
          <p:nvPr/>
        </p:nvSpPr>
        <p:spPr>
          <a:xfrm>
            <a:off x="1562100" y="1524000"/>
            <a:ext cx="102870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可重复可审计</a:t>
            </a:r>
            <a:endParaRPr lang="zh-CN" sz="1350" b="1">
              <a:solidFill>
                <a:srgbClr val="0E3F8C"/>
              </a:solidFill>
              <a:latin typeface="微软雅黑" panose="020B0503020204020204" charset="-122"/>
              <a:ea typeface="微软雅黑" panose="020B0503020204020204" charset="-122"/>
            </a:endParaRPr>
          </a:p>
        </p:txBody>
      </p:sp>
      <p:sp>
        <p:nvSpPr>
          <p:cNvPr id="1368" name="文本框 1367" descr="{&quot;isTemplate&quot;:true,&quot;type&quot;:&quot;text&quot;}"/>
          <p:cNvSpPr txBox="1"/>
          <p:nvPr/>
        </p:nvSpPr>
        <p:spPr>
          <a:xfrm>
            <a:off x="504825" y="1781175"/>
            <a:ext cx="3476625"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形成经代码验证、</a:t>
            </a:r>
            <a:r>
              <a:rPr lang="en-US" sz="1165">
                <a:solidFill>
                  <a:srgbClr val="1A2230"/>
                </a:solidFill>
                <a:latin typeface="微软雅黑" panose="020B0503020204020204" charset="-122"/>
                <a:ea typeface="微软雅黑" panose="020B0503020204020204" charset="-122"/>
              </a:rPr>
              <a:t>Benchmark </a:t>
            </a:r>
            <a:r>
              <a:rPr lang="zh-CN" sz="1165">
                <a:solidFill>
                  <a:srgbClr val="1A2230"/>
                </a:solidFill>
                <a:latin typeface="微软雅黑" panose="020B0503020204020204" charset="-122"/>
                <a:ea typeface="微软雅黑" panose="020B0503020204020204" charset="-122"/>
              </a:rPr>
              <a:t>与结构稳健性校核的</a:t>
            </a:r>
            <a:r>
              <a:rPr lang="en-US" sz="1165">
                <a:solidFill>
                  <a:srgbClr val="1A2230"/>
                </a:solidFill>
                <a:latin typeface="微软雅黑" panose="020B0503020204020204" charset="-122"/>
                <a:ea typeface="微软雅黑" panose="020B0503020204020204" charset="-122"/>
              </a:rPr>
              <a:t> AI-UWM </a:t>
            </a:r>
            <a:r>
              <a:rPr lang="zh-CN" sz="1165">
                <a:solidFill>
                  <a:srgbClr val="1A2230"/>
                </a:solidFill>
                <a:latin typeface="微软雅黑" panose="020B0503020204020204" charset="-122"/>
                <a:ea typeface="微软雅黑" panose="020B0503020204020204" charset="-122"/>
              </a:rPr>
              <a:t>模型及版本化代码。</a:t>
            </a:r>
            <a:endParaRPr lang="zh-CN" sz="1165">
              <a:solidFill>
                <a:srgbClr val="1A2230"/>
              </a:solidFill>
              <a:latin typeface="微软雅黑" panose="020B0503020204020204" charset="-122"/>
              <a:ea typeface="微软雅黑" panose="020B0503020204020204" charset="-122"/>
            </a:endParaRPr>
          </a:p>
        </p:txBody>
      </p:sp>
      <p:sp>
        <p:nvSpPr>
          <p:cNvPr id="1369" name="圆角矩形 1368"/>
          <p:cNvSpPr/>
          <p:nvPr/>
        </p:nvSpPr>
        <p:spPr>
          <a:xfrm>
            <a:off x="504825" y="2381250"/>
            <a:ext cx="3476625" cy="381000"/>
          </a:xfrm>
          <a:prstGeom prst="roundRect">
            <a:avLst>
              <a:gd name="adj" fmla="val 10000"/>
            </a:avLst>
          </a:prstGeom>
          <a:solidFill>
            <a:srgbClr val="E8EFF8"/>
          </a:solidFill>
        </p:spPr>
        <p:txBody>
          <a:bodyPr/>
          <a:p/>
        </p:txBody>
      </p:sp>
      <p:sp>
        <p:nvSpPr>
          <p:cNvPr id="1370" name="文本框 1369" descr="{&quot;isTemplate&quot;:true,&quot;type&quot;:&quot;text&quot;}"/>
          <p:cNvSpPr txBox="1"/>
          <p:nvPr/>
        </p:nvSpPr>
        <p:spPr>
          <a:xfrm>
            <a:off x="571500" y="2447925"/>
            <a:ext cx="3343275" cy="247650"/>
          </a:xfrm>
          <a:prstGeom prst="rect">
            <a:avLst/>
          </a:prstGeom>
        </p:spPr>
        <p:txBody>
          <a:bodyPr wrap="none" lIns="0" tIns="0" rIns="0" bIns="0"/>
          <a:p>
            <a:pPr>
              <a:lnSpc>
                <a:spcPct val="140000"/>
              </a:lnSpc>
            </a:pPr>
            <a:r>
              <a:rPr lang="zh-CN" sz="1125">
                <a:solidFill>
                  <a:srgbClr val="0E3F8C"/>
                </a:solidFill>
                <a:latin typeface="微软雅黑" panose="020B0503020204020204" charset="-122"/>
                <a:ea typeface="微软雅黑" panose="020B0503020204020204" charset="-122"/>
              </a:rPr>
              <a:t>交付：参数证据表、情景配置文件、可重复运行脚本</a:t>
            </a:r>
            <a:endParaRPr lang="zh-CN" sz="1125">
              <a:solidFill>
                <a:srgbClr val="0E3F8C"/>
              </a:solidFill>
              <a:latin typeface="微软雅黑" panose="020B0503020204020204" charset="-122"/>
              <a:ea typeface="微软雅黑" panose="020B0503020204020204" charset="-122"/>
            </a:endParaRPr>
          </a:p>
        </p:txBody>
      </p:sp>
      <p:sp>
        <p:nvSpPr>
          <p:cNvPr id="1371" name="文本框 1370" descr="{&quot;isTemplate&quot;:true,&quot;type&quot;:&quot;text&quot;}"/>
          <p:cNvSpPr txBox="1"/>
          <p:nvPr/>
        </p:nvSpPr>
        <p:spPr>
          <a:xfrm>
            <a:off x="504825" y="2819400"/>
            <a:ext cx="3476625" cy="257175"/>
          </a:xfrm>
          <a:prstGeom prst="rect">
            <a:avLst/>
          </a:prstGeom>
        </p:spPr>
        <p:txBody>
          <a:bodyPr wrap="none" lIns="0" tIns="0" rIns="0" bIns="0"/>
          <a:p>
            <a:pPr>
              <a:lnSpc>
                <a:spcPct val="145000"/>
              </a:lnSpc>
            </a:pPr>
            <a:r>
              <a:rPr lang="zh-CN" sz="1125">
                <a:solidFill>
                  <a:srgbClr val="4A5568"/>
                </a:solidFill>
                <a:latin typeface="微软雅黑" panose="020B0503020204020204" charset="-122"/>
                <a:ea typeface="微软雅黑" panose="020B0503020204020204" charset="-122"/>
              </a:rPr>
              <a:t>·　完成水量、水质、储量与内部回用的守恒测试</a:t>
            </a:r>
            <a:endParaRPr lang="zh-CN" sz="1125">
              <a:solidFill>
                <a:srgbClr val="4A5568"/>
              </a:solidFill>
              <a:latin typeface="微软雅黑" panose="020B0503020204020204" charset="-122"/>
              <a:ea typeface="微软雅黑" panose="020B0503020204020204" charset="-122"/>
            </a:endParaRPr>
          </a:p>
        </p:txBody>
      </p:sp>
      <p:sp>
        <p:nvSpPr>
          <p:cNvPr id="1372" name="文本框 1371" descr="{&quot;isTemplate&quot;:true,&quot;type&quot;:&quot;text&quot;}"/>
          <p:cNvSpPr txBox="1"/>
          <p:nvPr/>
        </p:nvSpPr>
        <p:spPr>
          <a:xfrm>
            <a:off x="504825" y="3076575"/>
            <a:ext cx="3476625" cy="257175"/>
          </a:xfrm>
          <a:prstGeom prst="rect">
            <a:avLst/>
          </a:prstGeom>
        </p:spPr>
        <p:txBody>
          <a:bodyPr wrap="none" lIns="0" tIns="0" rIns="0" bIns="0"/>
          <a:p>
            <a:pPr>
              <a:lnSpc>
                <a:spcPct val="145000"/>
              </a:lnSpc>
            </a:pPr>
            <a:r>
              <a:rPr lang="zh-CN" sz="1125">
                <a:solidFill>
                  <a:srgbClr val="4A5568"/>
                </a:solidFill>
                <a:latin typeface="微软雅黑" panose="020B0503020204020204" charset="-122"/>
                <a:ea typeface="微软雅黑" panose="020B0503020204020204" charset="-122"/>
              </a:rPr>
              <a:t>·　单元测试、回归测试与版本标签贯穿全程</a:t>
            </a:r>
            <a:endParaRPr lang="zh-CN" sz="1125">
              <a:solidFill>
                <a:srgbClr val="4A5568"/>
              </a:solidFill>
              <a:latin typeface="微软雅黑" panose="020B0503020204020204" charset="-122"/>
              <a:ea typeface="微软雅黑" panose="020B0503020204020204" charset="-122"/>
            </a:endParaRPr>
          </a:p>
        </p:txBody>
      </p:sp>
      <p:sp>
        <p:nvSpPr>
          <p:cNvPr id="1373" name="圆角矩形 1372"/>
          <p:cNvSpPr/>
          <p:nvPr/>
        </p:nvSpPr>
        <p:spPr>
          <a:xfrm>
            <a:off x="4238625" y="1400175"/>
            <a:ext cx="3714750" cy="2343150"/>
          </a:xfrm>
          <a:prstGeom prst="roundRect">
            <a:avLst>
              <a:gd name="adj" fmla="val 2439"/>
            </a:avLst>
          </a:prstGeom>
          <a:solidFill>
            <a:srgbClr val="F7F9FC"/>
          </a:solidFill>
        </p:spPr>
        <p:txBody>
          <a:bodyPr/>
          <a:p/>
        </p:txBody>
      </p:sp>
      <p:sp>
        <p:nvSpPr>
          <p:cNvPr id="1374" name="任意多边形 1373"/>
          <p:cNvSpPr/>
          <p:nvPr/>
        </p:nvSpPr>
        <p:spPr>
          <a:xfrm>
            <a:off x="4238625" y="1400175"/>
            <a:ext cx="3714750" cy="2343150"/>
          </a:xfrm>
          <a:custGeom>
            <a:avLst/>
            <a:gdLst/>
            <a:ahLst/>
            <a:cxnLst/>
            <a:pathLst>
              <a:path w="390" h="246">
                <a:moveTo>
                  <a:pt x="384" y="0"/>
                </a:moveTo>
                <a:cubicBezTo>
                  <a:pt x="387" y="0"/>
                  <a:pt x="390" y="3"/>
                  <a:pt x="390" y="6"/>
                </a:cubicBezTo>
                <a:cubicBezTo>
                  <a:pt x="390" y="5"/>
                  <a:pt x="389" y="5"/>
                  <a:pt x="389" y="5"/>
                </a:cubicBezTo>
                <a:lnTo>
                  <a:pt x="1" y="5"/>
                </a:lnTo>
                <a:cubicBezTo>
                  <a:pt x="0" y="5"/>
                  <a:pt x="0" y="5"/>
                  <a:pt x="0" y="6"/>
                </a:cubicBezTo>
                <a:cubicBezTo>
                  <a:pt x="0" y="3"/>
                  <a:pt x="3" y="0"/>
                  <a:pt x="6" y="0"/>
                </a:cubicBezTo>
                <a:lnTo>
                  <a:pt x="384" y="0"/>
                </a:lnTo>
                <a:close/>
              </a:path>
            </a:pathLst>
          </a:custGeom>
          <a:solidFill>
            <a:srgbClr val="1E4FA8"/>
          </a:solidFill>
        </p:spPr>
        <p:txBody>
          <a:bodyPr/>
          <a:p/>
        </p:txBody>
      </p:sp>
      <p:sp>
        <p:nvSpPr>
          <p:cNvPr id="1375" name="圆角矩形 1374"/>
          <p:cNvSpPr/>
          <p:nvPr/>
        </p:nvSpPr>
        <p:spPr>
          <a:xfrm>
            <a:off x="4362450" y="1524000"/>
            <a:ext cx="742950" cy="209550"/>
          </a:xfrm>
          <a:prstGeom prst="roundRect">
            <a:avLst>
              <a:gd name="adj" fmla="val 13636"/>
            </a:avLst>
          </a:prstGeom>
          <a:solidFill>
            <a:srgbClr val="1E4FA8"/>
          </a:solidFill>
        </p:spPr>
        <p:txBody>
          <a:bodyPr/>
          <a:p/>
        </p:txBody>
      </p:sp>
      <p:sp>
        <p:nvSpPr>
          <p:cNvPr id="1376" name="文本框 1375" descr="{&quot;isTemplate&quot;:true,&quot;type&quot;:&quot;text&quot;}"/>
          <p:cNvSpPr txBox="1"/>
          <p:nvPr/>
        </p:nvSpPr>
        <p:spPr>
          <a:xfrm>
            <a:off x="4448175" y="1543050"/>
            <a:ext cx="571500" cy="171450"/>
          </a:xfrm>
          <a:prstGeom prst="rect">
            <a:avLst/>
          </a:prstGeom>
        </p:spPr>
        <p:txBody>
          <a:bodyPr wrap="none" lIns="0" tIns="0" rIns="0" bIns="0"/>
          <a:p>
            <a:pPr>
              <a:lnSpc>
                <a:spcPct val="100000"/>
              </a:lnSpc>
            </a:pPr>
            <a:r>
              <a:rPr lang="zh-CN" sz="1125" b="1">
                <a:solidFill>
                  <a:srgbClr val="FFFFFF"/>
                </a:solidFill>
                <a:latin typeface="微软雅黑" panose="020B0503020204020204" charset="-122"/>
                <a:ea typeface="微软雅黑" panose="020B0503020204020204" charset="-122"/>
              </a:rPr>
              <a:t>科学成果</a:t>
            </a:r>
            <a:endParaRPr lang="zh-CN" sz="1125" b="1">
              <a:solidFill>
                <a:srgbClr val="FFFFFF"/>
              </a:solidFill>
              <a:latin typeface="微软雅黑" panose="020B0503020204020204" charset="-122"/>
              <a:ea typeface="微软雅黑" panose="020B0503020204020204" charset="-122"/>
            </a:endParaRPr>
          </a:p>
        </p:txBody>
      </p:sp>
      <p:pic>
        <p:nvPicPr>
          <p:cNvPr id="1377" name="图片 1376"/>
          <p:cNvPicPr>
            <a:picLocks noChangeAspect="1"/>
          </p:cNvPicPr>
          <p:nvPr/>
        </p:nvPicPr>
        <p:blipFill>
          <a:blip/>
          <a:stretch>
            <a:fillRect/>
          </a:stretch>
        </p:blipFill>
        <p:spPr>
          <a:xfrm>
            <a:off x="5181600" y="1552575"/>
            <a:ext cx="161925" cy="161925"/>
          </a:xfrm>
          <a:prstGeom prst="rect">
            <a:avLst/>
          </a:prstGeom>
        </p:spPr>
      </p:pic>
      <p:sp>
        <p:nvSpPr>
          <p:cNvPr id="1378" name="文本框 1377" descr="{&quot;isTemplate&quot;:true,&quot;type&quot;:&quot;text&quot;}"/>
          <p:cNvSpPr txBox="1"/>
          <p:nvPr/>
        </p:nvSpPr>
        <p:spPr>
          <a:xfrm>
            <a:off x="5419725" y="1524000"/>
            <a:ext cx="120015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三类可量化输出</a:t>
            </a:r>
            <a:endParaRPr lang="zh-CN" sz="1350" b="1">
              <a:solidFill>
                <a:srgbClr val="0E3F8C"/>
              </a:solidFill>
              <a:latin typeface="微软雅黑" panose="020B0503020204020204" charset="-122"/>
              <a:ea typeface="微软雅黑" panose="020B0503020204020204" charset="-122"/>
            </a:endParaRPr>
          </a:p>
        </p:txBody>
      </p:sp>
      <p:sp>
        <p:nvSpPr>
          <p:cNvPr id="1379" name="文本框 1378" descr="{&quot;isTemplate&quot;:true,&quot;type&quot;:&quot;text&quot;}"/>
          <p:cNvSpPr txBox="1"/>
          <p:nvPr/>
        </p:nvSpPr>
        <p:spPr>
          <a:xfrm>
            <a:off x="4362450" y="1781175"/>
            <a:ext cx="3467100"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判断结构转变是否存在及其条件；量化不同时间聚合下的边界差异；识别主导约束及其迁移规律。</a:t>
            </a:r>
            <a:endParaRPr lang="zh-CN" sz="1165">
              <a:solidFill>
                <a:srgbClr val="1A2230"/>
              </a:solidFill>
              <a:latin typeface="微软雅黑" panose="020B0503020204020204" charset="-122"/>
              <a:ea typeface="微软雅黑" panose="020B0503020204020204" charset="-122"/>
            </a:endParaRPr>
          </a:p>
        </p:txBody>
      </p:sp>
      <p:sp>
        <p:nvSpPr>
          <p:cNvPr id="1380" name="圆角矩形 1379"/>
          <p:cNvSpPr/>
          <p:nvPr/>
        </p:nvSpPr>
        <p:spPr>
          <a:xfrm>
            <a:off x="4362450" y="2381250"/>
            <a:ext cx="3467100" cy="619125"/>
          </a:xfrm>
          <a:prstGeom prst="roundRect">
            <a:avLst>
              <a:gd name="adj" fmla="val 6154"/>
            </a:avLst>
          </a:prstGeom>
          <a:solidFill>
            <a:srgbClr val="E8EFF8"/>
          </a:solidFill>
        </p:spPr>
        <p:txBody>
          <a:bodyPr/>
          <a:p/>
        </p:txBody>
      </p:sp>
      <p:sp>
        <p:nvSpPr>
          <p:cNvPr id="1381" name="文本框 1380" descr="{&quot;isTemplate&quot;:true,&quot;type&quot;:&quot;text&quot;}"/>
          <p:cNvSpPr txBox="1"/>
          <p:nvPr/>
        </p:nvSpPr>
        <p:spPr>
          <a:xfrm>
            <a:off x="4429125" y="2447925"/>
            <a:ext cx="3333750" cy="485775"/>
          </a:xfrm>
          <a:prstGeom prst="rect">
            <a:avLst/>
          </a:prstGeom>
        </p:spPr>
        <p:txBody>
          <a:bodyPr wrap="square" lIns="0" tIns="0" rIns="0" bIns="0">
            <a:normAutofit/>
          </a:bodyPr>
          <a:p>
            <a:pPr>
              <a:lnSpc>
                <a:spcPct val="140000"/>
              </a:lnSpc>
            </a:pPr>
            <a:r>
              <a:rPr lang="zh-CN" sz="1125">
                <a:solidFill>
                  <a:srgbClr val="0E3F8C"/>
                </a:solidFill>
                <a:latin typeface="微软雅黑" panose="020B0503020204020204" charset="-122"/>
                <a:ea typeface="微软雅黑" panose="020B0503020204020204" charset="-122"/>
              </a:rPr>
              <a:t>判据：在替代参数、替代压力剖面与结构规则改变后方向一致</a:t>
            </a:r>
            <a:endParaRPr lang="zh-CN" sz="1125">
              <a:solidFill>
                <a:srgbClr val="0E3F8C"/>
              </a:solidFill>
              <a:latin typeface="微软雅黑" panose="020B0503020204020204" charset="-122"/>
              <a:ea typeface="微软雅黑" panose="020B0503020204020204" charset="-122"/>
            </a:endParaRPr>
          </a:p>
        </p:txBody>
      </p:sp>
      <p:sp>
        <p:nvSpPr>
          <p:cNvPr id="1382" name="文本框 1381" descr="{&quot;isTemplate&quot;:true,&quot;type&quot;:&quot;text&quot;}"/>
          <p:cNvSpPr txBox="1"/>
          <p:nvPr/>
        </p:nvSpPr>
        <p:spPr>
          <a:xfrm>
            <a:off x="4362450" y="3057525"/>
            <a:ext cx="3467100" cy="257175"/>
          </a:xfrm>
          <a:prstGeom prst="rect">
            <a:avLst/>
          </a:prstGeom>
        </p:spPr>
        <p:txBody>
          <a:bodyPr wrap="none" lIns="0" tIns="0" rIns="0" bIns="0"/>
          <a:p>
            <a:pPr>
              <a:lnSpc>
                <a:spcPct val="145000"/>
              </a:lnSpc>
            </a:pPr>
            <a:r>
              <a:rPr lang="zh-CN" sz="1125">
                <a:solidFill>
                  <a:srgbClr val="4A5568"/>
                </a:solidFill>
                <a:latin typeface="微软雅黑" panose="020B0503020204020204" charset="-122"/>
                <a:ea typeface="微软雅黑" panose="020B0503020204020204" charset="-122"/>
              </a:rPr>
              <a:t>·　解释相同年用水量为何产生不同峰值风险</a:t>
            </a:r>
            <a:endParaRPr lang="zh-CN" sz="1125">
              <a:solidFill>
                <a:srgbClr val="4A5568"/>
              </a:solidFill>
              <a:latin typeface="微软雅黑" panose="020B0503020204020204" charset="-122"/>
              <a:ea typeface="微软雅黑" panose="020B0503020204020204" charset="-122"/>
            </a:endParaRPr>
          </a:p>
        </p:txBody>
      </p:sp>
      <p:sp>
        <p:nvSpPr>
          <p:cNvPr id="1383" name="文本框 1382" descr="{&quot;isTemplate&quot;:true,&quot;type&quot;:&quot;text&quot;}"/>
          <p:cNvSpPr txBox="1"/>
          <p:nvPr/>
        </p:nvSpPr>
        <p:spPr>
          <a:xfrm>
            <a:off x="4362450" y="3314700"/>
            <a:ext cx="3467100" cy="257175"/>
          </a:xfrm>
          <a:prstGeom prst="rect">
            <a:avLst/>
          </a:prstGeom>
        </p:spPr>
        <p:txBody>
          <a:bodyPr wrap="none" lIns="0" tIns="0" rIns="0" bIns="0"/>
          <a:p>
            <a:pPr>
              <a:lnSpc>
                <a:spcPct val="145000"/>
              </a:lnSpc>
            </a:pPr>
            <a:r>
              <a:rPr lang="zh-CN" sz="1125">
                <a:solidFill>
                  <a:srgbClr val="4A5568"/>
                </a:solidFill>
                <a:latin typeface="微软雅黑" panose="020B0503020204020204" charset="-122"/>
                <a:ea typeface="微软雅黑" panose="020B0503020204020204" charset="-122"/>
              </a:rPr>
              <a:t>·　区分稳健主导区与竞争约束区</a:t>
            </a:r>
            <a:endParaRPr lang="zh-CN" sz="1125">
              <a:solidFill>
                <a:srgbClr val="4A5568"/>
              </a:solidFill>
              <a:latin typeface="微软雅黑" panose="020B0503020204020204" charset="-122"/>
              <a:ea typeface="微软雅黑" panose="020B0503020204020204" charset="-122"/>
            </a:endParaRPr>
          </a:p>
        </p:txBody>
      </p:sp>
      <p:sp>
        <p:nvSpPr>
          <p:cNvPr id="1384" name="圆角矩形 1383"/>
          <p:cNvSpPr/>
          <p:nvPr/>
        </p:nvSpPr>
        <p:spPr>
          <a:xfrm>
            <a:off x="8086725" y="1400175"/>
            <a:ext cx="3724275" cy="2343150"/>
          </a:xfrm>
          <a:prstGeom prst="roundRect">
            <a:avLst>
              <a:gd name="adj" fmla="val 2439"/>
            </a:avLst>
          </a:prstGeom>
          <a:solidFill>
            <a:srgbClr val="F7F9FC"/>
          </a:solidFill>
        </p:spPr>
        <p:txBody>
          <a:bodyPr/>
          <a:p/>
        </p:txBody>
      </p:sp>
      <p:sp>
        <p:nvSpPr>
          <p:cNvPr id="1385" name="任意多边形 1384"/>
          <p:cNvSpPr/>
          <p:nvPr/>
        </p:nvSpPr>
        <p:spPr>
          <a:xfrm>
            <a:off x="8086725" y="1400175"/>
            <a:ext cx="3724275" cy="2343150"/>
          </a:xfrm>
          <a:custGeom>
            <a:avLst/>
            <a:gdLst/>
            <a:ahLst/>
            <a:cxnLst/>
            <a:pathLst>
              <a:path w="391" h="246">
                <a:moveTo>
                  <a:pt x="385" y="0"/>
                </a:moveTo>
                <a:cubicBezTo>
                  <a:pt x="388" y="0"/>
                  <a:pt x="391" y="3"/>
                  <a:pt x="391" y="6"/>
                </a:cubicBezTo>
                <a:cubicBezTo>
                  <a:pt x="391" y="5"/>
                  <a:pt x="390" y="5"/>
                  <a:pt x="390" y="5"/>
                </a:cubicBezTo>
                <a:lnTo>
                  <a:pt x="1" y="5"/>
                </a:lnTo>
                <a:cubicBezTo>
                  <a:pt x="0" y="5"/>
                  <a:pt x="0" y="5"/>
                  <a:pt x="0" y="6"/>
                </a:cubicBezTo>
                <a:cubicBezTo>
                  <a:pt x="0" y="3"/>
                  <a:pt x="3" y="0"/>
                  <a:pt x="6" y="0"/>
                </a:cubicBezTo>
                <a:lnTo>
                  <a:pt x="385" y="0"/>
                </a:lnTo>
                <a:close/>
              </a:path>
            </a:pathLst>
          </a:custGeom>
          <a:solidFill>
            <a:srgbClr val="1E4FA8"/>
          </a:solidFill>
        </p:spPr>
        <p:txBody>
          <a:bodyPr/>
          <a:p/>
        </p:txBody>
      </p:sp>
      <p:sp>
        <p:nvSpPr>
          <p:cNvPr id="1386" name="圆角矩形 1385"/>
          <p:cNvSpPr/>
          <p:nvPr/>
        </p:nvSpPr>
        <p:spPr>
          <a:xfrm>
            <a:off x="8210550" y="1524000"/>
            <a:ext cx="742950" cy="209550"/>
          </a:xfrm>
          <a:prstGeom prst="roundRect">
            <a:avLst>
              <a:gd name="adj" fmla="val 13636"/>
            </a:avLst>
          </a:prstGeom>
          <a:solidFill>
            <a:srgbClr val="1E4FA8"/>
          </a:solidFill>
        </p:spPr>
        <p:txBody>
          <a:bodyPr/>
          <a:p/>
        </p:txBody>
      </p:sp>
      <p:sp>
        <p:nvSpPr>
          <p:cNvPr id="1387" name="文本框 1386" descr="{&quot;isTemplate&quot;:true,&quot;type&quot;:&quot;text&quot;}"/>
          <p:cNvSpPr txBox="1"/>
          <p:nvPr/>
        </p:nvSpPr>
        <p:spPr>
          <a:xfrm>
            <a:off x="8296275" y="1543050"/>
            <a:ext cx="571500" cy="171450"/>
          </a:xfrm>
          <a:prstGeom prst="rect">
            <a:avLst/>
          </a:prstGeom>
        </p:spPr>
        <p:txBody>
          <a:bodyPr wrap="none" lIns="0" tIns="0" rIns="0" bIns="0"/>
          <a:p>
            <a:pPr>
              <a:lnSpc>
                <a:spcPct val="100000"/>
              </a:lnSpc>
            </a:pPr>
            <a:r>
              <a:rPr lang="zh-CN" sz="1125" b="1">
                <a:solidFill>
                  <a:srgbClr val="FFFFFF"/>
                </a:solidFill>
                <a:latin typeface="微软雅黑" panose="020B0503020204020204" charset="-122"/>
                <a:ea typeface="微软雅黑" panose="020B0503020204020204" charset="-122"/>
              </a:rPr>
              <a:t>应用成果</a:t>
            </a:r>
            <a:endParaRPr lang="zh-CN" sz="1125" b="1">
              <a:solidFill>
                <a:srgbClr val="FFFFFF"/>
              </a:solidFill>
              <a:latin typeface="微软雅黑" panose="020B0503020204020204" charset="-122"/>
              <a:ea typeface="微软雅黑" panose="020B0503020204020204" charset="-122"/>
            </a:endParaRPr>
          </a:p>
        </p:txBody>
      </p:sp>
      <p:pic>
        <p:nvPicPr>
          <p:cNvPr id="1388" name="图片 1387"/>
          <p:cNvPicPr>
            <a:picLocks noChangeAspect="1"/>
          </p:cNvPicPr>
          <p:nvPr/>
        </p:nvPicPr>
        <p:blipFill>
          <a:blip/>
          <a:stretch>
            <a:fillRect/>
          </a:stretch>
        </p:blipFill>
        <p:spPr>
          <a:xfrm>
            <a:off x="9029700" y="1552575"/>
            <a:ext cx="161925" cy="161925"/>
          </a:xfrm>
          <a:prstGeom prst="rect">
            <a:avLst/>
          </a:prstGeom>
        </p:spPr>
      </p:pic>
      <p:sp>
        <p:nvSpPr>
          <p:cNvPr id="1389" name="文本框 1388" descr="{&quot;isTemplate&quot;:true,&quot;type&quot;:&quot;text&quot;}"/>
          <p:cNvSpPr txBox="1"/>
          <p:nvPr/>
        </p:nvSpPr>
        <p:spPr>
          <a:xfrm>
            <a:off x="9267825" y="1524000"/>
            <a:ext cx="1371600" cy="209550"/>
          </a:xfrm>
          <a:prstGeom prst="rect">
            <a:avLst/>
          </a:prstGeom>
        </p:spPr>
        <p:txBody>
          <a:bodyPr wrap="none" lIns="0" tIns="0" rIns="0" bIns="0"/>
          <a:p>
            <a:pPr>
              <a:lnSpc>
                <a:spcPct val="100000"/>
              </a:lnSpc>
            </a:pPr>
            <a:r>
              <a:rPr lang="zh-CN" sz="1350" b="1">
                <a:solidFill>
                  <a:srgbClr val="0E3F8C"/>
                </a:solidFill>
                <a:latin typeface="微软雅黑" panose="020B0503020204020204" charset="-122"/>
                <a:ea typeface="微软雅黑" panose="020B0503020204020204" charset="-122"/>
              </a:rPr>
              <a:t>可比较的决策依据</a:t>
            </a:r>
            <a:endParaRPr lang="zh-CN" sz="1350" b="1">
              <a:solidFill>
                <a:srgbClr val="0E3F8C"/>
              </a:solidFill>
              <a:latin typeface="微软雅黑" panose="020B0503020204020204" charset="-122"/>
              <a:ea typeface="微软雅黑" panose="020B0503020204020204" charset="-122"/>
            </a:endParaRPr>
          </a:p>
        </p:txBody>
      </p:sp>
      <p:sp>
        <p:nvSpPr>
          <p:cNvPr id="1390" name="文本框 1389" descr="{&quot;isTemplate&quot;:true,&quot;type&quot;:&quot;text&quot;}"/>
          <p:cNvSpPr txBox="1"/>
          <p:nvPr/>
        </p:nvSpPr>
        <p:spPr>
          <a:xfrm>
            <a:off x="8210550" y="1781175"/>
            <a:ext cx="3476625"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形成不同状态下的响应面、参数域与干预边界，为布局与水务论证提供口径。</a:t>
            </a:r>
            <a:endParaRPr lang="zh-CN" sz="1165">
              <a:solidFill>
                <a:srgbClr val="1A2230"/>
              </a:solidFill>
              <a:latin typeface="微软雅黑" panose="020B0503020204020204" charset="-122"/>
              <a:ea typeface="微软雅黑" panose="020B0503020204020204" charset="-122"/>
            </a:endParaRPr>
          </a:p>
        </p:txBody>
      </p:sp>
      <p:sp>
        <p:nvSpPr>
          <p:cNvPr id="1391" name="圆角矩形 1390"/>
          <p:cNvSpPr/>
          <p:nvPr/>
        </p:nvSpPr>
        <p:spPr>
          <a:xfrm>
            <a:off x="8210550" y="2381250"/>
            <a:ext cx="3476625" cy="619125"/>
          </a:xfrm>
          <a:prstGeom prst="roundRect">
            <a:avLst>
              <a:gd name="adj" fmla="val 6154"/>
            </a:avLst>
          </a:prstGeom>
          <a:solidFill>
            <a:srgbClr val="E8EFF8"/>
          </a:solidFill>
        </p:spPr>
        <p:txBody>
          <a:bodyPr/>
          <a:p/>
        </p:txBody>
      </p:sp>
      <p:sp>
        <p:nvSpPr>
          <p:cNvPr id="1392" name="文本框 1391" descr="{&quot;isTemplate&quot;:true,&quot;type&quot;:&quot;text&quot;}"/>
          <p:cNvSpPr txBox="1"/>
          <p:nvPr/>
        </p:nvSpPr>
        <p:spPr>
          <a:xfrm>
            <a:off x="8277225" y="2447925"/>
            <a:ext cx="3343275" cy="485775"/>
          </a:xfrm>
          <a:prstGeom prst="rect">
            <a:avLst/>
          </a:prstGeom>
        </p:spPr>
        <p:txBody>
          <a:bodyPr wrap="square" lIns="0" tIns="0" rIns="0" bIns="0">
            <a:normAutofit/>
          </a:bodyPr>
          <a:p>
            <a:pPr>
              <a:lnSpc>
                <a:spcPct val="140000"/>
              </a:lnSpc>
            </a:pPr>
            <a:r>
              <a:rPr lang="zh-CN" sz="1125">
                <a:solidFill>
                  <a:srgbClr val="0E3F8C"/>
                </a:solidFill>
                <a:latin typeface="微软雅黑" panose="020B0503020204020204" charset="-122"/>
                <a:ea typeface="微软雅黑" panose="020B0503020204020204" charset="-122"/>
              </a:rPr>
              <a:t>呈现方式：容量区间、适用域、主导瓶颈，而非单点数值</a:t>
            </a:r>
            <a:endParaRPr lang="zh-CN" sz="1125">
              <a:solidFill>
                <a:srgbClr val="0E3F8C"/>
              </a:solidFill>
              <a:latin typeface="微软雅黑" panose="020B0503020204020204" charset="-122"/>
              <a:ea typeface="微软雅黑" panose="020B0503020204020204" charset="-122"/>
            </a:endParaRPr>
          </a:p>
        </p:txBody>
      </p:sp>
      <p:sp>
        <p:nvSpPr>
          <p:cNvPr id="1393" name="文本框 1392" descr="{&quot;isTemplate&quot;:true,&quot;type&quot;:&quot;text&quot;}"/>
          <p:cNvSpPr txBox="1"/>
          <p:nvPr/>
        </p:nvSpPr>
        <p:spPr>
          <a:xfrm>
            <a:off x="8210550" y="3057525"/>
            <a:ext cx="3476625" cy="257175"/>
          </a:xfrm>
          <a:prstGeom prst="rect">
            <a:avLst/>
          </a:prstGeom>
        </p:spPr>
        <p:txBody>
          <a:bodyPr wrap="none" lIns="0" tIns="0" rIns="0" bIns="0"/>
          <a:p>
            <a:pPr>
              <a:lnSpc>
                <a:spcPct val="145000"/>
              </a:lnSpc>
            </a:pPr>
            <a:r>
              <a:rPr lang="zh-CN" sz="1125">
                <a:solidFill>
                  <a:srgbClr val="4A5568"/>
                </a:solidFill>
                <a:latin typeface="微软雅黑" panose="020B0503020204020204" charset="-122"/>
                <a:ea typeface="微软雅黑" panose="020B0503020204020204" charset="-122"/>
              </a:rPr>
              <a:t>·　识别节水措施可能造成的能耗与成本转移</a:t>
            </a:r>
            <a:endParaRPr lang="zh-CN" sz="1125">
              <a:solidFill>
                <a:srgbClr val="4A5568"/>
              </a:solidFill>
              <a:latin typeface="微软雅黑" panose="020B0503020204020204" charset="-122"/>
              <a:ea typeface="微软雅黑" panose="020B0503020204020204" charset="-122"/>
            </a:endParaRPr>
          </a:p>
        </p:txBody>
      </p:sp>
      <p:sp>
        <p:nvSpPr>
          <p:cNvPr id="1394" name="文本框 1393" descr="{&quot;isTemplate&quot;:true,&quot;type&quot;:&quot;text&quot;}"/>
          <p:cNvSpPr txBox="1"/>
          <p:nvPr/>
        </p:nvSpPr>
        <p:spPr>
          <a:xfrm>
            <a:off x="8210550" y="3314700"/>
            <a:ext cx="3476625" cy="257175"/>
          </a:xfrm>
          <a:prstGeom prst="rect">
            <a:avLst/>
          </a:prstGeom>
        </p:spPr>
        <p:txBody>
          <a:bodyPr wrap="none" lIns="0" tIns="0" rIns="0" bIns="0"/>
          <a:p>
            <a:pPr>
              <a:lnSpc>
                <a:spcPct val="145000"/>
              </a:lnSpc>
            </a:pPr>
            <a:r>
              <a:rPr lang="zh-CN" sz="1125">
                <a:solidFill>
                  <a:srgbClr val="4A5568"/>
                </a:solidFill>
                <a:latin typeface="微软雅黑" panose="020B0503020204020204" charset="-122"/>
                <a:ea typeface="微软雅黑" panose="020B0503020204020204" charset="-122"/>
              </a:rPr>
              <a:t>·　本地物理水流与异地电力水足迹分账户</a:t>
            </a:r>
            <a:endParaRPr lang="zh-CN" sz="1125">
              <a:solidFill>
                <a:srgbClr val="4A5568"/>
              </a:solidFill>
              <a:latin typeface="微软雅黑" panose="020B0503020204020204" charset="-122"/>
              <a:ea typeface="微软雅黑" panose="020B0503020204020204" charset="-122"/>
            </a:endParaRPr>
          </a:p>
        </p:txBody>
      </p:sp>
      <p:sp>
        <p:nvSpPr>
          <p:cNvPr id="1395" name="圆角矩形 1394"/>
          <p:cNvSpPr/>
          <p:nvPr/>
        </p:nvSpPr>
        <p:spPr>
          <a:xfrm>
            <a:off x="381000" y="3752850"/>
            <a:ext cx="3724275" cy="1828800"/>
          </a:xfrm>
          <a:prstGeom prst="roundRect">
            <a:avLst>
              <a:gd name="adj" fmla="val 3125"/>
            </a:avLst>
          </a:prstGeom>
          <a:solidFill>
            <a:srgbClr val="0E3F8C"/>
          </a:solidFill>
        </p:spPr>
        <p:txBody>
          <a:bodyPr/>
          <a:p/>
        </p:txBody>
      </p:sp>
      <p:sp>
        <p:nvSpPr>
          <p:cNvPr id="1396" name="圆角矩形 1395"/>
          <p:cNvSpPr/>
          <p:nvPr/>
        </p:nvSpPr>
        <p:spPr>
          <a:xfrm>
            <a:off x="504825" y="3876675"/>
            <a:ext cx="323850" cy="323850"/>
          </a:xfrm>
          <a:prstGeom prst="roundRect">
            <a:avLst>
              <a:gd name="adj" fmla="val 11765"/>
            </a:avLst>
          </a:prstGeom>
          <a:solidFill>
            <a:srgbClr val="FFC107"/>
          </a:solidFill>
        </p:spPr>
        <p:txBody>
          <a:bodyPr/>
          <a:p/>
        </p:txBody>
      </p:sp>
      <p:pic>
        <p:nvPicPr>
          <p:cNvPr id="1397" name="图片 1396"/>
          <p:cNvPicPr>
            <a:picLocks noChangeAspect="1"/>
          </p:cNvPicPr>
          <p:nvPr/>
        </p:nvPicPr>
        <p:blipFill>
          <a:blip/>
          <a:stretch>
            <a:fillRect/>
          </a:stretch>
        </p:blipFill>
        <p:spPr>
          <a:xfrm>
            <a:off x="581025" y="3952875"/>
            <a:ext cx="171450" cy="171450"/>
          </a:xfrm>
          <a:prstGeom prst="rect">
            <a:avLst/>
          </a:prstGeom>
        </p:spPr>
      </p:pic>
      <p:sp>
        <p:nvSpPr>
          <p:cNvPr id="1398" name="文本框 1397" descr="{&quot;isTemplate&quot;:true,&quot;type&quot;:&quot;text&quot;}"/>
          <p:cNvSpPr txBox="1"/>
          <p:nvPr/>
        </p:nvSpPr>
        <p:spPr>
          <a:xfrm>
            <a:off x="904875" y="3933825"/>
            <a:ext cx="2409825"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拟创新一</a:t>
            </a:r>
            <a:r>
              <a:rPr lang="en-US" sz="1425" b="1">
                <a:solidFill>
                  <a:srgbClr val="FFFFFF"/>
                </a:solidFill>
                <a:latin typeface="微软雅黑" panose="020B0503020204020204" charset="-122"/>
                <a:ea typeface="微软雅黑" panose="020B0503020204020204" charset="-122"/>
              </a:rPr>
              <a:t> </a:t>
            </a:r>
            <a:r>
              <a:rPr lang="zh-CN" sz="1425" b="1">
                <a:solidFill>
                  <a:srgbClr val="FFFFFF"/>
                </a:solidFill>
                <a:latin typeface="微软雅黑" panose="020B0503020204020204" charset="-122"/>
                <a:ea typeface="微软雅黑" panose="020B0503020204020204" charset="-122"/>
              </a:rPr>
              <a:t>系统边界与建模对象</a:t>
            </a:r>
            <a:endParaRPr lang="zh-CN" sz="1425" b="1">
              <a:solidFill>
                <a:srgbClr val="FFFFFF"/>
              </a:solidFill>
              <a:latin typeface="微软雅黑" panose="020B0503020204020204" charset="-122"/>
              <a:ea typeface="微软雅黑" panose="020B0503020204020204" charset="-122"/>
            </a:endParaRPr>
          </a:p>
        </p:txBody>
      </p:sp>
      <p:sp>
        <p:nvSpPr>
          <p:cNvPr id="1399" name="文本框 1398" descr="{&quot;isTemplate&quot;:true,&quot;type&quot;:&quot;text&quot;}"/>
          <p:cNvSpPr txBox="1"/>
          <p:nvPr/>
        </p:nvSpPr>
        <p:spPr>
          <a:xfrm>
            <a:off x="504825" y="4248150"/>
            <a:ext cx="3476625" cy="533400"/>
          </a:xfrm>
          <a:prstGeom prst="rect">
            <a:avLst/>
          </a:prstGeom>
        </p:spPr>
        <p:txBody>
          <a:bodyPr wrap="square" lIns="0" tIns="0" rIns="0" bIns="0">
            <a:normAutofit/>
          </a:bodyPr>
          <a:p>
            <a:pPr>
              <a:lnSpc>
                <a:spcPct val="150000"/>
              </a:lnSpc>
            </a:pPr>
            <a:r>
              <a:rPr lang="zh-CN" sz="1165">
                <a:solidFill>
                  <a:srgbClr val="E4EDF9"/>
                </a:solidFill>
                <a:latin typeface="微软雅黑" panose="020B0503020204020204" charset="-122"/>
                <a:ea typeface="微软雅黑" panose="020B0503020204020204" charset="-122"/>
              </a:rPr>
              <a:t>把</a:t>
            </a:r>
            <a:r>
              <a:rPr lang="en-US" sz="1165">
                <a:solidFill>
                  <a:srgbClr val="E4EDF9"/>
                </a:solidFill>
                <a:latin typeface="微软雅黑" panose="020B0503020204020204" charset="-122"/>
                <a:ea typeface="微软雅黑" panose="020B0503020204020204" charset="-122"/>
              </a:rPr>
              <a:t> AI </a:t>
            </a:r>
            <a:r>
              <a:rPr lang="zh-CN" sz="1165">
                <a:solidFill>
                  <a:srgbClr val="E4EDF9"/>
                </a:solidFill>
                <a:latin typeface="微软雅黑" panose="020B0503020204020204" charset="-122"/>
                <a:ea typeface="微软雅黑" panose="020B0503020204020204" charset="-122"/>
              </a:rPr>
              <a:t>算力中心从</a:t>
            </a:r>
            <a:r>
              <a:rPr lang="en-US" sz="1165">
                <a:solidFill>
                  <a:srgbClr val="E4EDF9"/>
                </a:solidFill>
                <a:latin typeface="微软雅黑" panose="020B0503020204020204" charset="-122"/>
                <a:ea typeface="微软雅黑" panose="020B0503020204020204" charset="-122"/>
              </a:rPr>
              <a:t>"</a:t>
            </a:r>
            <a:r>
              <a:rPr lang="zh-CN" sz="1165">
                <a:solidFill>
                  <a:srgbClr val="E4EDF9"/>
                </a:solidFill>
                <a:latin typeface="微软雅黑" panose="020B0503020204020204" charset="-122"/>
                <a:ea typeface="微软雅黑" panose="020B0503020204020204" charset="-122"/>
              </a:rPr>
              <a:t>黑箱</a:t>
            </a:r>
            <a:r>
              <a:rPr lang="en-US" sz="1165">
                <a:solidFill>
                  <a:srgbClr val="E4EDF9"/>
                </a:solidFill>
                <a:latin typeface="微软雅黑" panose="020B0503020204020204" charset="-122"/>
                <a:ea typeface="微软雅黑" panose="020B0503020204020204" charset="-122"/>
              </a:rPr>
              <a:t>"</a:t>
            </a:r>
            <a:r>
              <a:rPr lang="zh-CN" sz="1165">
                <a:solidFill>
                  <a:srgbClr val="E4EDF9"/>
                </a:solidFill>
                <a:latin typeface="微软雅黑" panose="020B0503020204020204" charset="-122"/>
                <a:ea typeface="微软雅黑" panose="020B0503020204020204" charset="-122"/>
              </a:rPr>
              <a:t>转化为城市水系统的可计算节点，建立水量水质闭合。</a:t>
            </a:r>
            <a:endParaRPr lang="zh-CN" sz="1165">
              <a:solidFill>
                <a:srgbClr val="E4EDF9"/>
              </a:solidFill>
              <a:latin typeface="微软雅黑" panose="020B0503020204020204" charset="-122"/>
              <a:ea typeface="微软雅黑" panose="020B0503020204020204" charset="-122"/>
            </a:endParaRPr>
          </a:p>
        </p:txBody>
      </p:sp>
      <p:sp>
        <p:nvSpPr>
          <p:cNvPr id="1400" name="圆角矩形 1399"/>
          <p:cNvSpPr/>
          <p:nvPr/>
        </p:nvSpPr>
        <p:spPr>
          <a:xfrm>
            <a:off x="4238625" y="3752850"/>
            <a:ext cx="3714750" cy="1828800"/>
          </a:xfrm>
          <a:prstGeom prst="roundRect">
            <a:avLst>
              <a:gd name="adj" fmla="val 3125"/>
            </a:avLst>
          </a:prstGeom>
          <a:solidFill>
            <a:srgbClr val="F0F5FC"/>
          </a:solidFill>
          <a:ln w="12700">
            <a:solidFill>
              <a:srgbClr val="D6DCE5"/>
            </a:solidFill>
            <a:prstDash val="solid"/>
          </a:ln>
        </p:spPr>
        <p:txBody>
          <a:bodyPr/>
          <a:p/>
        </p:txBody>
      </p:sp>
      <p:sp>
        <p:nvSpPr>
          <p:cNvPr id="1401" name="圆角矩形 1400"/>
          <p:cNvSpPr/>
          <p:nvPr/>
        </p:nvSpPr>
        <p:spPr>
          <a:xfrm>
            <a:off x="4362450" y="3876675"/>
            <a:ext cx="323850" cy="323850"/>
          </a:xfrm>
          <a:prstGeom prst="roundRect">
            <a:avLst>
              <a:gd name="adj" fmla="val 11765"/>
            </a:avLst>
          </a:prstGeom>
          <a:solidFill>
            <a:srgbClr val="1E4FA8"/>
          </a:solidFill>
        </p:spPr>
        <p:txBody>
          <a:bodyPr/>
          <a:p/>
        </p:txBody>
      </p:sp>
      <p:pic>
        <p:nvPicPr>
          <p:cNvPr id="1402" name="图片 1401"/>
          <p:cNvPicPr>
            <a:picLocks noChangeAspect="1"/>
          </p:cNvPicPr>
          <p:nvPr/>
        </p:nvPicPr>
        <p:blipFill>
          <a:blip/>
          <a:stretch>
            <a:fillRect/>
          </a:stretch>
        </p:blipFill>
        <p:spPr>
          <a:xfrm>
            <a:off x="4438650" y="3952875"/>
            <a:ext cx="171450" cy="171450"/>
          </a:xfrm>
          <a:prstGeom prst="rect">
            <a:avLst/>
          </a:prstGeom>
        </p:spPr>
      </p:pic>
      <p:sp>
        <p:nvSpPr>
          <p:cNvPr id="1403" name="文本框 1402" descr="{&quot;isTemplate&quot;:true,&quot;type&quot;:&quot;text&quot;}"/>
          <p:cNvSpPr txBox="1"/>
          <p:nvPr/>
        </p:nvSpPr>
        <p:spPr>
          <a:xfrm>
            <a:off x="4762500" y="3933825"/>
            <a:ext cx="1866900"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拟创新二</a:t>
            </a:r>
            <a:r>
              <a:rPr lang="en-US" sz="1425" b="1">
                <a:solidFill>
                  <a:srgbClr val="0E3F8C"/>
                </a:solidFill>
                <a:latin typeface="微软雅黑" panose="020B0503020204020204" charset="-122"/>
                <a:ea typeface="微软雅黑" panose="020B0503020204020204" charset="-122"/>
              </a:rPr>
              <a:t> </a:t>
            </a:r>
            <a:r>
              <a:rPr lang="zh-CN" sz="1425" b="1">
                <a:solidFill>
                  <a:srgbClr val="0E3F8C"/>
                </a:solidFill>
                <a:latin typeface="微软雅黑" panose="020B0503020204020204" charset="-122"/>
                <a:ea typeface="微软雅黑" panose="020B0503020204020204" charset="-122"/>
              </a:rPr>
              <a:t>时间尺度机制</a:t>
            </a:r>
            <a:endParaRPr lang="zh-CN" sz="1425" b="1">
              <a:solidFill>
                <a:srgbClr val="0E3F8C"/>
              </a:solidFill>
              <a:latin typeface="微软雅黑" panose="020B0503020204020204" charset="-122"/>
              <a:ea typeface="微软雅黑" panose="020B0503020204020204" charset="-122"/>
            </a:endParaRPr>
          </a:p>
        </p:txBody>
      </p:sp>
      <p:sp>
        <p:nvSpPr>
          <p:cNvPr id="1404" name="文本框 1403" descr="{&quot;isTemplate&quot;:true,&quot;type&quot;:&quot;text&quot;}"/>
          <p:cNvSpPr txBox="1"/>
          <p:nvPr/>
        </p:nvSpPr>
        <p:spPr>
          <a:xfrm>
            <a:off x="4362450" y="4248150"/>
            <a:ext cx="3467100"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提出并检验时间尺度依赖边界的机制，解释相同年用水量的不同峰值风险。</a:t>
            </a:r>
            <a:endParaRPr lang="zh-CN" sz="1165">
              <a:solidFill>
                <a:srgbClr val="1A2230"/>
              </a:solidFill>
              <a:latin typeface="微软雅黑" panose="020B0503020204020204" charset="-122"/>
              <a:ea typeface="微软雅黑" panose="020B0503020204020204" charset="-122"/>
            </a:endParaRPr>
          </a:p>
        </p:txBody>
      </p:sp>
      <p:sp>
        <p:nvSpPr>
          <p:cNvPr id="1405" name="圆角矩形 1404"/>
          <p:cNvSpPr/>
          <p:nvPr/>
        </p:nvSpPr>
        <p:spPr>
          <a:xfrm>
            <a:off x="8086725" y="3752850"/>
            <a:ext cx="3724275" cy="1828800"/>
          </a:xfrm>
          <a:prstGeom prst="roundRect">
            <a:avLst>
              <a:gd name="adj" fmla="val 3125"/>
            </a:avLst>
          </a:prstGeom>
          <a:solidFill>
            <a:srgbClr val="F0F5FC"/>
          </a:solidFill>
          <a:ln w="12700">
            <a:solidFill>
              <a:srgbClr val="D6DCE5"/>
            </a:solidFill>
            <a:prstDash val="solid"/>
          </a:ln>
        </p:spPr>
        <p:txBody>
          <a:bodyPr/>
          <a:p/>
        </p:txBody>
      </p:sp>
      <p:sp>
        <p:nvSpPr>
          <p:cNvPr id="1406" name="圆角矩形 1405"/>
          <p:cNvSpPr/>
          <p:nvPr/>
        </p:nvSpPr>
        <p:spPr>
          <a:xfrm>
            <a:off x="8210550" y="3876675"/>
            <a:ext cx="323850" cy="323850"/>
          </a:xfrm>
          <a:prstGeom prst="roundRect">
            <a:avLst>
              <a:gd name="adj" fmla="val 11765"/>
            </a:avLst>
          </a:prstGeom>
          <a:solidFill>
            <a:srgbClr val="1E4FA8"/>
          </a:solidFill>
        </p:spPr>
        <p:txBody>
          <a:bodyPr/>
          <a:p/>
        </p:txBody>
      </p:sp>
      <p:pic>
        <p:nvPicPr>
          <p:cNvPr id="1407" name="图片 1406"/>
          <p:cNvPicPr>
            <a:picLocks noChangeAspect="1"/>
          </p:cNvPicPr>
          <p:nvPr/>
        </p:nvPicPr>
        <p:blipFill>
          <a:blip/>
          <a:stretch>
            <a:fillRect/>
          </a:stretch>
        </p:blipFill>
        <p:spPr>
          <a:xfrm>
            <a:off x="8286750" y="3952875"/>
            <a:ext cx="171450" cy="171450"/>
          </a:xfrm>
          <a:prstGeom prst="rect">
            <a:avLst/>
          </a:prstGeom>
        </p:spPr>
      </p:pic>
      <p:sp>
        <p:nvSpPr>
          <p:cNvPr id="1408" name="文本框 1407" descr="{&quot;isTemplate&quot;:true,&quot;type&quot;:&quot;text&quot;}"/>
          <p:cNvSpPr txBox="1"/>
          <p:nvPr/>
        </p:nvSpPr>
        <p:spPr>
          <a:xfrm>
            <a:off x="8610600" y="3933825"/>
            <a:ext cx="2047875"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拟创新三</a:t>
            </a:r>
            <a:r>
              <a:rPr lang="en-US" sz="1425" b="1">
                <a:solidFill>
                  <a:srgbClr val="0E3F8C"/>
                </a:solidFill>
                <a:latin typeface="微软雅黑" panose="020B0503020204020204" charset="-122"/>
                <a:ea typeface="微软雅黑" panose="020B0503020204020204" charset="-122"/>
              </a:rPr>
              <a:t> </a:t>
            </a:r>
            <a:r>
              <a:rPr lang="zh-CN" sz="1425" b="1">
                <a:solidFill>
                  <a:srgbClr val="0E3F8C"/>
                </a:solidFill>
                <a:latin typeface="微软雅黑" panose="020B0503020204020204" charset="-122"/>
                <a:ea typeface="微软雅黑" panose="020B0503020204020204" charset="-122"/>
              </a:rPr>
              <a:t>条件化承载框架</a:t>
            </a:r>
            <a:endParaRPr lang="zh-CN" sz="1425" b="1">
              <a:solidFill>
                <a:srgbClr val="0E3F8C"/>
              </a:solidFill>
              <a:latin typeface="微软雅黑" panose="020B0503020204020204" charset="-122"/>
              <a:ea typeface="微软雅黑" panose="020B0503020204020204" charset="-122"/>
            </a:endParaRPr>
          </a:p>
        </p:txBody>
      </p:sp>
      <p:sp>
        <p:nvSpPr>
          <p:cNvPr id="1409" name="文本框 1408" descr="{&quot;isTemplate&quot;:true,&quot;type&quot;:&quot;text&quot;}"/>
          <p:cNvSpPr txBox="1"/>
          <p:nvPr/>
        </p:nvSpPr>
        <p:spPr>
          <a:xfrm>
            <a:off x="8210550" y="4248150"/>
            <a:ext cx="3476625"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将</a:t>
            </a:r>
            <a:r>
              <a:rPr lang="en-US" sz="1165">
                <a:solidFill>
                  <a:srgbClr val="1A2230"/>
                </a:solidFill>
                <a:latin typeface="微软雅黑" panose="020B0503020204020204" charset="-122"/>
                <a:ea typeface="微软雅黑" panose="020B0503020204020204" charset="-122"/>
              </a:rPr>
              <a:t> AI </a:t>
            </a:r>
            <a:r>
              <a:rPr lang="zh-CN" sz="1165">
                <a:solidFill>
                  <a:srgbClr val="1A2230"/>
                </a:solidFill>
                <a:latin typeface="微软雅黑" panose="020B0503020204020204" charset="-122"/>
                <a:ea typeface="微软雅黑" panose="020B0503020204020204" charset="-122"/>
              </a:rPr>
              <a:t>承载容量定义为条件化可行边界，揭示瓶颈迁移与再生水收益转折。</a:t>
            </a:r>
            <a:endParaRPr lang="zh-CN" sz="1165">
              <a:solidFill>
                <a:srgbClr val="1A2230"/>
              </a:solidFill>
              <a:latin typeface="微软雅黑" panose="020B0503020204020204" charset="-122"/>
              <a:ea typeface="微软雅黑" panose="020B0503020204020204" charset="-122"/>
            </a:endParaRPr>
          </a:p>
        </p:txBody>
      </p:sp>
      <p:sp>
        <p:nvSpPr>
          <p:cNvPr id="1410" name="矩形 1409"/>
          <p:cNvSpPr/>
          <p:nvPr/>
        </p:nvSpPr>
        <p:spPr>
          <a:xfrm>
            <a:off x="428625" y="5695950"/>
            <a:ext cx="11430000" cy="476250"/>
          </a:xfrm>
          <a:prstGeom prst="rect">
            <a:avLst/>
          </a:prstGeom>
          <a:solidFill>
            <a:srgbClr val="E8EFF8"/>
          </a:solidFill>
        </p:spPr>
        <p:txBody>
          <a:bodyPr/>
          <a:p/>
        </p:txBody>
      </p:sp>
      <p:sp>
        <p:nvSpPr>
          <p:cNvPr id="1411" name="任意多边形 1410"/>
          <p:cNvSpPr/>
          <p:nvPr/>
        </p:nvSpPr>
        <p:spPr>
          <a:xfrm>
            <a:off x="381000" y="5695950"/>
            <a:ext cx="11477625" cy="476250"/>
          </a:xfrm>
          <a:custGeom>
            <a:avLst/>
            <a:gdLst/>
            <a:ahLst/>
            <a:cxnLst/>
            <a:pathLst>
              <a:path w="1205" h="50">
                <a:moveTo>
                  <a:pt x="0" y="0"/>
                </a:moveTo>
                <a:lnTo>
                  <a:pt x="5" y="0"/>
                </a:lnTo>
                <a:lnTo>
                  <a:pt x="5" y="50"/>
                </a:lnTo>
                <a:lnTo>
                  <a:pt x="0" y="50"/>
                </a:lnTo>
                <a:close/>
              </a:path>
            </a:pathLst>
          </a:custGeom>
          <a:solidFill>
            <a:srgbClr val="1E4FA8"/>
          </a:solidFill>
        </p:spPr>
        <p:txBody>
          <a:bodyPr/>
          <a:p/>
        </p:txBody>
      </p:sp>
      <p:sp>
        <p:nvSpPr>
          <p:cNvPr id="1412" name="文本框 1411" descr="{&quot;isTemplate&quot;:true,&quot;type&quot;:&quot;text&quot;}"/>
          <p:cNvSpPr txBox="1"/>
          <p:nvPr/>
        </p:nvSpPr>
        <p:spPr>
          <a:xfrm>
            <a:off x="600075" y="5781675"/>
            <a:ext cx="11210925" cy="304800"/>
          </a:xfrm>
          <a:prstGeom prst="rect">
            <a:avLst/>
          </a:prstGeom>
        </p:spPr>
        <p:txBody>
          <a:bodyPr wrap="none" lIns="0" tIns="0" rIns="0" bIns="0"/>
          <a:p>
            <a:pPr>
              <a:lnSpc>
                <a:spcPct val="140000"/>
              </a:lnSpc>
            </a:pPr>
            <a:r>
              <a:rPr lang="zh-CN" sz="1390">
                <a:solidFill>
                  <a:srgbClr val="1A2230"/>
                </a:solidFill>
                <a:latin typeface="微软雅黑" panose="020B0503020204020204" charset="-122"/>
                <a:ea typeface="微软雅黑" panose="020B0503020204020204" charset="-122"/>
              </a:rPr>
              <a:t>以科学问题、可检验假设与机制解释为主线，理论与工程解释处在同一逻辑链上</a:t>
            </a:r>
            <a:endParaRPr lang="zh-CN" sz="1390">
              <a:solidFill>
                <a:srgbClr val="1A2230"/>
              </a:solidFill>
              <a:latin typeface="微软雅黑" panose="020B0503020204020204" charset="-122"/>
              <a:ea typeface="微软雅黑" panose="020B0503020204020204" charset="-122"/>
            </a:endParaRPr>
          </a:p>
        </p:txBody>
      </p:sp>
      <p:sp>
        <p:nvSpPr>
          <p:cNvPr id="1413" name="任意多边形 1412"/>
          <p:cNvSpPr/>
          <p:nvPr/>
        </p:nvSpPr>
        <p:spPr>
          <a:xfrm>
            <a:off x="0" y="624840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414" name="文本框 1413" descr="{&quot;isTemplate&quot;:true,&quot;type&quot;:&quot;text&quot;}"/>
          <p:cNvSpPr txBox="1"/>
          <p:nvPr/>
        </p:nvSpPr>
        <p:spPr>
          <a:xfrm>
            <a:off x="381000" y="636270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415" name="文本框 1414" descr="{&quot;isTemplate&quot;:true,&quot;type&quot;:&quot;text&quot;}"/>
          <p:cNvSpPr txBox="1"/>
          <p:nvPr/>
        </p:nvSpPr>
        <p:spPr>
          <a:xfrm>
            <a:off x="11353800" y="636270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34 / 36</a:t>
            </a:r>
            <a:endParaRPr lang="en-US" sz="1050">
              <a:solidFill>
                <a:srgbClr val="1E4FA8"/>
              </a:solidFill>
              <a:latin typeface="微软雅黑" panose="020B0503020204020204" charset="-122"/>
              <a:ea typeface="微软雅黑" panose="020B0503020204020204" charset="-122"/>
            </a:endParaRPr>
          </a:p>
        </p:txBody>
      </p:sp>
      <p:sp>
        <p:nvSpPr>
          <p:cNvPr id="1416" name="矩形 1415"/>
          <p:cNvSpPr/>
          <p:nvPr/>
        </p:nvSpPr>
        <p:spPr>
          <a:xfrm>
            <a:off x="0" y="685800"/>
            <a:ext cx="57150" cy="1162050"/>
          </a:xfrm>
          <a:prstGeom prst="rect">
            <a:avLst/>
          </a:prstGeom>
          <a:solidFill>
            <a:srgbClr val="C9D6E8"/>
          </a:solidFill>
        </p:spPr>
        <p:txBody>
          <a:bodyPr/>
          <a:p/>
        </p:txBody>
      </p:sp>
      <p:sp>
        <p:nvSpPr>
          <p:cNvPr id="1417" name="矩形 1416"/>
          <p:cNvSpPr/>
          <p:nvPr/>
        </p:nvSpPr>
        <p:spPr>
          <a:xfrm>
            <a:off x="0" y="1847850"/>
            <a:ext cx="57150" cy="1162050"/>
          </a:xfrm>
          <a:prstGeom prst="rect">
            <a:avLst/>
          </a:prstGeom>
          <a:solidFill>
            <a:srgbClr val="C9D6E8"/>
          </a:solidFill>
        </p:spPr>
        <p:txBody>
          <a:bodyPr/>
          <a:p/>
        </p:txBody>
      </p:sp>
      <p:sp>
        <p:nvSpPr>
          <p:cNvPr id="1418" name="矩形 1417"/>
          <p:cNvSpPr/>
          <p:nvPr/>
        </p:nvSpPr>
        <p:spPr>
          <a:xfrm>
            <a:off x="0" y="3009900"/>
            <a:ext cx="57150" cy="1162050"/>
          </a:xfrm>
          <a:prstGeom prst="rect">
            <a:avLst/>
          </a:prstGeom>
          <a:solidFill>
            <a:srgbClr val="C9D6E8"/>
          </a:solidFill>
        </p:spPr>
        <p:txBody>
          <a:bodyPr/>
          <a:p/>
        </p:txBody>
      </p:sp>
      <p:sp>
        <p:nvSpPr>
          <p:cNvPr id="1419" name="矩形 1418"/>
          <p:cNvSpPr/>
          <p:nvPr/>
        </p:nvSpPr>
        <p:spPr>
          <a:xfrm>
            <a:off x="0" y="4171950"/>
            <a:ext cx="57150" cy="1162050"/>
          </a:xfrm>
          <a:prstGeom prst="rect">
            <a:avLst/>
          </a:prstGeom>
          <a:solidFill>
            <a:srgbClr val="C9D6E8"/>
          </a:solidFill>
        </p:spPr>
        <p:txBody>
          <a:bodyPr/>
          <a:p/>
        </p:txBody>
      </p:sp>
      <p:sp>
        <p:nvSpPr>
          <p:cNvPr id="1420" name="矩形 1419"/>
          <p:cNvSpPr/>
          <p:nvPr/>
        </p:nvSpPr>
        <p:spPr>
          <a:xfrm>
            <a:off x="0" y="5334000"/>
            <a:ext cx="57150" cy="1143000"/>
          </a:xfrm>
          <a:prstGeom prst="rect">
            <a:avLst/>
          </a:prstGeom>
          <a:solidFill>
            <a:srgbClr val="FFC107"/>
          </a:solidFill>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421" name="" descr="&lt;Slide style={{ width: '1280px', height: '720px', background: '#FFFFFF', fontFamily: 'Microsoft YaHei', padding: 0 }}&gt;&#13;&#10;    &lt;Box style={{ height: 72, background: '#0E3F8C', flexDirection: 'row', alignItems: 'center', justifyContent: 'space-between', paddingLeft: 40, paddingRight: 40 }}&gt;&#13;&#10;        &lt;Box style={{ flexDirection: 'row', alignItems: 'center', gap: 14 }}&gt;&#13;&#10;            &lt;Box style={{ width: 40, height: 40, background: '#12489A', borderRadius: 10, justifyContent: 'center', alignItems: 'center' }}&gt;&#13;&#10;            &lt;FAIcon name='triangle-exclamation' style={{ fill: '#FFC107', width: 22, height: 22 }} /&gt;&#13;&#10;        &lt;/Box&gt;&#13;&#10;            &lt;Text style={{ fontSize: 29, fontWeight: 'bold', color: '#FFFFFF' }}&gt;研究边界与风险控制：核心主线不依赖单一敏感数据&lt;/Text&gt;&#13;&#10;        &lt;/Box&gt;&#13;&#10;        &lt;Box style={{ flexDirection: 'row', alignItems: 'center', gap: 10 }}&gt;&#13;&#10;            &lt;Text style={{ fontSize: 15, color: '#AFC6E8' }}&gt;05 研究基础、进度与预期成果&lt;/Text&gt;&#13;&#10;            &lt;Box style={{ background: '#FFC107', paddingLeft: 9, paddingRight: 9, paddingTop: 3, paddingBottom: 3, borderRadius: 3, justifyContent: 'center', alignItems: 'center' }}&gt;&#13;&#10;                &lt;Text style={{ fontSize: 14, color: '#0B3A82', fontWeight: 'bold' }}&gt;35&lt;/Text&gt;&#13;&#10;            &lt;/Box&gt;&#13;&#10;        &lt;/Box&gt;&#13;&#10;    &lt;/Box&gt;&#13;&#10;    &lt;Box style={{ paddingLeft: 40, paddingRight: 40, paddingTop: 12, paddingBottom: 8, flexDirection: 'column', gap: 12 }}&gt;&#13;&#10;        &lt;Box style={{ background: '#0B3A82', paddingLeft: 20, paddingTop: 10, paddingBottom: 10, borderRadius: 4 }}&gt;&#13;&#10;            &lt;Text style={{ fontSize: 21, color: '#FFFFFF' }}&gt;核心主线不依赖单一企业敏感数据，关键数据缺失均设置替代路径；结论强度随证据等级明确标注&lt;/Text&gt;&#13;&#10;        &lt;/Box&gt;&#13;&#10;        &lt;Table&#13;&#10;            style={{ width: '100%', height: 262 }}&#13;&#10;            defaultTextStyle={{ fontSize: 16, textAlign: 'left', color: '#1A2230', lineHeight: 1.45 }}&#13;&#10;            defaultCellStyle={{&#13;&#10;                paddingLeft: 12,&#13;&#10;                paddingRight: 12,&#13;&#10;                paddingTop: 8,&#13;&#10;                paddingBottom: 8,&#13;&#10;                border: {&#13;&#10;                    left: { width: 1, color: '#D6DCE5' },&#13;&#10;                    right: { width: 1, color: '#D6DCE5' },&#13;&#10;                    top: { width: 1, color: '#D6DCE5' },&#13;&#10;                    bottom: { width: 1, color: '#D6DCE5' },&#13;&#10;                },&#13;&#10;            }}&#13;&#10;            cells={[&#13;&#10;                [&#13;&#10;                    { text: '关键难点', textStyle: { bold: true, color: '#FFFFFF', fontSize: 17 }, cellStyle: { background: { color: '#0B3A82' } } },&#13;&#10;                    { text: '可能后果', textStyle: { bold: true, color: '#FFFFFF', fontSize: 17 }, cellStyle: { background: { color: '#0B3A82' } } },&#13;&#10;                    { text: '应对路径', textStyle: { bold: true, color: '#FFFFFF', fontSize: 17 }, cellStyle: { background: { color: '#0B3A82' } } },&#13;&#10;                ],&#13;&#10;                [&#13;&#10;                    { text: 'AI 运行数据不足', textStyle: { bold: true, color: '#D9534F' }, cellStyle: { background: { color: '#FBEDED' } } },&#13;&#10;                    { text: '难以校准逐小时负荷与逐时水耗，短时尺度结论可信度下降' },&#13;&#10;                    { text: '采用公开工程参数、文献 Benchmark 与保留日总量的条件剖面替代；把不可辨识性单独报告，不将其计入主要结论' },&#13;&#10;                ],&#13;&#10;                [&#13;&#10;                    { text: '水量与水质耦合复杂', textStyle: { bold: true, color: '#D9534F' }, cellStyle: { background: { color: '#FBEDED' } } },&#13;&#10;                    { text: '水量仍有余量时水质已超限，容量边界被高估' },&#13;&#10;                    { text: '追踪 TDS、温度与药剂负荷，设置独立于水量的水质约束，在容量扫描中与水量约束并列参与判定' },&#13;&#10;                ],&#13;&#10;                [&#13;&#10;                    { text: '反馈导致可行域非单调', textStyle: { bold: true, color: '#D9534F' }, cellStyle: { background: { color: '#FBEDED' } } },&#13;&#10;                    { text: '只报告最大可行容量会掩盖中间区间的反复失效' },&#13;&#10;                    { text: '先做容量网格扫描并检验单调性；非单调时报告全部可行区间、首次失效容量与最终失效容量' },&#13;&#10;                ],&#13;&#10;                [&#13;&#10;                    { text: '城市间可比性不足', textStyle: { bold: true, color: '#D9534F' }, cellStyle: { background: { color: '#FBEDED' } } },&#13;&#10;                    { text: '抽象系统结果被直接外推为某一真实城市的容量' },&#13;&#10;                    { text: '使用无量纲裕度与结构指标进行比较；参数范围校核只承担方向核验，不产出具体城市的容量数值' },&#13;&#10;                ],&#13;&#10;            ]}&#13;&#10;        /&gt;&#13;&#10;        &lt;Box style={{ flexDirection: 'row', gap: 14, height: 176 }}&gt;&#13;&#10;            &lt;Box style={{ flex: 1, background: '#F7F9FC', border: '1px solid #D6DCE5', borderTop: '5px solid #1E4FA8', borderRadius: 6, padding: 12, flexDirection: 'column' }}&gt;&#13;&#10;                &lt;Box style={{ borderLeft: '5px solid #1E4FA8', paddingLeft: 10, marginBottom: 5 }}&gt;&#13;&#10;                    &lt;Box style={{ flexDirection: 'row', alignItems: 'center', gap: 8 }}&gt;&#13;&#10;                &lt;FAIcon name='border-all' style={{ fill: '#1E4FA8', width: 18, height: 18 }} /&gt;&#13;&#10;                &lt;Text style={{ fontSize: 19, fontWeight: 'bold', color: '#0E3F8C' }}&gt;研究边界变化与复杂度控制&lt;/Text&gt;&#13;&#10;            &lt;/Box&gt;&#13;&#10;                &lt;/Box&gt;&#13;&#10;                &lt;Text style={{ fontSize: 15.5, color: '#1A2230', lineHeight: 1.5 }}&gt;采用&quot;核心闭合—边界实验—扩展分析&quot;顺序，水量闭合、时间尺度边界与瓶颈转换稳定后，才加入完整水质评价。&lt;/Text&gt;&#13;&#10;                &lt;Text style={{ fontSize: 15.5, color: '#0E3F8C', lineHeight: 1.45, marginTop: 4 }}&gt;任何扩展模块都必须明确新增输入、输出与验证方式，且不得改变 CAWCC 的核心定义。&lt;/Text&gt;&#13;&#10;            &lt;/Box&gt;&#13;&#10;            &lt;Box style={{ flex: 1, background: '#0E3F8C', borderTop: '5px solid #FFC107', borderRadius: 6, padding: 12, flexDirection: 'column' }}&gt;&#13;&#10;                &lt;Box style={{ borderLeft: '5px solid #FFC107', paddingLeft: 10, marginBottom: 5 }}&gt;&#13;&#10;                    &lt;Box style={{ flexDirection: 'row', alignItems: 'center', gap: 8 }}&gt;&#13;&#10;                &lt;FAIcon name='scale-balanced' style={{ fill: '#FFC107', width: 18, height: 18 }} /&gt;&#13;&#10;                &lt;Text style={{ fontSize: 19, fontWeight: 'bold', color: '#FFFFFF' }}&gt;结论的两类表述与证据等级&lt;/Text&gt;&#13;&#10;            &lt;/Box&gt;&#13;&#10;                &lt;/Box&gt;&#13;&#10;                &lt;Text style={{ fontSize: 15.5, color: '#E4EDF9', lineHeight: 1.5 }}&gt;结论分条件规律与机制方向两类：前者对应具体状态与情景；后者要求外部锚点方向一致。&lt;/Text&gt;&#13;&#10;                &lt;Text style={{ fontSize: 15.5, color: '#FFC107', lineHeight: 1.45, marginTop: 4 }}&gt;不声称预测某真实城市的精确可承载容量，而是识别何种城市状态与技术条件下、何种因素控制边界；结果标记为工程基准、条件规律或机制方向性结论。&lt;/Text&gt;&#13;&#10;            &lt;/Box&gt;&#13;&#10;        &lt;/Box&gt;&#13;&#10;        &lt;Box style={{ background: '#E8EFF8', borderLeft: '5px solid #1E4FA8', paddingLeft: 18, paddingTop: 9, paddingBottom: 9 }}&gt;&#13;&#10;            &lt;Text style={{ fontSize: 18.5, color: '#1A2230', lineHeight: 1.4 }}&gt;质量保证贯穿模型、数据与写作：守恒测试、来源登记、问题—假设—方法—结果—限制逐项对应&lt;/Text&gt;&#13;&#10;        &lt;/Box&gt;&#13;&#10;    &lt;/Box&gt;&#13;&#10;    &lt;Box style={{ height: 40, flexDirection: 'row', alignItems: 'center', justifyContent: 'space-between', paddingLeft: 40, paddingRight: 40, borderTop: '1px solid #E5E7EB' }}&gt;&#13;&#10;        &lt;Text style={{ fontSize: 14, color: '#8B97A8' }}&gt;哈尔滨工业大学 · 硕士开题答辩&lt;/Text&gt;&#13;&#10;        &lt;Text style={{ fontSize: 14, color: '#1E4FA8' }}&gt;35 / 36&lt;/Text&gt;&#13;&#10;    &lt;/Box&gt;&#13;&#10;    &lt;Box style={{ position: 'absolute', left: 0, top: 72, width: 6, height: 608, flexDirection: 'column' }}&gt;&#13;&#10;                &lt;Box style={{ width: 6, height: 122, background: '#C9D6E8' }} /&gt;&#13;&#10;                &lt;Box style={{ width: 6, height: 122, background: '#C9D6E8' }} /&gt;&#13;&#10;                &lt;Box style={{ width: 6, height: 122, background: '#C9D6E8' }} /&gt;&#13;&#10;                &lt;Box style={{ width: 6, height: 122, background: '#C9D6E8' }} /&gt;&#13;&#10;                &lt;Box style={{ width: 6, height: 120, background: '#FFC107' }} /&gt;&#13;&#10;    &lt;/Box&gt;&#13;&#10;&lt;/Slide&gt;&#13;&#10;"/>
        <p:cNvGrpSpPr/>
        <p:nvPr/>
      </p:nvGrpSpPr>
      <p:grpSpPr>
        <a:xfrm>
          <a:off x="0" y="0"/>
          <a:ext cx="0" cy="0"/>
          <a:chOff x="0" y="0"/>
          <a:chExt cx="0" cy="0"/>
        </a:xfrm>
      </p:grpSpPr>
      <p:sp>
        <p:nvSpPr>
          <p:cNvPr id="1422" name="矩形 1421"/>
          <p:cNvSpPr/>
          <p:nvPr/>
        </p:nvSpPr>
        <p:spPr>
          <a:xfrm>
            <a:off x="0" y="0"/>
            <a:ext cx="12192000" cy="6858000"/>
          </a:xfrm>
          <a:prstGeom prst="rect">
            <a:avLst/>
          </a:prstGeom>
          <a:solidFill>
            <a:srgbClr val="FFFFFF"/>
          </a:solidFill>
        </p:spPr>
        <p:txBody>
          <a:bodyPr/>
          <a:p/>
        </p:txBody>
      </p:sp>
      <p:sp>
        <p:nvSpPr>
          <p:cNvPr id="1423" name="矩形 1422"/>
          <p:cNvSpPr/>
          <p:nvPr/>
        </p:nvSpPr>
        <p:spPr>
          <a:xfrm>
            <a:off x="0" y="0"/>
            <a:ext cx="12192000" cy="685800"/>
          </a:xfrm>
          <a:prstGeom prst="rect">
            <a:avLst/>
          </a:prstGeom>
          <a:solidFill>
            <a:srgbClr val="0E3F8C"/>
          </a:solidFill>
        </p:spPr>
        <p:txBody>
          <a:bodyPr/>
          <a:p/>
        </p:txBody>
      </p:sp>
      <p:sp>
        <p:nvSpPr>
          <p:cNvPr id="1424" name="圆角矩形 1423"/>
          <p:cNvSpPr/>
          <p:nvPr/>
        </p:nvSpPr>
        <p:spPr>
          <a:xfrm>
            <a:off x="381000" y="152400"/>
            <a:ext cx="381000" cy="381000"/>
          </a:xfrm>
          <a:prstGeom prst="roundRect">
            <a:avLst>
              <a:gd name="adj" fmla="val 25000"/>
            </a:avLst>
          </a:prstGeom>
          <a:solidFill>
            <a:srgbClr val="12489A"/>
          </a:solidFill>
        </p:spPr>
        <p:txBody>
          <a:bodyPr/>
          <a:p/>
        </p:txBody>
      </p:sp>
      <p:pic>
        <p:nvPicPr>
          <p:cNvPr id="1425" name="图片 1424"/>
          <p:cNvPicPr>
            <a:picLocks noChangeAspect="1"/>
          </p:cNvPicPr>
          <p:nvPr/>
        </p:nvPicPr>
        <p:blipFill>
          <a:blip/>
          <a:stretch>
            <a:fillRect/>
          </a:stretch>
        </p:blipFill>
        <p:spPr>
          <a:xfrm>
            <a:off x="466725" y="238125"/>
            <a:ext cx="209550" cy="209550"/>
          </a:xfrm>
          <a:prstGeom prst="rect">
            <a:avLst/>
          </a:prstGeom>
        </p:spPr>
      </p:pic>
      <p:sp>
        <p:nvSpPr>
          <p:cNvPr id="1426" name="文本框 1425" descr="{&quot;isTemplate&quot;:true,&quot;type&quot;:&quot;text&quot;}"/>
          <p:cNvSpPr txBox="1"/>
          <p:nvPr/>
        </p:nvSpPr>
        <p:spPr>
          <a:xfrm>
            <a:off x="895350" y="180975"/>
            <a:ext cx="6353175" cy="333375"/>
          </a:xfrm>
          <a:prstGeom prst="rect">
            <a:avLst/>
          </a:prstGeom>
        </p:spPr>
        <p:txBody>
          <a:bodyPr wrap="none" lIns="0" tIns="0" rIns="0" bIns="0"/>
          <a:p>
            <a:pPr>
              <a:lnSpc>
                <a:spcPct val="100000"/>
              </a:lnSpc>
            </a:pPr>
            <a:r>
              <a:rPr lang="zh-CN" sz="2175" b="1">
                <a:solidFill>
                  <a:srgbClr val="FFFFFF"/>
                </a:solidFill>
                <a:latin typeface="微软雅黑" panose="020B0503020204020204" charset="-122"/>
                <a:ea typeface="微软雅黑" panose="020B0503020204020204" charset="-122"/>
              </a:rPr>
              <a:t>研究边界与风险控制：核心主线不依赖单一敏感数据</a:t>
            </a:r>
            <a:endParaRPr lang="zh-CN" sz="2175" b="1">
              <a:solidFill>
                <a:srgbClr val="FFFFFF"/>
              </a:solidFill>
              <a:latin typeface="微软雅黑" panose="020B0503020204020204" charset="-122"/>
              <a:ea typeface="微软雅黑" panose="020B0503020204020204" charset="-122"/>
            </a:endParaRPr>
          </a:p>
        </p:txBody>
      </p:sp>
      <p:sp>
        <p:nvSpPr>
          <p:cNvPr id="1427" name="文本框 1426" descr="{&quot;isTemplate&quot;:true,&quot;type&quot;:&quot;text&quot;}"/>
          <p:cNvSpPr txBox="1"/>
          <p:nvPr/>
        </p:nvSpPr>
        <p:spPr>
          <a:xfrm>
            <a:off x="9439275" y="266700"/>
            <a:ext cx="1933575" cy="171450"/>
          </a:xfrm>
          <a:prstGeom prst="rect">
            <a:avLst/>
          </a:prstGeom>
        </p:spPr>
        <p:txBody>
          <a:bodyPr wrap="none" lIns="0" tIns="0" rIns="0" bIns="0"/>
          <a:p>
            <a:pPr>
              <a:lnSpc>
                <a:spcPct val="100000"/>
              </a:lnSpc>
            </a:pPr>
            <a:r>
              <a:rPr lang="en-US" sz="1125">
                <a:solidFill>
                  <a:srgbClr val="AFC6E8"/>
                </a:solidFill>
                <a:latin typeface="微软雅黑" panose="020B0503020204020204" charset="-122"/>
                <a:ea typeface="微软雅黑" panose="020B0503020204020204" charset="-122"/>
              </a:rPr>
              <a:t>05 </a:t>
            </a:r>
            <a:r>
              <a:rPr lang="zh-CN" sz="1125">
                <a:solidFill>
                  <a:srgbClr val="AFC6E8"/>
                </a:solidFill>
                <a:latin typeface="微软雅黑" panose="020B0503020204020204" charset="-122"/>
                <a:ea typeface="微软雅黑" panose="020B0503020204020204" charset="-122"/>
              </a:rPr>
              <a:t>研究基础、进度与预期成果</a:t>
            </a:r>
            <a:endParaRPr lang="zh-CN" sz="1125">
              <a:solidFill>
                <a:srgbClr val="AFC6E8"/>
              </a:solidFill>
              <a:latin typeface="微软雅黑" panose="020B0503020204020204" charset="-122"/>
              <a:ea typeface="微软雅黑" panose="020B0503020204020204" charset="-122"/>
            </a:endParaRPr>
          </a:p>
        </p:txBody>
      </p:sp>
      <p:sp>
        <p:nvSpPr>
          <p:cNvPr id="1428" name="圆角矩形 1427"/>
          <p:cNvSpPr/>
          <p:nvPr/>
        </p:nvSpPr>
        <p:spPr>
          <a:xfrm>
            <a:off x="11468100" y="238125"/>
            <a:ext cx="342900" cy="219075"/>
          </a:xfrm>
          <a:prstGeom prst="roundRect">
            <a:avLst>
              <a:gd name="adj" fmla="val 13043"/>
            </a:avLst>
          </a:prstGeom>
          <a:solidFill>
            <a:srgbClr val="FFC107"/>
          </a:solidFill>
        </p:spPr>
        <p:txBody>
          <a:bodyPr/>
          <a:p/>
        </p:txBody>
      </p:sp>
      <p:sp>
        <p:nvSpPr>
          <p:cNvPr id="1429" name="文本框 1428" descr="{&quot;isTemplate&quot;:true,&quot;type&quot;:&quot;text&quot;}"/>
          <p:cNvSpPr txBox="1"/>
          <p:nvPr/>
        </p:nvSpPr>
        <p:spPr>
          <a:xfrm>
            <a:off x="11553825" y="266700"/>
            <a:ext cx="171450" cy="161925"/>
          </a:xfrm>
          <a:prstGeom prst="rect">
            <a:avLst/>
          </a:prstGeom>
        </p:spPr>
        <p:txBody>
          <a:bodyPr wrap="none" lIns="0" tIns="0" rIns="0" bIns="0"/>
          <a:p>
            <a:pPr>
              <a:lnSpc>
                <a:spcPct val="100000"/>
              </a:lnSpc>
            </a:pPr>
            <a:r>
              <a:rPr lang="en-US" sz="1050" b="1">
                <a:solidFill>
                  <a:srgbClr val="0B3A82"/>
                </a:solidFill>
                <a:latin typeface="微软雅黑" panose="020B0503020204020204" charset="-122"/>
                <a:ea typeface="微软雅黑" panose="020B0503020204020204" charset="-122"/>
              </a:rPr>
              <a:t>35</a:t>
            </a:r>
            <a:endParaRPr lang="en-US" sz="1050" b="1">
              <a:solidFill>
                <a:srgbClr val="0B3A82"/>
              </a:solidFill>
              <a:latin typeface="微软雅黑" panose="020B0503020204020204" charset="-122"/>
              <a:ea typeface="微软雅黑" panose="020B0503020204020204" charset="-122"/>
            </a:endParaRPr>
          </a:p>
        </p:txBody>
      </p:sp>
      <p:sp>
        <p:nvSpPr>
          <p:cNvPr id="1430" name="圆角矩形 1429"/>
          <p:cNvSpPr/>
          <p:nvPr/>
        </p:nvSpPr>
        <p:spPr>
          <a:xfrm>
            <a:off x="381000" y="800100"/>
            <a:ext cx="11430000" cy="438150"/>
          </a:xfrm>
          <a:prstGeom prst="roundRect">
            <a:avLst>
              <a:gd name="adj" fmla="val 8696"/>
            </a:avLst>
          </a:prstGeom>
          <a:solidFill>
            <a:srgbClr val="0B3A82"/>
          </a:solidFill>
        </p:spPr>
        <p:txBody>
          <a:bodyPr/>
          <a:p/>
        </p:txBody>
      </p:sp>
      <p:sp>
        <p:nvSpPr>
          <p:cNvPr id="1431" name="文本框 1430" descr="{&quot;isTemplate&quot;:true,&quot;type&quot;:&quot;text&quot;}"/>
          <p:cNvSpPr txBox="1"/>
          <p:nvPr/>
        </p:nvSpPr>
        <p:spPr>
          <a:xfrm>
            <a:off x="571500" y="895350"/>
            <a:ext cx="11239500" cy="247650"/>
          </a:xfrm>
          <a:prstGeom prst="rect">
            <a:avLst/>
          </a:prstGeom>
        </p:spPr>
        <p:txBody>
          <a:bodyPr wrap="none" lIns="0" tIns="0" rIns="0" bIns="0"/>
          <a:p>
            <a:pPr>
              <a:lnSpc>
                <a:spcPct val="100000"/>
              </a:lnSpc>
            </a:pPr>
            <a:r>
              <a:rPr lang="zh-CN" sz="1575">
                <a:solidFill>
                  <a:srgbClr val="FFFFFF"/>
                </a:solidFill>
                <a:latin typeface="微软雅黑" panose="020B0503020204020204" charset="-122"/>
                <a:ea typeface="微软雅黑" panose="020B0503020204020204" charset="-122"/>
              </a:rPr>
              <a:t>核心主线不依赖单一企业敏感数据，关键数据缺失均设置替代路径；结论强度随证据等级明确标注</a:t>
            </a:r>
            <a:endParaRPr lang="zh-CN" sz="1575">
              <a:solidFill>
                <a:srgbClr val="FFFFFF"/>
              </a:solidFill>
              <a:latin typeface="微软雅黑" panose="020B0503020204020204" charset="-122"/>
              <a:ea typeface="微软雅黑" panose="020B0503020204020204" charset="-122"/>
            </a:endParaRPr>
          </a:p>
        </p:txBody>
      </p:sp>
      <p:graphicFrame>
        <p:nvGraphicFramePr>
          <p:cNvPr id="1432" name="表格 1431"/>
          <p:cNvGraphicFramePr/>
          <p:nvPr/>
        </p:nvGraphicFramePr>
        <p:xfrm>
          <a:off x="381000" y="1352550"/>
          <a:ext cx="11430000" cy="2495552"/>
        </p:xfrm>
        <a:graphic>
          <a:graphicData uri="http://schemas.openxmlformats.org/drawingml/2006/table">
            <a:tbl>
              <a:tblPr/>
              <a:tblGrid>
                <a:gridCol w="1365353"/>
                <a:gridCol w="3426263"/>
                <a:gridCol w="6638384"/>
              </a:tblGrid>
              <a:tr h="330828">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关键难点</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可能后果</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c>
                  <a:txBody>
                    <a:bodyPr wrap="square">
                      <a:spAutoFit/>
                    </a:bodyPr>
                    <a:p>
                      <a:pPr marL="114300" marR="114300" algn="l">
                        <a:lnSpc>
                          <a:spcPct val="120000"/>
                        </a:lnSpc>
                      </a:pPr>
                      <a:r>
                        <a:rPr sz="1275" b="1">
                          <a:solidFill>
                            <a:srgbClr val="FFFFFF"/>
                          </a:solidFill>
                          <a:latin typeface="微软雅黑" panose="020B0503020204020204" charset="-122"/>
                          <a:ea typeface="微软雅黑" panose="020B0503020204020204" charset="-122"/>
                        </a:rPr>
                        <a:t>应对路径</a:t>
                      </a:r>
                      <a:endParaRPr sz="1275" b="1">
                        <a:solidFill>
                          <a:srgbClr val="FFFFF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0B3A82"/>
                    </a:solidFill>
                  </a:tcPr>
                </a:tc>
              </a:tr>
              <a:tr h="541181">
                <a:tc>
                  <a:txBody>
                    <a:bodyPr wrap="square">
                      <a:spAutoFit/>
                    </a:bodyPr>
                    <a:p>
                      <a:pPr marL="114300" marR="114300" algn="l">
                        <a:lnSpc>
                          <a:spcPct val="120000"/>
                        </a:lnSpc>
                      </a:pPr>
                      <a:r>
                        <a:rPr sz="1200" b="1">
                          <a:solidFill>
                            <a:srgbClr val="D9534F"/>
                          </a:solidFill>
                          <a:latin typeface="微软雅黑" panose="020B0503020204020204" charset="-122"/>
                          <a:ea typeface="微软雅黑" panose="020B0503020204020204" charset="-122"/>
                        </a:rPr>
                        <a:t>AI 运行数据不足</a:t>
                      </a:r>
                      <a:endParaRPr sz="1200" b="1">
                        <a:solidFill>
                          <a:srgbClr val="D9534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BEDED"/>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难以校准逐小时负荷与逐时水耗，短时尺度结论可信度下降</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采用公开工程参数、文献 Benchmark 与保留日总量的条件剖面替代；把不可辨识性单独报告，不将其计入主要结论</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541181">
                <a:tc>
                  <a:txBody>
                    <a:bodyPr wrap="square">
                      <a:spAutoFit/>
                    </a:bodyPr>
                    <a:p>
                      <a:pPr marL="114300" marR="114300" algn="l">
                        <a:lnSpc>
                          <a:spcPct val="120000"/>
                        </a:lnSpc>
                      </a:pPr>
                      <a:r>
                        <a:rPr sz="1200" b="1">
                          <a:solidFill>
                            <a:srgbClr val="D9534F"/>
                          </a:solidFill>
                          <a:latin typeface="微软雅黑" panose="020B0503020204020204" charset="-122"/>
                          <a:ea typeface="微软雅黑" panose="020B0503020204020204" charset="-122"/>
                        </a:rPr>
                        <a:t>水量与水质耦合复杂</a:t>
                      </a:r>
                      <a:endParaRPr sz="1200" b="1">
                        <a:solidFill>
                          <a:srgbClr val="D9534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BEDED"/>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水量仍有余量时水质已超限，容量边界被高估</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追踪 TDS、温度与药剂负荷，设置独立于水量的水质约束，在容量扫描中与水量约束并列参与判定</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541181">
                <a:tc>
                  <a:txBody>
                    <a:bodyPr wrap="square">
                      <a:spAutoFit/>
                    </a:bodyPr>
                    <a:p>
                      <a:pPr marL="114300" marR="114300" algn="l">
                        <a:lnSpc>
                          <a:spcPct val="120000"/>
                        </a:lnSpc>
                      </a:pPr>
                      <a:r>
                        <a:rPr sz="1200" b="1">
                          <a:solidFill>
                            <a:srgbClr val="D9534F"/>
                          </a:solidFill>
                          <a:latin typeface="微软雅黑" panose="020B0503020204020204" charset="-122"/>
                          <a:ea typeface="微软雅黑" panose="020B0503020204020204" charset="-122"/>
                        </a:rPr>
                        <a:t>反馈导致可行域非单调</a:t>
                      </a:r>
                      <a:endParaRPr sz="1200" b="1">
                        <a:solidFill>
                          <a:srgbClr val="D9534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BEDED"/>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只报告最大可行容量会掩盖中间区间的反复失效</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先做容量网格扫描并检验单调性；非单调时报告全部可行区间、首次失效容量与最终失效容量</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r h="541181">
                <a:tc>
                  <a:txBody>
                    <a:bodyPr wrap="square">
                      <a:spAutoFit/>
                    </a:bodyPr>
                    <a:p>
                      <a:pPr marL="114300" marR="114300" algn="l">
                        <a:lnSpc>
                          <a:spcPct val="120000"/>
                        </a:lnSpc>
                      </a:pPr>
                      <a:r>
                        <a:rPr sz="1200" b="1">
                          <a:solidFill>
                            <a:srgbClr val="D9534F"/>
                          </a:solidFill>
                          <a:latin typeface="微软雅黑" panose="020B0503020204020204" charset="-122"/>
                          <a:ea typeface="微软雅黑" panose="020B0503020204020204" charset="-122"/>
                        </a:rPr>
                        <a:t>城市间可比性不足</a:t>
                      </a:r>
                      <a:endParaRPr sz="1200" b="1">
                        <a:solidFill>
                          <a:srgbClr val="D9534F"/>
                        </a:solidFill>
                        <a:latin typeface="微软雅黑" panose="020B0503020204020204" charset="-122"/>
                        <a:ea typeface="微软雅黑" panose="020B0503020204020204" charset="-122"/>
                      </a:endParaRPr>
                    </a:p>
                  </a:txBody>
                  <a:tcPr marL="0" marR="0" marT="0" marB="0" anchor="ctr">
                    <a:lnL>
                      <a:noFill/>
                    </a:lnL>
                    <a:lnR>
                      <a:noFill/>
                    </a:lnR>
                    <a:lnT>
                      <a:noFill/>
                    </a:lnT>
                    <a:lnB>
                      <a:noFill/>
                    </a:lnB>
                    <a:solidFill>
                      <a:srgbClr val="FBEDED"/>
                    </a:solidFill>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抽象系统结果被直接外推为某一真实城市的容量</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c>
                  <a:txBody>
                    <a:bodyPr wrap="square">
                      <a:spAutoFit/>
                    </a:bodyPr>
                    <a:p>
                      <a:pPr marL="114300" marR="114300" algn="l">
                        <a:lnSpc>
                          <a:spcPct val="120000"/>
                        </a:lnSpc>
                      </a:pPr>
                      <a:r>
                        <a:rPr sz="1200">
                          <a:solidFill>
                            <a:srgbClr val="1A2230"/>
                          </a:solidFill>
                          <a:latin typeface="微软雅黑" panose="020B0503020204020204" charset="-122"/>
                          <a:ea typeface="微软雅黑" panose="020B0503020204020204" charset="-122"/>
                        </a:rPr>
                        <a:t>使用无量纲裕度与结构指标进行比较；参数范围校核只承担方向核验，不产出具体城市的容量数值</a:t>
                      </a:r>
                      <a:endParaRPr sz="1200">
                        <a:solidFill>
                          <a:srgbClr val="1A2230"/>
                        </a:solidFill>
                        <a:latin typeface="微软雅黑" panose="020B0503020204020204" charset="-122"/>
                        <a:ea typeface="微软雅黑" panose="020B0503020204020204" charset="-122"/>
                      </a:endParaRPr>
                    </a:p>
                  </a:txBody>
                  <a:tcPr marL="0" marR="0" marT="0" marB="0" anchor="ctr">
                    <a:lnL>
                      <a:noFill/>
                    </a:lnL>
                    <a:lnR>
                      <a:noFill/>
                    </a:lnR>
                    <a:lnT>
                      <a:noFill/>
                    </a:lnT>
                    <a:lnB>
                      <a:noFill/>
                    </a:lnB>
                  </a:tcPr>
                </a:tc>
              </a:tr>
            </a:tbl>
          </a:graphicData>
        </a:graphic>
      </p:graphicFrame>
      <p:sp>
        <p:nvSpPr>
          <p:cNvPr id="1433" name="圆角矩形 1432"/>
          <p:cNvSpPr/>
          <p:nvPr/>
        </p:nvSpPr>
        <p:spPr>
          <a:xfrm>
            <a:off x="381000" y="4010025"/>
            <a:ext cx="5648325" cy="1676400"/>
          </a:xfrm>
          <a:prstGeom prst="roundRect">
            <a:avLst>
              <a:gd name="adj" fmla="val 3409"/>
            </a:avLst>
          </a:prstGeom>
          <a:solidFill>
            <a:srgbClr val="F7F9FC"/>
          </a:solidFill>
        </p:spPr>
        <p:txBody>
          <a:bodyPr/>
          <a:p/>
        </p:txBody>
      </p:sp>
      <p:sp>
        <p:nvSpPr>
          <p:cNvPr id="1434" name="任意多边形 1433"/>
          <p:cNvSpPr/>
          <p:nvPr/>
        </p:nvSpPr>
        <p:spPr>
          <a:xfrm>
            <a:off x="381000" y="4010025"/>
            <a:ext cx="5648325" cy="1676400"/>
          </a:xfrm>
          <a:custGeom>
            <a:avLst/>
            <a:gdLst/>
            <a:ahLst/>
            <a:cxnLst/>
            <a:pathLst>
              <a:path w="593" h="176">
                <a:moveTo>
                  <a:pt x="587" y="0"/>
                </a:moveTo>
                <a:cubicBezTo>
                  <a:pt x="590" y="0"/>
                  <a:pt x="593" y="3"/>
                  <a:pt x="593" y="6"/>
                </a:cubicBezTo>
                <a:cubicBezTo>
                  <a:pt x="593" y="5"/>
                  <a:pt x="592" y="5"/>
                  <a:pt x="592" y="5"/>
                </a:cubicBezTo>
                <a:lnTo>
                  <a:pt x="1" y="5"/>
                </a:lnTo>
                <a:cubicBezTo>
                  <a:pt x="0" y="5"/>
                  <a:pt x="0" y="5"/>
                  <a:pt x="0" y="6"/>
                </a:cubicBezTo>
                <a:cubicBezTo>
                  <a:pt x="0" y="3"/>
                  <a:pt x="3" y="0"/>
                  <a:pt x="6" y="0"/>
                </a:cubicBezTo>
                <a:lnTo>
                  <a:pt x="587" y="0"/>
                </a:lnTo>
                <a:close/>
              </a:path>
            </a:pathLst>
          </a:custGeom>
          <a:solidFill>
            <a:srgbClr val="1E4FA8"/>
          </a:solidFill>
        </p:spPr>
        <p:txBody>
          <a:bodyPr/>
          <a:p/>
        </p:txBody>
      </p:sp>
      <p:sp>
        <p:nvSpPr>
          <p:cNvPr id="1435" name="任意多边形 1434"/>
          <p:cNvSpPr/>
          <p:nvPr/>
        </p:nvSpPr>
        <p:spPr>
          <a:xfrm>
            <a:off x="495300" y="4124325"/>
            <a:ext cx="5467350" cy="219075"/>
          </a:xfrm>
          <a:custGeom>
            <a:avLst/>
            <a:gdLst/>
            <a:ahLst/>
            <a:cxnLst/>
            <a:pathLst>
              <a:path w="574" h="23">
                <a:moveTo>
                  <a:pt x="0" y="0"/>
                </a:moveTo>
                <a:lnTo>
                  <a:pt x="5" y="0"/>
                </a:lnTo>
                <a:lnTo>
                  <a:pt x="5" y="23"/>
                </a:lnTo>
                <a:lnTo>
                  <a:pt x="0" y="23"/>
                </a:lnTo>
                <a:close/>
              </a:path>
            </a:pathLst>
          </a:custGeom>
          <a:solidFill>
            <a:srgbClr val="1E4FA8"/>
          </a:solidFill>
        </p:spPr>
        <p:txBody>
          <a:bodyPr/>
          <a:p/>
        </p:txBody>
      </p:sp>
      <p:pic>
        <p:nvPicPr>
          <p:cNvPr id="1436" name="图片 1435"/>
          <p:cNvPicPr>
            <a:picLocks noChangeAspect="1"/>
          </p:cNvPicPr>
          <p:nvPr/>
        </p:nvPicPr>
        <p:blipFill>
          <a:blip/>
          <a:stretch>
            <a:fillRect/>
          </a:stretch>
        </p:blipFill>
        <p:spPr>
          <a:xfrm>
            <a:off x="638175" y="4152900"/>
            <a:ext cx="171450" cy="171450"/>
          </a:xfrm>
          <a:prstGeom prst="rect">
            <a:avLst/>
          </a:prstGeom>
        </p:spPr>
      </p:pic>
      <p:sp>
        <p:nvSpPr>
          <p:cNvPr id="1437" name="文本框 1436" descr="{&quot;isTemplate&quot;:true,&quot;type&quot;:&quot;text&quot;}"/>
          <p:cNvSpPr txBox="1"/>
          <p:nvPr/>
        </p:nvSpPr>
        <p:spPr>
          <a:xfrm>
            <a:off x="885825" y="4124325"/>
            <a:ext cx="2171700" cy="219075"/>
          </a:xfrm>
          <a:prstGeom prst="rect">
            <a:avLst/>
          </a:prstGeom>
        </p:spPr>
        <p:txBody>
          <a:bodyPr wrap="none" lIns="0" tIns="0" rIns="0" bIns="0"/>
          <a:p>
            <a:pPr>
              <a:lnSpc>
                <a:spcPct val="100000"/>
              </a:lnSpc>
            </a:pPr>
            <a:r>
              <a:rPr lang="zh-CN" sz="1425" b="1">
                <a:solidFill>
                  <a:srgbClr val="0E3F8C"/>
                </a:solidFill>
                <a:latin typeface="微软雅黑" panose="020B0503020204020204" charset="-122"/>
                <a:ea typeface="微软雅黑" panose="020B0503020204020204" charset="-122"/>
              </a:rPr>
              <a:t>研究边界变化与复杂度控制</a:t>
            </a:r>
            <a:endParaRPr lang="zh-CN" sz="1425" b="1">
              <a:solidFill>
                <a:srgbClr val="0E3F8C"/>
              </a:solidFill>
              <a:latin typeface="微软雅黑" panose="020B0503020204020204" charset="-122"/>
              <a:ea typeface="微软雅黑" panose="020B0503020204020204" charset="-122"/>
            </a:endParaRPr>
          </a:p>
        </p:txBody>
      </p:sp>
      <p:sp>
        <p:nvSpPr>
          <p:cNvPr id="1438" name="文本框 1437" descr="{&quot;isTemplate&quot;:true,&quot;type&quot;:&quot;text&quot;}"/>
          <p:cNvSpPr txBox="1"/>
          <p:nvPr/>
        </p:nvSpPr>
        <p:spPr>
          <a:xfrm>
            <a:off x="495300" y="4391025"/>
            <a:ext cx="5419725" cy="533400"/>
          </a:xfrm>
          <a:prstGeom prst="rect">
            <a:avLst/>
          </a:prstGeom>
        </p:spPr>
        <p:txBody>
          <a:bodyPr wrap="square" lIns="0" tIns="0" rIns="0" bIns="0">
            <a:normAutofit/>
          </a:bodyPr>
          <a:p>
            <a:pPr>
              <a:lnSpc>
                <a:spcPct val="150000"/>
              </a:lnSpc>
            </a:pPr>
            <a:r>
              <a:rPr lang="zh-CN" sz="1165">
                <a:solidFill>
                  <a:srgbClr val="1A2230"/>
                </a:solidFill>
                <a:latin typeface="微软雅黑" panose="020B0503020204020204" charset="-122"/>
                <a:ea typeface="微软雅黑" panose="020B0503020204020204" charset="-122"/>
              </a:rPr>
              <a:t>采用</a:t>
            </a:r>
            <a:r>
              <a:rPr lang="en-US" sz="1165">
                <a:solidFill>
                  <a:srgbClr val="1A2230"/>
                </a:solidFill>
                <a:latin typeface="微软雅黑" panose="020B0503020204020204" charset="-122"/>
                <a:ea typeface="微软雅黑" panose="020B0503020204020204" charset="-122"/>
              </a:rPr>
              <a:t>"</a:t>
            </a:r>
            <a:r>
              <a:rPr lang="zh-CN" sz="1165">
                <a:solidFill>
                  <a:srgbClr val="1A2230"/>
                </a:solidFill>
                <a:latin typeface="微软雅黑" panose="020B0503020204020204" charset="-122"/>
                <a:ea typeface="微软雅黑" panose="020B0503020204020204" charset="-122"/>
              </a:rPr>
              <a:t>核心闭合—边界实验—扩展分析</a:t>
            </a:r>
            <a:r>
              <a:rPr lang="en-US" sz="1165">
                <a:solidFill>
                  <a:srgbClr val="1A2230"/>
                </a:solidFill>
                <a:latin typeface="微软雅黑" panose="020B0503020204020204" charset="-122"/>
                <a:ea typeface="微软雅黑" panose="020B0503020204020204" charset="-122"/>
              </a:rPr>
              <a:t>"</a:t>
            </a:r>
            <a:r>
              <a:rPr lang="zh-CN" sz="1165">
                <a:solidFill>
                  <a:srgbClr val="1A2230"/>
                </a:solidFill>
                <a:latin typeface="微软雅黑" panose="020B0503020204020204" charset="-122"/>
                <a:ea typeface="微软雅黑" panose="020B0503020204020204" charset="-122"/>
              </a:rPr>
              <a:t>顺序，水量闭合、时间尺度边界与瓶颈转换稳定后，才加入完整水质评价。</a:t>
            </a:r>
            <a:endParaRPr lang="zh-CN" sz="1165">
              <a:solidFill>
                <a:srgbClr val="1A2230"/>
              </a:solidFill>
              <a:latin typeface="微软雅黑" panose="020B0503020204020204" charset="-122"/>
              <a:ea typeface="微软雅黑" panose="020B0503020204020204" charset="-122"/>
            </a:endParaRPr>
          </a:p>
        </p:txBody>
      </p:sp>
      <p:sp>
        <p:nvSpPr>
          <p:cNvPr id="1439" name="文本框 1438" descr="{&quot;isTemplate&quot;:true,&quot;type&quot;:&quot;text&quot;}"/>
          <p:cNvSpPr txBox="1"/>
          <p:nvPr/>
        </p:nvSpPr>
        <p:spPr>
          <a:xfrm>
            <a:off x="495300" y="4962525"/>
            <a:ext cx="5419725" cy="514350"/>
          </a:xfrm>
          <a:prstGeom prst="rect">
            <a:avLst/>
          </a:prstGeom>
        </p:spPr>
        <p:txBody>
          <a:bodyPr wrap="square" lIns="0" tIns="0" rIns="0" bIns="0">
            <a:normAutofit/>
          </a:bodyPr>
          <a:p>
            <a:pPr>
              <a:lnSpc>
                <a:spcPct val="145000"/>
              </a:lnSpc>
            </a:pPr>
            <a:r>
              <a:rPr lang="zh-CN" sz="1165">
                <a:solidFill>
                  <a:srgbClr val="0E3F8C"/>
                </a:solidFill>
                <a:latin typeface="微软雅黑" panose="020B0503020204020204" charset="-122"/>
                <a:ea typeface="微软雅黑" panose="020B0503020204020204" charset="-122"/>
              </a:rPr>
              <a:t>任何扩展模块都必须明确新增输入、输出与验证方式，且不得改变</a:t>
            </a:r>
            <a:r>
              <a:rPr lang="en-US" sz="1165">
                <a:solidFill>
                  <a:srgbClr val="0E3F8C"/>
                </a:solidFill>
                <a:latin typeface="微软雅黑" panose="020B0503020204020204" charset="-122"/>
                <a:ea typeface="微软雅黑" panose="020B0503020204020204" charset="-122"/>
              </a:rPr>
              <a:t> CAWCC </a:t>
            </a:r>
            <a:r>
              <a:rPr lang="zh-CN" sz="1165">
                <a:solidFill>
                  <a:srgbClr val="0E3F8C"/>
                </a:solidFill>
                <a:latin typeface="微软雅黑" panose="020B0503020204020204" charset="-122"/>
                <a:ea typeface="微软雅黑" panose="020B0503020204020204" charset="-122"/>
              </a:rPr>
              <a:t>的核心定义。</a:t>
            </a:r>
            <a:endParaRPr lang="zh-CN" sz="1165">
              <a:solidFill>
                <a:srgbClr val="0E3F8C"/>
              </a:solidFill>
              <a:latin typeface="微软雅黑" panose="020B0503020204020204" charset="-122"/>
              <a:ea typeface="微软雅黑" panose="020B0503020204020204" charset="-122"/>
            </a:endParaRPr>
          </a:p>
        </p:txBody>
      </p:sp>
      <p:sp>
        <p:nvSpPr>
          <p:cNvPr id="1440" name="圆角矩形 1439"/>
          <p:cNvSpPr/>
          <p:nvPr/>
        </p:nvSpPr>
        <p:spPr>
          <a:xfrm>
            <a:off x="6162675" y="4010025"/>
            <a:ext cx="5648325" cy="1676400"/>
          </a:xfrm>
          <a:prstGeom prst="roundRect">
            <a:avLst>
              <a:gd name="adj" fmla="val 3409"/>
            </a:avLst>
          </a:prstGeom>
          <a:solidFill>
            <a:srgbClr val="0E3F8C"/>
          </a:solidFill>
        </p:spPr>
        <p:txBody>
          <a:bodyPr/>
          <a:p/>
        </p:txBody>
      </p:sp>
      <p:sp>
        <p:nvSpPr>
          <p:cNvPr id="1441" name="任意多边形 1440"/>
          <p:cNvSpPr/>
          <p:nvPr/>
        </p:nvSpPr>
        <p:spPr>
          <a:xfrm>
            <a:off x="6162675" y="4010025"/>
            <a:ext cx="5648325" cy="1676400"/>
          </a:xfrm>
          <a:custGeom>
            <a:avLst/>
            <a:gdLst/>
            <a:ahLst/>
            <a:cxnLst/>
            <a:pathLst>
              <a:path w="593" h="176">
                <a:moveTo>
                  <a:pt x="587" y="0"/>
                </a:moveTo>
                <a:cubicBezTo>
                  <a:pt x="590" y="0"/>
                  <a:pt x="593" y="3"/>
                  <a:pt x="593" y="6"/>
                </a:cubicBezTo>
                <a:cubicBezTo>
                  <a:pt x="593" y="5"/>
                  <a:pt x="592" y="5"/>
                  <a:pt x="592" y="5"/>
                </a:cubicBezTo>
                <a:lnTo>
                  <a:pt x="1" y="5"/>
                </a:lnTo>
                <a:cubicBezTo>
                  <a:pt x="0" y="5"/>
                  <a:pt x="0" y="5"/>
                  <a:pt x="0" y="6"/>
                </a:cubicBezTo>
                <a:cubicBezTo>
                  <a:pt x="0" y="3"/>
                  <a:pt x="3" y="0"/>
                  <a:pt x="6" y="0"/>
                </a:cubicBezTo>
                <a:lnTo>
                  <a:pt x="587" y="0"/>
                </a:lnTo>
                <a:close/>
              </a:path>
            </a:pathLst>
          </a:custGeom>
          <a:solidFill>
            <a:srgbClr val="FFC107"/>
          </a:solidFill>
        </p:spPr>
        <p:txBody>
          <a:bodyPr/>
          <a:p/>
        </p:txBody>
      </p:sp>
      <p:sp>
        <p:nvSpPr>
          <p:cNvPr id="1442" name="任意多边形 1441"/>
          <p:cNvSpPr/>
          <p:nvPr/>
        </p:nvSpPr>
        <p:spPr>
          <a:xfrm>
            <a:off x="6276975" y="4124325"/>
            <a:ext cx="5467350" cy="219075"/>
          </a:xfrm>
          <a:custGeom>
            <a:avLst/>
            <a:gdLst/>
            <a:ahLst/>
            <a:cxnLst/>
            <a:pathLst>
              <a:path w="574" h="23">
                <a:moveTo>
                  <a:pt x="0" y="0"/>
                </a:moveTo>
                <a:lnTo>
                  <a:pt x="5" y="0"/>
                </a:lnTo>
                <a:lnTo>
                  <a:pt x="5" y="23"/>
                </a:lnTo>
                <a:lnTo>
                  <a:pt x="0" y="23"/>
                </a:lnTo>
                <a:close/>
              </a:path>
            </a:pathLst>
          </a:custGeom>
          <a:solidFill>
            <a:srgbClr val="FFC107"/>
          </a:solidFill>
        </p:spPr>
        <p:txBody>
          <a:bodyPr/>
          <a:p/>
        </p:txBody>
      </p:sp>
      <p:pic>
        <p:nvPicPr>
          <p:cNvPr id="1443" name="图片 1442"/>
          <p:cNvPicPr>
            <a:picLocks noChangeAspect="1"/>
          </p:cNvPicPr>
          <p:nvPr/>
        </p:nvPicPr>
        <p:blipFill>
          <a:blip/>
          <a:stretch>
            <a:fillRect/>
          </a:stretch>
        </p:blipFill>
        <p:spPr>
          <a:xfrm>
            <a:off x="6419850" y="4152900"/>
            <a:ext cx="171450" cy="171450"/>
          </a:xfrm>
          <a:prstGeom prst="rect">
            <a:avLst/>
          </a:prstGeom>
        </p:spPr>
      </p:pic>
      <p:sp>
        <p:nvSpPr>
          <p:cNvPr id="1444" name="文本框 1443" descr="{&quot;isTemplate&quot;:true,&quot;type&quot;:&quot;text&quot;}"/>
          <p:cNvSpPr txBox="1"/>
          <p:nvPr/>
        </p:nvSpPr>
        <p:spPr>
          <a:xfrm>
            <a:off x="6667500" y="4124325"/>
            <a:ext cx="2171700" cy="219075"/>
          </a:xfrm>
          <a:prstGeom prst="rect">
            <a:avLst/>
          </a:prstGeom>
        </p:spPr>
        <p:txBody>
          <a:bodyPr wrap="none" lIns="0" tIns="0" rIns="0" bIns="0"/>
          <a:p>
            <a:pPr>
              <a:lnSpc>
                <a:spcPct val="100000"/>
              </a:lnSpc>
            </a:pPr>
            <a:r>
              <a:rPr lang="zh-CN" sz="1425" b="1">
                <a:solidFill>
                  <a:srgbClr val="FFFFFF"/>
                </a:solidFill>
                <a:latin typeface="微软雅黑" panose="020B0503020204020204" charset="-122"/>
                <a:ea typeface="微软雅黑" panose="020B0503020204020204" charset="-122"/>
              </a:rPr>
              <a:t>结论的两类表述与证据等级</a:t>
            </a:r>
            <a:endParaRPr lang="zh-CN" sz="1425" b="1">
              <a:solidFill>
                <a:srgbClr val="FFFFFF"/>
              </a:solidFill>
              <a:latin typeface="微软雅黑" panose="020B0503020204020204" charset="-122"/>
              <a:ea typeface="微软雅黑" panose="020B0503020204020204" charset="-122"/>
            </a:endParaRPr>
          </a:p>
        </p:txBody>
      </p:sp>
      <p:sp>
        <p:nvSpPr>
          <p:cNvPr id="1445" name="文本框 1444" descr="{&quot;isTemplate&quot;:true,&quot;type&quot;:&quot;text&quot;}"/>
          <p:cNvSpPr txBox="1"/>
          <p:nvPr/>
        </p:nvSpPr>
        <p:spPr>
          <a:xfrm>
            <a:off x="6276975" y="4391025"/>
            <a:ext cx="5419725" cy="533400"/>
          </a:xfrm>
          <a:prstGeom prst="rect">
            <a:avLst/>
          </a:prstGeom>
        </p:spPr>
        <p:txBody>
          <a:bodyPr wrap="square" lIns="0" tIns="0" rIns="0" bIns="0">
            <a:normAutofit/>
          </a:bodyPr>
          <a:p>
            <a:pPr>
              <a:lnSpc>
                <a:spcPct val="150000"/>
              </a:lnSpc>
            </a:pPr>
            <a:r>
              <a:rPr lang="zh-CN" sz="1165">
                <a:solidFill>
                  <a:srgbClr val="E4EDF9"/>
                </a:solidFill>
                <a:latin typeface="微软雅黑" panose="020B0503020204020204" charset="-122"/>
                <a:ea typeface="微软雅黑" panose="020B0503020204020204" charset="-122"/>
              </a:rPr>
              <a:t>结论分条件规律与机制方向两类：前者对应具体状态与情景；后者要求外部锚点方向一致。</a:t>
            </a:r>
            <a:endParaRPr lang="zh-CN" sz="1165">
              <a:solidFill>
                <a:srgbClr val="E4EDF9"/>
              </a:solidFill>
              <a:latin typeface="微软雅黑" panose="020B0503020204020204" charset="-122"/>
              <a:ea typeface="微软雅黑" panose="020B0503020204020204" charset="-122"/>
            </a:endParaRPr>
          </a:p>
        </p:txBody>
      </p:sp>
      <p:sp>
        <p:nvSpPr>
          <p:cNvPr id="1446" name="文本框 1445" descr="{&quot;isTemplate&quot;:true,&quot;type&quot;:&quot;text&quot;}"/>
          <p:cNvSpPr txBox="1"/>
          <p:nvPr/>
        </p:nvSpPr>
        <p:spPr>
          <a:xfrm>
            <a:off x="6276975" y="4962525"/>
            <a:ext cx="5419725" cy="514350"/>
          </a:xfrm>
          <a:prstGeom prst="rect">
            <a:avLst/>
          </a:prstGeom>
        </p:spPr>
        <p:txBody>
          <a:bodyPr wrap="square" lIns="0" tIns="0" rIns="0" bIns="0">
            <a:normAutofit/>
          </a:bodyPr>
          <a:p>
            <a:pPr>
              <a:lnSpc>
                <a:spcPct val="145000"/>
              </a:lnSpc>
            </a:pPr>
            <a:r>
              <a:rPr lang="zh-CN" sz="1165">
                <a:solidFill>
                  <a:srgbClr val="FFC107"/>
                </a:solidFill>
                <a:latin typeface="微软雅黑" panose="020B0503020204020204" charset="-122"/>
                <a:ea typeface="微软雅黑" panose="020B0503020204020204" charset="-122"/>
              </a:rPr>
              <a:t>不声称预测某真实城市的精确可承载容量，而是识别何种城市状态与技术条件下、何种因素控制边界；结果标记为工程基准、条件规律或机制方向性结论。</a:t>
            </a:r>
            <a:endParaRPr lang="zh-CN" sz="1165">
              <a:solidFill>
                <a:srgbClr val="FFC107"/>
              </a:solidFill>
              <a:latin typeface="微软雅黑" panose="020B0503020204020204" charset="-122"/>
              <a:ea typeface="微软雅黑" panose="020B0503020204020204" charset="-122"/>
            </a:endParaRPr>
          </a:p>
        </p:txBody>
      </p:sp>
      <p:sp>
        <p:nvSpPr>
          <p:cNvPr id="1447" name="矩形 1446"/>
          <p:cNvSpPr/>
          <p:nvPr/>
        </p:nvSpPr>
        <p:spPr>
          <a:xfrm>
            <a:off x="428625" y="5753100"/>
            <a:ext cx="11430000" cy="476250"/>
          </a:xfrm>
          <a:prstGeom prst="rect">
            <a:avLst/>
          </a:prstGeom>
          <a:solidFill>
            <a:srgbClr val="E8EFF8"/>
          </a:solidFill>
        </p:spPr>
        <p:txBody>
          <a:bodyPr/>
          <a:p/>
        </p:txBody>
      </p:sp>
      <p:sp>
        <p:nvSpPr>
          <p:cNvPr id="1448" name="任意多边形 1447"/>
          <p:cNvSpPr/>
          <p:nvPr/>
        </p:nvSpPr>
        <p:spPr>
          <a:xfrm>
            <a:off x="381000" y="5753100"/>
            <a:ext cx="11477625" cy="476250"/>
          </a:xfrm>
          <a:custGeom>
            <a:avLst/>
            <a:gdLst/>
            <a:ahLst/>
            <a:cxnLst/>
            <a:pathLst>
              <a:path w="1205" h="50">
                <a:moveTo>
                  <a:pt x="0" y="0"/>
                </a:moveTo>
                <a:lnTo>
                  <a:pt x="5" y="0"/>
                </a:lnTo>
                <a:lnTo>
                  <a:pt x="5" y="50"/>
                </a:lnTo>
                <a:lnTo>
                  <a:pt x="0" y="50"/>
                </a:lnTo>
                <a:close/>
              </a:path>
            </a:pathLst>
          </a:custGeom>
          <a:solidFill>
            <a:srgbClr val="1E4FA8"/>
          </a:solidFill>
        </p:spPr>
        <p:txBody>
          <a:bodyPr/>
          <a:p/>
        </p:txBody>
      </p:sp>
      <p:sp>
        <p:nvSpPr>
          <p:cNvPr id="1449" name="文本框 1448" descr="{&quot;isTemplate&quot;:true,&quot;type&quot;:&quot;text&quot;}"/>
          <p:cNvSpPr txBox="1"/>
          <p:nvPr/>
        </p:nvSpPr>
        <p:spPr>
          <a:xfrm>
            <a:off x="600075" y="5838825"/>
            <a:ext cx="11210925" cy="304800"/>
          </a:xfrm>
          <a:prstGeom prst="rect">
            <a:avLst/>
          </a:prstGeom>
        </p:spPr>
        <p:txBody>
          <a:bodyPr wrap="none" lIns="0" tIns="0" rIns="0" bIns="0"/>
          <a:p>
            <a:pPr>
              <a:lnSpc>
                <a:spcPct val="140000"/>
              </a:lnSpc>
            </a:pPr>
            <a:r>
              <a:rPr lang="zh-CN" sz="1390">
                <a:solidFill>
                  <a:srgbClr val="1A2230"/>
                </a:solidFill>
                <a:latin typeface="微软雅黑" panose="020B0503020204020204" charset="-122"/>
                <a:ea typeface="微软雅黑" panose="020B0503020204020204" charset="-122"/>
              </a:rPr>
              <a:t>质量保证贯穿模型、数据与写作：守恒测试、来源登记、问题—假设—方法—结果—限制逐项对应</a:t>
            </a:r>
            <a:endParaRPr lang="zh-CN" sz="1390">
              <a:solidFill>
                <a:srgbClr val="1A2230"/>
              </a:solidFill>
              <a:latin typeface="微软雅黑" panose="020B0503020204020204" charset="-122"/>
              <a:ea typeface="微软雅黑" panose="020B0503020204020204" charset="-122"/>
            </a:endParaRPr>
          </a:p>
        </p:txBody>
      </p:sp>
      <p:sp>
        <p:nvSpPr>
          <p:cNvPr id="1450" name="任意多边形 1449"/>
          <p:cNvSpPr/>
          <p:nvPr/>
        </p:nvSpPr>
        <p:spPr>
          <a:xfrm>
            <a:off x="0" y="6305550"/>
            <a:ext cx="12192000" cy="381000"/>
          </a:xfrm>
          <a:custGeom>
            <a:avLst/>
            <a:gdLst/>
            <a:ahLst/>
            <a:cxnLst/>
            <a:pathLst>
              <a:path w="1280" h="40">
                <a:moveTo>
                  <a:pt x="0" y="0"/>
                </a:moveTo>
                <a:lnTo>
                  <a:pt x="1280" y="0"/>
                </a:lnTo>
                <a:lnTo>
                  <a:pt x="1280" y="1"/>
                </a:lnTo>
                <a:lnTo>
                  <a:pt x="0" y="1"/>
                </a:lnTo>
                <a:close/>
              </a:path>
            </a:pathLst>
          </a:custGeom>
          <a:solidFill>
            <a:srgbClr val="E5E7EB"/>
          </a:solidFill>
        </p:spPr>
        <p:txBody>
          <a:bodyPr/>
          <a:p/>
        </p:txBody>
      </p:sp>
      <p:sp>
        <p:nvSpPr>
          <p:cNvPr id="1451" name="文本框 1450" descr="{&quot;isTemplate&quot;:true,&quot;type&quot;:&quot;text&quot;}"/>
          <p:cNvSpPr txBox="1"/>
          <p:nvPr/>
        </p:nvSpPr>
        <p:spPr>
          <a:xfrm>
            <a:off x="381000" y="6419850"/>
            <a:ext cx="1847850" cy="161925"/>
          </a:xfrm>
          <a:prstGeom prst="rect">
            <a:avLst/>
          </a:prstGeom>
        </p:spPr>
        <p:txBody>
          <a:bodyPr wrap="none" lIns="0" tIns="0" rIns="0" bIns="0"/>
          <a:p>
            <a:pPr>
              <a:lnSpc>
                <a:spcPct val="100000"/>
              </a:lnSpc>
            </a:pPr>
            <a:r>
              <a:rPr lang="zh-CN" sz="1050">
                <a:solidFill>
                  <a:srgbClr val="8B97A8"/>
                </a:solidFill>
                <a:latin typeface="微软雅黑" panose="020B0503020204020204" charset="-122"/>
                <a:ea typeface="微软雅黑" panose="020B0503020204020204" charset="-122"/>
              </a:rPr>
              <a:t>哈尔滨工业大学</a:t>
            </a:r>
            <a:r>
              <a:rPr lang="en-US" sz="1050">
                <a:solidFill>
                  <a:srgbClr val="8B97A8"/>
                </a:solidFill>
                <a:latin typeface="微软雅黑" panose="020B0503020204020204" charset="-122"/>
                <a:ea typeface="微软雅黑" panose="020B0503020204020204" charset="-122"/>
              </a:rPr>
              <a:t> · </a:t>
            </a:r>
            <a:r>
              <a:rPr lang="zh-CN" sz="1050">
                <a:solidFill>
                  <a:srgbClr val="8B97A8"/>
                </a:solidFill>
                <a:latin typeface="微软雅黑" panose="020B0503020204020204" charset="-122"/>
                <a:ea typeface="微软雅黑" panose="020B0503020204020204" charset="-122"/>
              </a:rPr>
              <a:t>硕士开题答辩</a:t>
            </a:r>
            <a:endParaRPr lang="zh-CN" sz="1050">
              <a:solidFill>
                <a:srgbClr val="8B97A8"/>
              </a:solidFill>
              <a:latin typeface="微软雅黑" panose="020B0503020204020204" charset="-122"/>
              <a:ea typeface="微软雅黑" panose="020B0503020204020204" charset="-122"/>
            </a:endParaRPr>
          </a:p>
        </p:txBody>
      </p:sp>
      <p:sp>
        <p:nvSpPr>
          <p:cNvPr id="1452" name="文本框 1451" descr="{&quot;isTemplate&quot;:true,&quot;type&quot;:&quot;text&quot;}"/>
          <p:cNvSpPr txBox="1"/>
          <p:nvPr/>
        </p:nvSpPr>
        <p:spPr>
          <a:xfrm>
            <a:off x="11353800" y="6419850"/>
            <a:ext cx="457200" cy="161925"/>
          </a:xfrm>
          <a:prstGeom prst="rect">
            <a:avLst/>
          </a:prstGeom>
        </p:spPr>
        <p:txBody>
          <a:bodyPr wrap="none" lIns="0" tIns="0" rIns="0" bIns="0"/>
          <a:p>
            <a:pPr>
              <a:lnSpc>
                <a:spcPct val="100000"/>
              </a:lnSpc>
            </a:pPr>
            <a:r>
              <a:rPr lang="en-US" sz="1050">
                <a:solidFill>
                  <a:srgbClr val="1E4FA8"/>
                </a:solidFill>
                <a:latin typeface="微软雅黑" panose="020B0503020204020204" charset="-122"/>
                <a:ea typeface="微软雅黑" panose="020B0503020204020204" charset="-122"/>
              </a:rPr>
              <a:t>35 / 36</a:t>
            </a:r>
            <a:endParaRPr lang="en-US" sz="1050">
              <a:solidFill>
                <a:srgbClr val="1E4FA8"/>
              </a:solidFill>
              <a:latin typeface="微软雅黑" panose="020B0503020204020204" charset="-122"/>
              <a:ea typeface="微软雅黑" panose="020B0503020204020204" charset="-122"/>
            </a:endParaRPr>
          </a:p>
        </p:txBody>
      </p:sp>
      <p:sp>
        <p:nvSpPr>
          <p:cNvPr id="1453" name="矩形 1452"/>
          <p:cNvSpPr/>
          <p:nvPr/>
        </p:nvSpPr>
        <p:spPr>
          <a:xfrm>
            <a:off x="0" y="685800"/>
            <a:ext cx="57150" cy="1162050"/>
          </a:xfrm>
          <a:prstGeom prst="rect">
            <a:avLst/>
          </a:prstGeom>
          <a:solidFill>
            <a:srgbClr val="C9D6E8"/>
          </a:solidFill>
        </p:spPr>
        <p:txBody>
          <a:bodyPr/>
          <a:p/>
        </p:txBody>
      </p:sp>
      <p:sp>
        <p:nvSpPr>
          <p:cNvPr id="1454" name="矩形 1453"/>
          <p:cNvSpPr/>
          <p:nvPr/>
        </p:nvSpPr>
        <p:spPr>
          <a:xfrm>
            <a:off x="0" y="1847850"/>
            <a:ext cx="57150" cy="1162050"/>
          </a:xfrm>
          <a:prstGeom prst="rect">
            <a:avLst/>
          </a:prstGeom>
          <a:solidFill>
            <a:srgbClr val="C9D6E8"/>
          </a:solidFill>
        </p:spPr>
        <p:txBody>
          <a:bodyPr/>
          <a:p/>
        </p:txBody>
      </p:sp>
      <p:sp>
        <p:nvSpPr>
          <p:cNvPr id="1455" name="矩形 1454"/>
          <p:cNvSpPr/>
          <p:nvPr/>
        </p:nvSpPr>
        <p:spPr>
          <a:xfrm>
            <a:off x="0" y="3009900"/>
            <a:ext cx="57150" cy="1162050"/>
          </a:xfrm>
          <a:prstGeom prst="rect">
            <a:avLst/>
          </a:prstGeom>
          <a:solidFill>
            <a:srgbClr val="C9D6E8"/>
          </a:solidFill>
        </p:spPr>
        <p:txBody>
          <a:bodyPr/>
          <a:p/>
        </p:txBody>
      </p:sp>
      <p:sp>
        <p:nvSpPr>
          <p:cNvPr id="1456" name="矩形 1455"/>
          <p:cNvSpPr/>
          <p:nvPr/>
        </p:nvSpPr>
        <p:spPr>
          <a:xfrm>
            <a:off x="0" y="4171950"/>
            <a:ext cx="57150" cy="1162050"/>
          </a:xfrm>
          <a:prstGeom prst="rect">
            <a:avLst/>
          </a:prstGeom>
          <a:solidFill>
            <a:srgbClr val="C9D6E8"/>
          </a:solidFill>
        </p:spPr>
        <p:txBody>
          <a:bodyPr/>
          <a:p/>
        </p:txBody>
      </p:sp>
      <p:sp>
        <p:nvSpPr>
          <p:cNvPr id="1457" name="矩形 1456"/>
          <p:cNvSpPr/>
          <p:nvPr/>
        </p:nvSpPr>
        <p:spPr>
          <a:xfrm>
            <a:off x="0" y="5334000"/>
            <a:ext cx="57150" cy="1143000"/>
          </a:xfrm>
          <a:prstGeom prst="rect">
            <a:avLst/>
          </a:prstGeom>
          <a:solidFill>
            <a:srgbClr val="FFC107"/>
          </a:solidFill>
        </p:spPr>
        <p:txBody>
          <a:body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458" name="" descr="&lt;Slide style={{ width: '1280px', height: '720px', background: '#0B3A82', fontFamily: 'Microsoft YaHei', padding: 0 }}&gt;&#10;    &lt;Box style={{ position: 'absolute', top: 0, right: 0, width: 300, height: 720, background: '#12489A' }} /&gt;&#10;    &lt;Box style={{ position: 'absolute', top: 60, right: 46, width: 210, height: 210, opacity: 0.15 }}&gt;&#10;        &lt;svg width={210} height={210} viewBox='0 0 210 210'&gt;&#10;            &lt;circle cx='105' cy='40' r='24' fill='none' stroke='#FFFFFF' strokeWidth='3' /&gt;&#10;            &lt;circle cx='40' cy='130' r='24' fill='none' stroke='#FFFFFF' strokeWidth='3' /&gt;&#10;            &lt;circle cx='170' cy='130' r='24' fill='none' stroke='#FFFFFF' strokeWidth='3' /&gt;&#10;            &lt;circle cx='105' cy='182' r='18' fill='none' stroke='#FFC107' strokeWidth='3' /&gt;&#10;            &lt;path d='M105 64 L105 130 M64 130 L146 130 M40 154 L105 182 M170 154 L105 182' stroke='#FFFFFF' strokeWidth='3' fill='none' /&gt;&#10;        &lt;/svg&gt;&#10;    &lt;/Box&gt;&#10;    &lt;Box style={{ position: 'absolute', top: 96, left: 90, width: 860, flexDirection: 'column' }}&gt;&#10;        &lt;Box style={{ flexDirection: 'row', alignItems: 'center', gap: 14 }}&gt;&#10;            &lt;Box style={{ width: 14, height: 38, background: '#FFC107' }} /&gt;&#10;            &lt;Text style={{ fontSize: 25, color: '#BFD3F2', letterSpacing: 3 }}&gt;CONCLUSION&lt;/Text&gt;&#10;        &lt;/Box&gt;&#10;        &lt;Text style={{ fontSize: 36, fontWeight: 'bold', color: '#FFFFFF', lineHeight: 1.35, marginTop: 14 }}&gt;从&quot;AI 用了多少水&quot;到&quot;城市水系统在什么条件下能承载多少 AI，以及边界为什么形成&quot;&lt;/Text&gt;&#10;        &lt;Box style={{ height: 3, background: '#3D7BD9', width: 760, marginTop: 18 }} /&gt;&#10;        &lt;Box style={{ flexDirection: 'column', gap: 12, marginTop: 20 }}&gt;&#10;            &lt;Box style={{ flexDirection: 'row', alignItems: 'center', gap: 12 }}&gt;&#10;                &lt;Box style={{ background: '#12489A', borderRadius: 4, paddingHorizontal: 12, paddingVertical: 5 }}&gt;&#10;                    &lt;Text style={{ fontSize: 16, color: '#FFC107', fontWeight: 'bold' }}&gt;研究对象&lt;/Text&gt;&#10;                &lt;/Box&gt;&#10;                &lt;Text style={{ fontSize: 19, color: '#D6E3F7', lineHeight: 1.45 }}&gt;AI 算力是城市水系统的新型连续负荷节点&lt;/Text&gt;&#10;            &lt;/Box&gt;&#10;            &lt;Box style={{ flexDirection: 'row', alignItems: 'center', gap: 12 }}&gt;&#10;                &lt;Box style={{ background: '#12489A', borderRadius: 4, paddingHorizontal: 12, paddingVertical: 5 }}&gt;&#10;                    &lt;Text style={{ fontSize: 16, color: '#FFC107', fontWeight: 'bold' }}&gt;科学问题&lt;/Text&gt;&#10;                &lt;/Box&gt;&#10;                &lt;Text style={{ fontSize: 19, color: '#D6E3F7', lineHeight: 1.45 }}&gt;结构何时改变、边界为何随时间尺度变化、主导瓶颈如何迁移&lt;/Text&gt;&#10;            &lt;/Box&gt;&#10;            &lt;Box style={{ flexDirection: 'row', alignItems: 'center', gap: 12 }}&gt;&#10;                &lt;Box style={{ background: '#12489A', borderRadius: 4, paddingHorizontal: 12, paddingVertical: 5 }}&gt;&#10;                    &lt;Text style={{ fontSize: 16, color: '#FFC107', fontWeight: 'bold' }}&gt;核心输出&lt;/Text&gt;&#10;                &lt;/Box&gt;&#10;                &lt;Text style={{ fontSize: 19, color: '#D6E3F7', lineHeight: 1.45 }}&gt;CAWCC 同时回答&quot;还能承载多少&quot;与&quot;边界由谁控制&quot;&lt;/Text&gt;&#10;            &lt;/Box&gt;&#10;        &lt;/Box&gt;&#10;    &lt;/Box&gt;&#10;    &lt;Box style={{ position: 'absolute', top: 470, left: 90, width: 900, background: '#12489A', borderLeft: '5px solid #FFC107', borderRadius: 6, padding: 14 }}&gt;&#10;        &lt;Text style={{ fontSize: 19, color: '#FFFFFF', lineHeight: 1.5 }}&gt;本研究的目标不是再计算一个 AI 水足迹，而是回答：在给定城市水系统条件下，AI 算力可以增长到哪里，以及为什么到此为止。&lt;/Text&gt;&#10;    &lt;/Box&gt;&#10;    &lt;Box style={{ position: 'absolute', top: 584, left: 90, flexDirection: 'row', gap: 10, opacity: 0.85 }}&gt;&#10;        &lt;Box style={{ background: '#0E3F8C', borderRadius: 4, paddingHorizontal: 12, paddingVertical: 6, flexDirection: 'row', alignItems: 'center', gap: 8 }}&gt;&#10;            &lt;Text style={{ fontSize: 20, fontWeight: 'bold', color: '#FFC107' }}&gt;3&lt;/Text&gt;&#10;            &lt;Text style={{ fontSize: 13, color: '#BFD3F2' }}&gt;科学问题&lt;/Text&gt;&#10;        &lt;/Box&gt;&#10;        &lt;Box style={{ background: '#0E3F8C', borderRadius: 4, paddingHorizontal: 12, paddingVertical: 6, flexDirection: 'row', alignItems: 'center', gap: 8 }}&gt;&#10;            &lt;Text style={{ fontSize: 20, fontWeight: 'bold', color: '#FFC107' }}&gt;4&lt;/Text&gt;&#10;            &lt;Text style={{ fontSize: 13, color: '#BFD3F2' }}&gt;组实验&lt;/Text&gt;&#10;        &lt;/Box&gt;&#10;        &lt;Box style={{ background: '#0E3F8C', borderRadius: 4, paddingHorizontal: 12, paddingVertical: 6, flexDirection: 'row', alignItems: 'center', gap: 8 }}&gt;&#10;            &lt;Text style={{ fontSize: 20, fontWeight: 'bold', color: '#FFC107' }}&gt;5&lt;/Text&gt;&#10;            &lt;Text style={{ fontSize: 13, color: '#BFD3F2' }}&gt;个阶段&lt;/Text&gt;&#10;        &lt;/Box&gt;&#10;    &lt;/Box&gt;&#10;    &lt;Box style={{ position: 'absolute', bottom: 48, left: 90, flexDirection: 'row', alignItems: 'center', gap: 16 }}&gt;&#10;        &lt;Text style={{ fontSize: 20, fontWeight: 'bold', color: '#FFFFFF' }}&gt;汇报完毕，请各位老师批评指正&lt;/Text&gt;&#10;        &lt;Text style={{ fontSize: 14, color: '#7FA3D6' }}&gt;哈尔滨工业大学 · 硕士学位论文开题答辩 · 2026 年 9 月&lt;/Text&gt;&#10;    &lt;/Box&gt;&#10;&lt;/Slide&gt;&#10;"/>
        <p:cNvGrpSpPr/>
        <p:nvPr/>
      </p:nvGrpSpPr>
      <p:grpSpPr>
        <a:xfrm>
          <a:off x="0" y="0"/>
          <a:ext cx="0" cy="0"/>
          <a:chOff x="0" y="0"/>
          <a:chExt cx="0" cy="0"/>
        </a:xfrm>
      </p:grpSpPr>
      <p:sp>
        <p:nvSpPr>
          <p:cNvPr id="1459" name="矩形 1458"/>
          <p:cNvSpPr/>
          <p:nvPr/>
        </p:nvSpPr>
        <p:spPr>
          <a:xfrm>
            <a:off x="0" y="0"/>
            <a:ext cx="12192000" cy="6858000"/>
          </a:xfrm>
          <a:prstGeom prst="rect">
            <a:avLst/>
          </a:prstGeom>
          <a:solidFill>
            <a:srgbClr val="0B3A82"/>
          </a:solidFill>
        </p:spPr>
        <p:txBody>
          <a:bodyPr/>
          <a:p/>
        </p:txBody>
      </p:sp>
      <p:sp>
        <p:nvSpPr>
          <p:cNvPr id="1460" name="矩形 1459"/>
          <p:cNvSpPr/>
          <p:nvPr/>
        </p:nvSpPr>
        <p:spPr>
          <a:xfrm>
            <a:off x="9334500" y="0"/>
            <a:ext cx="2857500" cy="6858000"/>
          </a:xfrm>
          <a:prstGeom prst="rect">
            <a:avLst/>
          </a:prstGeom>
          <a:solidFill>
            <a:srgbClr val="12489A"/>
          </a:solidFill>
        </p:spPr>
        <p:txBody>
          <a:bodyPr/>
          <a:p/>
        </p:txBody>
      </p:sp>
      <p:sp>
        <p:nvSpPr>
          <p:cNvPr id="1462" name="矩形 1461"/>
          <p:cNvSpPr/>
          <p:nvPr/>
        </p:nvSpPr>
        <p:spPr>
          <a:xfrm>
            <a:off x="857250" y="914400"/>
            <a:ext cx="133350" cy="361950"/>
          </a:xfrm>
          <a:prstGeom prst="rect">
            <a:avLst/>
          </a:prstGeom>
          <a:solidFill>
            <a:srgbClr val="FFC107"/>
          </a:solidFill>
        </p:spPr>
        <p:txBody>
          <a:bodyPr/>
          <a:p/>
        </p:txBody>
      </p:sp>
      <p:sp>
        <p:nvSpPr>
          <p:cNvPr id="1463" name="文本框 1462" descr="{&quot;isTemplate&quot;:true,&quot;type&quot;:&quot;text&quot;}"/>
          <p:cNvSpPr txBox="1"/>
          <p:nvPr/>
        </p:nvSpPr>
        <p:spPr>
          <a:xfrm>
            <a:off x="1123950" y="952500"/>
            <a:ext cx="1895475" cy="285750"/>
          </a:xfrm>
          <a:prstGeom prst="rect">
            <a:avLst/>
          </a:prstGeom>
        </p:spPr>
        <p:txBody>
          <a:bodyPr wrap="none" lIns="0" tIns="0" rIns="0" bIns="0"/>
          <a:p>
            <a:pPr>
              <a:lnSpc>
                <a:spcPct val="100000"/>
              </a:lnSpc>
            </a:pPr>
            <a:r>
              <a:rPr lang="en-US" sz="1875" spc="225">
                <a:solidFill>
                  <a:srgbClr val="BFD3F2"/>
                </a:solidFill>
                <a:latin typeface="微软雅黑" panose="020B0503020204020204" charset="-122"/>
                <a:ea typeface="微软雅黑" panose="020B0503020204020204" charset="-122"/>
              </a:rPr>
              <a:t>CONCLUSION</a:t>
            </a:r>
            <a:endParaRPr lang="en-US" sz="1875" spc="225">
              <a:solidFill>
                <a:srgbClr val="BFD3F2"/>
              </a:solidFill>
              <a:latin typeface="微软雅黑" panose="020B0503020204020204" charset="-122"/>
              <a:ea typeface="微软雅黑" panose="020B0503020204020204" charset="-122"/>
            </a:endParaRPr>
          </a:p>
        </p:txBody>
      </p:sp>
      <p:sp>
        <p:nvSpPr>
          <p:cNvPr id="1464" name="文本框 1463" descr="{&quot;isTemplate&quot;:true,&quot;type&quot;:&quot;text&quot;}"/>
          <p:cNvSpPr txBox="1"/>
          <p:nvPr/>
        </p:nvSpPr>
        <p:spPr>
          <a:xfrm>
            <a:off x="857250" y="1409700"/>
            <a:ext cx="8191500" cy="1114425"/>
          </a:xfrm>
          <a:prstGeom prst="rect">
            <a:avLst/>
          </a:prstGeom>
        </p:spPr>
        <p:txBody>
          <a:bodyPr wrap="square" lIns="0" tIns="0" rIns="0" bIns="0">
            <a:normAutofit/>
          </a:bodyPr>
          <a:p>
            <a:pPr>
              <a:lnSpc>
                <a:spcPct val="135000"/>
              </a:lnSpc>
            </a:pPr>
            <a:r>
              <a:rPr lang="zh-CN" sz="2700" b="1">
                <a:solidFill>
                  <a:srgbClr val="FFFFFF"/>
                </a:solidFill>
                <a:latin typeface="微软雅黑" panose="020B0503020204020204" charset="-122"/>
                <a:ea typeface="微软雅黑" panose="020B0503020204020204" charset="-122"/>
              </a:rPr>
              <a:t>从</a:t>
            </a:r>
            <a:r>
              <a:rPr lang="en-US" sz="2700" b="1">
                <a:solidFill>
                  <a:srgbClr val="FFFFFF"/>
                </a:solidFill>
                <a:latin typeface="微软雅黑" panose="020B0503020204020204" charset="-122"/>
                <a:ea typeface="微软雅黑" panose="020B0503020204020204" charset="-122"/>
              </a:rPr>
              <a:t>"AI </a:t>
            </a:r>
            <a:r>
              <a:rPr lang="zh-CN" sz="2700" b="1">
                <a:solidFill>
                  <a:srgbClr val="FFFFFF"/>
                </a:solidFill>
                <a:latin typeface="微软雅黑" panose="020B0503020204020204" charset="-122"/>
                <a:ea typeface="微软雅黑" panose="020B0503020204020204" charset="-122"/>
              </a:rPr>
              <a:t>用了多少水</a:t>
            </a:r>
            <a:r>
              <a:rPr lang="en-US" sz="2700" b="1">
                <a:solidFill>
                  <a:srgbClr val="FFFFFF"/>
                </a:solidFill>
                <a:latin typeface="微软雅黑" panose="020B0503020204020204" charset="-122"/>
                <a:ea typeface="微软雅黑" panose="020B0503020204020204" charset="-122"/>
              </a:rPr>
              <a:t>"</a:t>
            </a:r>
            <a:r>
              <a:rPr lang="zh-CN" sz="2700" b="1">
                <a:solidFill>
                  <a:srgbClr val="FFFFFF"/>
                </a:solidFill>
                <a:latin typeface="微软雅黑" panose="020B0503020204020204" charset="-122"/>
                <a:ea typeface="微软雅黑" panose="020B0503020204020204" charset="-122"/>
              </a:rPr>
              <a:t>到</a:t>
            </a:r>
            <a:r>
              <a:rPr lang="en-US" sz="2700" b="1">
                <a:solidFill>
                  <a:srgbClr val="FFFFFF"/>
                </a:solidFill>
                <a:latin typeface="微软雅黑" panose="020B0503020204020204" charset="-122"/>
                <a:ea typeface="微软雅黑" panose="020B0503020204020204" charset="-122"/>
              </a:rPr>
              <a:t>"</a:t>
            </a:r>
            <a:r>
              <a:rPr lang="zh-CN" sz="2700" b="1">
                <a:solidFill>
                  <a:srgbClr val="FFFFFF"/>
                </a:solidFill>
                <a:latin typeface="微软雅黑" panose="020B0503020204020204" charset="-122"/>
                <a:ea typeface="微软雅黑" panose="020B0503020204020204" charset="-122"/>
              </a:rPr>
              <a:t>城市水系统在什么条件下能承载多少</a:t>
            </a:r>
            <a:r>
              <a:rPr lang="en-US" sz="2700" b="1">
                <a:solidFill>
                  <a:srgbClr val="FFFFFF"/>
                </a:solidFill>
                <a:latin typeface="微软雅黑" panose="020B0503020204020204" charset="-122"/>
                <a:ea typeface="微软雅黑" panose="020B0503020204020204" charset="-122"/>
              </a:rPr>
              <a:t> AI</a:t>
            </a:r>
            <a:r>
              <a:rPr lang="zh-CN" sz="2700" b="1">
                <a:solidFill>
                  <a:srgbClr val="FFFFFF"/>
                </a:solidFill>
                <a:latin typeface="微软雅黑" panose="020B0503020204020204" charset="-122"/>
                <a:ea typeface="微软雅黑" panose="020B0503020204020204" charset="-122"/>
              </a:rPr>
              <a:t>，以及边界为什么形成</a:t>
            </a:r>
            <a:r>
              <a:rPr lang="en-US" sz="2700" b="1">
                <a:solidFill>
                  <a:srgbClr val="FFFFFF"/>
                </a:solidFill>
                <a:latin typeface="微软雅黑" panose="020B0503020204020204" charset="-122"/>
                <a:ea typeface="微软雅黑" panose="020B0503020204020204" charset="-122"/>
              </a:rPr>
              <a:t>"</a:t>
            </a:r>
            <a:endParaRPr lang="en-US" sz="2700" b="1">
              <a:solidFill>
                <a:srgbClr val="FFFFFF"/>
              </a:solidFill>
              <a:latin typeface="微软雅黑" panose="020B0503020204020204" charset="-122"/>
              <a:ea typeface="微软雅黑" panose="020B0503020204020204" charset="-122"/>
            </a:endParaRPr>
          </a:p>
        </p:txBody>
      </p:sp>
      <p:sp>
        <p:nvSpPr>
          <p:cNvPr id="1465" name="矩形 1464"/>
          <p:cNvSpPr/>
          <p:nvPr/>
        </p:nvSpPr>
        <p:spPr>
          <a:xfrm>
            <a:off x="857250" y="2695575"/>
            <a:ext cx="7239000" cy="28575"/>
          </a:xfrm>
          <a:prstGeom prst="rect">
            <a:avLst/>
          </a:prstGeom>
          <a:solidFill>
            <a:srgbClr val="3D7BD9"/>
          </a:solidFill>
        </p:spPr>
        <p:txBody>
          <a:bodyPr/>
          <a:p/>
        </p:txBody>
      </p:sp>
      <p:sp>
        <p:nvSpPr>
          <p:cNvPr id="1466" name="圆角矩形 1465"/>
          <p:cNvSpPr/>
          <p:nvPr/>
        </p:nvSpPr>
        <p:spPr>
          <a:xfrm>
            <a:off x="857250" y="2981325"/>
            <a:ext cx="609600" cy="190500"/>
          </a:xfrm>
          <a:prstGeom prst="roundRect">
            <a:avLst>
              <a:gd name="adj" fmla="val 20000"/>
            </a:avLst>
          </a:prstGeom>
          <a:solidFill>
            <a:srgbClr val="12489A"/>
          </a:solidFill>
        </p:spPr>
        <p:txBody>
          <a:bodyPr/>
          <a:p/>
        </p:txBody>
      </p:sp>
      <p:sp>
        <p:nvSpPr>
          <p:cNvPr id="1467" name="文本框 1466" descr="{&quot;isTemplate&quot;:true,&quot;type&quot;:&quot;text&quot;}"/>
          <p:cNvSpPr txBox="1"/>
          <p:nvPr/>
        </p:nvSpPr>
        <p:spPr>
          <a:xfrm>
            <a:off x="857250" y="2981325"/>
            <a:ext cx="609600" cy="190500"/>
          </a:xfrm>
          <a:prstGeom prst="rect">
            <a:avLst/>
          </a:prstGeom>
        </p:spPr>
        <p:txBody>
          <a:bodyPr wrap="none" lIns="0" tIns="0" rIns="0" bIns="0"/>
          <a:p>
            <a:pPr>
              <a:lnSpc>
                <a:spcPct val="100000"/>
              </a:lnSpc>
            </a:pPr>
            <a:r>
              <a:rPr lang="zh-CN" sz="1200" b="1">
                <a:solidFill>
                  <a:srgbClr val="FFC107"/>
                </a:solidFill>
                <a:latin typeface="微软雅黑" panose="020B0503020204020204" charset="-122"/>
                <a:ea typeface="微软雅黑" panose="020B0503020204020204" charset="-122"/>
              </a:rPr>
              <a:t>研究对象</a:t>
            </a:r>
            <a:endParaRPr lang="zh-CN" sz="1200" b="1">
              <a:solidFill>
                <a:srgbClr val="FFC107"/>
              </a:solidFill>
              <a:latin typeface="微软雅黑" panose="020B0503020204020204" charset="-122"/>
              <a:ea typeface="微软雅黑" panose="020B0503020204020204" charset="-122"/>
            </a:endParaRPr>
          </a:p>
        </p:txBody>
      </p:sp>
      <p:sp>
        <p:nvSpPr>
          <p:cNvPr id="1468" name="文本框 1467" descr="{&quot;isTemplate&quot;:true,&quot;type&quot;:&quot;text&quot;}"/>
          <p:cNvSpPr txBox="1"/>
          <p:nvPr/>
        </p:nvSpPr>
        <p:spPr>
          <a:xfrm>
            <a:off x="1581150" y="2914650"/>
            <a:ext cx="3314700" cy="323850"/>
          </a:xfrm>
          <a:prstGeom prst="rect">
            <a:avLst/>
          </a:prstGeom>
        </p:spPr>
        <p:txBody>
          <a:bodyPr wrap="none" lIns="0" tIns="0" rIns="0" bIns="0"/>
          <a:p>
            <a:pPr>
              <a:lnSpc>
                <a:spcPct val="145000"/>
              </a:lnSpc>
            </a:pPr>
            <a:r>
              <a:rPr lang="en-US" sz="1425">
                <a:solidFill>
                  <a:srgbClr val="D6E3F7"/>
                </a:solidFill>
                <a:latin typeface="微软雅黑" panose="020B0503020204020204" charset="-122"/>
                <a:ea typeface="微软雅黑" panose="020B0503020204020204" charset="-122"/>
              </a:rPr>
              <a:t>AI </a:t>
            </a:r>
            <a:r>
              <a:rPr lang="zh-CN" sz="1425">
                <a:solidFill>
                  <a:srgbClr val="D6E3F7"/>
                </a:solidFill>
                <a:latin typeface="微软雅黑" panose="020B0503020204020204" charset="-122"/>
                <a:ea typeface="微软雅黑" panose="020B0503020204020204" charset="-122"/>
              </a:rPr>
              <a:t>算力是城市水系统的新型连续负荷节点</a:t>
            </a:r>
            <a:endParaRPr lang="zh-CN" sz="1425">
              <a:solidFill>
                <a:srgbClr val="D6E3F7"/>
              </a:solidFill>
              <a:latin typeface="微软雅黑" panose="020B0503020204020204" charset="-122"/>
              <a:ea typeface="微软雅黑" panose="020B0503020204020204" charset="-122"/>
            </a:endParaRPr>
          </a:p>
        </p:txBody>
      </p:sp>
      <p:sp>
        <p:nvSpPr>
          <p:cNvPr id="1469" name="圆角矩形 1468"/>
          <p:cNvSpPr/>
          <p:nvPr/>
        </p:nvSpPr>
        <p:spPr>
          <a:xfrm>
            <a:off x="857250" y="3419475"/>
            <a:ext cx="609600" cy="190500"/>
          </a:xfrm>
          <a:prstGeom prst="roundRect">
            <a:avLst>
              <a:gd name="adj" fmla="val 20000"/>
            </a:avLst>
          </a:prstGeom>
          <a:solidFill>
            <a:srgbClr val="12489A"/>
          </a:solidFill>
        </p:spPr>
        <p:txBody>
          <a:bodyPr/>
          <a:p/>
        </p:txBody>
      </p:sp>
      <p:sp>
        <p:nvSpPr>
          <p:cNvPr id="1470" name="文本框 1469" descr="{&quot;isTemplate&quot;:true,&quot;type&quot;:&quot;text&quot;}"/>
          <p:cNvSpPr txBox="1"/>
          <p:nvPr/>
        </p:nvSpPr>
        <p:spPr>
          <a:xfrm>
            <a:off x="857250" y="3419475"/>
            <a:ext cx="609600" cy="190500"/>
          </a:xfrm>
          <a:prstGeom prst="rect">
            <a:avLst/>
          </a:prstGeom>
        </p:spPr>
        <p:txBody>
          <a:bodyPr wrap="none" lIns="0" tIns="0" rIns="0" bIns="0"/>
          <a:p>
            <a:pPr>
              <a:lnSpc>
                <a:spcPct val="100000"/>
              </a:lnSpc>
            </a:pPr>
            <a:r>
              <a:rPr lang="zh-CN" sz="1200" b="1">
                <a:solidFill>
                  <a:srgbClr val="FFC107"/>
                </a:solidFill>
                <a:latin typeface="微软雅黑" panose="020B0503020204020204" charset="-122"/>
                <a:ea typeface="微软雅黑" panose="020B0503020204020204" charset="-122"/>
              </a:rPr>
              <a:t>科学问题</a:t>
            </a:r>
            <a:endParaRPr lang="zh-CN" sz="1200" b="1">
              <a:solidFill>
                <a:srgbClr val="FFC107"/>
              </a:solidFill>
              <a:latin typeface="微软雅黑" panose="020B0503020204020204" charset="-122"/>
              <a:ea typeface="微软雅黑" panose="020B0503020204020204" charset="-122"/>
            </a:endParaRPr>
          </a:p>
        </p:txBody>
      </p:sp>
      <p:sp>
        <p:nvSpPr>
          <p:cNvPr id="1471" name="文本框 1470" descr="{&quot;isTemplate&quot;:true,&quot;type&quot;:&quot;text&quot;}"/>
          <p:cNvSpPr txBox="1"/>
          <p:nvPr/>
        </p:nvSpPr>
        <p:spPr>
          <a:xfrm>
            <a:off x="1581150" y="3352800"/>
            <a:ext cx="4886325" cy="323850"/>
          </a:xfrm>
          <a:prstGeom prst="rect">
            <a:avLst/>
          </a:prstGeom>
        </p:spPr>
        <p:txBody>
          <a:bodyPr wrap="none" lIns="0" tIns="0" rIns="0" bIns="0"/>
          <a:p>
            <a:pPr>
              <a:lnSpc>
                <a:spcPct val="145000"/>
              </a:lnSpc>
            </a:pPr>
            <a:r>
              <a:rPr lang="zh-CN" sz="1425">
                <a:solidFill>
                  <a:srgbClr val="D6E3F7"/>
                </a:solidFill>
                <a:latin typeface="微软雅黑" panose="020B0503020204020204" charset="-122"/>
                <a:ea typeface="微软雅黑" panose="020B0503020204020204" charset="-122"/>
              </a:rPr>
              <a:t>结构何时改变、边界为何随时间尺度变化、主导瓶颈如何迁移</a:t>
            </a:r>
            <a:endParaRPr lang="zh-CN" sz="1425">
              <a:solidFill>
                <a:srgbClr val="D6E3F7"/>
              </a:solidFill>
              <a:latin typeface="微软雅黑" panose="020B0503020204020204" charset="-122"/>
              <a:ea typeface="微软雅黑" panose="020B0503020204020204" charset="-122"/>
            </a:endParaRPr>
          </a:p>
        </p:txBody>
      </p:sp>
      <p:sp>
        <p:nvSpPr>
          <p:cNvPr id="1472" name="圆角矩形 1471"/>
          <p:cNvSpPr/>
          <p:nvPr/>
        </p:nvSpPr>
        <p:spPr>
          <a:xfrm>
            <a:off x="857250" y="3857625"/>
            <a:ext cx="609600" cy="190500"/>
          </a:xfrm>
          <a:prstGeom prst="roundRect">
            <a:avLst>
              <a:gd name="adj" fmla="val 20000"/>
            </a:avLst>
          </a:prstGeom>
          <a:solidFill>
            <a:srgbClr val="12489A"/>
          </a:solidFill>
        </p:spPr>
        <p:txBody>
          <a:bodyPr/>
          <a:p/>
        </p:txBody>
      </p:sp>
      <p:sp>
        <p:nvSpPr>
          <p:cNvPr id="1473" name="文本框 1472" descr="{&quot;isTemplate&quot;:true,&quot;type&quot;:&quot;text&quot;}"/>
          <p:cNvSpPr txBox="1"/>
          <p:nvPr/>
        </p:nvSpPr>
        <p:spPr>
          <a:xfrm>
            <a:off x="857250" y="3857625"/>
            <a:ext cx="609600" cy="190500"/>
          </a:xfrm>
          <a:prstGeom prst="rect">
            <a:avLst/>
          </a:prstGeom>
        </p:spPr>
        <p:txBody>
          <a:bodyPr wrap="none" lIns="0" tIns="0" rIns="0" bIns="0"/>
          <a:p>
            <a:pPr>
              <a:lnSpc>
                <a:spcPct val="100000"/>
              </a:lnSpc>
            </a:pPr>
            <a:r>
              <a:rPr lang="zh-CN" sz="1200" b="1">
                <a:solidFill>
                  <a:srgbClr val="FFC107"/>
                </a:solidFill>
                <a:latin typeface="微软雅黑" panose="020B0503020204020204" charset="-122"/>
                <a:ea typeface="微软雅黑" panose="020B0503020204020204" charset="-122"/>
              </a:rPr>
              <a:t>核心输出</a:t>
            </a:r>
            <a:endParaRPr lang="zh-CN" sz="1200" b="1">
              <a:solidFill>
                <a:srgbClr val="FFC107"/>
              </a:solidFill>
              <a:latin typeface="微软雅黑" panose="020B0503020204020204" charset="-122"/>
              <a:ea typeface="微软雅黑" panose="020B0503020204020204" charset="-122"/>
            </a:endParaRPr>
          </a:p>
        </p:txBody>
      </p:sp>
      <p:sp>
        <p:nvSpPr>
          <p:cNvPr id="1474" name="文本框 1473" descr="{&quot;isTemplate&quot;:true,&quot;type&quot;:&quot;text&quot;}"/>
          <p:cNvSpPr txBox="1"/>
          <p:nvPr/>
        </p:nvSpPr>
        <p:spPr>
          <a:xfrm>
            <a:off x="1581150" y="3790950"/>
            <a:ext cx="4114800" cy="323850"/>
          </a:xfrm>
          <a:prstGeom prst="rect">
            <a:avLst/>
          </a:prstGeom>
        </p:spPr>
        <p:txBody>
          <a:bodyPr wrap="none" lIns="0" tIns="0" rIns="0" bIns="0"/>
          <a:p>
            <a:pPr>
              <a:lnSpc>
                <a:spcPct val="145000"/>
              </a:lnSpc>
            </a:pPr>
            <a:r>
              <a:rPr lang="en-US" sz="1425">
                <a:solidFill>
                  <a:srgbClr val="D6E3F7"/>
                </a:solidFill>
                <a:latin typeface="微软雅黑" panose="020B0503020204020204" charset="-122"/>
                <a:ea typeface="微软雅黑" panose="020B0503020204020204" charset="-122"/>
              </a:rPr>
              <a:t>CAWCC </a:t>
            </a:r>
            <a:r>
              <a:rPr lang="zh-CN" sz="1425">
                <a:solidFill>
                  <a:srgbClr val="D6E3F7"/>
                </a:solidFill>
                <a:latin typeface="微软雅黑" panose="020B0503020204020204" charset="-122"/>
                <a:ea typeface="微软雅黑" panose="020B0503020204020204" charset="-122"/>
              </a:rPr>
              <a:t>同时回答</a:t>
            </a:r>
            <a:r>
              <a:rPr lang="en-US" sz="1425">
                <a:solidFill>
                  <a:srgbClr val="D6E3F7"/>
                </a:solidFill>
                <a:latin typeface="微软雅黑" panose="020B0503020204020204" charset="-122"/>
                <a:ea typeface="微软雅黑" panose="020B0503020204020204" charset="-122"/>
              </a:rPr>
              <a:t>"</a:t>
            </a:r>
            <a:r>
              <a:rPr lang="zh-CN" sz="1425">
                <a:solidFill>
                  <a:srgbClr val="D6E3F7"/>
                </a:solidFill>
                <a:latin typeface="微软雅黑" panose="020B0503020204020204" charset="-122"/>
                <a:ea typeface="微软雅黑" panose="020B0503020204020204" charset="-122"/>
              </a:rPr>
              <a:t>还能承载多少</a:t>
            </a:r>
            <a:r>
              <a:rPr lang="en-US" sz="1425">
                <a:solidFill>
                  <a:srgbClr val="D6E3F7"/>
                </a:solidFill>
                <a:latin typeface="微软雅黑" panose="020B0503020204020204" charset="-122"/>
                <a:ea typeface="微软雅黑" panose="020B0503020204020204" charset="-122"/>
              </a:rPr>
              <a:t>"</a:t>
            </a:r>
            <a:r>
              <a:rPr lang="zh-CN" sz="1425">
                <a:solidFill>
                  <a:srgbClr val="D6E3F7"/>
                </a:solidFill>
                <a:latin typeface="微软雅黑" panose="020B0503020204020204" charset="-122"/>
                <a:ea typeface="微软雅黑" panose="020B0503020204020204" charset="-122"/>
              </a:rPr>
              <a:t>与</a:t>
            </a:r>
            <a:r>
              <a:rPr lang="en-US" sz="1425">
                <a:solidFill>
                  <a:srgbClr val="D6E3F7"/>
                </a:solidFill>
                <a:latin typeface="微软雅黑" panose="020B0503020204020204" charset="-122"/>
                <a:ea typeface="微软雅黑" panose="020B0503020204020204" charset="-122"/>
              </a:rPr>
              <a:t>"</a:t>
            </a:r>
            <a:r>
              <a:rPr lang="zh-CN" sz="1425">
                <a:solidFill>
                  <a:srgbClr val="D6E3F7"/>
                </a:solidFill>
                <a:latin typeface="微软雅黑" panose="020B0503020204020204" charset="-122"/>
                <a:ea typeface="微软雅黑" panose="020B0503020204020204" charset="-122"/>
              </a:rPr>
              <a:t>边界由谁控制</a:t>
            </a:r>
            <a:r>
              <a:rPr lang="en-US" sz="1425">
                <a:solidFill>
                  <a:srgbClr val="D6E3F7"/>
                </a:solidFill>
                <a:latin typeface="微软雅黑" panose="020B0503020204020204" charset="-122"/>
                <a:ea typeface="微软雅黑" panose="020B0503020204020204" charset="-122"/>
              </a:rPr>
              <a:t>"</a:t>
            </a:r>
            <a:endParaRPr lang="en-US" sz="1425">
              <a:solidFill>
                <a:srgbClr val="D6E3F7"/>
              </a:solidFill>
              <a:latin typeface="微软雅黑" panose="020B0503020204020204" charset="-122"/>
              <a:ea typeface="微软雅黑" panose="020B0503020204020204" charset="-122"/>
            </a:endParaRPr>
          </a:p>
        </p:txBody>
      </p:sp>
      <p:sp>
        <p:nvSpPr>
          <p:cNvPr id="1475" name="圆角矩形 1474"/>
          <p:cNvSpPr/>
          <p:nvPr/>
        </p:nvSpPr>
        <p:spPr>
          <a:xfrm>
            <a:off x="904875" y="4476750"/>
            <a:ext cx="8524875" cy="923925"/>
          </a:xfrm>
          <a:prstGeom prst="roundRect">
            <a:avLst>
              <a:gd name="adj" fmla="val 6186"/>
            </a:avLst>
          </a:prstGeom>
          <a:solidFill>
            <a:srgbClr val="12489A"/>
          </a:solidFill>
        </p:spPr>
        <p:txBody>
          <a:bodyPr/>
          <a:p/>
        </p:txBody>
      </p:sp>
      <p:sp>
        <p:nvSpPr>
          <p:cNvPr id="1476" name="任意多边形 1475"/>
          <p:cNvSpPr/>
          <p:nvPr/>
        </p:nvSpPr>
        <p:spPr>
          <a:xfrm>
            <a:off x="904875" y="4476750"/>
            <a:ext cx="8524875" cy="923925"/>
          </a:xfrm>
          <a:custGeom>
            <a:avLst/>
            <a:gdLst/>
            <a:ahLst/>
            <a:cxnLst/>
            <a:pathLst>
              <a:path w="895" h="97">
                <a:moveTo>
                  <a:pt x="6" y="0"/>
                </a:moveTo>
                <a:cubicBezTo>
                  <a:pt x="5" y="0"/>
                  <a:pt x="5" y="0"/>
                  <a:pt x="5" y="1"/>
                </a:cubicBezTo>
                <a:lnTo>
                  <a:pt x="5" y="96"/>
                </a:lnTo>
                <a:cubicBezTo>
                  <a:pt x="5" y="97"/>
                  <a:pt x="5" y="97"/>
                  <a:pt x="6" y="97"/>
                </a:cubicBezTo>
                <a:cubicBezTo>
                  <a:pt x="3" y="97"/>
                  <a:pt x="0" y="94"/>
                  <a:pt x="0" y="91"/>
                </a:cubicBezTo>
                <a:lnTo>
                  <a:pt x="0" y="6"/>
                </a:lnTo>
                <a:cubicBezTo>
                  <a:pt x="0" y="3"/>
                  <a:pt x="3" y="0"/>
                  <a:pt x="6" y="0"/>
                </a:cubicBezTo>
                <a:close/>
              </a:path>
            </a:pathLst>
          </a:custGeom>
          <a:solidFill>
            <a:srgbClr val="FFC107"/>
          </a:solidFill>
        </p:spPr>
        <p:txBody>
          <a:bodyPr/>
          <a:p/>
        </p:txBody>
      </p:sp>
      <p:sp>
        <p:nvSpPr>
          <p:cNvPr id="1477" name="文本框 1476" descr="{&quot;isTemplate&quot;:true,&quot;type&quot;:&quot;text&quot;}"/>
          <p:cNvSpPr txBox="1"/>
          <p:nvPr/>
        </p:nvSpPr>
        <p:spPr>
          <a:xfrm>
            <a:off x="1038225" y="4610100"/>
            <a:ext cx="8258175" cy="657225"/>
          </a:xfrm>
          <a:prstGeom prst="rect">
            <a:avLst/>
          </a:prstGeom>
        </p:spPr>
        <p:txBody>
          <a:bodyPr wrap="square" lIns="0" tIns="0" rIns="0" bIns="0">
            <a:normAutofit/>
          </a:bodyPr>
          <a:p>
            <a:pPr>
              <a:lnSpc>
                <a:spcPct val="150000"/>
              </a:lnSpc>
            </a:pPr>
            <a:r>
              <a:rPr lang="zh-CN" sz="1425">
                <a:solidFill>
                  <a:srgbClr val="FFFFFF"/>
                </a:solidFill>
                <a:latin typeface="微软雅黑" panose="020B0503020204020204" charset="-122"/>
                <a:ea typeface="微软雅黑" panose="020B0503020204020204" charset="-122"/>
              </a:rPr>
              <a:t>本研究的目标不是再计算一个</a:t>
            </a:r>
            <a:r>
              <a:rPr lang="en-US" sz="1425">
                <a:solidFill>
                  <a:srgbClr val="FFFFFF"/>
                </a:solidFill>
                <a:latin typeface="微软雅黑" panose="020B0503020204020204" charset="-122"/>
                <a:ea typeface="微软雅黑" panose="020B0503020204020204" charset="-122"/>
              </a:rPr>
              <a:t> AI </a:t>
            </a:r>
            <a:r>
              <a:rPr lang="zh-CN" sz="1425">
                <a:solidFill>
                  <a:srgbClr val="FFFFFF"/>
                </a:solidFill>
                <a:latin typeface="微软雅黑" panose="020B0503020204020204" charset="-122"/>
                <a:ea typeface="微软雅黑" panose="020B0503020204020204" charset="-122"/>
              </a:rPr>
              <a:t>水足迹，而是回答：在给定城市水系统条件下，</a:t>
            </a:r>
            <a:r>
              <a:rPr lang="en-US" sz="1425">
                <a:solidFill>
                  <a:srgbClr val="FFFFFF"/>
                </a:solidFill>
                <a:latin typeface="微软雅黑" panose="020B0503020204020204" charset="-122"/>
                <a:ea typeface="微软雅黑" panose="020B0503020204020204" charset="-122"/>
              </a:rPr>
              <a:t>AI </a:t>
            </a:r>
            <a:r>
              <a:rPr lang="zh-CN" sz="1425">
                <a:solidFill>
                  <a:srgbClr val="FFFFFF"/>
                </a:solidFill>
                <a:latin typeface="微软雅黑" panose="020B0503020204020204" charset="-122"/>
                <a:ea typeface="微软雅黑" panose="020B0503020204020204" charset="-122"/>
              </a:rPr>
              <a:t>算力可以增长到哪里，以及为什么到此为止。</a:t>
            </a:r>
            <a:endParaRPr lang="zh-CN" sz="1425">
              <a:solidFill>
                <a:srgbClr val="FFFFFF"/>
              </a:solidFill>
              <a:latin typeface="微软雅黑" panose="020B0503020204020204" charset="-122"/>
              <a:ea typeface="微软雅黑" panose="020B0503020204020204" charset="-122"/>
            </a:endParaRPr>
          </a:p>
        </p:txBody>
      </p:sp>
      <p:sp>
        <p:nvSpPr>
          <p:cNvPr id="1478" name="圆角矩形 1477"/>
          <p:cNvSpPr/>
          <p:nvPr/>
        </p:nvSpPr>
        <p:spPr>
          <a:xfrm>
            <a:off x="857250" y="5562600"/>
            <a:ext cx="695325" cy="228600"/>
          </a:xfrm>
          <a:prstGeom prst="roundRect">
            <a:avLst>
              <a:gd name="adj" fmla="val 16667"/>
            </a:avLst>
          </a:prstGeom>
          <a:solidFill>
            <a:srgbClr val="0E3F8C">
              <a:alpha val="85000"/>
            </a:srgbClr>
          </a:solidFill>
        </p:spPr>
        <p:txBody>
          <a:bodyPr/>
          <a:p/>
        </p:txBody>
      </p:sp>
      <p:sp>
        <p:nvSpPr>
          <p:cNvPr id="1479" name="文本框 1478" descr="{&quot;isTemplate&quot;:true,&quot;type&quot;:&quot;text&quot;}"/>
          <p:cNvSpPr txBox="1"/>
          <p:nvPr/>
        </p:nvSpPr>
        <p:spPr>
          <a:xfrm>
            <a:off x="857250" y="5562600"/>
            <a:ext cx="123825" cy="228600"/>
          </a:xfrm>
          <a:prstGeom prst="rect">
            <a:avLst/>
          </a:prstGeom>
        </p:spPr>
        <p:txBody>
          <a:bodyPr wrap="none" lIns="0" tIns="0" rIns="0" bIns="0"/>
          <a:p>
            <a:pPr>
              <a:lnSpc>
                <a:spcPct val="100000"/>
              </a:lnSpc>
            </a:pPr>
            <a:r>
              <a:rPr lang="en-US" sz="1500" b="1">
                <a:solidFill>
                  <a:srgbClr val="FFC107">
                    <a:alpha val="85000"/>
                  </a:srgbClr>
                </a:solidFill>
                <a:latin typeface="微软雅黑" panose="020B0503020204020204" charset="-122"/>
                <a:ea typeface="微软雅黑" panose="020B0503020204020204" charset="-122"/>
              </a:rPr>
              <a:t>3</a:t>
            </a:r>
            <a:endParaRPr lang="en-US" sz="1500" b="1">
              <a:solidFill>
                <a:srgbClr val="FFC107">
                  <a:alpha val="85000"/>
                </a:srgbClr>
              </a:solidFill>
              <a:latin typeface="微软雅黑" panose="020B0503020204020204" charset="-122"/>
              <a:ea typeface="微软雅黑" panose="020B0503020204020204" charset="-122"/>
            </a:endParaRPr>
          </a:p>
        </p:txBody>
      </p:sp>
      <p:sp>
        <p:nvSpPr>
          <p:cNvPr id="1480" name="文本框 1479" descr="{&quot;isTemplate&quot;:true,&quot;type&quot;:&quot;text&quot;}"/>
          <p:cNvSpPr txBox="1"/>
          <p:nvPr/>
        </p:nvSpPr>
        <p:spPr>
          <a:xfrm>
            <a:off x="1057275" y="5600700"/>
            <a:ext cx="495300" cy="152400"/>
          </a:xfrm>
          <a:prstGeom prst="rect">
            <a:avLst/>
          </a:prstGeom>
        </p:spPr>
        <p:txBody>
          <a:bodyPr wrap="none" lIns="0" tIns="0" rIns="0" bIns="0"/>
          <a:p>
            <a:pPr>
              <a:lnSpc>
                <a:spcPct val="100000"/>
              </a:lnSpc>
            </a:pPr>
            <a:r>
              <a:rPr lang="zh-CN" sz="975">
                <a:solidFill>
                  <a:srgbClr val="BFD3F2">
                    <a:alpha val="85000"/>
                  </a:srgbClr>
                </a:solidFill>
                <a:latin typeface="微软雅黑" panose="020B0503020204020204" charset="-122"/>
                <a:ea typeface="微软雅黑" panose="020B0503020204020204" charset="-122"/>
              </a:rPr>
              <a:t>科学问题</a:t>
            </a:r>
            <a:endParaRPr lang="zh-CN" sz="975">
              <a:solidFill>
                <a:srgbClr val="BFD3F2">
                  <a:alpha val="85000"/>
                </a:srgbClr>
              </a:solidFill>
              <a:latin typeface="微软雅黑" panose="020B0503020204020204" charset="-122"/>
              <a:ea typeface="微软雅黑" panose="020B0503020204020204" charset="-122"/>
            </a:endParaRPr>
          </a:p>
        </p:txBody>
      </p:sp>
      <p:sp>
        <p:nvSpPr>
          <p:cNvPr id="1481" name="圆角矩形 1480"/>
          <p:cNvSpPr/>
          <p:nvPr/>
        </p:nvSpPr>
        <p:spPr>
          <a:xfrm>
            <a:off x="1647825" y="5562600"/>
            <a:ext cx="571500" cy="228600"/>
          </a:xfrm>
          <a:prstGeom prst="roundRect">
            <a:avLst>
              <a:gd name="adj" fmla="val 16667"/>
            </a:avLst>
          </a:prstGeom>
          <a:solidFill>
            <a:srgbClr val="0E3F8C">
              <a:alpha val="85000"/>
            </a:srgbClr>
          </a:solidFill>
        </p:spPr>
        <p:txBody>
          <a:bodyPr/>
          <a:p/>
        </p:txBody>
      </p:sp>
      <p:sp>
        <p:nvSpPr>
          <p:cNvPr id="1482" name="文本框 1481" descr="{&quot;isTemplate&quot;:true,&quot;type&quot;:&quot;text&quot;}"/>
          <p:cNvSpPr txBox="1"/>
          <p:nvPr/>
        </p:nvSpPr>
        <p:spPr>
          <a:xfrm>
            <a:off x="1647825" y="5562600"/>
            <a:ext cx="123825" cy="228600"/>
          </a:xfrm>
          <a:prstGeom prst="rect">
            <a:avLst/>
          </a:prstGeom>
        </p:spPr>
        <p:txBody>
          <a:bodyPr wrap="none" lIns="0" tIns="0" rIns="0" bIns="0"/>
          <a:p>
            <a:pPr>
              <a:lnSpc>
                <a:spcPct val="100000"/>
              </a:lnSpc>
            </a:pPr>
            <a:r>
              <a:rPr lang="en-US" sz="1500" b="1">
                <a:solidFill>
                  <a:srgbClr val="FFC107">
                    <a:alpha val="85000"/>
                  </a:srgbClr>
                </a:solidFill>
                <a:latin typeface="微软雅黑" panose="020B0503020204020204" charset="-122"/>
                <a:ea typeface="微软雅黑" panose="020B0503020204020204" charset="-122"/>
              </a:rPr>
              <a:t>4</a:t>
            </a:r>
            <a:endParaRPr lang="en-US" sz="1500" b="1">
              <a:solidFill>
                <a:srgbClr val="FFC107">
                  <a:alpha val="85000"/>
                </a:srgbClr>
              </a:solidFill>
              <a:latin typeface="微软雅黑" panose="020B0503020204020204" charset="-122"/>
              <a:ea typeface="微软雅黑" panose="020B0503020204020204" charset="-122"/>
            </a:endParaRPr>
          </a:p>
        </p:txBody>
      </p:sp>
      <p:sp>
        <p:nvSpPr>
          <p:cNvPr id="1483" name="文本框 1482" descr="{&quot;isTemplate&quot;:true,&quot;type&quot;:&quot;text&quot;}"/>
          <p:cNvSpPr txBox="1"/>
          <p:nvPr/>
        </p:nvSpPr>
        <p:spPr>
          <a:xfrm>
            <a:off x="1847850" y="5600700"/>
            <a:ext cx="371475" cy="152400"/>
          </a:xfrm>
          <a:prstGeom prst="rect">
            <a:avLst/>
          </a:prstGeom>
        </p:spPr>
        <p:txBody>
          <a:bodyPr wrap="none" lIns="0" tIns="0" rIns="0" bIns="0"/>
          <a:p>
            <a:pPr>
              <a:lnSpc>
                <a:spcPct val="100000"/>
              </a:lnSpc>
            </a:pPr>
            <a:r>
              <a:rPr lang="zh-CN" sz="975">
                <a:solidFill>
                  <a:srgbClr val="BFD3F2">
                    <a:alpha val="85000"/>
                  </a:srgbClr>
                </a:solidFill>
                <a:latin typeface="微软雅黑" panose="020B0503020204020204" charset="-122"/>
                <a:ea typeface="微软雅黑" panose="020B0503020204020204" charset="-122"/>
              </a:rPr>
              <a:t>组实验</a:t>
            </a:r>
            <a:endParaRPr lang="zh-CN" sz="975">
              <a:solidFill>
                <a:srgbClr val="BFD3F2">
                  <a:alpha val="85000"/>
                </a:srgbClr>
              </a:solidFill>
              <a:latin typeface="微软雅黑" panose="020B0503020204020204" charset="-122"/>
              <a:ea typeface="微软雅黑" panose="020B0503020204020204" charset="-122"/>
            </a:endParaRPr>
          </a:p>
        </p:txBody>
      </p:sp>
      <p:sp>
        <p:nvSpPr>
          <p:cNvPr id="1484" name="圆角矩形 1483"/>
          <p:cNvSpPr/>
          <p:nvPr/>
        </p:nvSpPr>
        <p:spPr>
          <a:xfrm>
            <a:off x="2314575" y="5562600"/>
            <a:ext cx="571500" cy="228600"/>
          </a:xfrm>
          <a:prstGeom prst="roundRect">
            <a:avLst>
              <a:gd name="adj" fmla="val 16667"/>
            </a:avLst>
          </a:prstGeom>
          <a:solidFill>
            <a:srgbClr val="0E3F8C">
              <a:alpha val="85000"/>
            </a:srgbClr>
          </a:solidFill>
        </p:spPr>
        <p:txBody>
          <a:bodyPr/>
          <a:p/>
        </p:txBody>
      </p:sp>
      <p:sp>
        <p:nvSpPr>
          <p:cNvPr id="1485" name="文本框 1484" descr="{&quot;isTemplate&quot;:true,&quot;type&quot;:&quot;text&quot;}"/>
          <p:cNvSpPr txBox="1"/>
          <p:nvPr/>
        </p:nvSpPr>
        <p:spPr>
          <a:xfrm>
            <a:off x="2314575" y="5562600"/>
            <a:ext cx="123825" cy="228600"/>
          </a:xfrm>
          <a:prstGeom prst="rect">
            <a:avLst/>
          </a:prstGeom>
        </p:spPr>
        <p:txBody>
          <a:bodyPr wrap="none" lIns="0" tIns="0" rIns="0" bIns="0"/>
          <a:p>
            <a:pPr>
              <a:lnSpc>
                <a:spcPct val="100000"/>
              </a:lnSpc>
            </a:pPr>
            <a:r>
              <a:rPr lang="en-US" sz="1500" b="1">
                <a:solidFill>
                  <a:srgbClr val="FFC107">
                    <a:alpha val="85000"/>
                  </a:srgbClr>
                </a:solidFill>
                <a:latin typeface="微软雅黑" panose="020B0503020204020204" charset="-122"/>
                <a:ea typeface="微软雅黑" panose="020B0503020204020204" charset="-122"/>
              </a:rPr>
              <a:t>5</a:t>
            </a:r>
            <a:endParaRPr lang="en-US" sz="1500" b="1">
              <a:solidFill>
                <a:srgbClr val="FFC107">
                  <a:alpha val="85000"/>
                </a:srgbClr>
              </a:solidFill>
              <a:latin typeface="微软雅黑" panose="020B0503020204020204" charset="-122"/>
              <a:ea typeface="微软雅黑" panose="020B0503020204020204" charset="-122"/>
            </a:endParaRPr>
          </a:p>
        </p:txBody>
      </p:sp>
      <p:sp>
        <p:nvSpPr>
          <p:cNvPr id="1486" name="文本框 1485" descr="{&quot;isTemplate&quot;:true,&quot;type&quot;:&quot;text&quot;}"/>
          <p:cNvSpPr txBox="1"/>
          <p:nvPr/>
        </p:nvSpPr>
        <p:spPr>
          <a:xfrm>
            <a:off x="2514600" y="5600700"/>
            <a:ext cx="371475" cy="152400"/>
          </a:xfrm>
          <a:prstGeom prst="rect">
            <a:avLst/>
          </a:prstGeom>
        </p:spPr>
        <p:txBody>
          <a:bodyPr wrap="none" lIns="0" tIns="0" rIns="0" bIns="0"/>
          <a:p>
            <a:pPr>
              <a:lnSpc>
                <a:spcPct val="100000"/>
              </a:lnSpc>
            </a:pPr>
            <a:r>
              <a:rPr lang="zh-CN" sz="975">
                <a:solidFill>
                  <a:srgbClr val="BFD3F2">
                    <a:alpha val="85000"/>
                  </a:srgbClr>
                </a:solidFill>
                <a:latin typeface="微软雅黑" panose="020B0503020204020204" charset="-122"/>
                <a:ea typeface="微软雅黑" panose="020B0503020204020204" charset="-122"/>
              </a:rPr>
              <a:t>个阶段</a:t>
            </a:r>
            <a:endParaRPr lang="zh-CN" sz="975">
              <a:solidFill>
                <a:srgbClr val="BFD3F2">
                  <a:alpha val="85000"/>
                </a:srgbClr>
              </a:solidFill>
              <a:latin typeface="微软雅黑" panose="020B0503020204020204" charset="-122"/>
              <a:ea typeface="微软雅黑" panose="020B0503020204020204" charset="-122"/>
            </a:endParaRPr>
          </a:p>
        </p:txBody>
      </p:sp>
      <p:sp>
        <p:nvSpPr>
          <p:cNvPr id="1487" name="文本框 1486" descr="{&quot;isTemplate&quot;:true,&quot;type&quot;:&quot;text&quot;}"/>
          <p:cNvSpPr txBox="1"/>
          <p:nvPr/>
        </p:nvSpPr>
        <p:spPr>
          <a:xfrm>
            <a:off x="857250" y="6172200"/>
            <a:ext cx="2667000" cy="228600"/>
          </a:xfrm>
          <a:prstGeom prst="rect">
            <a:avLst/>
          </a:prstGeom>
        </p:spPr>
        <p:txBody>
          <a:bodyPr wrap="none" lIns="0" tIns="0" rIns="0" bIns="0"/>
          <a:p>
            <a:pPr>
              <a:lnSpc>
                <a:spcPct val="100000"/>
              </a:lnSpc>
            </a:pPr>
            <a:r>
              <a:rPr lang="zh-CN" sz="1500" b="1">
                <a:solidFill>
                  <a:srgbClr val="FFFFFF"/>
                </a:solidFill>
                <a:latin typeface="微软雅黑" panose="020B0503020204020204" charset="-122"/>
                <a:ea typeface="微软雅黑" panose="020B0503020204020204" charset="-122"/>
              </a:rPr>
              <a:t>汇报完毕，请各位老师批评指正</a:t>
            </a:r>
            <a:endParaRPr lang="zh-CN" sz="1500" b="1">
              <a:solidFill>
                <a:srgbClr val="FFFFFF"/>
              </a:solidFill>
              <a:latin typeface="微软雅黑" panose="020B0503020204020204" charset="-122"/>
              <a:ea typeface="微软雅黑" panose="020B0503020204020204" charset="-122"/>
            </a:endParaRPr>
          </a:p>
        </p:txBody>
      </p:sp>
      <p:sp>
        <p:nvSpPr>
          <p:cNvPr id="1488" name="文本框 1487" descr="{&quot;isTemplate&quot;:true,&quot;type&quot;:&quot;text&quot;}"/>
          <p:cNvSpPr txBox="1"/>
          <p:nvPr/>
        </p:nvSpPr>
        <p:spPr>
          <a:xfrm>
            <a:off x="3676650" y="6210300"/>
            <a:ext cx="3267075" cy="161925"/>
          </a:xfrm>
          <a:prstGeom prst="rect">
            <a:avLst/>
          </a:prstGeom>
        </p:spPr>
        <p:txBody>
          <a:bodyPr wrap="none" lIns="0" tIns="0" rIns="0" bIns="0"/>
          <a:p>
            <a:pPr>
              <a:lnSpc>
                <a:spcPct val="100000"/>
              </a:lnSpc>
            </a:pPr>
            <a:r>
              <a:rPr lang="zh-CN" sz="1050">
                <a:solidFill>
                  <a:srgbClr val="7FA3D6"/>
                </a:solidFill>
                <a:latin typeface="微软雅黑" panose="020B0503020204020204" charset="-122"/>
                <a:ea typeface="微软雅黑" panose="020B0503020204020204" charset="-122"/>
              </a:rPr>
              <a:t>哈尔滨工业大学</a:t>
            </a:r>
            <a:r>
              <a:rPr lang="en-US" sz="1050">
                <a:solidFill>
                  <a:srgbClr val="7FA3D6"/>
                </a:solidFill>
                <a:latin typeface="微软雅黑" panose="020B0503020204020204" charset="-122"/>
                <a:ea typeface="微软雅黑" panose="020B0503020204020204" charset="-122"/>
              </a:rPr>
              <a:t> · </a:t>
            </a:r>
            <a:r>
              <a:rPr lang="zh-CN" sz="1050">
                <a:solidFill>
                  <a:srgbClr val="7FA3D6"/>
                </a:solidFill>
                <a:latin typeface="微软雅黑" panose="020B0503020204020204" charset="-122"/>
                <a:ea typeface="微软雅黑" panose="020B0503020204020204" charset="-122"/>
              </a:rPr>
              <a:t>硕士学位论文开题答辩</a:t>
            </a:r>
            <a:r>
              <a:rPr lang="en-US" sz="1050">
                <a:solidFill>
                  <a:srgbClr val="7FA3D6"/>
                </a:solidFill>
                <a:latin typeface="微软雅黑" panose="020B0503020204020204" charset="-122"/>
                <a:ea typeface="微软雅黑" panose="020B0503020204020204" charset="-122"/>
              </a:rPr>
              <a:t> · 2026 </a:t>
            </a:r>
            <a:r>
              <a:rPr lang="zh-CN" sz="1050">
                <a:solidFill>
                  <a:srgbClr val="7FA3D6"/>
                </a:solidFill>
                <a:latin typeface="微软雅黑" panose="020B0503020204020204" charset="-122"/>
                <a:ea typeface="微软雅黑" panose="020B0503020204020204" charset="-122"/>
              </a:rPr>
              <a:t>年</a:t>
            </a:r>
            <a:r>
              <a:rPr lang="en-US" sz="1050">
                <a:solidFill>
                  <a:srgbClr val="7FA3D6"/>
                </a:solidFill>
                <a:latin typeface="微软雅黑" panose="020B0503020204020204" charset="-122"/>
                <a:ea typeface="微软雅黑" panose="020B0503020204020204" charset="-122"/>
              </a:rPr>
              <a:t> 9 </a:t>
            </a:r>
            <a:r>
              <a:rPr lang="zh-CN" sz="1050">
                <a:solidFill>
                  <a:srgbClr val="7FA3D6"/>
                </a:solidFill>
                <a:latin typeface="微软雅黑" panose="020B0503020204020204" charset="-122"/>
                <a:ea typeface="微软雅黑" panose="020B0503020204020204" charset="-122"/>
              </a:rPr>
              <a:t>月</a:t>
            </a:r>
            <a:endParaRPr lang="zh-CN" sz="1050">
              <a:solidFill>
                <a:srgbClr val="7FA3D6"/>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370.5,&quot;left&quot;:43.5,&quot;top&quot;:81.75,&quot;width&quot;:589.5}"/>
</p:tagLst>
</file>

<file path=ppt/tags/tag2.xml><?xml version="1.0" encoding="utf-8"?>
<p:tagLst xmlns:p="http://schemas.openxmlformats.org/presentationml/2006/main">
  <p:tag name="KSO_WM_DIAGRAM_VIRTUALLY_FRAME" val="{&quot;height&quot;:370.5,&quot;left&quot;:43.5,&quot;top&quot;:81.75,&quot;width&quot;:589.5}"/>
</p:tagLst>
</file>

<file path=ppt/tags/tag3.xml><?xml version="1.0" encoding="utf-8"?>
<p:tagLst xmlns:p="http://schemas.openxmlformats.org/presentationml/2006/main">
  <p:tag name="KSO_WM_DIAGRAM_VIRTUALLY_FRAME" val="{&quot;height&quot;:370.5,&quot;left&quot;:43.5,&quot;top&quot;:81.75,&quot;width&quot;:589.5}"/>
</p:tagLst>
</file>

<file path=ppt/tags/tag4.xml><?xml version="1.0" encoding="utf-8"?>
<p:tagLst xmlns:p="http://schemas.openxmlformats.org/presentationml/2006/main">
  <p:tag name="KSO_WM_DIAGRAM_VIRTUALLY_FRAME" val="{&quot;height&quot;:370.5,&quot;left&quot;:43.5,&quot;top&quot;:81.75,&quot;width&quot;:589.5}"/>
</p:tagLst>
</file>

<file path=ppt/tags/tag5.xml><?xml version="1.0" encoding="utf-8"?>
<p:tagLst xmlns:p="http://schemas.openxmlformats.org/presentationml/2006/main">
  <p:tag name="KSO_WM_DIAGRAM_VIRTUALLY_FRAME" val="{&quot;height&quot;:370.5,&quot;left&quot;:43.5,&quot;top&quot;:81.75,&quot;width&quot;:589.5}"/>
</p:tagLst>
</file>

<file path=ppt/tags/tag6.xml><?xml version="1.0" encoding="utf-8"?>
<p:tagLst xmlns:p="http://schemas.openxmlformats.org/presentationml/2006/main">
  <p:tag name="KSO_WM_DIAGRAM_VIRTUALLY_FRAME" val="{&quot;height&quot;:370.5,&quot;left&quot;:43.5,&quot;top&quot;:81.75,&quot;width&quot;:589.5}"/>
</p:tagLst>
</file>

<file path=ppt/tags/tag7.xml><?xml version="1.0" encoding="utf-8"?>
<p:tagLst xmlns:p="http://schemas.openxmlformats.org/presentationml/2006/main">
  <p:tag name="KSO_WM_DIAGRAM_VIRTUALLY_FRAME" val="{&quot;height&quot;:370.5,&quot;left&quot;:43.5,&quot;top&quot;:81.75,&quot;width&quot;:589.5}"/>
</p:tagLst>
</file>

<file path=ppt/tags/tag8.xml><?xml version="1.0" encoding="utf-8"?>
<p:tagLst xmlns:p="http://schemas.openxmlformats.org/presentationml/2006/main">
  <p:tag name="KSO_WM_DIAGRAM_VIRTUALLY_FRAME" val="{&quot;height&quot;:370.5,&quot;left&quot;:43.5,&quot;top&quot;:81.75,&quot;width&quot;:589.5}"/>
</p:tagLst>
</file>

<file path=ppt/tags/tag9.xml><?xml version="1.0" encoding="utf-8"?>
<p:tagLst xmlns:p="http://schemas.openxmlformats.org/presentationml/2006/main">
  <p:tag name="KSO_WM_DIAGRAM_VIRTUALLY_FRAME" val="{&quot;height&quot;:370.5,&quot;left&quot;:43.5,&quot;top&quot;:81.75,&quot;width&quot;:589.5}"/>
</p:tagLst>
</file>

<file path=ppt/tags/tag10.xml><?xml version="1.0" encoding="utf-8"?>
<p:tagLst xmlns:p="http://schemas.openxmlformats.org/presentationml/2006/main">
  <p:tag name="KSO_WM_DIAGRAM_VIRTUALLY_FRAME" val="{&quot;height&quot;:370.5,&quot;left&quot;:43.5,&quot;top&quot;:81.75,&quot;width&quot;:589.5}"/>
</p:tagLst>
</file>

<file path=ppt/tags/tag11.xml><?xml version="1.0" encoding="utf-8"?>
<p:tagLst xmlns:p="http://schemas.openxmlformats.org/presentationml/2006/main">
  <p:tag name="KSO_WM_DIAGRAM_VIRTUALLY_FRAME" val="{&quot;height&quot;:370.5,&quot;left&quot;:43.5,&quot;top&quot;:81.75,&quot;width&quot;:589.5}"/>
</p:tagLst>
</file>

<file path=ppt/tags/tag12.xml><?xml version="1.0" encoding="utf-8"?>
<p:tagLst xmlns:p="http://schemas.openxmlformats.org/presentationml/2006/main">
  <p:tag name="KSO_WM_DIAGRAM_VIRTUALLY_FRAME" val="{&quot;height&quot;:370.5,&quot;left&quot;:43.5,&quot;top&quot;:81.75,&quot;width&quot;:589.5}"/>
</p:tagLst>
</file>

<file path=ppt/tags/tag13.xml><?xml version="1.0" encoding="utf-8"?>
<p:tagLst xmlns:p="http://schemas.openxmlformats.org/presentationml/2006/main">
  <p:tag name="KSO_WM_DIAGRAM_VIRTUALLY_FRAME" val="{&quot;height&quot;:370.5,&quot;left&quot;:43.5,&quot;top&quot;:81.75,&quot;width&quot;:589.5}"/>
</p:tagLst>
</file>

<file path=ppt/tags/tag14.xml><?xml version="1.0" encoding="utf-8"?>
<p:tagLst xmlns:p="http://schemas.openxmlformats.org/presentationml/2006/main">
  <p:tag name="KSO_WM_DIAGRAM_VIRTUALLY_FRAME" val="{&quot;height&quot;:370.5,&quot;left&quot;:43.5,&quot;top&quot;:81.75,&quot;width&quot;:589.5}"/>
</p:tagLst>
</file>

<file path=ppt/tags/tag15.xml><?xml version="1.0" encoding="utf-8"?>
<p:tagLst xmlns:p="http://schemas.openxmlformats.org/presentationml/2006/main">
  <p:tag name="KSO_WM_DIAGRAM_VIRTUALLY_FRAME" val="{&quot;height&quot;:370.5,&quot;left&quot;:43.5,&quot;top&quot;:81.75,&quot;width&quot;:589.5}"/>
</p:tagLst>
</file>

<file path=ppt/tags/tag16.xml><?xml version="1.0" encoding="utf-8"?>
<p:tagLst xmlns:p="http://schemas.openxmlformats.org/presentationml/2006/main">
  <p:tag name="KSO_WM_DIAGRAM_VIRTUALLY_FRAME" val="{&quot;height&quot;:370.5,&quot;left&quot;:43.5,&quot;top&quot;:81.75,&quot;width&quot;:589.5}"/>
</p:tagLst>
</file>

<file path=ppt/tags/tag17.xml><?xml version="1.0" encoding="utf-8"?>
<p:tagLst xmlns:p="http://schemas.openxmlformats.org/presentationml/2006/main">
  <p:tag name="KSO_WM_DIAGRAM_VIRTUALLY_FRAME" val="{&quot;height&quot;:370.5,&quot;left&quot;:43.5,&quot;top&quot;:81.75,&quot;width&quot;:589.5}"/>
</p:tagLst>
</file>

<file path=ppt/tags/tag18.xml><?xml version="1.0" encoding="utf-8"?>
<p:tagLst xmlns:p="http://schemas.openxmlformats.org/presentationml/2006/main">
  <p:tag name="KSO_WM_DIAGRAM_VIRTUALLY_FRAME" val="{&quot;height&quot;:370.5,&quot;left&quot;:43.5,&quot;top&quot;:81.75,&quot;width&quot;:589.5}"/>
</p:tagLst>
</file>

<file path=ppt/tags/tag19.xml><?xml version="1.0" encoding="utf-8"?>
<p:tagLst xmlns:p="http://schemas.openxmlformats.org/presentationml/2006/main">
  <p:tag name="KSO_WM_DIAGRAM_VIRTUALLY_FRAME" val="{&quot;height&quot;:370.5,&quot;left&quot;:43.5,&quot;top&quot;:81.75,&quot;width&quot;:589.5}"/>
</p:tagLst>
</file>

<file path=ppt/tags/tag20.xml><?xml version="1.0" encoding="utf-8"?>
<p:tagLst xmlns:p="http://schemas.openxmlformats.org/presentationml/2006/main">
  <p:tag name="KSO_WM_DIAGRAM_VIRTUALLY_FRAME" val="{&quot;height&quot;:370.5,&quot;left&quot;:43.5,&quot;top&quot;:81.75,&quot;width&quot;:589.5}"/>
</p:tagLst>
</file>

<file path=ppt/tags/tag21.xml><?xml version="1.0" encoding="utf-8"?>
<p:tagLst xmlns:p="http://schemas.openxmlformats.org/presentationml/2006/main">
  <p:tag name="KSO_WM_DIAGRAM_VIRTUALLY_FRAME" val="{&quot;height&quot;:370.5,&quot;left&quot;:43.5,&quot;top&quot;:81.75,&quot;width&quot;:589.5}"/>
</p:tagLst>
</file>

<file path=ppt/tags/tag22.xml><?xml version="1.0" encoding="utf-8"?>
<p:tagLst xmlns:p="http://schemas.openxmlformats.org/presentationml/2006/main">
  <p:tag name="KSO_WM_DIAGRAM_VIRTUALLY_FRAME" val="{&quot;height&quot;:370.5,&quot;left&quot;:43.5,&quot;top&quot;:81.75,&quot;width&quot;:589.5}"/>
</p:tagLst>
</file>

<file path=ppt/tags/tag23.xml><?xml version="1.0" encoding="utf-8"?>
<p:tagLst xmlns:p="http://schemas.openxmlformats.org/presentationml/2006/main">
  <p:tag name="KSO_WM_DIAGRAM_VIRTUALLY_FRAME" val="{&quot;height&quot;:370.5,&quot;left&quot;:43.5,&quot;top&quot;:81.75,&quot;width&quot;:589.5}"/>
</p:tagLst>
</file>

<file path=ppt/tags/tag24.xml><?xml version="1.0" encoding="utf-8"?>
<p:tagLst xmlns:p="http://schemas.openxmlformats.org/presentationml/2006/main">
  <p:tag name="KSO_WM_DIAGRAM_VIRTUALLY_FRAME" val="{&quot;height&quot;:370.5,&quot;left&quot;:43.5,&quot;top&quot;:81.75,&quot;width&quot;:589.5}"/>
</p:tagLst>
</file>

<file path=ppt/tags/tag25.xml><?xml version="1.0" encoding="utf-8"?>
<p:tagLst xmlns:p="http://schemas.openxmlformats.org/presentationml/2006/main">
  <p:tag name="KSO_WM_DIAGRAM_VIRTUALLY_FRAME" val="{&quot;height&quot;:370.5,&quot;left&quot;:43.5,&quot;top&quot;:81.75,&quot;width&quot;:589.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16240</Words>
  <Application>WPS 演示</Application>
  <PresentationFormat/>
  <Paragraphs>1599</Paragraphs>
  <Slides>36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Arial</vt:lpstr>
      <vt:lpstr>宋体</vt:lpstr>
      <vt:lpstr>Wingdings</vt:lpstr>
      <vt:lpstr>微软雅黑</vt:lpstr>
      <vt:lpstr>Calibri</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邵敬哲</cp:lastModifiedBy>
  <cp:revision>4</cp:revision>
  <dcterms:created xsi:type="dcterms:W3CDTF">2026-09-07T06:10:00Z</dcterms:created>
  <dcterms:modified xsi:type="dcterms:W3CDTF">2026-09-07T09:39:28Z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6C4969B230A443DF9BFF9151E2D501EB_12</vt:lpwstr>
  </property>
</Properties>
</file>