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6"/>
  </p:handoutMasterIdLst>
  <p:sldIdLst>
    <p:sldId id="256" r:id="rId3"/>
    <p:sldId id="258" r:id="rId5"/>
    <p:sldId id="259" r:id="rId6"/>
    <p:sldId id="260" r:id="rId7"/>
    <p:sldId id="261" r:id="rId8"/>
    <p:sldId id="262" r:id="rId9"/>
    <p:sldId id="263" r:id="rId10"/>
    <p:sldId id="264" r:id="rId11"/>
    <p:sldId id="265" r:id="rId12"/>
    <p:sldId id="286" r:id="rId13"/>
    <p:sldId id="288" r:id="rId14"/>
    <p:sldId id="271" r:id="rId15"/>
    <p:sldId id="272" r:id="rId16"/>
    <p:sldId id="278" r:id="rId17"/>
    <p:sldId id="274" r:id="rId18"/>
    <p:sldId id="277" r:id="rId19"/>
    <p:sldId id="279" r:id="rId20"/>
    <p:sldId id="281" r:id="rId21"/>
    <p:sldId id="282" r:id="rId22"/>
    <p:sldId id="283" r:id="rId23"/>
    <p:sldId id="284" r:id="rId24"/>
    <p:sldId id="285"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375"/>
    <a:srgbClr val="0053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4660"/>
  </p:normalViewPr>
  <p:slideViewPr>
    <p:cSldViewPr snapToGrid="0">
      <p:cViewPr varScale="1">
        <p:scale>
          <a:sx n="114" d="100"/>
          <a:sy n="114" d="100"/>
        </p:scale>
        <p:origin x="19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各位评审老师、同学们，大家好！我是哈尔滨工业大学环境学院的硕士研究生邵敬哲，我的导师是白舜文老师，今天我带来的开题报告题目是《</a:t>
            </a:r>
            <a:r>
              <a:rPr lang="en-US" altLang="zh-CN" sz="1100" dirty="0"/>
              <a:t>AI</a:t>
            </a:r>
            <a:r>
              <a:rPr lang="zh-CN" altLang="en-US" sz="1100" dirty="0"/>
              <a:t>算力基础设施驱动下城市人工水系统代谢响应与条件化承载边界的系统模拟研究》。</a:t>
            </a:r>
            <a:r>
              <a:rPr lang="en-US" altLang="zh-CN" sz="1100" dirty="0"/>
              <a:t>
AI</a:t>
            </a:r>
            <a:r>
              <a:rPr lang="zh-CN" altLang="en-US" sz="1100" dirty="0"/>
              <a:t>产业的爆发式增长大家都有目共睹，但我们很少关注到海量算力需求背后，隐藏着对城市水资源的刚性压力。本次研究跳出传统单节点核算的思路，聚焦</a:t>
            </a:r>
            <a:r>
              <a:rPr lang="en-US" altLang="zh-CN" sz="1100" dirty="0"/>
              <a:t>AI</a:t>
            </a:r>
            <a:r>
              <a:rPr lang="zh-CN" altLang="en-US" sz="1100" dirty="0"/>
              <a:t>算力节点接入后整个城市人工水系统的代谢变化，尝试明确其条件化承载边界，为算力布局与城市水系统规划提供参考。接下来我将从各个部分展开汇报。</a:t>
            </a:r>
            <a:endParaRPr lang="zh-CN" altLang="en-US" sz="11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数字经济进入大模型时代，</a:t>
            </a:r>
            <a:r>
              <a:rPr lang="en-US" altLang="zh-CN" sz="1100" dirty="0"/>
              <a:t>AI</a:t>
            </a:r>
            <a:r>
              <a:rPr lang="zh-CN" altLang="en-US" sz="1100" dirty="0"/>
              <a:t>产业的爆发式增长不再停留在虚拟信息层面，已经转化为对实体资源的刚性持续消耗。</a:t>
            </a:r>
            <a:r>
              <a:rPr lang="en-US" altLang="zh-CN" sz="1100" dirty="0"/>
              <a:t>AI</a:t>
            </a:r>
            <a:r>
              <a:rPr lang="zh-CN" altLang="en-US" sz="1100" dirty="0"/>
              <a:t>算力需求指数级扩张，正在将不断增长的</a:t>
            </a:r>
            <a:r>
              <a:rPr lang="en-US" altLang="zh-CN" sz="1100" dirty="0"/>
              <a:t>IT</a:t>
            </a:r>
            <a:r>
              <a:rPr lang="zh-CN" altLang="en-US" sz="1100" dirty="0"/>
              <a:t>容量需求，转化为城市资源系统的持续性负荷。</a:t>
            </a:r>
            <a:r>
              <a:rPr lang="en-US" altLang="zh-CN" sz="1100" dirty="0"/>
              <a:t>
</a:t>
            </a:r>
            <a:r>
              <a:rPr lang="zh-CN" altLang="en-US" sz="1100" dirty="0"/>
              <a:t>当前城市水资源供需两端同时承压。需求端，居民生活、传统产业新增</a:t>
            </a:r>
            <a:r>
              <a:rPr lang="en-US" altLang="zh-CN" sz="1100" dirty="0"/>
              <a:t>AI</a:t>
            </a:r>
            <a:r>
              <a:rPr lang="zh-CN" altLang="en-US" sz="1100" dirty="0"/>
              <a:t>算力的多元用水需求持续收紧供水空间；供给端，水源分配、管网调度、再生水生产等环节呈现碎片化特征，难以适配新型负荷的规律性变动。</a:t>
            </a:r>
            <a:r>
              <a:rPr lang="en-US" altLang="zh-CN" sz="1100" dirty="0"/>
              <a:t>
</a:t>
            </a:r>
            <a:r>
              <a:rPr lang="zh-CN" altLang="en-US" sz="1100" dirty="0"/>
              <a:t>破解供需错配的核心，跳出传统仅统计数据中心单节点用水量的局限，将</a:t>
            </a:r>
            <a:r>
              <a:rPr lang="en-US" altLang="zh-CN" sz="1100" dirty="0"/>
              <a:t>AI</a:t>
            </a:r>
            <a:r>
              <a:rPr lang="zh-CN" altLang="en-US" sz="1100" dirty="0"/>
              <a:t>节点接入后的完整城市人工水系统视作全过程代谢网络展开系统性研究。</a:t>
            </a:r>
            <a:endParaRPr lang="zh-CN" altLang="en-US" sz="11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生成式</a:t>
            </a:r>
            <a:r>
              <a:rPr lang="en-US" altLang="zh-CN" sz="1100" dirty="0"/>
              <a:t>AI</a:t>
            </a:r>
            <a:r>
              <a:rPr lang="zh-CN" altLang="en-US" sz="1100" dirty="0"/>
              <a:t>产业呈现爆发式增长，两年内全国日均</a:t>
            </a:r>
            <a:r>
              <a:rPr lang="en-US" altLang="zh-CN" sz="1100" dirty="0"/>
              <a:t>Token</a:t>
            </a:r>
            <a:r>
              <a:rPr lang="zh-CN" altLang="en-US" sz="1100" dirty="0"/>
              <a:t>调用量从</a:t>
            </a:r>
            <a:r>
              <a:rPr lang="en-US" altLang="zh-CN" sz="1100" dirty="0"/>
              <a:t>1000</a:t>
            </a:r>
            <a:r>
              <a:rPr lang="zh-CN" altLang="en-US" sz="1100" dirty="0"/>
              <a:t>亿暴涨至</a:t>
            </a:r>
            <a:r>
              <a:rPr lang="en-US" altLang="zh-CN" sz="1100" dirty="0"/>
              <a:t>140</a:t>
            </a:r>
            <a:r>
              <a:rPr lang="zh-CN" altLang="en-US" sz="1100" dirty="0"/>
              <a:t>万亿，</a:t>
            </a:r>
            <a:r>
              <a:rPr lang="en-US" altLang="zh-CN" sz="1100" dirty="0"/>
              <a:t>ChatGPT</a:t>
            </a:r>
            <a:r>
              <a:rPr lang="zh-CN" altLang="en-US" sz="1100" dirty="0"/>
              <a:t>周活跃用户突破</a:t>
            </a:r>
            <a:r>
              <a:rPr lang="en-US" altLang="zh-CN" sz="1100" dirty="0"/>
              <a:t>10</a:t>
            </a:r>
            <a:r>
              <a:rPr lang="zh-CN" altLang="en-US" sz="1100" dirty="0"/>
              <a:t>亿，过半全球人口、近八成企业已经接入生成式</a:t>
            </a:r>
            <a:r>
              <a:rPr lang="en-US" altLang="zh-CN" sz="1100" dirty="0"/>
              <a:t>AI</a:t>
            </a:r>
            <a:r>
              <a:rPr lang="zh-CN" altLang="en-US" sz="1100" dirty="0"/>
              <a:t>，产业扩张速度远超预期。</a:t>
            </a:r>
            <a:r>
              <a:rPr lang="en-US" altLang="zh-CN" sz="1100" dirty="0"/>
              <a:t>
</a:t>
            </a:r>
            <a:r>
              <a:rPr lang="zh-CN" altLang="en-US" sz="1100" dirty="0"/>
              <a:t>不同</a:t>
            </a:r>
            <a:r>
              <a:rPr lang="en-US" altLang="zh-CN" sz="1100" dirty="0"/>
              <a:t>AI</a:t>
            </a:r>
            <a:r>
              <a:rPr lang="zh-CN" altLang="en-US" sz="1100" dirty="0"/>
              <a:t>应用的资源消耗差异显著。日常文本问答耗水量极低，单次长推理耗水达到百毫升级别，图像生成千张耗水约</a:t>
            </a:r>
            <a:r>
              <a:rPr lang="en-US" altLang="zh-CN" sz="1100" dirty="0"/>
              <a:t>10</a:t>
            </a:r>
            <a:r>
              <a:rPr lang="zh-CN" altLang="en-US" sz="1100" dirty="0"/>
              <a:t>升，</a:t>
            </a:r>
            <a:r>
              <a:rPr lang="en-US" altLang="zh-CN" sz="1100" dirty="0"/>
              <a:t>Sora</a:t>
            </a:r>
            <a:r>
              <a:rPr lang="zh-CN" altLang="en-US" sz="1100" dirty="0"/>
              <a:t>生成</a:t>
            </a:r>
            <a:r>
              <a:rPr lang="en-US" altLang="zh-CN" sz="1100" dirty="0"/>
              <a:t>1</a:t>
            </a:r>
            <a:r>
              <a:rPr lang="zh-CN" altLang="en-US" sz="1100" dirty="0"/>
              <a:t>段</a:t>
            </a:r>
            <a:r>
              <a:rPr lang="en-US" altLang="zh-CN" sz="1100" dirty="0"/>
              <a:t>5</a:t>
            </a:r>
            <a:r>
              <a:rPr lang="zh-CN" altLang="en-US" sz="1100" dirty="0"/>
              <a:t>秒视频就需要耗水</a:t>
            </a:r>
            <a:r>
              <a:rPr lang="en-US" altLang="zh-CN" sz="1100" dirty="0"/>
              <a:t>1.5</a:t>
            </a:r>
            <a:r>
              <a:rPr lang="zh-CN" altLang="en-US" sz="1100" dirty="0"/>
              <a:t>升，</a:t>
            </a:r>
            <a:r>
              <a:rPr lang="en-US" altLang="zh-CN" sz="1100" dirty="0"/>
              <a:t>GPT-3</a:t>
            </a:r>
            <a:r>
              <a:rPr lang="zh-CN" altLang="en-US" sz="1100" dirty="0"/>
              <a:t>单次训练的耗电量足以支撑</a:t>
            </a:r>
            <a:r>
              <a:rPr lang="en-US" altLang="zh-CN" sz="1100" dirty="0"/>
              <a:t>3000</a:t>
            </a:r>
            <a:r>
              <a:rPr lang="zh-CN" altLang="en-US" sz="1100" dirty="0"/>
              <a:t>辆特斯拉完成全生命周期行驶。</a:t>
            </a:r>
            <a:r>
              <a:rPr lang="en-US" altLang="zh-CN" sz="1100" dirty="0"/>
              <a:t>
</a:t>
            </a:r>
            <a:r>
              <a:rPr lang="zh-CN" altLang="en-US" sz="1100" dirty="0"/>
              <a:t>一座先进水效的百兆瓦级大型</a:t>
            </a:r>
            <a:r>
              <a:rPr lang="en-US" altLang="zh-CN" sz="1100" dirty="0"/>
              <a:t>AI</a:t>
            </a:r>
            <a:r>
              <a:rPr lang="zh-CN" altLang="en-US" sz="1100" dirty="0"/>
              <a:t>算力中心，年冷却耗水量可达到</a:t>
            </a:r>
            <a:r>
              <a:rPr lang="en-US" altLang="zh-CN" sz="1100" dirty="0"/>
              <a:t>2</a:t>
            </a:r>
            <a:r>
              <a:rPr lang="zh-CN" altLang="en-US" sz="1100" dirty="0"/>
              <a:t>亿升，容量超</a:t>
            </a:r>
            <a:r>
              <a:rPr lang="en-US" altLang="zh-CN" sz="1100" dirty="0"/>
              <a:t>2GW</a:t>
            </a:r>
            <a:r>
              <a:rPr lang="zh-CN" altLang="en-US" sz="1100" dirty="0"/>
              <a:t>的超大型算力中心已经落地。资源消耗随应用复杂度呈指数级上升，训练与视频生成是两大高耗水高能耗环节，超大规模算力中心的持续冷却需求，已经成为城市资源环境体系必须承接的长期刚性压力。</a:t>
            </a:r>
            <a:endParaRPr lang="zh-CN" altLang="en-US" sz="11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altLang="en-US" sz="1100" dirty="0"/>
              <a:t>AI</a:t>
            </a:r>
            <a:r>
              <a:rPr lang="zh-CN" altLang="en-US" sz="1100" dirty="0"/>
              <a:t>计算活动从服务需求转化为实际功率，最终通过供电冷却环节，形成对城市水资源的补水和排水负荷，这种负荷和传统城市用水存在三个本质区别。</a:t>
            </a:r>
            <a:r>
              <a:rPr lang="en-US" altLang="zh-CN" sz="1100" dirty="0"/>
              <a:t>
</a:t>
            </a:r>
            <a:r>
              <a:rPr lang="zh-CN" altLang="en-US" sz="1100" dirty="0"/>
              <a:t>其一，功率密度大幅提升，全年连续满负荷运行，让冷却用水从可调节的辅助需求，转变为不可中断的刚性需求，彻底改变了水资源需求的底层属性。其二，冷却需求和夏季气象条件高度绑定，用水尖峰恰好和居民生活用水高峰、水体环境容量低谷叠加，仅靠年均用水量统计，完全无法反映这种瞬时的极端承载风险。其三，</a:t>
            </a:r>
            <a:r>
              <a:rPr lang="en-US" altLang="zh-CN" sz="1100" dirty="0"/>
              <a:t>AI</a:t>
            </a:r>
            <a:r>
              <a:rPr lang="zh-CN" altLang="en-US" sz="1100" dirty="0"/>
              <a:t>算力冷却以蒸发消耗为主，和传统工业取水后回流流域的模式完全不同，不仅永久消耗水资源，高浓度、高温度排水还会对城市污水系统和受纳水体造成双重冲击。</a:t>
            </a:r>
            <a:r>
              <a:rPr lang="en-US" altLang="zh-CN" sz="1100" dirty="0"/>
              <a:t>
</a:t>
            </a:r>
            <a:r>
              <a:rPr lang="zh-CN" altLang="en-US" sz="1100" dirty="0"/>
              <a:t>综上，</a:t>
            </a:r>
            <a:r>
              <a:rPr lang="en-US" altLang="zh-CN" sz="1100" dirty="0"/>
              <a:t>AI</a:t>
            </a:r>
            <a:r>
              <a:rPr lang="zh-CN" altLang="en-US" sz="1100" dirty="0"/>
              <a:t>数据中心早已不只是网络信息节点，而是具有鲜明新特征的城市水系统新型负荷节点，传统基于年总量的静态规划方法，已经完全无法适配新的风险特征。</a:t>
            </a:r>
            <a:endParaRPr lang="zh-CN" altLang="en-US" sz="11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仅依托年用水总量评估城市水系统压力，存在严重的认知盲区。两个情景设置证实，相同年用水量会因取水结构、用水时序的差异，产生完全不同的系统影响。</a:t>
            </a:r>
            <a:r>
              <a:rPr lang="en-US" altLang="zh-CN" sz="1100" dirty="0"/>
              <a:t>
</a:t>
            </a:r>
            <a:r>
              <a:rPr lang="zh-CN" altLang="en-US" sz="1100" dirty="0"/>
              <a:t>以本地淡水为主要水源、夏季高温集中取水的情景</a:t>
            </a:r>
            <a:r>
              <a:rPr lang="en-US" altLang="zh-CN" sz="1100" dirty="0"/>
              <a:t>A</a:t>
            </a:r>
            <a:r>
              <a:rPr lang="zh-CN" altLang="en-US" sz="1100" dirty="0"/>
              <a:t>，补水尖峰恰好撞上</a:t>
            </a:r>
            <a:r>
              <a:rPr lang="en-US" altLang="zh-CN" sz="1100" dirty="0"/>
              <a:t>7</a:t>
            </a:r>
            <a:r>
              <a:rPr lang="zh-CN" altLang="en-US" sz="1100" dirty="0"/>
              <a:t>月城市生活用水高峰与受纳水体纳污能力低谷，取水压力叠加排水温升冲击，将局部系统风险推至最高。</a:t>
            </a:r>
            <a:r>
              <a:rPr lang="en-US" altLang="zh-CN" sz="1100" dirty="0"/>
              <a:t>
</a:t>
            </a:r>
            <a:r>
              <a:rPr lang="zh-CN" altLang="en-US" sz="1100" dirty="0"/>
              <a:t>改用再生水为主水源、配合蓄冷储调削峰的情景</a:t>
            </a:r>
            <a:r>
              <a:rPr lang="en-US" altLang="zh-CN" sz="1100" dirty="0"/>
              <a:t>B</a:t>
            </a:r>
            <a:r>
              <a:rPr lang="zh-CN" altLang="en-US" sz="1100" dirty="0"/>
              <a:t>，虽然年补水量完全一致，但补水量在年内均匀分布，处理负荷平稳分摊，最终受纳水体的全年冲刷压力显著下降。</a:t>
            </a:r>
            <a:r>
              <a:rPr lang="en-US" altLang="zh-CN" sz="1100" dirty="0"/>
              <a:t>
</a:t>
            </a:r>
            <a:r>
              <a:rPr lang="zh-CN" altLang="en-US" sz="1100" dirty="0"/>
              <a:t>由此可见，</a:t>
            </a:r>
            <a:r>
              <a:rPr lang="en-US" altLang="zh-CN" sz="1100" dirty="0"/>
              <a:t>AI</a:t>
            </a:r>
            <a:r>
              <a:rPr lang="zh-CN" altLang="en-US" sz="1100" dirty="0"/>
              <a:t>算力节点接入后的水系统影响，不能仅核算年总量，必须锚定时序分布与消耗路径，才能精准识别真实承载风险。</a:t>
            </a:r>
            <a:endParaRPr lang="zh-CN" altLang="en-US" sz="11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现有研究大多停留在核算数据中心自身用水量，并未真正回答</a:t>
            </a:r>
            <a:r>
              <a:rPr lang="en-US" altLang="zh-CN" sz="1100" dirty="0"/>
              <a:t>AI</a:t>
            </a:r>
            <a:r>
              <a:rPr lang="zh-CN" altLang="en-US" sz="1100" dirty="0"/>
              <a:t>算力接入对城市水系统的整体冲击，这正是本研究选取研究对象的核心逻辑。</a:t>
            </a:r>
            <a:r>
              <a:rPr lang="en-US" altLang="zh-CN" sz="1100" dirty="0"/>
              <a:t>
</a:t>
            </a:r>
            <a:r>
              <a:rPr lang="zh-CN" altLang="en-US" sz="1100" dirty="0"/>
              <a:t>本研究划定核心系统边界覆盖供水、</a:t>
            </a:r>
            <a:r>
              <a:rPr lang="en-US" altLang="zh-CN" sz="1100" dirty="0"/>
              <a:t>AI</a:t>
            </a:r>
            <a:r>
              <a:rPr lang="zh-CN" altLang="en-US" sz="1100" dirty="0"/>
              <a:t>用水、污水处理、再生回用与排放全流程，纳入给水管网、再生水厂等外延主体，特殊气候、供水余量等作为约束条件，下游雨水沟渠暂作为边际因素纳入讨论，确保研究聚焦核心问题。</a:t>
            </a:r>
            <a:r>
              <a:rPr lang="en-US" altLang="zh-CN" sz="1100" dirty="0"/>
              <a:t>
</a:t>
            </a:r>
            <a:r>
              <a:rPr lang="zh-CN" altLang="en-US" sz="1100" dirty="0"/>
              <a:t>本研究核心目的，是解析城市人工水系统对</a:t>
            </a:r>
            <a:r>
              <a:rPr lang="en-US" altLang="zh-CN" sz="1100" dirty="0"/>
              <a:t>AI</a:t>
            </a:r>
            <a:r>
              <a:rPr lang="zh-CN" altLang="en-US" sz="1100" dirty="0"/>
              <a:t>节点接入的代谢响应，明确条件化承载边界。研究将算力节点作为实体城市物理负荷，打通算力与水资源的关联账目，为城市算力布局和水系统运行提供承载判定依据，补充</a:t>
            </a:r>
            <a:r>
              <a:rPr lang="en-US" altLang="zh-CN" sz="1100" dirty="0"/>
              <a:t>AI</a:t>
            </a:r>
            <a:r>
              <a:rPr lang="zh-CN" altLang="en-US" sz="1100" dirty="0"/>
              <a:t>时代水系统计量研究的空白，最终输出</a:t>
            </a:r>
            <a:r>
              <a:rPr lang="en-US" altLang="zh-CN" sz="1100" dirty="0"/>
              <a:t>CAWCC</a:t>
            </a:r>
            <a:r>
              <a:rPr lang="zh-CN" altLang="en-US" sz="1100" dirty="0"/>
              <a:t>指标、城市水代谢模型与承载主导瓶颈三项核心成果。</a:t>
            </a:r>
            <a:endParaRPr lang="zh-CN" altLang="en-US" sz="11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现有研究已完成算力侧基础工作，围绕数据中心的能耗特征、全生命周期水足迹核算搭建了完整研究体系，明确了</a:t>
            </a:r>
            <a:r>
              <a:rPr lang="en-US" altLang="zh-CN" sz="1100" dirty="0"/>
              <a:t>AI</a:t>
            </a:r>
            <a:r>
              <a:rPr lang="zh-CN" altLang="en-US" sz="1100" dirty="0"/>
              <a:t>算力扩张带来的水资源压力，揭示了算力布局与水资源禀赋的错配风险，厘清了冷却技术、气象条件对动态水耗的影响规律，这为后续研究奠定了扎实基础。</a:t>
            </a:r>
            <a:r>
              <a:rPr lang="en-US" altLang="zh-CN" sz="1100" dirty="0"/>
              <a:t>
</a:t>
            </a:r>
            <a:r>
              <a:rPr lang="zh-CN" altLang="en-US" sz="1100" dirty="0"/>
              <a:t>既有成果多停留在算力设施单个节点的尺度，分散在水文水资源、算力基础设施两个领域分别开展研究，未形成统一的城市级水系统分析框架，无法系统性反映</a:t>
            </a:r>
            <a:r>
              <a:rPr lang="en-US" altLang="zh-CN" sz="1100" dirty="0"/>
              <a:t>AI</a:t>
            </a:r>
            <a:r>
              <a:rPr lang="zh-CN" altLang="en-US" sz="1100" dirty="0"/>
              <a:t>节点接入对城市水网的整体影响。</a:t>
            </a:r>
            <a:r>
              <a:rPr lang="en-US" altLang="zh-CN" sz="1100" dirty="0"/>
              <a:t>
</a:t>
            </a:r>
            <a:r>
              <a:rPr lang="zh-CN" altLang="en-US" sz="1100" dirty="0"/>
              <a:t>当前研究缺少针对</a:t>
            </a:r>
            <a:r>
              <a:rPr lang="en-US" altLang="zh-CN" sz="1100" dirty="0"/>
              <a:t>AI</a:t>
            </a:r>
            <a:r>
              <a:rPr lang="zh-CN" altLang="en-US" sz="1100" dirty="0"/>
              <a:t>节点接入后的城市水代谢全过程模拟方法，更未明确城市水系统对</a:t>
            </a:r>
            <a:r>
              <a:rPr lang="en-US" altLang="zh-CN" sz="1100" dirty="0"/>
              <a:t>AI</a:t>
            </a:r>
            <a:r>
              <a:rPr lang="zh-CN" altLang="en-US" sz="1100" dirty="0"/>
              <a:t>算力节点的条件化承载边界，这正是本研究需要解决的核心科学问题。</a:t>
            </a:r>
            <a:endParaRPr lang="zh-CN" altLang="en-US" sz="11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大规模大模型技术落地，直接推动</a:t>
            </a:r>
            <a:r>
              <a:rPr lang="en-US" altLang="zh-CN" sz="1100" dirty="0"/>
              <a:t>AI</a:t>
            </a:r>
            <a:r>
              <a:rPr lang="zh-CN" altLang="en-US" sz="1100" dirty="0"/>
              <a:t>服务器部署规模持续扩张，</a:t>
            </a:r>
            <a:r>
              <a:rPr lang="en-US" altLang="zh-CN" sz="1100" dirty="0"/>
              <a:t>AI</a:t>
            </a:r>
            <a:r>
              <a:rPr lang="zh-CN" altLang="en-US" sz="1100" dirty="0"/>
              <a:t>产业对水资源的环境影响，已经从隐性议题变成学界关注的核心公开问题。</a:t>
            </a:r>
            <a:r>
              <a:rPr lang="en-US" altLang="zh-CN" sz="1100" dirty="0"/>
              <a:t>
</a:t>
            </a:r>
            <a:r>
              <a:rPr lang="zh-CN" altLang="en-US" sz="1100" dirty="0"/>
              <a:t>这篇发表在《</a:t>
            </a:r>
            <a:r>
              <a:rPr lang="en-US" altLang="zh-CN" sz="1100" dirty="0"/>
              <a:t>Nature Sustainability</a:t>
            </a:r>
            <a:r>
              <a:rPr lang="zh-CN" altLang="en-US" sz="1100" dirty="0"/>
              <a:t>》的最新研究明确指出，</a:t>
            </a:r>
            <a:r>
              <a:rPr lang="en-US" altLang="zh-CN" sz="1100" dirty="0"/>
              <a:t>AI</a:t>
            </a:r>
            <a:r>
              <a:rPr lang="zh-CN" altLang="en-US" sz="1100" dirty="0"/>
              <a:t>服务器的水足迹并非单纯随计算规模线性增长，能源结构、服务器本身效率以及部署区域的本底条件，都会对最终水耗产生显著调节作用。</a:t>
            </a:r>
            <a:r>
              <a:rPr lang="en-US" altLang="zh-CN" sz="1100" dirty="0"/>
              <a:t>
</a:t>
            </a:r>
            <a:r>
              <a:rPr lang="zh-CN" altLang="en-US" sz="1100" dirty="0"/>
              <a:t>不同行业发展情景下，未来</a:t>
            </a:r>
            <a:r>
              <a:rPr lang="en-US" altLang="zh-CN" sz="1100" dirty="0"/>
              <a:t>AI</a:t>
            </a:r>
            <a:r>
              <a:rPr lang="zh-CN" altLang="en-US" sz="1100" dirty="0"/>
              <a:t>产业带来的区域水资源压力存在极大分化。这一结论打破了</a:t>
            </a:r>
            <a:r>
              <a:rPr lang="en-US" altLang="zh-CN" sz="1100" dirty="0"/>
              <a:t>“</a:t>
            </a:r>
            <a:r>
              <a:rPr lang="zh-CN" altLang="en-US" sz="1100" dirty="0"/>
              <a:t>算力增长必然带来水耗增长</a:t>
            </a:r>
            <a:r>
              <a:rPr lang="en-US" altLang="zh-CN" sz="1100" dirty="0"/>
              <a:t>”</a:t>
            </a:r>
            <a:r>
              <a:rPr lang="zh-CN" altLang="en-US" sz="1100" dirty="0"/>
              <a:t>的单一判断，也证实</a:t>
            </a:r>
            <a:r>
              <a:rPr lang="en-US" altLang="zh-CN" sz="1100" dirty="0"/>
              <a:t>AI</a:t>
            </a:r>
            <a:r>
              <a:rPr lang="zh-CN" altLang="en-US" sz="1100" dirty="0"/>
              <a:t>算力扩张确实已经给水资源环境带来持续性增长压力，为我们开展后续研究奠定了基础方向。</a:t>
            </a:r>
            <a:endParaRPr lang="zh-CN" altLang="en-US" sz="11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国内针对数据中心水耗的研究已完成设施尺度的基础核算，核心结论清晰指向空间维度的结构性矛盾。</a:t>
            </a:r>
            <a:r>
              <a:rPr lang="en-US" altLang="zh-CN" sz="1100" dirty="0"/>
              <a:t>
</a:t>
            </a:r>
            <a:r>
              <a:rPr lang="zh-CN" altLang="en-US" sz="1100" dirty="0"/>
              <a:t>不同区域数据中心的水环境影响存在显著分化，这种分化由三大核心因素共同驱动：区域能源结构决定电力来源的生产耗水，冷却技术选择决定运行阶段的直接耗水，本地水资源禀赋决定区域本底承载压力。</a:t>
            </a:r>
            <a:r>
              <a:rPr lang="en-US" altLang="zh-CN" sz="1100" dirty="0"/>
              <a:t>
</a:t>
            </a:r>
            <a:r>
              <a:rPr lang="zh-CN" altLang="en-US" sz="1100" dirty="0"/>
              <a:t>尤为值得关注的是，当前国内算力布局正呈现向核心区域集聚的趋势，部分算力高度集聚的区域，本身就是水资源短缺、承载压力较高的区域，这种算力布局与水资源禀赋的错位，已经构成需要严肃应对的潜在发展矛盾。</a:t>
            </a:r>
            <a:endParaRPr lang="zh-CN" altLang="en-US" sz="11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我们从知识链分层梳理现有研究进展，明确已完成的探索与待填补的空白。</a:t>
            </a:r>
            <a:endParaRPr lang="zh-CN" altLang="en-US" sz="1100" dirty="0"/>
          </a:p>
          <a:p>
            <a:r>
              <a:rPr lang="zh-CN" altLang="en-US" sz="1100" dirty="0"/>
              <a:t>算力侧领域，学界已建立成熟的水足迹与用水效率量化方法，但研究始终局限在单个数据中心的设施边界内，没有延伸到整个城市水系统层面。城市水系统领域，已构建成熟的水—能耦合代谢模型与优化算法，但既没有把 AI 算力节点作为新增用水负荷纳入分析，也没有把算力用水写进系统约束；即便 AI 技术已广泛用于城市水系统调度，仍未形成算力侧与用水侧的闭环。冷却技术领域，现有研究明确了气候与冷却方式对耗水的影响，但方向集中在设施改造与运行优化，没有回答城市层面的承载能力问题。</a:t>
            </a:r>
            <a:endParaRPr lang="zh-CN" altLang="en-US" sz="1100" dirty="0"/>
          </a:p>
          <a:p>
            <a:r>
              <a:rPr lang="zh-CN" altLang="en-US" sz="1100" dirty="0"/>
              <a:t>由此可以凝练出本研究的三个科学缺口。第一，响应机制不清：AI 节点接入后，城市水系统的取水—处理—输配—使用—排放—回用全链条如何响应，尚缺少系统性刻画。</a:t>
            </a:r>
            <a:endParaRPr lang="zh-CN" altLang="en-US" sz="1100" dirty="0"/>
          </a:p>
          <a:p>
            <a:r>
              <a:rPr lang="zh-CN" altLang="en-US" sz="1100" dirty="0"/>
              <a:t>第二，承载边界不条件化：现有承载多以总量或单要素阈值表达，未体现“取决于水源结构、气象与技术组合“的条件性，年均总量还会掩盖瞬态峰值风险。</a:t>
            </a:r>
            <a:endParaRPr lang="zh-CN" altLang="en-US" sz="1100" dirty="0"/>
          </a:p>
          <a:p>
            <a:r>
              <a:rPr lang="zh-CN" altLang="en-US" sz="1100" dirty="0"/>
              <a:t>第三，瓶颈识别不动态：瓶颈会随季节、气温、来水与运行策略迁移，缺少可比较、可排序的主导瓶颈识别方法。</a:t>
            </a:r>
            <a:endParaRPr lang="zh-CN" altLang="en-US" sz="1100" dirty="0"/>
          </a:p>
          <a:p>
            <a:r>
              <a:rPr lang="zh-CN" altLang="en-US" sz="1100" dirty="0"/>
              <a:t>一句话收束：现有研究已分别解决“算力耗水“与“城市代谢“，但缺少把二者纳入同一系统、并给出条件化承载边界与主导瓶颈的统一建模框架；三个缺口也正好对应本研究的三个科学问题——如何响应、边界如何条件化、瓶颈如何识别与排序。</a:t>
            </a:r>
            <a:endParaRPr lang="zh-CN" altLang="en-US" sz="11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基于前文梳理的现有研究缺口，本部分明确研究的核心框架，围绕三大科学问题展开整体设计。</a:t>
            </a:r>
            <a:r>
              <a:rPr lang="en-US" altLang="zh-CN" sz="1100" dirty="0"/>
              <a:t>
</a:t>
            </a:r>
            <a:r>
              <a:rPr lang="zh-CN" altLang="en-US" sz="1100" dirty="0"/>
              <a:t>前述分析指出，当前研究割裂了算力耗水与城市水系统的关联，未能回答</a:t>
            </a:r>
            <a:r>
              <a:rPr lang="en-US" altLang="zh-CN" sz="1100" dirty="0"/>
              <a:t>AI</a:t>
            </a:r>
            <a:r>
              <a:rPr lang="zh-CN" altLang="en-US" sz="1100" dirty="0"/>
              <a:t>算力接入后城市水系统的承载能力问题，因此本研究锚定三个层层递进的科学问题，对应前文提出的三大研究缺口。</a:t>
            </a:r>
            <a:r>
              <a:rPr lang="en-US" altLang="zh-CN" sz="1100" dirty="0"/>
              <a:t>
</a:t>
            </a:r>
            <a:r>
              <a:rPr lang="zh-CN" altLang="en-US" sz="1100" dirty="0"/>
              <a:t>进一步提出三个可检验、可通过模拟实验验证的研究假设，为后续量化分析提供逻辑基础。</a:t>
            </a:r>
            <a:r>
              <a:rPr lang="en-US" altLang="zh-CN" sz="1100" dirty="0"/>
              <a:t>
</a:t>
            </a:r>
            <a:r>
              <a:rPr lang="zh-CN" altLang="en-US" sz="1100" dirty="0"/>
              <a:t>最终拆解形成从概念界定到模型构建、再到边界求解的完整研究内容体系，推动研究问题从理论提出落地为可执行的研究路径。</a:t>
            </a:r>
            <a:endParaRPr lang="zh-CN" altLang="en-US" sz="11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本研究提出核心概念</a:t>
            </a:r>
            <a:r>
              <a:rPr lang="en-US" altLang="zh-CN" sz="1100" dirty="0"/>
              <a:t>CAWCC</a:t>
            </a:r>
            <a:r>
              <a:rPr lang="zh-CN" altLang="en-US" sz="1100" dirty="0"/>
              <a:t>，即条件化</a:t>
            </a:r>
            <a:r>
              <a:rPr lang="en-US" altLang="zh-CN" sz="1100" dirty="0"/>
              <a:t>AI</a:t>
            </a:r>
            <a:r>
              <a:rPr lang="zh-CN" altLang="en-US" sz="1100" dirty="0"/>
              <a:t>水承载容量，明确其定义为给定水源结构、气象条件、技术水平与运行策略下，城市人工水系统可承载的</a:t>
            </a:r>
            <a:r>
              <a:rPr lang="en-US" altLang="zh-CN" sz="1100" dirty="0"/>
              <a:t>AI</a:t>
            </a:r>
            <a:r>
              <a:rPr lang="zh-CN" altLang="en-US" sz="1100" dirty="0"/>
              <a:t>算力相关用水规模。该概念具备三大核心属性：条件化、可计算、可比较，它不输出固定的单一总量阈值，而是输出随约束条件变化的容量集合，同时同步识别系统的主导瓶颈。</a:t>
            </a:r>
            <a:r>
              <a:rPr lang="en-US" altLang="zh-CN" sz="1100" dirty="0"/>
              <a:t>
</a:t>
            </a:r>
            <a:r>
              <a:rPr lang="zh-CN" altLang="en-US" sz="1100" dirty="0"/>
              <a:t>相较于传统的水足迹、</a:t>
            </a:r>
            <a:r>
              <a:rPr lang="en-US" altLang="zh-CN" sz="1100" dirty="0"/>
              <a:t>WUE</a:t>
            </a:r>
            <a:r>
              <a:rPr lang="zh-CN" altLang="en-US" sz="1100" dirty="0"/>
              <a:t>这类聚焦设施用水效率的指标，</a:t>
            </a:r>
            <a:r>
              <a:rPr lang="en-US" altLang="zh-CN" sz="1100" dirty="0"/>
              <a:t>CAWCC</a:t>
            </a:r>
            <a:r>
              <a:rPr lang="zh-CN" altLang="en-US" sz="1100" dirty="0"/>
              <a:t>将评价对象拓展至城市系统可承载的</a:t>
            </a:r>
            <a:r>
              <a:rPr lang="en-US" altLang="zh-CN" sz="1100" dirty="0"/>
              <a:t>AI</a:t>
            </a:r>
            <a:r>
              <a:rPr lang="zh-CN" altLang="en-US" sz="1100" dirty="0"/>
              <a:t>算力规模，以动态容量替代静态单值指标，直接服务于城市算力布局规划的承载评估与干预措施排序，填补了现有研究的空白。</a:t>
            </a:r>
            <a:r>
              <a:rPr lang="en-US" altLang="zh-CN" sz="1100" dirty="0"/>
              <a:t>
CAWCC</a:t>
            </a:r>
            <a:r>
              <a:rPr lang="zh-CN" altLang="en-US" sz="1100" dirty="0"/>
              <a:t>的条件维度覆盖四大核心要素，分别为水源结构、气象条件、技术水平与运行策略，核心优势在于可同时输出可承载规模与对应主导瓶颈，让研究结论既具备可解释性，也能直接支撑后续干预决策。</a:t>
            </a:r>
            <a:endParaRPr lang="zh-CN" altLang="en-US" sz="11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没有检测到内容</a:t>
            </a:r>
            <a:endParaRPr lang="zh-CN" sz="11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本研究拆解为逻辑递进的四项核心内容，逐一对应前期提出的三个科学问题，形成从基础建模到结论输出的完整研究闭环。</a:t>
            </a:r>
            <a:r>
              <a:rPr lang="en-US" altLang="zh-CN" sz="1100" dirty="0"/>
              <a:t>
</a:t>
            </a:r>
            <a:r>
              <a:rPr lang="zh-CN" altLang="en-US" sz="1100" dirty="0"/>
              <a:t>第一项研究开展</a:t>
            </a:r>
            <a:r>
              <a:rPr lang="en-US" altLang="zh-CN" sz="1100" dirty="0"/>
              <a:t>AI</a:t>
            </a:r>
            <a:r>
              <a:rPr lang="zh-CN" altLang="en-US" sz="1100" dirty="0"/>
              <a:t>算力节点的水代谢表征，厘清算力转化为耗水排水通量的完整逻辑链条，打造可嵌入城市水系统的标准化节点模块，解决</a:t>
            </a:r>
            <a:r>
              <a:rPr lang="en-US" altLang="zh-CN" sz="1100" dirty="0"/>
              <a:t>“AI</a:t>
            </a:r>
            <a:r>
              <a:rPr lang="zh-CN" altLang="en-US" sz="1100" dirty="0"/>
              <a:t>算力如何产生水代谢通量</a:t>
            </a:r>
            <a:r>
              <a:rPr lang="en-US" altLang="zh-CN" sz="1100" dirty="0"/>
              <a:t>”</a:t>
            </a:r>
            <a:r>
              <a:rPr lang="zh-CN" altLang="en-US" sz="1100" dirty="0"/>
              <a:t>的基础问题。</a:t>
            </a:r>
            <a:r>
              <a:rPr lang="en-US" altLang="zh-CN" sz="1100" dirty="0"/>
              <a:t>
</a:t>
            </a:r>
            <a:r>
              <a:rPr lang="zh-CN" altLang="en-US" sz="1100" dirty="0"/>
              <a:t>第二项研究搭建城市人工水系统耦合模型，构建覆盖取水到回用的全链条网络，把</a:t>
            </a:r>
            <a:r>
              <a:rPr lang="en-US" altLang="zh-CN" sz="1100" dirty="0"/>
              <a:t>AI</a:t>
            </a:r>
            <a:r>
              <a:rPr lang="zh-CN" altLang="en-US" sz="1100" dirty="0"/>
              <a:t>节点模块嵌入原有系统，回答</a:t>
            </a:r>
            <a:r>
              <a:rPr lang="en-US" altLang="zh-CN" sz="1100" dirty="0"/>
              <a:t>AI</a:t>
            </a:r>
            <a:r>
              <a:rPr lang="zh-CN" altLang="en-US" sz="1100" dirty="0"/>
              <a:t>节点接入后城市水系统如何响应的核心问题。</a:t>
            </a:r>
            <a:r>
              <a:rPr lang="en-US" altLang="zh-CN" sz="1100" dirty="0"/>
              <a:t>
</a:t>
            </a:r>
            <a:r>
              <a:rPr lang="zh-CN" altLang="en-US" sz="1100" dirty="0"/>
              <a:t>第三项研究定义并求解</a:t>
            </a:r>
            <a:r>
              <a:rPr lang="en-US" altLang="zh-CN" sz="1100" dirty="0"/>
              <a:t>CAWCC</a:t>
            </a:r>
            <a:r>
              <a:rPr lang="zh-CN" altLang="en-US" sz="1100" dirty="0"/>
              <a:t>，遍历不同条件组合扫描容量变化，得到条件化承载边界的容量曲面，回应承载边界条件化的科学问题。</a:t>
            </a:r>
            <a:r>
              <a:rPr lang="en-US" altLang="zh-CN" sz="1100" dirty="0"/>
              <a:t>
</a:t>
            </a:r>
            <a:r>
              <a:rPr lang="zh-CN" altLang="en-US" sz="1100" dirty="0"/>
              <a:t>第四项研究依托敏感性分析识别并排序主导瓶颈，评估不同干预措施的承载提升效果，最终输出可落地的瓶颈排序与干预建议。</a:t>
            </a:r>
            <a:endParaRPr lang="zh-CN" altLang="en-US" sz="11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本研究构建闭环完整技术路线，核心逻辑围绕</a:t>
            </a:r>
            <a:r>
              <a:rPr lang="en-US" altLang="zh-CN" sz="1100" dirty="0"/>
              <a:t>CAWCC</a:t>
            </a:r>
            <a:r>
              <a:rPr lang="zh-CN" altLang="en-US" sz="1100" dirty="0"/>
              <a:t>概念落地，从基础数据输入到决策方案输出形成完整链条。</a:t>
            </a:r>
            <a:r>
              <a:rPr lang="en-US" altLang="zh-CN" sz="1100" dirty="0"/>
              <a:t>
</a:t>
            </a:r>
            <a:r>
              <a:rPr lang="zh-CN" altLang="en-US" sz="1100" dirty="0"/>
              <a:t>四类核心数据支撑研究开展，覆盖</a:t>
            </a:r>
            <a:r>
              <a:rPr lang="en-US" altLang="zh-CN" sz="1100" dirty="0"/>
              <a:t>AI</a:t>
            </a:r>
            <a:r>
              <a:rPr lang="zh-CN" altLang="en-US" sz="1100" dirty="0"/>
              <a:t>算力节点、城市水系统、气象环境、规划运行四个维度，同时围绕四个条件维度设置四类情景，覆盖所有影响承载容量的关键要素。</a:t>
            </a:r>
            <a:r>
              <a:rPr lang="en-US" altLang="zh-CN" sz="1100" dirty="0"/>
              <a:t>
</a:t>
            </a:r>
            <a:r>
              <a:rPr lang="zh-CN" altLang="en-US" sz="1100" dirty="0"/>
              <a:t>模块耦合构建城市水代谢模型，将</a:t>
            </a:r>
            <a:r>
              <a:rPr lang="en-US" altLang="zh-CN" sz="1100" dirty="0"/>
              <a:t>AI</a:t>
            </a:r>
            <a:r>
              <a:rPr lang="zh-CN" altLang="en-US" sz="1100" dirty="0"/>
              <a:t>算力水代谢节点以通量形式嵌入城市供水回用全链条，配合不同情景完成多组合模拟。</a:t>
            </a:r>
            <a:r>
              <a:rPr lang="en-US" altLang="zh-CN" sz="1100" dirty="0"/>
              <a:t>
</a:t>
            </a:r>
            <a:r>
              <a:rPr lang="zh-CN" altLang="en-US" sz="1100" dirty="0"/>
              <a:t>依托敏感性分析识别影响权重，计算不同条件下的承载容量并形成容量曲面，同步识别对应场景的主导瓶颈，最终完成干预效果评估，输出分层级的应对建议。</a:t>
            </a:r>
            <a:endParaRPr lang="zh-CN" altLang="en-US" sz="11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四组控制实验围绕研究核心假设分层设计，精准回应研究问题，验证概念框架的合理性。</a:t>
            </a:r>
            <a:r>
              <a:rPr lang="en-US" altLang="zh-CN" sz="1100" dirty="0"/>
              <a:t>
</a:t>
            </a:r>
            <a:r>
              <a:rPr lang="zh-CN" altLang="en-US" sz="1100" dirty="0"/>
              <a:t>第一组算力规模梯度实验，通过逐步扩大</a:t>
            </a:r>
            <a:r>
              <a:rPr lang="en-US" altLang="zh-CN" sz="1100" dirty="0"/>
              <a:t>AI</a:t>
            </a:r>
            <a:r>
              <a:rPr lang="zh-CN" altLang="en-US" sz="1100" dirty="0"/>
              <a:t>节点算力规模，捕捉水代谢通量和承载状态的变化规律，验证</a:t>
            </a:r>
            <a:r>
              <a:rPr lang="en-US" altLang="zh-CN" sz="1100" dirty="0"/>
              <a:t>AI</a:t>
            </a:r>
            <a:r>
              <a:rPr lang="zh-CN" altLang="en-US" sz="1100" dirty="0"/>
              <a:t>算力扩张对城市水系统的梯度响应假说。</a:t>
            </a:r>
            <a:r>
              <a:rPr lang="en-US" altLang="zh-CN" sz="1100" dirty="0"/>
              <a:t>
</a:t>
            </a:r>
            <a:r>
              <a:rPr lang="zh-CN" altLang="en-US" sz="1100" dirty="0"/>
              <a:t>第二组水源结构对照实验，设置淡水主导与再生水主导两组对照，观测承载边界的变化幅度，验证</a:t>
            </a:r>
            <a:r>
              <a:rPr lang="en-US" altLang="zh-CN" sz="1100" dirty="0"/>
              <a:t>CAWCC</a:t>
            </a:r>
            <a:r>
              <a:rPr lang="zh-CN" altLang="en-US" sz="1100" dirty="0"/>
              <a:t>随水源条件变化的核心假说。</a:t>
            </a:r>
            <a:r>
              <a:rPr lang="en-US" altLang="zh-CN" sz="1100" dirty="0"/>
              <a:t>
</a:t>
            </a:r>
            <a:r>
              <a:rPr lang="zh-CN" altLang="en-US" sz="1100" dirty="0"/>
              <a:t>第三组气象季节情景实验，覆盖年、日、极端小时多时间尺度，分析冷却耗水的时序波动特征，同时验证响应梯度和条件化边界的季节敏感性。</a:t>
            </a:r>
            <a:r>
              <a:rPr lang="en-US" altLang="zh-CN" sz="1100" dirty="0"/>
              <a:t>
</a:t>
            </a:r>
            <a:r>
              <a:rPr lang="zh-CN" altLang="en-US" sz="1100" dirty="0"/>
              <a:t>第四组技术与策略组合实验，通过调整核心技术参数和运行规则，评估不同干预措施对承载</a:t>
            </a:r>
            <a:r>
              <a:rPr lang="en-US" altLang="zh-CN" sz="1100" dirty="0"/>
              <a:t> capacity</a:t>
            </a:r>
            <a:r>
              <a:rPr lang="zh-CN" altLang="en-US" sz="1100" dirty="0"/>
              <a:t>的提升效果，验证瓶颈迁移规律与干预效果假说。</a:t>
            </a:r>
            <a:r>
              <a:rPr lang="en-US" altLang="zh-CN" sz="1100" dirty="0"/>
              <a:t>
</a:t>
            </a:r>
            <a:r>
              <a:rPr lang="zh-CN" altLang="en-US" sz="1100" dirty="0"/>
              <a:t>所有实验严格遵循单变量控制原则，固定其余基线条件，仅改变目标变量，以相对基线的差值和排序呈现结果，保障实验结果的可比性。</a:t>
            </a:r>
            <a:endParaRPr lang="zh-CN" altLang="en-US" sz="11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本研究设置五类核心输出指标，覆盖从基础过程到最终结论的完整结果体系。核心主指标为条件化</a:t>
            </a:r>
            <a:r>
              <a:rPr lang="en-US" altLang="zh-CN" sz="1100" dirty="0"/>
              <a:t>AI</a:t>
            </a:r>
            <a:r>
              <a:rPr lang="zh-CN" altLang="en-US" sz="1100" dirty="0"/>
              <a:t>水承载容量</a:t>
            </a:r>
            <a:r>
              <a:rPr lang="en-US" altLang="zh-CN" sz="1100" dirty="0"/>
              <a:t>CAWCC</a:t>
            </a:r>
            <a:r>
              <a:rPr lang="zh-CN" altLang="en-US" sz="1100" dirty="0"/>
              <a:t>，同时输出水代谢逐时通量，还原系统动态过程；产出主导瓶颈排序，明确核心约束；呈现瓶颈随条件变化的迁移路径；量化不同干预措施对承载容量的提升幅度。这套指标体系突破传统研究只输出承载阈值却不解释约束来源的局限，让结论直接对接决策需求。</a:t>
            </a:r>
            <a:r>
              <a:rPr lang="en-US" altLang="zh-CN" sz="1100" dirty="0"/>
              <a:t>
</a:t>
            </a:r>
            <a:r>
              <a:rPr lang="zh-CN" altLang="en-US" sz="1100" dirty="0"/>
              <a:t>为保障研究结果的科学可靠性，本研究建立四层不确定性处理机制。关键参数依托多来源交叉校验，标注取值范围替代单点取值，规避参数偏差。针对核心参数开展敏感性分析，锁定对结论影响最显著的因素。明确划定情景假设与适用边界，杜绝无数据支撑的过度外推。结论以相对变化和排序为核心表达，降低绝对值的不确定性干扰，保障结果稳健可信。</a:t>
            </a:r>
            <a:endParaRPr lang="zh-CN" altLang="en-US" sz="11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本部分核心梳理支撑研究落地的基础条件，明确全研究周期的推进节点，锚定研究最终要产出的核心成果。</a:t>
            </a:r>
            <a:r>
              <a:rPr lang="en-US" altLang="zh-CN" sz="1100" dirty="0"/>
              <a:t>
</a:t>
            </a:r>
            <a:r>
              <a:rPr lang="zh-CN" altLang="en-US" sz="1100" dirty="0"/>
              <a:t>研究推进建立在三重积累之上，课题组已完成相关领域的文献梳理、公开数据整合，掌握水系统建模、情景模拟等核心方法，前期已完成问题界定和概念框架搭建，现有数据资源与计算环境可支撑全部研究内容开展。</a:t>
            </a:r>
            <a:r>
              <a:rPr lang="en-US" altLang="zh-CN" sz="1100" dirty="0"/>
              <a:t>
</a:t>
            </a:r>
            <a:r>
              <a:rPr lang="zh-CN" altLang="en-US" sz="1100" dirty="0"/>
              <a:t>整个研究划分为五个阶段，各阶段设置明确里程碑，保证研究按计划推进。最终产出覆盖四个维度：完成符合要求的硕士学位论文，形成可复用的</a:t>
            </a:r>
            <a:r>
              <a:rPr lang="en-US" altLang="zh-CN" sz="1100" dirty="0"/>
              <a:t>CAWCC</a:t>
            </a:r>
            <a:r>
              <a:rPr lang="zh-CN" altLang="en-US" sz="1100" dirty="0"/>
              <a:t>指标方法与耦合模型，力争发表</a:t>
            </a:r>
            <a:r>
              <a:rPr lang="en-US" altLang="zh-CN" sz="1100" dirty="0"/>
              <a:t>1-2</a:t>
            </a:r>
            <a:r>
              <a:rPr lang="zh-CN" altLang="en-US" sz="1100" dirty="0"/>
              <a:t>篇学术论文，输出服务城市规划决策的干预建议。</a:t>
            </a:r>
            <a:endParaRPr lang="zh-CN" altLang="en-US" sz="11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完成研究设计后，各项前期准备工作已经落实，研究推进具备充分支撑。</a:t>
            </a:r>
            <a:r>
              <a:rPr lang="en-US" altLang="zh-CN" sz="1100" dirty="0"/>
              <a:t>
</a:t>
            </a:r>
            <a:r>
              <a:rPr lang="zh-CN" altLang="en-US" sz="1100" dirty="0"/>
              <a:t>本研究已完成领域核心文献的系统梳理，覆盖算力水足迹、城市水代谢与水资源优化配置三大方向，同时整合多渠道公开研究数据，夯实研究基础。核心研究方法，包括水系统建模、多情景模拟、敏感性分析均已熟练掌握，完成问题界定、概念框架搭建与核心参数初步整理工作。依托课题组既有数据积累与成熟计算环境，模型构建与情景实验的开展获得充分保障。</a:t>
            </a:r>
            <a:r>
              <a:rPr lang="en-US" altLang="zh-CN" sz="1100" dirty="0"/>
              <a:t>
</a:t>
            </a:r>
            <a:r>
              <a:rPr lang="zh-CN" altLang="en-US" sz="1100" dirty="0"/>
              <a:t>研究整体划分为五个阶段推进：第一阶段完成数据收集与模型框架确定，第二阶段完成节点模块与系统模型的构建校核，第三阶段完成控制实验与承载容量曲面求解，第四阶段完成瓶颈识别与结果验证，第五阶段完成学位论文撰写修改与答辩准备。全流程节点清晰，里程碑明确，可保障研究按时有序完成。</a:t>
            </a:r>
            <a:endParaRPr lang="zh-CN" altLang="en-US" sz="11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本研究设定四层产出目标，完成符合硕士培养要求的学位论文，构建可复用的城市水代谢耦合模型与</a:t>
            </a:r>
            <a:r>
              <a:rPr lang="en-US" altLang="zh-CN" sz="1100" dirty="0"/>
              <a:t>CAWCC</a:t>
            </a:r>
            <a:r>
              <a:rPr lang="zh-CN" altLang="en-US" sz="1100" dirty="0"/>
              <a:t>指标方法，争取发表</a:t>
            </a:r>
            <a:r>
              <a:rPr lang="en-US" altLang="zh-CN" sz="1100" dirty="0"/>
              <a:t>1-2</a:t>
            </a:r>
            <a:r>
              <a:rPr lang="zh-CN" altLang="en-US" sz="1100" dirty="0"/>
              <a:t>篇学术论文，最终输出面向城市</a:t>
            </a:r>
            <a:r>
              <a:rPr lang="en-US" altLang="zh-CN" sz="1100" dirty="0"/>
              <a:t>AI</a:t>
            </a:r>
            <a:r>
              <a:rPr lang="zh-CN" altLang="en-US" sz="1100" dirty="0"/>
              <a:t>算力布局的承载判定规则与干预优先级建议，支撑实际规划决策。</a:t>
            </a:r>
            <a:r>
              <a:rPr lang="en-US" altLang="zh-CN" sz="1100" dirty="0"/>
              <a:t>
</a:t>
            </a:r>
            <a:r>
              <a:rPr lang="zh-CN" altLang="en-US" sz="1100" dirty="0"/>
              <a:t>研究实现三重创新突破：打破将</a:t>
            </a:r>
            <a:r>
              <a:rPr lang="en-US" altLang="zh-CN" sz="1100" dirty="0"/>
              <a:t>AI</a:t>
            </a:r>
            <a:r>
              <a:rPr lang="zh-CN" altLang="en-US" sz="1100" dirty="0"/>
              <a:t>算力用水作为独立统计项的传统思路，把算力节点纳入城市水系统整体代谢框架重新分析。摒弃传统单值阈值的承载评价逻辑，提出条件化的</a:t>
            </a:r>
            <a:r>
              <a:rPr lang="en-US" altLang="zh-CN" sz="1100" dirty="0"/>
              <a:t>CAWCC</a:t>
            </a:r>
            <a:r>
              <a:rPr lang="zh-CN" altLang="en-US" sz="1100" dirty="0"/>
              <a:t>指标，用容量曲面呈现承载能力随外界条件的动态变化。跳出仅输出承载结论的传统研究范式，同步输出主导瓶颈排序与干预优先级，直接对接规划与运行决策需求。</a:t>
            </a:r>
            <a:r>
              <a:rPr lang="en-US" altLang="zh-CN" sz="1100" dirty="0"/>
              <a:t>
</a:t>
            </a:r>
            <a:r>
              <a:rPr lang="zh-CN" altLang="en-US" sz="1100" dirty="0"/>
              <a:t>针对研究潜在风险，本研究预设完整应对方案：数据可得性不足时，采用公开数据与文献参数替代，辅以敏感性分析明确参数影响；模型复杂度偏高时，采取模块化构建思路，先搭建核心代谢链路再逐步补充细节；结论存在不确定性时，以相对变化与排序作为核心结论，明确研究适用边界，通过质量水量守恒闭合测试保障结果可靠性。</a:t>
            </a:r>
            <a:endParaRPr lang="zh-CN" altLang="en-US" sz="11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本次研究瞄准</a:t>
            </a:r>
            <a:r>
              <a:rPr lang="en-US" altLang="zh-CN" sz="1100" dirty="0"/>
              <a:t>AI</a:t>
            </a:r>
            <a:r>
              <a:rPr lang="zh-CN" altLang="en-US" sz="1100" dirty="0"/>
              <a:t>算力产业爆发下，城市水系统承载压力凸显的现实问题，突破了传统用水效率评价的单一维度局限，创新性提出条件化</a:t>
            </a:r>
            <a:r>
              <a:rPr lang="en-US" altLang="zh-CN" sz="1100" dirty="0"/>
              <a:t>AI</a:t>
            </a:r>
            <a:r>
              <a:rPr lang="zh-CN" altLang="en-US" sz="1100" dirty="0"/>
              <a:t>水承载容量</a:t>
            </a:r>
            <a:r>
              <a:rPr lang="en-US" altLang="zh-CN" sz="1100" dirty="0"/>
              <a:t>CAWCC</a:t>
            </a:r>
            <a:r>
              <a:rPr lang="zh-CN" altLang="en-US" sz="1100" dirty="0"/>
              <a:t>概念，构建从节点表征到系统耦合、边界求解再到瓶颈识别的完整研究框架。</a:t>
            </a:r>
            <a:r>
              <a:rPr lang="en-US" altLang="zh-CN" sz="1100" dirty="0"/>
              <a:t>
</a:t>
            </a:r>
            <a:r>
              <a:rPr lang="zh-CN" altLang="en-US" sz="1100" dirty="0"/>
              <a:t>研究依托哈尔滨工业大学环境学院课题组的平台支撑，由本人邵敬哲在导师白舜文教授的指导下完成，各项研究计划推进符合预期，现有基础与条件可保障研究顺利落地。</a:t>
            </a:r>
            <a:r>
              <a:rPr lang="en-US" altLang="zh-CN" sz="1100" dirty="0"/>
              <a:t>
</a:t>
            </a:r>
            <a:r>
              <a:rPr lang="zh-CN" altLang="en-US" sz="1100" dirty="0"/>
              <a:t>以上就是本次开题报告的全部内容，恳请各位评审老师提出宝贵的指导意见，帮助我完善研究设计，推进后续研究开展。</a:t>
            </a:r>
            <a:endParaRPr lang="zh-CN" altLang="en-US" sz="11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9" name=""/>
        <p:cNvGrpSpPr/>
        <p:nvPr/>
      </p:nvGrpSpPr>
      <p:grpSpPr>
        <a:xfrm>
          <a:off x="0" y="0"/>
          <a:ext cx="0" cy="0"/>
          <a:chOff x="0" y="0"/>
          <a:chExt cx="0" cy="0"/>
        </a:xfrm>
      </p:grpSpPr>
      <p:sp>
        <p:nvSpPr>
          <p:cNvPr id="2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1"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22"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23" name="页脚占位符 4"/>
          <p:cNvSpPr>
            <a:spLocks noGrp="1"/>
          </p:cNvSpPr>
          <p:nvPr>
            <p:ph type="ftr" sz="quarter" idx="11"/>
          </p:nvPr>
        </p:nvSpPr>
        <p:spPr/>
        <p:txBody>
          <a:bodyPr/>
          <a:lstStyle/>
          <a:p>
            <a:endParaRPr lang="zh-CN" altLang="en-US"/>
          </a:p>
        </p:txBody>
      </p:sp>
      <p:sp>
        <p:nvSpPr>
          <p:cNvPr id="24"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25"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lang="zh-CN" altLang="en-US"/>
          </a:p>
        </p:txBody>
      </p:sp>
      <p:sp>
        <p:nvSpPr>
          <p:cNvPr id="27"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8"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9"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30" name="页脚占位符 5"/>
          <p:cNvSpPr>
            <a:spLocks noGrp="1"/>
          </p:cNvSpPr>
          <p:nvPr>
            <p:ph type="ftr" sz="quarter" idx="11"/>
          </p:nvPr>
        </p:nvSpPr>
        <p:spPr/>
        <p:txBody>
          <a:bodyPr/>
          <a:lstStyle/>
          <a:p>
            <a:endParaRPr lang="zh-CN" altLang="en-US"/>
          </a:p>
        </p:txBody>
      </p:sp>
      <p:sp>
        <p:nvSpPr>
          <p:cNvPr id="31"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32" name=""/>
        <p:cNvGrpSpPr/>
        <p:nvPr/>
      </p:nvGrpSpPr>
      <p:grpSpPr>
        <a:xfrm>
          <a:off x="0" y="0"/>
          <a:ext cx="0" cy="0"/>
          <a:chOff x="0" y="0"/>
          <a:chExt cx="0" cy="0"/>
        </a:xfrm>
      </p:grpSpPr>
      <p:sp>
        <p:nvSpPr>
          <p:cNvPr id="33"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4"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5"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6"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7"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8" name="日期占位符 6"/>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39" name="页脚占位符 7"/>
          <p:cNvSpPr>
            <a:spLocks noGrp="1"/>
          </p:cNvSpPr>
          <p:nvPr>
            <p:ph type="ftr" sz="quarter" idx="11"/>
          </p:nvPr>
        </p:nvSpPr>
        <p:spPr/>
        <p:txBody>
          <a:bodyPr/>
          <a:lstStyle/>
          <a:p>
            <a:endParaRPr lang="zh-CN" altLang="en-US"/>
          </a:p>
        </p:txBody>
      </p:sp>
      <p:sp>
        <p:nvSpPr>
          <p:cNvPr id="40" name="灯片编号占位符 8"/>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lang="zh-CN" altLang="en-US"/>
          </a:p>
        </p:txBody>
      </p:sp>
      <p:sp>
        <p:nvSpPr>
          <p:cNvPr id="43" name="日期占位符 2"/>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44" name="页脚占位符 3"/>
          <p:cNvSpPr>
            <a:spLocks noGrp="1"/>
          </p:cNvSpPr>
          <p:nvPr>
            <p:ph type="ftr" sz="quarter" idx="11"/>
          </p:nvPr>
        </p:nvSpPr>
        <p:spPr/>
        <p:txBody>
          <a:bodyPr/>
          <a:lstStyle/>
          <a:p>
            <a:endParaRPr lang="zh-CN" altLang="en-US"/>
          </a:p>
        </p:txBody>
      </p:sp>
      <p:sp>
        <p:nvSpPr>
          <p:cNvPr id="45" name="灯片编号占位符 4"/>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46" name=""/>
        <p:cNvGrpSpPr/>
        <p:nvPr/>
      </p:nvGrpSpPr>
      <p:grpSpPr>
        <a:xfrm>
          <a:off x="0" y="0"/>
          <a:ext cx="0" cy="0"/>
          <a:chOff x="0" y="0"/>
          <a:chExt cx="0" cy="0"/>
        </a:xfrm>
      </p:grpSpPr>
      <p:sp>
        <p:nvSpPr>
          <p:cNvPr id="47" name="日期占位符 1"/>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48" name="页脚占位符 2"/>
          <p:cNvSpPr>
            <a:spLocks noGrp="1"/>
          </p:cNvSpPr>
          <p:nvPr>
            <p:ph type="ftr" sz="quarter" idx="11"/>
          </p:nvPr>
        </p:nvSpPr>
        <p:spPr/>
        <p:txBody>
          <a:bodyPr/>
          <a:lstStyle/>
          <a:p>
            <a:endParaRPr lang="zh-CN" altLang="en-US"/>
          </a:p>
        </p:txBody>
      </p:sp>
      <p:sp>
        <p:nvSpPr>
          <p:cNvPr id="49" name="灯片编号占位符 3"/>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0" name=""/>
        <p:cNvGrpSpPr/>
        <p:nvPr/>
      </p:nvGrpSpPr>
      <p:grpSpPr>
        <a:xfrm>
          <a:off x="0" y="0"/>
          <a:ext cx="0" cy="0"/>
          <a:chOff x="0" y="0"/>
          <a:chExt cx="0" cy="0"/>
        </a:xfrm>
      </p:grpSpPr>
      <p:sp>
        <p:nvSpPr>
          <p:cNvPr id="5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2"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3"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4"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55" name="页脚占位符 5"/>
          <p:cNvSpPr>
            <a:spLocks noGrp="1"/>
          </p:cNvSpPr>
          <p:nvPr>
            <p:ph type="ftr" sz="quarter" idx="11"/>
          </p:nvPr>
        </p:nvSpPr>
        <p:spPr/>
        <p:txBody>
          <a:bodyPr/>
          <a:lstStyle/>
          <a:p>
            <a:endParaRPr lang="zh-CN" altLang="en-US"/>
          </a:p>
        </p:txBody>
      </p:sp>
      <p:sp>
        <p:nvSpPr>
          <p:cNvPr id="56"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57" name=""/>
        <p:cNvGrpSpPr/>
        <p:nvPr/>
      </p:nvGrpSpPr>
      <p:grpSpPr>
        <a:xfrm>
          <a:off x="0" y="0"/>
          <a:ext cx="0" cy="0"/>
          <a:chOff x="0" y="0"/>
          <a:chExt cx="0" cy="0"/>
        </a:xfrm>
      </p:grpSpPr>
      <p:sp>
        <p:nvSpPr>
          <p:cNvPr id="58"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9"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0"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1"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62" name="页脚占位符 5"/>
          <p:cNvSpPr>
            <a:spLocks noGrp="1"/>
          </p:cNvSpPr>
          <p:nvPr>
            <p:ph type="ftr" sz="quarter" idx="11"/>
          </p:nvPr>
        </p:nvSpPr>
        <p:spPr/>
        <p:txBody>
          <a:bodyPr/>
          <a:lstStyle/>
          <a:p>
            <a:endParaRPr lang="zh-CN" altLang="en-US"/>
          </a:p>
        </p:txBody>
      </p:sp>
      <p:sp>
        <p:nvSpPr>
          <p:cNvPr id="63"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64"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lang="zh-CN" altLang="en-US"/>
          </a:p>
        </p:txBody>
      </p:sp>
      <p:sp>
        <p:nvSpPr>
          <p:cNvPr id="66"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7"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68" name="页脚占位符 4"/>
          <p:cNvSpPr>
            <a:spLocks noGrp="1"/>
          </p:cNvSpPr>
          <p:nvPr>
            <p:ph type="ftr" sz="quarter" idx="11"/>
          </p:nvPr>
        </p:nvSpPr>
        <p:spPr/>
        <p:txBody>
          <a:bodyPr/>
          <a:lstStyle/>
          <a:p>
            <a:endParaRPr lang="zh-CN" altLang="en-US"/>
          </a:p>
        </p:txBody>
      </p:sp>
      <p:sp>
        <p:nvSpPr>
          <p:cNvPr id="69"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6"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8D650-3A15-443A-B878-38CFEB8982A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EF223B-53FA-448A-B05D-AD632DCD340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10.xml"/><Relationship Id="rId14" Type="http://schemas.openxmlformats.org/officeDocument/2006/relationships/slideLayout" Target="../slideLayouts/slideLayout2.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6" Type="http://schemas.openxmlformats.org/officeDocument/2006/relationships/notesSlide" Target="../notesSlides/notesSlide16.xml"/><Relationship Id="rId25" Type="http://schemas.openxmlformats.org/officeDocument/2006/relationships/slideLayout" Target="../slideLayouts/slideLayout2.xml"/><Relationship Id="rId24" Type="http://schemas.openxmlformats.org/officeDocument/2006/relationships/tags" Target="../tags/tag37.xml"/><Relationship Id="rId23" Type="http://schemas.openxmlformats.org/officeDocument/2006/relationships/tags" Target="../tags/tag36.xml"/><Relationship Id="rId22" Type="http://schemas.openxmlformats.org/officeDocument/2006/relationships/tags" Target="../tags/tag35.xml"/><Relationship Id="rId21" Type="http://schemas.openxmlformats.org/officeDocument/2006/relationships/tags" Target="../tags/tag34.xml"/><Relationship Id="rId20" Type="http://schemas.openxmlformats.org/officeDocument/2006/relationships/tags" Target="../tags/tag33.xml"/><Relationship Id="rId2" Type="http://schemas.openxmlformats.org/officeDocument/2006/relationships/tags" Target="../tags/tag15.xml"/><Relationship Id="rId19" Type="http://schemas.openxmlformats.org/officeDocument/2006/relationships/tags" Target="../tags/tag32.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7" Type="http://schemas.openxmlformats.org/officeDocument/2006/relationships/notesSlide" Target="../notesSlides/notesSlide17.xml"/><Relationship Id="rId16" Type="http://schemas.openxmlformats.org/officeDocument/2006/relationships/slideLayout" Target="../slideLayouts/slideLayout2.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2"/>
          <p:cNvPicPr>
            <a:picLocks noChangeAspect="1"/>
          </p:cNvPicPr>
          <p:nvPr/>
        </p:nvPicPr>
        <p:blipFill>
          <a:blip r:embed="rId1"/>
          <a:stretch>
            <a:fillRect/>
          </a:stretch>
        </p:blipFill>
        <p:spPr>
          <a:xfrm>
            <a:off x="2879282" y="3602075"/>
            <a:ext cx="6287881" cy="2749276"/>
          </a:xfrm>
          <a:prstGeom prst="rect">
            <a:avLst/>
          </a:prstGeom>
        </p:spPr>
      </p:pic>
      <p:sp>
        <p:nvSpPr>
          <p:cNvPr id="3" name="矩形 3"/>
          <p:cNvSpPr/>
          <p:nvPr/>
        </p:nvSpPr>
        <p:spPr>
          <a:xfrm>
            <a:off x="3" y="6296878"/>
            <a:ext cx="12191999" cy="561122"/>
          </a:xfrm>
          <a:prstGeom prst="rect">
            <a:avLst/>
          </a:prstGeom>
          <a:solidFill>
            <a:srgbClr val="005375"/>
          </a:solidFill>
          <a:ln>
            <a:solidFill>
              <a:srgbClr val="005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4"/>
          <p:cNvSpPr/>
          <p:nvPr/>
        </p:nvSpPr>
        <p:spPr>
          <a:xfrm>
            <a:off x="0" y="1348740"/>
            <a:ext cx="12192000" cy="2173605"/>
          </a:xfrm>
          <a:prstGeom prst="rect">
            <a:avLst/>
          </a:prstGeom>
          <a:solidFill>
            <a:srgbClr val="005375"/>
          </a:solidFill>
          <a:ln>
            <a:solidFill>
              <a:srgbClr val="005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cxnSp>
        <p:nvCxnSpPr>
          <p:cNvPr id="5" name="直接连接符 5"/>
          <p:cNvCxnSpPr/>
          <p:nvPr/>
        </p:nvCxnSpPr>
        <p:spPr>
          <a:xfrm flipH="1">
            <a:off x="6" y="672215"/>
            <a:ext cx="11174288" cy="0"/>
          </a:xfrm>
          <a:prstGeom prst="line">
            <a:avLst/>
          </a:prstGeom>
          <a:ln w="25400">
            <a:solidFill>
              <a:srgbClr val="005375"/>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ctrTitle"/>
          </p:nvPr>
        </p:nvSpPr>
        <p:spPr>
          <a:xfrm>
            <a:off x="495300" y="960120"/>
            <a:ext cx="11201400" cy="1783080"/>
          </a:xfrm>
        </p:spPr>
        <p:txBody>
          <a:bodyPr/>
          <a:lstStyle/>
          <a:p>
            <a:r>
              <a:rPr lang="zh-CN" altLang="en-US" sz="3000" b="1" i="0">
                <a:solidFill>
                  <a:srgbClr val="FFFFFF"/>
                </a:solidFill>
                <a:latin typeface="微软雅黑" panose="020B0503020204020204" pitchFamily="34" charset="-122"/>
                <a:ea typeface="微软雅黑" panose="020B0503020204020204" pitchFamily="34" charset="-122"/>
              </a:rPr>
              <a:t>AI 算力基础设施驱动下</a:t>
            </a:r>
            <a:endParaRPr lang="zh-CN" altLang="en-US" sz="3000" b="1" i="0">
              <a:solidFill>
                <a:srgbClr val="FFFFFF"/>
              </a:solidFill>
              <a:latin typeface="微软雅黑" panose="020B0503020204020204" pitchFamily="34" charset="-122"/>
              <a:ea typeface="微软雅黑" panose="020B0503020204020204" pitchFamily="34" charset="-122"/>
            </a:endParaRPr>
          </a:p>
          <a:p>
            <a:pPr>
              <a:lnSpc>
                <a:spcPct val="105000"/>
              </a:lnSpc>
            </a:pPr>
            <a:r>
              <a:rPr lang="zh-CN" altLang="en-US" sz="3000" b="1" i="0">
                <a:solidFill>
                  <a:srgbClr val="FFFFFF"/>
                </a:solidFill>
                <a:latin typeface="微软雅黑" panose="020B0503020204020204" pitchFamily="34" charset="-122"/>
                <a:ea typeface="微软雅黑" panose="020B0503020204020204" pitchFamily="34" charset="-122"/>
              </a:rPr>
              <a:t>城市人工水系统代谢响应与条件化承载边界的系统模拟研究</a:t>
            </a:r>
            <a:endParaRPr lang="zh-CN" altLang="en-US" sz="3000" b="1" i="0">
              <a:solidFill>
                <a:srgbClr val="FFFFFF"/>
              </a:solidFill>
              <a:latin typeface="微软雅黑" panose="020B0503020204020204" pitchFamily="34" charset="-122"/>
              <a:ea typeface="微软雅黑" panose="020B0503020204020204" pitchFamily="34" charset="-122"/>
            </a:endParaRPr>
          </a:p>
        </p:txBody>
      </p:sp>
      <p:sp>
        <p:nvSpPr>
          <p:cNvPr id="7" name="副标题 2"/>
          <p:cNvSpPr>
            <a:spLocks noGrp="1"/>
          </p:cNvSpPr>
          <p:nvPr>
            <p:ph type="subTitle" idx="1"/>
          </p:nvPr>
        </p:nvSpPr>
        <p:spPr>
          <a:xfrm>
            <a:off x="482600" y="3944938"/>
            <a:ext cx="11214100" cy="680402"/>
          </a:xfrm>
        </p:spPr>
        <p:txBody>
          <a:bodyPr>
            <a:normAutofit/>
          </a:bodyPr>
          <a:lstStyle/>
          <a:p>
            <a:r>
              <a:rPr lang="zh-CN" altLang="en-US" sz="2000" b="1" i="0">
                <a:solidFill>
                  <a:srgbClr val="005376"/>
                </a:solidFill>
                <a:latin typeface="微软雅黑" panose="020B0503020204020204" pitchFamily="34" charset="-122"/>
                <a:ea typeface="微软雅黑" panose="020B0503020204020204" pitchFamily="34" charset="-122"/>
              </a:rPr>
              <a:t>姓名：邵敬哲      导师：白舜文</a:t>
            </a:r>
            <a:endParaRPr lang="zh-CN" altLang="en-US" sz="2000" b="1" i="0">
              <a:solidFill>
                <a:srgbClr val="005376"/>
              </a:solidFill>
              <a:latin typeface="微软雅黑" panose="020B0503020204020204" pitchFamily="34" charset="-122"/>
              <a:ea typeface="微软雅黑" panose="020B0503020204020204" pitchFamily="34" charset="-122"/>
            </a:endParaRPr>
          </a:p>
        </p:txBody>
      </p:sp>
      <p:sp>
        <p:nvSpPr>
          <p:cNvPr id="8" name="副标题 2"/>
          <p:cNvSpPr txBox="1"/>
          <p:nvPr/>
        </p:nvSpPr>
        <p:spPr>
          <a:xfrm>
            <a:off x="495300" y="4633496"/>
            <a:ext cx="11214100" cy="68040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b="0" i="0">
                <a:solidFill>
                  <a:srgbClr val="005376"/>
                </a:solidFill>
                <a:latin typeface="微软雅黑" panose="020B0503020204020204" pitchFamily="34" charset="-122"/>
                <a:ea typeface="微软雅黑" panose="020B0503020204020204" pitchFamily="34" charset="-122"/>
              </a:rPr>
              <a:t>哈尔滨工业大学 · 环境学院  </a:t>
            </a:r>
            <a:endParaRPr lang="zh-CN" altLang="en-US" sz="1600" b="0" i="0">
              <a:solidFill>
                <a:srgbClr val="005376"/>
              </a:solidFill>
              <a:latin typeface="微软雅黑" panose="020B0503020204020204" pitchFamily="34" charset="-122"/>
              <a:ea typeface="微软雅黑" panose="020B0503020204020204" pitchFamily="34" charset="-122"/>
            </a:endParaRPr>
          </a:p>
          <a:p>
            <a:r>
              <a:rPr lang="zh-CN" altLang="en-US" sz="1600" b="0" i="0">
                <a:solidFill>
                  <a:srgbClr val="005376"/>
                </a:solidFill>
                <a:latin typeface="微软雅黑" panose="020B0503020204020204" pitchFamily="34" charset="-122"/>
                <a:ea typeface="微软雅黑" panose="020B0503020204020204" pitchFamily="34" charset="-122"/>
              </a:rPr>
              <a:t>2026.09</a:t>
            </a:r>
            <a:endParaRPr lang="zh-CN" altLang="en-US" sz="1600" b="0" i="0">
              <a:solidFill>
                <a:srgbClr val="005376"/>
              </a:solidFill>
              <a:latin typeface="微软雅黑" panose="020B0503020204020204" pitchFamily="34" charset="-122"/>
              <a:ea typeface="微软雅黑" panose="020B0503020204020204" pitchFamily="34" charset="-122"/>
            </a:endParaRPr>
          </a:p>
        </p:txBody>
      </p:sp>
      <p:sp>
        <p:nvSpPr>
          <p:cNvPr id="9" name="文本框 9"/>
          <p:cNvSpPr txBox="1"/>
          <p:nvPr/>
        </p:nvSpPr>
        <p:spPr>
          <a:xfrm>
            <a:off x="0" y="254934"/>
            <a:ext cx="4119880" cy="398780"/>
          </a:xfrm>
          <a:prstGeom prst="rect">
            <a:avLst/>
          </a:prstGeom>
          <a:noFill/>
        </p:spPr>
        <p:txBody>
          <a:bodyPr wrap="none" rtlCol="0">
            <a:spAutoFit/>
          </a:bodyPr>
          <a:lstStyle/>
          <a:p>
            <a:r>
              <a:rPr lang="zh-CN" altLang="en-US" sz="1600" b="1" i="0">
                <a:solidFill>
                  <a:srgbClr val="000000"/>
                </a:solidFill>
                <a:latin typeface="微软雅黑" panose="020B0503020204020204" pitchFamily="34" charset="-122"/>
                <a:ea typeface="微软雅黑" panose="020B0503020204020204" pitchFamily="34" charset="-122"/>
              </a:rPr>
              <a:t>硕士学位开题报告</a:t>
            </a:r>
            <a:endParaRPr lang="zh-CN" altLang="en-US" sz="1600" b="1" i="0">
              <a:solidFill>
                <a:srgbClr val="000000"/>
              </a:solidFill>
              <a:latin typeface="微软雅黑" panose="020B0503020204020204" pitchFamily="34" charset="-122"/>
              <a:ea typeface="微软雅黑" panose="020B0503020204020204" pitchFamily="34" charset="-122"/>
            </a:endParaRPr>
          </a:p>
        </p:txBody>
      </p:sp>
      <p:pic>
        <p:nvPicPr>
          <p:cNvPr id="10" name="图片 13"/>
          <p:cNvPicPr>
            <a:picLocks noChangeAspect="1"/>
          </p:cNvPicPr>
          <p:nvPr/>
        </p:nvPicPr>
        <p:blipFill>
          <a:blip r:embed="rId2" cstate="print"/>
          <a:stretch>
            <a:fillRect/>
          </a:stretch>
        </p:blipFill>
        <p:spPr>
          <a:xfrm>
            <a:off x="11148710" y="228600"/>
            <a:ext cx="1061070" cy="463936"/>
          </a:xfrm>
          <a:prstGeom prst="rect">
            <a:avLst/>
          </a:prstGeom>
        </p:spPr>
      </p:pic>
      <p:pic>
        <p:nvPicPr>
          <p:cNvPr id="11" name="图片 1"/>
          <p:cNvPicPr>
            <a:picLocks noChangeAspect="1"/>
          </p:cNvPicPr>
          <p:nvPr/>
        </p:nvPicPr>
        <p:blipFill>
          <a:blip r:embed="rId3" cstate="print"/>
          <a:stretch>
            <a:fillRect/>
          </a:stretch>
        </p:blipFill>
        <p:spPr>
          <a:xfrm>
            <a:off x="240314" y="6415212"/>
            <a:ext cx="1655733" cy="324128"/>
          </a:xfrm>
          <a:prstGeom prst="rect">
            <a:avLst/>
          </a:prstGeom>
        </p:spPr>
      </p:pic>
      <p:sp>
        <p:nvSpPr>
          <p:cNvPr id="12" name="TextBox 14"/>
          <p:cNvSpPr txBox="1"/>
          <p:nvPr/>
        </p:nvSpPr>
        <p:spPr>
          <a:xfrm>
            <a:off x="507746" y="2682748"/>
            <a:ext cx="11201400" cy="641985"/>
          </a:xfrm>
          <a:prstGeom prst="rect">
            <a:avLst/>
          </a:prstGeom>
          <a:noFill/>
        </p:spPr>
        <p:txBody>
          <a:bodyPr wrap="square" lIns="27432" tIns="13716" rIns="27432" bIns="13716" anchor="t">
            <a:spAutoFit/>
          </a:bodyPr>
          <a:lstStyle/>
          <a:p>
            <a:pPr algn="ctr">
              <a:lnSpc>
                <a:spcPct val="125000"/>
              </a:lnSpc>
            </a:pPr>
            <a:r>
              <a:rPr lang="zh-CN" altLang="en-US" sz="1600" b="0" i="0">
                <a:solidFill>
                  <a:srgbClr val="D8E6EC"/>
                </a:solidFill>
                <a:latin typeface="Arial" panose="020B0604020202020204"/>
                <a:ea typeface="Arial" panose="020B0604020202020204"/>
              </a:rPr>
              <a:t>Metabolic Response and Conditional Carrying Boundary of Urban Artificial Water Systems</a:t>
            </a:r>
            <a:r>
              <a:rPr lang="en-US" altLang="zh-CN" sz="1600" b="0" i="0">
                <a:solidFill>
                  <a:srgbClr val="D8E6EC"/>
                </a:solidFill>
                <a:latin typeface="Arial" panose="020B0604020202020204"/>
                <a:ea typeface="Arial" panose="020B0604020202020204"/>
              </a:rPr>
              <a:t> </a:t>
            </a:r>
            <a:r>
              <a:rPr lang="zh-CN" altLang="en-US" sz="1600" b="0" i="0">
                <a:solidFill>
                  <a:srgbClr val="D8E6EC"/>
                </a:solidFill>
                <a:latin typeface="Arial" panose="020B0604020202020204"/>
                <a:ea typeface="Arial" panose="020B0604020202020204"/>
              </a:rPr>
              <a:t>Driven by AI Computing Infrastructure</a:t>
            </a:r>
            <a:endParaRPr lang="zh-CN" altLang="en-US" sz="1600" b="0" i="0">
              <a:solidFill>
                <a:srgbClr val="D8E6EC"/>
              </a:solidFill>
              <a:latin typeface="Arial" panose="020B0604020202020204"/>
              <a:ea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01" name=""/>
        <p:cNvGrpSpPr/>
        <p:nvPr/>
      </p:nvGrpSpPr>
      <p:grpSpPr>
        <a:xfrm>
          <a:off x="0" y="0"/>
          <a:ext cx="0" cy="0"/>
          <a:chOff x="0" y="0"/>
          <a:chExt cx="0" cy="0"/>
        </a:xfrm>
      </p:grpSpPr>
      <p:sp>
        <p:nvSpPr>
          <p:cNvPr id="704"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01</a:t>
            </a:r>
            <a:endParaRPr lang="zh-CN" altLang="en-US" sz="9600" b="0" i="0">
              <a:solidFill>
                <a:srgbClr val="005375"/>
              </a:solidFill>
              <a:latin typeface="Arial Black" panose="020B0A04020102020204"/>
              <a:ea typeface="Arial Black" panose="020B0A04020102020204"/>
            </a:endParaRPr>
          </a:p>
        </p:txBody>
      </p:sp>
      <p:sp>
        <p:nvSpPr>
          <p:cNvPr id="705"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ONE</a:t>
            </a:r>
            <a:endParaRPr lang="zh-CN" altLang="en-US" sz="1300" b="0" i="0" spc="300">
              <a:solidFill>
                <a:srgbClr val="8CA3AF"/>
              </a:solidFill>
              <a:latin typeface="Arial" panose="020B0604020202020204"/>
              <a:ea typeface="Arial" panose="020B0604020202020204"/>
            </a:endParaRPr>
          </a:p>
        </p:txBody>
      </p:sp>
      <p:sp>
        <p:nvSpPr>
          <p:cNvPr id="706" name="TextBox 6"/>
          <p:cNvSpPr txBox="1"/>
          <p:nvPr/>
        </p:nvSpPr>
        <p:spPr>
          <a:xfrm>
            <a:off x="786384" y="283464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研究背景与问题提出</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708" name="Rounded Rectangle 8"/>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09" name="Rectangle 9"/>
          <p:cNvSpPr/>
          <p:nvPr/>
        </p:nvSpPr>
        <p:spPr>
          <a:xfrm>
            <a:off x="5760720" y="1563624"/>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现象</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0" name="Right Triangle 10"/>
          <p:cNvSpPr/>
          <p:nvPr/>
        </p:nvSpPr>
        <p:spPr>
          <a:xfrm>
            <a:off x="7178040" y="1563624"/>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1" name="TextBox 11"/>
          <p:cNvSpPr txBox="1"/>
          <p:nvPr/>
        </p:nvSpPr>
        <p:spPr>
          <a:xfrm>
            <a:off x="7360920" y="1603883"/>
            <a:ext cx="4114799" cy="57785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AI 算力正把 IT 容量需求转化为持续性资源负荷</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712" name="Rounded Rectangle 12"/>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3" name="Rectangle 13"/>
          <p:cNvSpPr/>
          <p:nvPr/>
        </p:nvSpPr>
        <p:spPr>
          <a:xfrm>
            <a:off x="5760720" y="3008376"/>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供需失衡</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4" name="Right Triangle 14"/>
          <p:cNvSpPr/>
          <p:nvPr/>
        </p:nvSpPr>
        <p:spPr>
          <a:xfrm>
            <a:off x="7178040" y="3008376"/>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5" name="TextBox 15"/>
          <p:cNvSpPr txBox="1"/>
          <p:nvPr/>
        </p:nvSpPr>
        <p:spPr>
          <a:xfrm>
            <a:off x="7360920" y="3186430"/>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水需求多样因素收紧 vs 供给端碎片化</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716" name="Rounded Rectangle 16"/>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7" name="Rectangle 17"/>
          <p:cNvSpPr/>
          <p:nvPr/>
        </p:nvSpPr>
        <p:spPr>
          <a:xfrm>
            <a:off x="5760720" y="4453128"/>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切入点</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8" name="Right Triangle 18"/>
          <p:cNvSpPr/>
          <p:nvPr/>
        </p:nvSpPr>
        <p:spPr>
          <a:xfrm>
            <a:off x="7178040" y="4453128"/>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9" name="TextBox 19"/>
          <p:cNvSpPr txBox="1"/>
          <p:nvPr/>
        </p:nvSpPr>
        <p:spPr>
          <a:xfrm>
            <a:off x="7360920" y="4631182"/>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把城市人工水系统作为全过程网络看待</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32" name=""/>
        <p:cNvGrpSpPr/>
        <p:nvPr/>
      </p:nvGrpSpPr>
      <p:grpSpPr>
        <a:xfrm>
          <a:off x="0" y="0"/>
          <a:ext cx="0" cy="0"/>
          <a:chOff x="0" y="0"/>
          <a:chExt cx="0" cy="0"/>
        </a:xfrm>
      </p:grpSpPr>
      <p:sp>
        <p:nvSpPr>
          <p:cNvPr id="733" name="Rounded Rectangle 40"/>
          <p:cNvSpPr/>
          <p:nvPr/>
        </p:nvSpPr>
        <p:spPr>
          <a:xfrm>
            <a:off x="7383780" y="2686050"/>
            <a:ext cx="1083310" cy="335597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34"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大模型行为的资源消耗</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736" name="Rounded Rectangle 3"/>
          <p:cNvSpPr/>
          <p:nvPr/>
        </p:nvSpPr>
        <p:spPr>
          <a:xfrm>
            <a:off x="776097" y="896112"/>
            <a:ext cx="2560320"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37" name="TextBox 4"/>
          <p:cNvSpPr txBox="1"/>
          <p:nvPr/>
        </p:nvSpPr>
        <p:spPr>
          <a:xfrm>
            <a:off x="849249" y="932688"/>
            <a:ext cx="2414015" cy="274320"/>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全国日均Token调用量</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738" name="TextBox 5"/>
          <p:cNvSpPr txBox="1"/>
          <p:nvPr/>
        </p:nvSpPr>
        <p:spPr>
          <a:xfrm>
            <a:off x="849249" y="1188720"/>
            <a:ext cx="2414015" cy="329184"/>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1000亿</a:t>
            </a:r>
            <a:r>
              <a:rPr lang="zh-CN" altLang="en-US" sz="1500" b="1" i="0">
                <a:solidFill>
                  <a:srgbClr val="005375"/>
                </a:solidFill>
                <a:latin typeface="微软雅黑" panose="020B0503020204020204" pitchFamily="34" charset="-122"/>
                <a:ea typeface="微软雅黑" panose="020B0503020204020204" pitchFamily="34" charset="-122"/>
              </a:rPr>
              <a:t>  </a:t>
            </a:r>
            <a:r>
              <a:rPr lang="zh-CN" altLang="en-US" sz="1500" b="1" i="0">
                <a:solidFill>
                  <a:srgbClr val="8CA3AF"/>
                </a:solidFill>
                <a:latin typeface="微软雅黑" panose="020B0503020204020204" pitchFamily="34" charset="-122"/>
                <a:ea typeface="微软雅黑" panose="020B0503020204020204" pitchFamily="34" charset="-122"/>
              </a:rPr>
              <a:t>→ </a:t>
            </a:r>
            <a:r>
              <a:rPr lang="zh-CN" altLang="en-US" sz="1500" b="1" i="0">
                <a:solidFill>
                  <a:srgbClr val="005375"/>
                </a:solidFill>
                <a:latin typeface="微软雅黑" panose="020B0503020204020204" pitchFamily="34" charset="-122"/>
                <a:ea typeface="微软雅黑" panose="020B0503020204020204" pitchFamily="34" charset="-122"/>
              </a:rPr>
              <a:t>140万亿</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39" name="TextBox 6"/>
          <p:cNvSpPr txBox="1"/>
          <p:nvPr/>
        </p:nvSpPr>
        <p:spPr>
          <a:xfrm>
            <a:off x="849249" y="1517904"/>
            <a:ext cx="2414015" cy="237744"/>
          </a:xfrm>
          <a:prstGeom prst="rect">
            <a:avLst/>
          </a:prstGeom>
          <a:noFill/>
        </p:spPr>
        <p:txBody>
          <a:bodyPr wrap="square" lIns="27432" tIns="13716" rIns="27432" bIns="13716" anchor="t">
            <a:spAutoFit/>
          </a:bodyPr>
          <a:lstStyle/>
          <a:p>
            <a:pPr algn="l">
              <a:lnSpc>
                <a:spcPct val="108000"/>
              </a:lnSpc>
            </a:pPr>
            <a:r>
              <a:rPr lang="zh-CN" altLang="en-US" sz="1150" b="0" i="0">
                <a:solidFill>
                  <a:srgbClr val="5A6B76"/>
                </a:solidFill>
                <a:latin typeface="微软雅黑" panose="020B0503020204020204" pitchFamily="34" charset="-122"/>
                <a:ea typeface="微软雅黑" panose="020B0503020204020204" pitchFamily="34" charset="-122"/>
              </a:rPr>
              <a:t>2024年初   →   2026年3月</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0" name="Rounded Rectangle 7"/>
          <p:cNvSpPr/>
          <p:nvPr/>
        </p:nvSpPr>
        <p:spPr>
          <a:xfrm>
            <a:off x="3437001" y="896112"/>
            <a:ext cx="2560320"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1" name="TextBox 8"/>
          <p:cNvSpPr txBox="1"/>
          <p:nvPr/>
        </p:nvSpPr>
        <p:spPr>
          <a:xfrm>
            <a:off x="3510153" y="932688"/>
            <a:ext cx="2414015" cy="274320"/>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ChatGPT 周活跃用户</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742" name="TextBox 9"/>
          <p:cNvSpPr txBox="1"/>
          <p:nvPr/>
        </p:nvSpPr>
        <p:spPr>
          <a:xfrm>
            <a:off x="3510153" y="1188720"/>
            <a:ext cx="2414015" cy="329184"/>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&lt;1亿</a:t>
            </a:r>
            <a:r>
              <a:rPr lang="zh-CN" altLang="en-US" sz="1500" b="1" i="0">
                <a:solidFill>
                  <a:srgbClr val="005375"/>
                </a:solidFill>
                <a:latin typeface="微软雅黑" panose="020B0503020204020204" pitchFamily="34" charset="-122"/>
                <a:ea typeface="微软雅黑" panose="020B0503020204020204" pitchFamily="34" charset="-122"/>
              </a:rPr>
              <a:t>  </a:t>
            </a:r>
            <a:r>
              <a:rPr lang="zh-CN" altLang="en-US" sz="1500" b="1" i="0">
                <a:solidFill>
                  <a:srgbClr val="8CA3AF"/>
                </a:solidFill>
                <a:latin typeface="微软雅黑" panose="020B0503020204020204" pitchFamily="34" charset="-122"/>
                <a:ea typeface="微软雅黑" panose="020B0503020204020204" pitchFamily="34" charset="-122"/>
              </a:rPr>
              <a:t>→ </a:t>
            </a:r>
            <a:r>
              <a:rPr lang="zh-CN" altLang="en-US" sz="1500" b="1" i="0">
                <a:solidFill>
                  <a:srgbClr val="005375"/>
                </a:solidFill>
                <a:latin typeface="微软雅黑" panose="020B0503020204020204" pitchFamily="34" charset="-122"/>
                <a:ea typeface="微软雅黑" panose="020B0503020204020204" pitchFamily="34" charset="-122"/>
              </a:rPr>
              <a:t>10亿</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43" name="TextBox 10"/>
          <p:cNvSpPr txBox="1"/>
          <p:nvPr/>
        </p:nvSpPr>
        <p:spPr>
          <a:xfrm>
            <a:off x="3510153" y="1517904"/>
            <a:ext cx="2414015" cy="237744"/>
          </a:xfrm>
          <a:prstGeom prst="rect">
            <a:avLst/>
          </a:prstGeom>
          <a:noFill/>
        </p:spPr>
        <p:txBody>
          <a:bodyPr wrap="square" lIns="27432" tIns="13716" rIns="27432" bIns="13716" anchor="t">
            <a:spAutoFit/>
          </a:bodyPr>
          <a:lstStyle/>
          <a:p>
            <a:pPr algn="l">
              <a:lnSpc>
                <a:spcPct val="108000"/>
              </a:lnSpc>
            </a:pPr>
            <a:r>
              <a:rPr lang="zh-CN" altLang="en-US" sz="1150" b="0" i="0">
                <a:solidFill>
                  <a:srgbClr val="5A6B76"/>
                </a:solidFill>
                <a:latin typeface="微软雅黑" panose="020B0503020204020204" pitchFamily="34" charset="-122"/>
                <a:ea typeface="微软雅黑" panose="020B0503020204020204" pitchFamily="34" charset="-122"/>
              </a:rPr>
              <a:t>2023年末   →   2026年6月</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4" name="Rounded Rectangle 11"/>
          <p:cNvSpPr/>
          <p:nvPr/>
        </p:nvSpPr>
        <p:spPr>
          <a:xfrm>
            <a:off x="6097905" y="896112"/>
            <a:ext cx="1243584"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5" name="TextBox 12"/>
          <p:cNvSpPr txBox="1"/>
          <p:nvPr/>
        </p:nvSpPr>
        <p:spPr>
          <a:xfrm>
            <a:off x="6152768" y="969264"/>
            <a:ext cx="1133856" cy="411480"/>
          </a:xfrm>
          <a:prstGeom prst="rect">
            <a:avLst/>
          </a:prstGeom>
          <a:noFill/>
        </p:spPr>
        <p:txBody>
          <a:bodyPr wrap="square" lIns="27432" tIns="13716" rIns="27432" bIns="13716" anchor="t">
            <a:spAutoFit/>
          </a:bodyPr>
          <a:lstStyle/>
          <a:p>
            <a:pPr algn="ctr">
              <a:lnSpc>
                <a:spcPct val="108000"/>
              </a:lnSpc>
            </a:pPr>
            <a:r>
              <a:rPr lang="zh-CN" altLang="en-US" sz="2000" b="1" i="0">
                <a:solidFill>
                  <a:srgbClr val="005375"/>
                </a:solidFill>
                <a:latin typeface="Arial" panose="020B0604020202020204"/>
                <a:ea typeface="Arial" panose="020B0604020202020204"/>
              </a:rPr>
              <a:t>53%</a:t>
            </a:r>
            <a:endParaRPr lang="zh-CN" altLang="en-US" sz="2000" b="1" i="0">
              <a:solidFill>
                <a:srgbClr val="005375"/>
              </a:solidFill>
              <a:latin typeface="Arial" panose="020B0604020202020204"/>
              <a:ea typeface="Arial" panose="020B0604020202020204"/>
            </a:endParaRPr>
          </a:p>
        </p:txBody>
      </p:sp>
      <p:sp>
        <p:nvSpPr>
          <p:cNvPr id="746" name="TextBox 13"/>
          <p:cNvSpPr txBox="1"/>
          <p:nvPr/>
        </p:nvSpPr>
        <p:spPr>
          <a:xfrm>
            <a:off x="6143624" y="1389888"/>
            <a:ext cx="1152144" cy="402336"/>
          </a:xfrm>
          <a:prstGeom prst="rect">
            <a:avLst/>
          </a:prstGeom>
          <a:noFill/>
        </p:spPr>
        <p:txBody>
          <a:bodyPr wrap="square" lIns="27432" tIns="13716" rIns="27432" bIns="13716" anchor="t">
            <a:spAutoFit/>
          </a:bodyPr>
          <a:lstStyle/>
          <a:p>
            <a:pPr algn="ctr">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GenAI全球人口采用率估计</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7" name="Rounded Rectangle 14"/>
          <p:cNvSpPr/>
          <p:nvPr/>
        </p:nvSpPr>
        <p:spPr>
          <a:xfrm>
            <a:off x="7423785" y="896112"/>
            <a:ext cx="1243584"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8" name="TextBox 15"/>
          <p:cNvSpPr txBox="1"/>
          <p:nvPr/>
        </p:nvSpPr>
        <p:spPr>
          <a:xfrm>
            <a:off x="7478648" y="969264"/>
            <a:ext cx="1133856" cy="411480"/>
          </a:xfrm>
          <a:prstGeom prst="rect">
            <a:avLst/>
          </a:prstGeom>
          <a:noFill/>
        </p:spPr>
        <p:txBody>
          <a:bodyPr wrap="square" lIns="27432" tIns="13716" rIns="27432" bIns="13716" anchor="t">
            <a:spAutoFit/>
          </a:bodyPr>
          <a:lstStyle/>
          <a:p>
            <a:pPr algn="ctr">
              <a:lnSpc>
                <a:spcPct val="108000"/>
              </a:lnSpc>
            </a:pPr>
            <a:r>
              <a:rPr lang="zh-CN" altLang="en-US" sz="2000" b="1" i="0">
                <a:solidFill>
                  <a:srgbClr val="005375"/>
                </a:solidFill>
                <a:latin typeface="Arial" panose="020B0604020202020204"/>
                <a:ea typeface="Arial" panose="020B0604020202020204"/>
              </a:rPr>
              <a:t>79%</a:t>
            </a:r>
            <a:endParaRPr lang="zh-CN" altLang="en-US" sz="2000" b="1" i="0">
              <a:solidFill>
                <a:srgbClr val="005375"/>
              </a:solidFill>
              <a:latin typeface="Arial" panose="020B0604020202020204"/>
              <a:ea typeface="Arial" panose="020B0604020202020204"/>
            </a:endParaRPr>
          </a:p>
        </p:txBody>
      </p:sp>
      <p:sp>
        <p:nvSpPr>
          <p:cNvPr id="749" name="TextBox 16"/>
          <p:cNvSpPr txBox="1"/>
          <p:nvPr/>
        </p:nvSpPr>
        <p:spPr>
          <a:xfrm>
            <a:off x="7469505" y="1389888"/>
            <a:ext cx="1152144" cy="402336"/>
          </a:xfrm>
          <a:prstGeom prst="rect">
            <a:avLst/>
          </a:prstGeom>
          <a:noFill/>
        </p:spPr>
        <p:txBody>
          <a:bodyPr wrap="square" lIns="27432" tIns="13716" rIns="27432" bIns="13716" anchor="t">
            <a:spAutoFit/>
          </a:bodyPr>
          <a:lstStyle/>
          <a:p>
            <a:pPr algn="ctr">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企业GenAI采用率约</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50" name="Rounded Rectangle 17"/>
          <p:cNvSpPr/>
          <p:nvPr/>
        </p:nvSpPr>
        <p:spPr>
          <a:xfrm>
            <a:off x="690245" y="4973320"/>
            <a:ext cx="1083310" cy="106870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1" name="TextBox 18"/>
          <p:cNvSpPr txBox="1"/>
          <p:nvPr/>
        </p:nvSpPr>
        <p:spPr>
          <a:xfrm>
            <a:off x="717550" y="4966970"/>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文本</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2" name="TextBox 19"/>
          <p:cNvSpPr txBox="1"/>
          <p:nvPr/>
        </p:nvSpPr>
        <p:spPr>
          <a:xfrm>
            <a:off x="735965" y="5253355"/>
            <a:ext cx="991870" cy="67691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简单的文本问答资源消耗相对较低</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3" name="Rounded Rectangle 20"/>
          <p:cNvSpPr/>
          <p:nvPr/>
        </p:nvSpPr>
        <p:spPr>
          <a:xfrm>
            <a:off x="1799590" y="4656455"/>
            <a:ext cx="1083310" cy="138557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4" name="TextBox 21"/>
          <p:cNvSpPr txBox="1"/>
          <p:nvPr/>
        </p:nvSpPr>
        <p:spPr>
          <a:xfrm>
            <a:off x="1826895" y="467042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聊天</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5" name="TextBox 22"/>
          <p:cNvSpPr txBox="1"/>
          <p:nvPr/>
        </p:nvSpPr>
        <p:spPr>
          <a:xfrm>
            <a:off x="1845310" y="4987290"/>
            <a:ext cx="991870" cy="1108075"/>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与AI持续聊天5分钟约消耗500毫升水</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6" name="Rounded Rectangle 25"/>
          <p:cNvSpPr/>
          <p:nvPr/>
        </p:nvSpPr>
        <p:spPr>
          <a:xfrm>
            <a:off x="2908935" y="4340225"/>
            <a:ext cx="1083310" cy="170180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7" name="TextBox 26"/>
          <p:cNvSpPr txBox="1"/>
          <p:nvPr/>
        </p:nvSpPr>
        <p:spPr>
          <a:xfrm>
            <a:off x="2936240" y="434022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长推理</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8" name="TextBox 27"/>
          <p:cNvSpPr txBox="1"/>
          <p:nvPr/>
        </p:nvSpPr>
        <p:spPr>
          <a:xfrm>
            <a:off x="2954655" y="4670425"/>
            <a:ext cx="991870" cy="142494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约 15倍算力消耗，约一百到几百毫升/次</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9" name="Rounded Rectangle 30"/>
          <p:cNvSpPr/>
          <p:nvPr/>
        </p:nvSpPr>
        <p:spPr>
          <a:xfrm>
            <a:off x="4017645" y="4022725"/>
            <a:ext cx="1083310" cy="201866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0" name="TextBox 31"/>
          <p:cNvSpPr txBox="1"/>
          <p:nvPr/>
        </p:nvSpPr>
        <p:spPr>
          <a:xfrm>
            <a:off x="4026535" y="4037330"/>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图片</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1" name="TextBox 32"/>
          <p:cNvSpPr txBox="1"/>
          <p:nvPr/>
        </p:nvSpPr>
        <p:spPr>
          <a:xfrm>
            <a:off x="4063365" y="4354195"/>
            <a:ext cx="991870" cy="1741805"/>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图像生成平均约消耗2.9 kWh / 1000张，耗水约10L</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62" name="Rounded Rectangle 35"/>
          <p:cNvSpPr/>
          <p:nvPr/>
        </p:nvSpPr>
        <p:spPr>
          <a:xfrm>
            <a:off x="5126990" y="3706495"/>
            <a:ext cx="1083310" cy="233553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3" name="TextBox 36"/>
          <p:cNvSpPr txBox="1"/>
          <p:nvPr/>
        </p:nvSpPr>
        <p:spPr>
          <a:xfrm>
            <a:off x="5135880" y="370649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视频</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4" name="TextBox 37"/>
          <p:cNvSpPr txBox="1"/>
          <p:nvPr/>
        </p:nvSpPr>
        <p:spPr>
          <a:xfrm>
            <a:off x="5172710" y="4037330"/>
            <a:ext cx="991870" cy="205867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Sora 生成720p、30帧、5秒视频，耗水约1.5L</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65" name="Rounded Rectangle 40"/>
          <p:cNvSpPr/>
          <p:nvPr/>
        </p:nvSpPr>
        <p:spPr>
          <a:xfrm>
            <a:off x="6236335" y="3390265"/>
            <a:ext cx="1083310" cy="265176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6" name="TextBox 41"/>
          <p:cNvSpPr txBox="1"/>
          <p:nvPr/>
        </p:nvSpPr>
        <p:spPr>
          <a:xfrm>
            <a:off x="6245225" y="339026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训练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7" name="TextBox 42"/>
          <p:cNvSpPr txBox="1"/>
          <p:nvPr/>
        </p:nvSpPr>
        <p:spPr>
          <a:xfrm>
            <a:off x="6282055" y="3720465"/>
            <a:ext cx="991870" cy="237490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GPT-3训练一次耗电约1287兆瓦时，可供3000辆特斯拉跑到报废</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68" name="TextBox 46"/>
          <p:cNvSpPr txBox="1"/>
          <p:nvPr/>
        </p:nvSpPr>
        <p:spPr>
          <a:xfrm>
            <a:off x="7351395" y="2686050"/>
            <a:ext cx="1115695" cy="163195"/>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算力中心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9" name="TextBox 47"/>
          <p:cNvSpPr txBox="1"/>
          <p:nvPr/>
        </p:nvSpPr>
        <p:spPr>
          <a:xfrm>
            <a:off x="7397115" y="2977515"/>
            <a:ext cx="1007745" cy="1962785"/>
          </a:xfrm>
          <a:prstGeom prst="rect">
            <a:avLst/>
          </a:prstGeom>
          <a:noFill/>
        </p:spPr>
        <p:txBody>
          <a:bodyPr wrap="square" lIns="27432" tIns="13716" rIns="27432" bIns="13716" anchor="t">
            <a:noAutofit/>
          </a:bodyPr>
          <a:lstStyle/>
          <a:p>
            <a:pPr algn="l">
              <a:lnSpc>
                <a:spcPct val="115000"/>
              </a:lnSpc>
            </a:pPr>
            <a:r>
              <a:rPr lang="zh-CN" altLang="en-US" sz="1150" b="0" i="0">
                <a:solidFill>
                  <a:schemeClr val="tx1"/>
                </a:solidFill>
                <a:latin typeface="微软雅黑" panose="020B0503020204020204" pitchFamily="34" charset="-122"/>
                <a:ea typeface="微软雅黑" panose="020B0503020204020204" pitchFamily="34" charset="-122"/>
              </a:rPr>
              <a:t>一座先进水效率的 100 MW级 大型AI算力中心，每年现场冷却等环节消耗约2亿升水，近100个奥运泳池。</a:t>
            </a:r>
            <a:endParaRPr lang="zh-CN" altLang="en-US" sz="1150" b="0" i="0">
              <a:solidFill>
                <a:schemeClr val="tx1"/>
              </a:solidFill>
              <a:latin typeface="微软雅黑" panose="020B0503020204020204" pitchFamily="34" charset="-122"/>
              <a:ea typeface="微软雅黑" panose="020B0503020204020204" pitchFamily="34" charset="-122"/>
            </a:endParaRPr>
          </a:p>
          <a:p>
            <a:pPr algn="l">
              <a:lnSpc>
                <a:spcPct val="115000"/>
              </a:lnSpc>
              <a:spcBef>
                <a:spcPts val="400"/>
              </a:spcBef>
            </a:pPr>
            <a:r>
              <a:rPr lang="zh-CN" altLang="en-US" sz="1150" b="0" i="0">
                <a:solidFill>
                  <a:schemeClr val="tx1"/>
                </a:solidFill>
                <a:latin typeface="微软雅黑" panose="020B0503020204020204" pitchFamily="34" charset="-122"/>
                <a:ea typeface="微软雅黑" panose="020B0503020204020204" pitchFamily="34" charset="-122"/>
              </a:rPr>
              <a:t>8月，乌兰察布建成全球最大的AI算力中心，规划容量超2GW</a:t>
            </a:r>
            <a:endParaRPr lang="zh-CN" altLang="en-US" sz="1150" b="0" i="0">
              <a:solidFill>
                <a:schemeClr val="tx1"/>
              </a:solidFill>
              <a:latin typeface="微软雅黑" panose="020B0503020204020204" pitchFamily="34" charset="-122"/>
              <a:ea typeface="微软雅黑" panose="020B0503020204020204" pitchFamily="34" charset="-122"/>
            </a:endParaRPr>
          </a:p>
        </p:txBody>
      </p:sp>
      <p:sp>
        <p:nvSpPr>
          <p:cNvPr id="771" name="TextBox 51"/>
          <p:cNvSpPr txBox="1"/>
          <p:nvPr/>
        </p:nvSpPr>
        <p:spPr>
          <a:xfrm>
            <a:off x="1038225" y="2416175"/>
            <a:ext cx="4236720" cy="1103630"/>
          </a:xfrm>
          <a:prstGeom prst="rect">
            <a:avLst/>
          </a:prstGeom>
          <a:noFill/>
        </p:spPr>
        <p:txBody>
          <a:bodyPr wrap="square" lIns="27432" tIns="13716" rIns="27432" bIns="13716" anchor="t">
            <a:noAutofit/>
          </a:bodyPr>
          <a:lstStyle/>
          <a:p>
            <a:pPr algn="l">
              <a:lnSpc>
                <a:spcPct val="100000"/>
              </a:lnSpc>
            </a:pPr>
            <a:r>
              <a:rPr lang="en-US" altLang="zh-CN" sz="3600" b="1" i="0">
                <a:solidFill>
                  <a:srgbClr val="005375"/>
                </a:solidFill>
                <a:latin typeface="微软雅黑" panose="020B0503020204020204" pitchFamily="34" charset="-122"/>
                <a:ea typeface="微软雅黑" panose="020B0503020204020204" pitchFamily="34" charset="-122"/>
              </a:rPr>
              <a:t>AI</a:t>
            </a:r>
            <a:r>
              <a:rPr lang="zh-CN" altLang="en-US" sz="3600" b="1" i="0">
                <a:solidFill>
                  <a:srgbClr val="005375"/>
                </a:solidFill>
                <a:latin typeface="微软雅黑" panose="020B0503020204020204" pitchFamily="34" charset="-122"/>
                <a:ea typeface="微软雅黑" panose="020B0503020204020204" pitchFamily="34" charset="-122"/>
              </a:rPr>
              <a:t>基础设施资源消耗正大幅上升！</a:t>
            </a:r>
            <a:endParaRPr lang="zh-CN" altLang="en-US" sz="3600" b="1" i="0">
              <a:solidFill>
                <a:srgbClr val="005375"/>
              </a:solidFill>
              <a:latin typeface="微软雅黑" panose="020B0503020204020204" pitchFamily="34" charset="-122"/>
              <a:ea typeface="微软雅黑" panose="020B0503020204020204" pitchFamily="34" charset="-122"/>
            </a:endParaRPr>
          </a:p>
        </p:txBody>
      </p:sp>
      <p:sp>
        <p:nvSpPr>
          <p:cNvPr id="772" name="Rounded Rectangle 52"/>
          <p:cNvSpPr/>
          <p:nvPr/>
        </p:nvSpPr>
        <p:spPr>
          <a:xfrm>
            <a:off x="8980805" y="895985"/>
            <a:ext cx="2369185" cy="5340350"/>
          </a:xfrm>
          <a:prstGeom prst="roundRect">
            <a:avLst>
              <a:gd name="adj" fmla="val 2800"/>
            </a:avLst>
          </a:prstGeom>
          <a:solidFill>
            <a:srgbClr val="FFFFFF"/>
          </a:solidFill>
          <a:ln w="1524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73" name="TextBox 53"/>
          <p:cNvSpPr txBox="1"/>
          <p:nvPr/>
        </p:nvSpPr>
        <p:spPr>
          <a:xfrm>
            <a:off x="9192006" y="1005840"/>
            <a:ext cx="2048256" cy="365760"/>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环境影响</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74" name="Rectangle 54"/>
          <p:cNvSpPr/>
          <p:nvPr/>
        </p:nvSpPr>
        <p:spPr>
          <a:xfrm>
            <a:off x="9073515" y="1463040"/>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1</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75" name="TextBox 55"/>
          <p:cNvSpPr txBox="1"/>
          <p:nvPr/>
        </p:nvSpPr>
        <p:spPr>
          <a:xfrm>
            <a:off x="9384157" y="1444752"/>
            <a:ext cx="1783080" cy="49085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使用场景越复杂，电力与用水消耗越高</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776" name="TextBox 56"/>
          <p:cNvSpPr txBox="1"/>
          <p:nvPr/>
        </p:nvSpPr>
        <p:spPr>
          <a:xfrm>
            <a:off x="9192006" y="2011680"/>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从简单问答到多模态生成再到大规模训练，资源消耗呈指数级上升。</a:t>
            </a:r>
            <a:endParaRPr lang="zh-CN" altLang="en-US" sz="1150" b="0" i="0">
              <a:solidFill>
                <a:srgbClr val="5A6B76"/>
              </a:solidFill>
              <a:latin typeface="微软雅黑" panose="020B0503020204020204" pitchFamily="34" charset="-122"/>
              <a:ea typeface="微软雅黑" panose="020B0503020204020204" pitchFamily="34" charset="-122"/>
            </a:endParaRPr>
          </a:p>
        </p:txBody>
      </p:sp>
      <p:cxnSp>
        <p:nvCxnSpPr>
          <p:cNvPr id="777" name="Connector 57"/>
          <p:cNvCxnSpPr/>
          <p:nvPr/>
        </p:nvCxnSpPr>
        <p:spPr>
          <a:xfrm>
            <a:off x="9192006" y="2889503"/>
            <a:ext cx="2048256"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778" name="Rectangle 58"/>
          <p:cNvSpPr/>
          <p:nvPr/>
        </p:nvSpPr>
        <p:spPr>
          <a:xfrm>
            <a:off x="9073515" y="3035935"/>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2</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79" name="TextBox 59"/>
          <p:cNvSpPr txBox="1"/>
          <p:nvPr/>
        </p:nvSpPr>
        <p:spPr>
          <a:xfrm>
            <a:off x="9384157" y="3017520"/>
            <a:ext cx="1783080" cy="49085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训练与视频生成是高能耗环节</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780" name="TextBox 60"/>
          <p:cNvSpPr txBox="1"/>
          <p:nvPr/>
        </p:nvSpPr>
        <p:spPr>
          <a:xfrm>
            <a:off x="9192006" y="3584448"/>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大规模模型训练和高质量视频生成对电力与水资源的需求显著高于日常应用。</a:t>
            </a:r>
            <a:endParaRPr lang="zh-CN" altLang="en-US" sz="1150" b="0" i="0">
              <a:solidFill>
                <a:srgbClr val="5A6B76"/>
              </a:solidFill>
              <a:latin typeface="微软雅黑" panose="020B0503020204020204" pitchFamily="34" charset="-122"/>
              <a:ea typeface="微软雅黑" panose="020B0503020204020204" pitchFamily="34" charset="-122"/>
            </a:endParaRPr>
          </a:p>
        </p:txBody>
      </p:sp>
      <p:cxnSp>
        <p:nvCxnSpPr>
          <p:cNvPr id="781" name="Connector 61"/>
          <p:cNvCxnSpPr/>
          <p:nvPr/>
        </p:nvCxnSpPr>
        <p:spPr>
          <a:xfrm>
            <a:off x="9192006" y="4462272"/>
            <a:ext cx="2048256"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782" name="Rectangle 62"/>
          <p:cNvSpPr/>
          <p:nvPr/>
        </p:nvSpPr>
        <p:spPr>
          <a:xfrm>
            <a:off x="9073515" y="4608830"/>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3</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83" name="TextBox 63"/>
          <p:cNvSpPr txBox="1"/>
          <p:nvPr/>
        </p:nvSpPr>
        <p:spPr>
          <a:xfrm>
            <a:off x="9384030" y="4590415"/>
            <a:ext cx="1893570" cy="49085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大型算力中心持续带来冷却与基础设施压力</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784" name="TextBox 64"/>
          <p:cNvSpPr txBox="1"/>
          <p:nvPr/>
        </p:nvSpPr>
        <p:spPr>
          <a:xfrm>
            <a:off x="9192006" y="5157216"/>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超大规模算力中心需要持续的冷却用水和电力供应，对当地资源与环境带来长期影响。</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5" name=""/>
        <p:cNvGrpSpPr/>
        <p:nvPr/>
      </p:nvGrpSpPr>
      <p:grpSpPr>
        <a:xfrm>
          <a:off x="0" y="0"/>
          <a:ext cx="0" cy="0"/>
          <a:chOff x="0" y="0"/>
          <a:chExt cx="0" cy="0"/>
        </a:xfrm>
      </p:grpSpPr>
      <p:sp>
        <p:nvSpPr>
          <p:cNvPr id="786"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AI 算力扩张正在把计算需求转化为持续性城市负荷</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789" name="TextBox 5"/>
          <p:cNvSpPr txBox="1"/>
          <p:nvPr/>
        </p:nvSpPr>
        <p:spPr>
          <a:xfrm>
            <a:off x="395605" y="1780413"/>
            <a:ext cx="3657600" cy="491490"/>
          </a:xfrm>
          <a:prstGeom prst="rect">
            <a:avLst/>
          </a:prstGeom>
          <a:noFill/>
        </p:spPr>
        <p:txBody>
          <a:bodyPr wrap="square" lIns="27432" tIns="13716" rIns="27432" bIns="13716" anchor="t">
            <a:spAutoFit/>
          </a:bodyPr>
          <a:lstStyle/>
          <a:p>
            <a:pPr algn="l">
              <a:lnSpc>
                <a:spcPct val="108000"/>
              </a:lnSpc>
            </a:pPr>
            <a:r>
              <a:rPr lang="zh-CN" altLang="en-US" sz="2800" b="1" i="0">
                <a:solidFill>
                  <a:srgbClr val="005375"/>
                </a:solidFill>
                <a:latin typeface="微软雅黑" panose="020B0503020204020204" pitchFamily="34" charset="-122"/>
                <a:ea typeface="微软雅黑" panose="020B0503020204020204" pitchFamily="34" charset="-122"/>
              </a:rPr>
              <a:t>AI 数据中心特点：</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790" name="Rounded Rectangle 7"/>
          <p:cNvSpPr/>
          <p:nvPr/>
        </p:nvSpPr>
        <p:spPr>
          <a:xfrm>
            <a:off x="511937" y="116484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服务需求</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1" name="Right Arrow 8"/>
          <p:cNvSpPr/>
          <p:nvPr/>
        </p:nvSpPr>
        <p:spPr>
          <a:xfrm>
            <a:off x="1741805"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2" name="Rounded Rectangle 9"/>
          <p:cNvSpPr/>
          <p:nvPr/>
        </p:nvSpPr>
        <p:spPr>
          <a:xfrm>
            <a:off x="1883537"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IT容量</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3" name="Right Arrow 10"/>
          <p:cNvSpPr/>
          <p:nvPr/>
        </p:nvSpPr>
        <p:spPr>
          <a:xfrm>
            <a:off x="3113405"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4" name="Rounded Rectangle 11"/>
          <p:cNvSpPr/>
          <p:nvPr/>
        </p:nvSpPr>
        <p:spPr>
          <a:xfrm>
            <a:off x="3255137" y="116484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实际负载</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5" name="Right Arrow 12"/>
          <p:cNvSpPr/>
          <p:nvPr/>
        </p:nvSpPr>
        <p:spPr>
          <a:xfrm>
            <a:off x="4485005"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6" name="Rounded Rectangle 13"/>
          <p:cNvSpPr/>
          <p:nvPr/>
        </p:nvSpPr>
        <p:spPr>
          <a:xfrm>
            <a:off x="4626737"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IT功率</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7" name="Right Arrow 14"/>
          <p:cNvSpPr/>
          <p:nvPr/>
        </p:nvSpPr>
        <p:spPr>
          <a:xfrm>
            <a:off x="5856605"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8" name="Rounded Rectangle 15"/>
          <p:cNvSpPr/>
          <p:nvPr/>
        </p:nvSpPr>
        <p:spPr>
          <a:xfrm>
            <a:off x="5998337" y="116484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PUE 折算</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9" name="Right Arrow 16"/>
          <p:cNvSpPr/>
          <p:nvPr/>
        </p:nvSpPr>
        <p:spPr>
          <a:xfrm>
            <a:off x="7228205"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0" name="Rounded Rectangle 17"/>
          <p:cNvSpPr/>
          <p:nvPr/>
        </p:nvSpPr>
        <p:spPr>
          <a:xfrm>
            <a:off x="7369937"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供电</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1" name="Right Arrow 18"/>
          <p:cNvSpPr/>
          <p:nvPr/>
        </p:nvSpPr>
        <p:spPr>
          <a:xfrm>
            <a:off x="8599805"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2" name="Rounded Rectangle 19"/>
          <p:cNvSpPr/>
          <p:nvPr/>
        </p:nvSpPr>
        <p:spPr>
          <a:xfrm>
            <a:off x="8741537" y="116484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冷却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3" name="Right Arrow 20"/>
          <p:cNvSpPr/>
          <p:nvPr/>
        </p:nvSpPr>
        <p:spPr>
          <a:xfrm>
            <a:off x="9971405"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4" name="Rounded Rectangle 21"/>
          <p:cNvSpPr/>
          <p:nvPr/>
        </p:nvSpPr>
        <p:spPr>
          <a:xfrm>
            <a:off x="10113137"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补水与排水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5" name="Rounded Rectangle 22"/>
          <p:cNvSpPr/>
          <p:nvPr/>
        </p:nvSpPr>
        <p:spPr>
          <a:xfrm>
            <a:off x="484632"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06" name="Rectangle 23"/>
          <p:cNvSpPr/>
          <p:nvPr/>
        </p:nvSpPr>
        <p:spPr>
          <a:xfrm>
            <a:off x="649224"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2400" b="1" i="0">
                <a:solidFill>
                  <a:srgbClr val="FFFFFF"/>
                </a:solidFill>
                <a:latin typeface="微软雅黑" panose="020B0503020204020204" pitchFamily="34" charset="-122"/>
                <a:ea typeface="微软雅黑" panose="020B0503020204020204" pitchFamily="34" charset="-122"/>
              </a:rPr>
              <a:t>01</a:t>
            </a:r>
            <a:endParaRPr lang="zh-CN" altLang="en-US" sz="2400" b="1" i="0">
              <a:solidFill>
                <a:srgbClr val="FFFFFF"/>
              </a:solidFill>
              <a:latin typeface="微软雅黑" panose="020B0503020204020204" pitchFamily="34" charset="-122"/>
              <a:ea typeface="微软雅黑" panose="020B0503020204020204" pitchFamily="34" charset="-122"/>
            </a:endParaRPr>
          </a:p>
        </p:txBody>
      </p:sp>
      <p:sp>
        <p:nvSpPr>
          <p:cNvPr id="807" name="TextBox 24"/>
          <p:cNvSpPr txBox="1"/>
          <p:nvPr/>
        </p:nvSpPr>
        <p:spPr>
          <a:xfrm>
            <a:off x="1261872" y="2661158"/>
            <a:ext cx="274320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高热流密度与连续刚性</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08" name="TextBox 25"/>
          <p:cNvSpPr txBox="1"/>
          <p:nvPr/>
        </p:nvSpPr>
        <p:spPr>
          <a:xfrm>
            <a:off x="685800" y="3085973"/>
            <a:ext cx="3246120" cy="1965325"/>
          </a:xfrm>
          <a:prstGeom prst="rect">
            <a:avLst/>
          </a:prstGeom>
          <a:noFill/>
        </p:spPr>
        <p:txBody>
          <a:bodyPr wrap="square" lIns="27432" tIns="13716" rIns="27432" bIns="13716" anchor="t">
            <a:spAutoFit/>
          </a:bodyPr>
          <a:lstStyle/>
          <a:p>
            <a:pPr indent="457200" algn="l">
              <a:lnSpc>
                <a:spcPct val="150000"/>
              </a:lnSpc>
            </a:pPr>
            <a:r>
              <a:rPr lang="en-US" altLang="zh-CN" sz="1400" b="0" i="0">
                <a:solidFill>
                  <a:srgbClr val="1F2A33"/>
                </a:solidFill>
                <a:latin typeface="微软雅黑" panose="020B0503020204020204" pitchFamily="34" charset="-122"/>
                <a:ea typeface="微软雅黑" panose="020B0503020204020204" pitchFamily="34" charset="-122"/>
              </a:rPr>
              <a:t>AI </a:t>
            </a:r>
            <a:r>
              <a:rPr lang="zh-CN" altLang="en-US" sz="1400" b="0" i="0">
                <a:solidFill>
                  <a:srgbClr val="1F2A33"/>
                </a:solidFill>
                <a:latin typeface="微软雅黑" panose="020B0503020204020204" pitchFamily="34" charset="-122"/>
                <a:ea typeface="微软雅黑" panose="020B0503020204020204" pitchFamily="34" charset="-122"/>
              </a:rPr>
              <a:t>训练与推理带来单机柜功率密度成倍跃升（从传统 5-8 </a:t>
            </a:r>
            <a:r>
              <a:rPr lang="en-US" altLang="zh-CN" sz="1400" b="0" i="0">
                <a:solidFill>
                  <a:srgbClr val="1F2A33"/>
                </a:solidFill>
                <a:latin typeface="微软雅黑" panose="020B0503020204020204" pitchFamily="34" charset="-122"/>
                <a:ea typeface="微软雅黑" panose="020B0503020204020204" pitchFamily="34" charset="-122"/>
              </a:rPr>
              <a:t>kW </a:t>
            </a:r>
            <a:r>
              <a:rPr lang="zh-CN" altLang="en-US" sz="1400" b="0" i="0">
                <a:solidFill>
                  <a:srgbClr val="1F2A33"/>
                </a:solidFill>
                <a:latin typeface="微软雅黑" panose="020B0503020204020204" pitchFamily="34" charset="-122"/>
                <a:ea typeface="微软雅黑" panose="020B0503020204020204" pitchFamily="34" charset="-122"/>
              </a:rPr>
              <a:t>飙升至数十甚至上百 </a:t>
            </a:r>
            <a:r>
              <a:rPr lang="en-US" altLang="zh-CN" sz="1400" b="0" i="0">
                <a:solidFill>
                  <a:srgbClr val="1F2A33"/>
                </a:solidFill>
                <a:latin typeface="微软雅黑" panose="020B0503020204020204" pitchFamily="34" charset="-122"/>
                <a:ea typeface="微软雅黑" panose="020B0503020204020204" pitchFamily="34" charset="-122"/>
              </a:rPr>
              <a:t>kW）。</a:t>
            </a:r>
            <a:endParaRPr lang="en-US" altLang="zh-CN" sz="1400" b="0" i="0">
              <a:solidFill>
                <a:srgbClr val="1F2A33"/>
              </a:solidFill>
              <a:latin typeface="微软雅黑" panose="020B0503020204020204" pitchFamily="34" charset="-122"/>
              <a:ea typeface="微软雅黑" panose="020B0503020204020204" pitchFamily="34" charset="-122"/>
            </a:endParaRPr>
          </a:p>
          <a:p>
            <a:pPr indent="457200" algn="l">
              <a:lnSpc>
                <a:spcPct val="150000"/>
              </a:lnSpc>
            </a:pPr>
            <a:r>
              <a:rPr lang="zh-CN" altLang="en-US" sz="1400" b="0" i="0">
                <a:solidFill>
                  <a:srgbClr val="1F2A33"/>
                </a:solidFill>
                <a:latin typeface="微软雅黑" panose="020B0503020204020204" pitchFamily="34" charset="-122"/>
                <a:ea typeface="微软雅黑" panose="020B0503020204020204" pitchFamily="34" charset="-122"/>
              </a:rPr>
              <a:t>全年高负荷连续运行，冷却散热对水资源的依赖从“辅助设施”变成“刚性生命线”。</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09" name="Rounded Rectangle 26"/>
          <p:cNvSpPr/>
          <p:nvPr/>
        </p:nvSpPr>
        <p:spPr>
          <a:xfrm>
            <a:off x="4274820"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10" name="Rectangle 27"/>
          <p:cNvSpPr/>
          <p:nvPr/>
        </p:nvSpPr>
        <p:spPr>
          <a:xfrm>
            <a:off x="4439412"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2400" b="1" i="0">
                <a:solidFill>
                  <a:srgbClr val="FFFFFF"/>
                </a:solidFill>
                <a:latin typeface="微软雅黑" panose="020B0503020204020204" pitchFamily="34" charset="-122"/>
                <a:ea typeface="微软雅黑" panose="020B0503020204020204" pitchFamily="34" charset="-122"/>
              </a:rPr>
              <a:t>02</a:t>
            </a:r>
            <a:endParaRPr lang="zh-CN" altLang="en-US" sz="2400" b="1" i="0">
              <a:solidFill>
                <a:srgbClr val="FFFFFF"/>
              </a:solidFill>
              <a:latin typeface="微软雅黑" panose="020B0503020204020204" pitchFamily="34" charset="-122"/>
              <a:ea typeface="微软雅黑" panose="020B0503020204020204" pitchFamily="34" charset="-122"/>
            </a:endParaRPr>
          </a:p>
        </p:txBody>
      </p:sp>
      <p:sp>
        <p:nvSpPr>
          <p:cNvPr id="811" name="TextBox 28"/>
          <p:cNvSpPr txBox="1"/>
          <p:nvPr/>
        </p:nvSpPr>
        <p:spPr>
          <a:xfrm>
            <a:off x="5052059" y="2661158"/>
            <a:ext cx="274320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强气象敏感性与季节尖峰冲击</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12" name="TextBox 29"/>
          <p:cNvSpPr txBox="1"/>
          <p:nvPr/>
        </p:nvSpPr>
        <p:spPr>
          <a:xfrm>
            <a:off x="4475988" y="3085973"/>
            <a:ext cx="3246120" cy="1318895"/>
          </a:xfrm>
          <a:prstGeom prst="rect">
            <a:avLst/>
          </a:prstGeom>
          <a:noFill/>
        </p:spPr>
        <p:txBody>
          <a:bodyPr wrap="square" lIns="27432" tIns="13716" rIns="27432" bIns="13716" anchor="t">
            <a:spAutoFit/>
          </a:bodyPr>
          <a:lstStyle/>
          <a:p>
            <a:pPr indent="457200" algn="l">
              <a:lnSpc>
                <a:spcPct val="150000"/>
              </a:lnSpc>
            </a:pPr>
            <a:r>
              <a:rPr lang="zh-CN" altLang="en-US" sz="1400" b="0" i="0">
                <a:solidFill>
                  <a:srgbClr val="1F2A33"/>
                </a:solidFill>
                <a:latin typeface="微软雅黑" panose="020B0503020204020204" pitchFamily="34" charset="-122"/>
                <a:ea typeface="微软雅黑" panose="020B0503020204020204" pitchFamily="34" charset="-122"/>
              </a:rPr>
              <a:t>夏季高温时冷却补水出现极端尖峰，恰好与城市居民生活用水高峰、受纳水体环境容量收紧期“撞车”，年均总量无法反映瞬态承载风险</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13" name="Rounded Rectangle 30"/>
          <p:cNvSpPr/>
          <p:nvPr/>
        </p:nvSpPr>
        <p:spPr>
          <a:xfrm>
            <a:off x="8065008"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14" name="Rectangle 31"/>
          <p:cNvSpPr/>
          <p:nvPr/>
        </p:nvSpPr>
        <p:spPr>
          <a:xfrm>
            <a:off x="8229600"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2400" b="1" i="0">
                <a:solidFill>
                  <a:srgbClr val="FFFFFF"/>
                </a:solidFill>
                <a:latin typeface="微软雅黑" panose="020B0503020204020204" pitchFamily="34" charset="-122"/>
                <a:ea typeface="微软雅黑" panose="020B0503020204020204" pitchFamily="34" charset="-122"/>
              </a:rPr>
              <a:t>03</a:t>
            </a:r>
            <a:endParaRPr lang="zh-CN" altLang="en-US" sz="2400" b="1" i="0">
              <a:solidFill>
                <a:srgbClr val="FFFFFF"/>
              </a:solidFill>
              <a:latin typeface="微软雅黑" panose="020B0503020204020204" pitchFamily="34" charset="-122"/>
              <a:ea typeface="微软雅黑" panose="020B0503020204020204" pitchFamily="34" charset="-122"/>
            </a:endParaRPr>
          </a:p>
        </p:txBody>
      </p:sp>
      <p:sp>
        <p:nvSpPr>
          <p:cNvPr id="815" name="TextBox 32"/>
          <p:cNvSpPr txBox="1"/>
          <p:nvPr/>
        </p:nvSpPr>
        <p:spPr>
          <a:xfrm>
            <a:off x="8842248" y="2661158"/>
            <a:ext cx="274320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cs typeface="微软雅黑" panose="020B0503020204020204" pitchFamily="34" charset="-122"/>
              </a:rPr>
              <a:t>以“蒸发相变消耗”为主</a:t>
            </a:r>
            <a:endParaRPr lang="zh-CN" altLang="en-US" sz="1600" b="1" i="0">
              <a:solidFill>
                <a:srgbClr val="1F2A3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16" name="TextBox 33"/>
          <p:cNvSpPr txBox="1"/>
          <p:nvPr/>
        </p:nvSpPr>
        <p:spPr>
          <a:xfrm>
            <a:off x="8256651" y="3037078"/>
            <a:ext cx="3246120" cy="1965325"/>
          </a:xfrm>
          <a:prstGeom prst="rect">
            <a:avLst/>
          </a:prstGeom>
          <a:noFill/>
        </p:spPr>
        <p:txBody>
          <a:bodyPr wrap="square" lIns="27432" tIns="13716" rIns="27432" bIns="13716" anchor="t">
            <a:spAutoFit/>
          </a:bodyPr>
          <a:lstStyle/>
          <a:p>
            <a:pPr algn="l">
              <a:lnSpc>
                <a:spcPct val="150000"/>
              </a:lnSpc>
            </a:pPr>
            <a:r>
              <a:rPr lang="en-US" altLang="zh-CN" sz="1400" b="0" i="0">
                <a:solidFill>
                  <a:srgbClr val="1F2A33"/>
                </a:solidFill>
                <a:latin typeface="微软雅黑" panose="020B0503020204020204" pitchFamily="34" charset="-122"/>
                <a:ea typeface="微软雅黑" panose="020B0503020204020204" pitchFamily="34" charset="-122"/>
              </a:rPr>
              <a:t>       </a:t>
            </a:r>
            <a:r>
              <a:rPr lang="zh-CN" altLang="en-US" sz="1400" b="0" i="0">
                <a:solidFill>
                  <a:srgbClr val="1F2A33"/>
                </a:solidFill>
                <a:latin typeface="微软雅黑" panose="020B0503020204020204" pitchFamily="34" charset="-122"/>
                <a:ea typeface="微软雅黑" panose="020B0503020204020204" pitchFamily="34" charset="-122"/>
              </a:rPr>
              <a:t>传统工业多是“取水—洗涤/反应—达标排放”，水主要还在流域里；</a:t>
            </a:r>
            <a:r>
              <a:rPr lang="en-US" altLang="zh-CN" sz="1400" b="0" i="0">
                <a:solidFill>
                  <a:srgbClr val="1F2A33"/>
                </a:solidFill>
                <a:latin typeface="微软雅黑" panose="020B0503020204020204" pitchFamily="34" charset="-122"/>
                <a:ea typeface="微软雅黑" panose="020B0503020204020204" pitchFamily="34" charset="-122"/>
              </a:rPr>
              <a:t>AI </a:t>
            </a:r>
            <a:r>
              <a:rPr lang="zh-CN" altLang="en-US" sz="1400" b="0" i="0">
                <a:solidFill>
                  <a:srgbClr val="1F2A33"/>
                </a:solidFill>
                <a:latin typeface="微软雅黑" panose="020B0503020204020204" pitchFamily="34" charset="-122"/>
                <a:ea typeface="微软雅黑" panose="020B0503020204020204" pitchFamily="34" charset="-122"/>
              </a:rPr>
              <a:t>湿冷/喷淋主要依赖水分蒸发带走潜热，水被直接“消耗”到大气中，且排污水浓缩倍数高（高含盐量、高水温），对污水厂与受纳水体产生双重冲击。</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17" name="Rectangle 34"/>
          <p:cNvSpPr/>
          <p:nvPr/>
        </p:nvSpPr>
        <p:spPr>
          <a:xfrm>
            <a:off x="484505" y="5486400"/>
            <a:ext cx="11219815" cy="71437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en-US" altLang="zh-CN" sz="1600" b="1" i="0">
                <a:solidFill>
                  <a:srgbClr val="FFFFFF"/>
                </a:solidFill>
                <a:latin typeface="微软雅黑" panose="020B0503020204020204" pitchFamily="34" charset="-122"/>
                <a:ea typeface="微软雅黑" panose="020B0503020204020204" pitchFamily="34" charset="-122"/>
              </a:rPr>
              <a:t>AI </a:t>
            </a:r>
            <a:r>
              <a:rPr lang="zh-CN" altLang="en-US" sz="1600" b="1" i="0">
                <a:solidFill>
                  <a:srgbClr val="FFFFFF"/>
                </a:solidFill>
                <a:latin typeface="微软雅黑" panose="020B0503020204020204" pitchFamily="34" charset="-122"/>
                <a:ea typeface="微软雅黑" panose="020B0503020204020204" pitchFamily="34" charset="-122"/>
              </a:rPr>
              <a:t>数据中心不仅是 </a:t>
            </a:r>
            <a:r>
              <a:rPr lang="en-US" altLang="zh-CN" sz="1600" b="1" i="0">
                <a:solidFill>
                  <a:srgbClr val="FFFFFF"/>
                </a:solidFill>
                <a:latin typeface="微软雅黑" panose="020B0503020204020204" pitchFamily="34" charset="-122"/>
                <a:ea typeface="微软雅黑" panose="020B0503020204020204" pitchFamily="34" charset="-122"/>
              </a:rPr>
              <a:t>IT </a:t>
            </a:r>
            <a:r>
              <a:rPr lang="zh-CN" altLang="en-US" sz="1600" b="1" i="0">
                <a:solidFill>
                  <a:srgbClr val="FFFFFF"/>
                </a:solidFill>
                <a:latin typeface="微软雅黑" panose="020B0503020204020204" pitchFamily="34" charset="-122"/>
                <a:ea typeface="微软雅黑" panose="020B0503020204020204" pitchFamily="34" charset="-122"/>
              </a:rPr>
              <a:t>节点，更是“高耗水强度、高蒸发损失、强气象敏感”的城市人工水系统新型脉冲节点——传统静态、年总量的规划方法已无法适用。</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18" name=""/>
        <p:cNvGrpSpPr/>
        <p:nvPr/>
      </p:nvGrpSpPr>
      <p:grpSpPr>
        <a:xfrm>
          <a:off x="0" y="0"/>
          <a:ext cx="0" cy="0"/>
          <a:chOff x="0" y="0"/>
          <a:chExt cx="0" cy="0"/>
        </a:xfrm>
      </p:grpSpPr>
      <p:sp>
        <p:nvSpPr>
          <p:cNvPr id="81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相同年用水量可能对应完全不同的城市系统压力</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822" name="Rounded Rectangle 5"/>
          <p:cNvSpPr/>
          <p:nvPr/>
        </p:nvSpPr>
        <p:spPr>
          <a:xfrm>
            <a:off x="484632" y="1115568"/>
            <a:ext cx="5504688"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3" name="Rectangle 6"/>
          <p:cNvSpPr/>
          <p:nvPr/>
        </p:nvSpPr>
        <p:spPr>
          <a:xfrm>
            <a:off x="502920" y="1133856"/>
            <a:ext cx="5468112"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情景 A：本地淡水为主，夏季高温时段湿式冷却集中取水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24" name="Rounded Rectangle 7"/>
          <p:cNvSpPr/>
          <p:nvPr/>
        </p:nvSpPr>
        <p:spPr>
          <a:xfrm>
            <a:off x="621792" y="1737360"/>
            <a:ext cx="5230368" cy="713232"/>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夏季补水量与情景 B 相同，但取水量集中在峰值日内且早于灰水分流，造成局部压力外高与水温升高叠加。</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25" name="Rounded Rectangle 8"/>
          <p:cNvSpPr/>
          <p:nvPr/>
        </p:nvSpPr>
        <p:spPr>
          <a:xfrm>
            <a:off x="621792"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6" name="TextBox 9"/>
          <p:cNvSpPr txBox="1"/>
          <p:nvPr/>
        </p:nvSpPr>
        <p:spPr>
          <a:xfrm>
            <a:off x="621792"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水消耗结构约束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27" name="Rounded Rectangle 10"/>
          <p:cNvSpPr/>
          <p:nvPr/>
        </p:nvSpPr>
        <p:spPr>
          <a:xfrm>
            <a:off x="3310128"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8" name="TextBox 11"/>
          <p:cNvSpPr txBox="1"/>
          <p:nvPr/>
        </p:nvSpPr>
        <p:spPr>
          <a:xfrm>
            <a:off x="3310128"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排水结构约束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30" name="Rounded Rectangle 13"/>
          <p:cNvSpPr/>
          <p:nvPr/>
        </p:nvSpPr>
        <p:spPr>
          <a:xfrm>
            <a:off x="621665" y="4967605"/>
            <a:ext cx="5230495" cy="516255"/>
          </a:xfrm>
          <a:prstGeom prst="roundRect">
            <a:avLst>
              <a:gd name="adj" fmla="val 100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200" b="0" i="0">
                <a:solidFill>
                  <a:srgbClr val="1F2A33"/>
                </a:solidFill>
                <a:latin typeface="微软雅黑" panose="020B0503020204020204" pitchFamily="34" charset="-122"/>
                <a:ea typeface="微软雅黑" panose="020B0503020204020204" pitchFamily="34" charset="-122"/>
              </a:rPr>
              <a:t>夏季尖峰在 7 月，对应湿冷供水与受纳水体纳污压力峰值同步出现。</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831" name="Rounded Rectangle 14"/>
          <p:cNvSpPr/>
          <p:nvPr/>
        </p:nvSpPr>
        <p:spPr>
          <a:xfrm>
            <a:off x="6199632" y="1115568"/>
            <a:ext cx="5504688"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2" name="Rectangle 15"/>
          <p:cNvSpPr/>
          <p:nvPr/>
        </p:nvSpPr>
        <p:spPr>
          <a:xfrm>
            <a:off x="6217920" y="1133856"/>
            <a:ext cx="5468112"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情景 B：再生水为主，排水调节与干湿混合排热调蓄</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33" name="Rounded Rectangle 16"/>
          <p:cNvSpPr/>
          <p:nvPr/>
        </p:nvSpPr>
        <p:spPr>
          <a:xfrm>
            <a:off x="6336792" y="1737360"/>
            <a:ext cx="5230368" cy="713232"/>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年补水量与情景 A 相同，但以再生水为主并配合蓄冷/蓄水储调，压转移到再生水处理强度与水价机制。</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34" name="Rounded Rectangle 17"/>
          <p:cNvSpPr/>
          <p:nvPr/>
        </p:nvSpPr>
        <p:spPr>
          <a:xfrm>
            <a:off x="6336792"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5" name="TextBox 18"/>
          <p:cNvSpPr txBox="1"/>
          <p:nvPr/>
        </p:nvSpPr>
        <p:spPr>
          <a:xfrm>
            <a:off x="6336792"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再生水处理约束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36" name="Rounded Rectangle 19"/>
          <p:cNvSpPr/>
          <p:nvPr/>
        </p:nvSpPr>
        <p:spPr>
          <a:xfrm>
            <a:off x="9025128"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7" name="TextBox 20"/>
          <p:cNvSpPr txBox="1"/>
          <p:nvPr/>
        </p:nvSpPr>
        <p:spPr>
          <a:xfrm>
            <a:off x="9025128"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储蓄能力约束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39" name="Rounded Rectangle 22"/>
          <p:cNvSpPr/>
          <p:nvPr/>
        </p:nvSpPr>
        <p:spPr>
          <a:xfrm>
            <a:off x="6336665" y="4967605"/>
            <a:ext cx="5230495" cy="516255"/>
          </a:xfrm>
          <a:prstGeom prst="roundRect">
            <a:avLst>
              <a:gd name="adj" fmla="val 100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200" b="0" i="0">
                <a:solidFill>
                  <a:srgbClr val="1F2A33"/>
                </a:solidFill>
                <a:latin typeface="微软雅黑" panose="020B0503020204020204" pitchFamily="34" charset="-122"/>
                <a:ea typeface="微软雅黑" panose="020B0503020204020204" pitchFamily="34" charset="-122"/>
              </a:rPr>
              <a:t>补水平坦 → 处理负荷均匀分摊 → 受纳水体年内冲刷压力下降。</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840" name="Rectangle 23"/>
          <p:cNvSpPr/>
          <p:nvPr/>
        </p:nvSpPr>
        <p:spPr>
          <a:xfrm>
            <a:off x="484632" y="5806440"/>
            <a:ext cx="11219688" cy="5029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FFFFFF"/>
                </a:solidFill>
                <a:latin typeface="微软雅黑" panose="020B0503020204020204" pitchFamily="34" charset="-122"/>
                <a:ea typeface="微软雅黑" panose="020B0503020204020204" pitchFamily="34" charset="-122"/>
              </a:rPr>
              <a:t>本研究问题完整路径：从同处出发，峰值、时序不同；多步消耗、多步回流。</a:t>
            </a:r>
            <a:r>
              <a:rPr lang="zh-CN" altLang="en-US" sz="1600" b="1">
                <a:solidFill>
                  <a:srgbClr val="FFFFFF"/>
                </a:solidFill>
                <a:latin typeface="微软雅黑" panose="020B0503020204020204" pitchFamily="34" charset="-122"/>
                <a:ea typeface="微软雅黑" panose="020B0503020204020204" pitchFamily="34" charset="-122"/>
                <a:sym typeface="+mn-ea"/>
              </a:rPr>
              <a:t>总量相同，时序与路径差异同样需要看见</a:t>
            </a:r>
            <a:endParaRPr lang="zh-CN" altLang="en-US" sz="1600" b="1" i="0">
              <a:solidFill>
                <a:srgbClr val="FFFFFF"/>
              </a:solidFill>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702945" y="2907665"/>
            <a:ext cx="5068570" cy="2026920"/>
          </a:xfrm>
          <a:prstGeom prst="rect">
            <a:avLst/>
          </a:prstGeom>
        </p:spPr>
      </p:pic>
      <p:pic>
        <p:nvPicPr>
          <p:cNvPr id="2" name="图片 1"/>
          <p:cNvPicPr>
            <a:picLocks noChangeAspect="1"/>
          </p:cNvPicPr>
          <p:nvPr/>
        </p:nvPicPr>
        <p:blipFill>
          <a:blip r:embed="rId2"/>
          <a:stretch>
            <a:fillRect/>
          </a:stretch>
        </p:blipFill>
        <p:spPr>
          <a:xfrm>
            <a:off x="6417945" y="2907665"/>
            <a:ext cx="5067300" cy="2026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41" name=""/>
        <p:cNvGrpSpPr/>
        <p:nvPr/>
      </p:nvGrpSpPr>
      <p:grpSpPr>
        <a:xfrm>
          <a:off x="0" y="0"/>
          <a:ext cx="0" cy="0"/>
          <a:chOff x="0" y="0"/>
          <a:chExt cx="0" cy="0"/>
        </a:xfrm>
      </p:grpSpPr>
      <p:sp>
        <p:nvSpPr>
          <p:cNvPr id="842"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研究对象落在城市人工水系统的全过程网络上</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845" name="Rounded Rectangle 4"/>
          <p:cNvSpPr/>
          <p:nvPr/>
        </p:nvSpPr>
        <p:spPr>
          <a:xfrm>
            <a:off x="484632" y="914400"/>
            <a:ext cx="6035040" cy="495604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46" name="Rectangle 5"/>
          <p:cNvSpPr/>
          <p:nvPr/>
        </p:nvSpPr>
        <p:spPr>
          <a:xfrm>
            <a:off x="502920" y="932688"/>
            <a:ext cx="5998464"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研究对象与系统边界</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847" name="Rounded Rectangle 6"/>
          <p:cNvSpPr/>
          <p:nvPr/>
        </p:nvSpPr>
        <p:spPr>
          <a:xfrm>
            <a:off x="640080" y="1767713"/>
            <a:ext cx="1417320" cy="60350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研究对象</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48" name="TextBox 7"/>
          <p:cNvSpPr txBox="1"/>
          <p:nvPr/>
        </p:nvSpPr>
        <p:spPr>
          <a:xfrm>
            <a:off x="2103120" y="1802448"/>
            <a:ext cx="4297680" cy="534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研究对象不是“数据中心用了多少水“，而是 AI 节点接入后的整个城市水系统如何响应。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49" name="Rounded Rectangle 8"/>
          <p:cNvSpPr/>
          <p:nvPr/>
        </p:nvSpPr>
        <p:spPr>
          <a:xfrm>
            <a:off x="640080" y="2669540"/>
            <a:ext cx="1417320" cy="75895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核心系统边界</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50" name="Rounded Rectangle 9"/>
          <p:cNvSpPr/>
          <p:nvPr/>
        </p:nvSpPr>
        <p:spPr>
          <a:xfrm>
            <a:off x="2103120" y="2724404"/>
            <a:ext cx="822960" cy="566928"/>
          </a:xfrm>
          <a:prstGeom prst="roundRect">
            <a:avLst>
              <a:gd name="adj" fmla="val 10000"/>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供水</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1" name="Right Arrow 10"/>
          <p:cNvSpPr/>
          <p:nvPr/>
        </p:nvSpPr>
        <p:spPr>
          <a:xfrm>
            <a:off x="2734310" y="2952750"/>
            <a:ext cx="328930" cy="109855"/>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2" name="Rounded Rectangle 11"/>
          <p:cNvSpPr/>
          <p:nvPr/>
        </p:nvSpPr>
        <p:spPr>
          <a:xfrm>
            <a:off x="3090672" y="2724404"/>
            <a:ext cx="822960" cy="566928"/>
          </a:xfrm>
          <a:prstGeom prst="roundRect">
            <a:avLst>
              <a:gd name="adj" fmla="val 10000"/>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用户 / AI</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3" name="Right Arrow 12"/>
          <p:cNvSpPr/>
          <p:nvPr/>
        </p:nvSpPr>
        <p:spPr>
          <a:xfrm>
            <a:off x="3940810" y="2952750"/>
            <a:ext cx="328930" cy="109855"/>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4" name="Rounded Rectangle 13"/>
          <p:cNvSpPr/>
          <p:nvPr/>
        </p:nvSpPr>
        <p:spPr>
          <a:xfrm>
            <a:off x="4078224" y="2724404"/>
            <a:ext cx="822960" cy="566928"/>
          </a:xfrm>
          <a:prstGeom prst="roundRect">
            <a:avLst>
              <a:gd name="adj" fmla="val 10000"/>
            </a:avLst>
          </a:prstGeom>
          <a:noFill/>
          <a:ln w="12700">
            <a:noFill/>
          </a:ln>
          <a:effectLst/>
          <a:extLst>
            <a:ext uri="{909E8E84-426E-40DD-AFC4-6F175D3DCCD1}">
              <a14:hiddenFill xmlns:a14="http://schemas.microsoft.com/office/drawing/2010/main">
                <a:solidFill>
                  <a:srgbClr val="FFFFFF"/>
                </a:solidFill>
              </a14:hiddenFill>
            </a:ext>
          </a:ex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污水</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5" name="Right Arrow 14"/>
          <p:cNvSpPr/>
          <p:nvPr/>
        </p:nvSpPr>
        <p:spPr>
          <a:xfrm>
            <a:off x="4785995" y="2952750"/>
            <a:ext cx="328930" cy="109855"/>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6" name="Rounded Rectangle 15"/>
          <p:cNvSpPr/>
          <p:nvPr/>
        </p:nvSpPr>
        <p:spPr>
          <a:xfrm>
            <a:off x="5065776" y="2724404"/>
            <a:ext cx="1408176" cy="566928"/>
          </a:xfrm>
          <a:prstGeom prst="roundRect">
            <a:avLst>
              <a:gd name="adj" fmla="val 10000"/>
            </a:avLst>
          </a:prstGeom>
          <a:noFill/>
          <a:ln w="12700">
            <a:noFill/>
          </a:ln>
          <a:effectLst/>
          <a:extLst>
            <a:ext uri="{909E8E84-426E-40DD-AFC4-6F175D3DCCD1}">
              <a14:hiddenFill xmlns:a14="http://schemas.microsoft.com/office/drawing/2010/main">
                <a:solidFill>
                  <a:srgbClr val="FFFFFF"/>
                </a:solidFill>
              </a14:hiddenFill>
            </a:ext>
          </a:ex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再生回用 / 排放</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7" name="Rounded Rectangle 16"/>
          <p:cNvSpPr/>
          <p:nvPr/>
        </p:nvSpPr>
        <p:spPr>
          <a:xfrm>
            <a:off x="640080" y="3797300"/>
            <a:ext cx="1417320" cy="43891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外延系统</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58" name="TextBox 17"/>
          <p:cNvSpPr txBox="1"/>
          <p:nvPr/>
        </p:nvSpPr>
        <p:spPr>
          <a:xfrm>
            <a:off x="2103120" y="3749739"/>
            <a:ext cx="4297680" cy="534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给水管网、再生水厂、用户、AI 数据中心、污水厂、再生水与污水等。</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59" name="Rounded Rectangle 18"/>
          <p:cNvSpPr/>
          <p:nvPr/>
        </p:nvSpPr>
        <p:spPr>
          <a:xfrm>
            <a:off x="640080" y="4662805"/>
            <a:ext cx="1417320" cy="43891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约束因素</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60" name="TextBox 19"/>
          <p:cNvSpPr txBox="1"/>
          <p:nvPr/>
        </p:nvSpPr>
        <p:spPr>
          <a:xfrm>
            <a:off x="2103120" y="4742244"/>
            <a:ext cx="4297680" cy="280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特殊气候、供水余量、潜在水回用量等额输入。</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63" name="Rounded Rectangle 22"/>
          <p:cNvSpPr/>
          <p:nvPr/>
        </p:nvSpPr>
        <p:spPr>
          <a:xfrm>
            <a:off x="6675120" y="914400"/>
            <a:ext cx="5029200" cy="495604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64" name="Rectangle 23"/>
          <p:cNvSpPr/>
          <p:nvPr/>
        </p:nvSpPr>
        <p:spPr>
          <a:xfrm>
            <a:off x="6693408" y="932688"/>
            <a:ext cx="4992624"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研究目的与意义</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865" name="TextBox 24"/>
          <p:cNvSpPr txBox="1"/>
          <p:nvPr/>
        </p:nvSpPr>
        <p:spPr>
          <a:xfrm>
            <a:off x="6903720" y="1517904"/>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研究目的</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66" name="TextBox 25"/>
          <p:cNvSpPr txBox="1"/>
          <p:nvPr/>
        </p:nvSpPr>
        <p:spPr>
          <a:xfrm>
            <a:off x="6903720" y="1828800"/>
            <a:ext cx="461772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回答城市人工水系统对 AI 节点接入的代谢响应与条件化承载边界。</a:t>
            </a:r>
            <a:endParaRPr lang="zh-CN" altLang="en-US" sz="1400" b="0" i="0">
              <a:solidFill>
                <a:srgbClr val="1F2A33"/>
              </a:solidFill>
              <a:latin typeface="微软雅黑" panose="020B0503020204020204" pitchFamily="34" charset="-122"/>
              <a:ea typeface="微软雅黑" panose="020B0503020204020204" pitchFamily="34" charset="-122"/>
            </a:endParaRPr>
          </a:p>
        </p:txBody>
      </p:sp>
      <p:cxnSp>
        <p:nvCxnSpPr>
          <p:cNvPr id="867" name="Connector 26"/>
          <p:cNvCxnSpPr/>
          <p:nvPr/>
        </p:nvCxnSpPr>
        <p:spPr>
          <a:xfrm>
            <a:off x="6903720" y="2432303"/>
            <a:ext cx="457200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868" name="TextBox 27"/>
          <p:cNvSpPr txBox="1"/>
          <p:nvPr/>
        </p:nvSpPr>
        <p:spPr>
          <a:xfrm>
            <a:off x="6903720" y="2487168"/>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研究意义</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69" name="TextBox 28"/>
          <p:cNvSpPr txBox="1"/>
          <p:nvPr/>
        </p:nvSpPr>
        <p:spPr>
          <a:xfrm>
            <a:off x="6903720" y="2798063"/>
            <a:ext cx="4617720" cy="107569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1) 算力节点视作城市物理负荷： 让 算力—水 账目真正打通；</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2) 为规划与运行提供承载边界判定；</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3) 补充面向 AI 节点链的水系统计量学。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70" name="TextBox 29"/>
          <p:cNvSpPr txBox="1"/>
          <p:nvPr/>
        </p:nvSpPr>
        <p:spPr>
          <a:xfrm>
            <a:off x="6903720" y="3957065"/>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切入贡献</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71" name="TextBox 30"/>
          <p:cNvSpPr txBox="1"/>
          <p:nvPr/>
        </p:nvSpPr>
        <p:spPr>
          <a:xfrm>
            <a:off x="6903720" y="4267961"/>
            <a:ext cx="4617720" cy="813435"/>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构建 CAWCC 指标；建立 AI 节点接入后的城市水代谢模型；</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提出条件化承载边界与主导瓶颈。</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72" name="Rectangle 31"/>
          <p:cNvSpPr/>
          <p:nvPr/>
        </p:nvSpPr>
        <p:spPr>
          <a:xfrm>
            <a:off x="484632" y="6016752"/>
            <a:ext cx="11219688" cy="5029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FFFFFF"/>
                </a:solidFill>
                <a:latin typeface="微软雅黑" panose="020B0503020204020204" pitchFamily="34" charset="-122"/>
                <a:ea typeface="微软雅黑" panose="020B0503020204020204" pitchFamily="34" charset="-122"/>
              </a:rPr>
              <a:t>研究对象 = AI 节点接入后的城市水代谢响应      核心输出 = CAWCC + 主导瓶颈</a:t>
            </a:r>
            <a:endParaRPr lang="zh-CN" altLang="en-US" sz="1600" b="1" i="0">
              <a:solidFill>
                <a:srgbClr val="FFFFFF"/>
              </a:solidFill>
              <a:latin typeface="微软雅黑" panose="020B0503020204020204" pitchFamily="34" charset="-122"/>
              <a:ea typeface="微软雅黑" panose="020B0503020204020204" pitchFamily="34" charset="-122"/>
            </a:endParaRPr>
          </a:p>
        </p:txBody>
      </p:sp>
      <p:cxnSp>
        <p:nvCxnSpPr>
          <p:cNvPr id="873" name="Connector 26"/>
          <p:cNvCxnSpPr/>
          <p:nvPr/>
        </p:nvCxnSpPr>
        <p:spPr>
          <a:xfrm>
            <a:off x="6903720" y="3942333"/>
            <a:ext cx="457200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74" name=""/>
        <p:cNvGrpSpPr/>
        <p:nvPr/>
      </p:nvGrpSpPr>
      <p:grpSpPr>
        <a:xfrm>
          <a:off x="0" y="0"/>
          <a:ext cx="0" cy="0"/>
          <a:chOff x="0" y="0"/>
          <a:chExt cx="0" cy="0"/>
        </a:xfrm>
      </p:grpSpPr>
      <p:sp>
        <p:nvSpPr>
          <p:cNvPr id="877"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02</a:t>
            </a:r>
            <a:endParaRPr lang="zh-CN" altLang="en-US" sz="9600" b="0" i="0">
              <a:solidFill>
                <a:srgbClr val="005375"/>
              </a:solidFill>
              <a:latin typeface="Arial Black" panose="020B0A04020102020204"/>
              <a:ea typeface="Arial Black" panose="020B0A04020102020204"/>
            </a:endParaRPr>
          </a:p>
        </p:txBody>
      </p:sp>
      <p:sp>
        <p:nvSpPr>
          <p:cNvPr id="878"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TWO</a:t>
            </a:r>
            <a:endParaRPr lang="zh-CN" altLang="en-US" sz="1300" b="0" i="0" spc="300">
              <a:solidFill>
                <a:srgbClr val="8CA3AF"/>
              </a:solidFill>
              <a:latin typeface="Arial" panose="020B0604020202020204"/>
              <a:ea typeface="Arial" panose="020B0604020202020204"/>
            </a:endParaRPr>
          </a:p>
        </p:txBody>
      </p:sp>
      <p:sp>
        <p:nvSpPr>
          <p:cNvPr id="879" name="TextBox 6"/>
          <p:cNvSpPr txBox="1"/>
          <p:nvPr/>
        </p:nvSpPr>
        <p:spPr>
          <a:xfrm>
            <a:off x="786384" y="283464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国内外研究现状与研究缺口</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880" name="TextBox 7"/>
          <p:cNvSpPr txBox="1"/>
          <p:nvPr/>
        </p:nvSpPr>
        <p:spPr>
          <a:xfrm>
            <a:off x="822960" y="4224528"/>
            <a:ext cx="4389120" cy="594360"/>
          </a:xfrm>
          <a:prstGeom prst="rect">
            <a:avLst/>
          </a:prstGeom>
          <a:noFill/>
        </p:spPr>
        <p:txBody>
          <a:bodyPr wrap="square" lIns="27432" tIns="13716" rIns="27432" bIns="13716" anchor="t">
            <a:spAutoFit/>
          </a:bodyPr>
          <a:lstStyle/>
          <a:p>
            <a:pPr algn="l">
              <a:lnSpc>
                <a:spcPct val="130000"/>
              </a:lnSpc>
            </a:pPr>
            <a:r>
              <a:rPr lang="zh-CN" altLang="en-US" sz="1200" b="0" i="0" spc="150">
                <a:solidFill>
                  <a:srgbClr val="8CA3AF"/>
                </a:solidFill>
                <a:latin typeface="Arial" panose="020B0604020202020204"/>
                <a:ea typeface="Arial" panose="020B0604020202020204"/>
              </a:rPr>
              <a:t>RESEARCH STATUS AND RESEARCH GAPS</a:t>
            </a:r>
            <a:endParaRPr lang="zh-CN" altLang="en-US" sz="1200" b="0" i="0" spc="150">
              <a:solidFill>
                <a:srgbClr val="8CA3AF"/>
              </a:solidFill>
              <a:latin typeface="Arial" panose="020B0604020202020204"/>
              <a:ea typeface="Arial" panose="020B0604020202020204"/>
            </a:endParaRPr>
          </a:p>
        </p:txBody>
      </p:sp>
      <p:sp>
        <p:nvSpPr>
          <p:cNvPr id="881" name="Rounded Rectangle 8"/>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2" name="Rectangle 9"/>
          <p:cNvSpPr/>
          <p:nvPr/>
        </p:nvSpPr>
        <p:spPr>
          <a:xfrm>
            <a:off x="5760720" y="1618488"/>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1</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3" name="TextBox 10"/>
          <p:cNvSpPr txBox="1"/>
          <p:nvPr/>
        </p:nvSpPr>
        <p:spPr>
          <a:xfrm>
            <a:off x="6537960" y="1741678"/>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算力侧的能耗与水足迹研究已较为完整</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84" name="Rounded Rectangle 11"/>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5" name="Rectangle 12"/>
          <p:cNvSpPr/>
          <p:nvPr/>
        </p:nvSpPr>
        <p:spPr>
          <a:xfrm>
            <a:off x="5760720" y="3063240"/>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2</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6" name="TextBox 13"/>
          <p:cNvSpPr txBox="1"/>
          <p:nvPr/>
        </p:nvSpPr>
        <p:spPr>
          <a:xfrm>
            <a:off x="6537960" y="3186430"/>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分片研究之间缺乏统一的城市水系统框架</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87" name="Rounded Rectangle 14"/>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8" name="Rectangle 15"/>
          <p:cNvSpPr/>
          <p:nvPr/>
        </p:nvSpPr>
        <p:spPr>
          <a:xfrm>
            <a:off x="5760720" y="4507992"/>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3</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9" name="TextBox 16"/>
          <p:cNvSpPr txBox="1"/>
          <p:nvPr/>
        </p:nvSpPr>
        <p:spPr>
          <a:xfrm>
            <a:off x="6537960" y="4631182"/>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AI 节点接入后的城市水代谢建模与边界识别</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90" name=""/>
        <p:cNvGrpSpPr/>
        <p:nvPr/>
      </p:nvGrpSpPr>
      <p:grpSpPr>
        <a:xfrm>
          <a:off x="0" y="0"/>
          <a:ext cx="0" cy="0"/>
          <a:chOff x="0" y="0"/>
          <a:chExt cx="0" cy="0"/>
        </a:xfrm>
      </p:grpSpPr>
      <p:pic>
        <p:nvPicPr>
          <p:cNvPr id="891" name="图片 5"/>
          <p:cNvPicPr>
            <a:picLocks noChangeAspect="1"/>
          </p:cNvPicPr>
          <p:nvPr/>
        </p:nvPicPr>
        <p:blipFill>
          <a:blip r:embed="rId1"/>
          <a:stretch>
            <a:fillRect/>
          </a:stretch>
        </p:blipFill>
        <p:spPr>
          <a:xfrm>
            <a:off x="866775" y="1285240"/>
            <a:ext cx="4130040" cy="3847465"/>
          </a:xfrm>
          <a:prstGeom prst="rect">
            <a:avLst/>
          </a:prstGeom>
          <a:ln w="19050">
            <a:noFill/>
          </a:ln>
        </p:spPr>
      </p:pic>
      <p:sp>
        <p:nvSpPr>
          <p:cNvPr id="892" name="文本框 6"/>
          <p:cNvSpPr txBox="1"/>
          <p:nvPr/>
        </p:nvSpPr>
        <p:spPr>
          <a:xfrm>
            <a:off x="1426845" y="5355590"/>
            <a:ext cx="3522345" cy="275590"/>
          </a:xfrm>
          <a:prstGeom prst="rect">
            <a:avLst/>
          </a:prstGeom>
        </p:spPr>
        <p:txBody>
          <a:bodyPr wrap="square">
            <a:spAutoFit/>
          </a:bodyPr>
          <a:p>
            <a:pPr algn="ctr"/>
            <a:r>
              <a:rPr lang="en-US" altLang="zh-CN" sz="1200" b="1">
                <a:latin typeface="微软雅黑" panose="020B0503020204020204" pitchFamily="34" charset="-122"/>
                <a:ea typeface="微软雅黑" panose="020B0503020204020204" pitchFamily="34" charset="-122"/>
              </a:rPr>
              <a:t>Xiao et al. Nature Sustainability 2025</a:t>
            </a:r>
            <a:endParaRPr lang="en-US" altLang="zh-CN" sz="1200" b="1">
              <a:latin typeface="微软雅黑" panose="020B0503020204020204" pitchFamily="34" charset="-122"/>
              <a:ea typeface="微软雅黑" panose="020B0503020204020204" pitchFamily="34" charset="-122"/>
            </a:endParaRPr>
          </a:p>
        </p:txBody>
      </p:sp>
      <p:sp>
        <p:nvSpPr>
          <p:cNvPr id="893" name="文本框 8"/>
          <p:cNvSpPr txBox="1"/>
          <p:nvPr/>
        </p:nvSpPr>
        <p:spPr>
          <a:xfrm>
            <a:off x="5875020" y="1285875"/>
            <a:ext cx="5123815" cy="142748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随着</a:t>
            </a:r>
            <a:r>
              <a:rPr lang="en-US" altLang="zh-CN"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服务器规模增长，其生命周期水足迹呈快速上升趋势</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94" name="文本框 9"/>
          <p:cNvSpPr txBox="1"/>
          <p:nvPr/>
        </p:nvSpPr>
        <p:spPr>
          <a:xfrm>
            <a:off x="5875020" y="1998980"/>
            <a:ext cx="5111115" cy="3631565"/>
          </a:xfrm>
          <a:prstGeom prst="rect">
            <a:avLst/>
          </a:prstGeom>
          <a:solidFill>
            <a:schemeClr val="bg2"/>
          </a:solidFill>
        </p:spPr>
        <p:txBody>
          <a:bodyPr>
            <a:noAutofit/>
          </a:bodyPr>
          <a:p>
            <a:pPr indent="457200" algn="l">
              <a:lnSpc>
                <a:spcPct val="200000"/>
              </a:lnSpc>
              <a:buNone/>
            </a:pPr>
            <a:r>
              <a:rPr lang="zh-CN" altLang="en-US">
                <a:latin typeface="微软雅黑" panose="020B0503020204020204" pitchFamily="34" charset="-122"/>
                <a:ea typeface="微软雅黑" panose="020B0503020204020204" pitchFamily="34" charset="-122"/>
                <a:cs typeface="微软雅黑" panose="020B0503020204020204" pitchFamily="34" charset="-122"/>
              </a:rPr>
              <a:t>随着大规模人工智能模型快速发展，</a:t>
            </a:r>
            <a:r>
              <a:rPr lang="en-US" altLang="zh-CN">
                <a:latin typeface="微软雅黑" panose="020B0503020204020204" pitchFamily="34" charset="-122"/>
                <a:ea typeface="微软雅黑" panose="020B0503020204020204" pitchFamily="34" charset="-122"/>
                <a:cs typeface="微软雅黑" panose="020B0503020204020204" pitchFamily="34" charset="-122"/>
              </a:rPr>
              <a:t>AI</a:t>
            </a:r>
            <a:r>
              <a:rPr lang="zh-CN" altLang="en-US">
                <a:latin typeface="微软雅黑" panose="020B0503020204020204" pitchFamily="34" charset="-122"/>
                <a:ea typeface="微软雅黑" panose="020B0503020204020204" pitchFamily="34" charset="-122"/>
                <a:cs typeface="微软雅黑" panose="020B0503020204020204" pitchFamily="34" charset="-122"/>
              </a:rPr>
              <a:t>服务器部署规模持续扩大，其运行过程产生的水资源环境影响逐渐受到关注。研究表明，</a:t>
            </a:r>
            <a:r>
              <a:rPr lang="en-US" altLang="zh-CN">
                <a:latin typeface="微软雅黑" panose="020B0503020204020204" pitchFamily="34" charset="-122"/>
                <a:ea typeface="微软雅黑" panose="020B0503020204020204" pitchFamily="34" charset="-122"/>
                <a:cs typeface="微软雅黑" panose="020B0503020204020204" pitchFamily="34" charset="-122"/>
              </a:rPr>
              <a:t>AI</a:t>
            </a:r>
            <a:r>
              <a:rPr lang="zh-CN" altLang="en-US">
                <a:latin typeface="微软雅黑" panose="020B0503020204020204" pitchFamily="34" charset="-122"/>
                <a:ea typeface="微软雅黑" panose="020B0503020204020204" pitchFamily="34" charset="-122"/>
                <a:cs typeface="微软雅黑" panose="020B0503020204020204" pitchFamily="34" charset="-122"/>
              </a:rPr>
              <a:t>服务器水足迹不仅随计算规模增长而增加，同时受到能源结构、服务器效率及部署区域条件影响，不同发展情景下未来水资源压力存在明显差异。</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895" name="直接连接符 11"/>
          <p:cNvCxnSpPr/>
          <p:nvPr/>
        </p:nvCxnSpPr>
        <p:spPr>
          <a:xfrm>
            <a:off x="5381625" y="1021080"/>
            <a:ext cx="0" cy="4970145"/>
          </a:xfrm>
          <a:prstGeom prst="line">
            <a:avLst/>
          </a:prstGeom>
          <a:ln w="3492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896" name="圆角矩形 12"/>
          <p:cNvSpPr/>
          <p:nvPr/>
        </p:nvSpPr>
        <p:spPr>
          <a:xfrm>
            <a:off x="588010" y="969645"/>
            <a:ext cx="11192510" cy="5184775"/>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7" name="矩形 13"/>
          <p:cNvSpPr/>
          <p:nvPr/>
        </p:nvSpPr>
        <p:spPr>
          <a:xfrm>
            <a:off x="1140460" y="1501775"/>
            <a:ext cx="3940175" cy="3630930"/>
          </a:xfrm>
          <a:prstGeom prst="rect">
            <a:avLst/>
          </a:prstGeom>
          <a:noFill/>
          <a:ln w="158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8" name="圆角矩形 14"/>
          <p:cNvSpPr/>
          <p:nvPr/>
        </p:nvSpPr>
        <p:spPr>
          <a:xfrm>
            <a:off x="799465" y="1285240"/>
            <a:ext cx="282575" cy="40767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9" name="Title 1"/>
          <p:cNvSpPr>
            <a:spLocks noGrp="1"/>
          </p:cNvSpPr>
          <p:nvPr>
            <p:ph type="title"/>
          </p:nvPr>
        </p:nvSpPr>
        <p:spPr>
          <a:xfrm>
            <a:off x="503555" y="118745"/>
            <a:ext cx="11191240" cy="621665"/>
          </a:xfrm>
        </p:spPr>
        <p:txBody>
          <a:bodyPr wrap="square" lIns="0" tIns="18288" rIns="0" bIns="18288" anchor="ctr">
            <a:normAutofit/>
          </a:bodyPr>
          <a:lstStyle/>
          <a:p>
            <a:pPr algn="l"/>
            <a:r>
              <a:rPr lang="en-US" altLang="zh-CN" sz="2800" b="1" i="0">
                <a:solidFill>
                  <a:srgbClr val="000000"/>
                </a:solidFill>
                <a:latin typeface="微软雅黑" panose="020B0503020204020204" pitchFamily="34" charset="-122"/>
                <a:ea typeface="微软雅黑" panose="020B0503020204020204" pitchFamily="34" charset="-122"/>
              </a:rPr>
              <a:t>AI</a:t>
            </a:r>
            <a:r>
              <a:rPr lang="zh-CN" altLang="en-US" sz="2800" b="1" i="0">
                <a:solidFill>
                  <a:srgbClr val="000000"/>
                </a:solidFill>
                <a:latin typeface="微软雅黑" panose="020B0503020204020204" pitchFamily="34" charset="-122"/>
                <a:ea typeface="微软雅黑" panose="020B0503020204020204" pitchFamily="34" charset="-122"/>
              </a:rPr>
              <a:t>算力扩张带来持续增长的水资源环境压力</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文本框 8"/>
          <p:cNvSpPr txBox="1"/>
          <p:nvPr/>
        </p:nvSpPr>
        <p:spPr>
          <a:xfrm>
            <a:off x="1826895" y="1174750"/>
            <a:ext cx="8398510" cy="51816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算力布局与区域水资源条件存在潜在错配。</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9"/>
          <p:cNvSpPr txBox="1"/>
          <p:nvPr/>
        </p:nvSpPr>
        <p:spPr>
          <a:xfrm>
            <a:off x="1826895" y="1692910"/>
            <a:ext cx="8398510" cy="1439545"/>
          </a:xfrm>
          <a:prstGeom prst="rect">
            <a:avLst/>
          </a:prstGeom>
          <a:solidFill>
            <a:schemeClr val="bg2"/>
          </a:solidFill>
        </p:spPr>
        <p:txBody>
          <a:bodyPr>
            <a:noAutofit/>
          </a:bodyPr>
          <a:p>
            <a:pPr indent="457200" algn="l">
              <a:lnSpc>
                <a:spcPct val="150000"/>
              </a:lnSpc>
              <a:buNone/>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针对中国数据中心发展趋势，已有研究开展设施尺度水足迹核算，发现不同地区由于能源结构、冷却方式和水资源条件差异，数据中心水环境影响存在明显空间分化。部分算力集聚区域同时面临较高水资源压力，体现出算力布局与区域水资源禀赋之间的潜在矛盾。 </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200000"/>
              </a:lnSpc>
              <a:buFont typeface="Wingdings" panose="05000000000000000000" charset="0"/>
              <a:buChar char="l"/>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圆角矩形 12"/>
          <p:cNvSpPr/>
          <p:nvPr/>
        </p:nvSpPr>
        <p:spPr>
          <a:xfrm>
            <a:off x="588010" y="1080770"/>
            <a:ext cx="11192510" cy="5073650"/>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Title 1"/>
          <p:cNvSpPr>
            <a:spLocks noGrp="1"/>
          </p:cNvSpPr>
          <p:nvPr>
            <p:ph type="title"/>
          </p:nvPr>
        </p:nvSpPr>
        <p:spPr>
          <a:xfrm>
            <a:off x="503555" y="118745"/>
            <a:ext cx="11191240" cy="621665"/>
          </a:xfrm>
        </p:spPr>
        <p:txBody>
          <a:bodyPr wrap="square" lIns="0" tIns="18288" rIns="0" bIns="18288" anchor="ctr">
            <a:normAutofit/>
          </a:bodyPr>
          <a:lstStyle/>
          <a:p>
            <a:pPr algn="l"/>
            <a:r>
              <a:rPr lang="zh-CN" altLang="en-US" sz="2800" b="1" i="0">
                <a:solidFill>
                  <a:srgbClr val="000000"/>
                </a:solidFill>
                <a:latin typeface="微软雅黑" panose="020B0503020204020204" pitchFamily="34" charset="-122"/>
                <a:ea typeface="微软雅黑" panose="020B0503020204020204" pitchFamily="34" charset="-122"/>
              </a:rPr>
              <a:t>中国数据中心水足迹存在明显空间差异</a:t>
            </a:r>
            <a:endParaRPr lang="zh-CN" altLang="en-US" sz="2800" b="1" i="0">
              <a:solidFill>
                <a:srgbClr val="000000"/>
              </a:solidFill>
              <a:latin typeface="微软雅黑" panose="020B0503020204020204" pitchFamily="34" charset="-122"/>
              <a:ea typeface="微软雅黑" panose="020B0503020204020204" pitchFamily="34" charset="-122"/>
            </a:endParaRPr>
          </a:p>
        </p:txBody>
      </p:sp>
      <p:pic>
        <p:nvPicPr>
          <p:cNvPr id="18" name="图片 3"/>
          <p:cNvPicPr>
            <a:picLocks noChangeAspect="1"/>
          </p:cNvPicPr>
          <p:nvPr/>
        </p:nvPicPr>
        <p:blipFill>
          <a:blip r:embed="rId1"/>
          <a:stretch>
            <a:fillRect/>
          </a:stretch>
        </p:blipFill>
        <p:spPr>
          <a:xfrm>
            <a:off x="2279015" y="3167380"/>
            <a:ext cx="7433945" cy="2924175"/>
          </a:xfrm>
          <a:prstGeom prst="rect">
            <a:avLst/>
          </a:prstGeom>
        </p:spPr>
      </p:pic>
      <p:sp>
        <p:nvSpPr>
          <p:cNvPr id="19" name="文本框 1"/>
          <p:cNvSpPr txBox="1"/>
          <p:nvPr/>
        </p:nvSpPr>
        <p:spPr>
          <a:xfrm>
            <a:off x="4418965" y="2841625"/>
            <a:ext cx="3154045" cy="244475"/>
          </a:xfrm>
          <a:prstGeom prst="rect">
            <a:avLst/>
          </a:prstGeom>
        </p:spPr>
        <p:txBody>
          <a:bodyPr>
            <a:noAutofit/>
          </a:bodyPr>
          <a:p>
            <a:r>
              <a:rPr lang="en-US" altLang="zh-CN" sz="1400" b="1">
                <a:latin typeface="微软雅黑" panose="020B0503020204020204" pitchFamily="34" charset="-122"/>
                <a:ea typeface="微软雅黑" panose="020B0503020204020204" pitchFamily="34" charset="-122"/>
              </a:rPr>
              <a:t>Jiang et al. Applied Energy 2025</a:t>
            </a:r>
            <a:endParaRPr lang="en-US" altLang="zh-CN" sz="1400" b="1">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 name="图片 3"/>
          <p:cNvPicPr>
            <a:picLocks noChangeAspect="1"/>
          </p:cNvPicPr>
          <p:nvPr/>
        </p:nvPicPr>
        <p:blipFill>
          <a:blip r:embed="rId1"/>
          <a:stretch>
            <a:fillRect/>
          </a:stretch>
        </p:blipFill>
        <p:spPr>
          <a:xfrm>
            <a:off x="617855" y="3515360"/>
            <a:ext cx="6453505" cy="2788285"/>
          </a:xfrm>
          <a:prstGeom prst="rect">
            <a:avLst/>
          </a:prstGeom>
        </p:spPr>
      </p:pic>
      <p:pic>
        <p:nvPicPr>
          <p:cNvPr id="25" name="图片 1"/>
          <p:cNvPicPr>
            <a:picLocks noChangeAspect="1"/>
          </p:cNvPicPr>
          <p:nvPr/>
        </p:nvPicPr>
        <p:blipFill>
          <a:blip r:embed="rId2"/>
          <a:stretch>
            <a:fillRect/>
          </a:stretch>
        </p:blipFill>
        <p:spPr>
          <a:xfrm>
            <a:off x="367030" y="1059815"/>
            <a:ext cx="6955155" cy="2387600"/>
          </a:xfrm>
          <a:prstGeom prst="rect">
            <a:avLst/>
          </a:prstGeom>
        </p:spPr>
      </p:pic>
      <p:sp>
        <p:nvSpPr>
          <p:cNvPr id="14" name="文本框 8"/>
          <p:cNvSpPr txBox="1"/>
          <p:nvPr/>
        </p:nvSpPr>
        <p:spPr>
          <a:xfrm>
            <a:off x="7228840" y="1158875"/>
            <a:ext cx="4800600" cy="379730"/>
          </a:xfrm>
          <a:prstGeom prst="rect">
            <a:avLst/>
          </a:prstGeom>
          <a:solidFill>
            <a:srgbClr val="005375"/>
          </a:solidFill>
        </p:spPr>
        <p:txBody>
          <a:bodyPr wrap="square">
            <a:noAutofit/>
          </a:bodyPr>
          <a:p>
            <a:pPr algn="ctr"/>
            <a:r>
              <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数据中心水耗受到冷却架构和气象条件影响</a:t>
            </a:r>
            <a:endPar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9"/>
          <p:cNvSpPr txBox="1"/>
          <p:nvPr/>
        </p:nvSpPr>
        <p:spPr>
          <a:xfrm>
            <a:off x="7228840" y="1538605"/>
            <a:ext cx="4800600" cy="1818640"/>
          </a:xfrm>
          <a:prstGeom prst="rect">
            <a:avLst/>
          </a:prstGeom>
          <a:solidFill>
            <a:schemeClr val="bg2"/>
          </a:solidFill>
        </p:spPr>
        <p:txBody>
          <a:bodyPr>
            <a:noAutofit/>
          </a:bodyPr>
          <a:p>
            <a:pPr indent="457200" algn="l">
              <a:lnSpc>
                <a:spcPct val="130000"/>
              </a:lnSpc>
              <a:spcBef>
                <a:spcPts val="0"/>
              </a:spcBef>
              <a:spcAft>
                <a:spcPts val="0"/>
              </a:spcAft>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数据中心水资源消耗并非固定的单位算力耗水量，而受到冷却架构、环境温度和运行条件共同影响。研究比较不同冷却方案发现，湿式冷却等方式具有明显季节波动特征，高温时期水耗显著增加，而冷却技术优化能够改变水、能、碳之间的耦合关系。 </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200000"/>
              </a:lnSpc>
              <a:buFont typeface="Wingdings" panose="05000000000000000000" charset="0"/>
              <a:buChar char="l"/>
            </a:pP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文本框 8"/>
          <p:cNvSpPr txBox="1"/>
          <p:nvPr/>
        </p:nvSpPr>
        <p:spPr>
          <a:xfrm>
            <a:off x="7228840" y="3616325"/>
            <a:ext cx="4800600" cy="630555"/>
          </a:xfrm>
          <a:prstGeom prst="rect">
            <a:avLst/>
          </a:prstGeom>
          <a:solidFill>
            <a:srgbClr val="005375"/>
          </a:solidFill>
        </p:spPr>
        <p:txBody>
          <a:bodyPr wrap="square">
            <a:noAutofit/>
          </a:bodyPr>
          <a:p>
            <a:pPr algn="ctr"/>
            <a:r>
              <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相同年水耗可能对应不同月过程</a:t>
            </a:r>
            <a:endPar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9"/>
          <p:cNvSpPr txBox="1"/>
          <p:nvPr/>
        </p:nvSpPr>
        <p:spPr>
          <a:xfrm>
            <a:off x="7228840" y="4033520"/>
            <a:ext cx="4800600" cy="2033905"/>
          </a:xfrm>
          <a:prstGeom prst="rect">
            <a:avLst/>
          </a:prstGeom>
          <a:solidFill>
            <a:schemeClr val="bg2"/>
          </a:solidFill>
        </p:spPr>
        <p:txBody>
          <a:bodyPr>
            <a:noAutofit/>
          </a:bodyPr>
          <a:p>
            <a:pPr indent="457200" algn="l">
              <a:lnSpc>
                <a:spcPct val="150000"/>
              </a:lnSpc>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已有研究逐渐从年度水足迹核算转向月尺度甚至小时尺度动态模拟，发现数据中心冷却水需求具有明显季节变化规律。高温时期冷却需求快速增加，可能形成短时间尺度资源压力，而年度平均指标容易掩盖峰值负荷及基础设施约束。</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文本框 4"/>
          <p:cNvSpPr txBox="1"/>
          <p:nvPr/>
        </p:nvSpPr>
        <p:spPr>
          <a:xfrm>
            <a:off x="7268210" y="3041015"/>
            <a:ext cx="4761865" cy="424815"/>
          </a:xfrm>
          <a:prstGeom prst="rect">
            <a:avLst/>
          </a:prstGeom>
        </p:spPr>
        <p:txBody>
          <a:bodyPr>
            <a:noAutofit/>
          </a:bodyPr>
          <a:p>
            <a:r>
              <a:rPr lang="en-US" altLang="zh-CN" sz="1600" b="1">
                <a:latin typeface="微软雅黑" panose="020B0503020204020204" pitchFamily="34" charset="-122"/>
                <a:ea typeface="微软雅黑" panose="020B0503020204020204" pitchFamily="34" charset="-122"/>
              </a:rPr>
              <a:t>Alissa et al. Nature 2025</a:t>
            </a:r>
            <a:endParaRPr lang="en-US" altLang="zh-CN" sz="1600" b="1">
              <a:latin typeface="微软雅黑" panose="020B0503020204020204" pitchFamily="34" charset="-122"/>
              <a:ea typeface="微软雅黑" panose="020B0503020204020204" pitchFamily="34" charset="-122"/>
            </a:endParaRPr>
          </a:p>
        </p:txBody>
      </p:sp>
      <p:sp>
        <p:nvSpPr>
          <p:cNvPr id="35" name="文本框 5"/>
          <p:cNvSpPr txBox="1"/>
          <p:nvPr/>
        </p:nvSpPr>
        <p:spPr>
          <a:xfrm>
            <a:off x="7228840" y="5760403"/>
            <a:ext cx="5080000" cy="306705"/>
          </a:xfrm>
          <a:prstGeom prst="rect">
            <a:avLst/>
          </a:prstGeom>
        </p:spPr>
        <p:txBody>
          <a:bodyPr>
            <a:spAutoFit/>
          </a:bodyPr>
          <a:p>
            <a:r>
              <a:rPr lang="en-US" altLang="zh-CN" sz="1400" b="1">
                <a:latin typeface="微软雅黑" panose="020B0503020204020204" pitchFamily="34" charset="-122"/>
                <a:ea typeface="微软雅黑" panose="020B0503020204020204" pitchFamily="34" charset="-122"/>
              </a:rPr>
              <a:t>Karimi et al. Applied Thermal Engineering 2025</a:t>
            </a:r>
            <a:endParaRPr lang="en-US" altLang="zh-CN" sz="1400" b="1">
              <a:latin typeface="微软雅黑" panose="020B0503020204020204" pitchFamily="34" charset="-122"/>
              <a:ea typeface="微软雅黑" panose="020B0503020204020204" pitchFamily="34" charset="-122"/>
            </a:endParaRPr>
          </a:p>
        </p:txBody>
      </p:sp>
      <p:sp>
        <p:nvSpPr>
          <p:cNvPr id="24" name="Title 1"/>
          <p:cNvSpPr>
            <a:spLocks noGrp="1"/>
          </p:cNvSpPr>
          <p:nvPr>
            <p:ph type="title"/>
          </p:nvPr>
        </p:nvSpPr>
        <p:spPr>
          <a:xfrm>
            <a:off x="389890" y="149225"/>
            <a:ext cx="11191240" cy="621665"/>
          </a:xfrm>
        </p:spPr>
        <p:txBody>
          <a:bodyPr wrap="square" lIns="0" tIns="18288" rIns="0" bIns="18288" anchor="ctr">
            <a:normAutofit/>
          </a:bodyPr>
          <a:lstStyle/>
          <a:p>
            <a:pPr algn="l"/>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数据中心水耗受气候条件等多种因素影响</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0"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现有研究已解决什么、尚未解决什么，以及由此凝练的三个科学缺口</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40" name="Rectangle 4"/>
          <p:cNvSpPr/>
          <p:nvPr/>
        </p:nvSpPr>
        <p:spPr>
          <a:xfrm>
            <a:off x="484632" y="787400"/>
            <a:ext cx="11219688" cy="3556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1" name="TextBox 5"/>
          <p:cNvSpPr txBox="1"/>
          <p:nvPr/>
        </p:nvSpPr>
        <p:spPr>
          <a:xfrm>
            <a:off x="621792" y="838200"/>
            <a:ext cx="3154680" cy="254000"/>
          </a:xfrm>
          <a:prstGeom prst="rect">
            <a:avLst/>
          </a:prstGeom>
          <a:noFill/>
        </p:spPr>
        <p:txBody>
          <a:bodyPr wrap="square" lIns="27432" tIns="13716" rIns="27432" bIns="13716" anchor="ctr">
            <a:spAutoFit/>
          </a:bodyPr>
          <a:lstStyle/>
          <a:p>
            <a:pPr algn="l">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知识链</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42" name="TextBox 6"/>
          <p:cNvSpPr txBox="1"/>
          <p:nvPr/>
        </p:nvSpPr>
        <p:spPr>
          <a:xfrm>
            <a:off x="4142232" y="838200"/>
            <a:ext cx="3749039" cy="254000"/>
          </a:xfrm>
          <a:prstGeom prst="rect">
            <a:avLst/>
          </a:prstGeom>
          <a:noFill/>
        </p:spPr>
        <p:txBody>
          <a:bodyPr wrap="square" lIns="27432" tIns="13716" rIns="27432" bIns="13716" anchor="ctr">
            <a:spAutoFit/>
          </a:bodyPr>
          <a:lstStyle/>
          <a:p>
            <a:pPr algn="l">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已解决：现有研究提供了什么</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43" name="TextBox 7"/>
          <p:cNvSpPr txBox="1"/>
          <p:nvPr/>
        </p:nvSpPr>
        <p:spPr>
          <a:xfrm>
            <a:off x="7982712" y="838200"/>
            <a:ext cx="4178807" cy="254000"/>
          </a:xfrm>
          <a:prstGeom prst="rect">
            <a:avLst/>
          </a:prstGeom>
          <a:noFill/>
        </p:spPr>
        <p:txBody>
          <a:bodyPr wrap="square" lIns="27432" tIns="13716" rIns="27432" bIns="13716" anchor="ctr">
            <a:spAutoFit/>
          </a:bodyPr>
          <a:lstStyle/>
          <a:p>
            <a:pPr algn="l">
              <a:lnSpc>
                <a:spcPct val="108000"/>
              </a:lnSpc>
            </a:pPr>
            <a:r>
              <a:rPr lang="zh-CN" altLang="en-US" sz="1300" b="1" i="0">
                <a:solidFill>
                  <a:srgbClr val="FFFFFF"/>
                </a:solidFill>
                <a:latin typeface="微软雅黑" panose="020B0503020204020204" pitchFamily="34" charset="-122"/>
                <a:ea typeface="微软雅黑" panose="020B0503020204020204" pitchFamily="34" charset="-122"/>
              </a:rPr>
              <a:t>未解决：为什么仍然不够</a:t>
            </a:r>
            <a:endParaRPr lang="zh-CN" altLang="en-US" sz="1300" b="1" i="0">
              <a:solidFill>
                <a:srgbClr val="FFFFFF"/>
              </a:solidFill>
              <a:latin typeface="微软雅黑" panose="020B0503020204020204" pitchFamily="34" charset="-122"/>
              <a:ea typeface="微软雅黑" panose="020B0503020204020204" pitchFamily="34" charset="-122"/>
            </a:endParaRPr>
          </a:p>
        </p:txBody>
      </p:sp>
      <p:sp>
        <p:nvSpPr>
          <p:cNvPr id="44" name="Rectangle 8"/>
          <p:cNvSpPr/>
          <p:nvPr/>
        </p:nvSpPr>
        <p:spPr>
          <a:xfrm>
            <a:off x="484632" y="12192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5" name="Rectangle 9"/>
          <p:cNvSpPr/>
          <p:nvPr/>
        </p:nvSpPr>
        <p:spPr>
          <a:xfrm>
            <a:off x="484632" y="12192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6" name="Rectangle 10"/>
          <p:cNvSpPr/>
          <p:nvPr/>
        </p:nvSpPr>
        <p:spPr>
          <a:xfrm>
            <a:off x="484632" y="12192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7" name="TextBox 11"/>
          <p:cNvSpPr txBox="1"/>
          <p:nvPr/>
        </p:nvSpPr>
        <p:spPr>
          <a:xfrm>
            <a:off x="685800" y="13081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数据中心水足迹与 WUE</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48" name="TextBox 12"/>
          <p:cNvSpPr txBox="1"/>
          <p:nvPr/>
        </p:nvSpPr>
        <p:spPr>
          <a:xfrm>
            <a:off x="4142232" y="13081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算力侧能耗与水足迹的量化方法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9" name="TextBox 13"/>
          <p:cNvSpPr txBox="1"/>
          <p:nvPr/>
        </p:nvSpPr>
        <p:spPr>
          <a:xfrm>
            <a:off x="7982712" y="13081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研究对象落在设施边界内，未进入城市系统</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0" name="Rectangle 14"/>
          <p:cNvSpPr/>
          <p:nvPr/>
        </p:nvSpPr>
        <p:spPr>
          <a:xfrm>
            <a:off x="484632" y="17145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1" name="Rectangle 15"/>
          <p:cNvSpPr/>
          <p:nvPr/>
        </p:nvSpPr>
        <p:spPr>
          <a:xfrm>
            <a:off x="484632" y="17145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2" name="Rectangle 16"/>
          <p:cNvSpPr/>
          <p:nvPr/>
        </p:nvSpPr>
        <p:spPr>
          <a:xfrm>
            <a:off x="484632" y="17145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3" name="TextBox 17"/>
          <p:cNvSpPr txBox="1"/>
          <p:nvPr/>
        </p:nvSpPr>
        <p:spPr>
          <a:xfrm>
            <a:off x="685800" y="18034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城市代谢与水—能关系</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54" name="TextBox 18"/>
          <p:cNvSpPr txBox="1"/>
          <p:nvPr/>
        </p:nvSpPr>
        <p:spPr>
          <a:xfrm>
            <a:off x="4142232" y="18034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城市尺度水—能耦合代谢模型</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5" name="TextBox 19"/>
          <p:cNvSpPr txBox="1"/>
          <p:nvPr/>
        </p:nvSpPr>
        <p:spPr>
          <a:xfrm>
            <a:off x="7982712" y="18034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未刻画 AI 算力节点这一新增负荷类型</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6" name="Rectangle 20"/>
          <p:cNvSpPr/>
          <p:nvPr/>
        </p:nvSpPr>
        <p:spPr>
          <a:xfrm>
            <a:off x="484632" y="22098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7" name="Rectangle 21"/>
          <p:cNvSpPr/>
          <p:nvPr/>
        </p:nvSpPr>
        <p:spPr>
          <a:xfrm>
            <a:off x="484632" y="22098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8" name="Rectangle 22"/>
          <p:cNvSpPr/>
          <p:nvPr/>
        </p:nvSpPr>
        <p:spPr>
          <a:xfrm>
            <a:off x="484632" y="22098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9" name="TextBox 23"/>
          <p:cNvSpPr txBox="1"/>
          <p:nvPr/>
        </p:nvSpPr>
        <p:spPr>
          <a:xfrm>
            <a:off x="685800" y="22987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AI 耗水与冷却特性</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60" name="TextBox 24"/>
          <p:cNvSpPr txBox="1"/>
          <p:nvPr/>
        </p:nvSpPr>
        <p:spPr>
          <a:xfrm>
            <a:off x="4142232" y="22987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冷却方式、气候与节水冷却的效应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1" name="TextBox 25"/>
          <p:cNvSpPr txBox="1"/>
          <p:nvPr/>
        </p:nvSpPr>
        <p:spPr>
          <a:xfrm>
            <a:off x="7982712" y="22987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多聚焦设施改造与运行优化，未回答城市承载</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2" name="Rectangle 26"/>
          <p:cNvSpPr/>
          <p:nvPr/>
        </p:nvSpPr>
        <p:spPr>
          <a:xfrm>
            <a:off x="484632" y="27051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3" name="Rectangle 27"/>
          <p:cNvSpPr/>
          <p:nvPr/>
        </p:nvSpPr>
        <p:spPr>
          <a:xfrm>
            <a:off x="484632" y="27051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4" name="Rectangle 28"/>
          <p:cNvSpPr/>
          <p:nvPr/>
        </p:nvSpPr>
        <p:spPr>
          <a:xfrm>
            <a:off x="484632" y="27051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5" name="TextBox 29"/>
          <p:cNvSpPr txBox="1"/>
          <p:nvPr/>
        </p:nvSpPr>
        <p:spPr>
          <a:xfrm>
            <a:off x="685800" y="27940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城市水系统优化配置</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66" name="TextBox 30"/>
          <p:cNvSpPr txBox="1"/>
          <p:nvPr/>
        </p:nvSpPr>
        <p:spPr>
          <a:xfrm>
            <a:off x="4142232" y="27940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城市水系统优化模型与算法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7" name="TextBox 31"/>
          <p:cNvSpPr txBox="1"/>
          <p:nvPr/>
        </p:nvSpPr>
        <p:spPr>
          <a:xfrm>
            <a:off x="7982712" y="27940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约束以传统用水为主，未纳入算力相关约束</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8" name="Rectangle 32"/>
          <p:cNvSpPr/>
          <p:nvPr/>
        </p:nvSpPr>
        <p:spPr>
          <a:xfrm>
            <a:off x="484632" y="32004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9" name="Rectangle 33"/>
          <p:cNvSpPr/>
          <p:nvPr/>
        </p:nvSpPr>
        <p:spPr>
          <a:xfrm>
            <a:off x="484632" y="32004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70" name="Rectangle 34"/>
          <p:cNvSpPr/>
          <p:nvPr/>
        </p:nvSpPr>
        <p:spPr>
          <a:xfrm>
            <a:off x="484632" y="32004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71" name="TextBox 35"/>
          <p:cNvSpPr txBox="1"/>
          <p:nvPr/>
        </p:nvSpPr>
        <p:spPr>
          <a:xfrm>
            <a:off x="685800" y="32893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AI 方法应用</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72" name="TextBox 36"/>
          <p:cNvSpPr txBox="1"/>
          <p:nvPr/>
        </p:nvSpPr>
        <p:spPr>
          <a:xfrm>
            <a:off x="4142232" y="32893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AI 用于城市水系统的预测、优化与调度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73" name="TextBox 37"/>
          <p:cNvSpPr txBox="1"/>
          <p:nvPr/>
        </p:nvSpPr>
        <p:spPr>
          <a:xfrm>
            <a:off x="7982712" y="32893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方法成熟，但多未与 AI 算力侧形成闭环</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03" name="Rounded Rectangle 4"/>
          <p:cNvSpPr/>
          <p:nvPr>
            <p:custDataLst>
              <p:tags r:id="rId1"/>
            </p:custDataLst>
          </p:nvPr>
        </p:nvSpPr>
        <p:spPr>
          <a:xfrm>
            <a:off x="484632" y="3771900"/>
            <a:ext cx="3639312" cy="173990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04" name="Rectangle 5"/>
          <p:cNvSpPr/>
          <p:nvPr>
            <p:custDataLst>
              <p:tags r:id="rId2"/>
            </p:custDataLst>
          </p:nvPr>
        </p:nvSpPr>
        <p:spPr>
          <a:xfrm>
            <a:off x="502920" y="3789680"/>
            <a:ext cx="3602736" cy="3048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缺口一</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05" name="TextBox 6"/>
          <p:cNvSpPr txBox="1"/>
          <p:nvPr>
            <p:custDataLst>
              <p:tags r:id="rId3"/>
            </p:custDataLst>
          </p:nvPr>
        </p:nvSpPr>
        <p:spPr>
          <a:xfrm>
            <a:off x="878967" y="4124325"/>
            <a:ext cx="431800" cy="491490"/>
          </a:xfrm>
          <a:prstGeom prst="rect">
            <a:avLst/>
          </a:prstGeom>
          <a:noFill/>
        </p:spPr>
        <p:txBody>
          <a:bodyPr wrap="square" lIns="27432" tIns="13716" rIns="27432" bIns="13716" anchor="t">
            <a:spAutoFit/>
          </a:bodyPr>
          <a:lstStyle/>
          <a:p>
            <a:pPr algn="l">
              <a:lnSpc>
                <a:spcPct val="108000"/>
              </a:lnSpc>
            </a:pPr>
            <a:endParaRPr lang="zh-CN" altLang="en-US" sz="2800" b="1" i="0">
              <a:solidFill>
                <a:srgbClr val="C9DCE6"/>
              </a:solidFill>
              <a:latin typeface="微软雅黑" panose="020B0503020204020204" pitchFamily="34" charset="-122"/>
              <a:ea typeface="微软雅黑" panose="020B0503020204020204" pitchFamily="34" charset="-122"/>
            </a:endParaRPr>
          </a:p>
        </p:txBody>
      </p:sp>
      <p:sp>
        <p:nvSpPr>
          <p:cNvPr id="106" name="TextBox 7"/>
          <p:cNvSpPr txBox="1"/>
          <p:nvPr>
            <p:custDataLst>
              <p:tags r:id="rId4"/>
            </p:custDataLst>
          </p:nvPr>
        </p:nvSpPr>
        <p:spPr>
          <a:xfrm>
            <a:off x="502920" y="4208780"/>
            <a:ext cx="3620135"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响应机制不清</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07" name="TextBox 8"/>
          <p:cNvSpPr txBox="1"/>
          <p:nvPr>
            <p:custDataLst>
              <p:tags r:id="rId5"/>
            </p:custDataLst>
          </p:nvPr>
        </p:nvSpPr>
        <p:spPr>
          <a:xfrm>
            <a:off x="713232" y="4494530"/>
            <a:ext cx="3200400" cy="86360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AI 节点接入后，城市水系统的取水—处理—输配—使用—排放—回用链条如何响应，尚缺少系统性刻画。</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08" name="Rounded Rectangle 9"/>
          <p:cNvSpPr/>
          <p:nvPr>
            <p:custDataLst>
              <p:tags r:id="rId6"/>
            </p:custDataLst>
          </p:nvPr>
        </p:nvSpPr>
        <p:spPr>
          <a:xfrm>
            <a:off x="4274820" y="3771900"/>
            <a:ext cx="3639312" cy="173990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09" name="Rectangle 10"/>
          <p:cNvSpPr/>
          <p:nvPr>
            <p:custDataLst>
              <p:tags r:id="rId7"/>
            </p:custDataLst>
          </p:nvPr>
        </p:nvSpPr>
        <p:spPr>
          <a:xfrm>
            <a:off x="4293108" y="3789680"/>
            <a:ext cx="3602736" cy="3048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缺口二</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11" name="TextBox 12"/>
          <p:cNvSpPr txBox="1"/>
          <p:nvPr>
            <p:custDataLst>
              <p:tags r:id="rId8"/>
            </p:custDataLst>
          </p:nvPr>
        </p:nvSpPr>
        <p:spPr>
          <a:xfrm>
            <a:off x="4293235" y="4208780"/>
            <a:ext cx="3620135"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承载边界不条件化</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12" name="TextBox 13"/>
          <p:cNvSpPr txBox="1"/>
          <p:nvPr>
            <p:custDataLst>
              <p:tags r:id="rId9"/>
            </p:custDataLst>
          </p:nvPr>
        </p:nvSpPr>
        <p:spPr>
          <a:xfrm>
            <a:off x="4427855" y="4494530"/>
            <a:ext cx="3371850" cy="8648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现有承载多以总量或单要素阈值表达，未体现</a:t>
            </a:r>
            <a:r>
              <a:rPr lang="en-US" altLang="zh-CN" sz="1400" b="0" i="0">
                <a:solidFill>
                  <a:srgbClr val="1F2A33"/>
                </a:solidFill>
                <a:latin typeface="微软雅黑" panose="020B0503020204020204" pitchFamily="34" charset="-122"/>
                <a:ea typeface="微软雅黑" panose="020B0503020204020204" pitchFamily="34" charset="-122"/>
              </a:rPr>
              <a:t>“</a:t>
            </a:r>
            <a:r>
              <a:rPr lang="zh-CN" altLang="en-US" sz="1400" b="0" i="0">
                <a:solidFill>
                  <a:srgbClr val="1F2A33"/>
                </a:solidFill>
                <a:latin typeface="微软雅黑" panose="020B0503020204020204" pitchFamily="34" charset="-122"/>
                <a:ea typeface="微软雅黑" panose="020B0503020204020204" pitchFamily="34" charset="-122"/>
              </a:rPr>
              <a:t>取决于水源结构、气象与技术组合</a:t>
            </a:r>
            <a:r>
              <a:rPr lang="en-US" altLang="zh-CN" sz="1400" b="0" i="0">
                <a:solidFill>
                  <a:srgbClr val="1F2A33"/>
                </a:solidFill>
                <a:latin typeface="微软雅黑" panose="020B0503020204020204" pitchFamily="34" charset="-122"/>
                <a:ea typeface="微软雅黑" panose="020B0503020204020204" pitchFamily="34" charset="-122"/>
              </a:rPr>
              <a:t>”</a:t>
            </a:r>
            <a:r>
              <a:rPr lang="zh-CN" altLang="en-US" sz="1400" b="0" i="0">
                <a:solidFill>
                  <a:srgbClr val="1F2A33"/>
                </a:solidFill>
                <a:latin typeface="微软雅黑" panose="020B0503020204020204" pitchFamily="34" charset="-122"/>
                <a:ea typeface="微软雅黑" panose="020B0503020204020204" pitchFamily="34" charset="-122"/>
              </a:rPr>
              <a:t>的条件性，年均总量掩盖瞬态峰值风险</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13" name="Rounded Rectangle 14"/>
          <p:cNvSpPr/>
          <p:nvPr>
            <p:custDataLst>
              <p:tags r:id="rId10"/>
            </p:custDataLst>
          </p:nvPr>
        </p:nvSpPr>
        <p:spPr>
          <a:xfrm>
            <a:off x="8065008" y="3771900"/>
            <a:ext cx="3639312" cy="173990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14" name="Rectangle 15"/>
          <p:cNvSpPr/>
          <p:nvPr>
            <p:custDataLst>
              <p:tags r:id="rId11"/>
            </p:custDataLst>
          </p:nvPr>
        </p:nvSpPr>
        <p:spPr>
          <a:xfrm>
            <a:off x="8083296" y="3789680"/>
            <a:ext cx="3602736" cy="3048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缺口三</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16" name="TextBox 17"/>
          <p:cNvSpPr txBox="1"/>
          <p:nvPr>
            <p:custDataLst>
              <p:tags r:id="rId12"/>
            </p:custDataLst>
          </p:nvPr>
        </p:nvSpPr>
        <p:spPr>
          <a:xfrm>
            <a:off x="8083550" y="4208780"/>
            <a:ext cx="3620135"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瓶颈识别不动态</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17" name="TextBox 18"/>
          <p:cNvSpPr txBox="1"/>
          <p:nvPr>
            <p:custDataLst>
              <p:tags r:id="rId13"/>
            </p:custDataLst>
          </p:nvPr>
        </p:nvSpPr>
        <p:spPr>
          <a:xfrm>
            <a:off x="8293608" y="4494530"/>
            <a:ext cx="3200400" cy="86360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瓶颈随季节、气温、来水与运行策略迁移，缺少可比较、可排序的主导瓶颈识别方法。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21" name="Rounded Rectangle 22"/>
          <p:cNvSpPr/>
          <p:nvPr/>
        </p:nvSpPr>
        <p:spPr>
          <a:xfrm>
            <a:off x="484505" y="5741670"/>
            <a:ext cx="11219815" cy="558800"/>
          </a:xfrm>
          <a:prstGeom prst="roundRect">
            <a:avLst>
              <a:gd name="adj" fmla="val 28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2" name="TextBox 23"/>
          <p:cNvSpPr txBox="1"/>
          <p:nvPr/>
        </p:nvSpPr>
        <p:spPr>
          <a:xfrm>
            <a:off x="484632" y="5843270"/>
            <a:ext cx="11219688" cy="557530"/>
          </a:xfrm>
          <a:prstGeom prst="rect">
            <a:avLst/>
          </a:prstGeom>
          <a:noFill/>
        </p:spPr>
        <p:txBody>
          <a:bodyPr wrap="square" lIns="27432" tIns="13716" rIns="27432" bIns="13716" anchor="t">
            <a:spAutoFit/>
          </a:bodyPr>
          <a:lstStyle/>
          <a:p>
            <a:pPr algn="ctr">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现有研究已分别解决算力耗水与城市代谢，但缺少把二者纳入同一系统、给出条件化承载边界与主导瓶颈的统一建模框架。</a:t>
            </a:r>
            <a:endParaRPr lang="zh-CN" altLang="en-US" sz="1600" b="1" i="0">
              <a:solidFill>
                <a:srgbClr val="005375"/>
              </a:solidFill>
              <a:latin typeface="微软雅黑" panose="020B0503020204020204" pitchFamily="34" charset="-122"/>
              <a:ea typeface="微软雅黑" panose="020B0503020204020204" pitchFamily="34" charset="-122"/>
            </a:endParaRPr>
          </a:p>
          <a:p>
            <a:pPr algn="ctr">
              <a:lnSpc>
                <a:spcPct val="108000"/>
              </a:lnSpc>
            </a:pPr>
            <a:endParaRPr lang="zh-CN" altLang="en-US" sz="160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26"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03</a:t>
            </a:r>
            <a:endParaRPr lang="zh-CN" altLang="en-US" sz="9600" b="0" i="0">
              <a:solidFill>
                <a:srgbClr val="005375"/>
              </a:solidFill>
              <a:latin typeface="Arial Black" panose="020B0A04020102020204"/>
              <a:ea typeface="Arial Black" panose="020B0A04020102020204"/>
            </a:endParaRPr>
          </a:p>
        </p:txBody>
      </p:sp>
      <p:sp>
        <p:nvSpPr>
          <p:cNvPr id="127"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THREE</a:t>
            </a:r>
            <a:endParaRPr lang="zh-CN" altLang="en-US" sz="1300" b="0" i="0" spc="300">
              <a:solidFill>
                <a:srgbClr val="8CA3AF"/>
              </a:solidFill>
              <a:latin typeface="Arial" panose="020B0604020202020204"/>
              <a:ea typeface="Arial" panose="020B0604020202020204"/>
            </a:endParaRPr>
          </a:p>
        </p:txBody>
      </p:sp>
      <p:sp>
        <p:nvSpPr>
          <p:cNvPr id="128" name="TextBox 6"/>
          <p:cNvSpPr txBox="1"/>
          <p:nvPr/>
        </p:nvSpPr>
        <p:spPr>
          <a:xfrm>
            <a:off x="786130" y="2834640"/>
            <a:ext cx="4455795" cy="1129030"/>
          </a:xfrm>
          <a:prstGeom prst="rect">
            <a:avLst/>
          </a:prstGeom>
          <a:noFill/>
        </p:spPr>
        <p:txBody>
          <a:bodyPr wrap="square" lIns="27432" tIns="13716" rIns="27432" bIns="13716" anchor="t">
            <a:spAutoFit/>
          </a:bodyPr>
          <a:lstStyle/>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科学问题、研究方案与</a:t>
            </a:r>
            <a:endParaRPr lang="zh-CN" altLang="en-US" sz="3200" b="1" i="0">
              <a:solidFill>
                <a:srgbClr val="005375"/>
              </a:solidFill>
              <a:latin typeface="微软雅黑" panose="020B0503020204020204" pitchFamily="34" charset="-122"/>
              <a:ea typeface="微软雅黑" panose="020B0503020204020204" pitchFamily="34" charset="-122"/>
            </a:endParaRPr>
          </a:p>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研究内容</a:t>
            </a:r>
            <a:endParaRPr lang="zh-CN" altLang="en-US" sz="3200" b="1" i="0">
              <a:solidFill>
                <a:srgbClr val="005375"/>
              </a:solidFill>
              <a:latin typeface="微软雅黑" panose="020B0503020204020204" pitchFamily="34" charset="-122"/>
              <a:ea typeface="微软雅黑" panose="020B0503020204020204" pitchFamily="34" charset="-122"/>
            </a:endParaRPr>
          </a:p>
        </p:txBody>
      </p:sp>
      <p:sp>
        <p:nvSpPr>
          <p:cNvPr id="129" name="Rounded Rectangle 9"/>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0" name="TextBox 11"/>
          <p:cNvSpPr txBox="1"/>
          <p:nvPr/>
        </p:nvSpPr>
        <p:spPr>
          <a:xfrm>
            <a:off x="6537960" y="1741678"/>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响应机制／条件化边界／瓶颈识别三个科学问题</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1" name="Rounded Rectangle 12"/>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2" name="TextBox 14"/>
          <p:cNvSpPr txBox="1"/>
          <p:nvPr/>
        </p:nvSpPr>
        <p:spPr>
          <a:xfrm>
            <a:off x="6537960" y="3186430"/>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可检验、可被模拟实验支持或推翻的三个研究假设</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3" name="Rounded Rectangle 15"/>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4" name="TextBox 17"/>
          <p:cNvSpPr txBox="1"/>
          <p:nvPr/>
        </p:nvSpPr>
        <p:spPr>
          <a:xfrm>
            <a:off x="6537960" y="4631182"/>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从概念到模型、从实验到边界求解四项研究内容</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5" name="Rectangle 9"/>
          <p:cNvSpPr/>
          <p:nvPr/>
        </p:nvSpPr>
        <p:spPr>
          <a:xfrm>
            <a:off x="5760720" y="1618488"/>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1</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36" name="Rectangle 12"/>
          <p:cNvSpPr/>
          <p:nvPr/>
        </p:nvSpPr>
        <p:spPr>
          <a:xfrm>
            <a:off x="5760720" y="3063240"/>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2</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37" name="Rectangle 15"/>
          <p:cNvSpPr/>
          <p:nvPr/>
        </p:nvSpPr>
        <p:spPr>
          <a:xfrm>
            <a:off x="5760720" y="4507992"/>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3</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3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核心概念：CAWCC 条件化 AI 水承载容量</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142" name="Rounded Rectangle 4"/>
          <p:cNvSpPr/>
          <p:nvPr/>
        </p:nvSpPr>
        <p:spPr>
          <a:xfrm>
            <a:off x="484632" y="914400"/>
            <a:ext cx="5760720" cy="23957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43" name="Rectangle 5"/>
          <p:cNvSpPr/>
          <p:nvPr/>
        </p:nvSpPr>
        <p:spPr>
          <a:xfrm>
            <a:off x="502920" y="932688"/>
            <a:ext cx="57241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CAWCC 是什么</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44" name="TextBox 6"/>
          <p:cNvSpPr txBox="1"/>
          <p:nvPr/>
        </p:nvSpPr>
        <p:spPr>
          <a:xfrm>
            <a:off x="685800" y="1444752"/>
            <a:ext cx="5394960" cy="822960"/>
          </a:xfrm>
          <a:prstGeom prst="rect">
            <a:avLst/>
          </a:prstGeom>
          <a:noFill/>
        </p:spPr>
        <p:txBody>
          <a:bodyPr wrap="square" lIns="27432" tIns="13716" rIns="27432" bIns="13716" anchor="t">
            <a:spAutoFit/>
          </a:bodyPr>
          <a:lstStyle/>
          <a:p>
            <a:pPr algn="l">
              <a:lnSpc>
                <a:spcPct val="128000"/>
              </a:lnSpc>
            </a:pPr>
            <a:r>
              <a:rPr lang="zh-CN" altLang="en-US" sz="1300" b="0" i="0">
                <a:solidFill>
                  <a:srgbClr val="1F2A33"/>
                </a:solidFill>
                <a:latin typeface="微软雅黑" panose="020B0503020204020204" pitchFamily="34" charset="-122"/>
                <a:ea typeface="微软雅黑" panose="020B0503020204020204" pitchFamily="34" charset="-122"/>
              </a:rPr>
              <a:t>Conditional AI Water Carrying Capacity：在给定水源结构、气象条件、技术水平与运行策略下，城市人工水系统可承载的 AI 算力相关用水规模。</a:t>
            </a:r>
            <a:endParaRPr lang="zh-CN" altLang="en-US" sz="1300" b="0" i="0">
              <a:solidFill>
                <a:srgbClr val="1F2A33"/>
              </a:solidFill>
              <a:latin typeface="微软雅黑" panose="020B0503020204020204" pitchFamily="34" charset="-122"/>
              <a:ea typeface="微软雅黑" panose="020B0503020204020204" pitchFamily="34" charset="-122"/>
            </a:endParaRPr>
          </a:p>
        </p:txBody>
      </p:sp>
      <p:sp>
        <p:nvSpPr>
          <p:cNvPr id="145" name="Rounded Rectangle 7"/>
          <p:cNvSpPr/>
          <p:nvPr/>
        </p:nvSpPr>
        <p:spPr>
          <a:xfrm>
            <a:off x="6858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条件化</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146" name="Rounded Rectangle 8"/>
          <p:cNvSpPr/>
          <p:nvPr/>
        </p:nvSpPr>
        <p:spPr>
          <a:xfrm>
            <a:off x="25146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可计算</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147" name="Rounded Rectangle 9"/>
          <p:cNvSpPr/>
          <p:nvPr/>
        </p:nvSpPr>
        <p:spPr>
          <a:xfrm>
            <a:off x="43434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可比较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148" name="Rectangle 10"/>
          <p:cNvSpPr/>
          <p:nvPr/>
        </p:nvSpPr>
        <p:spPr>
          <a:xfrm>
            <a:off x="685800" y="2779776"/>
            <a:ext cx="5349240" cy="457200"/>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50" b="1" i="0">
                <a:solidFill>
                  <a:srgbClr val="005375"/>
                </a:solidFill>
                <a:latin typeface="微软雅黑" panose="020B0503020204020204" pitchFamily="34" charset="-122"/>
                <a:ea typeface="微软雅黑" panose="020B0503020204020204" pitchFamily="34" charset="-122"/>
              </a:rPr>
              <a:t>不是单一总量阈值，而是一组随条件变化的容量维度；输出同时给出主导瓶颈。</a:t>
            </a:r>
            <a:endParaRPr lang="zh-CN" altLang="en-US" sz="1250" b="1" i="0">
              <a:solidFill>
                <a:srgbClr val="005375"/>
              </a:solidFill>
              <a:latin typeface="微软雅黑" panose="020B0503020204020204" pitchFamily="34" charset="-122"/>
              <a:ea typeface="微软雅黑" panose="020B0503020204020204" pitchFamily="34" charset="-122"/>
            </a:endParaRPr>
          </a:p>
        </p:txBody>
      </p:sp>
      <p:sp>
        <p:nvSpPr>
          <p:cNvPr id="149" name="Rounded Rectangle 11"/>
          <p:cNvSpPr/>
          <p:nvPr/>
        </p:nvSpPr>
        <p:spPr>
          <a:xfrm>
            <a:off x="484632" y="3474720"/>
            <a:ext cx="5760720" cy="23957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0" name="Rectangle 12"/>
          <p:cNvSpPr/>
          <p:nvPr/>
        </p:nvSpPr>
        <p:spPr>
          <a:xfrm>
            <a:off x="502920" y="3493008"/>
            <a:ext cx="57241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与既有水足迹 / WUE 指标的区别</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51" name="Rectangle 13"/>
          <p:cNvSpPr/>
          <p:nvPr/>
        </p:nvSpPr>
        <p:spPr>
          <a:xfrm>
            <a:off x="628650" y="3926205"/>
            <a:ext cx="106984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2" name="TextBox 14"/>
          <p:cNvSpPr txBox="1"/>
          <p:nvPr/>
        </p:nvSpPr>
        <p:spPr>
          <a:xfrm>
            <a:off x="628650" y="3926205"/>
            <a:ext cx="106984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对比维度</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3" name="Rectangle 15"/>
          <p:cNvSpPr/>
          <p:nvPr/>
        </p:nvSpPr>
        <p:spPr>
          <a:xfrm>
            <a:off x="1725930" y="3926205"/>
            <a:ext cx="216712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4" name="TextBox 16"/>
          <p:cNvSpPr txBox="1"/>
          <p:nvPr/>
        </p:nvSpPr>
        <p:spPr>
          <a:xfrm>
            <a:off x="1725930" y="3926205"/>
            <a:ext cx="216712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既有水足迹 / WUE 指标</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5" name="Rectangle 17"/>
          <p:cNvSpPr/>
          <p:nvPr/>
        </p:nvSpPr>
        <p:spPr>
          <a:xfrm>
            <a:off x="3920489" y="3926205"/>
            <a:ext cx="216712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6" name="TextBox 18"/>
          <p:cNvSpPr txBox="1"/>
          <p:nvPr/>
        </p:nvSpPr>
        <p:spPr>
          <a:xfrm>
            <a:off x="3920489" y="3926205"/>
            <a:ext cx="216712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CAWCC</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7" name="Rectangle 19"/>
          <p:cNvSpPr/>
          <p:nvPr/>
        </p:nvSpPr>
        <p:spPr>
          <a:xfrm>
            <a:off x="628650" y="4397121"/>
            <a:ext cx="106984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8" name="TextBox 20"/>
          <p:cNvSpPr txBox="1"/>
          <p:nvPr/>
        </p:nvSpPr>
        <p:spPr>
          <a:xfrm>
            <a:off x="674370" y="4397121"/>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评价对象</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59" name="Rectangle 21"/>
          <p:cNvSpPr/>
          <p:nvPr/>
        </p:nvSpPr>
        <p:spPr>
          <a:xfrm>
            <a:off x="1725930" y="4397121"/>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0" name="TextBox 22"/>
          <p:cNvSpPr txBox="1"/>
          <p:nvPr/>
        </p:nvSpPr>
        <p:spPr>
          <a:xfrm>
            <a:off x="1771650" y="4397121"/>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设施自身用水效率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1" name="Rectangle 23"/>
          <p:cNvSpPr/>
          <p:nvPr/>
        </p:nvSpPr>
        <p:spPr>
          <a:xfrm>
            <a:off x="3920489" y="4397121"/>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2" name="TextBox 24"/>
          <p:cNvSpPr txBox="1"/>
          <p:nvPr/>
        </p:nvSpPr>
        <p:spPr>
          <a:xfrm>
            <a:off x="3966209" y="4397121"/>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城市系统可承载规模</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3" name="Rectangle 25"/>
          <p:cNvSpPr/>
          <p:nvPr/>
        </p:nvSpPr>
        <p:spPr>
          <a:xfrm>
            <a:off x="628650" y="4868037"/>
            <a:ext cx="106984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4" name="TextBox 26"/>
          <p:cNvSpPr txBox="1"/>
          <p:nvPr/>
        </p:nvSpPr>
        <p:spPr>
          <a:xfrm>
            <a:off x="674370" y="4868037"/>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表达方式</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65" name="Rectangle 27"/>
          <p:cNvSpPr/>
          <p:nvPr/>
        </p:nvSpPr>
        <p:spPr>
          <a:xfrm>
            <a:off x="1725930" y="4868037"/>
            <a:ext cx="216712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6" name="TextBox 28"/>
          <p:cNvSpPr txBox="1"/>
          <p:nvPr/>
        </p:nvSpPr>
        <p:spPr>
          <a:xfrm>
            <a:off x="1771650" y="4868037"/>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单值或强度指标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7" name="Rectangle 29"/>
          <p:cNvSpPr/>
          <p:nvPr/>
        </p:nvSpPr>
        <p:spPr>
          <a:xfrm>
            <a:off x="3920489" y="4868037"/>
            <a:ext cx="216712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8" name="TextBox 30"/>
          <p:cNvSpPr txBox="1"/>
          <p:nvPr/>
        </p:nvSpPr>
        <p:spPr>
          <a:xfrm>
            <a:off x="3966209" y="4868037"/>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随条件变化的容量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9" name="Rectangle 31"/>
          <p:cNvSpPr/>
          <p:nvPr/>
        </p:nvSpPr>
        <p:spPr>
          <a:xfrm>
            <a:off x="628650" y="5338952"/>
            <a:ext cx="106984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0" name="TextBox 32"/>
          <p:cNvSpPr txBox="1"/>
          <p:nvPr/>
        </p:nvSpPr>
        <p:spPr>
          <a:xfrm>
            <a:off x="674370" y="5338952"/>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决策用途</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71" name="Rectangle 33"/>
          <p:cNvSpPr/>
          <p:nvPr/>
        </p:nvSpPr>
        <p:spPr>
          <a:xfrm>
            <a:off x="1725930" y="5338952"/>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2" name="TextBox 34"/>
          <p:cNvSpPr txBox="1"/>
          <p:nvPr/>
        </p:nvSpPr>
        <p:spPr>
          <a:xfrm>
            <a:off x="1771650" y="5338952"/>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设施节水改造</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73" name="Rectangle 35"/>
          <p:cNvSpPr/>
          <p:nvPr/>
        </p:nvSpPr>
        <p:spPr>
          <a:xfrm>
            <a:off x="3920489" y="5338952"/>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4" name="TextBox 36"/>
          <p:cNvSpPr txBox="1"/>
          <p:nvPr/>
        </p:nvSpPr>
        <p:spPr>
          <a:xfrm>
            <a:off x="3966209" y="5338952"/>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规划承载与干预排序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75" name="Rounded Rectangle 37"/>
          <p:cNvSpPr/>
          <p:nvPr/>
        </p:nvSpPr>
        <p:spPr>
          <a:xfrm>
            <a:off x="6400800" y="914400"/>
            <a:ext cx="5303520" cy="42245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6" name="Rectangle 38"/>
          <p:cNvSpPr/>
          <p:nvPr/>
        </p:nvSpPr>
        <p:spPr>
          <a:xfrm>
            <a:off x="6419088" y="932688"/>
            <a:ext cx="52669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CAWCC 的条件维度</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77" name="Rectangle 39"/>
          <p:cNvSpPr/>
          <p:nvPr/>
        </p:nvSpPr>
        <p:spPr>
          <a:xfrm>
            <a:off x="6601968" y="1481328"/>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8" name="TextBox 40"/>
          <p:cNvSpPr txBox="1"/>
          <p:nvPr/>
        </p:nvSpPr>
        <p:spPr>
          <a:xfrm>
            <a:off x="6601968" y="1481328"/>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79" name="TextBox 41"/>
          <p:cNvSpPr txBox="1"/>
          <p:nvPr/>
        </p:nvSpPr>
        <p:spPr>
          <a:xfrm>
            <a:off x="7242048" y="1444752"/>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水源结构</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80" name="TextBox 42"/>
          <p:cNvSpPr txBox="1"/>
          <p:nvPr/>
        </p:nvSpPr>
        <p:spPr>
          <a:xfrm>
            <a:off x="7242048" y="1719072"/>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再生水 · 淡水占比</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81" name="Connector 43"/>
          <p:cNvCxnSpPr/>
          <p:nvPr/>
        </p:nvCxnSpPr>
        <p:spPr>
          <a:xfrm>
            <a:off x="6601968" y="2212848"/>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82" name="Rectangle 44"/>
          <p:cNvSpPr/>
          <p:nvPr/>
        </p:nvSpPr>
        <p:spPr>
          <a:xfrm>
            <a:off x="6601968" y="2322576"/>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3" name="TextBox 45"/>
          <p:cNvSpPr txBox="1"/>
          <p:nvPr/>
        </p:nvSpPr>
        <p:spPr>
          <a:xfrm>
            <a:off x="6601968" y="2322576"/>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气</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84" name="TextBox 46"/>
          <p:cNvSpPr txBox="1"/>
          <p:nvPr/>
        </p:nvSpPr>
        <p:spPr>
          <a:xfrm>
            <a:off x="7242048" y="2286000"/>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气象条件</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85" name="TextBox 47"/>
          <p:cNvSpPr txBox="1"/>
          <p:nvPr/>
        </p:nvSpPr>
        <p:spPr>
          <a:xfrm>
            <a:off x="7242048" y="2560320"/>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气温、湿度、季节</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86" name="Connector 48"/>
          <p:cNvCxnSpPr/>
          <p:nvPr/>
        </p:nvCxnSpPr>
        <p:spPr>
          <a:xfrm>
            <a:off x="6601968" y="3054096"/>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87" name="Rectangle 49"/>
          <p:cNvSpPr/>
          <p:nvPr/>
        </p:nvSpPr>
        <p:spPr>
          <a:xfrm>
            <a:off x="6601968" y="3163824"/>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8" name="TextBox 50"/>
          <p:cNvSpPr txBox="1"/>
          <p:nvPr/>
        </p:nvSpPr>
        <p:spPr>
          <a:xfrm>
            <a:off x="6601968" y="3163824"/>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技</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89" name="TextBox 51"/>
          <p:cNvSpPr txBox="1"/>
          <p:nvPr/>
        </p:nvSpPr>
        <p:spPr>
          <a:xfrm>
            <a:off x="7242048" y="3127248"/>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技术水平</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90" name="TextBox 52"/>
          <p:cNvSpPr txBox="1"/>
          <p:nvPr/>
        </p:nvSpPr>
        <p:spPr>
          <a:xfrm>
            <a:off x="7242048" y="3401568"/>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冷却方式、PUE、浓缩倍数</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91" name="Connector 53"/>
          <p:cNvCxnSpPr/>
          <p:nvPr/>
        </p:nvCxnSpPr>
        <p:spPr>
          <a:xfrm>
            <a:off x="6601968" y="3895344"/>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92" name="Rectangle 54"/>
          <p:cNvSpPr/>
          <p:nvPr/>
        </p:nvSpPr>
        <p:spPr>
          <a:xfrm>
            <a:off x="6601968" y="4005072"/>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93" name="TextBox 55"/>
          <p:cNvSpPr txBox="1"/>
          <p:nvPr/>
        </p:nvSpPr>
        <p:spPr>
          <a:xfrm>
            <a:off x="6601968" y="4005072"/>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运</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94" name="TextBox 56"/>
          <p:cNvSpPr txBox="1"/>
          <p:nvPr/>
        </p:nvSpPr>
        <p:spPr>
          <a:xfrm>
            <a:off x="7242048" y="3968496"/>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运行策略</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95" name="TextBox 57"/>
          <p:cNvSpPr txBox="1"/>
          <p:nvPr/>
        </p:nvSpPr>
        <p:spPr>
          <a:xfrm>
            <a:off x="7242048" y="4242816"/>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调度、蓄水、回用率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196" name="Rectangle 58"/>
          <p:cNvSpPr/>
          <p:nvPr/>
        </p:nvSpPr>
        <p:spPr>
          <a:xfrm>
            <a:off x="6400800" y="5303520"/>
            <a:ext cx="5303520" cy="84124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8288" rIns="274320" bIns="18288" rtlCol="0" anchor="ctr"/>
          <a:lstStyle/>
          <a:p>
            <a:pPr algn="l">
              <a:lnSpc>
                <a:spcPct val="125000"/>
              </a:lnSpc>
            </a:pPr>
            <a:r>
              <a:rPr lang="zh-CN" altLang="en-US" sz="1300" b="1" i="0">
                <a:solidFill>
                  <a:srgbClr val="005375"/>
                </a:solidFill>
                <a:latin typeface="微软雅黑" panose="020B0503020204020204" pitchFamily="34" charset="-122"/>
                <a:ea typeface="微软雅黑" panose="020B0503020204020204" pitchFamily="34" charset="-122"/>
              </a:rPr>
              <a:t>关键：CAWCC 同时输出“可承载规模“与“主导瓶颈“，使容量结论具备可解释性与可干预性。</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197" name="Rectangle 59"/>
          <p:cNvSpPr/>
          <p:nvPr/>
        </p:nvSpPr>
        <p:spPr>
          <a:xfrm>
            <a:off x="6547104" y="5449824"/>
            <a:ext cx="54864"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35" name=""/>
        <p:cNvGrpSpPr/>
        <p:nvPr/>
      </p:nvGrpSpPr>
      <p:grpSpPr>
        <a:xfrm>
          <a:off x="0" y="0"/>
          <a:ext cx="0" cy="0"/>
          <a:chOff x="0" y="0"/>
          <a:chExt cx="0" cy="0"/>
        </a:xfrm>
      </p:grpSpPr>
      <p:sp>
        <p:nvSpPr>
          <p:cNvPr id="436" name="标题 1"/>
          <p:cNvSpPr>
            <a:spLocks noGrp="1"/>
          </p:cNvSpPr>
          <p:nvPr>
            <p:ph type="title"/>
          </p:nvPr>
        </p:nvSpPr>
        <p:spPr/>
        <p:txBody>
          <a:bodyPr/>
          <a:p>
            <a:endParaRPr lang="zh-CN" altLang="en-US"/>
          </a:p>
        </p:txBody>
      </p:sp>
      <p:pic>
        <p:nvPicPr>
          <p:cNvPr id="437" name="内容占位符 3"/>
          <p:cNvPicPr>
            <a:picLocks noChangeAspect="1"/>
          </p:cNvPicPr>
          <p:nvPr>
            <p:ph idx="1"/>
          </p:nvPr>
        </p:nvPicPr>
        <p:blipFill>
          <a:blip r:embed="rId1"/>
          <a:stretch>
            <a:fillRect/>
          </a:stretch>
        </p:blipFill>
        <p:spPr>
          <a:xfrm>
            <a:off x="0" y="0"/>
            <a:ext cx="12191365" cy="68618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sp>
        <p:nvSpPr>
          <p:cNvPr id="227"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四项研究内容：从概念到边界求解</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230" name="Rounded Rectangle 4"/>
          <p:cNvSpPr/>
          <p:nvPr/>
        </p:nvSpPr>
        <p:spPr>
          <a:xfrm>
            <a:off x="48463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1" name="Rectangle 5"/>
          <p:cNvSpPr/>
          <p:nvPr/>
        </p:nvSpPr>
        <p:spPr>
          <a:xfrm>
            <a:off x="50292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32" name="Rectangle 6"/>
          <p:cNvSpPr/>
          <p:nvPr/>
        </p:nvSpPr>
        <p:spPr>
          <a:xfrm>
            <a:off x="50292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01</a:t>
            </a:r>
            <a:endParaRPr lang="zh-CN" altLang="en-US" sz="2400" b="1" i="0">
              <a:solidFill>
                <a:srgbClr val="FFFFFF"/>
              </a:solidFill>
              <a:latin typeface="Arial" panose="020B0604020202020204"/>
              <a:ea typeface="Arial" panose="020B0604020202020204"/>
            </a:endParaRPr>
          </a:p>
        </p:txBody>
      </p:sp>
      <p:sp>
        <p:nvSpPr>
          <p:cNvPr id="233" name="TextBox 7"/>
          <p:cNvSpPr txBox="1"/>
          <p:nvPr/>
        </p:nvSpPr>
        <p:spPr>
          <a:xfrm>
            <a:off x="62179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AI 算力节点的水代谢表征</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34" name="Connector 8"/>
          <p:cNvCxnSpPr/>
          <p:nvPr/>
        </p:nvCxnSpPr>
        <p:spPr>
          <a:xfrm>
            <a:off x="62179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35" name="TextBox 9"/>
          <p:cNvSpPr txBox="1"/>
          <p:nvPr/>
        </p:nvSpPr>
        <p:spPr>
          <a:xfrm>
            <a:off x="62179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构建“算力 → 热 → 冷却 → 补水/排水“链条，形成可嵌入城市水系统的节点模块。</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36" name="Rounded Rectangle 10"/>
          <p:cNvSpPr/>
          <p:nvPr/>
        </p:nvSpPr>
        <p:spPr>
          <a:xfrm>
            <a:off x="62179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37" name="TextBox 11"/>
          <p:cNvSpPr txBox="1"/>
          <p:nvPr/>
        </p:nvSpPr>
        <p:spPr>
          <a:xfrm>
            <a:off x="62179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节点水代谢通量如何生成？</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38" name="Rounded Rectangle 12"/>
          <p:cNvSpPr/>
          <p:nvPr/>
        </p:nvSpPr>
        <p:spPr>
          <a:xfrm>
            <a:off x="62179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39" name="TextBox 13"/>
          <p:cNvSpPr txBox="1"/>
          <p:nvPr/>
        </p:nvSpPr>
        <p:spPr>
          <a:xfrm>
            <a:off x="62179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AI 节点水代谢模块</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40" name="Rounded Rectangle 14"/>
          <p:cNvSpPr/>
          <p:nvPr/>
        </p:nvSpPr>
        <p:spPr>
          <a:xfrm>
            <a:off x="331927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41" name="Rectangle 15"/>
          <p:cNvSpPr/>
          <p:nvPr/>
        </p:nvSpPr>
        <p:spPr>
          <a:xfrm>
            <a:off x="333756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42" name="Rectangle 16"/>
          <p:cNvSpPr/>
          <p:nvPr/>
        </p:nvSpPr>
        <p:spPr>
          <a:xfrm>
            <a:off x="333756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02</a:t>
            </a:r>
            <a:endParaRPr lang="zh-CN" altLang="en-US" sz="2400" b="1" i="0">
              <a:solidFill>
                <a:srgbClr val="FFFFFF"/>
              </a:solidFill>
              <a:latin typeface="Arial" panose="020B0604020202020204"/>
              <a:ea typeface="Arial" panose="020B0604020202020204"/>
            </a:endParaRPr>
          </a:p>
        </p:txBody>
      </p:sp>
      <p:sp>
        <p:nvSpPr>
          <p:cNvPr id="243" name="TextBox 17"/>
          <p:cNvSpPr txBox="1"/>
          <p:nvPr/>
        </p:nvSpPr>
        <p:spPr>
          <a:xfrm>
            <a:off x="345643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城市人工水系统耦合模型</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44" name="Connector 18"/>
          <p:cNvCxnSpPr/>
          <p:nvPr/>
        </p:nvCxnSpPr>
        <p:spPr>
          <a:xfrm>
            <a:off x="345643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45" name="TextBox 19"/>
          <p:cNvSpPr txBox="1"/>
          <p:nvPr/>
        </p:nvSpPr>
        <p:spPr>
          <a:xfrm>
            <a:off x="345643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建立取水—处理—输配—使用—排放—回用的全过程网络模型并嵌入节点模块。</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46" name="Rounded Rectangle 20"/>
          <p:cNvSpPr/>
          <p:nvPr/>
        </p:nvSpPr>
        <p:spPr>
          <a:xfrm>
            <a:off x="345643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47" name="TextBox 21"/>
          <p:cNvSpPr txBox="1"/>
          <p:nvPr/>
        </p:nvSpPr>
        <p:spPr>
          <a:xfrm>
            <a:off x="345643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系统如何响应节点接入？</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48" name="Rounded Rectangle 22"/>
          <p:cNvSpPr/>
          <p:nvPr/>
        </p:nvSpPr>
        <p:spPr>
          <a:xfrm>
            <a:off x="345643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49" name="TextBox 23"/>
          <p:cNvSpPr txBox="1"/>
          <p:nvPr/>
        </p:nvSpPr>
        <p:spPr>
          <a:xfrm>
            <a:off x="345643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耦合水代谢模型</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50" name="Rounded Rectangle 24"/>
          <p:cNvSpPr/>
          <p:nvPr/>
        </p:nvSpPr>
        <p:spPr>
          <a:xfrm>
            <a:off x="615391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51" name="Rectangle 25"/>
          <p:cNvSpPr/>
          <p:nvPr/>
        </p:nvSpPr>
        <p:spPr>
          <a:xfrm>
            <a:off x="617220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52" name="Rectangle 26"/>
          <p:cNvSpPr/>
          <p:nvPr/>
        </p:nvSpPr>
        <p:spPr>
          <a:xfrm>
            <a:off x="617220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03</a:t>
            </a:r>
            <a:endParaRPr lang="zh-CN" altLang="en-US" sz="2400" b="1" i="0">
              <a:solidFill>
                <a:srgbClr val="FFFFFF"/>
              </a:solidFill>
              <a:latin typeface="Arial" panose="020B0604020202020204"/>
              <a:ea typeface="Arial" panose="020B0604020202020204"/>
            </a:endParaRPr>
          </a:p>
        </p:txBody>
      </p:sp>
      <p:sp>
        <p:nvSpPr>
          <p:cNvPr id="253" name="TextBox 27"/>
          <p:cNvSpPr txBox="1"/>
          <p:nvPr/>
        </p:nvSpPr>
        <p:spPr>
          <a:xfrm>
            <a:off x="629107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条件化承载边界求解</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54" name="Connector 28"/>
          <p:cNvCxnSpPr/>
          <p:nvPr/>
        </p:nvCxnSpPr>
        <p:spPr>
          <a:xfrm>
            <a:off x="629107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55" name="TextBox 29"/>
          <p:cNvSpPr txBox="1"/>
          <p:nvPr/>
        </p:nvSpPr>
        <p:spPr>
          <a:xfrm>
            <a:off x="629107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定义并求解 CAWCC，扫描水源、气象、技术与运行策略组合下的容量曲面。</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56" name="Rounded Rectangle 30"/>
          <p:cNvSpPr/>
          <p:nvPr/>
        </p:nvSpPr>
        <p:spPr>
          <a:xfrm>
            <a:off x="629107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57" name="TextBox 31"/>
          <p:cNvSpPr txBox="1"/>
          <p:nvPr/>
        </p:nvSpPr>
        <p:spPr>
          <a:xfrm>
            <a:off x="629107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边界如何条件化？</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58" name="Rounded Rectangle 32"/>
          <p:cNvSpPr/>
          <p:nvPr/>
        </p:nvSpPr>
        <p:spPr>
          <a:xfrm>
            <a:off x="629107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59" name="TextBox 33"/>
          <p:cNvSpPr txBox="1"/>
          <p:nvPr/>
        </p:nvSpPr>
        <p:spPr>
          <a:xfrm>
            <a:off x="629107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CAWCC 容量曲面</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60" name="Rounded Rectangle 34"/>
          <p:cNvSpPr/>
          <p:nvPr/>
        </p:nvSpPr>
        <p:spPr>
          <a:xfrm>
            <a:off x="898855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61" name="Rectangle 35"/>
          <p:cNvSpPr/>
          <p:nvPr/>
        </p:nvSpPr>
        <p:spPr>
          <a:xfrm>
            <a:off x="900684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62" name="Rectangle 36"/>
          <p:cNvSpPr/>
          <p:nvPr/>
        </p:nvSpPr>
        <p:spPr>
          <a:xfrm>
            <a:off x="900684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04</a:t>
            </a:r>
            <a:endParaRPr lang="zh-CN" altLang="en-US" sz="2400" b="1" i="0">
              <a:solidFill>
                <a:srgbClr val="FFFFFF"/>
              </a:solidFill>
              <a:latin typeface="Arial" panose="020B0604020202020204"/>
              <a:ea typeface="Arial" panose="020B0604020202020204"/>
            </a:endParaRPr>
          </a:p>
        </p:txBody>
      </p:sp>
      <p:sp>
        <p:nvSpPr>
          <p:cNvPr id="263" name="TextBox 37"/>
          <p:cNvSpPr txBox="1"/>
          <p:nvPr/>
        </p:nvSpPr>
        <p:spPr>
          <a:xfrm>
            <a:off x="912571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主导瓶颈识别与干预评估</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64" name="Connector 38"/>
          <p:cNvCxnSpPr/>
          <p:nvPr/>
        </p:nvCxnSpPr>
        <p:spPr>
          <a:xfrm>
            <a:off x="912571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65" name="TextBox 39"/>
          <p:cNvSpPr txBox="1"/>
          <p:nvPr/>
        </p:nvSpPr>
        <p:spPr>
          <a:xfrm>
            <a:off x="912571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通过敏感性分析识别主导瓶颈，比较不同干预措施对承载能力的提升效果。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66" name="Rounded Rectangle 40"/>
          <p:cNvSpPr/>
          <p:nvPr/>
        </p:nvSpPr>
        <p:spPr>
          <a:xfrm>
            <a:off x="912571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67" name="TextBox 41"/>
          <p:cNvSpPr txBox="1"/>
          <p:nvPr/>
        </p:nvSpPr>
        <p:spPr>
          <a:xfrm>
            <a:off x="912571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瓶颈是什么、如何干预？</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68" name="Rounded Rectangle 42"/>
          <p:cNvSpPr/>
          <p:nvPr/>
        </p:nvSpPr>
        <p:spPr>
          <a:xfrm>
            <a:off x="912571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69" name="TextBox 43"/>
          <p:cNvSpPr txBox="1"/>
          <p:nvPr/>
        </p:nvSpPr>
        <p:spPr>
          <a:xfrm>
            <a:off x="912571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瓶颈排序与干预建议</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51" name=""/>
        <p:cNvGrpSpPr/>
        <p:nvPr/>
      </p:nvGrpSpPr>
      <p:grpSpPr>
        <a:xfrm>
          <a:off x="0" y="0"/>
          <a:ext cx="0" cy="0"/>
          <a:chOff x="0" y="0"/>
          <a:chExt cx="0" cy="0"/>
        </a:xfrm>
      </p:grpSpPr>
      <p:sp>
        <p:nvSpPr>
          <p:cNvPr id="352" name="Title 1"/>
          <p:cNvSpPr>
            <a:spLocks noGrp="1"/>
          </p:cNvSpPr>
          <p:nvPr>
            <p:ph type="title"/>
          </p:nvPr>
        </p:nvSpPr>
        <p:spPr>
          <a:xfrm>
            <a:off x="484632" y="118872"/>
            <a:ext cx="11210544" cy="621792"/>
          </a:xfrm>
        </p:spPr>
        <p:txBody>
          <a:bodyPr wrap="square" lIns="0" tIns="18288" rIns="0" bIns="18288" anchor="ctr"/>
          <a:lstStyle/>
          <a:p>
            <a:pPr algn="l"/>
            <a:r>
              <a:rPr lang="zh-CN" altLang="en-US" sz="2300" b="1" i="0">
                <a:solidFill>
                  <a:srgbClr val="000000"/>
                </a:solidFill>
                <a:latin typeface="微软雅黑" panose="020B0503020204020204" pitchFamily="34" charset="-122"/>
                <a:ea typeface="微软雅黑" panose="020B0503020204020204" pitchFamily="34" charset="-122"/>
              </a:rPr>
              <a:t>研究方案总体框架：从数据到边界的技术路线</a:t>
            </a:r>
            <a:endParaRPr lang="zh-CN" altLang="en-US" sz="2300" b="1" i="0">
              <a:solidFill>
                <a:srgbClr val="000000"/>
              </a:solidFill>
              <a:latin typeface="微软雅黑" panose="020B0503020204020204" pitchFamily="34" charset="-122"/>
              <a:ea typeface="微软雅黑" panose="020B0503020204020204" pitchFamily="34" charset="-122"/>
            </a:endParaRPr>
          </a:p>
        </p:txBody>
      </p:sp>
      <p:sp>
        <p:nvSpPr>
          <p:cNvPr id="355" name="Rounded Rectangle 8"/>
          <p:cNvSpPr/>
          <p:nvPr/>
        </p:nvSpPr>
        <p:spPr>
          <a:xfrm>
            <a:off x="48463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56" name="Rectangle 9"/>
          <p:cNvSpPr/>
          <p:nvPr/>
        </p:nvSpPr>
        <p:spPr>
          <a:xfrm>
            <a:off x="50292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57" name="TextBox 11"/>
          <p:cNvSpPr txBox="1"/>
          <p:nvPr/>
        </p:nvSpPr>
        <p:spPr>
          <a:xfrm>
            <a:off x="484505" y="1069975"/>
            <a:ext cx="2684145" cy="297180"/>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数据构建与场景设定</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58" name="TextBox 12"/>
          <p:cNvSpPr txBox="1"/>
          <p:nvPr/>
        </p:nvSpPr>
        <p:spPr>
          <a:xfrm>
            <a:off x="59436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多源数据融合，构建研究基础</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59" name="Rounded Rectangle 13"/>
          <p:cNvSpPr/>
          <p:nvPr/>
        </p:nvSpPr>
        <p:spPr>
          <a:xfrm>
            <a:off x="331927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60" name="Rectangle 14"/>
          <p:cNvSpPr/>
          <p:nvPr/>
        </p:nvSpPr>
        <p:spPr>
          <a:xfrm>
            <a:off x="333756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1" name="TextBox 16"/>
          <p:cNvSpPr txBox="1"/>
          <p:nvPr/>
        </p:nvSpPr>
        <p:spPr>
          <a:xfrm>
            <a:off x="3319145" y="1069975"/>
            <a:ext cx="2684145" cy="297180"/>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多过程耦合模型构建</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62" name="TextBox 17"/>
          <p:cNvSpPr txBox="1"/>
          <p:nvPr/>
        </p:nvSpPr>
        <p:spPr>
          <a:xfrm>
            <a:off x="342900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从算力节点到城市水系统的全过程模拟</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63" name="Rounded Rectangle 18"/>
          <p:cNvSpPr/>
          <p:nvPr/>
        </p:nvSpPr>
        <p:spPr>
          <a:xfrm>
            <a:off x="615391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64" name="Rectangle 19"/>
          <p:cNvSpPr/>
          <p:nvPr/>
        </p:nvSpPr>
        <p:spPr>
          <a:xfrm>
            <a:off x="617220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5" name="TextBox 21"/>
          <p:cNvSpPr txBox="1"/>
          <p:nvPr/>
        </p:nvSpPr>
        <p:spPr>
          <a:xfrm>
            <a:off x="6153785" y="937260"/>
            <a:ext cx="2684145" cy="568325"/>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情景模拟与敏感性分析</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66" name="TextBox 22"/>
          <p:cNvSpPr txBox="1"/>
          <p:nvPr/>
        </p:nvSpPr>
        <p:spPr>
          <a:xfrm>
            <a:off x="626364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识别关键影响因素与系统响应特征</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67" name="Rounded Rectangle 23"/>
          <p:cNvSpPr/>
          <p:nvPr/>
        </p:nvSpPr>
        <p:spPr>
          <a:xfrm>
            <a:off x="898855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68" name="Rectangle 24"/>
          <p:cNvSpPr/>
          <p:nvPr/>
        </p:nvSpPr>
        <p:spPr>
          <a:xfrm>
            <a:off x="900684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9" name="TextBox 26"/>
          <p:cNvSpPr txBox="1"/>
          <p:nvPr/>
        </p:nvSpPr>
        <p:spPr>
          <a:xfrm>
            <a:off x="8988425" y="1069975"/>
            <a:ext cx="2684145" cy="297180"/>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边界求解与方案评估</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70" name="TextBox 27"/>
          <p:cNvSpPr txBox="1"/>
          <p:nvPr/>
        </p:nvSpPr>
        <p:spPr>
          <a:xfrm>
            <a:off x="909828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计算条件化承载边界并提出应对方案</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71" name="TextBox 28"/>
          <p:cNvSpPr txBox="1"/>
          <p:nvPr/>
        </p:nvSpPr>
        <p:spPr>
          <a:xfrm>
            <a:off x="594360" y="181051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数据来源</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372" name="Connector 29"/>
          <p:cNvCxnSpPr/>
          <p:nvPr/>
        </p:nvCxnSpPr>
        <p:spPr>
          <a:xfrm>
            <a:off x="594360" y="2066543"/>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373" name="Rounded Rectangle 30"/>
          <p:cNvSpPr/>
          <p:nvPr/>
        </p:nvSpPr>
        <p:spPr>
          <a:xfrm>
            <a:off x="594360" y="2103120"/>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74" name="TextBox 31"/>
          <p:cNvSpPr txBox="1"/>
          <p:nvPr/>
        </p:nvSpPr>
        <p:spPr>
          <a:xfrm>
            <a:off x="667512" y="2121408"/>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算力与数据中心数据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75" name="TextBox 32"/>
          <p:cNvSpPr txBox="1"/>
          <p:nvPr/>
        </p:nvSpPr>
        <p:spPr>
          <a:xfrm>
            <a:off x="667512" y="2322576"/>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IT负载、功率、PUE、冷却方式</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76" name="Rounded Rectangle 33"/>
          <p:cNvSpPr/>
          <p:nvPr/>
        </p:nvSpPr>
        <p:spPr>
          <a:xfrm>
            <a:off x="594360" y="2578608"/>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77" name="TextBox 34"/>
          <p:cNvSpPr txBox="1"/>
          <p:nvPr/>
        </p:nvSpPr>
        <p:spPr>
          <a:xfrm>
            <a:off x="667512" y="2596896"/>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城市水系统数据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78" name="TextBox 35"/>
          <p:cNvSpPr txBox="1"/>
          <p:nvPr/>
        </p:nvSpPr>
        <p:spPr>
          <a:xfrm>
            <a:off x="667512" y="2798063"/>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供水、再生水、污水、管网、用水结构</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79" name="Rounded Rectangle 36"/>
          <p:cNvSpPr/>
          <p:nvPr/>
        </p:nvSpPr>
        <p:spPr>
          <a:xfrm>
            <a:off x="594360" y="3054096"/>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80" name="TextBox 37"/>
          <p:cNvSpPr txBox="1"/>
          <p:nvPr/>
        </p:nvSpPr>
        <p:spPr>
          <a:xfrm>
            <a:off x="667512" y="3072384"/>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气象与环境数据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81" name="TextBox 38"/>
          <p:cNvSpPr txBox="1"/>
          <p:nvPr/>
        </p:nvSpPr>
        <p:spPr>
          <a:xfrm>
            <a:off x="667512" y="3273552"/>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气温、湿度、降水、来水</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82" name="Rounded Rectangle 39"/>
          <p:cNvSpPr/>
          <p:nvPr/>
        </p:nvSpPr>
        <p:spPr>
          <a:xfrm>
            <a:off x="594360" y="3529584"/>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83" name="TextBox 40"/>
          <p:cNvSpPr txBox="1"/>
          <p:nvPr/>
        </p:nvSpPr>
        <p:spPr>
          <a:xfrm>
            <a:off x="667512" y="3547872"/>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规划与运行数据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84" name="TextBox 41"/>
          <p:cNvSpPr txBox="1"/>
          <p:nvPr/>
        </p:nvSpPr>
        <p:spPr>
          <a:xfrm>
            <a:off x="667512" y="3749039"/>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区域规划、运行策略、约束条件</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85" name="TextBox 42"/>
          <p:cNvSpPr txBox="1"/>
          <p:nvPr/>
        </p:nvSpPr>
        <p:spPr>
          <a:xfrm>
            <a:off x="594360" y="4023359"/>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情景设定</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386" name="Connector 43"/>
          <p:cNvCxnSpPr/>
          <p:nvPr/>
        </p:nvCxnSpPr>
        <p:spPr>
          <a:xfrm>
            <a:off x="594360" y="4279392"/>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387" name="TextBox 44"/>
          <p:cNvSpPr txBox="1"/>
          <p:nvPr/>
        </p:nvSpPr>
        <p:spPr>
          <a:xfrm>
            <a:off x="594360" y="4326255"/>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水源结构情景（再生水比例、外调水等）</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88" name="TextBox 45"/>
          <p:cNvSpPr txBox="1"/>
          <p:nvPr/>
        </p:nvSpPr>
        <p:spPr>
          <a:xfrm>
            <a:off x="594360" y="4719447"/>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气候与季节情景（平年、极枯年）</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89" name="TextBox 46"/>
          <p:cNvSpPr txBox="1"/>
          <p:nvPr/>
        </p:nvSpPr>
        <p:spPr>
          <a:xfrm>
            <a:off x="594360" y="4986909"/>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技术情景（冷却方式、PUE、浓缩倍数）</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90" name="TextBox 47"/>
          <p:cNvSpPr txBox="1"/>
          <p:nvPr/>
        </p:nvSpPr>
        <p:spPr>
          <a:xfrm>
            <a:off x="594360" y="5334381"/>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运行策略情景（调度、耗水、回用率）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91" name="Rounded Rectangle 48"/>
          <p:cNvSpPr/>
          <p:nvPr/>
        </p:nvSpPr>
        <p:spPr>
          <a:xfrm>
            <a:off x="3429000" y="1810512"/>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2" name="TextBox 49"/>
          <p:cNvSpPr txBox="1"/>
          <p:nvPr/>
        </p:nvSpPr>
        <p:spPr>
          <a:xfrm>
            <a:off x="3520440" y="1847088"/>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算力负荷模块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93" name="TextBox 50"/>
          <p:cNvSpPr txBox="1"/>
          <p:nvPr/>
        </p:nvSpPr>
        <p:spPr>
          <a:xfrm>
            <a:off x="3520440" y="2084831"/>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IT负载、功率、热负荷、PUE、冷却水</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394" name="Down Arrow 51"/>
          <p:cNvSpPr/>
          <p:nvPr/>
        </p:nvSpPr>
        <p:spPr>
          <a:xfrm>
            <a:off x="4617720" y="2455164"/>
            <a:ext cx="109728" cy="91440"/>
          </a:xfrm>
          <a:prstGeom prst="down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5" name="Rounded Rectangle 52"/>
          <p:cNvSpPr/>
          <p:nvPr/>
        </p:nvSpPr>
        <p:spPr>
          <a:xfrm>
            <a:off x="3429000" y="2505456"/>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6" name="TextBox 53"/>
          <p:cNvSpPr txBox="1"/>
          <p:nvPr/>
        </p:nvSpPr>
        <p:spPr>
          <a:xfrm>
            <a:off x="3520440" y="2542032"/>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冷却与用水模块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97" name="TextBox 54"/>
          <p:cNvSpPr txBox="1"/>
          <p:nvPr/>
        </p:nvSpPr>
        <p:spPr>
          <a:xfrm>
            <a:off x="3520440" y="2779776"/>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冷却方式、温升温差、蒸发损失、排水水质</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398" name="Down Arrow 55"/>
          <p:cNvSpPr/>
          <p:nvPr/>
        </p:nvSpPr>
        <p:spPr>
          <a:xfrm>
            <a:off x="4617720" y="3150108"/>
            <a:ext cx="109728" cy="91440"/>
          </a:xfrm>
          <a:prstGeom prst="down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9" name="Rounded Rectangle 56"/>
          <p:cNvSpPr/>
          <p:nvPr/>
        </p:nvSpPr>
        <p:spPr>
          <a:xfrm>
            <a:off x="3429000" y="3200400"/>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00" name="TextBox 57"/>
          <p:cNvSpPr txBox="1"/>
          <p:nvPr/>
        </p:nvSpPr>
        <p:spPr>
          <a:xfrm>
            <a:off x="3520440" y="3236976"/>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城市水系统模块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401" name="TextBox 58"/>
          <p:cNvSpPr txBox="1"/>
          <p:nvPr/>
        </p:nvSpPr>
        <p:spPr>
          <a:xfrm>
            <a:off x="3520440" y="3474720"/>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供水 → 用户 / AI → 污水 → 再生回用 / 排放</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402" name="Down Arrow 59"/>
          <p:cNvSpPr/>
          <p:nvPr/>
        </p:nvSpPr>
        <p:spPr>
          <a:xfrm>
            <a:off x="4617720" y="3845052"/>
            <a:ext cx="109728" cy="91440"/>
          </a:xfrm>
          <a:prstGeom prst="down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03" name="Rounded Rectangle 60"/>
          <p:cNvSpPr/>
          <p:nvPr/>
        </p:nvSpPr>
        <p:spPr>
          <a:xfrm>
            <a:off x="3429000" y="3895344"/>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04" name="TextBox 61"/>
          <p:cNvSpPr txBox="1"/>
          <p:nvPr/>
        </p:nvSpPr>
        <p:spPr>
          <a:xfrm>
            <a:off x="3520440" y="3931920"/>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约束与调度模块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405" name="TextBox 62"/>
          <p:cNvSpPr txBox="1"/>
          <p:nvPr/>
        </p:nvSpPr>
        <p:spPr>
          <a:xfrm>
            <a:off x="3520440" y="4169663"/>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水源约束、设施能力、运行策略、时序调度</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406" name="Rectangle 63"/>
          <p:cNvSpPr/>
          <p:nvPr/>
        </p:nvSpPr>
        <p:spPr>
          <a:xfrm>
            <a:off x="3785870" y="4535170"/>
            <a:ext cx="1741805" cy="3289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200" b="1" i="0">
                <a:solidFill>
                  <a:schemeClr val="tx1"/>
                </a:solidFill>
                <a:latin typeface="微软雅黑" panose="020B0503020204020204" pitchFamily="34" charset="-122"/>
                <a:ea typeface="微软雅黑" panose="020B0503020204020204" pitchFamily="34" charset="-122"/>
              </a:rPr>
              <a:t>耦合成城市水代谢模型</a:t>
            </a:r>
            <a:endParaRPr lang="zh-CN" altLang="en-US" sz="1200" b="1" i="0">
              <a:solidFill>
                <a:schemeClr val="tx1"/>
              </a:solidFill>
              <a:latin typeface="微软雅黑" panose="020B0503020204020204" pitchFamily="34" charset="-122"/>
              <a:ea typeface="微软雅黑" panose="020B0503020204020204" pitchFamily="34" charset="-122"/>
            </a:endParaRPr>
          </a:p>
        </p:txBody>
      </p:sp>
      <p:sp>
        <p:nvSpPr>
          <p:cNvPr id="407" name="TextBox 64"/>
          <p:cNvSpPr txBox="1"/>
          <p:nvPr/>
        </p:nvSpPr>
        <p:spPr>
          <a:xfrm>
            <a:off x="3429000" y="4840605"/>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模块接口</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08" name="Connector 65"/>
          <p:cNvCxnSpPr/>
          <p:nvPr/>
        </p:nvCxnSpPr>
        <p:spPr>
          <a:xfrm>
            <a:off x="3429000" y="5096637"/>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09" name="TextBox 66"/>
          <p:cNvSpPr txBox="1"/>
          <p:nvPr/>
        </p:nvSpPr>
        <p:spPr>
          <a:xfrm>
            <a:off x="3429000" y="5133212"/>
            <a:ext cx="2478024" cy="457200"/>
          </a:xfrm>
          <a:prstGeom prst="rect">
            <a:avLst/>
          </a:prstGeom>
          <a:noFill/>
        </p:spPr>
        <p:txBody>
          <a:bodyPr wrap="square" lIns="27432" tIns="13716" rIns="27432" bIns="13716" anchor="t">
            <a:spAutoFit/>
          </a:bodyPr>
          <a:lstStyle/>
          <a:p>
            <a:pPr algn="l">
              <a:lnSpc>
                <a:spcPct val="115000"/>
              </a:lnSpc>
            </a:pPr>
            <a:r>
              <a:rPr lang="zh-CN" altLang="en-US" sz="1200" b="0" i="0">
                <a:solidFill>
                  <a:srgbClr val="5A6B76"/>
                </a:solidFill>
                <a:latin typeface="微软雅黑" panose="020B0503020204020204" pitchFamily="34" charset="-122"/>
                <a:ea typeface="微软雅黑" panose="020B0503020204020204" pitchFamily="34" charset="-122"/>
              </a:rPr>
              <a:t>节点模块以通量形式接入系统网络，随场景替换参数后耦合求解。</a:t>
            </a:r>
            <a:endParaRPr lang="zh-CN" altLang="en-US" sz="1200" b="0" i="0">
              <a:solidFill>
                <a:srgbClr val="5A6B76"/>
              </a:solidFill>
              <a:latin typeface="微软雅黑" panose="020B0503020204020204" pitchFamily="34" charset="-122"/>
              <a:ea typeface="微软雅黑" panose="020B0503020204020204" pitchFamily="34" charset="-122"/>
            </a:endParaRPr>
          </a:p>
        </p:txBody>
      </p:sp>
      <p:sp>
        <p:nvSpPr>
          <p:cNvPr id="410" name="TextBox 67"/>
          <p:cNvSpPr txBox="1"/>
          <p:nvPr/>
        </p:nvSpPr>
        <p:spPr>
          <a:xfrm>
            <a:off x="6263640" y="181051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情景模拟</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11" name="Connector 68"/>
          <p:cNvCxnSpPr/>
          <p:nvPr/>
        </p:nvCxnSpPr>
        <p:spPr>
          <a:xfrm>
            <a:off x="6263640" y="2066543"/>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12" name="TextBox 69"/>
          <p:cNvSpPr txBox="1"/>
          <p:nvPr/>
        </p:nvSpPr>
        <p:spPr>
          <a:xfrm>
            <a:off x="6263640" y="2103120"/>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不同水源结构情景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3" name="TextBox 70"/>
          <p:cNvSpPr txBox="1"/>
          <p:nvPr/>
        </p:nvSpPr>
        <p:spPr>
          <a:xfrm>
            <a:off x="6263640" y="237743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不同气候与季节情景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4" name="TextBox 71"/>
          <p:cNvSpPr txBox="1"/>
          <p:nvPr/>
        </p:nvSpPr>
        <p:spPr>
          <a:xfrm>
            <a:off x="6263640" y="265175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不同技术水平情景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5" name="TextBox 72"/>
          <p:cNvSpPr txBox="1"/>
          <p:nvPr/>
        </p:nvSpPr>
        <p:spPr>
          <a:xfrm>
            <a:off x="6263640" y="292607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不同运行策略情景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6" name="TextBox 73"/>
          <p:cNvSpPr txBox="1"/>
          <p:nvPr/>
        </p:nvSpPr>
        <p:spPr>
          <a:xfrm>
            <a:off x="6263640" y="320039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多情景组合模拟</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7" name="TextBox 74"/>
          <p:cNvSpPr txBox="1"/>
          <p:nvPr/>
        </p:nvSpPr>
        <p:spPr>
          <a:xfrm>
            <a:off x="6263640" y="3566159"/>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敏感性分析</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18" name="Connector 75"/>
          <p:cNvCxnSpPr/>
          <p:nvPr/>
        </p:nvCxnSpPr>
        <p:spPr>
          <a:xfrm>
            <a:off x="6263640" y="3822191"/>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19" name="TextBox 76"/>
          <p:cNvSpPr txBox="1"/>
          <p:nvPr/>
        </p:nvSpPr>
        <p:spPr>
          <a:xfrm>
            <a:off x="6263640" y="385876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关键参数敏感性识别</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0" name="TextBox 77"/>
          <p:cNvSpPr txBox="1"/>
          <p:nvPr/>
        </p:nvSpPr>
        <p:spPr>
          <a:xfrm>
            <a:off x="6263640" y="413308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影响因素排序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1" name="TextBox 78"/>
          <p:cNvSpPr txBox="1"/>
          <p:nvPr/>
        </p:nvSpPr>
        <p:spPr>
          <a:xfrm>
            <a:off x="6263640" y="440740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不确定性分析</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2" name="TextBox 79"/>
          <p:cNvSpPr txBox="1"/>
          <p:nvPr/>
        </p:nvSpPr>
        <p:spPr>
          <a:xfrm>
            <a:off x="6263640" y="468172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主导瓶颈的时空变化特征</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3" name="TextBox 80"/>
          <p:cNvSpPr txBox="1"/>
          <p:nvPr/>
        </p:nvSpPr>
        <p:spPr>
          <a:xfrm>
            <a:off x="9098280" y="181051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CAWCC 计算</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24" name="Connector 81"/>
          <p:cNvCxnSpPr/>
          <p:nvPr/>
        </p:nvCxnSpPr>
        <p:spPr>
          <a:xfrm>
            <a:off x="9098280" y="2066543"/>
            <a:ext cx="329183"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25" name="TextBox 82"/>
          <p:cNvSpPr txBox="1"/>
          <p:nvPr/>
        </p:nvSpPr>
        <p:spPr>
          <a:xfrm>
            <a:off x="9098280" y="2103120"/>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在不同条件组合下求解可承载的 AI 算力</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6" name="TextBox 83"/>
          <p:cNvSpPr txBox="1"/>
          <p:nvPr/>
        </p:nvSpPr>
        <p:spPr>
          <a:xfrm>
            <a:off x="9098280" y="2468879"/>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形成随条件变化的容量曲面</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7" name="TextBox 84"/>
          <p:cNvSpPr txBox="1"/>
          <p:nvPr/>
        </p:nvSpPr>
        <p:spPr>
          <a:xfrm>
            <a:off x="9098280" y="2834639"/>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同时识别主导瓶颈</a:t>
            </a:r>
            <a:endParaRPr lang="zh-CN" altLang="en-US" sz="1150" b="0" i="0">
              <a:solidFill>
                <a:srgbClr val="1F2A33"/>
              </a:solidFill>
              <a:latin typeface="微软雅黑" panose="020B0503020204020204" pitchFamily="34" charset="-122"/>
              <a:ea typeface="微软雅黑" panose="020B0503020204020204" pitchFamily="34" charset="-122"/>
            </a:endParaRPr>
          </a:p>
        </p:txBody>
      </p:sp>
      <p:pic>
        <p:nvPicPr>
          <p:cNvPr id="428" name="Picture 85" descr="chart3d.png"/>
          <p:cNvPicPr>
            <a:picLocks noChangeAspect="1"/>
          </p:cNvPicPr>
          <p:nvPr/>
        </p:nvPicPr>
        <p:blipFill>
          <a:blip r:embed="rId1"/>
          <a:stretch>
            <a:fillRect/>
          </a:stretch>
        </p:blipFill>
        <p:spPr>
          <a:xfrm>
            <a:off x="9208007" y="3246119"/>
            <a:ext cx="2240280" cy="1417320"/>
          </a:xfrm>
          <a:prstGeom prst="rect">
            <a:avLst/>
          </a:prstGeom>
        </p:spPr>
      </p:pic>
      <p:sp>
        <p:nvSpPr>
          <p:cNvPr id="429" name="TextBox 86"/>
          <p:cNvSpPr txBox="1"/>
          <p:nvPr/>
        </p:nvSpPr>
        <p:spPr>
          <a:xfrm>
            <a:off x="9098280" y="473659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方案评估与建议</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30" name="Connector 87"/>
          <p:cNvCxnSpPr/>
          <p:nvPr/>
        </p:nvCxnSpPr>
        <p:spPr>
          <a:xfrm>
            <a:off x="9098280" y="4992624"/>
            <a:ext cx="329183"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31" name="TextBox 88"/>
          <p:cNvSpPr txBox="1"/>
          <p:nvPr/>
        </p:nvSpPr>
        <p:spPr>
          <a:xfrm>
            <a:off x="9098280" y="5029200"/>
            <a:ext cx="2478024"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不同干预措施的效果评估</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32" name="TextBox 89"/>
          <p:cNvSpPr txBox="1"/>
          <p:nvPr/>
        </p:nvSpPr>
        <p:spPr>
          <a:xfrm>
            <a:off x="9098280" y="5276088"/>
            <a:ext cx="2478024"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瓶颈缓解路径比较</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33" name="TextBox 90"/>
          <p:cNvSpPr txBox="1"/>
          <p:nvPr/>
        </p:nvSpPr>
        <p:spPr>
          <a:xfrm>
            <a:off x="9098280" y="5522975"/>
            <a:ext cx="2478024"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规划与运行层面的建议</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34" name="Rectangle 91"/>
          <p:cNvSpPr/>
          <p:nvPr/>
        </p:nvSpPr>
        <p:spPr>
          <a:xfrm>
            <a:off x="484632" y="5870448"/>
            <a:ext cx="11219688"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FFFFFF"/>
                </a:solidFill>
                <a:latin typeface="微软雅黑" panose="020B0503020204020204" pitchFamily="34" charset="-122"/>
                <a:ea typeface="微软雅黑" panose="020B0503020204020204" pitchFamily="34" charset="-122"/>
              </a:rPr>
              <a:t>形成“数据驱动 → 模型耦合 → 情景模拟 → 边界求解 → 方案评估”的完整技术路线。</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618345" y="3736975"/>
            <a:ext cx="392430" cy="141605"/>
          </a:xfrm>
          <a:prstGeom prst="rect">
            <a:avLst/>
          </a:prstGeom>
          <a:solidFill>
            <a:schemeClr val="bg1"/>
          </a:solidFill>
          <a:ln>
            <a:noFill/>
          </a:ln>
        </p:spPr>
        <p:txBody>
          <a:bodyPr wrap="square" rtlCol="0">
            <a:noAutofit/>
          </a:bodyPr>
          <a:p>
            <a:pPr algn="ctr"/>
            <a:r>
              <a:rPr lang="en-US" altLang="zh-CN" sz="700" b="1">
                <a:latin typeface="微软雅黑" panose="020B0503020204020204" pitchFamily="34" charset="-122"/>
                <a:ea typeface="微软雅黑" panose="020B0503020204020204" pitchFamily="34" charset="-122"/>
              </a:rPr>
              <a:t>MW</a:t>
            </a:r>
            <a:endParaRPr lang="en-US" altLang="zh-CN" sz="700" b="1">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38" name=""/>
        <p:cNvGrpSpPr/>
        <p:nvPr/>
      </p:nvGrpSpPr>
      <p:grpSpPr>
        <a:xfrm>
          <a:off x="0" y="0"/>
          <a:ext cx="0" cy="0"/>
          <a:chOff x="0" y="0"/>
          <a:chExt cx="0" cy="0"/>
        </a:xfrm>
      </p:grpSpPr>
      <p:sp>
        <p:nvSpPr>
          <p:cNvPr id="43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实验设计：四组控制实验</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442" name="Rounded Rectangle 4"/>
          <p:cNvSpPr/>
          <p:nvPr>
            <p:custDataLst>
              <p:tags r:id="rId1"/>
            </p:custDataLst>
          </p:nvPr>
        </p:nvSpPr>
        <p:spPr>
          <a:xfrm>
            <a:off x="484632" y="960120"/>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3" name="Rectangle 5"/>
          <p:cNvSpPr/>
          <p:nvPr>
            <p:custDataLst>
              <p:tags r:id="rId2"/>
            </p:custDataLst>
          </p:nvPr>
        </p:nvSpPr>
        <p:spPr>
          <a:xfrm>
            <a:off x="502920" y="95554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4" name="Rectangle 6"/>
          <p:cNvSpPr/>
          <p:nvPr>
            <p:custDataLst>
              <p:tags r:id="rId3"/>
            </p:custDataLst>
          </p:nvPr>
        </p:nvSpPr>
        <p:spPr>
          <a:xfrm>
            <a:off x="484632" y="960120"/>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E1</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45" name="TextBox 7"/>
          <p:cNvSpPr txBox="1"/>
          <p:nvPr>
            <p:custDataLst>
              <p:tags r:id="rId4"/>
            </p:custDataLst>
          </p:nvPr>
        </p:nvSpPr>
        <p:spPr>
          <a:xfrm>
            <a:off x="1417320" y="1106424"/>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算力规模梯度实验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46" name="TextBox 8"/>
          <p:cNvSpPr txBox="1"/>
          <p:nvPr>
            <p:custDataLst>
              <p:tags r:id="rId5"/>
            </p:custDataLst>
          </p:nvPr>
        </p:nvSpPr>
        <p:spPr>
          <a:xfrm>
            <a:off x="1417320" y="1508760"/>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改变 AI 节点算力规模，观察水代谢通量与承载状态的响应梯度。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47" name="Rectangle 9"/>
          <p:cNvSpPr/>
          <p:nvPr>
            <p:custDataLst>
              <p:tags r:id="rId6"/>
            </p:custDataLst>
          </p:nvPr>
        </p:nvSpPr>
        <p:spPr>
          <a:xfrm>
            <a:off x="1417320" y="2386584"/>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H1：响应是否显著且呈梯度</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48" name="Rounded Rectangle 10"/>
          <p:cNvSpPr/>
          <p:nvPr>
            <p:custDataLst>
              <p:tags r:id="rId7"/>
            </p:custDataLst>
          </p:nvPr>
        </p:nvSpPr>
        <p:spPr>
          <a:xfrm>
            <a:off x="6199632" y="960120"/>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9" name="Rectangle 11"/>
          <p:cNvSpPr/>
          <p:nvPr>
            <p:custDataLst>
              <p:tags r:id="rId8"/>
            </p:custDataLst>
          </p:nvPr>
        </p:nvSpPr>
        <p:spPr>
          <a:xfrm>
            <a:off x="6217920" y="95554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0" name="Rectangle 12"/>
          <p:cNvSpPr/>
          <p:nvPr>
            <p:custDataLst>
              <p:tags r:id="rId9"/>
            </p:custDataLst>
          </p:nvPr>
        </p:nvSpPr>
        <p:spPr>
          <a:xfrm>
            <a:off x="6199632" y="960120"/>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E2</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51" name="TextBox 13"/>
          <p:cNvSpPr txBox="1"/>
          <p:nvPr>
            <p:custDataLst>
              <p:tags r:id="rId10"/>
            </p:custDataLst>
          </p:nvPr>
        </p:nvSpPr>
        <p:spPr>
          <a:xfrm>
            <a:off x="7132320" y="1106424"/>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水源结构对照实验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52" name="TextBox 14"/>
          <p:cNvSpPr txBox="1"/>
          <p:nvPr>
            <p:custDataLst>
              <p:tags r:id="rId11"/>
            </p:custDataLst>
          </p:nvPr>
        </p:nvSpPr>
        <p:spPr>
          <a:xfrm>
            <a:off x="7132320" y="1508760"/>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对比淡水为主与再生水为主的供水结构，观察承载边界差异。</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53" name="Rectangle 15"/>
          <p:cNvSpPr/>
          <p:nvPr>
            <p:custDataLst>
              <p:tags r:id="rId12"/>
            </p:custDataLst>
          </p:nvPr>
        </p:nvSpPr>
        <p:spPr>
          <a:xfrm>
            <a:off x="7132320" y="2386584"/>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H2：边界是否随水源条件化</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54" name="Rounded Rectangle 16"/>
          <p:cNvSpPr/>
          <p:nvPr>
            <p:custDataLst>
              <p:tags r:id="rId13"/>
            </p:custDataLst>
          </p:nvPr>
        </p:nvSpPr>
        <p:spPr>
          <a:xfrm>
            <a:off x="484632" y="3035808"/>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5" name="Rectangle 17"/>
          <p:cNvSpPr/>
          <p:nvPr>
            <p:custDataLst>
              <p:tags r:id="rId14"/>
            </p:custDataLst>
          </p:nvPr>
        </p:nvSpPr>
        <p:spPr>
          <a:xfrm>
            <a:off x="502920" y="3031236"/>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6" name="Rectangle 18"/>
          <p:cNvSpPr/>
          <p:nvPr>
            <p:custDataLst>
              <p:tags r:id="rId15"/>
            </p:custDataLst>
          </p:nvPr>
        </p:nvSpPr>
        <p:spPr>
          <a:xfrm>
            <a:off x="484632" y="3035808"/>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E3</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57" name="TextBox 19"/>
          <p:cNvSpPr txBox="1"/>
          <p:nvPr>
            <p:custDataLst>
              <p:tags r:id="rId16"/>
            </p:custDataLst>
          </p:nvPr>
        </p:nvSpPr>
        <p:spPr>
          <a:xfrm>
            <a:off x="1417320" y="3182112"/>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气象与季节情景实验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58" name="TextBox 20"/>
          <p:cNvSpPr txBox="1"/>
          <p:nvPr>
            <p:custDataLst>
              <p:tags r:id="rId17"/>
            </p:custDataLst>
          </p:nvPr>
        </p:nvSpPr>
        <p:spPr>
          <a:xfrm>
            <a:off x="1371600" y="3593973"/>
            <a:ext cx="4389120" cy="83439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改变气温、湿度与季节分布，观察冷却负荷与取水的时序变化，进行多时间尺度与复合气象情景实验（年-日-极端小时对比）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59" name="Rectangle 21"/>
          <p:cNvSpPr/>
          <p:nvPr>
            <p:custDataLst>
              <p:tags r:id="rId18"/>
            </p:custDataLst>
          </p:nvPr>
        </p:nvSpPr>
        <p:spPr>
          <a:xfrm>
            <a:off x="1417320" y="4462272"/>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H1 / H2：季节敏感性</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60" name="Rounded Rectangle 22"/>
          <p:cNvSpPr/>
          <p:nvPr>
            <p:custDataLst>
              <p:tags r:id="rId19"/>
            </p:custDataLst>
          </p:nvPr>
        </p:nvSpPr>
        <p:spPr>
          <a:xfrm>
            <a:off x="6199632" y="3035808"/>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61" name="Rectangle 23"/>
          <p:cNvSpPr/>
          <p:nvPr>
            <p:custDataLst>
              <p:tags r:id="rId20"/>
            </p:custDataLst>
          </p:nvPr>
        </p:nvSpPr>
        <p:spPr>
          <a:xfrm>
            <a:off x="6217920" y="3031236"/>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62" name="Rectangle 24"/>
          <p:cNvSpPr/>
          <p:nvPr>
            <p:custDataLst>
              <p:tags r:id="rId21"/>
            </p:custDataLst>
          </p:nvPr>
        </p:nvSpPr>
        <p:spPr>
          <a:xfrm>
            <a:off x="6199632" y="3035808"/>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E4</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63" name="TextBox 25"/>
          <p:cNvSpPr txBox="1"/>
          <p:nvPr>
            <p:custDataLst>
              <p:tags r:id="rId22"/>
            </p:custDataLst>
          </p:nvPr>
        </p:nvSpPr>
        <p:spPr>
          <a:xfrm>
            <a:off x="7132320" y="3182112"/>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技术与策略组合实验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64" name="TextBox 26"/>
          <p:cNvSpPr txBox="1"/>
          <p:nvPr>
            <p:custDataLst>
              <p:tags r:id="rId23"/>
            </p:custDataLst>
          </p:nvPr>
        </p:nvSpPr>
        <p:spPr>
          <a:xfrm>
            <a:off x="7132320" y="3584448"/>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组合冷却方式、PUE、浓缩倍数与调度策略，评估干预提升效果。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65" name="Rectangle 27"/>
          <p:cNvSpPr/>
          <p:nvPr>
            <p:custDataLst>
              <p:tags r:id="rId24"/>
            </p:custDataLst>
          </p:nvPr>
        </p:nvSpPr>
        <p:spPr>
          <a:xfrm>
            <a:off x="7132320" y="4462272"/>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H3：瓶颈迁移与干预效果</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66" name="Rectangle 28"/>
          <p:cNvSpPr/>
          <p:nvPr/>
        </p:nvSpPr>
        <p:spPr>
          <a:xfrm>
            <a:off x="484632" y="5193792"/>
            <a:ext cx="11219688" cy="65836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b="1" i="0">
                <a:solidFill>
                  <a:srgbClr val="FFFFFF"/>
                </a:solidFill>
                <a:latin typeface="微软雅黑" panose="020B0503020204020204" pitchFamily="34" charset="-122"/>
                <a:ea typeface="微软雅黑" panose="020B0503020204020204" pitchFamily="34" charset="-122"/>
              </a:rPr>
              <a:t>变量控制原则</a:t>
            </a:r>
            <a:r>
              <a:rPr lang="zh-CN" altLang="en-US" b="0" i="0">
                <a:solidFill>
                  <a:srgbClr val="FFFFFF"/>
                </a:solidFill>
                <a:latin typeface="微软雅黑" panose="020B0503020204020204" pitchFamily="34" charset="-122"/>
                <a:ea typeface="微软雅黑" panose="020B0503020204020204" pitchFamily="34" charset="-122"/>
              </a:rPr>
              <a:t> </a:t>
            </a:r>
            <a:r>
              <a:rPr lang="zh-CN" altLang="en-US" sz="1400" b="0" i="0">
                <a:solidFill>
                  <a:srgbClr val="FFFFFF"/>
                </a:solidFill>
                <a:latin typeface="微软雅黑" panose="020B0503020204020204" pitchFamily="34" charset="-122"/>
                <a:ea typeface="微软雅黑" panose="020B0503020204020204" pitchFamily="34" charset="-122"/>
              </a:rPr>
              <a:t>：</a:t>
            </a:r>
            <a:r>
              <a:rPr lang="zh-CN" altLang="en-US" sz="1400" b="0" i="0">
                <a:solidFill>
                  <a:srgbClr val="FFFFFF"/>
                </a:solidFill>
                <a:latin typeface="微软雅黑" panose="020B0503020204020204" pitchFamily="34" charset="-122"/>
                <a:ea typeface="微软雅黑" panose="020B0503020204020204" pitchFamily="34" charset="-122"/>
              </a:rPr>
              <a:t>每组实验仅改变目标变量，其余条件保持基线不变；结果以相对基线的差值与排序呈现，保证可比性。</a:t>
            </a:r>
            <a:endParaRPr lang="zh-CN" altLang="en-US" sz="1400" b="0" i="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40" name=""/>
        <p:cNvGrpSpPr/>
        <p:nvPr/>
      </p:nvGrpSpPr>
      <p:grpSpPr>
        <a:xfrm>
          <a:off x="0" y="0"/>
          <a:ext cx="0" cy="0"/>
          <a:chOff x="0" y="0"/>
          <a:chExt cx="0" cy="0"/>
        </a:xfrm>
      </p:grpSpPr>
      <p:sp>
        <p:nvSpPr>
          <p:cNvPr id="541"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输出指标与结果可信度</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544" name="Rounded Rectangle 4"/>
          <p:cNvSpPr/>
          <p:nvPr/>
        </p:nvSpPr>
        <p:spPr>
          <a:xfrm>
            <a:off x="484632" y="914400"/>
            <a:ext cx="5504688"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45" name="Rectangle 5"/>
          <p:cNvSpPr/>
          <p:nvPr/>
        </p:nvSpPr>
        <p:spPr>
          <a:xfrm>
            <a:off x="502920" y="93268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46" name="Rectangle 6"/>
          <p:cNvSpPr/>
          <p:nvPr/>
        </p:nvSpPr>
        <p:spPr>
          <a:xfrm>
            <a:off x="502920" y="996696"/>
            <a:ext cx="5468112"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核心输出指标</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547" name="Rectangle 7"/>
          <p:cNvSpPr/>
          <p:nvPr>
            <p:custDataLst>
              <p:tags r:id="rId1"/>
            </p:custDataLst>
          </p:nvPr>
        </p:nvSpPr>
        <p:spPr>
          <a:xfrm>
            <a:off x="713232" y="196138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1</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48" name="TextBox 8"/>
          <p:cNvSpPr txBox="1"/>
          <p:nvPr>
            <p:custDataLst>
              <p:tags r:id="rId2"/>
            </p:custDataLst>
          </p:nvPr>
        </p:nvSpPr>
        <p:spPr>
          <a:xfrm>
            <a:off x="1234440" y="192481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CAWCC</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49" name="TextBox 9"/>
          <p:cNvSpPr txBox="1"/>
          <p:nvPr>
            <p:custDataLst>
              <p:tags r:id="rId3"/>
            </p:custDataLst>
          </p:nvPr>
        </p:nvSpPr>
        <p:spPr>
          <a:xfrm>
            <a:off x="1234440" y="218084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条件化 AI 水承载容量（主指标）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0" name="Rectangle 10"/>
          <p:cNvSpPr/>
          <p:nvPr>
            <p:custDataLst>
              <p:tags r:id="rId4"/>
            </p:custDataLst>
          </p:nvPr>
        </p:nvSpPr>
        <p:spPr>
          <a:xfrm>
            <a:off x="713232" y="269290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2</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51" name="TextBox 11"/>
          <p:cNvSpPr txBox="1"/>
          <p:nvPr>
            <p:custDataLst>
              <p:tags r:id="rId5"/>
            </p:custDataLst>
          </p:nvPr>
        </p:nvSpPr>
        <p:spPr>
          <a:xfrm>
            <a:off x="1234440" y="265633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水代谢通量</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52" name="TextBox 12"/>
          <p:cNvSpPr txBox="1"/>
          <p:nvPr>
            <p:custDataLst>
              <p:tags r:id="rId6"/>
            </p:custDataLst>
          </p:nvPr>
        </p:nvSpPr>
        <p:spPr>
          <a:xfrm>
            <a:off x="1234440" y="291236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取水、排水、回用与消耗的逐时通量</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3" name="Rectangle 13"/>
          <p:cNvSpPr/>
          <p:nvPr>
            <p:custDataLst>
              <p:tags r:id="rId7"/>
            </p:custDataLst>
          </p:nvPr>
        </p:nvSpPr>
        <p:spPr>
          <a:xfrm>
            <a:off x="713232" y="342442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3</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54" name="TextBox 14"/>
          <p:cNvSpPr txBox="1"/>
          <p:nvPr>
            <p:custDataLst>
              <p:tags r:id="rId8"/>
            </p:custDataLst>
          </p:nvPr>
        </p:nvSpPr>
        <p:spPr>
          <a:xfrm>
            <a:off x="1234440" y="338785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主导瓶颈</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55" name="TextBox 15"/>
          <p:cNvSpPr txBox="1"/>
          <p:nvPr>
            <p:custDataLst>
              <p:tags r:id="rId9"/>
            </p:custDataLst>
          </p:nvPr>
        </p:nvSpPr>
        <p:spPr>
          <a:xfrm>
            <a:off x="1234440" y="364388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各条件下的首要约束及其排序</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6" name="Rectangle 16"/>
          <p:cNvSpPr/>
          <p:nvPr>
            <p:custDataLst>
              <p:tags r:id="rId10"/>
            </p:custDataLst>
          </p:nvPr>
        </p:nvSpPr>
        <p:spPr>
          <a:xfrm>
            <a:off x="713232" y="415594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4</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57" name="TextBox 17"/>
          <p:cNvSpPr txBox="1"/>
          <p:nvPr>
            <p:custDataLst>
              <p:tags r:id="rId11"/>
            </p:custDataLst>
          </p:nvPr>
        </p:nvSpPr>
        <p:spPr>
          <a:xfrm>
            <a:off x="1234440" y="411937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瓶颈迁移路径</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58" name="TextBox 18"/>
          <p:cNvSpPr txBox="1"/>
          <p:nvPr>
            <p:custDataLst>
              <p:tags r:id="rId12"/>
            </p:custDataLst>
          </p:nvPr>
        </p:nvSpPr>
        <p:spPr>
          <a:xfrm>
            <a:off x="1234440" y="437540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随季节与条件变化的瓶颈迁移</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9" name="Rectangle 19"/>
          <p:cNvSpPr/>
          <p:nvPr>
            <p:custDataLst>
              <p:tags r:id="rId13"/>
            </p:custDataLst>
          </p:nvPr>
        </p:nvSpPr>
        <p:spPr>
          <a:xfrm>
            <a:off x="713232" y="488746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5</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60" name="TextBox 20"/>
          <p:cNvSpPr txBox="1"/>
          <p:nvPr>
            <p:custDataLst>
              <p:tags r:id="rId14"/>
            </p:custDataLst>
          </p:nvPr>
        </p:nvSpPr>
        <p:spPr>
          <a:xfrm>
            <a:off x="1234440" y="485089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干预提升幅度</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61" name="TextBox 21"/>
          <p:cNvSpPr txBox="1"/>
          <p:nvPr>
            <p:custDataLst>
              <p:tags r:id="rId15"/>
            </p:custDataLst>
          </p:nvPr>
        </p:nvSpPr>
        <p:spPr>
          <a:xfrm>
            <a:off x="1234440" y="510692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不同措施对 CAWCC 的提升效果</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63" name="Rounded Rectangle 23"/>
          <p:cNvSpPr/>
          <p:nvPr/>
        </p:nvSpPr>
        <p:spPr>
          <a:xfrm>
            <a:off x="6199632" y="914400"/>
            <a:ext cx="5504688"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4" name="Rectangle 24"/>
          <p:cNvSpPr/>
          <p:nvPr/>
        </p:nvSpPr>
        <p:spPr>
          <a:xfrm>
            <a:off x="6217920" y="93268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5" name="Rectangle 25"/>
          <p:cNvSpPr/>
          <p:nvPr/>
        </p:nvSpPr>
        <p:spPr>
          <a:xfrm>
            <a:off x="6217920" y="996696"/>
            <a:ext cx="5468112"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可信度与不确定性处理</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566" name="Rounded Rectangle 26"/>
          <p:cNvSpPr/>
          <p:nvPr/>
        </p:nvSpPr>
        <p:spPr>
          <a:xfrm>
            <a:off x="6419088" y="1600200"/>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7" name="Rectangle 27"/>
          <p:cNvSpPr/>
          <p:nvPr/>
        </p:nvSpPr>
        <p:spPr>
          <a:xfrm>
            <a:off x="6419088" y="1600200"/>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8" name="TextBox 28"/>
          <p:cNvSpPr txBox="1"/>
          <p:nvPr/>
        </p:nvSpPr>
        <p:spPr>
          <a:xfrm>
            <a:off x="6656832" y="1691640"/>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参数来源校验</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69" name="TextBox 29"/>
          <p:cNvSpPr txBox="1"/>
          <p:nvPr/>
        </p:nvSpPr>
        <p:spPr>
          <a:xfrm>
            <a:off x="6656832" y="1984248"/>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关键参数以多来源交叉比对，标注取值范围而非单点值。</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70" name="Rounded Rectangle 30"/>
          <p:cNvSpPr/>
          <p:nvPr/>
        </p:nvSpPr>
        <p:spPr>
          <a:xfrm>
            <a:off x="6419088" y="2679191"/>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1" name="Rectangle 31"/>
          <p:cNvSpPr/>
          <p:nvPr/>
        </p:nvSpPr>
        <p:spPr>
          <a:xfrm>
            <a:off x="6419088" y="2679191"/>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2" name="TextBox 32"/>
          <p:cNvSpPr txBox="1"/>
          <p:nvPr/>
        </p:nvSpPr>
        <p:spPr>
          <a:xfrm>
            <a:off x="6656832" y="2770632"/>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敏感性分析</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73" name="TextBox 33"/>
          <p:cNvSpPr txBox="1"/>
          <p:nvPr/>
        </p:nvSpPr>
        <p:spPr>
          <a:xfrm>
            <a:off x="6656832" y="3063239"/>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对关键参数做敏感性分析，识别对结论影响最大的因素。</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74" name="Rounded Rectangle 34"/>
          <p:cNvSpPr/>
          <p:nvPr/>
        </p:nvSpPr>
        <p:spPr>
          <a:xfrm>
            <a:off x="6419088" y="3758183"/>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5" name="Rectangle 35"/>
          <p:cNvSpPr/>
          <p:nvPr/>
        </p:nvSpPr>
        <p:spPr>
          <a:xfrm>
            <a:off x="6419088" y="3758183"/>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6" name="TextBox 36"/>
          <p:cNvSpPr txBox="1"/>
          <p:nvPr/>
        </p:nvSpPr>
        <p:spPr>
          <a:xfrm>
            <a:off x="6656832" y="3849623"/>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情景边界清晰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77" name="TextBox 37"/>
          <p:cNvSpPr txBox="1"/>
          <p:nvPr/>
        </p:nvSpPr>
        <p:spPr>
          <a:xfrm>
            <a:off x="6656832" y="4142231"/>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明确说明假设与适用边界，避免超出数据支撑外推。</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78" name="Rounded Rectangle 38"/>
          <p:cNvSpPr/>
          <p:nvPr/>
        </p:nvSpPr>
        <p:spPr>
          <a:xfrm>
            <a:off x="6419088" y="4837175"/>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9" name="Rectangle 39"/>
          <p:cNvSpPr/>
          <p:nvPr/>
        </p:nvSpPr>
        <p:spPr>
          <a:xfrm>
            <a:off x="6419088" y="4837175"/>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80" name="TextBox 40"/>
          <p:cNvSpPr txBox="1"/>
          <p:nvPr/>
        </p:nvSpPr>
        <p:spPr>
          <a:xfrm>
            <a:off x="6656832" y="4928615"/>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结果稳健性讨论</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81" name="TextBox 41"/>
          <p:cNvSpPr txBox="1"/>
          <p:nvPr/>
        </p:nvSpPr>
        <p:spPr>
          <a:xfrm>
            <a:off x="6656832" y="5221223"/>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结论以相对变化与排序为主，降低绝对值不确定性影响。</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2" name=""/>
        <p:cNvGrpSpPr/>
        <p:nvPr/>
      </p:nvGrpSpPr>
      <p:grpSpPr>
        <a:xfrm>
          <a:off x="0" y="0"/>
          <a:ext cx="0" cy="0"/>
          <a:chOff x="0" y="0"/>
          <a:chExt cx="0" cy="0"/>
        </a:xfrm>
      </p:grpSpPr>
      <p:sp>
        <p:nvSpPr>
          <p:cNvPr id="585" name="TextBox 4"/>
          <p:cNvSpPr txBox="1"/>
          <p:nvPr/>
        </p:nvSpPr>
        <p:spPr>
          <a:xfrm>
            <a:off x="731520" y="868680"/>
            <a:ext cx="4206240" cy="162179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a:t>
            </a:r>
            <a:r>
              <a:rPr lang="en-US" altLang="zh-CN" sz="9600" b="0" i="0">
                <a:solidFill>
                  <a:srgbClr val="005375"/>
                </a:solidFill>
                <a:latin typeface="Arial Black" panose="020B0A04020102020204"/>
                <a:ea typeface="Arial Black" panose="020B0A04020102020204"/>
              </a:rPr>
              <a:t>4</a:t>
            </a:r>
            <a:endParaRPr lang="en-US" altLang="zh-CN" sz="9600" b="0" i="0">
              <a:solidFill>
                <a:srgbClr val="005375"/>
              </a:solidFill>
              <a:latin typeface="Arial Black" panose="020B0A04020102020204"/>
              <a:ea typeface="Arial Black" panose="020B0A04020102020204"/>
            </a:endParaRPr>
          </a:p>
        </p:txBody>
      </p:sp>
      <p:sp>
        <p:nvSpPr>
          <p:cNvPr id="586" name="TextBox 5"/>
          <p:cNvSpPr txBox="1"/>
          <p:nvPr/>
        </p:nvSpPr>
        <p:spPr>
          <a:xfrm>
            <a:off x="896112" y="2487168"/>
            <a:ext cx="3200400" cy="241935"/>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F</a:t>
            </a:r>
            <a:r>
              <a:rPr lang="en-US" altLang="zh-CN" sz="1300" b="0" i="0" spc="300">
                <a:solidFill>
                  <a:srgbClr val="8CA3AF"/>
                </a:solidFill>
                <a:latin typeface="Arial" panose="020B0604020202020204"/>
                <a:ea typeface="Arial" panose="020B0604020202020204"/>
              </a:rPr>
              <a:t>OUR</a:t>
            </a:r>
            <a:endParaRPr lang="en-US" altLang="zh-CN" sz="1300" b="0" i="0" spc="300">
              <a:solidFill>
                <a:srgbClr val="8CA3AF"/>
              </a:solidFill>
              <a:latin typeface="Arial" panose="020B0604020202020204"/>
              <a:ea typeface="Arial" panose="020B0604020202020204"/>
            </a:endParaRPr>
          </a:p>
        </p:txBody>
      </p:sp>
      <p:sp>
        <p:nvSpPr>
          <p:cNvPr id="587" name="TextBox 6"/>
          <p:cNvSpPr txBox="1"/>
          <p:nvPr/>
        </p:nvSpPr>
        <p:spPr>
          <a:xfrm>
            <a:off x="786384" y="283464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研究基础、进度与预期成果</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588" name="Rounded Rectangle 9"/>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89" name="Rectangle 10"/>
          <p:cNvSpPr/>
          <p:nvPr/>
        </p:nvSpPr>
        <p:spPr>
          <a:xfrm>
            <a:off x="5760720" y="1643634"/>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研究基础</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0" name="Right Triangle 11"/>
          <p:cNvSpPr/>
          <p:nvPr/>
        </p:nvSpPr>
        <p:spPr>
          <a:xfrm>
            <a:off x="7178040" y="1643634"/>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1" name="TextBox 12"/>
          <p:cNvSpPr txBox="1"/>
          <p:nvPr/>
        </p:nvSpPr>
        <p:spPr>
          <a:xfrm>
            <a:off x="7360920" y="1741678"/>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已有数据、方法与前期工作积累</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92" name="Rounded Rectangle 13"/>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93" name="Rectangle 14"/>
          <p:cNvSpPr/>
          <p:nvPr/>
        </p:nvSpPr>
        <p:spPr>
          <a:xfrm>
            <a:off x="5760720" y="3088386"/>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进度安排</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4" name="Right Triangle 15"/>
          <p:cNvSpPr/>
          <p:nvPr/>
        </p:nvSpPr>
        <p:spPr>
          <a:xfrm>
            <a:off x="7178040" y="3088386"/>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5" name="TextBox 16"/>
          <p:cNvSpPr txBox="1"/>
          <p:nvPr/>
        </p:nvSpPr>
        <p:spPr>
          <a:xfrm>
            <a:off x="7360920" y="3186430"/>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五个阶段的时间节点与里程碑</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96" name="Rounded Rectangle 17"/>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97" name="Rectangle 18"/>
          <p:cNvSpPr/>
          <p:nvPr/>
        </p:nvSpPr>
        <p:spPr>
          <a:xfrm>
            <a:off x="5760720" y="4533138"/>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预期成果</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8" name="Right Triangle 19"/>
          <p:cNvSpPr/>
          <p:nvPr/>
        </p:nvSpPr>
        <p:spPr>
          <a:xfrm>
            <a:off x="7178040" y="4533138"/>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9" name="TextBox 20"/>
          <p:cNvSpPr txBox="1"/>
          <p:nvPr/>
        </p:nvSpPr>
        <p:spPr>
          <a:xfrm>
            <a:off x="7360920" y="4631182"/>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论文、指标方法与政策建议</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00" name=""/>
        <p:cNvGrpSpPr/>
        <p:nvPr/>
      </p:nvGrpSpPr>
      <p:grpSpPr>
        <a:xfrm>
          <a:off x="0" y="0"/>
          <a:ext cx="0" cy="0"/>
          <a:chOff x="0" y="0"/>
          <a:chExt cx="0" cy="0"/>
        </a:xfrm>
      </p:grpSpPr>
      <p:sp>
        <p:nvSpPr>
          <p:cNvPr id="601"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研究基础与进度安排</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604" name="Rounded Rectangle 4"/>
          <p:cNvSpPr/>
          <p:nvPr/>
        </p:nvSpPr>
        <p:spPr>
          <a:xfrm>
            <a:off x="484632" y="914400"/>
            <a:ext cx="4206240"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05" name="Rectangle 5"/>
          <p:cNvSpPr/>
          <p:nvPr/>
        </p:nvSpPr>
        <p:spPr>
          <a:xfrm>
            <a:off x="502920" y="932688"/>
            <a:ext cx="4169663"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06" name="Rectangle 6"/>
          <p:cNvSpPr/>
          <p:nvPr/>
        </p:nvSpPr>
        <p:spPr>
          <a:xfrm>
            <a:off x="502920" y="996696"/>
            <a:ext cx="4169663"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研究基础</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07" name="Rectangle 7"/>
          <p:cNvSpPr/>
          <p:nvPr/>
        </p:nvSpPr>
        <p:spPr>
          <a:xfrm>
            <a:off x="713232" y="1618488"/>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08" name="TextBox 8"/>
          <p:cNvSpPr txBox="1"/>
          <p:nvPr/>
        </p:nvSpPr>
        <p:spPr>
          <a:xfrm>
            <a:off x="932688" y="1600200"/>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文献与数据积累</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09" name="TextBox 9"/>
          <p:cNvSpPr txBox="1"/>
          <p:nvPr/>
        </p:nvSpPr>
        <p:spPr>
          <a:xfrm>
            <a:off x="932688" y="1892807"/>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已系统梳理算力水足迹、城市水代谢与优化配置相关文献与公开数据。</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0" name="Rectangle 10"/>
          <p:cNvSpPr/>
          <p:nvPr/>
        </p:nvSpPr>
        <p:spPr>
          <a:xfrm>
            <a:off x="713232" y="2679192"/>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1" name="TextBox 11"/>
          <p:cNvSpPr txBox="1"/>
          <p:nvPr/>
        </p:nvSpPr>
        <p:spPr>
          <a:xfrm>
            <a:off x="932688" y="2660904"/>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方法储备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2" name="TextBox 12"/>
          <p:cNvSpPr txBox="1"/>
          <p:nvPr/>
        </p:nvSpPr>
        <p:spPr>
          <a:xfrm>
            <a:off x="932688" y="2953512"/>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掌握水系统建模、情景模拟与敏感性分析的基本方法。</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3" name="Rectangle 13"/>
          <p:cNvSpPr/>
          <p:nvPr/>
        </p:nvSpPr>
        <p:spPr>
          <a:xfrm>
            <a:off x="713232" y="3739896"/>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4" name="TextBox 14"/>
          <p:cNvSpPr txBox="1"/>
          <p:nvPr/>
        </p:nvSpPr>
        <p:spPr>
          <a:xfrm>
            <a:off x="932688" y="3721608"/>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前期工作</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5" name="TextBox 15"/>
          <p:cNvSpPr txBox="1"/>
          <p:nvPr/>
        </p:nvSpPr>
        <p:spPr>
          <a:xfrm>
            <a:off x="932688" y="4014216"/>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已完成问题界定、概念框架与部分参数的初步整理。</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6" name="Rectangle 16"/>
          <p:cNvSpPr/>
          <p:nvPr/>
        </p:nvSpPr>
        <p:spPr>
          <a:xfrm>
            <a:off x="713232" y="4800600"/>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7" name="TextBox 17"/>
          <p:cNvSpPr txBox="1"/>
          <p:nvPr/>
        </p:nvSpPr>
        <p:spPr>
          <a:xfrm>
            <a:off x="932688" y="4782312"/>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条件保障</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8" name="TextBox 18"/>
          <p:cNvSpPr txBox="1"/>
          <p:nvPr/>
        </p:nvSpPr>
        <p:spPr>
          <a:xfrm>
            <a:off x="932688" y="5074920"/>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依托课题组已有数据与计算环境，可支撑模型构建与实验。</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9" name="Rounded Rectangle 19"/>
          <p:cNvSpPr/>
          <p:nvPr/>
        </p:nvSpPr>
        <p:spPr>
          <a:xfrm>
            <a:off x="4846320" y="914400"/>
            <a:ext cx="6858000"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0" name="Rectangle 20"/>
          <p:cNvSpPr/>
          <p:nvPr/>
        </p:nvSpPr>
        <p:spPr>
          <a:xfrm>
            <a:off x="4864608" y="932688"/>
            <a:ext cx="6821424"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21" name="Rectangle 21"/>
          <p:cNvSpPr/>
          <p:nvPr/>
        </p:nvSpPr>
        <p:spPr>
          <a:xfrm>
            <a:off x="4864608" y="996696"/>
            <a:ext cx="6821424"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进度安排：五个阶段</a:t>
            </a:r>
            <a:endParaRPr lang="zh-CN" altLang="en-US" b="1" i="0">
              <a:solidFill>
                <a:srgbClr val="FFFFFF"/>
              </a:solidFill>
              <a:latin typeface="微软雅黑" panose="020B0503020204020204" pitchFamily="34" charset="-122"/>
              <a:ea typeface="微软雅黑" panose="020B0503020204020204" pitchFamily="34" charset="-122"/>
            </a:endParaRPr>
          </a:p>
        </p:txBody>
      </p:sp>
      <p:cxnSp>
        <p:nvCxnSpPr>
          <p:cNvPr id="622" name="Connector 22"/>
          <p:cNvCxnSpPr/>
          <p:nvPr/>
        </p:nvCxnSpPr>
        <p:spPr>
          <a:xfrm>
            <a:off x="6812280" y="1691640"/>
            <a:ext cx="0" cy="3977639"/>
          </a:xfrm>
          <a:prstGeom prst="line">
            <a:avLst/>
          </a:prstGeom>
          <a:ln w="15240">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623" name="Rectangle 23"/>
          <p:cNvSpPr/>
          <p:nvPr/>
        </p:nvSpPr>
        <p:spPr>
          <a:xfrm>
            <a:off x="5074920" y="1600200"/>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2026.09 - 2026.11</a:t>
            </a:r>
            <a:endParaRPr lang="zh-CN" altLang="en-US" sz="1400" b="1" i="0">
              <a:solidFill>
                <a:srgbClr val="005375"/>
              </a:solidFill>
              <a:latin typeface="Arial" panose="020B0604020202020204"/>
              <a:ea typeface="Arial" panose="020B0604020202020204"/>
            </a:endParaRPr>
          </a:p>
        </p:txBody>
      </p:sp>
      <p:sp>
        <p:nvSpPr>
          <p:cNvPr id="624" name="Oval 24"/>
          <p:cNvSpPr/>
          <p:nvPr/>
        </p:nvSpPr>
        <p:spPr>
          <a:xfrm>
            <a:off x="6748272" y="1792224"/>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5" name="TextBox 25"/>
          <p:cNvSpPr txBox="1"/>
          <p:nvPr/>
        </p:nvSpPr>
        <p:spPr>
          <a:xfrm>
            <a:off x="7059168" y="1581912"/>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文献调研与数据整理</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26" name="TextBox 26"/>
          <p:cNvSpPr txBox="1"/>
          <p:nvPr/>
        </p:nvSpPr>
        <p:spPr>
          <a:xfrm>
            <a:off x="7059168" y="1856232"/>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完成数据收集、参数梳理与模型框架确定</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27" name="Rectangle 27"/>
          <p:cNvSpPr/>
          <p:nvPr/>
        </p:nvSpPr>
        <p:spPr>
          <a:xfrm>
            <a:off x="5074920" y="2459736"/>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2026.11 - 2027.01</a:t>
            </a:r>
            <a:endParaRPr lang="zh-CN" altLang="en-US" sz="1400" b="1" i="0">
              <a:solidFill>
                <a:srgbClr val="005375"/>
              </a:solidFill>
              <a:latin typeface="Arial" panose="020B0604020202020204"/>
              <a:ea typeface="Arial" panose="020B0604020202020204"/>
            </a:endParaRPr>
          </a:p>
        </p:txBody>
      </p:sp>
      <p:sp>
        <p:nvSpPr>
          <p:cNvPr id="628" name="Oval 28"/>
          <p:cNvSpPr/>
          <p:nvPr/>
        </p:nvSpPr>
        <p:spPr>
          <a:xfrm>
            <a:off x="6748272" y="2651760"/>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9" name="TextBox 29"/>
          <p:cNvSpPr txBox="1"/>
          <p:nvPr/>
        </p:nvSpPr>
        <p:spPr>
          <a:xfrm>
            <a:off x="7059168" y="2441448"/>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模型构建与耦合</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0" name="TextBox 30"/>
          <p:cNvSpPr txBox="1"/>
          <p:nvPr/>
        </p:nvSpPr>
        <p:spPr>
          <a:xfrm>
            <a:off x="7059168" y="2715768"/>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完成节点模块与系统网络模型的构建与校核</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1" name="Rectangle 31"/>
          <p:cNvSpPr/>
          <p:nvPr/>
        </p:nvSpPr>
        <p:spPr>
          <a:xfrm>
            <a:off x="5074920" y="3319272"/>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2027.01 - 2027.05</a:t>
            </a:r>
            <a:endParaRPr lang="zh-CN" altLang="en-US" sz="1400" b="1" i="0">
              <a:solidFill>
                <a:srgbClr val="005375"/>
              </a:solidFill>
              <a:latin typeface="Arial" panose="020B0604020202020204"/>
              <a:ea typeface="Arial" panose="020B0604020202020204"/>
            </a:endParaRPr>
          </a:p>
        </p:txBody>
      </p:sp>
      <p:sp>
        <p:nvSpPr>
          <p:cNvPr id="632" name="Oval 32"/>
          <p:cNvSpPr/>
          <p:nvPr/>
        </p:nvSpPr>
        <p:spPr>
          <a:xfrm>
            <a:off x="6748272" y="3511296"/>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33" name="TextBox 33"/>
          <p:cNvSpPr txBox="1"/>
          <p:nvPr/>
        </p:nvSpPr>
        <p:spPr>
          <a:xfrm>
            <a:off x="7059168" y="3300984"/>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情景实验与求解</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4" name="TextBox 34"/>
          <p:cNvSpPr txBox="1"/>
          <p:nvPr/>
        </p:nvSpPr>
        <p:spPr>
          <a:xfrm>
            <a:off x="7059168" y="3575304"/>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完成四组控制实验与 CAWCC 容量曲面求解</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5" name="Rectangle 35"/>
          <p:cNvSpPr/>
          <p:nvPr/>
        </p:nvSpPr>
        <p:spPr>
          <a:xfrm>
            <a:off x="5074920" y="4178808"/>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2027.05 - 2027.</a:t>
            </a:r>
            <a:r>
              <a:rPr lang="en-US" altLang="zh-CN" sz="1400" b="1" i="0">
                <a:solidFill>
                  <a:srgbClr val="005375"/>
                </a:solidFill>
                <a:latin typeface="Arial" panose="020B0604020202020204"/>
                <a:ea typeface="Arial" panose="020B0604020202020204"/>
              </a:rPr>
              <a:t>0</a:t>
            </a:r>
            <a:r>
              <a:rPr lang="zh-CN" altLang="en-US" sz="1400" b="1" i="0">
                <a:solidFill>
                  <a:srgbClr val="005375"/>
                </a:solidFill>
                <a:latin typeface="Arial" panose="020B0604020202020204"/>
                <a:ea typeface="Arial" panose="020B0604020202020204"/>
              </a:rPr>
              <a:t>9</a:t>
            </a:r>
            <a:endParaRPr lang="zh-CN" altLang="en-US" sz="1400" b="1" i="0">
              <a:solidFill>
                <a:srgbClr val="005375"/>
              </a:solidFill>
              <a:latin typeface="Arial" panose="020B0604020202020204"/>
              <a:ea typeface="Arial" panose="020B0604020202020204"/>
            </a:endParaRPr>
          </a:p>
        </p:txBody>
      </p:sp>
      <p:sp>
        <p:nvSpPr>
          <p:cNvPr id="636" name="Oval 36"/>
          <p:cNvSpPr/>
          <p:nvPr/>
        </p:nvSpPr>
        <p:spPr>
          <a:xfrm>
            <a:off x="6748272" y="4370832"/>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37" name="TextBox 37"/>
          <p:cNvSpPr txBox="1"/>
          <p:nvPr/>
        </p:nvSpPr>
        <p:spPr>
          <a:xfrm>
            <a:off x="7059168" y="4160520"/>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瓶颈识别与验证</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8" name="TextBox 38"/>
          <p:cNvSpPr txBox="1"/>
          <p:nvPr/>
        </p:nvSpPr>
        <p:spPr>
          <a:xfrm>
            <a:off x="7059168" y="4434840"/>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完成主导瓶颈识别、干预评估与结果验证</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9" name="Rectangle 39"/>
          <p:cNvSpPr/>
          <p:nvPr/>
        </p:nvSpPr>
        <p:spPr>
          <a:xfrm>
            <a:off x="5074920" y="5038344"/>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a:t>
            </a:r>
            <a:r>
              <a:rPr lang="en-US" altLang="zh-CN" sz="1400" b="1" i="0">
                <a:solidFill>
                  <a:srgbClr val="005375"/>
                </a:solidFill>
                <a:latin typeface="Arial" panose="020B0604020202020204"/>
                <a:ea typeface="Arial" panose="020B0604020202020204"/>
              </a:rPr>
              <a:t>0</a:t>
            </a:r>
            <a:r>
              <a:rPr lang="zh-CN" altLang="en-US" sz="1400" b="1" i="0">
                <a:solidFill>
                  <a:srgbClr val="005375"/>
                </a:solidFill>
                <a:latin typeface="Arial" panose="020B0604020202020204"/>
                <a:ea typeface="Arial" panose="020B0604020202020204"/>
              </a:rPr>
              <a:t>9 - 2028.04</a:t>
            </a:r>
            <a:endParaRPr lang="zh-CN" altLang="en-US" sz="1400" b="1" i="0">
              <a:solidFill>
                <a:srgbClr val="005375"/>
              </a:solidFill>
              <a:latin typeface="Arial" panose="020B0604020202020204"/>
              <a:ea typeface="Arial" panose="020B0604020202020204"/>
            </a:endParaRPr>
          </a:p>
        </p:txBody>
      </p:sp>
      <p:sp>
        <p:nvSpPr>
          <p:cNvPr id="640" name="Oval 40"/>
          <p:cNvSpPr/>
          <p:nvPr/>
        </p:nvSpPr>
        <p:spPr>
          <a:xfrm>
            <a:off x="6748272" y="5230368"/>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41" name="TextBox 41"/>
          <p:cNvSpPr txBox="1"/>
          <p:nvPr/>
        </p:nvSpPr>
        <p:spPr>
          <a:xfrm>
            <a:off x="7059168" y="5020056"/>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论文撰写与答辩</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42" name="TextBox 42"/>
          <p:cNvSpPr txBox="1"/>
          <p:nvPr/>
        </p:nvSpPr>
        <p:spPr>
          <a:xfrm>
            <a:off x="7059168" y="5294376"/>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完成学位论文撰写、修改与答辩准备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43" name=""/>
        <p:cNvGrpSpPr/>
        <p:nvPr/>
      </p:nvGrpSpPr>
      <p:grpSpPr>
        <a:xfrm>
          <a:off x="0" y="0"/>
          <a:ext cx="0" cy="0"/>
          <a:chOff x="0" y="0"/>
          <a:chExt cx="0" cy="0"/>
        </a:xfrm>
      </p:grpSpPr>
      <p:sp>
        <p:nvSpPr>
          <p:cNvPr id="644"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预期成果、创新点与风险应对</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647" name="Rounded Rectangle 4"/>
          <p:cNvSpPr/>
          <p:nvPr/>
        </p:nvSpPr>
        <p:spPr>
          <a:xfrm>
            <a:off x="484632"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48" name="Rectangle 5"/>
          <p:cNvSpPr/>
          <p:nvPr/>
        </p:nvSpPr>
        <p:spPr>
          <a:xfrm>
            <a:off x="502920"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49" name="Rectangle 6"/>
          <p:cNvSpPr/>
          <p:nvPr/>
        </p:nvSpPr>
        <p:spPr>
          <a:xfrm>
            <a:off x="502920"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预期成果</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50" name="Rectangle 7"/>
          <p:cNvSpPr/>
          <p:nvPr/>
        </p:nvSpPr>
        <p:spPr>
          <a:xfrm>
            <a:off x="713232" y="1618488"/>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1" name="TextBox 8"/>
          <p:cNvSpPr txBox="1"/>
          <p:nvPr/>
        </p:nvSpPr>
        <p:spPr>
          <a:xfrm>
            <a:off x="932688" y="1600200"/>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学位论文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2" name="TextBox 9"/>
          <p:cNvSpPr txBox="1"/>
          <p:nvPr/>
        </p:nvSpPr>
        <p:spPr>
          <a:xfrm>
            <a:off x="932688" y="1892807"/>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高质量地完成硕士学位论文 </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3" name="Rectangle 10"/>
          <p:cNvSpPr/>
          <p:nvPr/>
        </p:nvSpPr>
        <p:spPr>
          <a:xfrm>
            <a:off x="713232" y="2660903"/>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4" name="TextBox 11"/>
          <p:cNvSpPr txBox="1"/>
          <p:nvPr/>
        </p:nvSpPr>
        <p:spPr>
          <a:xfrm>
            <a:off x="932688" y="2642615"/>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模型与指标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5" name="TextBox 12"/>
          <p:cNvSpPr txBox="1"/>
          <p:nvPr/>
        </p:nvSpPr>
        <p:spPr>
          <a:xfrm>
            <a:off x="932688" y="2935223"/>
            <a:ext cx="3017520" cy="542925"/>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城市水代谢耦合模型与 CAWCC 指标方法</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6" name="Rectangle 13"/>
          <p:cNvSpPr/>
          <p:nvPr/>
        </p:nvSpPr>
        <p:spPr>
          <a:xfrm>
            <a:off x="713232" y="3703319"/>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7" name="TextBox 14"/>
          <p:cNvSpPr txBox="1"/>
          <p:nvPr/>
        </p:nvSpPr>
        <p:spPr>
          <a:xfrm>
            <a:off x="932688" y="3685031"/>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学术论文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8" name="TextBox 15"/>
          <p:cNvSpPr txBox="1"/>
          <p:nvPr/>
        </p:nvSpPr>
        <p:spPr>
          <a:xfrm>
            <a:off x="932688" y="3977639"/>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争取发表学术论文 1 - 2 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9" name="Rectangle 16"/>
          <p:cNvSpPr/>
          <p:nvPr/>
        </p:nvSpPr>
        <p:spPr>
          <a:xfrm>
            <a:off x="713232" y="4745735"/>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0" name="TextBox 17"/>
          <p:cNvSpPr txBox="1"/>
          <p:nvPr/>
        </p:nvSpPr>
        <p:spPr>
          <a:xfrm>
            <a:off x="932688" y="4727447"/>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决策支撑</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61" name="TextBox 18"/>
          <p:cNvSpPr txBox="1"/>
          <p:nvPr/>
        </p:nvSpPr>
        <p:spPr>
          <a:xfrm>
            <a:off x="932688" y="5020055"/>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形成承载判定与干预优先级的建议</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62" name="Rounded Rectangle 19"/>
          <p:cNvSpPr/>
          <p:nvPr/>
        </p:nvSpPr>
        <p:spPr>
          <a:xfrm>
            <a:off x="4270248"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3" name="Rectangle 20"/>
          <p:cNvSpPr/>
          <p:nvPr/>
        </p:nvSpPr>
        <p:spPr>
          <a:xfrm>
            <a:off x="4288536"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64" name="Rectangle 21"/>
          <p:cNvSpPr/>
          <p:nvPr/>
        </p:nvSpPr>
        <p:spPr>
          <a:xfrm>
            <a:off x="4288536"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创新点</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65" name="Rounded Rectangle 22"/>
          <p:cNvSpPr/>
          <p:nvPr/>
        </p:nvSpPr>
        <p:spPr>
          <a:xfrm>
            <a:off x="4480560" y="1600200"/>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6" name="Rectangle 23"/>
          <p:cNvSpPr/>
          <p:nvPr/>
        </p:nvSpPr>
        <p:spPr>
          <a:xfrm>
            <a:off x="4480560" y="1600200"/>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7" name="Oval 24"/>
          <p:cNvSpPr/>
          <p:nvPr/>
        </p:nvSpPr>
        <p:spPr>
          <a:xfrm>
            <a:off x="4663440" y="1746504"/>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8" name="TextBox 25"/>
          <p:cNvSpPr txBox="1"/>
          <p:nvPr/>
        </p:nvSpPr>
        <p:spPr>
          <a:xfrm>
            <a:off x="4663440" y="1755902"/>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1</a:t>
            </a:r>
            <a:endParaRPr lang="zh-CN" altLang="en-US" sz="1600" b="1" i="0">
              <a:solidFill>
                <a:srgbClr val="FFFFFF"/>
              </a:solidFill>
              <a:latin typeface="Arial" panose="020B0604020202020204"/>
              <a:ea typeface="Arial" panose="020B0604020202020204"/>
            </a:endParaRPr>
          </a:p>
        </p:txBody>
      </p:sp>
      <p:sp>
        <p:nvSpPr>
          <p:cNvPr id="669" name="TextBox 26"/>
          <p:cNvSpPr txBox="1"/>
          <p:nvPr/>
        </p:nvSpPr>
        <p:spPr>
          <a:xfrm>
            <a:off x="5084064" y="1746504"/>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视角创新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70" name="TextBox 27"/>
          <p:cNvSpPr txBox="1"/>
          <p:nvPr/>
        </p:nvSpPr>
        <p:spPr>
          <a:xfrm>
            <a:off x="4663440" y="2148840"/>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把 AI 算力节点作为城市水系统的新增负荷类型纳入统一框架</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71" name="Rounded Rectangle 28"/>
          <p:cNvSpPr/>
          <p:nvPr/>
        </p:nvSpPr>
        <p:spPr>
          <a:xfrm>
            <a:off x="4480560" y="3044952"/>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2" name="Rectangle 29"/>
          <p:cNvSpPr/>
          <p:nvPr/>
        </p:nvSpPr>
        <p:spPr>
          <a:xfrm>
            <a:off x="4480560" y="3044952"/>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3" name="Oval 30"/>
          <p:cNvSpPr/>
          <p:nvPr/>
        </p:nvSpPr>
        <p:spPr>
          <a:xfrm>
            <a:off x="4663440" y="3191256"/>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4" name="TextBox 31"/>
          <p:cNvSpPr txBox="1"/>
          <p:nvPr/>
        </p:nvSpPr>
        <p:spPr>
          <a:xfrm>
            <a:off x="4663440" y="3200654"/>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2</a:t>
            </a:r>
            <a:endParaRPr lang="zh-CN" altLang="en-US" sz="1600" b="1" i="0">
              <a:solidFill>
                <a:srgbClr val="FFFFFF"/>
              </a:solidFill>
              <a:latin typeface="Arial" panose="020B0604020202020204"/>
              <a:ea typeface="Arial" panose="020B0604020202020204"/>
            </a:endParaRPr>
          </a:p>
        </p:txBody>
      </p:sp>
      <p:sp>
        <p:nvSpPr>
          <p:cNvPr id="675" name="TextBox 32"/>
          <p:cNvSpPr txBox="1"/>
          <p:nvPr/>
        </p:nvSpPr>
        <p:spPr>
          <a:xfrm>
            <a:off x="5084064" y="3191256"/>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方法创新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76" name="TextBox 33"/>
          <p:cNvSpPr txBox="1"/>
          <p:nvPr/>
        </p:nvSpPr>
        <p:spPr>
          <a:xfrm>
            <a:off x="4663440" y="3593592"/>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提出条件化承载指标 CAWCC，以容量曲面替代单值阈值</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77" name="Rounded Rectangle 34"/>
          <p:cNvSpPr/>
          <p:nvPr/>
        </p:nvSpPr>
        <p:spPr>
          <a:xfrm>
            <a:off x="4480560" y="4489704"/>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8" name="Rectangle 35"/>
          <p:cNvSpPr/>
          <p:nvPr/>
        </p:nvSpPr>
        <p:spPr>
          <a:xfrm>
            <a:off x="4480560" y="4489704"/>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9" name="Oval 36"/>
          <p:cNvSpPr/>
          <p:nvPr/>
        </p:nvSpPr>
        <p:spPr>
          <a:xfrm>
            <a:off x="4663440" y="4636008"/>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0" name="TextBox 37"/>
          <p:cNvSpPr txBox="1"/>
          <p:nvPr/>
        </p:nvSpPr>
        <p:spPr>
          <a:xfrm>
            <a:off x="4663440" y="4645406"/>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3</a:t>
            </a:r>
            <a:endParaRPr lang="zh-CN" altLang="en-US" sz="1600" b="1" i="0">
              <a:solidFill>
                <a:srgbClr val="FFFFFF"/>
              </a:solidFill>
              <a:latin typeface="Arial" panose="020B0604020202020204"/>
              <a:ea typeface="Arial" panose="020B0604020202020204"/>
            </a:endParaRPr>
          </a:p>
        </p:txBody>
      </p:sp>
      <p:sp>
        <p:nvSpPr>
          <p:cNvPr id="681" name="TextBox 38"/>
          <p:cNvSpPr txBox="1"/>
          <p:nvPr/>
        </p:nvSpPr>
        <p:spPr>
          <a:xfrm>
            <a:off x="5084064" y="4636008"/>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应用创新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82" name="TextBox 39"/>
          <p:cNvSpPr txBox="1"/>
          <p:nvPr/>
        </p:nvSpPr>
        <p:spPr>
          <a:xfrm>
            <a:off x="4663440" y="5038344"/>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输出主导瓶颈排序与干预优先级，直接服务规划与运行决策</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83" name="Rounded Rectangle 40"/>
          <p:cNvSpPr/>
          <p:nvPr/>
        </p:nvSpPr>
        <p:spPr>
          <a:xfrm>
            <a:off x="8055864"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4" name="Rectangle 41"/>
          <p:cNvSpPr/>
          <p:nvPr/>
        </p:nvSpPr>
        <p:spPr>
          <a:xfrm>
            <a:off x="8074152"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85" name="Rectangle 42"/>
          <p:cNvSpPr/>
          <p:nvPr/>
        </p:nvSpPr>
        <p:spPr>
          <a:xfrm>
            <a:off x="8074152"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风险与应对</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86" name="Rounded Rectangle 43"/>
          <p:cNvSpPr/>
          <p:nvPr/>
        </p:nvSpPr>
        <p:spPr>
          <a:xfrm>
            <a:off x="8266175" y="1600200"/>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7" name="Rectangle 44"/>
          <p:cNvSpPr/>
          <p:nvPr/>
        </p:nvSpPr>
        <p:spPr>
          <a:xfrm>
            <a:off x="8266175" y="1600200"/>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8" name="TextBox 45"/>
          <p:cNvSpPr txBox="1"/>
          <p:nvPr/>
        </p:nvSpPr>
        <p:spPr>
          <a:xfrm>
            <a:off x="8449056" y="1709928"/>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数据可得性不足</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89" name="Connector 46"/>
          <p:cNvCxnSpPr/>
          <p:nvPr/>
        </p:nvCxnSpPr>
        <p:spPr>
          <a:xfrm>
            <a:off x="8449056" y="2039112"/>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690" name="TextBox 47"/>
          <p:cNvSpPr txBox="1"/>
          <p:nvPr/>
        </p:nvSpPr>
        <p:spPr>
          <a:xfrm>
            <a:off x="8449056" y="2130552"/>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以公开数据与文献参数替代，并做敏感性分析说明影响</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91" name="Rounded Rectangle 48"/>
          <p:cNvSpPr/>
          <p:nvPr/>
        </p:nvSpPr>
        <p:spPr>
          <a:xfrm>
            <a:off x="8266175" y="3044952"/>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2" name="Rectangle 49"/>
          <p:cNvSpPr/>
          <p:nvPr/>
        </p:nvSpPr>
        <p:spPr>
          <a:xfrm>
            <a:off x="8266175" y="3044952"/>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3" name="TextBox 50"/>
          <p:cNvSpPr txBox="1"/>
          <p:nvPr/>
        </p:nvSpPr>
        <p:spPr>
          <a:xfrm>
            <a:off x="8449056" y="3154680"/>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模型复杂度偏高</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94" name="Connector 51"/>
          <p:cNvCxnSpPr/>
          <p:nvPr/>
        </p:nvCxnSpPr>
        <p:spPr>
          <a:xfrm>
            <a:off x="8449056" y="3483864"/>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695" name="TextBox 52"/>
          <p:cNvSpPr txBox="1"/>
          <p:nvPr/>
        </p:nvSpPr>
        <p:spPr>
          <a:xfrm>
            <a:off x="8449056" y="3575304"/>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采用模块化建模，先主链后细节，逐步增加复杂度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96" name="Rounded Rectangle 53"/>
          <p:cNvSpPr/>
          <p:nvPr/>
        </p:nvSpPr>
        <p:spPr>
          <a:xfrm>
            <a:off x="8266175" y="4489704"/>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7" name="Rectangle 54"/>
          <p:cNvSpPr/>
          <p:nvPr/>
        </p:nvSpPr>
        <p:spPr>
          <a:xfrm>
            <a:off x="8266175" y="4489704"/>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8" name="TextBox 55"/>
          <p:cNvSpPr txBox="1"/>
          <p:nvPr/>
        </p:nvSpPr>
        <p:spPr>
          <a:xfrm>
            <a:off x="8449056" y="4599432"/>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结论不确定性</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99" name="Connector 56"/>
          <p:cNvCxnSpPr/>
          <p:nvPr/>
        </p:nvCxnSpPr>
        <p:spPr>
          <a:xfrm>
            <a:off x="8449056" y="4928616"/>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700" name="TextBox 57"/>
          <p:cNvSpPr txBox="1"/>
          <p:nvPr/>
        </p:nvSpPr>
        <p:spPr>
          <a:xfrm>
            <a:off x="8449056" y="5020056"/>
            <a:ext cx="2880360" cy="813435"/>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以相对变化与排序为主，明确适用边界与假设条件，严格遵循质量/水量守恒闭合测试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20" name=""/>
        <p:cNvGrpSpPr/>
        <p:nvPr/>
      </p:nvGrpSpPr>
      <p:grpSpPr>
        <a:xfrm>
          <a:off x="0" y="0"/>
          <a:ext cx="0" cy="0"/>
          <a:chOff x="0" y="0"/>
          <a:chExt cx="0" cy="0"/>
        </a:xfrm>
      </p:grpSpPr>
      <p:pic>
        <p:nvPicPr>
          <p:cNvPr id="721" name="图片 9"/>
          <p:cNvPicPr>
            <a:picLocks noChangeAspect="1"/>
          </p:cNvPicPr>
          <p:nvPr/>
        </p:nvPicPr>
        <p:blipFill>
          <a:blip r:embed="rId2"/>
          <a:stretch>
            <a:fillRect/>
          </a:stretch>
        </p:blipFill>
        <p:spPr>
          <a:xfrm>
            <a:off x="2896427" y="3596360"/>
            <a:ext cx="6287881" cy="2749276"/>
          </a:xfrm>
          <a:prstGeom prst="rect">
            <a:avLst/>
          </a:prstGeom>
        </p:spPr>
      </p:pic>
      <p:sp>
        <p:nvSpPr>
          <p:cNvPr id="722" name="矩形 1"/>
          <p:cNvSpPr/>
          <p:nvPr/>
        </p:nvSpPr>
        <p:spPr>
          <a:xfrm>
            <a:off x="0" y="6296878"/>
            <a:ext cx="12191999" cy="561122"/>
          </a:xfrm>
          <a:prstGeom prst="rect">
            <a:avLst/>
          </a:prstGeom>
          <a:solidFill>
            <a:srgbClr val="0053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3" name="矩形 2"/>
          <p:cNvSpPr/>
          <p:nvPr/>
        </p:nvSpPr>
        <p:spPr>
          <a:xfrm>
            <a:off x="0" y="1589647"/>
            <a:ext cx="12192002" cy="1777150"/>
          </a:xfrm>
          <a:prstGeom prst="rect">
            <a:avLst/>
          </a:prstGeom>
          <a:solidFill>
            <a:srgbClr val="0053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cxnSp>
        <p:nvCxnSpPr>
          <p:cNvPr id="724" name="直接连接符 3"/>
          <p:cNvCxnSpPr/>
          <p:nvPr/>
        </p:nvCxnSpPr>
        <p:spPr>
          <a:xfrm flipH="1">
            <a:off x="0" y="1149746"/>
            <a:ext cx="4933046" cy="0"/>
          </a:xfrm>
          <a:prstGeom prst="line">
            <a:avLst/>
          </a:prstGeom>
          <a:ln w="25400">
            <a:solidFill>
              <a:srgbClr val="005376"/>
            </a:solidFill>
          </a:ln>
        </p:spPr>
        <p:style>
          <a:lnRef idx="1">
            <a:schemeClr val="accent1"/>
          </a:lnRef>
          <a:fillRef idx="0">
            <a:schemeClr val="accent1"/>
          </a:fillRef>
          <a:effectRef idx="0">
            <a:schemeClr val="accent1"/>
          </a:effectRef>
          <a:fontRef idx="minor">
            <a:schemeClr val="tx1"/>
          </a:fontRef>
        </p:style>
      </p:cxnSp>
      <p:sp>
        <p:nvSpPr>
          <p:cNvPr id="725" name="标题 1"/>
          <p:cNvSpPr txBox="1"/>
          <p:nvPr/>
        </p:nvSpPr>
        <p:spPr>
          <a:xfrm>
            <a:off x="495300" y="1812860"/>
            <a:ext cx="11201400" cy="14905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000" b="1" i="0">
                <a:solidFill>
                  <a:srgbClr val="FFFFFF"/>
                </a:solidFill>
                <a:latin typeface="微软雅黑" panose="020B0503020204020204" pitchFamily="34" charset="-122"/>
                <a:ea typeface="微软雅黑" panose="020B0503020204020204" pitchFamily="34" charset="-122"/>
              </a:rPr>
              <a:t>汇 报 完 毕</a:t>
            </a:r>
            <a:endParaRPr lang="zh-CN" altLang="en-US" sz="4000" b="1" i="0">
              <a:solidFill>
                <a:srgbClr val="FFFFFF"/>
              </a:solidFill>
              <a:latin typeface="微软雅黑" panose="020B0503020204020204" pitchFamily="34" charset="-122"/>
              <a:ea typeface="微软雅黑" panose="020B0503020204020204" pitchFamily="34" charset="-122"/>
            </a:endParaRPr>
          </a:p>
        </p:txBody>
      </p:sp>
      <p:cxnSp>
        <p:nvCxnSpPr>
          <p:cNvPr id="726" name="直接连接符 7"/>
          <p:cNvCxnSpPr/>
          <p:nvPr/>
        </p:nvCxnSpPr>
        <p:spPr>
          <a:xfrm flipH="1">
            <a:off x="7239000" y="1145795"/>
            <a:ext cx="4953000" cy="0"/>
          </a:xfrm>
          <a:prstGeom prst="line">
            <a:avLst/>
          </a:prstGeom>
          <a:ln w="25400">
            <a:solidFill>
              <a:srgbClr val="005376"/>
            </a:solidFill>
          </a:ln>
        </p:spPr>
        <p:style>
          <a:lnRef idx="1">
            <a:schemeClr val="accent1"/>
          </a:lnRef>
          <a:fillRef idx="0">
            <a:schemeClr val="accent1"/>
          </a:fillRef>
          <a:effectRef idx="0">
            <a:schemeClr val="accent1"/>
          </a:effectRef>
          <a:fontRef idx="minor">
            <a:schemeClr val="tx1"/>
          </a:fontRef>
        </p:style>
      </p:cxnSp>
      <p:pic>
        <p:nvPicPr>
          <p:cNvPr id="727" name="图片 10"/>
          <p:cNvPicPr>
            <a:picLocks noChangeAspect="1"/>
          </p:cNvPicPr>
          <p:nvPr/>
        </p:nvPicPr>
        <p:blipFill>
          <a:blip r:embed="rId3" cstate="print"/>
          <a:stretch>
            <a:fillRect/>
          </a:stretch>
        </p:blipFill>
        <p:spPr>
          <a:xfrm>
            <a:off x="4967788" y="219682"/>
            <a:ext cx="2199274" cy="961598"/>
          </a:xfrm>
          <a:prstGeom prst="rect">
            <a:avLst/>
          </a:prstGeom>
        </p:spPr>
      </p:pic>
      <p:sp>
        <p:nvSpPr>
          <p:cNvPr id="728" name="副标题 2"/>
          <p:cNvSpPr>
            <a:spLocks noGrp="1"/>
          </p:cNvSpPr>
          <p:nvPr>
            <p:ph type="subTitle" idx="1"/>
          </p:nvPr>
        </p:nvSpPr>
        <p:spPr>
          <a:xfrm>
            <a:off x="0" y="4064000"/>
            <a:ext cx="12192000" cy="680085"/>
          </a:xfrm>
        </p:spPr>
        <p:txBody>
          <a:bodyPr>
            <a:normAutofit/>
          </a:bodyPr>
          <a:lstStyle/>
          <a:p>
            <a:pPr marL="0" indent="0" algn="ctr">
              <a:buNone/>
            </a:pPr>
            <a:r>
              <a:rPr lang="zh-CN" altLang="en-US" sz="2200" b="1" i="0">
                <a:solidFill>
                  <a:srgbClr val="005376"/>
                </a:solidFill>
                <a:latin typeface="微软雅黑" panose="020B0503020204020204" pitchFamily="34" charset="-122"/>
                <a:ea typeface="微软雅黑" panose="020B0503020204020204" pitchFamily="34" charset="-122"/>
              </a:rPr>
              <a:t>恳请各位老师  批评指正！</a:t>
            </a:r>
            <a:endParaRPr lang="zh-CN" altLang="en-US" sz="2200" b="1" i="0">
              <a:solidFill>
                <a:srgbClr val="005376"/>
              </a:solidFill>
              <a:latin typeface="微软雅黑" panose="020B0503020204020204" pitchFamily="34" charset="-122"/>
              <a:ea typeface="微软雅黑" panose="020B0503020204020204" pitchFamily="34" charset="-122"/>
            </a:endParaRPr>
          </a:p>
        </p:txBody>
      </p:sp>
      <p:sp>
        <p:nvSpPr>
          <p:cNvPr id="729" name="副标题 2"/>
          <p:cNvSpPr txBox="1"/>
          <p:nvPr/>
        </p:nvSpPr>
        <p:spPr>
          <a:xfrm>
            <a:off x="0" y="4602480"/>
            <a:ext cx="12192000" cy="68008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b="1" i="0">
                <a:solidFill>
                  <a:srgbClr val="005376"/>
                </a:solidFill>
                <a:latin typeface="微软雅黑" panose="020B0503020204020204" pitchFamily="34" charset="-122"/>
                <a:ea typeface="微软雅黑" panose="020B0503020204020204" pitchFamily="34" charset="-122"/>
              </a:rPr>
              <a:t>姓名：邵敬哲      导师：白舜文</a:t>
            </a:r>
            <a:endParaRPr lang="zh-CN" altLang="en-US" sz="1600" b="1" i="0">
              <a:solidFill>
                <a:srgbClr val="005376"/>
              </a:solidFill>
              <a:latin typeface="微软雅黑" panose="020B0503020204020204" pitchFamily="34" charset="-122"/>
              <a:ea typeface="微软雅黑" panose="020B0503020204020204" pitchFamily="34" charset="-122"/>
            </a:endParaRPr>
          </a:p>
          <a:p>
            <a:pPr algn="ctr"/>
            <a:r>
              <a:rPr lang="zh-CN" altLang="en-US" sz="1200" b="0" i="0">
                <a:solidFill>
                  <a:srgbClr val="005376"/>
                </a:solidFill>
                <a:latin typeface="微软雅黑" panose="020B0503020204020204" pitchFamily="34" charset="-122"/>
                <a:ea typeface="微软雅黑" panose="020B0503020204020204" pitchFamily="34" charset="-122"/>
              </a:rPr>
              <a:t>哈尔滨工业大学 · 环境学院</a:t>
            </a:r>
            <a:endParaRPr lang="zh-CN" altLang="en-US" sz="1200" b="0" i="0">
              <a:solidFill>
                <a:srgbClr val="005376"/>
              </a:solidFill>
              <a:latin typeface="微软雅黑" panose="020B0503020204020204" pitchFamily="34" charset="-122"/>
              <a:ea typeface="微软雅黑" panose="020B0503020204020204" pitchFamily="34" charset="-122"/>
            </a:endParaRPr>
          </a:p>
        </p:txBody>
      </p:sp>
      <p:pic>
        <p:nvPicPr>
          <p:cNvPr id="730" name="图片 5"/>
          <p:cNvPicPr>
            <a:picLocks noChangeAspect="1"/>
          </p:cNvPicPr>
          <p:nvPr/>
        </p:nvPicPr>
        <p:blipFill>
          <a:blip r:embed="rId4" cstate="print"/>
          <a:stretch>
            <a:fillRect/>
          </a:stretch>
        </p:blipFill>
        <p:spPr>
          <a:xfrm>
            <a:off x="239679" y="6415212"/>
            <a:ext cx="1655733" cy="32412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37.6,&quot;left&quot;:38.160000000000004,&quot;top&quot;:81.45,&quot;width&quot;:883.4399999999999}"/>
</p:tagLst>
</file>

<file path=ppt/tags/tag2.xml><?xml version="1.0" encoding="utf-8"?>
<p:tagLst xmlns:p="http://schemas.openxmlformats.org/presentationml/2006/main">
  <p:tag name="KSO_WM_DIAGRAM_VIRTUALLY_FRAME" val="{&quot;height&quot;:237.6,&quot;left&quot;:38.160000000000004,&quot;top&quot;:81.45,&quot;width&quot;:883.4399999999999}"/>
</p:tagLst>
</file>

<file path=ppt/tags/tag3.xml><?xml version="1.0" encoding="utf-8"?>
<p:tagLst xmlns:p="http://schemas.openxmlformats.org/presentationml/2006/main">
  <p:tag name="KSO_WM_DIAGRAM_VIRTUALLY_FRAME" val="{&quot;height&quot;:237.6,&quot;left&quot;:38.160000000000004,&quot;top&quot;:81.45,&quot;width&quot;:883.4399999999999}"/>
</p:tagLst>
</file>

<file path=ppt/tags/tag4.xml><?xml version="1.0" encoding="utf-8"?>
<p:tagLst xmlns:p="http://schemas.openxmlformats.org/presentationml/2006/main">
  <p:tag name="KSO_WM_DIAGRAM_VIRTUALLY_FRAME" val="{&quot;height&quot;:237.6,&quot;left&quot;:38.160000000000004,&quot;top&quot;:81.45,&quot;width&quot;:883.4399999999999}"/>
</p:tagLst>
</file>

<file path=ppt/tags/tag5.xml><?xml version="1.0" encoding="utf-8"?>
<p:tagLst xmlns:p="http://schemas.openxmlformats.org/presentationml/2006/main">
  <p:tag name="KSO_WM_DIAGRAM_VIRTUALLY_FRAME" val="{&quot;height&quot;:237.6,&quot;left&quot;:38.160000000000004,&quot;top&quot;:81.45,&quot;width&quot;:883.4399999999999}"/>
</p:tagLst>
</file>

<file path=ppt/tags/tag6.xml><?xml version="1.0" encoding="utf-8"?>
<p:tagLst xmlns:p="http://schemas.openxmlformats.org/presentationml/2006/main">
  <p:tag name="KSO_WM_DIAGRAM_VIRTUALLY_FRAME" val="{&quot;height&quot;:237.6,&quot;left&quot;:38.160000000000004,&quot;top&quot;:81.45,&quot;width&quot;:883.4399999999999}"/>
</p:tagLst>
</file>

<file path=ppt/tags/tag7.xml><?xml version="1.0" encoding="utf-8"?>
<p:tagLst xmlns:p="http://schemas.openxmlformats.org/presentationml/2006/main">
  <p:tag name="KSO_WM_DIAGRAM_VIRTUALLY_FRAME" val="{&quot;height&quot;:237.6,&quot;left&quot;:38.160000000000004,&quot;top&quot;:81.45,&quot;width&quot;:883.4399999999999}"/>
</p:tagLst>
</file>

<file path=ppt/tags/tag8.xml><?xml version="1.0" encoding="utf-8"?>
<p:tagLst xmlns:p="http://schemas.openxmlformats.org/presentationml/2006/main">
  <p:tag name="KSO_WM_DIAGRAM_VIRTUALLY_FRAME" val="{&quot;height&quot;:237.6,&quot;left&quot;:38.160000000000004,&quot;top&quot;:81.45,&quot;width&quot;:883.4399999999999}"/>
</p:tagLst>
</file>

<file path=ppt/tags/tag9.xml><?xml version="1.0" encoding="utf-8"?>
<p:tagLst xmlns:p="http://schemas.openxmlformats.org/presentationml/2006/main">
  <p:tag name="KSO_WM_DIAGRAM_VIRTUALLY_FRAME" val="{&quot;height&quot;:237.6,&quot;left&quot;:38.160000000000004,&quot;top&quot;:81.45,&quot;width&quot;:883.4399999999999}"/>
</p:tagLst>
</file>

<file path=ppt/tags/tag10.xml><?xml version="1.0" encoding="utf-8"?>
<p:tagLst xmlns:p="http://schemas.openxmlformats.org/presentationml/2006/main">
  <p:tag name="KSO_WM_DIAGRAM_VIRTUALLY_FRAME" val="{&quot;height&quot;:237.6,&quot;left&quot;:38.160000000000004,&quot;top&quot;:81.45,&quot;width&quot;:883.4399999999999}"/>
</p:tagLst>
</file>

<file path=ppt/tags/tag11.xml><?xml version="1.0" encoding="utf-8"?>
<p:tagLst xmlns:p="http://schemas.openxmlformats.org/presentationml/2006/main">
  <p:tag name="KSO_WM_DIAGRAM_VIRTUALLY_FRAME" val="{&quot;height&quot;:237.6,&quot;left&quot;:38.160000000000004,&quot;top&quot;:81.45,&quot;width&quot;:883.4399999999999}"/>
</p:tagLst>
</file>

<file path=ppt/tags/tag12.xml><?xml version="1.0" encoding="utf-8"?>
<p:tagLst xmlns:p="http://schemas.openxmlformats.org/presentationml/2006/main">
  <p:tag name="KSO_WM_DIAGRAM_VIRTUALLY_FRAME" val="{&quot;height&quot;:237.6,&quot;left&quot;:38.160000000000004,&quot;top&quot;:81.45,&quot;width&quot;:883.4399999999999}"/>
</p:tagLst>
</file>

<file path=ppt/tags/tag13.xml><?xml version="1.0" encoding="utf-8"?>
<p:tagLst xmlns:p="http://schemas.openxmlformats.org/presentationml/2006/main">
  <p:tag name="KSO_WM_DIAGRAM_VIRTUALLY_FRAME" val="{&quot;height&quot;:237.6,&quot;left&quot;:38.160000000000004,&quot;top&quot;:81.45,&quot;width&quot;:883.4399999999999}"/>
</p:tagLst>
</file>

<file path=ppt/tags/tag14.xml><?xml version="1.0" encoding="utf-8"?>
<p:tagLst xmlns:p="http://schemas.openxmlformats.org/presentationml/2006/main">
  <p:tag name="KSO_WM_DIAGRAM_VIRTUALLY_FRAME" val="{&quot;height&quot;:315,&quot;left&quot;:38.160000000000004,&quot;top&quot;:75.24,&quot;width&quot;:883.4399999999999}"/>
</p:tagLst>
</file>

<file path=ppt/tags/tag15.xml><?xml version="1.0" encoding="utf-8"?>
<p:tagLst xmlns:p="http://schemas.openxmlformats.org/presentationml/2006/main">
  <p:tag name="KSO_WM_DIAGRAM_VIRTUALLY_FRAME" val="{&quot;height&quot;:315,&quot;left&quot;:38.160000000000004,&quot;top&quot;:75.24,&quot;width&quot;:883.4399999999999}"/>
</p:tagLst>
</file>

<file path=ppt/tags/tag16.xml><?xml version="1.0" encoding="utf-8"?>
<p:tagLst xmlns:p="http://schemas.openxmlformats.org/presentationml/2006/main">
  <p:tag name="KSO_WM_DIAGRAM_VIRTUALLY_FRAME" val="{&quot;height&quot;:315,&quot;left&quot;:38.160000000000004,&quot;top&quot;:75.24,&quot;width&quot;:883.4399999999999}"/>
</p:tagLst>
</file>

<file path=ppt/tags/tag17.xml><?xml version="1.0" encoding="utf-8"?>
<p:tagLst xmlns:p="http://schemas.openxmlformats.org/presentationml/2006/main">
  <p:tag name="KSO_WM_DIAGRAM_VIRTUALLY_FRAME" val="{&quot;height&quot;:315,&quot;left&quot;:38.160000000000004,&quot;top&quot;:75.24,&quot;width&quot;:883.4399999999999}"/>
</p:tagLst>
</file>

<file path=ppt/tags/tag18.xml><?xml version="1.0" encoding="utf-8"?>
<p:tagLst xmlns:p="http://schemas.openxmlformats.org/presentationml/2006/main">
  <p:tag name="KSO_WM_DIAGRAM_VIRTUALLY_FRAME" val="{&quot;height&quot;:315,&quot;left&quot;:38.160000000000004,&quot;top&quot;:75.24,&quot;width&quot;:883.4399999999999}"/>
</p:tagLst>
</file>

<file path=ppt/tags/tag19.xml><?xml version="1.0" encoding="utf-8"?>
<p:tagLst xmlns:p="http://schemas.openxmlformats.org/presentationml/2006/main">
  <p:tag name="KSO_WM_DIAGRAM_VIRTUALLY_FRAME" val="{&quot;height&quot;:315,&quot;left&quot;:38.160000000000004,&quot;top&quot;:75.24,&quot;width&quot;:883.4399999999999}"/>
</p:tagLst>
</file>

<file path=ppt/tags/tag20.xml><?xml version="1.0" encoding="utf-8"?>
<p:tagLst xmlns:p="http://schemas.openxmlformats.org/presentationml/2006/main">
  <p:tag name="KSO_WM_DIAGRAM_VIRTUALLY_FRAME" val="{&quot;height&quot;:315,&quot;left&quot;:38.160000000000004,&quot;top&quot;:75.24,&quot;width&quot;:883.4399999999999}"/>
</p:tagLst>
</file>

<file path=ppt/tags/tag21.xml><?xml version="1.0" encoding="utf-8"?>
<p:tagLst xmlns:p="http://schemas.openxmlformats.org/presentationml/2006/main">
  <p:tag name="KSO_WM_DIAGRAM_VIRTUALLY_FRAME" val="{&quot;height&quot;:315,&quot;left&quot;:38.160000000000004,&quot;top&quot;:75.24,&quot;width&quot;:883.4399999999999}"/>
</p:tagLst>
</file>

<file path=ppt/tags/tag22.xml><?xml version="1.0" encoding="utf-8"?>
<p:tagLst xmlns:p="http://schemas.openxmlformats.org/presentationml/2006/main">
  <p:tag name="KSO_WM_DIAGRAM_VIRTUALLY_FRAME" val="{&quot;height&quot;:315,&quot;left&quot;:38.160000000000004,&quot;top&quot;:75.24,&quot;width&quot;:883.4399999999999}"/>
</p:tagLst>
</file>

<file path=ppt/tags/tag23.xml><?xml version="1.0" encoding="utf-8"?>
<p:tagLst xmlns:p="http://schemas.openxmlformats.org/presentationml/2006/main">
  <p:tag name="KSO_WM_DIAGRAM_VIRTUALLY_FRAME" val="{&quot;height&quot;:315,&quot;left&quot;:38.160000000000004,&quot;top&quot;:75.24,&quot;width&quot;:883.4399999999999}"/>
</p:tagLst>
</file>

<file path=ppt/tags/tag24.xml><?xml version="1.0" encoding="utf-8"?>
<p:tagLst xmlns:p="http://schemas.openxmlformats.org/presentationml/2006/main">
  <p:tag name="KSO_WM_DIAGRAM_VIRTUALLY_FRAME" val="{&quot;height&quot;:315,&quot;left&quot;:38.160000000000004,&quot;top&quot;:75.24,&quot;width&quot;:883.4399999999999}"/>
</p:tagLst>
</file>

<file path=ppt/tags/tag25.xml><?xml version="1.0" encoding="utf-8"?>
<p:tagLst xmlns:p="http://schemas.openxmlformats.org/presentationml/2006/main">
  <p:tag name="KSO_WM_DIAGRAM_VIRTUALLY_FRAME" val="{&quot;height&quot;:315,&quot;left&quot;:38.160000000000004,&quot;top&quot;:75.24,&quot;width&quot;:883.4399999999999}"/>
</p:tagLst>
</file>

<file path=ppt/tags/tag26.xml><?xml version="1.0" encoding="utf-8"?>
<p:tagLst xmlns:p="http://schemas.openxmlformats.org/presentationml/2006/main">
  <p:tag name="KSO_WM_DIAGRAM_VIRTUALLY_FRAME" val="{&quot;height&quot;:315,&quot;left&quot;:38.160000000000004,&quot;top&quot;:75.24,&quot;width&quot;:883.4399999999999}"/>
</p:tagLst>
</file>

<file path=ppt/tags/tag27.xml><?xml version="1.0" encoding="utf-8"?>
<p:tagLst xmlns:p="http://schemas.openxmlformats.org/presentationml/2006/main">
  <p:tag name="KSO_WM_DIAGRAM_VIRTUALLY_FRAME" val="{&quot;height&quot;:315,&quot;left&quot;:38.160000000000004,&quot;top&quot;:75.24,&quot;width&quot;:883.4399999999999}"/>
</p:tagLst>
</file>

<file path=ppt/tags/tag28.xml><?xml version="1.0" encoding="utf-8"?>
<p:tagLst xmlns:p="http://schemas.openxmlformats.org/presentationml/2006/main">
  <p:tag name="KSO_WM_DIAGRAM_VIRTUALLY_FRAME" val="{&quot;height&quot;:315,&quot;left&quot;:38.160000000000004,&quot;top&quot;:75.24,&quot;width&quot;:883.4399999999999}"/>
</p:tagLst>
</file>

<file path=ppt/tags/tag29.xml><?xml version="1.0" encoding="utf-8"?>
<p:tagLst xmlns:p="http://schemas.openxmlformats.org/presentationml/2006/main">
  <p:tag name="KSO_WM_DIAGRAM_VIRTUALLY_FRAME" val="{&quot;height&quot;:315,&quot;left&quot;:38.160000000000004,&quot;top&quot;:75.24,&quot;width&quot;:883.4399999999999}"/>
</p:tagLst>
</file>

<file path=ppt/tags/tag30.xml><?xml version="1.0" encoding="utf-8"?>
<p:tagLst xmlns:p="http://schemas.openxmlformats.org/presentationml/2006/main">
  <p:tag name="KSO_WM_DIAGRAM_VIRTUALLY_FRAME" val="{&quot;height&quot;:315,&quot;left&quot;:38.160000000000004,&quot;top&quot;:75.24,&quot;width&quot;:883.4399999999999}"/>
</p:tagLst>
</file>

<file path=ppt/tags/tag31.xml><?xml version="1.0" encoding="utf-8"?>
<p:tagLst xmlns:p="http://schemas.openxmlformats.org/presentationml/2006/main">
  <p:tag name="KSO_WM_DIAGRAM_VIRTUALLY_FRAME" val="{&quot;height&quot;:315,&quot;left&quot;:38.160000000000004,&quot;top&quot;:75.24,&quot;width&quot;:883.4399999999999}"/>
</p:tagLst>
</file>

<file path=ppt/tags/tag32.xml><?xml version="1.0" encoding="utf-8"?>
<p:tagLst xmlns:p="http://schemas.openxmlformats.org/presentationml/2006/main">
  <p:tag name="KSO_WM_DIAGRAM_VIRTUALLY_FRAME" val="{&quot;height&quot;:315,&quot;left&quot;:38.160000000000004,&quot;top&quot;:75.24,&quot;width&quot;:883.4399999999999}"/>
</p:tagLst>
</file>

<file path=ppt/tags/tag33.xml><?xml version="1.0" encoding="utf-8"?>
<p:tagLst xmlns:p="http://schemas.openxmlformats.org/presentationml/2006/main">
  <p:tag name="KSO_WM_DIAGRAM_VIRTUALLY_FRAME" val="{&quot;height&quot;:315,&quot;left&quot;:38.160000000000004,&quot;top&quot;:75.24,&quot;width&quot;:883.4399999999999}"/>
</p:tagLst>
</file>

<file path=ppt/tags/tag34.xml><?xml version="1.0" encoding="utf-8"?>
<p:tagLst xmlns:p="http://schemas.openxmlformats.org/presentationml/2006/main">
  <p:tag name="KSO_WM_DIAGRAM_VIRTUALLY_FRAME" val="{&quot;height&quot;:315,&quot;left&quot;:38.160000000000004,&quot;top&quot;:75.24,&quot;width&quot;:883.4399999999999}"/>
</p:tagLst>
</file>

<file path=ppt/tags/tag35.xml><?xml version="1.0" encoding="utf-8"?>
<p:tagLst xmlns:p="http://schemas.openxmlformats.org/presentationml/2006/main">
  <p:tag name="KSO_WM_DIAGRAM_VIRTUALLY_FRAME" val="{&quot;height&quot;:315,&quot;left&quot;:38.160000000000004,&quot;top&quot;:75.24,&quot;width&quot;:883.4399999999999}"/>
</p:tagLst>
</file>

<file path=ppt/tags/tag36.xml><?xml version="1.0" encoding="utf-8"?>
<p:tagLst xmlns:p="http://schemas.openxmlformats.org/presentationml/2006/main">
  <p:tag name="KSO_WM_DIAGRAM_VIRTUALLY_FRAME" val="{&quot;height&quot;:315,&quot;left&quot;:38.160000000000004,&quot;top&quot;:75.24,&quot;width&quot;:883.4399999999999}"/>
</p:tagLst>
</file>

<file path=ppt/tags/tag37.xml><?xml version="1.0" encoding="utf-8"?>
<p:tagLst xmlns:p="http://schemas.openxmlformats.org/presentationml/2006/main">
  <p:tag name="KSO_WM_DIAGRAM_VIRTUALLY_FRAME" val="{&quot;height&quot;:315,&quot;left&quot;:38.160000000000004,&quot;top&quot;:75.24,&quot;width&quot;:883.4399999999999}"/>
</p:tagLst>
</file>

<file path=ppt/tags/tag38.xml><?xml version="1.0" encoding="utf-8"?>
<p:tagLst xmlns:p="http://schemas.openxmlformats.org/presentationml/2006/main">
  <p:tag name="KSO_WM_DIAGRAM_VIRTUALLY_FRAME" val="{&quot;height&quot;:301.51,&quot;left&quot;:56.160000000000004,&quot;top&quot;:120.96,&quot;width&quot;:401.04}"/>
</p:tagLst>
</file>

<file path=ppt/tags/tag39.xml><?xml version="1.0" encoding="utf-8"?>
<p:tagLst xmlns:p="http://schemas.openxmlformats.org/presentationml/2006/main">
  <p:tag name="KSO_WM_DIAGRAM_VIRTUALLY_FRAME" val="{&quot;height&quot;:301.51,&quot;left&quot;:56.160000000000004,&quot;top&quot;:120.96,&quot;width&quot;:401.04}"/>
</p:tagLst>
</file>

<file path=ppt/tags/tag40.xml><?xml version="1.0" encoding="utf-8"?>
<p:tagLst xmlns:p="http://schemas.openxmlformats.org/presentationml/2006/main">
  <p:tag name="KSO_WM_DIAGRAM_VIRTUALLY_FRAME" val="{&quot;height&quot;:301.51,&quot;left&quot;:56.160000000000004,&quot;top&quot;:120.96,&quot;width&quot;:401.04}"/>
</p:tagLst>
</file>

<file path=ppt/tags/tag41.xml><?xml version="1.0" encoding="utf-8"?>
<p:tagLst xmlns:p="http://schemas.openxmlformats.org/presentationml/2006/main">
  <p:tag name="KSO_WM_DIAGRAM_VIRTUALLY_FRAME" val="{&quot;height&quot;:301.51,&quot;left&quot;:56.160000000000004,&quot;top&quot;:120.96,&quot;width&quot;:401.04}"/>
</p:tagLst>
</file>

<file path=ppt/tags/tag42.xml><?xml version="1.0" encoding="utf-8"?>
<p:tagLst xmlns:p="http://schemas.openxmlformats.org/presentationml/2006/main">
  <p:tag name="KSO_WM_DIAGRAM_VIRTUALLY_FRAME" val="{&quot;height&quot;:301.51,&quot;left&quot;:56.160000000000004,&quot;top&quot;:120.96,&quot;width&quot;:401.04}"/>
</p:tagLst>
</file>

<file path=ppt/tags/tag43.xml><?xml version="1.0" encoding="utf-8"?>
<p:tagLst xmlns:p="http://schemas.openxmlformats.org/presentationml/2006/main">
  <p:tag name="KSO_WM_DIAGRAM_VIRTUALLY_FRAME" val="{&quot;height&quot;:301.51,&quot;left&quot;:56.160000000000004,&quot;top&quot;:120.96,&quot;width&quot;:401.04}"/>
</p:tagLst>
</file>

<file path=ppt/tags/tag44.xml><?xml version="1.0" encoding="utf-8"?>
<p:tagLst xmlns:p="http://schemas.openxmlformats.org/presentationml/2006/main">
  <p:tag name="KSO_WM_DIAGRAM_VIRTUALLY_FRAME" val="{&quot;height&quot;:301.51,&quot;left&quot;:56.160000000000004,&quot;top&quot;:120.96,&quot;width&quot;:401.04}"/>
</p:tagLst>
</file>

<file path=ppt/tags/tag45.xml><?xml version="1.0" encoding="utf-8"?>
<p:tagLst xmlns:p="http://schemas.openxmlformats.org/presentationml/2006/main">
  <p:tag name="KSO_WM_DIAGRAM_VIRTUALLY_FRAME" val="{&quot;height&quot;:301.51,&quot;left&quot;:56.160000000000004,&quot;top&quot;:120.96,&quot;width&quot;:401.04}"/>
</p:tagLst>
</file>

<file path=ppt/tags/tag46.xml><?xml version="1.0" encoding="utf-8"?>
<p:tagLst xmlns:p="http://schemas.openxmlformats.org/presentationml/2006/main">
  <p:tag name="KSO_WM_DIAGRAM_VIRTUALLY_FRAME" val="{&quot;height&quot;:301.51,&quot;left&quot;:56.160000000000004,&quot;top&quot;:120.96,&quot;width&quot;:401.04}"/>
</p:tagLst>
</file>

<file path=ppt/tags/tag47.xml><?xml version="1.0" encoding="utf-8"?>
<p:tagLst xmlns:p="http://schemas.openxmlformats.org/presentationml/2006/main">
  <p:tag name="KSO_WM_DIAGRAM_VIRTUALLY_FRAME" val="{&quot;height&quot;:301.51,&quot;left&quot;:56.160000000000004,&quot;top&quot;:120.96,&quot;width&quot;:401.04}"/>
</p:tagLst>
</file>

<file path=ppt/tags/tag48.xml><?xml version="1.0" encoding="utf-8"?>
<p:tagLst xmlns:p="http://schemas.openxmlformats.org/presentationml/2006/main">
  <p:tag name="KSO_WM_DIAGRAM_VIRTUALLY_FRAME" val="{&quot;height&quot;:301.51,&quot;left&quot;:56.160000000000004,&quot;top&quot;:120.96,&quot;width&quot;:401.04}"/>
</p:tagLst>
</file>

<file path=ppt/tags/tag49.xml><?xml version="1.0" encoding="utf-8"?>
<p:tagLst xmlns:p="http://schemas.openxmlformats.org/presentationml/2006/main">
  <p:tag name="KSO_WM_DIAGRAM_VIRTUALLY_FRAME" val="{&quot;height&quot;:301.51,&quot;left&quot;:56.160000000000004,&quot;top&quot;:120.96,&quot;width&quot;:401.04}"/>
</p:tagLst>
</file>

<file path=ppt/tags/tag50.xml><?xml version="1.0" encoding="utf-8"?>
<p:tagLst xmlns:p="http://schemas.openxmlformats.org/presentationml/2006/main">
  <p:tag name="KSO_WM_DIAGRAM_VIRTUALLY_FRAME" val="{&quot;height&quot;:301.51,&quot;left&quot;:56.160000000000004,&quot;top&quot;:120.96,&quot;width&quot;:401.04}"/>
</p:tagLst>
</file>

<file path=ppt/tags/tag51.xml><?xml version="1.0" encoding="utf-8"?>
<p:tagLst xmlns:p="http://schemas.openxmlformats.org/presentationml/2006/main">
  <p:tag name="KSO_WM_DIAGRAM_VIRTUALLY_FRAME" val="{&quot;height&quot;:301.51,&quot;left&quot;:56.160000000000004,&quot;top&quot;:120.96,&quot;width&quot;:401.04}"/>
</p:tagLst>
</file>

<file path=ppt/tags/tag52.xml><?xml version="1.0" encoding="utf-8"?>
<p:tagLst xmlns:p="http://schemas.openxmlformats.org/presentationml/2006/main">
  <p:tag name="KSO_WM_DIAGRAM_VIRTUALLY_FRAME" val="{&quot;height&quot;:301.51,&quot;left&quot;:56.160000000000004,&quot;top&quot;:120.96,&quot;width&quot;:401.0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6152</Words>
  <Application>WPS 演示</Application>
  <PresentationFormat/>
  <Paragraphs>799</Paragraphs>
  <Slides>22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宋体</vt:lpstr>
      <vt:lpstr>Wingdings</vt:lpstr>
      <vt:lpstr>微软雅黑</vt:lpstr>
      <vt:lpstr>Arial</vt:lpstr>
      <vt:lpstr>Arial Black</vt:lpstr>
      <vt:lpstr>Times New Roman</vt:lpstr>
      <vt:lpstr>Wingdings</vt:lpstr>
      <vt:lpstr>等线</vt:lpstr>
      <vt:lpstr>Arial Unicode MS</vt:lpstr>
      <vt:lpstr>等线 Light</vt:lpstr>
      <vt:lpstr>Calibri</vt:lpstr>
      <vt:lpstr>Office 主题​​</vt:lpstr>
      <vt:lpstr>城市人工水系统代谢响应与条件化承载边界的系统模拟研究</vt:lpstr>
      <vt:lpstr>PowerPoint 演示文稿</vt:lpstr>
      <vt:lpstr>大模型行为的资源消耗</vt:lpstr>
      <vt:lpstr>AI 算力扩张正在把计算需求转化为持续性城市负荷</vt:lpstr>
      <vt:lpstr>相同年用水量可能对应完全不同的城市系统压力</vt:lpstr>
      <vt:lpstr>研究对象落在城市人工水系统的全过程网络上</vt:lpstr>
      <vt:lpstr>PowerPoint 演示文稿</vt:lpstr>
      <vt:lpstr>AI算力扩张带来持续增长的水资源环境压力</vt:lpstr>
      <vt:lpstr>中国数据中心水足迹存在明显空间差异</vt:lpstr>
      <vt:lpstr>数据中心水耗受气候条件等多种因素影响</vt:lpstr>
      <vt:lpstr>现有研究已解决什么、尚未解决什么，以及由此凝练的三个科学缺口</vt:lpstr>
      <vt:lpstr>PowerPoint 演示文稿</vt:lpstr>
      <vt:lpstr>核心概念：CAWCC 条件化 AI 水承载容量</vt:lpstr>
      <vt:lpstr>PowerPoint 演示文稿</vt:lpstr>
      <vt:lpstr>四项研究内容：从概念到边界求解</vt:lpstr>
      <vt:lpstr>研究方案总体框架：从数据到边界的技术路线</vt:lpstr>
      <vt:lpstr>实验设计：四组控制实验</vt:lpstr>
      <vt:lpstr>输出指标与结果可信度</vt:lpstr>
      <vt:lpstr>PowerPoint 演示文稿</vt:lpstr>
      <vt:lpstr>研究基础与进度安排</vt:lpstr>
      <vt:lpstr>预期成果、创新点与风险应对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算力基础设施驱动下城市人工水系统代谢响应与条件化承载边界的系统模拟研究</dc:title>
  <dc:creator/>
  <cp:lastModifiedBy>邵敬哲</cp:lastModifiedBy>
  <cp:revision>13</cp:revision>
  <dcterms:created xsi:type="dcterms:W3CDTF">2026-09-10T01:10:00Z</dcterms:created>
  <dcterms:modified xsi:type="dcterms:W3CDTF">2026-09-19T15:55:06Z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7E90788A1DD74D68AB01777D7FC664AF_12</vt:lpwstr>
  </property>
</Properties>
</file>